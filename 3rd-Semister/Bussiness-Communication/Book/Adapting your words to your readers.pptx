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7" r:id="rId3"/>
    <p:sldId id="259" r:id="rId4"/>
    <p:sldId id="260" r:id="rId5"/>
    <p:sldId id="304" r:id="rId6"/>
    <p:sldId id="266" r:id="rId7"/>
    <p:sldId id="261" r:id="rId8"/>
    <p:sldId id="267" r:id="rId9"/>
    <p:sldId id="263" r:id="rId10"/>
    <p:sldId id="297" r:id="rId11"/>
    <p:sldId id="298" r:id="rId12"/>
    <p:sldId id="264" r:id="rId13"/>
    <p:sldId id="299" r:id="rId14"/>
    <p:sldId id="270" r:id="rId15"/>
    <p:sldId id="306" r:id="rId16"/>
    <p:sldId id="268" r:id="rId17"/>
    <p:sldId id="300" r:id="rId18"/>
    <p:sldId id="269" r:id="rId19"/>
    <p:sldId id="275" r:id="rId20"/>
    <p:sldId id="276" r:id="rId21"/>
    <p:sldId id="278" r:id="rId22"/>
    <p:sldId id="279" r:id="rId23"/>
    <p:sldId id="277" r:id="rId24"/>
    <p:sldId id="281" r:id="rId25"/>
    <p:sldId id="288" r:id="rId26"/>
    <p:sldId id="283" r:id="rId27"/>
    <p:sldId id="285" r:id="rId28"/>
    <p:sldId id="286" r:id="rId29"/>
    <p:sldId id="301" r:id="rId30"/>
    <p:sldId id="287" r:id="rId31"/>
    <p:sldId id="289" r:id="rId32"/>
    <p:sldId id="282" r:id="rId33"/>
    <p:sldId id="291" r:id="rId34"/>
    <p:sldId id="305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AU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en-AU"/>
              <a:t>Click icon to add picture</a:t>
            </a:r>
            <a:endParaRPr kumimoji="0" lang="en-US" dirty="0"/>
          </a:p>
        </p:txBody>
      </p:sp>
      <p:sp>
        <p:nvSpPr>
          <p:cNvPr id="9" name="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AU"/>
              <a:t>Click to edit Master text styles</a:t>
            </a:r>
          </a:p>
          <a:p>
            <a:pPr lvl="1" eaLnBrk="1" latinLnBrk="0" hangingPunct="1"/>
            <a:r>
              <a:rPr kumimoji="0" lang="en-AU"/>
              <a:t>Second level</a:t>
            </a:r>
          </a:p>
          <a:p>
            <a:pPr lvl="2" eaLnBrk="1" latinLnBrk="0" hangingPunct="1"/>
            <a:r>
              <a:rPr kumimoji="0" lang="en-AU"/>
              <a:t>Third level</a:t>
            </a:r>
          </a:p>
          <a:p>
            <a:pPr lvl="3" eaLnBrk="1" latinLnBrk="0" hangingPunct="1"/>
            <a:r>
              <a:rPr kumimoji="0" lang="en-AU"/>
              <a:t>Fourth level</a:t>
            </a:r>
          </a:p>
          <a:p>
            <a:pPr lvl="4" eaLnBrk="1" latinLnBrk="0" hangingPunct="1"/>
            <a:r>
              <a:rPr kumimoji="0" lang="en-AU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EA97D612-9741-6B44-80C4-EE6A8C86F89D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36925FAA-A0DB-214D-B2A6-3DC5C72B09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ritinghelp-central.com/gender-neutral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2618932"/>
            <a:ext cx="7406640" cy="1472184"/>
          </a:xfrm>
        </p:spPr>
        <p:txBody>
          <a:bodyPr/>
          <a:lstStyle/>
          <a:p>
            <a:r>
              <a:rPr lang="en-US" dirty="0"/>
              <a:t>Adapting Your Words to Your Readers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7360" y="4554701"/>
            <a:ext cx="7406640" cy="1752600"/>
          </a:xfrm>
        </p:spPr>
        <p:txBody>
          <a:bodyPr/>
          <a:lstStyle/>
          <a:p>
            <a:r>
              <a:rPr lang="en-US" dirty="0"/>
              <a:t>		Chapter 3</a:t>
            </a:r>
          </a:p>
          <a:p>
            <a:r>
              <a:rPr lang="en-US" dirty="0"/>
              <a:t>	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Importance of Adaptation </a:t>
            </a:r>
            <a:br>
              <a:rPr lang="en-US" dirty="0"/>
            </a:br>
            <a:r>
              <a:rPr lang="en-US" dirty="0"/>
              <a:t>(choosing the right 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/>
          </a:p>
          <a:p>
            <a:r>
              <a:rPr lang="en-US" sz="2800" dirty="0"/>
              <a:t>Readers occupy particular organizational, professional and personal contexts who do not have same levels of vocabulary, knowledge, or values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Readers might have different cultures 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Choose the right words that communicate clearly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about the Readers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Visualize your reader </a:t>
            </a:r>
          </a:p>
          <a:p>
            <a:pPr>
              <a:buFontTx/>
              <a:buChar char="-"/>
            </a:pPr>
            <a:r>
              <a:rPr lang="en-US" sz="2400" dirty="0"/>
              <a:t>How they think </a:t>
            </a:r>
          </a:p>
          <a:p>
            <a:pPr>
              <a:buFontTx/>
              <a:buChar char="-"/>
            </a:pPr>
            <a:r>
              <a:rPr lang="en-US" sz="2400" dirty="0"/>
              <a:t>What they know </a:t>
            </a:r>
          </a:p>
          <a:p>
            <a:pPr>
              <a:buFontTx/>
              <a:buChar char="-"/>
            </a:pPr>
            <a:r>
              <a:rPr lang="en-US" sz="2400" dirty="0"/>
              <a:t>Educational level </a:t>
            </a:r>
          </a:p>
          <a:p>
            <a:pPr>
              <a:buFontTx/>
              <a:buChar char="-"/>
            </a:pPr>
            <a:r>
              <a:rPr lang="en-US" sz="2400" dirty="0"/>
              <a:t>Culture </a:t>
            </a:r>
          </a:p>
          <a:p>
            <a:pPr>
              <a:buFontTx/>
              <a:buChar char="-"/>
            </a:pPr>
            <a:endParaRPr lang="en-US" dirty="0"/>
          </a:p>
          <a:p>
            <a:r>
              <a:rPr lang="en-US" dirty="0"/>
              <a:t>Write for them once you have sorted these out </a:t>
            </a:r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Adapting to Multiple Readers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Write in such a way that your different readers can find and understand the parts of message that are of value to them</a:t>
            </a:r>
          </a:p>
          <a:p>
            <a:endParaRPr lang="en-US" dirty="0"/>
          </a:p>
          <a:p>
            <a:r>
              <a:rPr lang="en-US" dirty="0"/>
              <a:t>Follow and admire the rules for effective wording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62BC-2090-4646-A6ED-68C52A281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 for Selecting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214B-2DD3-4CC5-9D43-D43EB0EF1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 familiar words</a:t>
            </a:r>
          </a:p>
          <a:p>
            <a:r>
              <a:rPr lang="en-US" dirty="0"/>
              <a:t>Prefer short words</a:t>
            </a:r>
          </a:p>
          <a:p>
            <a:r>
              <a:rPr lang="en-US" dirty="0"/>
              <a:t>Use slang and popular cliches with caution</a:t>
            </a:r>
          </a:p>
          <a:p>
            <a:r>
              <a:rPr lang="en-US" dirty="0"/>
              <a:t>Use technical words and acronyms appropriately</a:t>
            </a:r>
          </a:p>
          <a:p>
            <a:r>
              <a:rPr lang="en-US" dirty="0"/>
              <a:t>Use precise language</a:t>
            </a:r>
          </a:p>
          <a:p>
            <a:r>
              <a:rPr lang="en-US" dirty="0"/>
              <a:t>Select words for appropriate usage</a:t>
            </a:r>
          </a:p>
          <a:p>
            <a:r>
              <a:rPr lang="en-US" dirty="0"/>
              <a:t>Prefer active verbs</a:t>
            </a:r>
          </a:p>
          <a:p>
            <a:r>
              <a:rPr lang="en-US" dirty="0"/>
              <a:t>Avoid overuse of camouflaged verbs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9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1: Use Familiar Words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First, have a look at some unfamiliar words </a:t>
            </a:r>
          </a:p>
          <a:p>
            <a:pPr>
              <a:buNone/>
            </a:pPr>
            <a:endParaRPr lang="en-US" dirty="0"/>
          </a:p>
          <a:p>
            <a:pPr fontAlgn="t">
              <a:buFontTx/>
              <a:buChar char="-"/>
            </a:pPr>
            <a:r>
              <a:rPr lang="en-US" sz="2800" dirty="0"/>
              <a:t>Endeavor </a:t>
            </a:r>
          </a:p>
          <a:p>
            <a:pPr fontAlgn="t">
              <a:buFontTx/>
              <a:buChar char="-"/>
            </a:pPr>
            <a:r>
              <a:rPr lang="en-US" sz="2800" dirty="0"/>
              <a:t>Demonstrate </a:t>
            </a:r>
          </a:p>
          <a:p>
            <a:pPr fontAlgn="t">
              <a:buFontTx/>
              <a:buChar char="-"/>
            </a:pPr>
            <a:r>
              <a:rPr lang="en-US" sz="2800" dirty="0"/>
              <a:t>Ascertain </a:t>
            </a:r>
          </a:p>
          <a:p>
            <a:pPr fontAlgn="t">
              <a:buFontTx/>
              <a:buChar char="-"/>
            </a:pPr>
            <a:r>
              <a:rPr lang="en-US" sz="2800" dirty="0"/>
              <a:t>Underpin</a:t>
            </a:r>
          </a:p>
          <a:p>
            <a:pPr fontAlgn="t">
              <a:buFontTx/>
              <a:buChar char="-"/>
            </a:pPr>
            <a:r>
              <a:rPr lang="en-US" sz="2800" dirty="0"/>
              <a:t>Distinction </a:t>
            </a:r>
          </a:p>
          <a:p>
            <a:pPr fontAlgn="t">
              <a:buFontTx/>
              <a:buChar char="-"/>
            </a:pPr>
            <a:r>
              <a:rPr lang="en-US" sz="2800" dirty="0"/>
              <a:t>Initiate </a:t>
            </a:r>
          </a:p>
          <a:p>
            <a:pPr fontAlgn="t">
              <a:buNone/>
            </a:pPr>
            <a:r>
              <a:rPr lang="en-US" sz="2800" dirty="0"/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1: Use Familiar Words Use Familiar Words (Cont.)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608" y="1883304"/>
          <a:ext cx="749935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Unfamiliar</a:t>
                      </a:r>
                      <a:r>
                        <a:rPr lang="en-US" sz="2800" baseline="0" dirty="0"/>
                        <a:t> Words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Familiar</a:t>
                      </a:r>
                      <a:r>
                        <a:rPr lang="en-US" sz="2800" baseline="0" dirty="0"/>
                        <a:t> Words 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Endeavor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Demonstrate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Show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Ascertain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Find</a:t>
                      </a:r>
                      <a:r>
                        <a:rPr lang="en-US" sz="2400" baseline="0" dirty="0"/>
                        <a:t> out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Underpin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Support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Distinction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Difference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Initiate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1: Use Familiar Words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>
              <a:buNone/>
            </a:pPr>
            <a:r>
              <a:rPr lang="en-US" dirty="0"/>
              <a:t>More examples of unfamiliar words:</a:t>
            </a:r>
          </a:p>
          <a:p>
            <a:pPr fontAlgn="t">
              <a:buNone/>
            </a:pPr>
            <a:endParaRPr lang="en-US" dirty="0"/>
          </a:p>
          <a:p>
            <a:pPr fontAlgn="t">
              <a:buFontTx/>
              <a:buChar char="-"/>
            </a:pPr>
            <a:r>
              <a:rPr lang="en-US" sz="2800" dirty="0"/>
              <a:t>Determine </a:t>
            </a:r>
          </a:p>
          <a:p>
            <a:pPr fontAlgn="t">
              <a:buFontTx/>
              <a:buChar char="-"/>
            </a:pPr>
            <a:r>
              <a:rPr lang="en-US" sz="2800" dirty="0"/>
              <a:t>Furnish </a:t>
            </a:r>
          </a:p>
          <a:p>
            <a:pPr fontAlgn="t">
              <a:buFontTx/>
              <a:buChar char="-"/>
            </a:pPr>
            <a:r>
              <a:rPr lang="en-US" sz="2800" dirty="0"/>
              <a:t>Entrepreneur </a:t>
            </a:r>
          </a:p>
          <a:p>
            <a:pPr fontAlgn="t">
              <a:buFontTx/>
              <a:buChar char="-"/>
            </a:pPr>
            <a:r>
              <a:rPr lang="en-US" sz="2800" dirty="0"/>
              <a:t>Paradox </a:t>
            </a:r>
          </a:p>
          <a:p>
            <a:pPr fontAlgn="t">
              <a:buFontTx/>
              <a:buChar char="-"/>
            </a:pPr>
            <a:r>
              <a:rPr lang="en-US" sz="2800" dirty="0"/>
              <a:t>Perform </a:t>
            </a:r>
          </a:p>
          <a:p>
            <a:pPr fontAlgn="t">
              <a:buFontTx/>
              <a:buChar char="-"/>
            </a:pPr>
            <a:r>
              <a:rPr lang="en-US" sz="2800" dirty="0"/>
              <a:t>Discontinue </a:t>
            </a:r>
          </a:p>
          <a:p>
            <a:pPr fontAlgn="t">
              <a:buFontTx/>
              <a:buChar char="-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1: Use Familiar Words (Cont.)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3200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Unfamiliar Words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Familiar Words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Determine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Decide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Furnish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Give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Entrepreneur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Businessman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Paradox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Inconsistency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Perform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Discontinue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Rule 2: Use Short Words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194028" y="1765789"/>
            <a:ext cx="8863542" cy="40206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990033"/>
              </a:buClr>
            </a:pPr>
            <a:r>
              <a:rPr lang="en-US" sz="2400" dirty="0"/>
              <a:t>This machine has a tendency to develop excessive and annoying audio symptoms when operating at elevated temperatures </a:t>
            </a:r>
          </a:p>
          <a:p>
            <a:pPr>
              <a:lnSpc>
                <a:spcPct val="90000"/>
              </a:lnSpc>
              <a:buClr>
                <a:srgbClr val="339966"/>
              </a:buClr>
            </a:pPr>
            <a:r>
              <a:rPr lang="en-US" sz="2400" dirty="0"/>
              <a:t>This machine tends to get noisy when it turns hot 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90000"/>
              </a:lnSpc>
              <a:buClr>
                <a:srgbClr val="990033"/>
              </a:buClr>
            </a:pPr>
            <a:r>
              <a:rPr lang="en-US" sz="2400" dirty="0"/>
              <a:t>Purchase of new fleet is not actionable at this junction </a:t>
            </a:r>
          </a:p>
          <a:p>
            <a:pPr>
              <a:lnSpc>
                <a:spcPct val="90000"/>
              </a:lnSpc>
              <a:buClr>
                <a:srgbClr val="339966"/>
              </a:buClr>
            </a:pPr>
            <a:r>
              <a:rPr lang="en-US" sz="2400" dirty="0"/>
              <a:t>Buying new trucks is not practical now 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90000"/>
              </a:lnSpc>
              <a:buClr>
                <a:srgbClr val="990033"/>
              </a:buClr>
            </a:pPr>
            <a:r>
              <a:rPr lang="en-US" sz="2400" dirty="0"/>
              <a:t>We must leverage our core competencies to maximize our competitiveness </a:t>
            </a:r>
          </a:p>
          <a:p>
            <a:pPr>
              <a:lnSpc>
                <a:spcPct val="90000"/>
              </a:lnSpc>
              <a:buClr>
                <a:srgbClr val="339966"/>
              </a:buClr>
            </a:pPr>
            <a:r>
              <a:rPr lang="en-US" sz="2400" dirty="0"/>
              <a:t>Relying on what we do best will make us the the most competitive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Rule 2: Use Short Words (Cont.)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194028" y="1765789"/>
            <a:ext cx="8863542" cy="40206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rgbClr val="990033"/>
              </a:buClr>
            </a:pPr>
            <a:r>
              <a:rPr lang="en-US" sz="2400" dirty="0"/>
              <a:t>The proposed enhancement is under consideration </a:t>
            </a:r>
          </a:p>
          <a:p>
            <a:pPr>
              <a:lnSpc>
                <a:spcPct val="90000"/>
              </a:lnSpc>
              <a:buClr>
                <a:srgbClr val="339966"/>
              </a:buClr>
            </a:pPr>
            <a:r>
              <a:rPr lang="en-US" sz="2400" dirty="0"/>
              <a:t>We are considering your suggestions 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90000"/>
              </a:lnSpc>
              <a:buClr>
                <a:srgbClr val="990033"/>
              </a:buClr>
            </a:pPr>
            <a:r>
              <a:rPr lang="en-US" sz="2400" dirty="0"/>
              <a:t>They agreed to the proposition to undertake a collaborative venture </a:t>
            </a:r>
          </a:p>
          <a:p>
            <a:pPr>
              <a:lnSpc>
                <a:spcPct val="90000"/>
              </a:lnSpc>
              <a:buClr>
                <a:srgbClr val="339966"/>
              </a:buClr>
            </a:pPr>
            <a:r>
              <a:rPr lang="en-US" sz="2400" dirty="0"/>
              <a:t>They agreed to work with us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90000"/>
              </a:lnSpc>
              <a:buClr>
                <a:srgbClr val="990033"/>
              </a:buClr>
            </a:pPr>
            <a:r>
              <a:rPr lang="en-US" sz="2400" dirty="0"/>
              <a:t>Prior to accelerating productive operation, the supervisor inspected the machinery </a:t>
            </a:r>
          </a:p>
          <a:p>
            <a:pPr>
              <a:lnSpc>
                <a:spcPct val="90000"/>
              </a:lnSpc>
              <a:buClr>
                <a:srgbClr val="339966"/>
              </a:buClr>
            </a:pPr>
            <a:r>
              <a:rPr lang="en-US" sz="2400" dirty="0"/>
              <a:t>Before Speeding up production, the supervisor inspected the machinery </a:t>
            </a:r>
          </a:p>
          <a:p>
            <a:pPr>
              <a:lnSpc>
                <a:spcPct val="90000"/>
              </a:lnSpc>
              <a:buClr>
                <a:srgbClr val="339966"/>
              </a:buClr>
            </a:pP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3: Use Technical Words and Acronyms Appropriately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569469"/>
            <a:ext cx="7498080" cy="4800600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35608" y="1886501"/>
          <a:ext cx="760153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18">
                <a:tc>
                  <a:txBody>
                    <a:bodyPr/>
                    <a:lstStyle/>
                    <a:p>
                      <a:r>
                        <a:rPr lang="en-US" sz="2400" dirty="0"/>
                        <a:t>Familiar Initials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Unfamiliar Initials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51">
                <a:tc>
                  <a:txBody>
                    <a:bodyPr/>
                    <a:lstStyle/>
                    <a:p>
                      <a:r>
                        <a:rPr lang="en-US" sz="2400" b="1" dirty="0"/>
                        <a:t>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SEO (Search Engine Optimization)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51">
                <a:tc>
                  <a:txBody>
                    <a:bodyPr/>
                    <a:lstStyle/>
                    <a:p>
                      <a:r>
                        <a:rPr lang="en-US" sz="2400" b="1" dirty="0"/>
                        <a:t>CEO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CRM (Customer Relationship Management)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51">
                <a:tc>
                  <a:txBody>
                    <a:bodyPr/>
                    <a:lstStyle/>
                    <a:p>
                      <a:r>
                        <a:rPr lang="en-US" sz="2400" b="1" dirty="0"/>
                        <a:t>MTO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2400" b="1" dirty="0"/>
                        <a:t>CCO (Chief Customer Officer)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51">
                <a:tc>
                  <a:txBody>
                    <a:bodyPr/>
                    <a:lstStyle/>
                    <a:p>
                      <a:r>
                        <a:rPr lang="en-US" sz="2400" b="1" dirty="0"/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CIPD (Chartered Institution of Personnel Development)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3: Use Technical Words and Acronyms Appropriately (cont.)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60695"/>
            <a:ext cx="7498080" cy="4800600"/>
          </a:xfrm>
        </p:spPr>
        <p:txBody>
          <a:bodyPr/>
          <a:lstStyle/>
          <a:p>
            <a:r>
              <a:rPr lang="en-US" dirty="0"/>
              <a:t>Annuity </a:t>
            </a:r>
          </a:p>
          <a:p>
            <a:r>
              <a:rPr lang="en-US" dirty="0"/>
              <a:t>Sunk Cost </a:t>
            </a:r>
          </a:p>
          <a:p>
            <a:r>
              <a:rPr lang="en-US" dirty="0"/>
              <a:t>Opportunity cost </a:t>
            </a:r>
          </a:p>
          <a:p>
            <a:r>
              <a:rPr lang="en-US" dirty="0"/>
              <a:t>Blue Ocean Strategy </a:t>
            </a:r>
          </a:p>
          <a:p>
            <a:r>
              <a:rPr lang="en-US" dirty="0"/>
              <a:t>Monkey management </a:t>
            </a:r>
          </a:p>
          <a:p>
            <a:r>
              <a:rPr lang="en-US" dirty="0"/>
              <a:t>Transactional leadership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Assignment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Involve discussing with your neighbors and using examples other than those in the slides, identify 4 technical words that would communicate effectively to others in the field but would need to be clarified for those outside the field.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853A-6570-4766-9FF2-94605BA6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FC7E44-9AB8-4E83-B8F6-CA8E5147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72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4: Use Precise Language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35100" y="1532921"/>
          <a:ext cx="7499350" cy="45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18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Abstract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00"/>
                          </a:solidFill>
                        </a:rPr>
                        <a:t>Concrete</a:t>
                      </a:r>
                      <a:r>
                        <a:rPr lang="en-US" sz="2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24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 significant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59% loss during the winter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Excellent</a:t>
                      </a:r>
                      <a:r>
                        <a:rPr lang="en-US" sz="2400" baseline="0" dirty="0"/>
                        <a:t> pass rate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100%</a:t>
                      </a:r>
                      <a:r>
                        <a:rPr lang="en-US" sz="2400" baseline="0" dirty="0"/>
                        <a:t> pass rate in the BBA program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 very</a:t>
                      </a:r>
                      <a:r>
                        <a:rPr lang="en-US" sz="2400" baseline="0" dirty="0"/>
                        <a:t> good university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One of the top 100 universities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</a:t>
                      </a:r>
                      <a:r>
                        <a:rPr lang="en-US" sz="2400" baseline="0" dirty="0"/>
                        <a:t> will see you soon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 will</a:t>
                      </a:r>
                      <a:r>
                        <a:rPr lang="en-US" sz="2400" baseline="0" dirty="0"/>
                        <a:t> see you tomorrow at 10 am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 number of people have</a:t>
                      </a:r>
                      <a:r>
                        <a:rPr lang="en-US" sz="2400" baseline="0" dirty="0"/>
                        <a:t> decided to quit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12%</a:t>
                      </a:r>
                      <a:r>
                        <a:rPr lang="en-US" sz="2400" baseline="0" dirty="0"/>
                        <a:t> of the employees have decided to leave the job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What do you think about the following comment?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 am not going to simplify my writing of my readers. That would be talking down to them. Plus, if they can’t understand English, that’s their problem”- evaluate this comment.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5: Prefer Active Verbs 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Passive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Active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1. Your report was rea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d by the president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2. The profit and loss statement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is prepared by the accountant every month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It is suggested by us that you clean the element in warm and soapy water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 The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policy was enforced by the committee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5: Prefer Active Verbs (cont.)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Passive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r>
                        <a:rPr lang="en-US" baseline="0" dirty="0"/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Your report was rea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d by the president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The president read the</a:t>
                      </a:r>
                      <a:r>
                        <a:rPr lang="en-US" baseline="0" dirty="0"/>
                        <a:t> report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 The profit and loss statement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is prepared by the accountant every month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 The accountant prepares the profit and loss report everyday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3. It is suggested by us that you clean the element in warm and soapy water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We suggested that you clean the element in warm and soapy water </a:t>
                      </a:r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4.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policy was enforced by the committee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 The</a:t>
                      </a:r>
                      <a:r>
                        <a:rPr lang="en-US" baseline="0" dirty="0"/>
                        <a:t> committee enforced the policy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6: Select Words for Appropriate Usage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Affect vs. Effect</a:t>
            </a:r>
          </a:p>
          <a:p>
            <a:r>
              <a:rPr lang="en-US" dirty="0"/>
              <a:t>Fewer vs. Lesser </a:t>
            </a:r>
          </a:p>
          <a:p>
            <a:r>
              <a:rPr lang="en-US" dirty="0"/>
              <a:t>Continual vs. Continuous </a:t>
            </a:r>
          </a:p>
          <a:p>
            <a:r>
              <a:rPr lang="en-US" dirty="0"/>
              <a:t>Farther vs. Further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7: Don’t use the wrong IDIOMs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Faulty Idioms-</a:t>
            </a:r>
          </a:p>
          <a:p>
            <a:pPr marL="596646" indent="-514350">
              <a:buAutoNum type="arabicPeriod"/>
            </a:pPr>
            <a:r>
              <a:rPr lang="en-US" dirty="0"/>
              <a:t>Authority about </a:t>
            </a:r>
          </a:p>
          <a:p>
            <a:pPr marL="596646" indent="-514350">
              <a:buAutoNum type="arabicPeriod"/>
            </a:pPr>
            <a:r>
              <a:rPr lang="en-US" dirty="0"/>
              <a:t>Comply to </a:t>
            </a:r>
          </a:p>
          <a:p>
            <a:pPr marL="596646" indent="-514350">
              <a:buAutoNum type="arabicPeriod"/>
            </a:pPr>
            <a:r>
              <a:rPr lang="en-US" dirty="0"/>
              <a:t>Different than </a:t>
            </a:r>
          </a:p>
          <a:p>
            <a:pPr marL="596646" indent="-514350">
              <a:buAutoNum type="arabicPeriod"/>
            </a:pPr>
            <a:r>
              <a:rPr lang="en-US" dirty="0"/>
              <a:t>Equally as bad</a:t>
            </a:r>
          </a:p>
          <a:p>
            <a:pPr marL="596646" indent="-514350">
              <a:buAutoNum type="arabicPeriod"/>
            </a:pPr>
            <a:r>
              <a:rPr lang="en-US" dirty="0"/>
              <a:t>In accordance to </a:t>
            </a:r>
          </a:p>
          <a:p>
            <a:pPr marL="596646" indent="-514350">
              <a:buAutoNum type="arabicPeriod"/>
            </a:pPr>
            <a:r>
              <a:rPr lang="en-US" dirty="0"/>
              <a:t>In search for</a:t>
            </a:r>
          </a:p>
          <a:p>
            <a:pPr marL="596646" indent="-514350">
              <a:buAutoNum type="arabicPeriod"/>
            </a:pPr>
            <a:r>
              <a:rPr lang="en-US" dirty="0"/>
              <a:t>Listen at </a:t>
            </a:r>
          </a:p>
          <a:p>
            <a:pPr marL="596646" indent="-514350">
              <a:buAutoNum type="arabicPeriod"/>
            </a:pPr>
            <a:r>
              <a:rPr lang="en-US" dirty="0"/>
              <a:t>Based off of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Don’t use the wrong IDIOM (Cont.)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3337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Faulty Idioms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Idioms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</a:t>
                      </a:r>
                      <a:r>
                        <a:rPr lang="en-US" baseline="0" dirty="0"/>
                        <a:t> Authority about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r>
                        <a:rPr lang="en-US" baseline="0" dirty="0"/>
                        <a:t>  Authority 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Comply 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 Comply with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r>
                        <a:rPr lang="en-US" baseline="0" dirty="0"/>
                        <a:t> Different than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Different from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Equally</a:t>
                      </a:r>
                      <a:r>
                        <a:rPr lang="en-US" baseline="0" dirty="0"/>
                        <a:t> as bad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 Equally bad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In accordance</a:t>
                      </a:r>
                      <a:r>
                        <a:rPr lang="en-US" baseline="0" dirty="0"/>
                        <a:t> to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 In accordance with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 In search for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  <a:r>
                        <a:rPr lang="en-US" baseline="0" dirty="0"/>
                        <a:t> In search of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7. Listen 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 Listen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8.</a:t>
                      </a:r>
                      <a:r>
                        <a:rPr lang="en-US" baseline="0" dirty="0"/>
                        <a:t> Based off of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 Based 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 8: Avoid discriminatory Writing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Discriminatory words refer to those words that do not treat all people with equal respect </a:t>
            </a:r>
          </a:p>
          <a:p>
            <a:r>
              <a:rPr lang="en-US" dirty="0"/>
              <a:t>They refer negatively to the groups of people by gender, race, nationality, sexual orientation, age, or disability </a:t>
            </a:r>
          </a:p>
          <a:p>
            <a:r>
              <a:rPr lang="en-US" dirty="0"/>
              <a:t>Eliminate discriminatory words from your dictionary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Nondiscriminatory Writing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sexist words </a:t>
            </a:r>
          </a:p>
          <a:p>
            <a:r>
              <a:rPr lang="en-US" dirty="0"/>
              <a:t>The women are undermined by the sexist words </a:t>
            </a:r>
          </a:p>
          <a:p>
            <a:r>
              <a:rPr lang="en-US" dirty="0"/>
              <a:t> In our society, the women are meant to work in the home while the men are considered as the decision makers and key players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Gender-Neutral Words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Avoid masculine pronouns such as he, his, and him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Every person has </a:t>
            </a:r>
            <a:r>
              <a:rPr lang="en-US" dirty="0">
                <a:solidFill>
                  <a:schemeClr val="accent3"/>
                </a:solidFill>
              </a:rPr>
              <a:t>HIS</a:t>
            </a:r>
            <a:r>
              <a:rPr lang="en-US" dirty="0"/>
              <a:t> own point of view </a:t>
            </a:r>
          </a:p>
          <a:p>
            <a:endParaRPr lang="en-US" dirty="0"/>
          </a:p>
          <a:p>
            <a:r>
              <a:rPr lang="en-US" dirty="0"/>
              <a:t>The typical UAP student eats </a:t>
            </a:r>
            <a:r>
              <a:rPr lang="en-US" dirty="0">
                <a:solidFill>
                  <a:srgbClr val="C32D2E"/>
                </a:solidFill>
              </a:rPr>
              <a:t>HIS</a:t>
            </a:r>
            <a:r>
              <a:rPr lang="en-US" dirty="0"/>
              <a:t> lunch at the cafeteria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Gender-Neutral Words (Cont.)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Establish a neutral expression (he or she, he/she, S/he, him or her, him/her)</a:t>
            </a:r>
          </a:p>
          <a:p>
            <a:endParaRPr lang="en-US" dirty="0"/>
          </a:p>
          <a:p>
            <a:r>
              <a:rPr lang="en-US" dirty="0"/>
              <a:t>Every person has </a:t>
            </a:r>
            <a:r>
              <a:rPr lang="en-US" dirty="0">
                <a:solidFill>
                  <a:srgbClr val="008000"/>
                </a:solidFill>
              </a:rPr>
              <a:t>HIS or HER </a:t>
            </a:r>
            <a:r>
              <a:rPr lang="en-US" dirty="0"/>
              <a:t>own point of view </a:t>
            </a:r>
          </a:p>
          <a:p>
            <a:endParaRPr lang="en-US" dirty="0"/>
          </a:p>
          <a:p>
            <a:r>
              <a:rPr lang="en-US" dirty="0"/>
              <a:t>The typical NSU student eats </a:t>
            </a:r>
            <a:r>
              <a:rPr lang="en-US" dirty="0">
                <a:solidFill>
                  <a:srgbClr val="008000"/>
                </a:solidFill>
              </a:rPr>
              <a:t>HIS or HER </a:t>
            </a:r>
            <a:r>
              <a:rPr lang="en-US" dirty="0"/>
              <a:t>lunch at the cafeteria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Gender-Neutral Words (Cont.)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Alternatively, restructure the sentence and eliminate the offending words </a:t>
            </a:r>
          </a:p>
          <a:p>
            <a:pPr>
              <a:buFontTx/>
              <a:buChar char="-"/>
            </a:pPr>
            <a:r>
              <a:rPr lang="en-US" dirty="0"/>
              <a:t>The typical UAP student eats lunch at the student cafeteria 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4800600"/>
          </a:xfrm>
        </p:spPr>
        <p:txBody>
          <a:bodyPr/>
          <a:lstStyle/>
          <a:p>
            <a:pPr>
              <a:buNone/>
            </a:pPr>
            <a:r>
              <a:rPr lang="en-US" dirty="0"/>
              <a:t>Establish the neutral expression:</a:t>
            </a:r>
          </a:p>
          <a:p>
            <a:r>
              <a:rPr lang="en-US" dirty="0"/>
              <a:t> When a customer needs service, it is his right to ask for it</a:t>
            </a:r>
          </a:p>
          <a:p>
            <a:endParaRPr lang="en-US" dirty="0"/>
          </a:p>
          <a:p>
            <a:r>
              <a:rPr lang="en-US" dirty="0"/>
              <a:t> If a student scores well, he is placed on our list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Gender-Neutral Words (Cont.)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Sexist</a:t>
                      </a:r>
                      <a:r>
                        <a:rPr lang="en-US" baseline="0" dirty="0"/>
                        <a:t> Words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Gender-Neutral Words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Man-made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Manpower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Congressman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Businessman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?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Chairman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Fireman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Gender-Neutral Words (Cont.)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35100" y="1447800"/>
          <a:ext cx="74993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Sexist</a:t>
                      </a:r>
                      <a:r>
                        <a:rPr lang="en-US" baseline="0" dirty="0"/>
                        <a:t> Words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Gender-Neutral Words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Man-made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Manufactured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Manpower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Personnel/</a:t>
                      </a:r>
                      <a:r>
                        <a:rPr lang="en-US" baseline="0" dirty="0"/>
                        <a:t> Worker/ Employee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Congressman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</a:t>
                      </a:r>
                      <a:r>
                        <a:rPr lang="en-US" baseline="0" dirty="0"/>
                        <a:t> of congress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Businessman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Businessperson/</a:t>
                      </a:r>
                      <a:r>
                        <a:rPr lang="en-US" baseline="0" dirty="0"/>
                        <a:t> Entrepreneur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Chairman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Chairperson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Fireman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Firefighter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Convert the following words into gender-neutral words </a:t>
            </a:r>
          </a:p>
          <a:p>
            <a:pPr marL="596646" indent="-514350">
              <a:buAutoNum type="arabicPeriod"/>
            </a:pPr>
            <a:r>
              <a:rPr lang="en-US" dirty="0"/>
              <a:t>Policeman</a:t>
            </a:r>
          </a:p>
          <a:p>
            <a:pPr marL="596646" indent="-514350">
              <a:buAutoNum type="arabicPeriod"/>
            </a:pPr>
            <a:r>
              <a:rPr lang="en-US" dirty="0"/>
              <a:t>Freshman </a:t>
            </a:r>
          </a:p>
          <a:p>
            <a:pPr marL="596646" indent="-514350">
              <a:buAutoNum type="arabicPeriod"/>
            </a:pPr>
            <a:r>
              <a:rPr lang="en-US" dirty="0"/>
              <a:t>Patrolman </a:t>
            </a:r>
          </a:p>
          <a:p>
            <a:pPr marL="596646" indent="-514350">
              <a:buAutoNum type="arabicPeriod"/>
            </a:pPr>
            <a:r>
              <a:rPr lang="en-US" dirty="0"/>
              <a:t>Camera man </a:t>
            </a:r>
          </a:p>
          <a:p>
            <a:pPr marL="596646" indent="-514350">
              <a:buAutoNum type="arabicPeriod"/>
            </a:pPr>
            <a:r>
              <a:rPr lang="en-US" dirty="0"/>
              <a:t>Snowman</a:t>
            </a:r>
          </a:p>
          <a:p>
            <a:pPr marL="596646" indent="-514350">
              <a:buNone/>
            </a:pPr>
            <a:r>
              <a:rPr lang="en-US" sz="1946" dirty="0"/>
              <a:t>Please visit the following site for more examples </a:t>
            </a:r>
          </a:p>
          <a:p>
            <a:pPr marL="596646" indent="-514350">
              <a:buNone/>
            </a:pPr>
            <a:r>
              <a:rPr lang="en-US" sz="1946" dirty="0">
                <a:hlinkClick r:id="rId2"/>
              </a:rPr>
              <a:t>http://www.writinghelp-central.com/gender-neutral.html</a:t>
            </a:r>
            <a:endParaRPr lang="en-US" sz="1946" dirty="0"/>
          </a:p>
          <a:p>
            <a:pPr marL="596646" indent="-514350">
              <a:buNone/>
            </a:pPr>
            <a:endParaRPr lang="en-US" sz="1946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Gender-Neutral Words (Cont.) </a:t>
            </a:r>
          </a:p>
        </p:txBody>
      </p:sp>
      <p:pic>
        <p:nvPicPr>
          <p:cNvPr id="4" name="Content Placeholder 3" descr="frosty.png"/>
          <p:cNvPicPr>
            <a:picLocks noGrp="1" noChangeAspect="1"/>
          </p:cNvPicPr>
          <p:nvPr>
            <p:ph idx="1"/>
          </p:nvPr>
        </p:nvPicPr>
        <p:blipFill>
          <a:blip r:embed="rId2"/>
          <a:srcRect l="-63530" r="-63530"/>
          <a:stretch>
            <a:fillRect/>
          </a:stretch>
        </p:blipFill>
        <p:spPr>
          <a:xfrm>
            <a:off x="-1372239" y="1136180"/>
            <a:ext cx="12817293" cy="5721820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Nondiscriminatory Writing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Avoid the words affected by race, nationality and disability </a:t>
            </a:r>
          </a:p>
          <a:p>
            <a:r>
              <a:rPr lang="en-US" sz="2800" dirty="0"/>
              <a:t>Race- 1. A hard-working African-American </a:t>
            </a:r>
          </a:p>
          <a:p>
            <a:pPr>
              <a:buNone/>
            </a:pPr>
            <a:r>
              <a:rPr lang="en-US" sz="2800" dirty="0"/>
              <a:t>            2. White Chappell  is a low-income area which is  consisted of British-Bangladeshi</a:t>
            </a:r>
          </a:p>
          <a:p>
            <a:r>
              <a:rPr lang="en-US" sz="2800" dirty="0"/>
              <a:t> Age- 1. Young doctor </a:t>
            </a:r>
          </a:p>
          <a:p>
            <a:pPr>
              <a:buNone/>
            </a:pPr>
            <a:r>
              <a:rPr lang="en-US" sz="2800" dirty="0"/>
              <a:t>           2. Elderly/ Senior Citizen </a:t>
            </a:r>
          </a:p>
          <a:p>
            <a:r>
              <a:rPr lang="en-US" dirty="0"/>
              <a:t> </a:t>
            </a:r>
            <a:r>
              <a:rPr lang="en-US" sz="2800" dirty="0"/>
              <a:t>Disability-</a:t>
            </a:r>
          </a:p>
          <a:p>
            <a:pPr>
              <a:buNone/>
            </a:pPr>
            <a:r>
              <a:rPr lang="en-US" sz="2800" dirty="0"/>
              <a:t>            1. Deaf, Blind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6B11-D10E-4A96-9F3E-E3F02699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2617144"/>
            <a:ext cx="7498080" cy="11430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86678-F8AD-4391-919E-1311E96F0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83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1102</TotalTime>
  <Words>1303</Words>
  <Application>Microsoft Office PowerPoint</Application>
  <PresentationFormat>On-screen Show (4:3)</PresentationFormat>
  <Paragraphs>267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Gill Sans MT</vt:lpstr>
      <vt:lpstr>Verdana</vt:lpstr>
      <vt:lpstr>Wingdings 2</vt:lpstr>
      <vt:lpstr>Solstice</vt:lpstr>
      <vt:lpstr>Adapting Your Words to Your Readers </vt:lpstr>
      <vt:lpstr>The Importance of Adaptation  (choosing the right words)</vt:lpstr>
      <vt:lpstr>Learn about the Readers </vt:lpstr>
      <vt:lpstr>Adapting to Multiple Readers </vt:lpstr>
      <vt:lpstr>Suggestions for Selecting Words</vt:lpstr>
      <vt:lpstr>Rule 1: Use Familiar Words </vt:lpstr>
      <vt:lpstr>Rule 1: Use Familiar Words Use Familiar Words (Cont.)</vt:lpstr>
      <vt:lpstr>Rule 1: Use Familiar Words (Cont.)</vt:lpstr>
      <vt:lpstr>Rule 1: Use Familiar Words (Cont.)</vt:lpstr>
      <vt:lpstr>Rule 2: Use Short Words</vt:lpstr>
      <vt:lpstr>Rule 2: Use Short Words (Cont.)</vt:lpstr>
      <vt:lpstr>Rule 3: Use Technical Words and Acronyms Appropriately </vt:lpstr>
      <vt:lpstr>Rule 3: Use Technical Words and Acronyms Appropriately (cont.) </vt:lpstr>
      <vt:lpstr>In Class Assignment </vt:lpstr>
      <vt:lpstr>PowerPoint Presentation</vt:lpstr>
      <vt:lpstr>Rule 4: Use Precise Language </vt:lpstr>
      <vt:lpstr> What do you think about the following comment?</vt:lpstr>
      <vt:lpstr>Rule 5: Prefer Active Verbs  </vt:lpstr>
      <vt:lpstr>Rule 5: Prefer Active Verbs (cont.)</vt:lpstr>
      <vt:lpstr>Rule 6: Select Words for Appropriate Usage </vt:lpstr>
      <vt:lpstr>Rule 7: Don’t use the wrong IDIOMs</vt:lpstr>
      <vt:lpstr>Don’t use the wrong IDIOM (Cont.)</vt:lpstr>
      <vt:lpstr>Rule 8: Avoid discriminatory Writing </vt:lpstr>
      <vt:lpstr>Nondiscriminatory Writing </vt:lpstr>
      <vt:lpstr>Use Gender-Neutral Words </vt:lpstr>
      <vt:lpstr>Use Gender-Neutral Words (Cont.) </vt:lpstr>
      <vt:lpstr>Use Gender-Neutral Words (Cont.) </vt:lpstr>
      <vt:lpstr>Your turn </vt:lpstr>
      <vt:lpstr>Use Gender-Neutral Words (Cont.) </vt:lpstr>
      <vt:lpstr>Use Gender-Neutral Words (Cont.) </vt:lpstr>
      <vt:lpstr>Your turn </vt:lpstr>
      <vt:lpstr>Use Gender-Neutral Words (Cont.) </vt:lpstr>
      <vt:lpstr>Nondiscriminatory Writing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Adapting Your Words to Your Readers</dc:title>
  <dc:creator>Sandra Pontjowardojo</dc:creator>
  <cp:lastModifiedBy>Md Mesbah</cp:lastModifiedBy>
  <cp:revision>62</cp:revision>
  <dcterms:created xsi:type="dcterms:W3CDTF">2016-01-25T05:37:22Z</dcterms:created>
  <dcterms:modified xsi:type="dcterms:W3CDTF">2022-03-07T15:55:22Z</dcterms:modified>
</cp:coreProperties>
</file>