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3" r:id="rId3"/>
    <p:sldId id="286" r:id="rId4"/>
    <p:sldId id="279" r:id="rId5"/>
    <p:sldId id="281" r:id="rId6"/>
    <p:sldId id="269" r:id="rId7"/>
    <p:sldId id="258" r:id="rId8"/>
    <p:sldId id="307" r:id="rId9"/>
    <p:sldId id="294" r:id="rId10"/>
    <p:sldId id="260" r:id="rId11"/>
    <p:sldId id="261" r:id="rId12"/>
    <p:sldId id="289" r:id="rId13"/>
    <p:sldId id="303" r:id="rId14"/>
    <p:sldId id="304" r:id="rId15"/>
    <p:sldId id="305" r:id="rId16"/>
    <p:sldId id="306" r:id="rId17"/>
    <p:sldId id="308" r:id="rId18"/>
    <p:sldId id="263" r:id="rId19"/>
    <p:sldId id="272" r:id="rId20"/>
    <p:sldId id="273" r:id="rId21"/>
    <p:sldId id="302" r:id="rId22"/>
    <p:sldId id="274" r:id="rId23"/>
    <p:sldId id="295" r:id="rId24"/>
    <p:sldId id="276" r:id="rId25"/>
    <p:sldId id="293" r:id="rId26"/>
    <p:sldId id="277" r:id="rId27"/>
    <p:sldId id="299" r:id="rId28"/>
    <p:sldId id="270" r:id="rId29"/>
    <p:sldId id="297" r:id="rId30"/>
    <p:sldId id="298" r:id="rId31"/>
    <p:sldId id="300" r:id="rId32"/>
    <p:sldId id="27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C9467F-3908-FD42-8A04-80BA9A08F72E}" type="doc">
      <dgm:prSet loTypeId="urn:microsoft.com/office/officeart/2005/8/layout/radial1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625E82-3658-3140-8EBF-76D83BCF908A}">
      <dgm:prSet phldrT="[Text]" custT="1"/>
      <dgm:spPr/>
      <dgm:t>
        <a:bodyPr/>
        <a:lstStyle/>
        <a:p>
          <a:r>
            <a:rPr lang="en-US" sz="1000" dirty="0"/>
            <a:t> </a:t>
          </a:r>
          <a:r>
            <a:rPr lang="en-US" sz="2000" dirty="0"/>
            <a:t>Organization</a:t>
          </a:r>
        </a:p>
      </dgm:t>
    </dgm:pt>
    <dgm:pt modelId="{B07B4FCA-9580-DB48-9C80-35F884E719AB}" type="parTrans" cxnId="{AEB21BBF-31F3-0C48-9333-C0AF7FDBA6E0}">
      <dgm:prSet/>
      <dgm:spPr/>
      <dgm:t>
        <a:bodyPr/>
        <a:lstStyle/>
        <a:p>
          <a:endParaRPr lang="en-US"/>
        </a:p>
      </dgm:t>
    </dgm:pt>
    <dgm:pt modelId="{01158E20-176F-9348-9199-B3B8AE67D4EC}" type="sibTrans" cxnId="{AEB21BBF-31F3-0C48-9333-C0AF7FDBA6E0}">
      <dgm:prSet/>
      <dgm:spPr/>
      <dgm:t>
        <a:bodyPr/>
        <a:lstStyle/>
        <a:p>
          <a:endParaRPr lang="en-US"/>
        </a:p>
      </dgm:t>
    </dgm:pt>
    <dgm:pt modelId="{4045BE04-FBA4-3146-A8D9-7E39F50A3BEC}">
      <dgm:prSet phldrT="[Text]" custT="1"/>
      <dgm:spPr/>
      <dgm:t>
        <a:bodyPr/>
        <a:lstStyle/>
        <a:p>
          <a:r>
            <a:rPr lang="en-US" sz="2000" dirty="0"/>
            <a:t>Customers</a:t>
          </a:r>
        </a:p>
      </dgm:t>
    </dgm:pt>
    <dgm:pt modelId="{6813F4DF-6F0B-184B-8ADC-D5901C940DAE}" type="parTrans" cxnId="{84E3EF5D-7748-EC47-AAB1-6AD90A9C0ED6}">
      <dgm:prSet/>
      <dgm:spPr/>
      <dgm:t>
        <a:bodyPr/>
        <a:lstStyle/>
        <a:p>
          <a:endParaRPr lang="en-US"/>
        </a:p>
      </dgm:t>
    </dgm:pt>
    <dgm:pt modelId="{AF093065-CC23-4343-8327-601D41DD20B3}" type="sibTrans" cxnId="{84E3EF5D-7748-EC47-AAB1-6AD90A9C0ED6}">
      <dgm:prSet/>
      <dgm:spPr/>
      <dgm:t>
        <a:bodyPr/>
        <a:lstStyle/>
        <a:p>
          <a:endParaRPr lang="en-US"/>
        </a:p>
      </dgm:t>
    </dgm:pt>
    <dgm:pt modelId="{D5C54EC9-1E32-5442-81D8-5546978DFC00}">
      <dgm:prSet phldrT="[Text]" custT="1"/>
      <dgm:spPr/>
      <dgm:t>
        <a:bodyPr/>
        <a:lstStyle/>
        <a:p>
          <a:r>
            <a:rPr lang="en-US" sz="2000" dirty="0"/>
            <a:t>Industry Partners </a:t>
          </a:r>
        </a:p>
      </dgm:t>
    </dgm:pt>
    <dgm:pt modelId="{8141E433-9538-8B4E-8007-B371385EA4B7}" type="parTrans" cxnId="{4A880A36-F725-8B4E-ADAB-5D734E23F369}">
      <dgm:prSet/>
      <dgm:spPr/>
      <dgm:t>
        <a:bodyPr/>
        <a:lstStyle/>
        <a:p>
          <a:endParaRPr lang="en-US"/>
        </a:p>
      </dgm:t>
    </dgm:pt>
    <dgm:pt modelId="{E1B3ADB4-F546-674E-A839-CD7D18A58888}" type="sibTrans" cxnId="{4A880A36-F725-8B4E-ADAB-5D734E23F369}">
      <dgm:prSet/>
      <dgm:spPr/>
      <dgm:t>
        <a:bodyPr/>
        <a:lstStyle/>
        <a:p>
          <a:endParaRPr lang="en-US"/>
        </a:p>
      </dgm:t>
    </dgm:pt>
    <dgm:pt modelId="{A07041BC-4B6D-BC40-8942-8D4B52A3AD18}">
      <dgm:prSet phldrT="[Text]" custT="1"/>
      <dgm:spPr/>
      <dgm:t>
        <a:bodyPr/>
        <a:lstStyle/>
        <a:p>
          <a:r>
            <a:rPr lang="en-US" sz="2000" dirty="0"/>
            <a:t>Public Groups </a:t>
          </a:r>
        </a:p>
      </dgm:t>
    </dgm:pt>
    <dgm:pt modelId="{57BD7005-3B9E-584E-9AA5-1FB390E04DE0}" type="parTrans" cxnId="{37C2FF3F-BDD1-864B-B4E7-BAE84057C14C}">
      <dgm:prSet/>
      <dgm:spPr/>
      <dgm:t>
        <a:bodyPr/>
        <a:lstStyle/>
        <a:p>
          <a:endParaRPr lang="en-US"/>
        </a:p>
      </dgm:t>
    </dgm:pt>
    <dgm:pt modelId="{5E51EDBC-65FF-944A-A59C-B7F867CC4122}" type="sibTrans" cxnId="{37C2FF3F-BDD1-864B-B4E7-BAE84057C14C}">
      <dgm:prSet/>
      <dgm:spPr/>
      <dgm:t>
        <a:bodyPr/>
        <a:lstStyle/>
        <a:p>
          <a:endParaRPr lang="en-US"/>
        </a:p>
      </dgm:t>
    </dgm:pt>
    <dgm:pt modelId="{9A97D80B-96E5-904E-B4EB-AC844B934944}">
      <dgm:prSet phldrT="[Text]" custT="1"/>
      <dgm:spPr/>
      <dgm:t>
        <a:bodyPr/>
        <a:lstStyle/>
        <a:p>
          <a:r>
            <a:rPr lang="en-US" sz="2000" dirty="0"/>
            <a:t>Core</a:t>
          </a:r>
          <a:r>
            <a:rPr lang="en-US" sz="2400" dirty="0"/>
            <a:t> </a:t>
          </a:r>
          <a:r>
            <a:rPr lang="en-US" sz="2000" dirty="0"/>
            <a:t>Business Partners </a:t>
          </a:r>
        </a:p>
      </dgm:t>
    </dgm:pt>
    <dgm:pt modelId="{C70469F2-E206-464F-80EB-0C331C0A2048}" type="parTrans" cxnId="{6A6F959C-AB14-EC4A-B1A8-3DDA52A81679}">
      <dgm:prSet/>
      <dgm:spPr/>
      <dgm:t>
        <a:bodyPr/>
        <a:lstStyle/>
        <a:p>
          <a:endParaRPr lang="en-US"/>
        </a:p>
      </dgm:t>
    </dgm:pt>
    <dgm:pt modelId="{DCEFE29A-D6EA-114C-BF88-85032ABF002D}" type="sibTrans" cxnId="{6A6F959C-AB14-EC4A-B1A8-3DDA52A81679}">
      <dgm:prSet/>
      <dgm:spPr/>
      <dgm:t>
        <a:bodyPr/>
        <a:lstStyle/>
        <a:p>
          <a:endParaRPr lang="en-US"/>
        </a:p>
      </dgm:t>
    </dgm:pt>
    <dgm:pt modelId="{C3DB8E12-1DFF-454D-AEDF-B9026803FF5A}" type="pres">
      <dgm:prSet presAssocID="{1BC9467F-3908-FD42-8A04-80BA9A08F72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E1B3ADF-CACB-314F-8487-8AEAD8A65559}" type="pres">
      <dgm:prSet presAssocID="{9D625E82-3658-3140-8EBF-76D83BCF908A}" presName="centerShape" presStyleLbl="node0" presStyleIdx="0" presStyleCnt="1" custScaleX="108566" custScaleY="108292"/>
      <dgm:spPr/>
    </dgm:pt>
    <dgm:pt modelId="{1A586ADB-2E8C-0249-B683-64BD17BED3E4}" type="pres">
      <dgm:prSet presAssocID="{6813F4DF-6F0B-184B-8ADC-D5901C940DAE}" presName="Name9" presStyleLbl="parChTrans1D2" presStyleIdx="0" presStyleCnt="4"/>
      <dgm:spPr/>
    </dgm:pt>
    <dgm:pt modelId="{8C10BF2E-ABD8-C648-8B4A-739BB82A6CF8}" type="pres">
      <dgm:prSet presAssocID="{6813F4DF-6F0B-184B-8ADC-D5901C940DAE}" presName="connTx" presStyleLbl="parChTrans1D2" presStyleIdx="0" presStyleCnt="4"/>
      <dgm:spPr/>
    </dgm:pt>
    <dgm:pt modelId="{C39EDED2-6E38-0344-9318-706F3FFABE22}" type="pres">
      <dgm:prSet presAssocID="{4045BE04-FBA4-3146-A8D9-7E39F50A3BEC}" presName="node" presStyleLbl="node1" presStyleIdx="0" presStyleCnt="4" custScaleX="160908">
        <dgm:presLayoutVars>
          <dgm:bulletEnabled val="1"/>
        </dgm:presLayoutVars>
      </dgm:prSet>
      <dgm:spPr/>
    </dgm:pt>
    <dgm:pt modelId="{7D6FC383-9C50-C140-8228-2C5182F6E92D}" type="pres">
      <dgm:prSet presAssocID="{8141E433-9538-8B4E-8007-B371385EA4B7}" presName="Name9" presStyleLbl="parChTrans1D2" presStyleIdx="1" presStyleCnt="4"/>
      <dgm:spPr/>
    </dgm:pt>
    <dgm:pt modelId="{1F1E6C4E-6A37-AE49-96BD-612653DE212F}" type="pres">
      <dgm:prSet presAssocID="{8141E433-9538-8B4E-8007-B371385EA4B7}" presName="connTx" presStyleLbl="parChTrans1D2" presStyleIdx="1" presStyleCnt="4"/>
      <dgm:spPr/>
    </dgm:pt>
    <dgm:pt modelId="{16499061-0A09-7842-8758-5019786BC42E}" type="pres">
      <dgm:prSet presAssocID="{D5C54EC9-1E32-5442-81D8-5546978DFC00}" presName="node" presStyleLbl="node1" presStyleIdx="1" presStyleCnt="4" custScaleX="130688">
        <dgm:presLayoutVars>
          <dgm:bulletEnabled val="1"/>
        </dgm:presLayoutVars>
      </dgm:prSet>
      <dgm:spPr/>
    </dgm:pt>
    <dgm:pt modelId="{D8271A59-78B8-F942-AE38-771423F223E5}" type="pres">
      <dgm:prSet presAssocID="{57BD7005-3B9E-584E-9AA5-1FB390E04DE0}" presName="Name9" presStyleLbl="parChTrans1D2" presStyleIdx="2" presStyleCnt="4"/>
      <dgm:spPr/>
    </dgm:pt>
    <dgm:pt modelId="{DD5915BE-0B8B-A04E-8FA5-BB2CF53D7227}" type="pres">
      <dgm:prSet presAssocID="{57BD7005-3B9E-584E-9AA5-1FB390E04DE0}" presName="connTx" presStyleLbl="parChTrans1D2" presStyleIdx="2" presStyleCnt="4"/>
      <dgm:spPr/>
    </dgm:pt>
    <dgm:pt modelId="{23CDFE29-B716-D44D-B1E2-077B5E62A1BB}" type="pres">
      <dgm:prSet presAssocID="{A07041BC-4B6D-BC40-8942-8D4B52A3AD18}" presName="node" presStyleLbl="node1" presStyleIdx="2" presStyleCnt="4" custScaleX="140297">
        <dgm:presLayoutVars>
          <dgm:bulletEnabled val="1"/>
        </dgm:presLayoutVars>
      </dgm:prSet>
      <dgm:spPr/>
    </dgm:pt>
    <dgm:pt modelId="{63557E1C-5E9B-1548-B8AF-42FE05D711F1}" type="pres">
      <dgm:prSet presAssocID="{C70469F2-E206-464F-80EB-0C331C0A2048}" presName="Name9" presStyleLbl="parChTrans1D2" presStyleIdx="3" presStyleCnt="4"/>
      <dgm:spPr/>
    </dgm:pt>
    <dgm:pt modelId="{8C6B9F2A-0B50-1541-AED5-B6C74DA11674}" type="pres">
      <dgm:prSet presAssocID="{C70469F2-E206-464F-80EB-0C331C0A2048}" presName="connTx" presStyleLbl="parChTrans1D2" presStyleIdx="3" presStyleCnt="4"/>
      <dgm:spPr/>
    </dgm:pt>
    <dgm:pt modelId="{C3CCAB0A-90ED-EC49-8983-FAA52CC793FE}" type="pres">
      <dgm:prSet presAssocID="{9A97D80B-96E5-904E-B4EB-AC844B934944}" presName="node" presStyleLbl="node1" presStyleIdx="3" presStyleCnt="4" custScaleX="132854">
        <dgm:presLayoutVars>
          <dgm:bulletEnabled val="1"/>
        </dgm:presLayoutVars>
      </dgm:prSet>
      <dgm:spPr/>
    </dgm:pt>
  </dgm:ptLst>
  <dgm:cxnLst>
    <dgm:cxn modelId="{B8EFEA0B-5C22-184B-8168-7CB6CDF611F0}" type="presOf" srcId="{9D625E82-3658-3140-8EBF-76D83BCF908A}" destId="{6E1B3ADF-CACB-314F-8487-8AEAD8A65559}" srcOrd="0" destOrd="0" presId="urn:microsoft.com/office/officeart/2005/8/layout/radial1"/>
    <dgm:cxn modelId="{01AB5415-1A57-E34D-831F-DAE8588F01C8}" type="presOf" srcId="{8141E433-9538-8B4E-8007-B371385EA4B7}" destId="{7D6FC383-9C50-C140-8228-2C5182F6E92D}" srcOrd="0" destOrd="0" presId="urn:microsoft.com/office/officeart/2005/8/layout/radial1"/>
    <dgm:cxn modelId="{4A880A36-F725-8B4E-ADAB-5D734E23F369}" srcId="{9D625E82-3658-3140-8EBF-76D83BCF908A}" destId="{D5C54EC9-1E32-5442-81D8-5546978DFC00}" srcOrd="1" destOrd="0" parTransId="{8141E433-9538-8B4E-8007-B371385EA4B7}" sibTransId="{E1B3ADB4-F546-674E-A839-CD7D18A58888}"/>
    <dgm:cxn modelId="{37C2FF3F-BDD1-864B-B4E7-BAE84057C14C}" srcId="{9D625E82-3658-3140-8EBF-76D83BCF908A}" destId="{A07041BC-4B6D-BC40-8942-8D4B52A3AD18}" srcOrd="2" destOrd="0" parTransId="{57BD7005-3B9E-584E-9AA5-1FB390E04DE0}" sibTransId="{5E51EDBC-65FF-944A-A59C-B7F867CC4122}"/>
    <dgm:cxn modelId="{9B039040-2066-9B43-8E25-66BD7468464E}" type="presOf" srcId="{6813F4DF-6F0B-184B-8ADC-D5901C940DAE}" destId="{1A586ADB-2E8C-0249-B683-64BD17BED3E4}" srcOrd="0" destOrd="0" presId="urn:microsoft.com/office/officeart/2005/8/layout/radial1"/>
    <dgm:cxn modelId="{84E3EF5D-7748-EC47-AAB1-6AD90A9C0ED6}" srcId="{9D625E82-3658-3140-8EBF-76D83BCF908A}" destId="{4045BE04-FBA4-3146-A8D9-7E39F50A3BEC}" srcOrd="0" destOrd="0" parTransId="{6813F4DF-6F0B-184B-8ADC-D5901C940DAE}" sibTransId="{AF093065-CC23-4343-8327-601D41DD20B3}"/>
    <dgm:cxn modelId="{124E2D60-4E1A-6A46-B267-3430E8E8BE87}" type="presOf" srcId="{C70469F2-E206-464F-80EB-0C331C0A2048}" destId="{63557E1C-5E9B-1548-B8AF-42FE05D711F1}" srcOrd="0" destOrd="0" presId="urn:microsoft.com/office/officeart/2005/8/layout/radial1"/>
    <dgm:cxn modelId="{97AB3861-8A3F-ED47-AFFF-EBE24BEFEBCE}" type="presOf" srcId="{57BD7005-3B9E-584E-9AA5-1FB390E04DE0}" destId="{D8271A59-78B8-F942-AE38-771423F223E5}" srcOrd="0" destOrd="0" presId="urn:microsoft.com/office/officeart/2005/8/layout/radial1"/>
    <dgm:cxn modelId="{10DB5566-55FC-C844-ADBA-00281AC0BBFC}" type="presOf" srcId="{6813F4DF-6F0B-184B-8ADC-D5901C940DAE}" destId="{8C10BF2E-ABD8-C648-8B4A-739BB82A6CF8}" srcOrd="1" destOrd="0" presId="urn:microsoft.com/office/officeart/2005/8/layout/radial1"/>
    <dgm:cxn modelId="{A014CD8B-8C44-E34D-BAC9-177A754192CC}" type="presOf" srcId="{D5C54EC9-1E32-5442-81D8-5546978DFC00}" destId="{16499061-0A09-7842-8758-5019786BC42E}" srcOrd="0" destOrd="0" presId="urn:microsoft.com/office/officeart/2005/8/layout/radial1"/>
    <dgm:cxn modelId="{6A6F959C-AB14-EC4A-B1A8-3DDA52A81679}" srcId="{9D625E82-3658-3140-8EBF-76D83BCF908A}" destId="{9A97D80B-96E5-904E-B4EB-AC844B934944}" srcOrd="3" destOrd="0" parTransId="{C70469F2-E206-464F-80EB-0C331C0A2048}" sibTransId="{DCEFE29A-D6EA-114C-BF88-85032ABF002D}"/>
    <dgm:cxn modelId="{D86714A0-94BA-EA4E-8E0E-0AABE00EC448}" type="presOf" srcId="{57BD7005-3B9E-584E-9AA5-1FB390E04DE0}" destId="{DD5915BE-0B8B-A04E-8FA5-BB2CF53D7227}" srcOrd="1" destOrd="0" presId="urn:microsoft.com/office/officeart/2005/8/layout/radial1"/>
    <dgm:cxn modelId="{AF0054A9-EA81-A848-BBB9-5E36E99EDD15}" type="presOf" srcId="{1BC9467F-3908-FD42-8A04-80BA9A08F72E}" destId="{C3DB8E12-1DFF-454D-AEDF-B9026803FF5A}" srcOrd="0" destOrd="0" presId="urn:microsoft.com/office/officeart/2005/8/layout/radial1"/>
    <dgm:cxn modelId="{985B10B6-822B-8844-BF29-09A7D4A892BB}" type="presOf" srcId="{8141E433-9538-8B4E-8007-B371385EA4B7}" destId="{1F1E6C4E-6A37-AE49-96BD-612653DE212F}" srcOrd="1" destOrd="0" presId="urn:microsoft.com/office/officeart/2005/8/layout/radial1"/>
    <dgm:cxn modelId="{AEB21BBF-31F3-0C48-9333-C0AF7FDBA6E0}" srcId="{1BC9467F-3908-FD42-8A04-80BA9A08F72E}" destId="{9D625E82-3658-3140-8EBF-76D83BCF908A}" srcOrd="0" destOrd="0" parTransId="{B07B4FCA-9580-DB48-9C80-35F884E719AB}" sibTransId="{01158E20-176F-9348-9199-B3B8AE67D4EC}"/>
    <dgm:cxn modelId="{7A22FDC9-6A9E-7A41-A6F7-CFC9DCEAF101}" type="presOf" srcId="{A07041BC-4B6D-BC40-8942-8D4B52A3AD18}" destId="{23CDFE29-B716-D44D-B1E2-077B5E62A1BB}" srcOrd="0" destOrd="0" presId="urn:microsoft.com/office/officeart/2005/8/layout/radial1"/>
    <dgm:cxn modelId="{7BDD35DC-339D-E847-8F2E-D8249423B113}" type="presOf" srcId="{C70469F2-E206-464F-80EB-0C331C0A2048}" destId="{8C6B9F2A-0B50-1541-AED5-B6C74DA11674}" srcOrd="1" destOrd="0" presId="urn:microsoft.com/office/officeart/2005/8/layout/radial1"/>
    <dgm:cxn modelId="{4FC9BEDC-CBFC-AE41-AC93-AC17CB44F17B}" type="presOf" srcId="{9A97D80B-96E5-904E-B4EB-AC844B934944}" destId="{C3CCAB0A-90ED-EC49-8983-FAA52CC793FE}" srcOrd="0" destOrd="0" presId="urn:microsoft.com/office/officeart/2005/8/layout/radial1"/>
    <dgm:cxn modelId="{F16914F5-B72C-034F-8B46-549BFE7C853F}" type="presOf" srcId="{4045BE04-FBA4-3146-A8D9-7E39F50A3BEC}" destId="{C39EDED2-6E38-0344-9318-706F3FFABE22}" srcOrd="0" destOrd="0" presId="urn:microsoft.com/office/officeart/2005/8/layout/radial1"/>
    <dgm:cxn modelId="{F3732FE1-3545-984C-B527-C6E4A20C2E16}" type="presParOf" srcId="{C3DB8E12-1DFF-454D-AEDF-B9026803FF5A}" destId="{6E1B3ADF-CACB-314F-8487-8AEAD8A65559}" srcOrd="0" destOrd="0" presId="urn:microsoft.com/office/officeart/2005/8/layout/radial1"/>
    <dgm:cxn modelId="{5CBF7A27-78B9-3343-8CA2-EBB89BE24C64}" type="presParOf" srcId="{C3DB8E12-1DFF-454D-AEDF-B9026803FF5A}" destId="{1A586ADB-2E8C-0249-B683-64BD17BED3E4}" srcOrd="1" destOrd="0" presId="urn:microsoft.com/office/officeart/2005/8/layout/radial1"/>
    <dgm:cxn modelId="{B35ED321-4CE5-A342-8964-056C173084DC}" type="presParOf" srcId="{1A586ADB-2E8C-0249-B683-64BD17BED3E4}" destId="{8C10BF2E-ABD8-C648-8B4A-739BB82A6CF8}" srcOrd="0" destOrd="0" presId="urn:microsoft.com/office/officeart/2005/8/layout/radial1"/>
    <dgm:cxn modelId="{F68113B8-C8AE-5644-95A0-194CBE15153C}" type="presParOf" srcId="{C3DB8E12-1DFF-454D-AEDF-B9026803FF5A}" destId="{C39EDED2-6E38-0344-9318-706F3FFABE22}" srcOrd="2" destOrd="0" presId="urn:microsoft.com/office/officeart/2005/8/layout/radial1"/>
    <dgm:cxn modelId="{22BFC239-DE75-FF4F-A172-A11397E8CB01}" type="presParOf" srcId="{C3DB8E12-1DFF-454D-AEDF-B9026803FF5A}" destId="{7D6FC383-9C50-C140-8228-2C5182F6E92D}" srcOrd="3" destOrd="0" presId="urn:microsoft.com/office/officeart/2005/8/layout/radial1"/>
    <dgm:cxn modelId="{EA2C9254-A0D7-C741-8462-374140C52ADB}" type="presParOf" srcId="{7D6FC383-9C50-C140-8228-2C5182F6E92D}" destId="{1F1E6C4E-6A37-AE49-96BD-612653DE212F}" srcOrd="0" destOrd="0" presId="urn:microsoft.com/office/officeart/2005/8/layout/radial1"/>
    <dgm:cxn modelId="{7D64DA9B-2131-234E-9C99-6C32E800B726}" type="presParOf" srcId="{C3DB8E12-1DFF-454D-AEDF-B9026803FF5A}" destId="{16499061-0A09-7842-8758-5019786BC42E}" srcOrd="4" destOrd="0" presId="urn:microsoft.com/office/officeart/2005/8/layout/radial1"/>
    <dgm:cxn modelId="{389CA4EC-2217-1743-898D-8CDDB8380882}" type="presParOf" srcId="{C3DB8E12-1DFF-454D-AEDF-B9026803FF5A}" destId="{D8271A59-78B8-F942-AE38-771423F223E5}" srcOrd="5" destOrd="0" presId="urn:microsoft.com/office/officeart/2005/8/layout/radial1"/>
    <dgm:cxn modelId="{C8E31C1B-6723-C44C-8CC0-EBD340D54E60}" type="presParOf" srcId="{D8271A59-78B8-F942-AE38-771423F223E5}" destId="{DD5915BE-0B8B-A04E-8FA5-BB2CF53D7227}" srcOrd="0" destOrd="0" presId="urn:microsoft.com/office/officeart/2005/8/layout/radial1"/>
    <dgm:cxn modelId="{790CBF82-CB85-E54A-BAEA-6CA1024DF415}" type="presParOf" srcId="{C3DB8E12-1DFF-454D-AEDF-B9026803FF5A}" destId="{23CDFE29-B716-D44D-B1E2-077B5E62A1BB}" srcOrd="6" destOrd="0" presId="urn:microsoft.com/office/officeart/2005/8/layout/radial1"/>
    <dgm:cxn modelId="{272C5D87-3560-664C-8304-2A095ACCE75C}" type="presParOf" srcId="{C3DB8E12-1DFF-454D-AEDF-B9026803FF5A}" destId="{63557E1C-5E9B-1548-B8AF-42FE05D711F1}" srcOrd="7" destOrd="0" presId="urn:microsoft.com/office/officeart/2005/8/layout/radial1"/>
    <dgm:cxn modelId="{90C73967-DA2B-FE42-9548-524172C1432B}" type="presParOf" srcId="{63557E1C-5E9B-1548-B8AF-42FE05D711F1}" destId="{8C6B9F2A-0B50-1541-AED5-B6C74DA11674}" srcOrd="0" destOrd="0" presId="urn:microsoft.com/office/officeart/2005/8/layout/radial1"/>
    <dgm:cxn modelId="{87115FB4-9B7B-0749-8059-7DE24C15D6DB}" type="presParOf" srcId="{C3DB8E12-1DFF-454D-AEDF-B9026803FF5A}" destId="{C3CCAB0A-90ED-EC49-8983-FAA52CC793FE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B3ADF-CACB-314F-8487-8AEAD8A65559}">
      <dsp:nvSpPr>
        <dsp:cNvPr id="0" name=""/>
        <dsp:cNvSpPr/>
      </dsp:nvSpPr>
      <dsp:spPr>
        <a:xfrm>
          <a:off x="3378315" y="1524039"/>
          <a:ext cx="1298598" cy="12953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  <a:r>
            <a:rPr lang="en-US" sz="2000" kern="1200" dirty="0"/>
            <a:t>Organization</a:t>
          </a:r>
        </a:p>
      </dsp:txBody>
      <dsp:txXfrm>
        <a:off x="3568490" y="1713734"/>
        <a:ext cx="918248" cy="915931"/>
      </dsp:txXfrm>
    </dsp:sp>
    <dsp:sp modelId="{1A586ADB-2E8C-0249-B683-64BD17BED3E4}">
      <dsp:nvSpPr>
        <dsp:cNvPr id="0" name=""/>
        <dsp:cNvSpPr/>
      </dsp:nvSpPr>
      <dsp:spPr>
        <a:xfrm rot="16200000">
          <a:off x="3872022" y="1355061"/>
          <a:ext cx="311184" cy="26771"/>
        </a:xfrm>
        <a:custGeom>
          <a:avLst/>
          <a:gdLst/>
          <a:ahLst/>
          <a:cxnLst/>
          <a:rect l="0" t="0" r="0" b="0"/>
          <a:pathLst>
            <a:path>
              <a:moveTo>
                <a:pt x="0" y="13385"/>
              </a:moveTo>
              <a:lnTo>
                <a:pt x="311184" y="133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19835" y="1360667"/>
        <a:ext cx="15559" cy="15559"/>
      </dsp:txXfrm>
    </dsp:sp>
    <dsp:sp modelId="{C39EDED2-6E38-0344-9318-706F3FFABE22}">
      <dsp:nvSpPr>
        <dsp:cNvPr id="0" name=""/>
        <dsp:cNvSpPr/>
      </dsp:nvSpPr>
      <dsp:spPr>
        <a:xfrm>
          <a:off x="3065274" y="16716"/>
          <a:ext cx="1924681" cy="11961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Customers</a:t>
          </a:r>
        </a:p>
      </dsp:txBody>
      <dsp:txXfrm>
        <a:off x="3347137" y="191886"/>
        <a:ext cx="1360955" cy="845797"/>
      </dsp:txXfrm>
    </dsp:sp>
    <dsp:sp modelId="{7D6FC383-9C50-C140-8228-2C5182F6E92D}">
      <dsp:nvSpPr>
        <dsp:cNvPr id="0" name=""/>
        <dsp:cNvSpPr/>
      </dsp:nvSpPr>
      <dsp:spPr>
        <a:xfrm>
          <a:off x="4676914" y="2158314"/>
          <a:ext cx="126010" cy="26771"/>
        </a:xfrm>
        <a:custGeom>
          <a:avLst/>
          <a:gdLst/>
          <a:ahLst/>
          <a:cxnLst/>
          <a:rect l="0" t="0" r="0" b="0"/>
          <a:pathLst>
            <a:path>
              <a:moveTo>
                <a:pt x="0" y="13385"/>
              </a:moveTo>
              <a:lnTo>
                <a:pt x="126010" y="133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36769" y="2168549"/>
        <a:ext cx="6300" cy="6300"/>
      </dsp:txXfrm>
    </dsp:sp>
    <dsp:sp modelId="{16499061-0A09-7842-8758-5019786BC42E}">
      <dsp:nvSpPr>
        <dsp:cNvPr id="0" name=""/>
        <dsp:cNvSpPr/>
      </dsp:nvSpPr>
      <dsp:spPr>
        <a:xfrm>
          <a:off x="4802925" y="1573631"/>
          <a:ext cx="1563208" cy="11961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Industry Partners </a:t>
          </a:r>
        </a:p>
      </dsp:txBody>
      <dsp:txXfrm>
        <a:off x="5031852" y="1748801"/>
        <a:ext cx="1105354" cy="845797"/>
      </dsp:txXfrm>
    </dsp:sp>
    <dsp:sp modelId="{D8271A59-78B8-F942-AE38-771423F223E5}">
      <dsp:nvSpPr>
        <dsp:cNvPr id="0" name=""/>
        <dsp:cNvSpPr/>
      </dsp:nvSpPr>
      <dsp:spPr>
        <a:xfrm rot="5400000">
          <a:off x="3872022" y="2961567"/>
          <a:ext cx="311184" cy="26771"/>
        </a:xfrm>
        <a:custGeom>
          <a:avLst/>
          <a:gdLst/>
          <a:ahLst/>
          <a:cxnLst/>
          <a:rect l="0" t="0" r="0" b="0"/>
          <a:pathLst>
            <a:path>
              <a:moveTo>
                <a:pt x="0" y="13385"/>
              </a:moveTo>
              <a:lnTo>
                <a:pt x="311184" y="133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19835" y="2967173"/>
        <a:ext cx="15559" cy="15559"/>
      </dsp:txXfrm>
    </dsp:sp>
    <dsp:sp modelId="{23CDFE29-B716-D44D-B1E2-077B5E62A1BB}">
      <dsp:nvSpPr>
        <dsp:cNvPr id="0" name=""/>
        <dsp:cNvSpPr/>
      </dsp:nvSpPr>
      <dsp:spPr>
        <a:xfrm>
          <a:off x="3188542" y="3130545"/>
          <a:ext cx="1678145" cy="11961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Public Groups </a:t>
          </a:r>
        </a:p>
      </dsp:txBody>
      <dsp:txXfrm>
        <a:off x="3434301" y="3305715"/>
        <a:ext cx="1186627" cy="845797"/>
      </dsp:txXfrm>
    </dsp:sp>
    <dsp:sp modelId="{63557E1C-5E9B-1548-B8AF-42FE05D711F1}">
      <dsp:nvSpPr>
        <dsp:cNvPr id="0" name=""/>
        <dsp:cNvSpPr/>
      </dsp:nvSpPr>
      <dsp:spPr>
        <a:xfrm rot="10800000">
          <a:off x="3265258" y="2158314"/>
          <a:ext cx="113056" cy="26771"/>
        </a:xfrm>
        <a:custGeom>
          <a:avLst/>
          <a:gdLst/>
          <a:ahLst/>
          <a:cxnLst/>
          <a:rect l="0" t="0" r="0" b="0"/>
          <a:pathLst>
            <a:path>
              <a:moveTo>
                <a:pt x="0" y="13385"/>
              </a:moveTo>
              <a:lnTo>
                <a:pt x="113056" y="133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318960" y="2168873"/>
        <a:ext cx="5652" cy="5652"/>
      </dsp:txXfrm>
    </dsp:sp>
    <dsp:sp modelId="{C3CCAB0A-90ED-EC49-8983-FAA52CC793FE}">
      <dsp:nvSpPr>
        <dsp:cNvPr id="0" name=""/>
        <dsp:cNvSpPr/>
      </dsp:nvSpPr>
      <dsp:spPr>
        <a:xfrm>
          <a:off x="1676142" y="1573631"/>
          <a:ext cx="1589116" cy="11961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Core</a:t>
          </a:r>
          <a:r>
            <a:rPr lang="en-US" sz="2400" kern="1200" dirty="0"/>
            <a:t> </a:t>
          </a:r>
          <a:r>
            <a:rPr lang="en-US" sz="2000" kern="1200" dirty="0"/>
            <a:t>Business Partners </a:t>
          </a:r>
        </a:p>
      </dsp:txBody>
      <dsp:txXfrm>
        <a:off x="1908863" y="1748801"/>
        <a:ext cx="1123674" cy="8457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C05EC5-6EA7-2746-A447-C29064E0655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>
    <p:whee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A1DD539-04DD-7F4D-8FDF-A851B0E97A84}" type="datetimeFigureOut">
              <a:rPr lang="en-US" smtClean="0"/>
              <a:pPr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CAA4C1EB-D0B1-AD41-9663-B0D4F2E25F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xSUBl1WNxk" TargetMode="External"/><Relationship Id="rId2" Type="http://schemas.openxmlformats.org/officeDocument/2006/relationships/hyperlink" Target="https://www.youtube.com/watch?v=YQ3qgIMURg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87HsUukEj4Y&amp;index=4&amp;list=PL058A82A702A180CF" TargetMode="External"/><Relationship Id="rId4" Type="http://schemas.openxmlformats.org/officeDocument/2006/relationships/hyperlink" Target="https://www.youtube.com/watch?v=3FfaPhCKZew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Communication 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1A2FB52-99D5-4F55-A4E9-80F62381CE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Understanding the importance of realistic business communication process with real life business scenarios</a:t>
            </a:r>
            <a:endParaRPr lang="en-AU" dirty="0"/>
          </a:p>
          <a:p>
            <a:pPr lvl="0"/>
            <a:r>
              <a:rPr lang="en-US" dirty="0"/>
              <a:t>Adapting writing processes considering different business situations and selecting appropriate words in those scenarios through examples</a:t>
            </a:r>
            <a:endParaRPr lang="en-AU" dirty="0"/>
          </a:p>
          <a:p>
            <a:pPr lvl="0"/>
            <a:r>
              <a:rPr lang="en-US" dirty="0"/>
              <a:t>Helping the students in learning the differences between formal and informal writing techniques by providing samples of formal and informal emails, letters, memos and reports.</a:t>
            </a:r>
            <a:endParaRPr lang="en-AU" dirty="0"/>
          </a:p>
          <a:p>
            <a:pPr lvl="0"/>
            <a:r>
              <a:rPr lang="en-US" dirty="0"/>
              <a:t>The course deals with explanation of why communicating clearly across cultures is important to business though case studies</a:t>
            </a:r>
            <a:endParaRPr lang="en-AU" dirty="0"/>
          </a:p>
          <a:p>
            <a:r>
              <a:rPr lang="en-US" dirty="0"/>
              <a:t>Helping students constructing their CV and resume through real life samples and preparing them for public speaking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			</a:t>
            </a:r>
          </a:p>
          <a:p>
            <a:pPr algn="ctr">
              <a:buNone/>
            </a:pPr>
            <a:endParaRPr lang="en-US" sz="3200" dirty="0"/>
          </a:p>
          <a:p>
            <a:pPr algn="ctr">
              <a:buNone/>
            </a:pPr>
            <a:r>
              <a:rPr lang="en-US" sz="3200" dirty="0"/>
              <a:t>       </a:t>
            </a:r>
            <a:r>
              <a:rPr lang="en-US" sz="3200" b="1" dirty="0"/>
              <a:t>Understanding Workplace Communication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communication?</a:t>
            </a:r>
          </a:p>
          <a:p>
            <a:r>
              <a:rPr lang="en-US" dirty="0"/>
              <a:t>Importance of business communication</a:t>
            </a:r>
          </a:p>
          <a:p>
            <a:r>
              <a:rPr lang="en-US" dirty="0"/>
              <a:t>Current Challenges </a:t>
            </a:r>
          </a:p>
          <a:p>
            <a:r>
              <a:rPr lang="en-US" dirty="0"/>
              <a:t>Categories of business communication </a:t>
            </a:r>
          </a:p>
          <a:p>
            <a:r>
              <a:rPr lang="en-US" dirty="0"/>
              <a:t>Communication networks</a:t>
            </a:r>
          </a:p>
          <a:p>
            <a:r>
              <a:rPr lang="en-US" dirty="0"/>
              <a:t>The contexts for communication </a:t>
            </a:r>
          </a:p>
          <a:p>
            <a:r>
              <a:rPr lang="en-US" dirty="0"/>
              <a:t>The process of communication 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 dirty="0"/>
              <a:t>What Is Communication?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03614"/>
            <a:ext cx="8458200" cy="5227311"/>
          </a:xfrm>
        </p:spPr>
        <p:txBody>
          <a:bodyPr/>
          <a:lstStyle/>
          <a:p>
            <a:pPr eaLnBrk="1" hangingPunct="1">
              <a:buNone/>
              <a:defRPr/>
            </a:pPr>
            <a:endParaRPr lang="en-US" sz="2800" dirty="0"/>
          </a:p>
          <a:p>
            <a:pPr>
              <a:buFont typeface="Wingdings" pitchFamily="2" charset="2"/>
              <a:buChar char="l"/>
              <a:defRPr/>
            </a:pPr>
            <a:r>
              <a:rPr lang="en-US" dirty="0"/>
              <a:t>The act of exchanging of information by speaking, writing, or using some other medium</a:t>
            </a:r>
          </a:p>
          <a:p>
            <a:pPr>
              <a:buFont typeface="Wingdings" pitchFamily="2" charset="2"/>
              <a:buChar char="l"/>
              <a:defRPr/>
            </a:pPr>
            <a:r>
              <a:rPr lang="en-US" dirty="0"/>
              <a:t> Means of sending or receiving information, such as telephone lines or computers</a:t>
            </a:r>
          </a:p>
          <a:p>
            <a:pPr>
              <a:buFont typeface="Wingdings" pitchFamily="2" charset="2"/>
              <a:buChar char="l"/>
              <a:defRPr/>
            </a:pPr>
            <a:r>
              <a:rPr lang="en-US" dirty="0"/>
              <a:t>Two parties are involved- sender and receiver </a:t>
            </a:r>
          </a:p>
        </p:txBody>
      </p:sp>
      <p:pic>
        <p:nvPicPr>
          <p:cNvPr id="4100" name="Picture 6" descr="j0300520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001413" y="4273848"/>
            <a:ext cx="7241926" cy="1939627"/>
          </a:xfrm>
          <a:noFill/>
        </p:spPr>
      </p:pic>
    </p:spTree>
  </p:cSld>
  <p:clrMapOvr>
    <a:masterClrMapping/>
  </p:clrMapOvr>
  <p:transition>
    <p:whee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 dirty="0"/>
              <a:t>Communication Is Important to Business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03614"/>
            <a:ext cx="8458200" cy="5227311"/>
          </a:xfrm>
        </p:spPr>
        <p:txBody>
          <a:bodyPr/>
          <a:lstStyle/>
          <a:p>
            <a:pPr eaLnBrk="1" hangingPunct="1">
              <a:buNone/>
              <a:defRPr/>
            </a:pPr>
            <a:endParaRPr lang="en-US" sz="2800" dirty="0"/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Business Needs Good Communication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Most People DO NOT Communicate Well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Improved Communication=Better Chances for Success</a:t>
            </a:r>
          </a:p>
        </p:txBody>
      </p:sp>
      <p:pic>
        <p:nvPicPr>
          <p:cNvPr id="4100" name="Picture 6" descr="j0300520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001413" y="4273848"/>
            <a:ext cx="7241926" cy="1939627"/>
          </a:xfrm>
          <a:noFill/>
        </p:spPr>
      </p:pic>
    </p:spTree>
  </p:cSld>
  <p:clrMapOvr>
    <a:masterClrMapping/>
  </p:clrMapOvr>
  <p:transition>
    <p:whee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 Depends </a:t>
            </a:r>
            <a:r>
              <a:rPr lang="en-US"/>
              <a:t>upon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must coordinate the </a:t>
            </a:r>
            <a:br>
              <a:rPr lang="en-US" dirty="0"/>
            </a:br>
            <a:r>
              <a:rPr lang="en-US" dirty="0"/>
              <a:t>activities of groups of people</a:t>
            </a:r>
          </a:p>
          <a:p>
            <a:r>
              <a:rPr lang="en-US" dirty="0"/>
              <a:t>Individual business units send </a:t>
            </a:r>
            <a:br>
              <a:rPr lang="en-US" dirty="0"/>
            </a:br>
            <a:r>
              <a:rPr lang="en-US" dirty="0"/>
              <a:t>and receive information about all </a:t>
            </a:r>
            <a:br>
              <a:rPr lang="en-US" dirty="0"/>
            </a:br>
            <a:r>
              <a:rPr lang="en-US" dirty="0"/>
              <a:t>aspects of business 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 1" descr="j023301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9628" y="1600201"/>
            <a:ext cx="3028663" cy="39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Videos on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https://www.youtube.com/watch?v=YQ3qgIMURgI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https://www.youtube.com/watch?v=ixSUBl1WNxk</a:t>
            </a:r>
            <a:endParaRPr lang="en-US" dirty="0"/>
          </a:p>
          <a:p>
            <a:r>
              <a:rPr lang="en-US" dirty="0">
                <a:hlinkClick r:id="rId4"/>
              </a:rPr>
              <a:t>https://www.youtube.com/watch?v=3FfaPhCKZew</a:t>
            </a:r>
            <a:endParaRPr lang="en-US" dirty="0"/>
          </a:p>
          <a:p>
            <a:r>
              <a:rPr lang="en-US" dirty="0">
                <a:hlinkClick r:id="rId5"/>
              </a:rPr>
              <a:t>https://www.youtube.com/watch?v=87HsUukEj4Y&amp;index=4&amp;list=PL058A82A702A180CF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Discussion on the importance of communication </a:t>
            </a:r>
          </a:p>
          <a:p>
            <a:r>
              <a:rPr lang="en-US" dirty="0"/>
              <a:t>Form small groups and identify at least five advantages of effective communication in the context of a business organization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Challenges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IMPACTS of Social Media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social-media-and-ecommer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27" y="2564148"/>
            <a:ext cx="7315200" cy="29185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Challenges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media are also increasing the needs for employees who have </a:t>
            </a:r>
            <a:r>
              <a:rPr lang="en-US" b="1" dirty="0"/>
              <a:t>social intelligence </a:t>
            </a:r>
          </a:p>
          <a:p>
            <a:r>
              <a:rPr lang="en-US" b="1" dirty="0"/>
              <a:t>Social Intelligence </a:t>
            </a:r>
            <a:r>
              <a:rPr lang="en-US" dirty="0"/>
              <a:t>refers to the ability to quickly assess the emotions of those around them and adapt their words, tone, and gestures accordingly </a:t>
            </a:r>
            <a:endParaRPr lang="en-US" b="1" dirty="0"/>
          </a:p>
          <a:p>
            <a:r>
              <a:rPr lang="en-US" b="1" dirty="0"/>
              <a:t>Globalization</a:t>
            </a:r>
            <a:r>
              <a:rPr lang="en-US" dirty="0"/>
              <a:t> has given birth to globally integrated organizations and global social networks</a:t>
            </a:r>
          </a:p>
          <a:p>
            <a:r>
              <a:rPr lang="en-US" dirty="0"/>
              <a:t>Individuals need to achieve </a:t>
            </a:r>
            <a:r>
              <a:rPr lang="en-US" b="1" dirty="0"/>
              <a:t>cross-cultural competency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Using Social Intelligence on Social Media: Good Example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9275" y="1600201"/>
            <a:ext cx="8042276" cy="536723"/>
          </a:xfrm>
        </p:spPr>
        <p:txBody>
          <a:bodyPr/>
          <a:lstStyle/>
          <a:p>
            <a:r>
              <a:rPr lang="en-US" dirty="0"/>
              <a:t>Good Example: </a:t>
            </a:r>
          </a:p>
        </p:txBody>
      </p:sp>
      <p:pic>
        <p:nvPicPr>
          <p:cNvPr id="6" name="Picture 5" descr="11164158_3501469719915125_986098307_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03" y="2307878"/>
            <a:ext cx="7311972" cy="36500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Using Social Intelligence on Social Media: Bad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British Airways has been under fire quite a bit for its bad customer service, and social media only promotes its problem</a:t>
            </a:r>
          </a:p>
          <a:p>
            <a:r>
              <a:rPr lang="en-US" dirty="0"/>
              <a:t>A customer named Hassan </a:t>
            </a:r>
            <a:r>
              <a:rPr lang="en-US" dirty="0" err="1"/>
              <a:t>Syed</a:t>
            </a:r>
            <a:r>
              <a:rPr lang="en-US" dirty="0"/>
              <a:t> recently paid to promote a Tweet complaining about British Airways’ customer service after the company lost his father’s suitcase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891402"/>
            <a:ext cx="8042276" cy="55312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800" dirty="0"/>
              <a:t>Here is what Hassan </a:t>
            </a:r>
            <a:r>
              <a:rPr lang="en-US" sz="4800" dirty="0" err="1"/>
              <a:t>Syed</a:t>
            </a:r>
            <a:r>
              <a:rPr lang="en-US" sz="4800" dirty="0"/>
              <a:t> posted on Twitter!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4" name="Picture 3" descr="11257724_3501470026581761_903941586_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599765"/>
            <a:ext cx="8229601" cy="35263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tweet was seen by 76,000 users</a:t>
            </a:r>
          </a:p>
          <a:p>
            <a:r>
              <a:rPr lang="en-US" dirty="0"/>
              <a:t>It negatively impacted on the reputation of the organization </a:t>
            </a:r>
          </a:p>
          <a:p>
            <a:r>
              <a:rPr lang="en-US" dirty="0"/>
              <a:t>To make things worse, British Airways failed to respond to the promoted tweet for eight hours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next?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BA replied to the message! </a:t>
            </a:r>
          </a:p>
        </p:txBody>
      </p:sp>
      <p:pic>
        <p:nvPicPr>
          <p:cNvPr id="4" name="Picture 3" descr="11168959_3501469826581781_1183776413_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04" y="2613153"/>
            <a:ext cx="7413630" cy="32542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you ever experience lack of social intelligence while communicating on social media? </a:t>
            </a:r>
          </a:p>
          <a:p>
            <a:endParaRPr lang="en-US" dirty="0"/>
          </a:p>
          <a:p>
            <a:r>
              <a:rPr lang="en-US" dirty="0"/>
              <a:t>Discuss with your neighbor and share the experience with others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</a:t>
            </a:r>
            <a:r>
              <a:rPr lang="en-US"/>
              <a:t>Business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4" name="Picture 3" descr="organisational-communication-and-its-management-19-638 cop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444532"/>
            <a:ext cx="8042275" cy="44990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/>
              <a:t>Three Categories of Business Communication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dirty="0"/>
              <a:t>1.  Internal Operational</a:t>
            </a:r>
          </a:p>
          <a:p>
            <a:pPr lvl="1" eaLnBrk="1" hangingPunct="1"/>
            <a:r>
              <a:rPr lang="en-US" sz="2400" dirty="0"/>
              <a:t>Communication Within a Business</a:t>
            </a:r>
          </a:p>
          <a:p>
            <a:pPr lvl="2" eaLnBrk="1" hangingPunct="1"/>
            <a:r>
              <a:rPr lang="en-US" sz="2000" dirty="0"/>
              <a:t>Giving Orders</a:t>
            </a:r>
          </a:p>
          <a:p>
            <a:pPr lvl="2" eaLnBrk="1" hangingPunct="1"/>
            <a:r>
              <a:rPr lang="en-US" sz="2000" dirty="0"/>
              <a:t>Assembling Reports</a:t>
            </a:r>
          </a:p>
          <a:p>
            <a:pPr lvl="2" eaLnBrk="1" hangingPunct="1"/>
            <a:r>
              <a:rPr lang="en-US" sz="2000" dirty="0"/>
              <a:t>Writing Emails</a:t>
            </a:r>
          </a:p>
          <a:p>
            <a:pPr lvl="2" eaLnBrk="1" hangingPunct="1"/>
            <a:endParaRPr lang="en-US" sz="2000" dirty="0"/>
          </a:p>
        </p:txBody>
      </p:sp>
      <p:pic>
        <p:nvPicPr>
          <p:cNvPr id="7172" name="Picture 7" descr="j023301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800600" y="2557463"/>
            <a:ext cx="3657600" cy="3309937"/>
          </a:xfrm>
          <a:noFill/>
        </p:spPr>
      </p:pic>
    </p:spTree>
  </p:cSld>
  <p:clrMapOvr>
    <a:masterClrMapping/>
  </p:clrMapOvr>
  <p:transition>
    <p:whee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/>
              <a:t>Three Categories of Business Communication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6553200" cy="4530725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dirty="0"/>
              <a:t>2.  External Operational</a:t>
            </a:r>
          </a:p>
          <a:p>
            <a:pPr lvl="1" eaLnBrk="1" hangingPunct="1"/>
            <a:r>
              <a:rPr lang="en-US" sz="2400" dirty="0"/>
              <a:t>Communication Outside Business</a:t>
            </a:r>
          </a:p>
          <a:p>
            <a:pPr lvl="2" eaLnBrk="1" hangingPunct="1"/>
            <a:r>
              <a:rPr lang="en-US" sz="2000" dirty="0"/>
              <a:t>Personal Selling</a:t>
            </a:r>
          </a:p>
          <a:p>
            <a:pPr lvl="2" eaLnBrk="1" hangingPunct="1"/>
            <a:r>
              <a:rPr lang="en-US" sz="2000" dirty="0"/>
              <a:t>Telephoning</a:t>
            </a:r>
          </a:p>
          <a:p>
            <a:pPr lvl="2" eaLnBrk="1" hangingPunct="1"/>
            <a:r>
              <a:rPr lang="en-US" sz="2000" dirty="0"/>
              <a:t>Advertising</a:t>
            </a:r>
          </a:p>
          <a:p>
            <a:pPr lvl="2" eaLnBrk="1" hangingPunct="1"/>
            <a:r>
              <a:rPr lang="en-US" sz="2000" dirty="0"/>
              <a:t>Writing Messages</a:t>
            </a:r>
          </a:p>
          <a:p>
            <a:pPr lvl="3" eaLnBrk="1" hangingPunct="1"/>
            <a:r>
              <a:rPr lang="en-US" sz="1800" dirty="0"/>
              <a:t>Displays a Company’s Etiquette</a:t>
            </a:r>
          </a:p>
          <a:p>
            <a:pPr lvl="2" eaLnBrk="1" hangingPunct="1"/>
            <a:endParaRPr lang="en-US" sz="2000" dirty="0"/>
          </a:p>
          <a:p>
            <a:pPr lvl="1" eaLnBrk="1" hangingPunct="1"/>
            <a:endParaRPr lang="en-US" sz="2400" dirty="0"/>
          </a:p>
        </p:txBody>
      </p:sp>
      <p:pic>
        <p:nvPicPr>
          <p:cNvPr id="8196" name="Picture 4" descr="j023465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562600" y="2630488"/>
            <a:ext cx="3236913" cy="3152775"/>
          </a:xfrm>
          <a:noFill/>
        </p:spPr>
      </p:pic>
    </p:spTree>
  </p:cSld>
  <p:clrMapOvr>
    <a:masterClrMapping/>
  </p:clrMapOvr>
  <p:transition>
    <p:whee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Audiences for Businesses 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9275" y="1600201"/>
          <a:ext cx="8042276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/>
              <a:t>Three Categories of Business Communication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010400" cy="4530725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dirty="0"/>
              <a:t>3. Personal Communication</a:t>
            </a:r>
          </a:p>
          <a:p>
            <a:pPr lvl="1" eaLnBrk="1" hangingPunct="1"/>
            <a:r>
              <a:rPr lang="en-US" sz="2400" dirty="0"/>
              <a:t>Non-Business-Related Information/Feelings</a:t>
            </a:r>
          </a:p>
          <a:p>
            <a:pPr lvl="2" eaLnBrk="1" hangingPunct="1"/>
            <a:r>
              <a:rPr lang="en-US" sz="2000" dirty="0"/>
              <a:t>Affects Employee Attitude</a:t>
            </a:r>
          </a:p>
          <a:p>
            <a:pPr lvl="2" eaLnBrk="1" hangingPunct="1"/>
            <a:r>
              <a:rPr lang="en-US" sz="2000" dirty="0"/>
              <a:t>Attitude Affects Employee Performance</a:t>
            </a:r>
          </a:p>
          <a:p>
            <a:pPr lvl="2" eaLnBrk="1" hangingPunct="1">
              <a:buFont typeface="Wingdings" pitchFamily="-106" charset="2"/>
              <a:buNone/>
            </a:pPr>
            <a:endParaRPr lang="en-US" sz="2000" dirty="0"/>
          </a:p>
          <a:p>
            <a:pPr lvl="2" eaLnBrk="1" hangingPunct="1"/>
            <a:endParaRPr lang="en-US" sz="2000" dirty="0"/>
          </a:p>
        </p:txBody>
      </p:sp>
      <p:pic>
        <p:nvPicPr>
          <p:cNvPr id="9220" name="Picture 7" descr="j02854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472788" y="3690548"/>
            <a:ext cx="3048000" cy="2854325"/>
          </a:xfrm>
          <a:noFill/>
        </p:spPr>
      </p:pic>
    </p:spTree>
  </p:cSld>
  <p:clrMapOvr>
    <a:masterClrMapping/>
  </p:clrMapOvr>
  <p:transition>
    <p:whee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discussion on the types of communication </a:t>
            </a:r>
          </a:p>
          <a:p>
            <a:r>
              <a:rPr lang="en-US" dirty="0"/>
              <a:t>What type of communication is most important in the context of a business organization? Give at least 3 reasons to justify your answer.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107576"/>
            <a:ext cx="8042276" cy="82046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Communication Networks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sz="2800" dirty="0"/>
              <a:t>Formal Network</a:t>
            </a:r>
          </a:p>
          <a:p>
            <a:pPr>
              <a:buFont typeface="Wingdings" pitchFamily="2" charset="2"/>
              <a:buChar char="l"/>
              <a:defRPr/>
            </a:pPr>
            <a:r>
              <a:rPr lang="en-US" sz="2353" dirty="0"/>
              <a:t>Rules of communication and status hierarchy of the employees</a:t>
            </a:r>
          </a:p>
          <a:p>
            <a:pPr>
              <a:buFont typeface="Wingdings" pitchFamily="2" charset="2"/>
              <a:buChar char="l"/>
              <a:defRPr/>
            </a:pPr>
            <a:r>
              <a:rPr lang="en-US" dirty="0"/>
              <a:t>communication flow through an </a:t>
            </a:r>
            <a:r>
              <a:rPr lang="en-US" dirty="0" err="1"/>
              <a:t>organogram</a:t>
            </a:r>
            <a:endParaRPr lang="en-US" dirty="0"/>
          </a:p>
          <a:p>
            <a:pPr>
              <a:buFont typeface="Wingdings" pitchFamily="2" charset="2"/>
              <a:buChar char="l"/>
              <a:defRPr/>
            </a:pPr>
            <a:r>
              <a:rPr lang="en-US" dirty="0"/>
              <a:t>The flow of information includes upward, horizontal and downward movement </a:t>
            </a:r>
          </a:p>
          <a:p>
            <a:pPr>
              <a:buFont typeface="Wingdings" pitchFamily="2" charset="2"/>
              <a:buChar char="l"/>
              <a:defRPr/>
            </a:pPr>
            <a:r>
              <a:rPr lang="en-US" dirty="0"/>
              <a:t>Movement of information by reports, e-mail, records within organization </a:t>
            </a:r>
          </a:p>
          <a:p>
            <a:pPr>
              <a:buFont typeface="Wingdings" pitchFamily="2" charset="2"/>
              <a:buChar char="l"/>
              <a:defRPr/>
            </a:pPr>
            <a:endParaRPr lang="en-US" sz="28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saves.org.pk/site/images/stories/organogram.jpg</a:t>
            </a:r>
            <a:endParaRPr lang="en-US" dirty="0"/>
          </a:p>
        </p:txBody>
      </p:sp>
      <p:pic>
        <p:nvPicPr>
          <p:cNvPr id="4" name="Picture 3" descr="organo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01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Communication Networks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9275" y="1444532"/>
            <a:ext cx="8042276" cy="4499069"/>
          </a:xfrm>
        </p:spPr>
        <p:txBody>
          <a:bodyPr/>
          <a:lstStyle/>
          <a:p>
            <a:pPr eaLnBrk="1" hangingPunct="1">
              <a:buNone/>
              <a:defRPr/>
            </a:pPr>
            <a:r>
              <a:rPr lang="en-US" sz="2800" dirty="0"/>
              <a:t>Informal Network 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Highly Complex &amp; Continually Changing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Primarily Consists of Personal Communication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Has No Set Pattern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Links All members in Organization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……Grapevine communication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Context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600200"/>
            <a:ext cx="8042276" cy="49326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Organizational Context</a:t>
            </a:r>
          </a:p>
          <a:p>
            <a:pPr>
              <a:buNone/>
            </a:pPr>
            <a:r>
              <a:rPr lang="en-US" dirty="0"/>
              <a:t>-Organizational culture </a:t>
            </a:r>
          </a:p>
          <a:p>
            <a:pPr>
              <a:buNone/>
            </a:pPr>
            <a:r>
              <a:rPr lang="en-US" dirty="0"/>
              <a:t>- Your communication is largely shaped by the </a:t>
            </a:r>
            <a:r>
              <a:rPr lang="en-US"/>
              <a:t>organization for whom </a:t>
            </a:r>
            <a:r>
              <a:rPr lang="en-US" dirty="0"/>
              <a:t>you speak </a:t>
            </a:r>
          </a:p>
          <a:p>
            <a:r>
              <a:rPr lang="en-US" dirty="0"/>
              <a:t> Professional Context</a:t>
            </a:r>
          </a:p>
          <a:p>
            <a:pPr>
              <a:buNone/>
            </a:pPr>
            <a:r>
              <a:rPr lang="en-US" dirty="0"/>
              <a:t>-Different people possess different kinds of expertise, speak differently and have different perspectives </a:t>
            </a:r>
          </a:p>
          <a:p>
            <a:r>
              <a:rPr lang="en-US" dirty="0"/>
              <a:t> Personal Context</a:t>
            </a:r>
          </a:p>
          <a:p>
            <a:pPr>
              <a:buFontTx/>
              <a:buChar char="-"/>
            </a:pPr>
            <a:r>
              <a:rPr lang="en-US" dirty="0"/>
              <a:t>Depends on the genes you inherited, your family and upbringing, your schooling, your life experiences and culture </a:t>
            </a:r>
          </a:p>
          <a:p>
            <a:pPr>
              <a:buFontTx/>
              <a:buChar char="-"/>
            </a:pPr>
            <a:r>
              <a:rPr lang="en-US" dirty="0"/>
              <a:t>Your current circumstances </a:t>
            </a:r>
          </a:p>
          <a:p>
            <a:pPr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7576"/>
            <a:ext cx="8915017" cy="857093"/>
          </a:xfrm>
        </p:spPr>
        <p:txBody>
          <a:bodyPr/>
          <a:lstStyle/>
          <a:p>
            <a:r>
              <a:rPr lang="en-US" dirty="0"/>
              <a:t>The Process of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172256"/>
            <a:ext cx="8042276" cy="47713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Sensing a communication need </a:t>
            </a:r>
          </a:p>
          <a:p>
            <a:pPr>
              <a:buNone/>
            </a:pPr>
            <a:r>
              <a:rPr lang="en-US" dirty="0"/>
              <a:t>- Why am I communicating ?</a:t>
            </a:r>
          </a:p>
          <a:p>
            <a:r>
              <a:rPr lang="en-US" dirty="0"/>
              <a:t> Defining the situation </a:t>
            </a:r>
          </a:p>
          <a:p>
            <a:pPr>
              <a:buNone/>
            </a:pPr>
            <a:r>
              <a:rPr lang="en-US" dirty="0"/>
              <a:t>- Clear sense of the situation </a:t>
            </a:r>
          </a:p>
          <a:p>
            <a:r>
              <a:rPr lang="en-US" dirty="0"/>
              <a:t>Consider possible communication strategies </a:t>
            </a:r>
          </a:p>
          <a:p>
            <a:pPr>
              <a:buNone/>
            </a:pPr>
            <a:r>
              <a:rPr lang="en-US" dirty="0"/>
              <a:t>- Analyze the contexts and relationship with the audience </a:t>
            </a:r>
          </a:p>
          <a:p>
            <a:r>
              <a:rPr lang="en-US" dirty="0"/>
              <a:t>Selecting a course of action </a:t>
            </a:r>
          </a:p>
          <a:p>
            <a:pPr>
              <a:buNone/>
            </a:pPr>
            <a:r>
              <a:rPr lang="en-US" dirty="0"/>
              <a:t>- Consider the cost and benefit of each option and choose the most optimum one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of Communication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444532"/>
            <a:ext cx="8042276" cy="4499069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r>
              <a:rPr lang="en-US" dirty="0"/>
              <a:t>Composing the message</a:t>
            </a:r>
          </a:p>
          <a:p>
            <a:pPr>
              <a:buNone/>
            </a:pPr>
            <a:r>
              <a:rPr lang="en-US" dirty="0"/>
              <a:t>- Craft your presentation message or plan your conversation or presentation  </a:t>
            </a:r>
          </a:p>
          <a:p>
            <a:r>
              <a:rPr lang="en-US" dirty="0"/>
              <a:t>Sending the message </a:t>
            </a:r>
          </a:p>
          <a:p>
            <a:pPr>
              <a:buFontTx/>
              <a:buChar char="-"/>
            </a:pPr>
            <a:r>
              <a:rPr lang="en-US" dirty="0"/>
              <a:t>It’s the time to send your message and you are done!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of Communication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600201"/>
            <a:ext cx="8042276" cy="49693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Receiving the message</a:t>
            </a:r>
          </a:p>
          <a:p>
            <a:pPr>
              <a:buNone/>
            </a:pPr>
            <a:r>
              <a:rPr lang="en-US" dirty="0"/>
              <a:t>- Your chosen channel has delivered the message to the intended recipient </a:t>
            </a:r>
          </a:p>
          <a:p>
            <a:r>
              <a:rPr lang="en-US" dirty="0"/>
              <a:t>Interpreting the message </a:t>
            </a:r>
          </a:p>
          <a:p>
            <a:pPr>
              <a:buNone/>
            </a:pPr>
            <a:r>
              <a:rPr lang="en-US" dirty="0"/>
              <a:t>- Recipient involves interpreting the message once has has received it </a:t>
            </a:r>
          </a:p>
          <a:p>
            <a:r>
              <a:rPr lang="en-US" dirty="0"/>
              <a:t>Deciding on a response </a:t>
            </a:r>
          </a:p>
          <a:p>
            <a:pPr>
              <a:buNone/>
            </a:pPr>
            <a:r>
              <a:rPr lang="en-US" dirty="0"/>
              <a:t>- If the message has been carefully adapted by to the recipients, it has a good chance of achieving the desired goals </a:t>
            </a:r>
          </a:p>
          <a:p>
            <a:r>
              <a:rPr lang="en-US" dirty="0"/>
              <a:t>Replying to the message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assignment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about a recent transaction you had with a business person or with a staff person at an organization or at DU. Describe the process of your communication. </a:t>
            </a:r>
          </a:p>
          <a:p>
            <a:r>
              <a:rPr lang="en-US" dirty="0"/>
              <a:t> if possible, describe the communication context as well</a:t>
            </a:r>
          </a:p>
          <a:p>
            <a:r>
              <a:rPr lang="en-US" dirty="0"/>
              <a:t> Form groups and discuss </a:t>
            </a:r>
          </a:p>
          <a:p>
            <a:r>
              <a:rPr lang="en-US" dirty="0"/>
              <a:t> Once you have done, send your team representative to present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Summary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Importance of Communication to You and to Business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Current Challenges 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Three main Forms of Communication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Formal and Informal Networks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dirty="0"/>
              <a:t>Process of Communication</a:t>
            </a: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</a:majorFont>
      <a:minorFont>
        <a:latin typeface="News Gothic MT"/>
        <a:ea typeface=""/>
        <a:cs typeface=""/>
        <a:font script="Jpan" typeface="ＭＳ Ｐゴシック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1891</TotalTime>
  <Words>1046</Words>
  <Application>Microsoft Office PowerPoint</Application>
  <PresentationFormat>On-screen Show (4:3)</PresentationFormat>
  <Paragraphs>153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News Gothic MT</vt:lpstr>
      <vt:lpstr>Wingdings</vt:lpstr>
      <vt:lpstr>Wingdings 2</vt:lpstr>
      <vt:lpstr>Breeze</vt:lpstr>
      <vt:lpstr>Business Communication  </vt:lpstr>
      <vt:lpstr>Course Objectives </vt:lpstr>
      <vt:lpstr>PowerPoint Presentation</vt:lpstr>
      <vt:lpstr>Learning Outcomes </vt:lpstr>
      <vt:lpstr>What Is Communication?</vt:lpstr>
      <vt:lpstr>Communication Is Important to Business</vt:lpstr>
      <vt:lpstr>Why Business Depends upon Communication</vt:lpstr>
      <vt:lpstr>Videos on Communication </vt:lpstr>
      <vt:lpstr>Group Discussion </vt:lpstr>
      <vt:lpstr>Current Challenges </vt:lpstr>
      <vt:lpstr>Current Challenges (Cont.)</vt:lpstr>
      <vt:lpstr>Using Social Intelligence on Social Media: Good Example </vt:lpstr>
      <vt:lpstr>Using Social Intelligence on Social Media: Bad Example</vt:lpstr>
      <vt:lpstr> Here is what Hassan Syed posted on Twitter! </vt:lpstr>
      <vt:lpstr>What happens next?</vt:lpstr>
      <vt:lpstr>What happens next? (cont.)</vt:lpstr>
      <vt:lpstr>Group Discussion</vt:lpstr>
      <vt:lpstr>Categories of Business Communication </vt:lpstr>
      <vt:lpstr>Three Categories of Business Communication</vt:lpstr>
      <vt:lpstr>Three Categories of Business Communication</vt:lpstr>
      <vt:lpstr>External Audiences for Businesses  </vt:lpstr>
      <vt:lpstr>Three Categories of Business Communication</vt:lpstr>
      <vt:lpstr>Group Discussion </vt:lpstr>
      <vt:lpstr>Communication Networks</vt:lpstr>
      <vt:lpstr>Organogram</vt:lpstr>
      <vt:lpstr>Communication Networks (Cont.)</vt:lpstr>
      <vt:lpstr>Communication Context </vt:lpstr>
      <vt:lpstr>The Process of Communication </vt:lpstr>
      <vt:lpstr>The Process of Communication (Cont.)</vt:lpstr>
      <vt:lpstr>The Process of Communication (Cont.)</vt:lpstr>
      <vt:lpstr>In class assignment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Communication  Lecture- 1</dc:title>
  <dc:creator>Sandra Pontjowardojo</dc:creator>
  <cp:lastModifiedBy>Md Mesbah</cp:lastModifiedBy>
  <cp:revision>55</cp:revision>
  <dcterms:created xsi:type="dcterms:W3CDTF">2016-05-03T17:40:50Z</dcterms:created>
  <dcterms:modified xsi:type="dcterms:W3CDTF">2022-05-21T18:30:05Z</dcterms:modified>
</cp:coreProperties>
</file>