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sldIdLst>
    <p:sldId id="256" r:id="rId2"/>
    <p:sldId id="257" r:id="rId3"/>
    <p:sldId id="259" r:id="rId4"/>
    <p:sldId id="260" r:id="rId5"/>
    <p:sldId id="290" r:id="rId6"/>
    <p:sldId id="315" r:id="rId7"/>
    <p:sldId id="316" r:id="rId8"/>
    <p:sldId id="262" r:id="rId9"/>
    <p:sldId id="261" r:id="rId10"/>
    <p:sldId id="265" r:id="rId11"/>
    <p:sldId id="263" r:id="rId12"/>
    <p:sldId id="266" r:id="rId13"/>
    <p:sldId id="267" r:id="rId14"/>
    <p:sldId id="268" r:id="rId15"/>
    <p:sldId id="272" r:id="rId16"/>
    <p:sldId id="289" r:id="rId17"/>
    <p:sldId id="288" r:id="rId18"/>
    <p:sldId id="273" r:id="rId19"/>
    <p:sldId id="275" r:id="rId20"/>
    <p:sldId id="276" r:id="rId21"/>
    <p:sldId id="277" r:id="rId22"/>
    <p:sldId id="278" r:id="rId23"/>
    <p:sldId id="279" r:id="rId24"/>
    <p:sldId id="280" r:id="rId25"/>
    <p:sldId id="281" r:id="rId26"/>
    <p:sldId id="283" r:id="rId27"/>
    <p:sldId id="282" r:id="rId28"/>
    <p:sldId id="284" r:id="rId29"/>
    <p:sldId id="285" r:id="rId30"/>
    <p:sldId id="286" r:id="rId31"/>
    <p:sldId id="291" r:id="rId32"/>
    <p:sldId id="292" r:id="rId33"/>
    <p:sldId id="293" r:id="rId34"/>
    <p:sldId id="294" r:id="rId35"/>
    <p:sldId id="295" r:id="rId36"/>
    <p:sldId id="298" r:id="rId37"/>
    <p:sldId id="299" r:id="rId38"/>
    <p:sldId id="300" r:id="rId39"/>
    <p:sldId id="301" r:id="rId40"/>
    <p:sldId id="302" r:id="rId41"/>
    <p:sldId id="303" r:id="rId42"/>
    <p:sldId id="297" r:id="rId43"/>
    <p:sldId id="304" r:id="rId44"/>
    <p:sldId id="305" r:id="rId45"/>
    <p:sldId id="306" r:id="rId46"/>
    <p:sldId id="307" r:id="rId47"/>
    <p:sldId id="308" r:id="rId48"/>
    <p:sldId id="309" r:id="rId49"/>
    <p:sldId id="310" r:id="rId50"/>
    <p:sldId id="311" r:id="rId51"/>
    <p:sldId id="312" r:id="rId52"/>
    <p:sldId id="313" r:id="rId53"/>
    <p:sldId id="314"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0" d="100"/>
          <a:sy n="70" d="100"/>
        </p:scale>
        <p:origin x="1180"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AU"/>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AU"/>
              <a:t>Click to edit Master subtitle style</a:t>
            </a:r>
            <a:endParaRPr kumimoji="0" lang="en-US"/>
          </a:p>
        </p:txBody>
      </p:sp>
      <p:sp>
        <p:nvSpPr>
          <p:cNvPr id="30" name="Date Placeholder 29"/>
          <p:cNvSpPr>
            <a:spLocks noGrp="1"/>
          </p:cNvSpPr>
          <p:nvPr>
            <p:ph type="dt" sz="half" idx="10"/>
          </p:nvPr>
        </p:nvSpPr>
        <p:spPr/>
        <p:txBody>
          <a:bodyPr/>
          <a:lstStyle/>
          <a:p>
            <a:fld id="{830862F8-6DB5-1748-8A55-628E42B69EA3}" type="datetimeFigureOut">
              <a:rPr lang="en-US" smtClean="0"/>
              <a:pPr/>
              <a:t>2/4/2022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F9F75E5E-5255-5841-AFD1-85A5DAE43F0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AU"/>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4" name="Date Placeholder 3"/>
          <p:cNvSpPr>
            <a:spLocks noGrp="1"/>
          </p:cNvSpPr>
          <p:nvPr>
            <p:ph type="dt" sz="half" idx="10"/>
          </p:nvPr>
        </p:nvSpPr>
        <p:spPr/>
        <p:txBody>
          <a:bodyPr/>
          <a:lstStyle/>
          <a:p>
            <a:fld id="{830862F8-6DB5-1748-8A55-628E42B69EA3}"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AU"/>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AU"/>
              <a:t>Click to edit Master text styles</a:t>
            </a:r>
          </a:p>
        </p:txBody>
      </p:sp>
      <p:sp>
        <p:nvSpPr>
          <p:cNvPr id="4" name="Date Placeholder 3"/>
          <p:cNvSpPr>
            <a:spLocks noGrp="1"/>
          </p:cNvSpPr>
          <p:nvPr>
            <p:ph type="dt" sz="half" idx="10"/>
          </p:nvPr>
        </p:nvSpPr>
        <p:spPr/>
        <p:txBody>
          <a:bodyPr/>
          <a:lstStyle/>
          <a:p>
            <a:fld id="{830862F8-6DB5-1748-8A55-628E42B69EA3}"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F75E5E-5255-5841-AFD1-85A5DAE43F0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AU"/>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5" name="Date Placeholder 4"/>
          <p:cNvSpPr>
            <a:spLocks noGrp="1"/>
          </p:cNvSpPr>
          <p:nvPr>
            <p:ph type="dt" sz="half" idx="10"/>
          </p:nvPr>
        </p:nvSpPr>
        <p:spPr/>
        <p:txBody>
          <a:bodyPr/>
          <a:lstStyle/>
          <a:p>
            <a:fld id="{830862F8-6DB5-1748-8A55-628E42B69EA3}" type="datetimeFigureOut">
              <a:rPr lang="en-US" smtClean="0"/>
              <a:pPr/>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AU"/>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AU"/>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AU"/>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7" name="Date Placeholder 6"/>
          <p:cNvSpPr>
            <a:spLocks noGrp="1"/>
          </p:cNvSpPr>
          <p:nvPr>
            <p:ph type="dt" sz="half" idx="10"/>
          </p:nvPr>
        </p:nvSpPr>
        <p:spPr/>
        <p:txBody>
          <a:bodyPr/>
          <a:lstStyle/>
          <a:p>
            <a:fld id="{830862F8-6DB5-1748-8A55-628E42B69EA3}" type="datetimeFigureOut">
              <a:rPr lang="en-US" smtClean="0"/>
              <a:pPr/>
              <a:t>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AU"/>
              <a:t>Click to edit Master title style</a:t>
            </a:r>
            <a:endParaRPr kumimoji="0" lang="en-US"/>
          </a:p>
        </p:txBody>
      </p:sp>
      <p:sp>
        <p:nvSpPr>
          <p:cNvPr id="3" name="Date Placeholder 2"/>
          <p:cNvSpPr>
            <a:spLocks noGrp="1"/>
          </p:cNvSpPr>
          <p:nvPr>
            <p:ph type="dt" sz="half" idx="10"/>
          </p:nvPr>
        </p:nvSpPr>
        <p:spPr/>
        <p:txBody>
          <a:bodyPr/>
          <a:lstStyle/>
          <a:p>
            <a:fld id="{830862F8-6DB5-1748-8A55-628E42B69EA3}" type="datetimeFigureOut">
              <a:rPr lang="en-US" smtClean="0"/>
              <a:pPr/>
              <a:t>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0862F8-6DB5-1748-8A55-628E42B69EA3}" type="datetimeFigureOut">
              <a:rPr lang="en-US" smtClean="0"/>
              <a:pPr/>
              <a:t>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AU"/>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AU"/>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5" name="Date Placeholder 4"/>
          <p:cNvSpPr>
            <a:spLocks noGrp="1"/>
          </p:cNvSpPr>
          <p:nvPr>
            <p:ph type="dt" sz="half" idx="10"/>
          </p:nvPr>
        </p:nvSpPr>
        <p:spPr/>
        <p:txBody>
          <a:bodyPr/>
          <a:lstStyle/>
          <a:p>
            <a:fld id="{830862F8-6DB5-1748-8A55-628E42B69EA3}" type="datetimeFigureOut">
              <a:rPr lang="en-US" smtClean="0"/>
              <a:pPr/>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AU"/>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AU"/>
              <a:t>Click to edit Master text styles</a:t>
            </a:r>
          </a:p>
        </p:txBody>
      </p:sp>
      <p:sp>
        <p:nvSpPr>
          <p:cNvPr id="5" name="Date Placeholder 4"/>
          <p:cNvSpPr>
            <a:spLocks noGrp="1"/>
          </p:cNvSpPr>
          <p:nvPr>
            <p:ph type="dt" sz="half" idx="10"/>
          </p:nvPr>
        </p:nvSpPr>
        <p:spPr/>
        <p:txBody>
          <a:bodyPr/>
          <a:lstStyle/>
          <a:p>
            <a:fld id="{830862F8-6DB5-1748-8A55-628E42B69EA3}" type="datetimeFigureOut">
              <a:rPr lang="en-US" smtClean="0"/>
              <a:pPr/>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F9F75E5E-5255-5841-AFD1-85A5DAE43F06}"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AU"/>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AU"/>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4" name="Date Placeholder 3"/>
          <p:cNvSpPr>
            <a:spLocks noGrp="1"/>
          </p:cNvSpPr>
          <p:nvPr>
            <p:ph type="dt" sz="half" idx="10"/>
          </p:nvPr>
        </p:nvSpPr>
        <p:spPr/>
        <p:txBody>
          <a:bodyPr/>
          <a:lstStyle/>
          <a:p>
            <a:fld id="{830862F8-6DB5-1748-8A55-628E42B69EA3}"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AU"/>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AU"/>
              <a:t>Click to edit Master text styles</a:t>
            </a:r>
          </a:p>
          <a:p>
            <a:pPr lvl="1" eaLnBrk="1" latinLnBrk="0" hangingPunct="1"/>
            <a:r>
              <a:rPr lang="en-AU"/>
              <a:t>Second level</a:t>
            </a:r>
          </a:p>
          <a:p>
            <a:pPr lvl="2" eaLnBrk="1" latinLnBrk="0" hangingPunct="1"/>
            <a:r>
              <a:rPr lang="en-AU"/>
              <a:t>Third level</a:t>
            </a:r>
          </a:p>
          <a:p>
            <a:pPr lvl="3" eaLnBrk="1" latinLnBrk="0" hangingPunct="1"/>
            <a:r>
              <a:rPr lang="en-AU"/>
              <a:t>Fourth level</a:t>
            </a:r>
          </a:p>
          <a:p>
            <a:pPr lvl="4" eaLnBrk="1" latinLnBrk="0" hangingPunct="1"/>
            <a:r>
              <a:rPr lang="en-AU"/>
              <a:t>Fifth level</a:t>
            </a:r>
            <a:endParaRPr kumimoji="0" lang="en-US"/>
          </a:p>
        </p:txBody>
      </p:sp>
      <p:sp>
        <p:nvSpPr>
          <p:cNvPr id="4" name="Date Placeholder 3"/>
          <p:cNvSpPr>
            <a:spLocks noGrp="1"/>
          </p:cNvSpPr>
          <p:nvPr>
            <p:ph type="dt" sz="half" idx="10"/>
          </p:nvPr>
        </p:nvSpPr>
        <p:spPr/>
        <p:txBody>
          <a:bodyPr/>
          <a:lstStyle/>
          <a:p>
            <a:fld id="{830862F8-6DB5-1748-8A55-628E42B69EA3}"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F75E5E-5255-5841-AFD1-85A5DAE43F0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pPr lvl="0"/>
            <a:endParaRPr lang="en-US" noProof="0"/>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a:defRPr/>
            </a:pPr>
            <a:fld id="{47D5CA96-AB19-ED49-A5DC-5B8BBE0AD38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AU"/>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AU"/>
              <a:t>Click to edit Master text styles</a:t>
            </a:r>
          </a:p>
          <a:p>
            <a:pPr lvl="1" eaLnBrk="1" latinLnBrk="0" hangingPunct="1"/>
            <a:r>
              <a:rPr kumimoji="0" lang="en-AU"/>
              <a:t>Second level</a:t>
            </a:r>
          </a:p>
          <a:p>
            <a:pPr lvl="2" eaLnBrk="1" latinLnBrk="0" hangingPunct="1"/>
            <a:r>
              <a:rPr kumimoji="0" lang="en-AU"/>
              <a:t>Third level</a:t>
            </a:r>
          </a:p>
          <a:p>
            <a:pPr lvl="3" eaLnBrk="1" latinLnBrk="0" hangingPunct="1"/>
            <a:r>
              <a:rPr kumimoji="0" lang="en-AU"/>
              <a:t>Fourth level</a:t>
            </a:r>
          </a:p>
          <a:p>
            <a:pPr lvl="4" eaLnBrk="1" latinLnBrk="0" hangingPunct="1"/>
            <a:r>
              <a:rPr kumimoji="0" lang="en-AU"/>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30862F8-6DB5-1748-8A55-628E42B69EA3}" type="datetimeFigureOut">
              <a:rPr lang="en-US" smtClean="0"/>
              <a:pPr/>
              <a:t>2/4/2022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9F75E5E-5255-5841-AFD1-85A5DAE43F06}"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mailto:jsmith@americanmortgage.c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Getting to the Point in Good-News and Neutral Messages </a:t>
            </a:r>
          </a:p>
        </p:txBody>
      </p:sp>
      <p:sp>
        <p:nvSpPr>
          <p:cNvPr id="3" name="Subtitle 2"/>
          <p:cNvSpPr>
            <a:spLocks noGrp="1"/>
          </p:cNvSpPr>
          <p:nvPr>
            <p:ph type="subTitle" idx="1"/>
          </p:nvPr>
        </p:nvSpPr>
        <p:spPr/>
        <p:txBody>
          <a:bodyPr>
            <a:normAutofit/>
          </a:bodyPr>
          <a:lstStyle/>
          <a:p>
            <a:r>
              <a:rPr lang="en-US" dirty="0"/>
              <a:t>Chapter 7</a:t>
            </a:r>
          </a:p>
          <a:p>
            <a:endParaRPr lang="en-US" dirty="0"/>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Good News and Neutral Messages </a:t>
            </a:r>
          </a:p>
        </p:txBody>
      </p:sp>
      <p:sp>
        <p:nvSpPr>
          <p:cNvPr id="3" name="Content Placeholder 2"/>
          <p:cNvSpPr>
            <a:spLocks noGrp="1"/>
          </p:cNvSpPr>
          <p:nvPr>
            <p:ph idx="1"/>
          </p:nvPr>
        </p:nvSpPr>
        <p:spPr/>
        <p:txBody>
          <a:bodyPr>
            <a:normAutofit/>
          </a:bodyPr>
          <a:lstStyle/>
          <a:p>
            <a:r>
              <a:rPr lang="en-US" dirty="0"/>
              <a:t> At work, you mostly deal with neutral messages and good news</a:t>
            </a:r>
          </a:p>
          <a:p>
            <a:r>
              <a:rPr lang="en-US" dirty="0"/>
              <a:t>A message that receives the favorable response from the reader is called a good-news message and a message that receives neutral reaction is called a neutral message </a:t>
            </a:r>
          </a:p>
          <a:p>
            <a:r>
              <a:rPr lang="en-US" dirty="0"/>
              <a:t>A lot of communicators fail to successfully organize good news and neutral messages </a:t>
            </a:r>
          </a:p>
          <a:p>
            <a:r>
              <a:rPr lang="en-US" dirty="0"/>
              <a:t>To succeed, follow effective plans and strategies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en-US" dirty="0"/>
              <a:t>Types of Organizational Plans</a:t>
            </a:r>
            <a:endParaRPr lang="en-US" dirty="0">
              <a:ea typeface="+mj-ea"/>
              <a:cs typeface="+mj-cs"/>
            </a:endParaRPr>
          </a:p>
        </p:txBody>
      </p:sp>
      <p:sp>
        <p:nvSpPr>
          <p:cNvPr id="30723" name="Rectangle 3"/>
          <p:cNvSpPr>
            <a:spLocks noGrp="1" noChangeArrowheads="1"/>
          </p:cNvSpPr>
          <p:nvPr>
            <p:ph type="body" sz="half" idx="1"/>
          </p:nvPr>
        </p:nvSpPr>
        <p:spPr/>
        <p:txBody>
          <a:bodyPr/>
          <a:lstStyle/>
          <a:p>
            <a:pPr eaLnBrk="1" hangingPunct="1">
              <a:buFont typeface="Wingdings" pitchFamily="2" charset="2"/>
              <a:buBlip>
                <a:blip r:embed="rId2"/>
              </a:buBlip>
              <a:defRPr/>
            </a:pPr>
            <a:r>
              <a:rPr lang="en-US" sz="2800" dirty="0">
                <a:ea typeface="+mn-ea"/>
                <a:cs typeface="+mn-cs"/>
              </a:rPr>
              <a:t>There are two types of organizational plans</a:t>
            </a:r>
          </a:p>
          <a:p>
            <a:pPr eaLnBrk="1" hangingPunct="1">
              <a:buFont typeface="Wingdings" pitchFamily="2" charset="2"/>
              <a:buBlip>
                <a:blip r:embed="rId2"/>
              </a:buBlip>
              <a:defRPr/>
            </a:pPr>
            <a:r>
              <a:rPr lang="en-US" sz="2800" dirty="0">
                <a:ea typeface="+mn-ea"/>
                <a:cs typeface="+mn-cs"/>
              </a:rPr>
              <a:t>Direct Plan</a:t>
            </a:r>
          </a:p>
          <a:p>
            <a:pPr eaLnBrk="1" hangingPunct="1">
              <a:buFont typeface="Wingdings" pitchFamily="2" charset="2"/>
              <a:buBlip>
                <a:blip r:embed="rId2"/>
              </a:buBlip>
              <a:defRPr/>
            </a:pPr>
            <a:r>
              <a:rPr lang="en-US" sz="2800" dirty="0">
                <a:ea typeface="+mn-ea"/>
                <a:cs typeface="+mn-cs"/>
              </a:rPr>
              <a:t>Indirect Plan</a:t>
            </a:r>
          </a:p>
        </p:txBody>
      </p:sp>
      <p:pic>
        <p:nvPicPr>
          <p:cNvPr id="17412" name="Picture 5" descr="T629066A[1]"/>
          <p:cNvPicPr>
            <a:picLocks noGrp="1" noChangeAspect="1" noChangeArrowheads="1"/>
          </p:cNvPicPr>
          <p:nvPr>
            <p:ph type="clipArt" sz="half" idx="2"/>
          </p:nvPr>
        </p:nvPicPr>
        <p:blipFill>
          <a:blip r:embed="rId3"/>
          <a:srcRect/>
          <a:stretch>
            <a:fillRect/>
          </a:stretch>
        </p:blipFill>
        <p:spPr>
          <a:xfrm>
            <a:off x="4772504" y="1981200"/>
            <a:ext cx="3685696" cy="3882401"/>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12040"/>
          </a:xfrm>
        </p:spPr>
        <p:txBody>
          <a:bodyPr>
            <a:normAutofit fontScale="90000"/>
          </a:bodyPr>
          <a:lstStyle/>
          <a:p>
            <a:r>
              <a:rPr lang="en-US" dirty="0"/>
              <a:t>How to Decide on the Plan?</a:t>
            </a:r>
          </a:p>
        </p:txBody>
      </p:sp>
      <p:sp>
        <p:nvSpPr>
          <p:cNvPr id="3" name="Content Placeholder 2"/>
          <p:cNvSpPr>
            <a:spLocks noGrp="1"/>
          </p:cNvSpPr>
          <p:nvPr>
            <p:ph idx="1"/>
          </p:nvPr>
        </p:nvSpPr>
        <p:spPr>
          <a:xfrm>
            <a:off x="457200" y="1135624"/>
            <a:ext cx="8229600" cy="4990540"/>
          </a:xfrm>
        </p:spPr>
        <p:txBody>
          <a:bodyPr>
            <a:normAutofit/>
          </a:bodyPr>
          <a:lstStyle/>
          <a:p>
            <a:pPr>
              <a:buNone/>
            </a:pPr>
            <a:endParaRPr lang="en-US" dirty="0"/>
          </a:p>
          <a:p>
            <a:r>
              <a:rPr lang="en-US" dirty="0"/>
              <a:t> A good beginning is to assess readers’ probable reaction </a:t>
            </a:r>
          </a:p>
          <a:p>
            <a:r>
              <a:rPr lang="en-US" dirty="0"/>
              <a:t>Positive or neutral reaction should invite you to adopt the direct plan </a:t>
            </a:r>
          </a:p>
          <a:p>
            <a:r>
              <a:rPr lang="en-US" dirty="0"/>
              <a:t>Negative reaction should invite you to implement the indirect plan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dirty="0"/>
              <a:t>D</a:t>
            </a:r>
            <a:r>
              <a:rPr lang="en-US" dirty="0">
                <a:ea typeface="+mj-ea"/>
                <a:cs typeface="+mj-cs"/>
              </a:rPr>
              <a:t>irect </a:t>
            </a:r>
            <a:r>
              <a:rPr lang="en-US" dirty="0"/>
              <a:t>P</a:t>
            </a:r>
            <a:r>
              <a:rPr lang="en-US" dirty="0">
                <a:ea typeface="+mj-ea"/>
                <a:cs typeface="+mj-cs"/>
              </a:rPr>
              <a:t>lan</a:t>
            </a:r>
          </a:p>
        </p:txBody>
      </p:sp>
      <p:sp>
        <p:nvSpPr>
          <p:cNvPr id="44035" name="Rectangle 3"/>
          <p:cNvSpPr>
            <a:spLocks noGrp="1" noChangeArrowheads="1"/>
          </p:cNvSpPr>
          <p:nvPr>
            <p:ph type="body" sz="half" idx="1"/>
          </p:nvPr>
        </p:nvSpPr>
        <p:spPr/>
        <p:txBody>
          <a:bodyPr>
            <a:normAutofit lnSpcReduction="10000"/>
          </a:bodyPr>
          <a:lstStyle/>
          <a:p>
            <a:pPr>
              <a:buBlip>
                <a:blip r:embed="rId2"/>
              </a:buBlip>
              <a:defRPr/>
            </a:pPr>
            <a:r>
              <a:rPr lang="en-US" sz="2800" dirty="0"/>
              <a:t> </a:t>
            </a:r>
            <a:r>
              <a:rPr lang="en-US" sz="2800" dirty="0">
                <a:ea typeface="+mn-ea"/>
                <a:cs typeface="+mn-cs"/>
              </a:rPr>
              <a:t>You</a:t>
            </a:r>
            <a:r>
              <a:rPr lang="en-US" sz="2800" dirty="0"/>
              <a:t> communicate the message directly</a:t>
            </a:r>
          </a:p>
          <a:p>
            <a:pPr>
              <a:buBlip>
                <a:blip r:embed="rId2"/>
              </a:buBlip>
              <a:defRPr/>
            </a:pPr>
            <a:r>
              <a:rPr lang="en-US" sz="2800" dirty="0">
                <a:ea typeface="+mn-ea"/>
                <a:cs typeface="+mn-cs"/>
              </a:rPr>
              <a:t>You </a:t>
            </a:r>
            <a:r>
              <a:rPr lang="en-US" sz="2800" dirty="0"/>
              <a:t>get to the point right away </a:t>
            </a:r>
          </a:p>
          <a:p>
            <a:pPr eaLnBrk="1" hangingPunct="1">
              <a:buFont typeface="Wingdings" pitchFamily="2" charset="2"/>
              <a:buBlip>
                <a:blip r:embed="rId2"/>
              </a:buBlip>
              <a:defRPr/>
            </a:pPr>
            <a:r>
              <a:rPr lang="en-US" sz="2800" dirty="0">
                <a:ea typeface="+mn-ea"/>
                <a:cs typeface="+mn-cs"/>
              </a:rPr>
              <a:t>You have direct questions</a:t>
            </a:r>
            <a:r>
              <a:rPr lang="en-US" sz="2800" dirty="0"/>
              <a:t> or answers </a:t>
            </a:r>
            <a:endParaRPr lang="en-US" sz="2800" dirty="0">
              <a:ea typeface="+mn-ea"/>
              <a:cs typeface="+mn-cs"/>
            </a:endParaRPr>
          </a:p>
          <a:p>
            <a:pPr eaLnBrk="1" hangingPunct="1">
              <a:buFont typeface="Wingdings" pitchFamily="2" charset="2"/>
              <a:buBlip>
                <a:blip r:embed="rId2"/>
              </a:buBlip>
              <a:defRPr/>
            </a:pPr>
            <a:r>
              <a:rPr lang="en-US" sz="2800" dirty="0"/>
              <a:t>As such, appropriate for good or neutral news  </a:t>
            </a:r>
            <a:endParaRPr lang="en-US" sz="2800" dirty="0">
              <a:ea typeface="+mn-ea"/>
              <a:cs typeface="+mn-cs"/>
            </a:endParaRPr>
          </a:p>
        </p:txBody>
      </p:sp>
      <p:pic>
        <p:nvPicPr>
          <p:cNvPr id="8" name="ClipArt Placeholder 7" descr="photodune-3100574-conversation-s.jpg"/>
          <p:cNvPicPr>
            <a:picLocks noGrp="1" noChangeAspect="1"/>
          </p:cNvPicPr>
          <p:nvPr>
            <p:ph type="clipArt" sz="half" idx="2"/>
          </p:nvPr>
        </p:nvPicPr>
        <p:blipFill>
          <a:blip r:embed="rId3"/>
          <a:srcRect t="-31000" b="-31000"/>
          <a:stretch>
            <a:fillRect/>
          </a:stretch>
        </p:blipFill>
        <p:spPr>
          <a:xfrm>
            <a:off x="4892447" y="793715"/>
            <a:ext cx="3810000" cy="558042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Good-News and Neutral Messages </a:t>
            </a:r>
          </a:p>
        </p:txBody>
      </p:sp>
      <p:sp>
        <p:nvSpPr>
          <p:cNvPr id="3" name="Text Placeholder 2"/>
          <p:cNvSpPr>
            <a:spLocks noGrp="1"/>
          </p:cNvSpPr>
          <p:nvPr>
            <p:ph type="body" sz="half" idx="1"/>
          </p:nvPr>
        </p:nvSpPr>
        <p:spPr>
          <a:xfrm>
            <a:off x="685800" y="1981200"/>
            <a:ext cx="7772400" cy="4114800"/>
          </a:xfrm>
        </p:spPr>
        <p:txBody>
          <a:bodyPr/>
          <a:lstStyle/>
          <a:p>
            <a:r>
              <a:rPr lang="en-US" dirty="0"/>
              <a:t>Routine enquiries </a:t>
            </a:r>
          </a:p>
          <a:p>
            <a:r>
              <a:rPr lang="en-US" dirty="0"/>
              <a:t>Thank-you messages</a:t>
            </a:r>
          </a:p>
          <a:p>
            <a:r>
              <a:rPr lang="en-US" dirty="0"/>
              <a:t>Direct claims</a:t>
            </a:r>
          </a:p>
          <a:p>
            <a:r>
              <a:rPr lang="en-US" dirty="0"/>
              <a:t>Grant adjustments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Routine Enquiries </a:t>
            </a:r>
          </a:p>
        </p:txBody>
      </p:sp>
      <p:sp>
        <p:nvSpPr>
          <p:cNvPr id="3" name="Text Placeholder 2"/>
          <p:cNvSpPr>
            <a:spLocks noGrp="1"/>
          </p:cNvSpPr>
          <p:nvPr>
            <p:ph type="body" sz="half" idx="1"/>
          </p:nvPr>
        </p:nvSpPr>
        <p:spPr>
          <a:xfrm>
            <a:off x="685799" y="1981200"/>
            <a:ext cx="7972759" cy="4114800"/>
          </a:xfrm>
        </p:spPr>
        <p:txBody>
          <a:bodyPr/>
          <a:lstStyle/>
          <a:p>
            <a:r>
              <a:rPr lang="en-US" dirty="0"/>
              <a:t>Involve asking questions </a:t>
            </a:r>
          </a:p>
          <a:p>
            <a:r>
              <a:rPr lang="en-US" dirty="0"/>
              <a:t>Involve giving answers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pPr eaLnBrk="1" hangingPunct="1">
              <a:defRPr/>
            </a:pPr>
            <a:r>
              <a:rPr lang="en-US" dirty="0"/>
              <a:t>The General </a:t>
            </a:r>
            <a:r>
              <a:rPr lang="en-US" dirty="0">
                <a:ea typeface="+mj-ea"/>
                <a:cs typeface="+mj-cs"/>
              </a:rPr>
              <a:t>Direct Plan for Routine Enquiries: Asking for Information </a:t>
            </a:r>
          </a:p>
        </p:txBody>
      </p:sp>
      <p:sp>
        <p:nvSpPr>
          <p:cNvPr id="31747" name="Rectangle 3"/>
          <p:cNvSpPr>
            <a:spLocks noGrp="1" noChangeArrowheads="1"/>
          </p:cNvSpPr>
          <p:nvPr>
            <p:ph type="body" sz="half" idx="1"/>
          </p:nvPr>
        </p:nvSpPr>
        <p:spPr/>
        <p:txBody>
          <a:bodyPr/>
          <a:lstStyle/>
          <a:p>
            <a:pPr eaLnBrk="1" hangingPunct="1">
              <a:defRPr/>
            </a:pPr>
            <a:r>
              <a:rPr lang="en-US" sz="2800" dirty="0"/>
              <a:t>Direct plan contains 3 sections-</a:t>
            </a:r>
          </a:p>
          <a:p>
            <a:pPr eaLnBrk="1" hangingPunct="1">
              <a:buFontTx/>
              <a:buChar char="-"/>
              <a:defRPr/>
            </a:pPr>
            <a:r>
              <a:rPr lang="en-US" sz="2400" dirty="0">
                <a:ea typeface="+mn-ea"/>
                <a:cs typeface="+mn-cs"/>
              </a:rPr>
              <a:t>Beginning with the Objective </a:t>
            </a:r>
          </a:p>
          <a:p>
            <a:pPr eaLnBrk="1" hangingPunct="1">
              <a:buFontTx/>
              <a:buChar char="-"/>
              <a:defRPr/>
            </a:pPr>
            <a:r>
              <a:rPr lang="en-US" sz="2400" dirty="0"/>
              <a:t>Covering the remaining of the objective</a:t>
            </a:r>
          </a:p>
          <a:p>
            <a:pPr eaLnBrk="1" hangingPunct="1">
              <a:buFontTx/>
              <a:buChar char="-"/>
              <a:defRPr/>
            </a:pPr>
            <a:r>
              <a:rPr lang="en-US" sz="2400" dirty="0">
                <a:ea typeface="+mn-ea"/>
                <a:cs typeface="+mn-cs"/>
              </a:rPr>
              <a:t>Ending with goodwill </a:t>
            </a:r>
          </a:p>
          <a:p>
            <a:pPr eaLnBrk="1" hangingPunct="1">
              <a:buFontTx/>
              <a:buChar char="-"/>
              <a:defRPr/>
            </a:pPr>
            <a:endParaRPr lang="en-US" sz="2800" dirty="0">
              <a:ea typeface="+mn-ea"/>
              <a:cs typeface="+mn-cs"/>
            </a:endParaRPr>
          </a:p>
        </p:txBody>
      </p:sp>
      <p:pic>
        <p:nvPicPr>
          <p:cNvPr id="18436" name="Picture 5" descr="business woman &#10;addressing business &#10;men in meeting &#10;in conference &#10;room. fotosearch &#10;- search stock &#10;photos, pictures, &#10;images, and photo &#10;clipart"/>
          <p:cNvPicPr>
            <a:picLocks noGrp="1" noChangeAspect="1" noChangeArrowheads="1"/>
          </p:cNvPicPr>
          <p:nvPr>
            <p:ph type="clipArt" sz="half" idx="2"/>
          </p:nvPr>
        </p:nvPicPr>
        <p:blipFill>
          <a:blip r:embed="rId2"/>
          <a:srcRect t="-23636" b="-23636"/>
          <a:stretch>
            <a:fillRect/>
          </a:stretch>
        </p:blipFill>
        <p:spPr>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Beginning with the Objective</a:t>
            </a:r>
            <a:br>
              <a:rPr lang="en-US" dirty="0"/>
            </a:br>
            <a:r>
              <a:rPr lang="en-US" dirty="0"/>
              <a:t> </a:t>
            </a:r>
          </a:p>
        </p:txBody>
      </p:sp>
      <p:sp>
        <p:nvSpPr>
          <p:cNvPr id="3" name="Content Placeholder 2"/>
          <p:cNvSpPr>
            <a:spLocks noGrp="1"/>
          </p:cNvSpPr>
          <p:nvPr>
            <p:ph idx="1"/>
          </p:nvPr>
        </p:nvSpPr>
        <p:spPr>
          <a:xfrm>
            <a:off x="457200" y="1649716"/>
            <a:ext cx="8229600" cy="4674884"/>
          </a:xfrm>
        </p:spPr>
        <p:txBody>
          <a:bodyPr>
            <a:normAutofit lnSpcReduction="10000"/>
          </a:bodyPr>
          <a:lstStyle/>
          <a:p>
            <a:r>
              <a:rPr lang="en-US" dirty="0"/>
              <a:t>There are 2 types of beginnings </a:t>
            </a:r>
          </a:p>
          <a:p>
            <a:pPr>
              <a:buNone/>
            </a:pPr>
            <a:r>
              <a:rPr lang="en-US" dirty="0"/>
              <a:t>    </a:t>
            </a:r>
            <a:r>
              <a:rPr lang="en-US" sz="2400" dirty="0"/>
              <a:t>1. </a:t>
            </a:r>
            <a:r>
              <a:rPr lang="en-US" sz="2400" b="1" dirty="0"/>
              <a:t>start with a direct question and don’t ramble around  </a:t>
            </a:r>
          </a:p>
          <a:p>
            <a:pPr>
              <a:buNone/>
            </a:pPr>
            <a:r>
              <a:rPr lang="en-US" sz="2400" dirty="0"/>
              <a:t>Example: </a:t>
            </a:r>
            <a:r>
              <a:rPr lang="en-US" sz="2200" i="1" dirty="0"/>
              <a:t>Could you please send me the entry requirements information about the MBA program?</a:t>
            </a:r>
            <a:br>
              <a:rPr lang="en-US" sz="2200" i="1" dirty="0"/>
            </a:br>
            <a:endParaRPr lang="en-US" sz="2200" i="1" dirty="0"/>
          </a:p>
          <a:p>
            <a:pPr>
              <a:buNone/>
            </a:pPr>
            <a:r>
              <a:rPr lang="en-US" sz="2400" dirty="0"/>
              <a:t>     2. </a:t>
            </a:r>
            <a:r>
              <a:rPr lang="en-US" sz="2400" b="1" dirty="0"/>
              <a:t>With a brief statement to orient the reader, followed by the question </a:t>
            </a:r>
          </a:p>
          <a:p>
            <a:pPr>
              <a:buNone/>
            </a:pPr>
            <a:r>
              <a:rPr lang="en-US" sz="2400" dirty="0"/>
              <a:t>Example: </a:t>
            </a:r>
            <a:r>
              <a:rPr lang="en-US" sz="2200" i="1" dirty="0"/>
              <a:t>The one-year extensive MBA program you advertised on June 19 seems like a great opportunity for me. To help me decide on the program, could you please provide me information about the entry requirements? </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97440"/>
          </a:xfrm>
        </p:spPr>
        <p:txBody>
          <a:bodyPr>
            <a:normAutofit fontScale="90000"/>
          </a:bodyPr>
          <a:lstStyle/>
          <a:p>
            <a:r>
              <a:rPr lang="en-US" dirty="0"/>
              <a:t>Beginning with the Objective (cont.)</a:t>
            </a:r>
          </a:p>
        </p:txBody>
      </p:sp>
      <p:sp>
        <p:nvSpPr>
          <p:cNvPr id="3" name="Content Placeholder 2"/>
          <p:cNvSpPr>
            <a:spLocks noGrp="1"/>
          </p:cNvSpPr>
          <p:nvPr>
            <p:ph idx="1"/>
          </p:nvPr>
        </p:nvSpPr>
        <p:spPr>
          <a:xfrm>
            <a:off x="457200" y="1883304"/>
            <a:ext cx="4879599" cy="4242859"/>
          </a:xfrm>
        </p:spPr>
        <p:txBody>
          <a:bodyPr/>
          <a:lstStyle/>
          <a:p>
            <a:r>
              <a:rPr lang="en-US" dirty="0"/>
              <a:t>Previous examples are </a:t>
            </a:r>
            <a:br>
              <a:rPr lang="en-US" dirty="0"/>
            </a:br>
            <a:r>
              <a:rPr lang="en-US" dirty="0"/>
              <a:t>concerned with one piece</a:t>
            </a:r>
            <a:br>
              <a:rPr lang="en-US" dirty="0"/>
            </a:br>
            <a:r>
              <a:rPr lang="en-US" dirty="0"/>
              <a:t>of information </a:t>
            </a:r>
          </a:p>
          <a:p>
            <a:endParaRPr lang="en-US" dirty="0"/>
          </a:p>
          <a:p>
            <a:r>
              <a:rPr lang="en-US" dirty="0"/>
              <a:t>What happens if you </a:t>
            </a:r>
            <a:br>
              <a:rPr lang="en-US" dirty="0"/>
            </a:br>
            <a:r>
              <a:rPr lang="en-US" dirty="0"/>
              <a:t>need multiple pieces of </a:t>
            </a:r>
            <a:br>
              <a:rPr lang="en-US" dirty="0"/>
            </a:br>
            <a:r>
              <a:rPr lang="en-US" dirty="0"/>
              <a:t>information at the </a:t>
            </a:r>
            <a:br>
              <a:rPr lang="en-US" dirty="0"/>
            </a:br>
            <a:r>
              <a:rPr lang="en-US" dirty="0"/>
              <a:t>same time?</a:t>
            </a:r>
          </a:p>
          <a:p>
            <a:endParaRPr lang="en-US" dirty="0"/>
          </a:p>
          <a:p>
            <a:endParaRPr lang="en-US" dirty="0"/>
          </a:p>
        </p:txBody>
      </p:sp>
      <p:pic>
        <p:nvPicPr>
          <p:cNvPr id="4" name="Picture 3" descr="images.jpg"/>
          <p:cNvPicPr>
            <a:picLocks noChangeAspect="1"/>
          </p:cNvPicPr>
          <p:nvPr/>
        </p:nvPicPr>
        <p:blipFill>
          <a:blip r:embed="rId2"/>
          <a:stretch>
            <a:fillRect/>
          </a:stretch>
        </p:blipFill>
        <p:spPr>
          <a:xfrm>
            <a:off x="5495558" y="1600200"/>
            <a:ext cx="3191241" cy="43343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57732"/>
          </a:xfrm>
        </p:spPr>
        <p:txBody>
          <a:bodyPr>
            <a:normAutofit fontScale="90000"/>
          </a:bodyPr>
          <a:lstStyle/>
          <a:p>
            <a:r>
              <a:rPr lang="en-US" dirty="0"/>
              <a:t>Beginning with the Objective (cont.)</a:t>
            </a:r>
          </a:p>
        </p:txBody>
      </p:sp>
      <p:sp>
        <p:nvSpPr>
          <p:cNvPr id="3" name="Content Placeholder 2"/>
          <p:cNvSpPr>
            <a:spLocks noGrp="1"/>
          </p:cNvSpPr>
          <p:nvPr>
            <p:ph idx="1"/>
          </p:nvPr>
        </p:nvSpPr>
        <p:spPr>
          <a:xfrm>
            <a:off x="457200" y="1532922"/>
            <a:ext cx="8229600" cy="4593241"/>
          </a:xfrm>
        </p:spPr>
        <p:txBody>
          <a:bodyPr>
            <a:normAutofit lnSpcReduction="10000"/>
          </a:bodyPr>
          <a:lstStyle/>
          <a:p>
            <a:r>
              <a:rPr lang="en-US" sz="2400" dirty="0"/>
              <a:t>Get into the question right away </a:t>
            </a:r>
          </a:p>
          <a:p>
            <a:r>
              <a:rPr lang="en-US" sz="2400" dirty="0"/>
              <a:t>Involve asking the broad question to begin with</a:t>
            </a:r>
          </a:p>
          <a:p>
            <a:r>
              <a:rPr lang="en-US" sz="2400" dirty="0"/>
              <a:t>This broad question will set up other questions you need to ask in the following section (remaining part of the objective)</a:t>
            </a:r>
          </a:p>
          <a:p>
            <a:r>
              <a:rPr lang="en-US" sz="2800" dirty="0"/>
              <a:t>Example: </a:t>
            </a:r>
          </a:p>
          <a:p>
            <a:pPr>
              <a:buNone/>
            </a:pPr>
            <a:r>
              <a:rPr lang="en-US" sz="2800" i="1" dirty="0"/>
              <a:t>Beginning with the objective: </a:t>
            </a:r>
            <a:r>
              <a:rPr lang="en-US" sz="2400" i="1" dirty="0"/>
              <a:t>Could you please send me </a:t>
            </a:r>
            <a:r>
              <a:rPr lang="en-US" sz="2400" b="1" i="1" dirty="0"/>
              <a:t>further information </a:t>
            </a:r>
            <a:r>
              <a:rPr lang="en-US" sz="2400" i="1" dirty="0"/>
              <a:t>about the MBA program you advertised on The Guardian on June 19? (A broad question)</a:t>
            </a:r>
          </a:p>
          <a:p>
            <a:pPr>
              <a:buNone/>
            </a:pPr>
            <a:endParaRPr lang="en-US" sz="2400" i="1" dirty="0"/>
          </a:p>
          <a:p>
            <a:pPr>
              <a:buNone/>
            </a:pPr>
            <a:r>
              <a:rPr lang="en-US" sz="2800" i="1" dirty="0"/>
              <a:t>Remaining of objective/ body: </a:t>
            </a:r>
            <a:r>
              <a:rPr lang="en-US" sz="2400" i="1" dirty="0"/>
              <a:t>will set up other questions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53643"/>
          </a:xfrm>
        </p:spPr>
        <p:txBody>
          <a:bodyPr>
            <a:normAutofit fontScale="90000"/>
          </a:bodyPr>
          <a:lstStyle/>
          <a:p>
            <a:r>
              <a:rPr lang="en-US" dirty="0"/>
              <a:t>Covering the Remaining Part of Objective </a:t>
            </a:r>
          </a:p>
        </p:txBody>
      </p:sp>
      <p:sp>
        <p:nvSpPr>
          <p:cNvPr id="3" name="Content Placeholder 2"/>
          <p:cNvSpPr>
            <a:spLocks noGrp="1"/>
          </p:cNvSpPr>
          <p:nvPr>
            <p:ph idx="1"/>
          </p:nvPr>
        </p:nvSpPr>
        <p:spPr/>
        <p:txBody>
          <a:bodyPr/>
          <a:lstStyle/>
          <a:p>
            <a:r>
              <a:rPr lang="en-US" sz="2800" i="1" dirty="0"/>
              <a:t>Other questions (derived from the objective of previous example)</a:t>
            </a:r>
          </a:p>
          <a:p>
            <a:pPr marL="514350" indent="-514350">
              <a:buNone/>
            </a:pPr>
            <a:r>
              <a:rPr lang="en-US" sz="2800" dirty="0"/>
              <a:t>1. What are the tuition fees?</a:t>
            </a:r>
          </a:p>
          <a:p>
            <a:pPr marL="514350" indent="-514350">
              <a:buNone/>
            </a:pPr>
            <a:r>
              <a:rPr lang="en-US" sz="2800" dirty="0"/>
              <a:t>2. How do I need to make the payment?</a:t>
            </a:r>
          </a:p>
          <a:p>
            <a:pPr marL="514350" indent="-514350">
              <a:buNone/>
            </a:pPr>
            <a:r>
              <a:rPr lang="en-US" sz="2800" dirty="0"/>
              <a:t>3. Are there any scholarship opportunities?</a:t>
            </a:r>
          </a:p>
          <a:p>
            <a:pPr marL="514350" indent="-514350">
              <a:buNone/>
            </a:pPr>
            <a:r>
              <a:rPr lang="en-US" sz="2800" dirty="0"/>
              <a:t>4. Can I undertake a research project?</a:t>
            </a:r>
            <a:endParaRPr lang="en-US" sz="2800" i="1" dirty="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4980"/>
            <a:ext cx="8229600" cy="963551"/>
          </a:xfrm>
        </p:spPr>
        <p:txBody>
          <a:bodyPr>
            <a:normAutofit fontScale="90000"/>
          </a:bodyPr>
          <a:lstStyle/>
          <a:p>
            <a:r>
              <a:rPr lang="en-US" dirty="0"/>
              <a:t>Covering the Remaining Part of Objective (cont.)</a:t>
            </a:r>
          </a:p>
        </p:txBody>
      </p:sp>
      <p:sp>
        <p:nvSpPr>
          <p:cNvPr id="3" name="Content Placeholder 2"/>
          <p:cNvSpPr>
            <a:spLocks noGrp="1"/>
          </p:cNvSpPr>
          <p:nvPr>
            <p:ph idx="1"/>
          </p:nvPr>
        </p:nvSpPr>
        <p:spPr>
          <a:xfrm>
            <a:off x="457200" y="1693514"/>
            <a:ext cx="8229600" cy="4432648"/>
          </a:xfrm>
        </p:spPr>
        <p:txBody>
          <a:bodyPr>
            <a:normAutofit fontScale="92500"/>
          </a:bodyPr>
          <a:lstStyle/>
          <a:p>
            <a:r>
              <a:rPr lang="en-US" sz="3200" dirty="0"/>
              <a:t> How to establish the questions?</a:t>
            </a:r>
          </a:p>
          <a:p>
            <a:pPr>
              <a:buFontTx/>
              <a:buChar char="-"/>
            </a:pPr>
            <a:r>
              <a:rPr lang="en-US" sz="2400" dirty="0"/>
              <a:t>Don’t combine two or more questions in the same sentence.</a:t>
            </a:r>
          </a:p>
          <a:p>
            <a:pPr>
              <a:buFontTx/>
              <a:buChar char="-"/>
            </a:pPr>
            <a:r>
              <a:rPr lang="en-US" sz="2400" dirty="0"/>
              <a:t>Emphasize on each elements separately</a:t>
            </a:r>
          </a:p>
          <a:p>
            <a:pPr>
              <a:buFontTx/>
              <a:buChar char="-"/>
            </a:pPr>
            <a:r>
              <a:rPr lang="en-US" sz="2400" dirty="0"/>
              <a:t>Split up the sentences using a bullet (e.g. </a:t>
            </a:r>
            <a:r>
              <a:rPr lang="en-US" sz="2400" dirty="0" err="1">
                <a:ea typeface="Wingdings"/>
                <a:cs typeface="Wingdings"/>
              </a:rPr>
              <a:t></a:t>
            </a:r>
            <a:r>
              <a:rPr lang="en-US" sz="2400" dirty="0"/>
              <a:t>)</a:t>
            </a:r>
          </a:p>
          <a:p>
            <a:pPr>
              <a:buFontTx/>
              <a:buChar char="-"/>
            </a:pPr>
            <a:r>
              <a:rPr lang="en-US" sz="2400" dirty="0">
                <a:ea typeface="Lucida Grande"/>
                <a:cs typeface="Lucida Grande"/>
              </a:rPr>
              <a:t>Have separate paragraphs if you have to explain the question</a:t>
            </a:r>
          </a:p>
          <a:p>
            <a:pPr>
              <a:buFontTx/>
              <a:buChar char="-"/>
            </a:pPr>
            <a:r>
              <a:rPr lang="en-US" sz="2400" dirty="0">
                <a:ea typeface="Lucida Grande"/>
                <a:cs typeface="Lucida Grande"/>
              </a:rPr>
              <a:t>You can rank the questions (</a:t>
            </a:r>
            <a:r>
              <a:rPr lang="en-US" sz="2400" i="1" dirty="0">
                <a:ea typeface="Lucida Grande"/>
                <a:cs typeface="Lucida Grande"/>
              </a:rPr>
              <a:t>e.g. by using numbers 1,2,3, etc. or letters </a:t>
            </a:r>
            <a:r>
              <a:rPr lang="en-US" sz="2400" i="1" dirty="0" err="1">
                <a:ea typeface="Lucida Grande"/>
                <a:cs typeface="Lucida Grande"/>
              </a:rPr>
              <a:t>a,b,c</a:t>
            </a:r>
            <a:r>
              <a:rPr lang="en-US" sz="2400" i="1" dirty="0">
                <a:ea typeface="Lucida Grande"/>
                <a:cs typeface="Lucida Grande"/>
              </a:rPr>
              <a:t>, etc. or by using words first, second, third, etc.</a:t>
            </a:r>
            <a:r>
              <a:rPr lang="en-US" sz="2400" dirty="0">
                <a:ea typeface="Lucida Grande"/>
                <a:cs typeface="Lucida Grande"/>
              </a:rPr>
              <a:t>)</a:t>
            </a:r>
          </a:p>
          <a:p>
            <a:pPr>
              <a:buFontTx/>
              <a:buChar char="-"/>
            </a:pPr>
            <a:r>
              <a:rPr lang="en-US" sz="2400" dirty="0">
                <a:ea typeface="Lucida Grande"/>
                <a:cs typeface="Lucida Grande"/>
              </a:rPr>
              <a:t>Focus on true or solid question form </a:t>
            </a:r>
          </a:p>
          <a:p>
            <a:pPr>
              <a:buNone/>
            </a:pPr>
            <a:r>
              <a:rPr lang="en-US" sz="2400" dirty="0">
                <a:ea typeface="Lucida Grande"/>
                <a:cs typeface="Lucida Grande"/>
              </a:rPr>
              <a:t>Don’t: It would be really nice if you could tell me…….</a:t>
            </a:r>
          </a:p>
          <a:p>
            <a:pPr>
              <a:buNone/>
            </a:pPr>
            <a:r>
              <a:rPr lang="en-US" sz="2400" dirty="0">
                <a:ea typeface="Lucida Grande"/>
                <a:cs typeface="Lucida Grande"/>
              </a:rPr>
              <a:t>Do: Will you please tell me</a:t>
            </a:r>
          </a:p>
          <a:p>
            <a:pPr>
              <a:buNone/>
            </a:pPr>
            <a:endParaRPr lang="en-US" sz="2400" dirty="0">
              <a:ea typeface="Lucida Grande"/>
              <a:cs typeface="Lucida Grande"/>
            </a:endParaRPr>
          </a:p>
          <a:p>
            <a:pPr>
              <a:buFontTx/>
              <a:buChar char="-"/>
            </a:pPr>
            <a:endParaRPr lang="en-US" sz="2800" dirty="0"/>
          </a:p>
          <a:p>
            <a:pPr>
              <a:buFontTx/>
              <a:buChar cha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Ending with Goodwill</a:t>
            </a:r>
          </a:p>
        </p:txBody>
      </p:sp>
      <p:sp>
        <p:nvSpPr>
          <p:cNvPr id="3" name="Content Placeholder 2"/>
          <p:cNvSpPr>
            <a:spLocks noGrp="1"/>
          </p:cNvSpPr>
          <p:nvPr>
            <p:ph idx="1"/>
          </p:nvPr>
        </p:nvSpPr>
        <p:spPr/>
        <p:txBody>
          <a:bodyPr>
            <a:normAutofit/>
          </a:bodyPr>
          <a:lstStyle/>
          <a:p>
            <a:r>
              <a:rPr lang="en-US" sz="2400" dirty="0"/>
              <a:t>End the message with appropriate friendly comments </a:t>
            </a:r>
          </a:p>
          <a:p>
            <a:r>
              <a:rPr lang="en-US" sz="2400" dirty="0"/>
              <a:t>A closing such as “Thank you” or “If you need further information, please don’t hesitate to ask” is polite but they are conventional and clichés   </a:t>
            </a:r>
          </a:p>
          <a:p>
            <a:r>
              <a:rPr lang="en-US" sz="2400" dirty="0"/>
              <a:t>Use a closing that is tailored </a:t>
            </a:r>
          </a:p>
          <a:p>
            <a:pPr>
              <a:buNone/>
            </a:pPr>
            <a:r>
              <a:rPr lang="en-US" sz="2400" dirty="0"/>
              <a:t>Example: If you will answer this question about the MBA program, I can send the application form before you get busy with admission tests </a:t>
            </a:r>
          </a:p>
          <a:p>
            <a:r>
              <a:rPr lang="en-US" sz="2400" dirty="0"/>
              <a:t>Don’t use vague expression (e.g. as soon as possible, at your earliest convenience) while closing the message</a:t>
            </a:r>
          </a:p>
          <a:p>
            <a:pPr>
              <a:buNone/>
            </a:pPr>
            <a:endParaRPr lang="en-US" sz="2400" dirty="0"/>
          </a:p>
          <a:p>
            <a:pPr>
              <a:buNone/>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9790"/>
            <a:ext cx="8229600" cy="992750"/>
          </a:xfrm>
        </p:spPr>
        <p:txBody>
          <a:bodyPr>
            <a:normAutofit/>
          </a:bodyPr>
          <a:lstStyle/>
          <a:p>
            <a:r>
              <a:rPr lang="en-US" sz="3200" dirty="0"/>
              <a:t>               </a:t>
            </a:r>
            <a:r>
              <a:rPr lang="en-US" sz="3600" dirty="0"/>
              <a:t>Example: Asking for Information </a:t>
            </a:r>
          </a:p>
        </p:txBody>
      </p:sp>
      <p:sp>
        <p:nvSpPr>
          <p:cNvPr id="3" name="Content Placeholder 2"/>
          <p:cNvSpPr>
            <a:spLocks noGrp="1"/>
          </p:cNvSpPr>
          <p:nvPr>
            <p:ph idx="1"/>
          </p:nvPr>
        </p:nvSpPr>
        <p:spPr>
          <a:xfrm>
            <a:off x="457200" y="1417638"/>
            <a:ext cx="8229600" cy="4708525"/>
          </a:xfrm>
        </p:spPr>
        <p:txBody>
          <a:bodyPr>
            <a:normAutofit fontScale="92500" lnSpcReduction="10000"/>
          </a:bodyPr>
          <a:lstStyle/>
          <a:p>
            <a:pPr>
              <a:buNone/>
            </a:pPr>
            <a:r>
              <a:rPr lang="en-US" sz="2400" i="1" dirty="0"/>
              <a:t>    </a:t>
            </a:r>
            <a:r>
              <a:rPr lang="en-US" sz="2200" i="1" dirty="0"/>
              <a:t>Dear Mr. Ian Heywood: </a:t>
            </a:r>
            <a:br>
              <a:rPr lang="en-US" sz="2200" i="1" dirty="0"/>
            </a:br>
            <a:endParaRPr lang="en-US" sz="2200" i="1" dirty="0"/>
          </a:p>
          <a:p>
            <a:pPr>
              <a:buNone/>
            </a:pPr>
            <a:r>
              <a:rPr lang="en-US" sz="2200" i="1" dirty="0"/>
              <a:t>     I saw the advertisement for the Edinburgh MBA program that you posted a week ago on The Guardian. I am interested, I would like additional information</a:t>
            </a:r>
            <a:br>
              <a:rPr lang="en-US" sz="2200" i="1" dirty="0"/>
            </a:br>
            <a:endParaRPr lang="en-US" sz="2200" i="1" dirty="0"/>
          </a:p>
          <a:p>
            <a:pPr>
              <a:buNone/>
            </a:pPr>
            <a:r>
              <a:rPr lang="en-US" sz="2200" i="1" dirty="0"/>
              <a:t>     Specifically,  I would like to know the tuition fees, accommodation fees, scholarship opportunities, research activities and other information you think relevant.</a:t>
            </a:r>
            <a:br>
              <a:rPr lang="en-US" sz="2200" i="1" dirty="0"/>
            </a:br>
            <a:endParaRPr lang="en-US" sz="2200" i="1" dirty="0"/>
          </a:p>
          <a:p>
            <a:pPr>
              <a:buNone/>
            </a:pPr>
            <a:r>
              <a:rPr lang="en-US" sz="2200" i="1" dirty="0"/>
              <a:t>     If the information you give me is favorable, I will undertake the program. Please get back to me as soon as possible.</a:t>
            </a:r>
          </a:p>
          <a:p>
            <a:pPr>
              <a:buNone/>
            </a:pPr>
            <a:endParaRPr lang="en-US" sz="2200" i="1" dirty="0"/>
          </a:p>
          <a:p>
            <a:pPr>
              <a:buNone/>
            </a:pPr>
            <a:r>
              <a:rPr lang="en-US" sz="2200" i="1" dirty="0"/>
              <a:t>    Sincerely, </a:t>
            </a:r>
          </a:p>
          <a:p>
            <a:pPr>
              <a:buNone/>
            </a:pPr>
            <a:r>
              <a:rPr lang="en-US" sz="2200" i="1" dirty="0"/>
              <a:t>    Kenneth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Previous Message </a:t>
            </a:r>
          </a:p>
        </p:txBody>
      </p:sp>
      <p:sp>
        <p:nvSpPr>
          <p:cNvPr id="3" name="Content Placeholder 2"/>
          <p:cNvSpPr>
            <a:spLocks noGrp="1"/>
          </p:cNvSpPr>
          <p:nvPr>
            <p:ph idx="1"/>
          </p:nvPr>
        </p:nvSpPr>
        <p:spPr/>
        <p:txBody>
          <a:bodyPr/>
          <a:lstStyle/>
          <a:p>
            <a:r>
              <a:rPr lang="en-US" dirty="0"/>
              <a:t>Begins slowly </a:t>
            </a:r>
          </a:p>
          <a:p>
            <a:r>
              <a:rPr lang="en-US" dirty="0"/>
              <a:t>Writers do not get to the point right away </a:t>
            </a:r>
          </a:p>
          <a:p>
            <a:r>
              <a:rPr lang="en-US" dirty="0"/>
              <a:t>There are no true questions </a:t>
            </a:r>
          </a:p>
          <a:p>
            <a:r>
              <a:rPr lang="en-US" dirty="0"/>
              <a:t>Gives only the hints for the information </a:t>
            </a:r>
          </a:p>
          <a:p>
            <a:r>
              <a:rPr lang="en-US" dirty="0"/>
              <a:t>Didn’t end with goodwill </a:t>
            </a:r>
          </a:p>
          <a:p>
            <a:r>
              <a:rPr lang="en-US" dirty="0"/>
              <a:t>Ending part is stiff and vague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Turn </a:t>
            </a:r>
          </a:p>
        </p:txBody>
      </p:sp>
      <p:sp>
        <p:nvSpPr>
          <p:cNvPr id="3" name="Content Placeholder 2"/>
          <p:cNvSpPr>
            <a:spLocks noGrp="1"/>
          </p:cNvSpPr>
          <p:nvPr>
            <p:ph idx="1"/>
          </p:nvPr>
        </p:nvSpPr>
        <p:spPr/>
        <p:txBody>
          <a:bodyPr/>
          <a:lstStyle/>
          <a:p>
            <a:r>
              <a:rPr lang="en-US" dirty="0"/>
              <a:t>Write the message again and establish an effective direct message </a:t>
            </a:r>
          </a:p>
          <a:p>
            <a:r>
              <a:rPr lang="en-US" dirty="0"/>
              <a:t>Use the tactics and plans that have been covered so far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13550"/>
          </a:xfrm>
        </p:spPr>
        <p:txBody>
          <a:bodyPr>
            <a:normAutofit fontScale="90000"/>
          </a:bodyPr>
          <a:lstStyle/>
          <a:p>
            <a:r>
              <a:rPr lang="en-US" dirty="0"/>
              <a:t>An Effective and Direct Message</a:t>
            </a:r>
          </a:p>
        </p:txBody>
      </p:sp>
      <p:sp>
        <p:nvSpPr>
          <p:cNvPr id="3" name="Content Placeholder 2"/>
          <p:cNvSpPr>
            <a:spLocks noGrp="1"/>
          </p:cNvSpPr>
          <p:nvPr>
            <p:ph idx="1"/>
          </p:nvPr>
        </p:nvSpPr>
        <p:spPr>
          <a:xfrm>
            <a:off x="457200" y="1417638"/>
            <a:ext cx="8229600" cy="4708525"/>
          </a:xfrm>
        </p:spPr>
        <p:txBody>
          <a:bodyPr>
            <a:normAutofit fontScale="62500" lnSpcReduction="20000"/>
          </a:bodyPr>
          <a:lstStyle/>
          <a:p>
            <a:pPr>
              <a:buNone/>
            </a:pPr>
            <a:r>
              <a:rPr lang="en-US" sz="2200" i="1" dirty="0"/>
              <a:t>    </a:t>
            </a:r>
          </a:p>
          <a:p>
            <a:pPr>
              <a:buNone/>
            </a:pPr>
            <a:r>
              <a:rPr lang="en-US" sz="2429" i="1" dirty="0"/>
              <a:t>     Dear Mr. Ian Heywood:</a:t>
            </a:r>
            <a:br>
              <a:rPr lang="en-US" sz="2429" i="1" dirty="0"/>
            </a:br>
            <a:endParaRPr lang="en-US" sz="2429" i="1" dirty="0"/>
          </a:p>
          <a:p>
            <a:pPr>
              <a:buNone/>
            </a:pPr>
            <a:r>
              <a:rPr lang="en-US" sz="2429" i="1" dirty="0"/>
              <a:t>     Will you please answer the following questions about the Edinburgh MBA program advertised on June 19 on The Guardian?</a:t>
            </a:r>
          </a:p>
          <a:p>
            <a:pPr>
              <a:buNone/>
            </a:pPr>
            <a:endParaRPr lang="en-US" sz="2429" i="1" dirty="0"/>
          </a:p>
          <a:p>
            <a:r>
              <a:rPr lang="en-US" sz="2429" i="1" dirty="0"/>
              <a:t>What are the annual tuition fees?</a:t>
            </a:r>
          </a:p>
          <a:p>
            <a:r>
              <a:rPr lang="en-US" sz="2429" i="1" dirty="0"/>
              <a:t>Are library membership, printing and gym membership included?</a:t>
            </a:r>
          </a:p>
          <a:p>
            <a:r>
              <a:rPr lang="en-US" sz="2429" i="1" dirty="0"/>
              <a:t>Is there any scholarship opportunity for Bangladeshi students?</a:t>
            </a:r>
          </a:p>
          <a:p>
            <a:r>
              <a:rPr lang="en-US" sz="2429" i="1" dirty="0"/>
              <a:t>How much do you charge for accommodation facilities?</a:t>
            </a:r>
          </a:p>
          <a:p>
            <a:r>
              <a:rPr lang="en-US" sz="2429" i="1" dirty="0"/>
              <a:t>Are utilities included?</a:t>
            </a:r>
          </a:p>
          <a:p>
            <a:r>
              <a:rPr lang="en-US" sz="2429" i="1" dirty="0"/>
              <a:t>Can I conduct a research project whilst doing the program? </a:t>
            </a:r>
          </a:p>
          <a:p>
            <a:r>
              <a:rPr lang="en-US" sz="2429" i="1" dirty="0"/>
              <a:t>What are the areas of research?</a:t>
            </a:r>
          </a:p>
          <a:p>
            <a:endParaRPr lang="en-US" sz="2429" i="1" dirty="0"/>
          </a:p>
          <a:p>
            <a:pPr>
              <a:buNone/>
            </a:pPr>
            <a:r>
              <a:rPr lang="en-US" sz="2429" i="1" dirty="0"/>
              <a:t>      I look forward to learning more about your MBA program. I hope to send the formal application to you by June 26</a:t>
            </a:r>
          </a:p>
          <a:p>
            <a:endParaRPr lang="en-US" sz="2429" i="1" dirty="0"/>
          </a:p>
          <a:p>
            <a:pPr>
              <a:buNone/>
            </a:pPr>
            <a:endParaRPr lang="en-US" sz="2429" i="1" dirty="0"/>
          </a:p>
          <a:p>
            <a:pPr>
              <a:buNone/>
            </a:pPr>
            <a:r>
              <a:rPr lang="en-US" sz="2429" i="1" dirty="0"/>
              <a:t>    Sincerely, </a:t>
            </a:r>
          </a:p>
          <a:p>
            <a:pPr>
              <a:buNone/>
            </a:pPr>
            <a:r>
              <a:rPr lang="en-US" sz="2429" i="1" dirty="0"/>
              <a:t>    Kenneth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Identify the Message Being Answered: Give Information </a:t>
            </a:r>
          </a:p>
        </p:txBody>
      </p:sp>
      <p:sp>
        <p:nvSpPr>
          <p:cNvPr id="3" name="Content Placeholder 2"/>
          <p:cNvSpPr>
            <a:spLocks noGrp="1"/>
          </p:cNvSpPr>
          <p:nvPr>
            <p:ph idx="1"/>
          </p:nvPr>
        </p:nvSpPr>
        <p:spPr/>
        <p:txBody>
          <a:bodyPr>
            <a:normAutofit/>
          </a:bodyPr>
          <a:lstStyle/>
          <a:p>
            <a:r>
              <a:rPr lang="en-US" sz="2800" dirty="0"/>
              <a:t>Begin with the Answer </a:t>
            </a:r>
          </a:p>
          <a:p>
            <a:r>
              <a:rPr lang="en-US" sz="2800" dirty="0"/>
              <a:t>Logically Arranging the Answers </a:t>
            </a:r>
          </a:p>
          <a:p>
            <a:r>
              <a:rPr lang="en-US" sz="2800" dirty="0"/>
              <a:t>Skillfully Handling the Negative </a:t>
            </a:r>
          </a:p>
          <a:p>
            <a:r>
              <a:rPr lang="en-US" sz="2800" dirty="0"/>
              <a:t>Considering Extras </a:t>
            </a:r>
          </a:p>
          <a:p>
            <a:r>
              <a:rPr lang="en-US" sz="2800" dirty="0"/>
              <a:t>Closing Cordially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Begin with the Answer </a:t>
            </a:r>
          </a:p>
        </p:txBody>
      </p:sp>
      <p:sp>
        <p:nvSpPr>
          <p:cNvPr id="3" name="Content Placeholder 2"/>
          <p:cNvSpPr>
            <a:spLocks noGrp="1"/>
          </p:cNvSpPr>
          <p:nvPr>
            <p:ph idx="1"/>
          </p:nvPr>
        </p:nvSpPr>
        <p:spPr/>
        <p:txBody>
          <a:bodyPr/>
          <a:lstStyle/>
          <a:p>
            <a:r>
              <a:rPr lang="en-US" sz="2400" dirty="0"/>
              <a:t>Directness is prioritized </a:t>
            </a:r>
          </a:p>
          <a:p>
            <a:r>
              <a:rPr lang="en-US" sz="2400" dirty="0"/>
              <a:t>Begin by answering </a:t>
            </a:r>
          </a:p>
          <a:p>
            <a:r>
              <a:rPr lang="en-US" sz="2400" dirty="0"/>
              <a:t>What happens if you have more than one answers? </a:t>
            </a:r>
          </a:p>
          <a:p>
            <a:r>
              <a:rPr lang="en-US" sz="2400" dirty="0"/>
              <a:t>Involve telling you are giving the readers what he or she is  looking for- Example: </a:t>
            </a:r>
            <a:r>
              <a:rPr lang="en-US" sz="2400" i="1" dirty="0"/>
              <a:t>Here are the answers to your questions about the Edinburgh MBA  program</a:t>
            </a:r>
          </a:p>
          <a:p>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Logically Arranging the Answers </a:t>
            </a:r>
          </a:p>
        </p:txBody>
      </p:sp>
      <p:sp>
        <p:nvSpPr>
          <p:cNvPr id="3" name="Content Placeholder 2"/>
          <p:cNvSpPr>
            <a:spLocks noGrp="1"/>
          </p:cNvSpPr>
          <p:nvPr>
            <p:ph idx="1"/>
          </p:nvPr>
        </p:nvSpPr>
        <p:spPr/>
        <p:txBody>
          <a:bodyPr/>
          <a:lstStyle/>
          <a:p>
            <a:r>
              <a:rPr lang="en-US" dirty="0"/>
              <a:t>You have little to do if you answer one question </a:t>
            </a:r>
          </a:p>
          <a:p>
            <a:r>
              <a:rPr lang="en-US" dirty="0"/>
              <a:t>You should order the answer logically when you have a series of questions to answer </a:t>
            </a:r>
          </a:p>
          <a:p>
            <a:r>
              <a:rPr lang="en-US" dirty="0"/>
              <a:t> Good communicator should number the answers, especially if the reader numbered the questions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Skillfully Handling the Negative </a:t>
            </a:r>
            <a:br>
              <a:rPr lang="en-US" dirty="0"/>
            </a:br>
            <a:endParaRPr lang="en-US" dirty="0"/>
          </a:p>
        </p:txBody>
      </p:sp>
      <p:sp>
        <p:nvSpPr>
          <p:cNvPr id="3" name="Content Placeholder 2"/>
          <p:cNvSpPr>
            <a:spLocks noGrp="1"/>
          </p:cNvSpPr>
          <p:nvPr>
            <p:ph idx="1"/>
          </p:nvPr>
        </p:nvSpPr>
        <p:spPr/>
        <p:txBody>
          <a:bodyPr/>
          <a:lstStyle/>
          <a:p>
            <a:r>
              <a:rPr lang="en-US" dirty="0"/>
              <a:t>How to handle the negative elements? </a:t>
            </a:r>
          </a:p>
          <a:p>
            <a:r>
              <a:rPr lang="en-US" dirty="0"/>
              <a:t>Recall the strategies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Skillfully Handling the Negative </a:t>
            </a:r>
          </a:p>
        </p:txBody>
      </p:sp>
      <p:sp>
        <p:nvSpPr>
          <p:cNvPr id="3" name="Content Placeholder 2"/>
          <p:cNvSpPr>
            <a:spLocks noGrp="1"/>
          </p:cNvSpPr>
          <p:nvPr>
            <p:ph idx="1"/>
          </p:nvPr>
        </p:nvSpPr>
        <p:spPr/>
        <p:txBody>
          <a:bodyPr/>
          <a:lstStyle/>
          <a:p>
            <a:pPr>
              <a:buNone/>
            </a:pPr>
            <a:endParaRPr lang="en-US" dirty="0"/>
          </a:p>
          <a:p>
            <a:r>
              <a:rPr lang="en-US" dirty="0"/>
              <a:t>Place the good news first with high emphasis </a:t>
            </a:r>
          </a:p>
          <a:p>
            <a:r>
              <a:rPr lang="en-US" dirty="0"/>
              <a:t>Play down the impact of negative words </a:t>
            </a:r>
          </a:p>
          <a:p>
            <a:r>
              <a:rPr lang="en-US" dirty="0"/>
              <a:t>Avoid the negative words </a:t>
            </a:r>
          </a:p>
          <a:p>
            <a:r>
              <a:rPr lang="en-US" dirty="0"/>
              <a:t>Deliberately emphasize on the positive elements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Considering Extras</a:t>
            </a:r>
          </a:p>
        </p:txBody>
      </p:sp>
      <p:sp>
        <p:nvSpPr>
          <p:cNvPr id="3" name="Content Placeholder 2"/>
          <p:cNvSpPr>
            <a:spLocks noGrp="1"/>
          </p:cNvSpPr>
          <p:nvPr>
            <p:ph idx="1"/>
          </p:nvPr>
        </p:nvSpPr>
        <p:spPr/>
        <p:txBody>
          <a:bodyPr>
            <a:normAutofit lnSpcReduction="10000"/>
          </a:bodyPr>
          <a:lstStyle/>
          <a:p>
            <a:r>
              <a:rPr lang="en-US" sz="2600" dirty="0"/>
              <a:t>To build good will, you have to consider including extras</a:t>
            </a:r>
          </a:p>
          <a:p>
            <a:r>
              <a:rPr lang="en-US" sz="2600" dirty="0"/>
              <a:t> Add some valuable extra pieces of information that the </a:t>
            </a:r>
            <a:r>
              <a:rPr lang="en-US" dirty="0"/>
              <a:t>reader</a:t>
            </a:r>
            <a:r>
              <a:rPr lang="en-US" sz="2600" dirty="0"/>
              <a:t> didn’t ask for</a:t>
            </a:r>
          </a:p>
          <a:p>
            <a:r>
              <a:rPr lang="en-US" sz="2600" dirty="0"/>
              <a:t>Extras will help the reader to make the decision and establish a good business relationship with you</a:t>
            </a:r>
          </a:p>
          <a:p>
            <a:endParaRPr lang="en-US" sz="2600" dirty="0"/>
          </a:p>
          <a:p>
            <a:r>
              <a:rPr lang="en-US" sz="2600" i="1" dirty="0"/>
              <a:t>Example (The Edinburgh MBA)- </a:t>
            </a:r>
          </a:p>
          <a:p>
            <a:pPr>
              <a:buNone/>
            </a:pPr>
            <a:r>
              <a:rPr lang="en-US" sz="2600" i="1" dirty="0"/>
              <a:t>      Performance of graduates- 95% of </a:t>
            </a:r>
            <a:r>
              <a:rPr lang="en-US" i="1" dirty="0"/>
              <a:t>our MBA</a:t>
            </a:r>
            <a:r>
              <a:rPr lang="en-US" sz="2600" i="1" dirty="0"/>
              <a:t> graduates get into jobs within 6 months of </a:t>
            </a:r>
            <a:r>
              <a:rPr lang="en-US" i="1" dirty="0"/>
              <a:t>graduation </a:t>
            </a:r>
            <a:r>
              <a:rPr lang="en-US" sz="2600" i="1" dirty="0"/>
              <a:t> </a:t>
            </a:r>
          </a:p>
          <a:p>
            <a:endParaRPr lang="en-US"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Closing Cordially </a:t>
            </a:r>
          </a:p>
        </p:txBody>
      </p:sp>
      <p:sp>
        <p:nvSpPr>
          <p:cNvPr id="3" name="Content Placeholder 2"/>
          <p:cNvSpPr>
            <a:spLocks noGrp="1"/>
          </p:cNvSpPr>
          <p:nvPr>
            <p:ph idx="1"/>
          </p:nvPr>
        </p:nvSpPr>
        <p:spPr/>
        <p:txBody>
          <a:bodyPr/>
          <a:lstStyle/>
          <a:p>
            <a:r>
              <a:rPr lang="en-US" dirty="0"/>
              <a:t>Ending should be cordial </a:t>
            </a:r>
          </a:p>
          <a:p>
            <a:r>
              <a:rPr lang="en-US" dirty="0"/>
              <a:t>Exploit the polite words that fit the case</a:t>
            </a:r>
          </a:p>
          <a:p>
            <a:endParaRPr lang="en-US" dirty="0"/>
          </a:p>
          <a:p>
            <a:r>
              <a:rPr lang="en-US" sz="2400" i="1" dirty="0"/>
              <a:t>For example, please let me know if you need further assistance in deciding whether the Edinburgh MBA will fulfill your requirements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Giving Information</a:t>
            </a:r>
          </a:p>
        </p:txBody>
      </p:sp>
      <p:sp>
        <p:nvSpPr>
          <p:cNvPr id="3" name="Content Placeholder 2"/>
          <p:cNvSpPr>
            <a:spLocks noGrp="1"/>
          </p:cNvSpPr>
          <p:nvPr>
            <p:ph idx="1"/>
          </p:nvPr>
        </p:nvSpPr>
        <p:spPr/>
        <p:txBody>
          <a:bodyPr>
            <a:normAutofit fontScale="77500" lnSpcReduction="20000"/>
          </a:bodyPr>
          <a:lstStyle/>
          <a:p>
            <a:pPr>
              <a:buNone/>
            </a:pPr>
            <a:r>
              <a:rPr lang="en-US" sz="2400" dirty="0"/>
              <a:t>    Dear Mr. Kenneth:</a:t>
            </a:r>
            <a:br>
              <a:rPr lang="en-US" sz="2400" dirty="0"/>
            </a:br>
            <a:endParaRPr lang="en-US" sz="2400" dirty="0"/>
          </a:p>
          <a:p>
            <a:pPr>
              <a:buNone/>
            </a:pPr>
            <a:r>
              <a:rPr lang="en-US" sz="2400" dirty="0"/>
              <a:t>     I have received your message dated June 19, in which you inquire about our MBA program. I want you to know that we appreciate your interest.</a:t>
            </a:r>
            <a:br>
              <a:rPr lang="en-US" sz="2400" dirty="0"/>
            </a:br>
            <a:endParaRPr lang="en-US" sz="2400" dirty="0"/>
          </a:p>
          <a:p>
            <a:pPr>
              <a:buNone/>
            </a:pPr>
            <a:r>
              <a:rPr lang="en-US" sz="2400" dirty="0"/>
              <a:t>     In response to your questions about scholarship, tuition fees, I regret to inform that the scholarship is not available at this moment and the program will cost you £27,000. With regard to accommodation and research work, we don’t provide student accommodation facilities and  research project can be undertaken by the end of the program. </a:t>
            </a:r>
            <a:br>
              <a:rPr lang="en-US" sz="2400" dirty="0"/>
            </a:br>
            <a:endParaRPr lang="en-US" sz="2400" dirty="0"/>
          </a:p>
          <a:p>
            <a:pPr>
              <a:buNone/>
            </a:pPr>
            <a:r>
              <a:rPr lang="en-US" sz="2400" dirty="0"/>
              <a:t>     Please send your application before I get busy with the admission tests and interview.</a:t>
            </a:r>
          </a:p>
          <a:p>
            <a:pPr>
              <a:buNone/>
            </a:pPr>
            <a:br>
              <a:rPr lang="en-US" sz="2400" dirty="0"/>
            </a:br>
            <a:r>
              <a:rPr lang="en-US" sz="2400" dirty="0"/>
              <a:t> Sincerely, </a:t>
            </a:r>
          </a:p>
          <a:p>
            <a:pPr>
              <a:buNone/>
            </a:pPr>
            <a:r>
              <a:rPr lang="en-US" sz="2400" dirty="0"/>
              <a:t>     Ian Heywood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Previous Message </a:t>
            </a:r>
          </a:p>
        </p:txBody>
      </p:sp>
      <p:sp>
        <p:nvSpPr>
          <p:cNvPr id="3" name="Content Placeholder 2"/>
          <p:cNvSpPr>
            <a:spLocks noGrp="1"/>
          </p:cNvSpPr>
          <p:nvPr>
            <p:ph idx="1"/>
          </p:nvPr>
        </p:nvSpPr>
        <p:spPr/>
        <p:txBody>
          <a:bodyPr/>
          <a:lstStyle/>
          <a:p>
            <a:r>
              <a:rPr lang="en-US" sz="2800" dirty="0"/>
              <a:t>An indirect and ineffective response </a:t>
            </a:r>
          </a:p>
          <a:p>
            <a:r>
              <a:rPr lang="en-US" sz="2800" dirty="0"/>
              <a:t>It continues to delay the answers </a:t>
            </a:r>
          </a:p>
          <a:p>
            <a:r>
              <a:rPr lang="en-US" sz="2800" dirty="0"/>
              <a:t>While answering, the message emphasized on negative elements</a:t>
            </a:r>
          </a:p>
          <a:p>
            <a:r>
              <a:rPr lang="en-US" sz="2800" dirty="0"/>
              <a:t>Effective extra  pieces of information didn’t appear </a:t>
            </a:r>
          </a:p>
          <a:p>
            <a:r>
              <a:rPr lang="en-US" sz="2800" dirty="0"/>
              <a:t>The ending was not cordial and the writer was in a hurry </a:t>
            </a:r>
          </a:p>
          <a:p>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Turn </a:t>
            </a:r>
          </a:p>
        </p:txBody>
      </p:sp>
      <p:sp>
        <p:nvSpPr>
          <p:cNvPr id="3" name="Content Placeholder 2"/>
          <p:cNvSpPr>
            <a:spLocks noGrp="1"/>
          </p:cNvSpPr>
          <p:nvPr>
            <p:ph idx="1"/>
          </p:nvPr>
        </p:nvSpPr>
        <p:spPr/>
        <p:txBody>
          <a:bodyPr/>
          <a:lstStyle/>
          <a:p>
            <a:r>
              <a:rPr lang="en-US" dirty="0"/>
              <a:t> Write the message again and establish an effective direct response </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1490"/>
          </a:xfrm>
        </p:spPr>
        <p:txBody>
          <a:bodyPr>
            <a:normAutofit fontScale="90000"/>
          </a:bodyPr>
          <a:lstStyle/>
          <a:p>
            <a:r>
              <a:rPr lang="en-US" dirty="0"/>
              <a:t>An Effective and Direct Response </a:t>
            </a:r>
          </a:p>
        </p:txBody>
      </p:sp>
      <p:sp>
        <p:nvSpPr>
          <p:cNvPr id="3" name="Content Placeholder 2"/>
          <p:cNvSpPr>
            <a:spLocks noGrp="1"/>
          </p:cNvSpPr>
          <p:nvPr>
            <p:ph idx="1"/>
          </p:nvPr>
        </p:nvSpPr>
        <p:spPr>
          <a:xfrm>
            <a:off x="457200" y="1416128"/>
            <a:ext cx="8229600" cy="4710036"/>
          </a:xfrm>
        </p:spPr>
        <p:txBody>
          <a:bodyPr>
            <a:normAutofit fontScale="55000" lnSpcReduction="20000"/>
          </a:bodyPr>
          <a:lstStyle/>
          <a:p>
            <a:pPr>
              <a:buNone/>
            </a:pPr>
            <a:r>
              <a:rPr lang="en-US" sz="2720" i="1" dirty="0"/>
              <a:t>       Dear Mr. Kenneth:</a:t>
            </a:r>
          </a:p>
          <a:p>
            <a:pPr>
              <a:buNone/>
            </a:pPr>
            <a:endParaRPr lang="en-US" sz="2720" i="1" dirty="0"/>
          </a:p>
          <a:p>
            <a:pPr>
              <a:buNone/>
            </a:pPr>
            <a:r>
              <a:rPr lang="en-US" sz="2720" i="1" dirty="0"/>
              <a:t>        Here are the answers to your questions  about our MBA program.</a:t>
            </a:r>
            <a:br>
              <a:rPr lang="en-US" sz="2720" i="1" dirty="0"/>
            </a:br>
            <a:endParaRPr lang="en-US" sz="2720" i="1" dirty="0"/>
          </a:p>
          <a:p>
            <a:r>
              <a:rPr lang="en-US" sz="2720" i="1" dirty="0"/>
              <a:t>The annual tuition fees are £27,000 which can be paid in  3 installments. </a:t>
            </a:r>
          </a:p>
          <a:p>
            <a:r>
              <a:rPr lang="en-US" sz="2720" i="1" dirty="0"/>
              <a:t>Yes, the tuition fee covers the library membership, printing and gym membership. </a:t>
            </a:r>
          </a:p>
          <a:p>
            <a:r>
              <a:rPr lang="en-US" sz="2720" i="1" dirty="0"/>
              <a:t>The scholarships are unavailable. However, you can try Commonwealth scholarship which is available in Bangladesh.</a:t>
            </a:r>
          </a:p>
          <a:p>
            <a:r>
              <a:rPr lang="en-US" sz="2720" i="1" dirty="0"/>
              <a:t> Student housing facilities are located close by and they will cost you around £120 per week. We are aiming to establish our own hostels by next year.</a:t>
            </a:r>
          </a:p>
          <a:p>
            <a:r>
              <a:rPr lang="en-US" sz="2720" i="1" dirty="0"/>
              <a:t>Yes, all utilities are included in the weekly rate.</a:t>
            </a:r>
          </a:p>
          <a:p>
            <a:r>
              <a:rPr lang="en-US" sz="2720" i="1" dirty="0"/>
              <a:t>Yes, you can undertake the research program in the areas of HRM, Strategic Management, Entrepreneurship and Leadership.</a:t>
            </a:r>
          </a:p>
          <a:p>
            <a:r>
              <a:rPr lang="en-US" sz="2720" i="1" dirty="0"/>
              <a:t>You will be glad to know that 95% of our MBA graduates get into work or further education within 6 months of graduation. </a:t>
            </a:r>
          </a:p>
          <a:p>
            <a:endParaRPr lang="en-US" sz="2720" i="1" dirty="0"/>
          </a:p>
          <a:p>
            <a:pPr>
              <a:buNone/>
            </a:pPr>
            <a:r>
              <a:rPr lang="en-US" sz="2720" i="1" dirty="0"/>
              <a:t>       Please don’t hesitate to get back to me if you need further assistance in deciding whether you will undertake the Edinburgh MBA program. Good luck with the application in advance. </a:t>
            </a:r>
          </a:p>
          <a:p>
            <a:pPr>
              <a:buNone/>
            </a:pPr>
            <a:endParaRPr lang="en-US" sz="2720" i="1" dirty="0"/>
          </a:p>
          <a:p>
            <a:pPr>
              <a:buNone/>
            </a:pPr>
            <a:r>
              <a:rPr lang="en-US" sz="2720" i="1" dirty="0"/>
              <a:t>      Regards, </a:t>
            </a:r>
          </a:p>
          <a:p>
            <a:pPr>
              <a:buNone/>
            </a:pPr>
            <a:r>
              <a:rPr lang="en-US" sz="2720" i="1" dirty="0"/>
              <a:t>     Dr. Ian Heywood </a:t>
            </a:r>
          </a:p>
          <a:p>
            <a:pPr>
              <a:buNone/>
            </a:pPr>
            <a:endParaRPr lang="en-US" sz="2720" i="1" dirty="0"/>
          </a:p>
          <a:p>
            <a:endParaRPr lang="en-US" sz="2720" i="1" dirty="0"/>
          </a:p>
          <a:p>
            <a:endParaRPr lang="en-US" sz="2720" i="1" dirty="0"/>
          </a:p>
          <a:p>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previous message </a:t>
            </a:r>
          </a:p>
        </p:txBody>
      </p:sp>
      <p:sp>
        <p:nvSpPr>
          <p:cNvPr id="3" name="Content Placeholder 2"/>
          <p:cNvSpPr>
            <a:spLocks noGrp="1"/>
          </p:cNvSpPr>
          <p:nvPr>
            <p:ph idx="1"/>
          </p:nvPr>
        </p:nvSpPr>
        <p:spPr/>
        <p:txBody>
          <a:bodyPr/>
          <a:lstStyle/>
          <a:p>
            <a:r>
              <a:rPr lang="en-US" dirty="0"/>
              <a:t>Very direct and effective response</a:t>
            </a:r>
          </a:p>
          <a:p>
            <a:r>
              <a:rPr lang="en-US" dirty="0"/>
              <a:t>Gets to the answers right away</a:t>
            </a:r>
          </a:p>
          <a:p>
            <a:r>
              <a:rPr lang="en-US" dirty="0"/>
              <a:t>Play down the negative elements </a:t>
            </a:r>
          </a:p>
          <a:p>
            <a:r>
              <a:rPr lang="en-US" dirty="0"/>
              <a:t>Emphasize on the positive elements </a:t>
            </a:r>
          </a:p>
          <a:p>
            <a:r>
              <a:rPr lang="en-US" dirty="0"/>
              <a:t>Exploiting the extras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Building Goodwill with a “Thank-You” Message</a:t>
            </a:r>
          </a:p>
        </p:txBody>
      </p:sp>
      <p:sp>
        <p:nvSpPr>
          <p:cNvPr id="3" name="Content Placeholder 2"/>
          <p:cNvSpPr>
            <a:spLocks noGrp="1"/>
          </p:cNvSpPr>
          <p:nvPr>
            <p:ph idx="1"/>
          </p:nvPr>
        </p:nvSpPr>
        <p:spPr/>
        <p:txBody>
          <a:bodyPr/>
          <a:lstStyle/>
          <a:p>
            <a:r>
              <a:rPr lang="en-US" dirty="0"/>
              <a:t> </a:t>
            </a:r>
            <a:r>
              <a:rPr lang="en-US" sz="2400" dirty="0"/>
              <a:t>Acknowledgements are sent to let people know who order goods know the status of their orders</a:t>
            </a:r>
          </a:p>
          <a:p>
            <a:r>
              <a:rPr lang="en-US" sz="2400" dirty="0"/>
              <a:t>Communicate when the goods are being shipped</a:t>
            </a:r>
          </a:p>
          <a:p>
            <a:r>
              <a:rPr lang="en-US" sz="2400" dirty="0"/>
              <a:t>Many companies use a generic form or computer generated messages</a:t>
            </a:r>
          </a:p>
          <a:p>
            <a:r>
              <a:rPr lang="en-US" sz="2400" dirty="0"/>
              <a:t>Individually written acknowledgements are sometimes justified </a:t>
            </a:r>
          </a:p>
          <a:p>
            <a:r>
              <a:rPr lang="en-US" sz="2400" dirty="0"/>
              <a:t>An effective acknowledgement not only acknowledge the order  but also establishes goodwill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421182" cy="1143000"/>
          </a:xfrm>
        </p:spPr>
        <p:txBody>
          <a:bodyPr>
            <a:normAutofit fontScale="90000"/>
          </a:bodyPr>
          <a:lstStyle/>
          <a:p>
            <a:r>
              <a:rPr lang="en-US" dirty="0"/>
              <a:t>How to Establish the Acknowledgements </a:t>
            </a:r>
          </a:p>
        </p:txBody>
      </p:sp>
      <p:sp>
        <p:nvSpPr>
          <p:cNvPr id="3" name="Content Placeholder 2"/>
          <p:cNvSpPr>
            <a:spLocks noGrp="1"/>
          </p:cNvSpPr>
          <p:nvPr>
            <p:ph idx="1"/>
          </p:nvPr>
        </p:nvSpPr>
        <p:spPr/>
        <p:txBody>
          <a:bodyPr/>
          <a:lstStyle/>
          <a:p>
            <a:r>
              <a:rPr lang="en-US" dirty="0"/>
              <a:t> </a:t>
            </a:r>
            <a:r>
              <a:rPr lang="en-US" b="1" dirty="0"/>
              <a:t>Step-1: </a:t>
            </a:r>
            <a:r>
              <a:rPr lang="en-US" dirty="0"/>
              <a:t>Objective </a:t>
            </a:r>
          </a:p>
          <a:p>
            <a:pPr>
              <a:buNone/>
            </a:pPr>
            <a:r>
              <a:rPr lang="en-US" dirty="0"/>
              <a:t>  - Get to point right away </a:t>
            </a:r>
          </a:p>
          <a:p>
            <a:pPr>
              <a:buNone/>
            </a:pPr>
            <a:r>
              <a:rPr lang="en-US" dirty="0"/>
              <a:t>  - Begin with good news- the products are being shipped/ dispatched </a:t>
            </a:r>
          </a:p>
          <a:p>
            <a:pPr>
              <a:buNone/>
            </a:pPr>
            <a:r>
              <a:rPr lang="en-US" dirty="0"/>
              <a:t>  - Don’t ramble around and waste the words </a:t>
            </a:r>
          </a:p>
          <a:p>
            <a:pPr>
              <a:buNone/>
            </a:pPr>
            <a:endParaRPr lang="en-US" sz="1900" i="1" dirty="0"/>
          </a:p>
          <a:p>
            <a:pPr>
              <a:buNone/>
            </a:pPr>
            <a:r>
              <a:rPr lang="en-US" sz="1900" i="1" dirty="0"/>
              <a:t>Good example- The </a:t>
            </a:r>
            <a:r>
              <a:rPr lang="en-US" sz="1900" i="1" dirty="0" err="1"/>
              <a:t>iPhone</a:t>
            </a:r>
            <a:r>
              <a:rPr lang="en-US" sz="1900" i="1" dirty="0"/>
              <a:t> 6 you ordered on June 25 should reach you by Wednesday. It is leaving our Aberdeen store today by Royal Mail first class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Establish the Acknowledgements </a:t>
            </a:r>
          </a:p>
        </p:txBody>
      </p:sp>
      <p:sp>
        <p:nvSpPr>
          <p:cNvPr id="3" name="Content Placeholder 2"/>
          <p:cNvSpPr>
            <a:spLocks noGrp="1"/>
          </p:cNvSpPr>
          <p:nvPr>
            <p:ph idx="1"/>
          </p:nvPr>
        </p:nvSpPr>
        <p:spPr/>
        <p:txBody>
          <a:bodyPr/>
          <a:lstStyle/>
          <a:p>
            <a:r>
              <a:rPr lang="en-US" dirty="0"/>
              <a:t> You can also start with a warm expression of thanks </a:t>
            </a:r>
          </a:p>
          <a:p>
            <a:pPr>
              <a:buNone/>
            </a:pPr>
            <a:r>
              <a:rPr lang="en-US" sz="2000" dirty="0"/>
              <a:t> Example- </a:t>
            </a:r>
            <a:r>
              <a:rPr lang="en-US" sz="2000" i="1" dirty="0"/>
              <a:t>Thank you for placing your very first order on June 26. The item should reach you by Wednesday. It is leaving our Aberdeen store today by Royal Mail first class</a:t>
            </a:r>
          </a:p>
          <a:p>
            <a:r>
              <a:rPr lang="en-US" sz="2400" b="1" dirty="0"/>
              <a:t>Step-2: </a:t>
            </a:r>
            <a:r>
              <a:rPr lang="en-US" sz="2400" dirty="0"/>
              <a:t>Remainder </a:t>
            </a:r>
            <a:r>
              <a:rPr lang="en-US" sz="2000" i="1" dirty="0"/>
              <a:t> </a:t>
            </a:r>
            <a:r>
              <a:rPr lang="en-US" sz="2400" dirty="0"/>
              <a:t>of the message/ body: Except when some of the good ordered must be delayed, the remainder of the message must be devoted to goodwill building </a:t>
            </a:r>
          </a:p>
          <a:p>
            <a:r>
              <a:rPr lang="en-US" sz="2400" b="1" dirty="0"/>
              <a:t>Step- 3: </a:t>
            </a:r>
            <a:r>
              <a:rPr lang="en-US" sz="2400" dirty="0"/>
              <a:t>End on a goodwill note as well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Tact in order acknowledgement </a:t>
            </a:r>
          </a:p>
        </p:txBody>
      </p:sp>
      <p:sp>
        <p:nvSpPr>
          <p:cNvPr id="3" name="Content Placeholder 2"/>
          <p:cNvSpPr>
            <a:spLocks noGrp="1"/>
          </p:cNvSpPr>
          <p:nvPr>
            <p:ph idx="1"/>
          </p:nvPr>
        </p:nvSpPr>
        <p:spPr/>
        <p:txBody>
          <a:bodyPr/>
          <a:lstStyle/>
          <a:p>
            <a:r>
              <a:rPr lang="en-US" dirty="0"/>
              <a:t> Sometimes you are unable to send the acknowledgments right away </a:t>
            </a:r>
          </a:p>
          <a:p>
            <a:r>
              <a:rPr lang="en-US" dirty="0"/>
              <a:t> Use the direct approach when delays are routine and expected and don’t create a serious problem </a:t>
            </a:r>
          </a:p>
          <a:p>
            <a:r>
              <a:rPr lang="en-US" dirty="0"/>
              <a:t>It is worth minimizing the negative news</a:t>
            </a:r>
          </a:p>
          <a:p>
            <a:r>
              <a:rPr lang="en-US" dirty="0"/>
              <a:t>Use positive words and focus on what you can do</a:t>
            </a:r>
          </a:p>
          <a:p>
            <a:pPr>
              <a:buNone/>
            </a:pPr>
            <a:r>
              <a:rPr lang="en-US" dirty="0"/>
              <a:t>Example-  </a:t>
            </a:r>
            <a:r>
              <a:rPr lang="en-US" sz="2000" dirty="0"/>
              <a:t>Don’t: </a:t>
            </a:r>
            <a:r>
              <a:rPr lang="en-US" sz="2000" i="1" dirty="0"/>
              <a:t>We cannot ship the </a:t>
            </a:r>
            <a:r>
              <a:rPr lang="en-US" sz="2000" i="1" dirty="0" err="1"/>
              <a:t>iPhone</a:t>
            </a:r>
            <a:r>
              <a:rPr lang="en-US" sz="2000" i="1" dirty="0"/>
              <a:t> until the 9</a:t>
            </a:r>
            <a:r>
              <a:rPr lang="en-US" sz="2000" i="1" baseline="30000" dirty="0"/>
              <a:t>th</a:t>
            </a:r>
            <a:endParaRPr lang="en-US" sz="2000" i="1" dirty="0"/>
          </a:p>
          <a:p>
            <a:pPr>
              <a:buNone/>
            </a:pPr>
            <a:r>
              <a:rPr lang="en-US" sz="2000" i="1" dirty="0"/>
              <a:t>                          </a:t>
            </a:r>
            <a:r>
              <a:rPr lang="en-US" sz="2000" dirty="0"/>
              <a:t>Do: We will rush the </a:t>
            </a:r>
            <a:r>
              <a:rPr lang="en-US" sz="2000" dirty="0" err="1"/>
              <a:t>iPhone</a:t>
            </a:r>
            <a:r>
              <a:rPr lang="en-US" sz="2000" dirty="0"/>
              <a:t> to you as soon as our stock is replenished by a shipment due June 29</a:t>
            </a:r>
            <a:endParaRPr lang="en-US" dirty="0"/>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Tact in Order Acknowledgement (cont.) </a:t>
            </a:r>
          </a:p>
        </p:txBody>
      </p:sp>
      <p:sp>
        <p:nvSpPr>
          <p:cNvPr id="3" name="Content Placeholder 2"/>
          <p:cNvSpPr>
            <a:spLocks noGrp="1"/>
          </p:cNvSpPr>
          <p:nvPr>
            <p:ph idx="1"/>
          </p:nvPr>
        </p:nvSpPr>
        <p:spPr/>
        <p:txBody>
          <a:bodyPr/>
          <a:lstStyle/>
          <a:p>
            <a:r>
              <a:rPr lang="en-US" dirty="0"/>
              <a:t>What happens if you have received a vague order?</a:t>
            </a:r>
          </a:p>
          <a:p>
            <a:pPr>
              <a:buFontTx/>
              <a:buChar char="-"/>
            </a:pPr>
            <a:r>
              <a:rPr lang="en-US" sz="2000" dirty="0"/>
              <a:t>Don’t accuse the reader for supplying with insufficient information </a:t>
            </a:r>
          </a:p>
          <a:p>
            <a:pPr>
              <a:buFontTx/>
              <a:buChar char="-"/>
            </a:pPr>
            <a:r>
              <a:rPr lang="en-US" sz="2000" dirty="0"/>
              <a:t>You should request the information you need </a:t>
            </a:r>
          </a:p>
          <a:p>
            <a:pPr>
              <a:buNone/>
            </a:pPr>
            <a:r>
              <a:rPr lang="en-US" sz="2000" dirty="0"/>
              <a:t> Example- Don’t: </a:t>
            </a:r>
            <a:r>
              <a:rPr lang="en-US" sz="2000" i="1" dirty="0"/>
              <a:t>You failed to specify the color of the </a:t>
            </a:r>
            <a:r>
              <a:rPr lang="en-US" sz="2000" i="1" dirty="0" err="1"/>
              <a:t>iPhone</a:t>
            </a:r>
            <a:r>
              <a:rPr lang="en-US" sz="2000" i="1" dirty="0"/>
              <a:t> 6 you want </a:t>
            </a:r>
            <a:br>
              <a:rPr lang="en-US" dirty="0"/>
            </a:br>
            <a:r>
              <a:rPr lang="en-US" dirty="0"/>
              <a:t>           </a:t>
            </a:r>
            <a:r>
              <a:rPr lang="en-US" sz="2000" dirty="0"/>
              <a:t>Do- So that we can send you precisely the </a:t>
            </a:r>
            <a:r>
              <a:rPr lang="en-US" sz="2000" dirty="0" err="1"/>
              <a:t>iPhone</a:t>
            </a:r>
            <a:r>
              <a:rPr lang="en-US" sz="2000" dirty="0"/>
              <a:t> 6 you want, please check your choice of colors on the space below</a:t>
            </a:r>
            <a:endParaRPr lang="en-US" dirty="0"/>
          </a:p>
          <a:p>
            <a:pPr>
              <a:buNone/>
            </a:pPr>
            <a:r>
              <a:rPr lang="en-US"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12387"/>
          </a:xfrm>
        </p:spPr>
        <p:txBody>
          <a:bodyPr>
            <a:normAutofit fontScale="90000"/>
          </a:bodyPr>
          <a:lstStyle/>
          <a:p>
            <a:r>
              <a:rPr lang="en-US" dirty="0"/>
              <a:t>Examples </a:t>
            </a:r>
          </a:p>
        </p:txBody>
      </p:sp>
      <p:sp>
        <p:nvSpPr>
          <p:cNvPr id="3" name="Content Placeholder 2"/>
          <p:cNvSpPr>
            <a:spLocks noGrp="1"/>
          </p:cNvSpPr>
          <p:nvPr>
            <p:ph idx="1"/>
          </p:nvPr>
        </p:nvSpPr>
        <p:spPr/>
        <p:txBody>
          <a:bodyPr>
            <a:normAutofit/>
          </a:bodyPr>
          <a:lstStyle/>
          <a:p>
            <a:pPr>
              <a:buNone/>
            </a:pPr>
            <a:r>
              <a:rPr lang="en-US" sz="2000" dirty="0"/>
              <a:t>     </a:t>
            </a:r>
            <a:r>
              <a:rPr lang="en-US" sz="2000" i="1" dirty="0"/>
              <a:t>Dear Mr. Anderson, </a:t>
            </a:r>
            <a:br>
              <a:rPr lang="en-US" sz="2000" i="1" dirty="0"/>
            </a:br>
            <a:endParaRPr lang="en-US" sz="2000" i="1" dirty="0"/>
          </a:p>
          <a:p>
            <a:pPr>
              <a:buNone/>
            </a:pPr>
            <a:r>
              <a:rPr lang="en-US" sz="2000" i="1" dirty="0"/>
              <a:t>     Your April 4 order for £539 worth of </a:t>
            </a:r>
            <a:r>
              <a:rPr lang="en-US" sz="2000" i="1" dirty="0" err="1"/>
              <a:t>iPhone</a:t>
            </a:r>
            <a:r>
              <a:rPr lang="en-US" sz="2000" i="1" dirty="0"/>
              <a:t> 6 has been received. We are pleased to have this order and hope that it marks the beginning of a long relationship. </a:t>
            </a:r>
            <a:br>
              <a:rPr lang="en-US" sz="2000" i="1" dirty="0"/>
            </a:br>
            <a:br>
              <a:rPr lang="en-US" sz="2000" i="1" dirty="0"/>
            </a:br>
            <a:r>
              <a:rPr lang="en-US" sz="2000" i="1" dirty="0"/>
              <a:t>As you have instructed, we will bill you for this amount. We are shipping the goods by Royal Mail first class. </a:t>
            </a:r>
          </a:p>
          <a:p>
            <a:pPr>
              <a:buNone/>
            </a:pPr>
            <a:endParaRPr lang="en-US" sz="2000" i="1" dirty="0"/>
          </a:p>
          <a:p>
            <a:pPr>
              <a:buNone/>
            </a:pPr>
            <a:r>
              <a:rPr lang="en-US" sz="2000" i="1" dirty="0"/>
              <a:t>    We look forward to your future order. </a:t>
            </a:r>
          </a:p>
          <a:p>
            <a:pPr>
              <a:buNone/>
            </a:pPr>
            <a:endParaRPr lang="en-US" sz="2000" i="1" dirty="0"/>
          </a:p>
          <a:p>
            <a:pPr>
              <a:buNone/>
            </a:pPr>
            <a:r>
              <a:rPr lang="en-US" sz="2000" i="1" dirty="0"/>
              <a:t>	Sincerely, </a:t>
            </a:r>
          </a:p>
          <a:p>
            <a:pPr>
              <a:buNone/>
            </a:pP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Features of the previous acknowledgment </a:t>
            </a:r>
          </a:p>
        </p:txBody>
      </p:sp>
      <p:sp>
        <p:nvSpPr>
          <p:cNvPr id="3" name="Content Placeholder 2"/>
          <p:cNvSpPr>
            <a:spLocks noGrp="1"/>
          </p:cNvSpPr>
          <p:nvPr>
            <p:ph idx="1"/>
          </p:nvPr>
        </p:nvSpPr>
        <p:spPr/>
        <p:txBody>
          <a:bodyPr/>
          <a:lstStyle/>
          <a:p>
            <a:r>
              <a:rPr lang="en-US" dirty="0"/>
              <a:t> It begins indirectly </a:t>
            </a:r>
          </a:p>
          <a:p>
            <a:r>
              <a:rPr lang="en-US" dirty="0"/>
              <a:t>To start with, it emphasized the receipt of the order </a:t>
            </a:r>
          </a:p>
          <a:p>
            <a:r>
              <a:rPr lang="en-US" dirty="0"/>
              <a:t>Although it intended to produce goodwill, the second sentence further delays </a:t>
            </a:r>
          </a:p>
          <a:p>
            <a:r>
              <a:rPr lang="en-US" dirty="0"/>
              <a:t>We-emphasis instead you-viewpoint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Your task </a:t>
            </a:r>
          </a:p>
        </p:txBody>
      </p:sp>
      <p:sp>
        <p:nvSpPr>
          <p:cNvPr id="3" name="Content Placeholder 2"/>
          <p:cNvSpPr>
            <a:spLocks noGrp="1"/>
          </p:cNvSpPr>
          <p:nvPr>
            <p:ph idx="1"/>
          </p:nvPr>
        </p:nvSpPr>
        <p:spPr/>
        <p:txBody>
          <a:bodyPr/>
          <a:lstStyle/>
          <a:p>
            <a:r>
              <a:rPr lang="en-US" dirty="0"/>
              <a:t>Establish an effective acknowledgement </a:t>
            </a:r>
          </a:p>
          <a:p>
            <a:r>
              <a:rPr lang="en-US" dirty="0"/>
              <a:t>Use the techniques that have been covered so far  </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367631"/>
          </a:xfrm>
        </p:spPr>
        <p:txBody>
          <a:bodyPr/>
          <a:lstStyle/>
          <a:p>
            <a:r>
              <a:rPr lang="en-US" dirty="0"/>
              <a:t>Example </a:t>
            </a:r>
          </a:p>
        </p:txBody>
      </p:sp>
      <p:sp>
        <p:nvSpPr>
          <p:cNvPr id="3" name="Content Placeholder 2"/>
          <p:cNvSpPr>
            <a:spLocks noGrp="1"/>
          </p:cNvSpPr>
          <p:nvPr>
            <p:ph idx="1"/>
          </p:nvPr>
        </p:nvSpPr>
        <p:spPr>
          <a:xfrm>
            <a:off x="457200" y="1367631"/>
            <a:ext cx="8229600" cy="4956969"/>
          </a:xfrm>
        </p:spPr>
        <p:txBody>
          <a:bodyPr>
            <a:normAutofit lnSpcReduction="10000"/>
          </a:bodyPr>
          <a:lstStyle/>
          <a:p>
            <a:pPr>
              <a:buNone/>
            </a:pPr>
            <a:r>
              <a:rPr lang="en-US" sz="1800" i="1" dirty="0"/>
              <a:t>      Dear Mr. Anderson:</a:t>
            </a:r>
            <a:br>
              <a:rPr lang="en-US" sz="1800" i="1" dirty="0"/>
            </a:br>
            <a:endParaRPr lang="en-US" sz="1800" i="1" dirty="0"/>
          </a:p>
          <a:p>
            <a:pPr>
              <a:buNone/>
            </a:pPr>
            <a:r>
              <a:rPr lang="en-US" sz="1800" i="1" dirty="0"/>
              <a:t>     Your selection of </a:t>
            </a:r>
            <a:r>
              <a:rPr lang="en-US" sz="1800" i="1" dirty="0" err="1"/>
              <a:t>iphone</a:t>
            </a:r>
            <a:r>
              <a:rPr lang="en-US" sz="1800" i="1" dirty="0"/>
              <a:t> 6 was shipped today by Royal Mail first class and should reach you by Wednesday (</a:t>
            </a:r>
            <a:r>
              <a:rPr lang="en-US" sz="1800" b="1" i="1" dirty="0"/>
              <a:t>direct/ to the point right away</a:t>
            </a:r>
            <a:r>
              <a:rPr lang="en-US" sz="1800" i="1" dirty="0"/>
              <a:t>). As you requested we are sending you an an invoice for £539, including sales tax. </a:t>
            </a:r>
            <a:br>
              <a:rPr lang="en-US" sz="1800" i="1" dirty="0"/>
            </a:br>
            <a:endParaRPr lang="en-US" sz="1800" i="1" dirty="0"/>
          </a:p>
          <a:p>
            <a:pPr>
              <a:buNone/>
            </a:pPr>
            <a:r>
              <a:rPr lang="en-US" sz="1800" i="1" dirty="0"/>
              <a:t>	Welcome to Aberdeen Apple Store. Our representative, Mr. Smith will call you from time to time to offer whatever assistance he can. He is a highly competent technical adviser on Apple Products, especially </a:t>
            </a:r>
            <a:r>
              <a:rPr lang="en-US" sz="1800" i="1" dirty="0" err="1"/>
              <a:t>iPhones</a:t>
            </a:r>
            <a:r>
              <a:rPr lang="en-US" sz="1800" i="1" dirty="0"/>
              <a:t>. </a:t>
            </a:r>
            <a:br>
              <a:rPr lang="en-US" sz="1800" i="1" dirty="0"/>
            </a:br>
            <a:endParaRPr lang="en-US" sz="1800" i="1" dirty="0"/>
          </a:p>
          <a:p>
            <a:pPr>
              <a:buNone/>
            </a:pPr>
            <a:r>
              <a:rPr lang="en-US" sz="1800" i="1" dirty="0"/>
              <a:t>    We will do our best to give you the most efficient service. And Apple family will continue to develop more innovative products in the future. </a:t>
            </a:r>
            <a:br>
              <a:rPr lang="en-US" sz="1800" i="1" dirty="0"/>
            </a:br>
            <a:br>
              <a:rPr lang="en-US" sz="1800" i="1" dirty="0"/>
            </a:br>
            <a:r>
              <a:rPr lang="en-US" sz="1800" i="1" dirty="0"/>
              <a:t>We genuinely appreciate your order, Mr. Anderson. We are determined to serve you well in the years ahead. </a:t>
            </a:r>
          </a:p>
          <a:p>
            <a:pPr>
              <a:buNone/>
            </a:pPr>
            <a:endParaRPr lang="en-US" sz="1800" i="1" dirty="0"/>
          </a:p>
          <a:p>
            <a:pPr>
              <a:buNone/>
            </a:pPr>
            <a:r>
              <a:rPr lang="en-US" sz="1800" i="1" dirty="0"/>
              <a:t>     Sincerely, </a:t>
            </a:r>
          </a:p>
          <a:p>
            <a:pPr>
              <a:buNone/>
            </a:pPr>
            <a:endParaRPr lang="en-US" sz="1800" i="1" dirty="0"/>
          </a:p>
          <a:p>
            <a:pPr>
              <a:buNone/>
            </a:pPr>
            <a:endParaRPr lang="en-US" sz="1800" i="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Direct Claims </a:t>
            </a:r>
          </a:p>
        </p:txBody>
      </p:sp>
      <p:sp>
        <p:nvSpPr>
          <p:cNvPr id="3" name="Content Placeholder 2"/>
          <p:cNvSpPr>
            <a:spLocks noGrp="1"/>
          </p:cNvSpPr>
          <p:nvPr>
            <p:ph idx="1"/>
          </p:nvPr>
        </p:nvSpPr>
        <p:spPr/>
        <p:txBody>
          <a:bodyPr>
            <a:normAutofit/>
          </a:bodyPr>
          <a:lstStyle/>
          <a:p>
            <a:r>
              <a:rPr lang="en-US" dirty="0"/>
              <a:t> Step 1: Begin with the claim</a:t>
            </a:r>
          </a:p>
          <a:p>
            <a:pPr>
              <a:buFontTx/>
              <a:buChar char="-"/>
            </a:pPr>
            <a:r>
              <a:rPr lang="en-US" sz="1800" dirty="0"/>
              <a:t>Open with a direct claim </a:t>
            </a:r>
          </a:p>
          <a:p>
            <a:pPr>
              <a:buFontTx/>
              <a:buChar char="-"/>
            </a:pPr>
            <a:r>
              <a:rPr lang="en-US" sz="1800" dirty="0"/>
              <a:t>A polite but direct statement </a:t>
            </a:r>
          </a:p>
          <a:p>
            <a:pPr>
              <a:buFontTx/>
              <a:buChar char="-"/>
            </a:pPr>
            <a:r>
              <a:rPr lang="en-US" sz="1800" dirty="0"/>
              <a:t>Should appear at the beginning </a:t>
            </a:r>
          </a:p>
          <a:p>
            <a:pPr>
              <a:buNone/>
            </a:pPr>
            <a:r>
              <a:rPr lang="en-US" sz="1800" dirty="0"/>
              <a:t>Example- Please adjust the invoice (#6379) for our May 10 order to remove the £ 5 shipping charge </a:t>
            </a:r>
            <a:endParaRPr lang="en-US" dirty="0"/>
          </a:p>
          <a:p>
            <a:r>
              <a:rPr lang="en-US" dirty="0"/>
              <a:t>Step 2: Move to an explanation</a:t>
            </a:r>
            <a:endParaRPr lang="en-US" sz="1800" dirty="0"/>
          </a:p>
          <a:p>
            <a:pPr>
              <a:buFontTx/>
              <a:buChar char="-"/>
            </a:pPr>
            <a:r>
              <a:rPr lang="en-US" sz="1800" dirty="0"/>
              <a:t>Should provide the reader with relevant information </a:t>
            </a:r>
            <a:r>
              <a:rPr lang="en-US" dirty="0"/>
              <a:t> </a:t>
            </a:r>
          </a:p>
          <a:p>
            <a:pPr>
              <a:buNone/>
            </a:pPr>
            <a:r>
              <a:rPr lang="en-US" sz="2000" dirty="0"/>
              <a:t>Example- Because our order totaled £70, we are able to take advantage of your offer for free shipping on orders of  £50 or more and shouldn’t have been charged a shipping fee. </a:t>
            </a:r>
          </a:p>
          <a:p>
            <a:pPr>
              <a:buFontTx/>
              <a:buChar char="-"/>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Directness for Claims (cont.) </a:t>
            </a:r>
          </a:p>
        </p:txBody>
      </p:sp>
      <p:sp>
        <p:nvSpPr>
          <p:cNvPr id="3" name="Content Placeholder 2"/>
          <p:cNvSpPr>
            <a:spLocks noGrp="1"/>
          </p:cNvSpPr>
          <p:nvPr>
            <p:ph idx="1"/>
          </p:nvPr>
        </p:nvSpPr>
        <p:spPr/>
        <p:txBody>
          <a:bodyPr>
            <a:normAutofit/>
          </a:bodyPr>
          <a:lstStyle/>
          <a:p>
            <a:pPr>
              <a:buNone/>
            </a:pPr>
            <a:endParaRPr lang="en-US" dirty="0"/>
          </a:p>
          <a:p>
            <a:r>
              <a:rPr lang="en-US" dirty="0"/>
              <a:t>Step 3: End with a goodwill closing </a:t>
            </a:r>
          </a:p>
          <a:p>
            <a:pPr>
              <a:buFontTx/>
              <a:buChar char="-"/>
            </a:pPr>
            <a:r>
              <a:rPr lang="en-US" sz="2000" dirty="0"/>
              <a:t>Your close should end with an expression of good will</a:t>
            </a:r>
          </a:p>
          <a:p>
            <a:pPr>
              <a:buNone/>
            </a:pPr>
            <a:r>
              <a:rPr lang="en-US" sz="2000" dirty="0"/>
              <a:t>Example- Please send a correct copy of the invoice to me at </a:t>
            </a:r>
            <a:r>
              <a:rPr lang="en-US" sz="2000" dirty="0">
                <a:solidFill>
                  <a:schemeClr val="accent1"/>
                </a:solidFill>
                <a:hlinkClick r:id="rId2"/>
              </a:rPr>
              <a:t>jsmith@americanmortgage.com</a:t>
            </a:r>
            <a:r>
              <a:rPr lang="en-US" sz="2000" dirty="0">
                <a:solidFill>
                  <a:schemeClr val="accent1"/>
                </a:solidFill>
              </a:rPr>
              <a:t>. </a:t>
            </a:r>
            <a:r>
              <a:rPr lang="en-US" sz="2000" dirty="0"/>
              <a:t>We look forward to continued business with National Office Supplies. </a:t>
            </a:r>
            <a:endParaRPr lang="en-US" sz="2000" dirty="0">
              <a:solidFill>
                <a:schemeClr val="accent1"/>
              </a:solidFill>
            </a:endParaRPr>
          </a:p>
          <a:p>
            <a:pPr>
              <a:buNone/>
            </a:pPr>
            <a:endParaRPr lang="en-US" sz="2000" dirty="0">
              <a:solidFill>
                <a:schemeClr val="accent1"/>
              </a:solidFill>
            </a:endParaRPr>
          </a:p>
          <a:p>
            <a:pPr>
              <a:buNone/>
            </a:pP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5719"/>
          </a:xfrm>
        </p:spPr>
        <p:txBody>
          <a:bodyPr>
            <a:normAutofit fontScale="90000"/>
          </a:bodyPr>
          <a:lstStyle/>
          <a:p>
            <a:r>
              <a:rPr lang="en-US" dirty="0"/>
              <a:t>Examples </a:t>
            </a:r>
          </a:p>
        </p:txBody>
      </p:sp>
      <p:sp>
        <p:nvSpPr>
          <p:cNvPr id="3" name="Content Placeholder 2"/>
          <p:cNvSpPr>
            <a:spLocks noGrp="1"/>
          </p:cNvSpPr>
          <p:nvPr>
            <p:ph idx="1"/>
          </p:nvPr>
        </p:nvSpPr>
        <p:spPr>
          <a:xfrm>
            <a:off x="457200" y="989091"/>
            <a:ext cx="8229600" cy="5335509"/>
          </a:xfrm>
        </p:spPr>
        <p:txBody>
          <a:bodyPr>
            <a:normAutofit lnSpcReduction="10000"/>
          </a:bodyPr>
          <a:lstStyle/>
          <a:p>
            <a:pPr>
              <a:buNone/>
            </a:pPr>
            <a:r>
              <a:rPr lang="en-US" sz="1800" dirty="0"/>
              <a:t>     </a:t>
            </a:r>
            <a:r>
              <a:rPr lang="en-US" sz="1800" i="1" dirty="0"/>
              <a:t>Dear Mr. George:</a:t>
            </a:r>
            <a:br>
              <a:rPr lang="en-US" sz="1800" i="1" dirty="0"/>
            </a:br>
            <a:endParaRPr lang="en-US" sz="1800" i="1" dirty="0"/>
          </a:p>
          <a:p>
            <a:pPr>
              <a:buNone/>
            </a:pPr>
            <a:r>
              <a:rPr lang="en-US" sz="1800" i="1" dirty="0"/>
              <a:t>     As you know, we have been purchasing your products for 10 years. We have always depended on you for quick, and accurate service, which, unfortunately, looks like it didn’t happen this time.</a:t>
            </a:r>
            <a:br>
              <a:rPr lang="en-US" sz="1800" i="1" dirty="0"/>
            </a:br>
            <a:endParaRPr lang="en-US" sz="1800" i="1" dirty="0"/>
          </a:p>
          <a:p>
            <a:pPr>
              <a:buNone/>
            </a:pPr>
            <a:r>
              <a:rPr lang="en-US" sz="1800" i="1" dirty="0"/>
              <a:t>    You can imagine how shocked I was when I opened the the order expecting masks and goggles but found gloves and half of the masks I ordered. I was also surprised to see a bill that was £100 more than I planned. </a:t>
            </a:r>
            <a:br>
              <a:rPr lang="en-US" sz="1800" i="1" dirty="0"/>
            </a:br>
            <a:br>
              <a:rPr lang="en-US" sz="1800" i="1" dirty="0"/>
            </a:br>
            <a:r>
              <a:rPr lang="en-US" sz="1800" i="1" dirty="0"/>
              <a:t>I tried to call you, but you didn’t answer, so I left a voice message. I am guessing you want to fix this quickly, so please call me or email me and let me know what your are going to do. If my employees do not have masks and goggles by tomorrow, employees can’t work, and we will have to shut down our production line, which will cost us a lot of money. This was a disappointing service and I’m pretty sure it won’t happen again, as you have been always accurate in the past. We would perhaps hate to think that we need to go with a different supplier. Thank you.</a:t>
            </a:r>
          </a:p>
          <a:p>
            <a:pPr>
              <a:buNone/>
            </a:pPr>
            <a:endParaRPr lang="en-US" sz="1800" i="1" dirty="0"/>
          </a:p>
          <a:p>
            <a:pPr>
              <a:buNone/>
            </a:pPr>
            <a:r>
              <a:rPr lang="en-US" sz="1800" i="1" dirty="0"/>
              <a:t>	Alex</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of the messages </a:t>
            </a:r>
          </a:p>
        </p:txBody>
      </p:sp>
      <p:sp>
        <p:nvSpPr>
          <p:cNvPr id="3" name="Content Placeholder 2"/>
          <p:cNvSpPr>
            <a:spLocks noGrp="1"/>
          </p:cNvSpPr>
          <p:nvPr>
            <p:ph idx="1"/>
          </p:nvPr>
        </p:nvSpPr>
        <p:spPr/>
        <p:txBody>
          <a:bodyPr/>
          <a:lstStyle/>
          <a:p>
            <a:r>
              <a:rPr lang="en-US" dirty="0"/>
              <a:t> The message starts very slowly with an explanation of the situation </a:t>
            </a:r>
          </a:p>
          <a:p>
            <a:r>
              <a:rPr lang="en-US" dirty="0"/>
              <a:t> The first paragraph doesn’t describe the problem </a:t>
            </a:r>
          </a:p>
          <a:p>
            <a:r>
              <a:rPr lang="en-US" dirty="0"/>
              <a:t>There wording here is clear but too much strong </a:t>
            </a:r>
          </a:p>
          <a:p>
            <a:r>
              <a:rPr lang="en-US" dirty="0"/>
              <a:t>The words are angry and insulting </a:t>
            </a:r>
          </a:p>
          <a:p>
            <a:r>
              <a:rPr lang="en-US" dirty="0"/>
              <a:t>Leaves a bad final impression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Your task </a:t>
            </a:r>
          </a:p>
        </p:txBody>
      </p:sp>
      <p:sp>
        <p:nvSpPr>
          <p:cNvPr id="3" name="Content Placeholder 2"/>
          <p:cNvSpPr>
            <a:spLocks noGrp="1"/>
          </p:cNvSpPr>
          <p:nvPr>
            <p:ph idx="1"/>
          </p:nvPr>
        </p:nvSpPr>
        <p:spPr/>
        <p:txBody>
          <a:bodyPr/>
          <a:lstStyle/>
          <a:p>
            <a:r>
              <a:rPr lang="en-US" dirty="0"/>
              <a:t>Organize and establish  the direct claim </a:t>
            </a:r>
          </a:p>
          <a:p>
            <a:r>
              <a:rPr lang="en-US" dirty="0"/>
              <a:t>Use the techniques that have been covered so far  </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approach </a:t>
            </a:r>
          </a:p>
        </p:txBody>
      </p:sp>
      <p:sp>
        <p:nvSpPr>
          <p:cNvPr id="3" name="Content Placeholder 2"/>
          <p:cNvSpPr>
            <a:spLocks noGrp="1"/>
          </p:cNvSpPr>
          <p:nvPr>
            <p:ph idx="1"/>
          </p:nvPr>
        </p:nvSpPr>
        <p:spPr/>
        <p:txBody>
          <a:bodyPr>
            <a:normAutofit/>
          </a:bodyPr>
          <a:lstStyle/>
          <a:p>
            <a:pPr>
              <a:buNone/>
            </a:pPr>
            <a:r>
              <a:rPr lang="en-US" sz="1800" dirty="0"/>
              <a:t>    Dear Mr. George, </a:t>
            </a:r>
          </a:p>
          <a:p>
            <a:pPr>
              <a:buNone/>
            </a:pPr>
            <a:r>
              <a:rPr lang="en-US" sz="1800" dirty="0"/>
              <a:t>     Please send 50 safety goggles and 100 face masks, as well as a new invoice, to replace the incorrect order that arrived this morning </a:t>
            </a:r>
            <a:br>
              <a:rPr lang="en-US" sz="1800" dirty="0"/>
            </a:br>
            <a:br>
              <a:rPr lang="en-US" sz="1800" dirty="0"/>
            </a:br>
            <a:r>
              <a:rPr lang="en-US" sz="1800" dirty="0"/>
              <a:t>On Monday, I placed the order for the safety googles and face masks, but today I received only 50 face masks and 15 boxes of safety gloves. </a:t>
            </a:r>
            <a:br>
              <a:rPr lang="en-US" sz="1800" dirty="0"/>
            </a:br>
            <a:br>
              <a:rPr lang="en-US" sz="1800" dirty="0"/>
            </a:br>
            <a:r>
              <a:rPr lang="en-US" sz="1800" dirty="0"/>
              <a:t>If you send the order today, we should receive it tomorrow. Our employees need the safety equipment in order for us to keep the production line running. </a:t>
            </a:r>
          </a:p>
          <a:p>
            <a:pPr>
              <a:buNone/>
            </a:pPr>
            <a:endParaRPr lang="en-US" sz="1800" dirty="0"/>
          </a:p>
          <a:p>
            <a:pPr>
              <a:buNone/>
            </a:pPr>
            <a:r>
              <a:rPr lang="en-US" sz="1800" dirty="0"/>
              <a:t>	Please let me know how you want to handle the return of the order. Thank for your cooperation and outstanding business. </a:t>
            </a:r>
          </a:p>
          <a:p>
            <a:pPr>
              <a:buNone/>
            </a:pPr>
            <a:endParaRPr lang="en-US" sz="1800" dirty="0"/>
          </a:p>
          <a:p>
            <a:pPr>
              <a:buNone/>
            </a:pPr>
            <a:r>
              <a:rPr lang="en-US" sz="1800" dirty="0"/>
              <a:t>	Alex</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Adjustment Grants </a:t>
            </a:r>
          </a:p>
        </p:txBody>
      </p:sp>
      <p:sp>
        <p:nvSpPr>
          <p:cNvPr id="3" name="Content Placeholder 2"/>
          <p:cNvSpPr>
            <a:spLocks noGrp="1"/>
          </p:cNvSpPr>
          <p:nvPr>
            <p:ph idx="1"/>
          </p:nvPr>
        </p:nvSpPr>
        <p:spPr/>
        <p:txBody>
          <a:bodyPr/>
          <a:lstStyle/>
          <a:p>
            <a:r>
              <a:rPr lang="en-US" dirty="0"/>
              <a:t> Step-1: Start with the good news </a:t>
            </a:r>
          </a:p>
          <a:p>
            <a:endParaRPr lang="en-US" dirty="0"/>
          </a:p>
          <a:p>
            <a:r>
              <a:rPr lang="en-US" dirty="0"/>
              <a:t>Step-2: Move to an explanation </a:t>
            </a:r>
          </a:p>
          <a:p>
            <a:endParaRPr lang="en-US" dirty="0"/>
          </a:p>
          <a:p>
            <a:r>
              <a:rPr lang="en-US" dirty="0"/>
              <a:t>Step-3: End with the goodwill closing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8743"/>
            <a:ext cx="8229600" cy="866981"/>
          </a:xfrm>
        </p:spPr>
        <p:txBody>
          <a:bodyPr/>
          <a:lstStyle/>
          <a:p>
            <a:r>
              <a:rPr lang="en-US" dirty="0"/>
              <a:t>Consider Special Needs </a:t>
            </a:r>
          </a:p>
        </p:txBody>
      </p:sp>
      <p:sp>
        <p:nvSpPr>
          <p:cNvPr id="3" name="Content Placeholder 2"/>
          <p:cNvSpPr>
            <a:spLocks noGrp="1"/>
          </p:cNvSpPr>
          <p:nvPr>
            <p:ph idx="1"/>
          </p:nvPr>
        </p:nvSpPr>
        <p:spPr>
          <a:xfrm>
            <a:off x="457200" y="1453108"/>
            <a:ext cx="8229600" cy="4554701"/>
          </a:xfrm>
        </p:spPr>
        <p:txBody>
          <a:bodyPr>
            <a:normAutofit fontScale="92500" lnSpcReduction="10000"/>
          </a:bodyPr>
          <a:lstStyle/>
          <a:p>
            <a:r>
              <a:rPr lang="en-US" dirty="0"/>
              <a:t> </a:t>
            </a:r>
            <a:r>
              <a:rPr lang="en-US" b="1" dirty="0"/>
              <a:t>Need to overcome the negative impression</a:t>
            </a:r>
          </a:p>
          <a:p>
            <a:pPr>
              <a:buFontTx/>
              <a:buChar char="-"/>
            </a:pPr>
            <a:r>
              <a:rPr lang="en-US" dirty="0"/>
              <a:t>Place yourself in the shoes of the readers </a:t>
            </a:r>
          </a:p>
          <a:p>
            <a:pPr>
              <a:buFontTx/>
              <a:buChar char="-"/>
            </a:pPr>
            <a:r>
              <a:rPr lang="en-US" dirty="0"/>
              <a:t>In the opening you can do more than just giving the affirmative answers </a:t>
            </a:r>
            <a:br>
              <a:rPr lang="en-US" dirty="0"/>
            </a:br>
            <a:r>
              <a:rPr lang="en-US" sz="2000" i="1" dirty="0"/>
              <a:t>Example- The enclosed check for $90 is our way of showing  you that your satisfaction is our top priority </a:t>
            </a:r>
          </a:p>
          <a:p>
            <a:pPr>
              <a:buFontTx/>
              <a:buChar char="-"/>
            </a:pPr>
            <a:r>
              <a:rPr lang="en-US" dirty="0"/>
              <a:t> Don’t recall the actual situation. Your reader is aware of it</a:t>
            </a:r>
          </a:p>
          <a:p>
            <a:pPr>
              <a:buFontTx/>
              <a:buChar char="-"/>
            </a:pPr>
            <a:r>
              <a:rPr lang="en-US" dirty="0"/>
              <a:t> Avoid negative words such as mistake, trouble, damage, broken, problem, difficulty and loss</a:t>
            </a:r>
          </a:p>
          <a:p>
            <a:pPr>
              <a:buFontTx/>
              <a:buChar char="-"/>
            </a:pPr>
            <a:r>
              <a:rPr lang="en-US" dirty="0"/>
              <a:t> Should you apologize? You can apologize and risk the negative effect </a:t>
            </a:r>
          </a:p>
          <a:p>
            <a:pPr>
              <a:buNone/>
            </a:pPr>
            <a:r>
              <a:rPr lang="en-US" sz="1946" dirty="0"/>
              <a:t>     </a:t>
            </a:r>
            <a:r>
              <a:rPr lang="en-US" sz="1946" i="1" dirty="0"/>
              <a:t>Example- we sincerely regret the inconvenience………., we are sorry to know that………</a:t>
            </a:r>
          </a:p>
          <a:p>
            <a:pPr>
              <a:buFontTx/>
              <a:buChar char="-"/>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Consider the Special Needs (cont.)</a:t>
            </a:r>
          </a:p>
        </p:txBody>
      </p:sp>
      <p:sp>
        <p:nvSpPr>
          <p:cNvPr id="3" name="Content Placeholder 2"/>
          <p:cNvSpPr>
            <a:spLocks noGrp="1"/>
          </p:cNvSpPr>
          <p:nvPr>
            <p:ph idx="1"/>
          </p:nvPr>
        </p:nvSpPr>
        <p:spPr/>
        <p:txBody>
          <a:bodyPr/>
          <a:lstStyle/>
          <a:p>
            <a:r>
              <a:rPr lang="en-US" dirty="0"/>
              <a:t> </a:t>
            </a:r>
            <a:r>
              <a:rPr lang="en-US" b="1" dirty="0"/>
              <a:t>Need to regain the lost confidence </a:t>
            </a:r>
          </a:p>
          <a:p>
            <a:pPr>
              <a:buFontTx/>
              <a:buChar char="-"/>
            </a:pPr>
            <a:r>
              <a:rPr lang="en-US" sz="2400" dirty="0"/>
              <a:t>First correct the problem right away </a:t>
            </a:r>
          </a:p>
          <a:p>
            <a:pPr>
              <a:buFontTx/>
              <a:buChar char="-"/>
            </a:pPr>
            <a:r>
              <a:rPr lang="en-US" sz="2400" b="1" dirty="0"/>
              <a:t> </a:t>
            </a:r>
            <a:r>
              <a:rPr lang="en-US" sz="2400" dirty="0"/>
              <a:t>Tell your reader what has been done as convincingly and positively as you can </a:t>
            </a:r>
          </a:p>
          <a:p>
            <a:pPr>
              <a:buFontTx/>
              <a:buChar char="-"/>
            </a:pPr>
            <a:r>
              <a:rPr lang="en-US" sz="2400" dirty="0"/>
              <a:t>If what went wrong was a rare and an unavoidable situation, you should explain it</a:t>
            </a:r>
          </a:p>
          <a:p>
            <a:pPr>
              <a:buFontTx/>
              <a:buChar char="-"/>
            </a:pPr>
            <a:r>
              <a:rPr lang="en-US" sz="2400" dirty="0"/>
              <a:t>You can also tell how the product should be used </a:t>
            </a:r>
          </a:p>
          <a:p>
            <a:pPr>
              <a:buFontTx/>
              <a:buChar char="-"/>
            </a:pPr>
            <a:r>
              <a:rPr lang="en-US" sz="2400" dirty="0"/>
              <a:t>All in all, you should be truthful, professional and reader focused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82691"/>
          </a:xfrm>
        </p:spPr>
        <p:txBody>
          <a:bodyPr>
            <a:normAutofit fontScale="90000"/>
          </a:bodyPr>
          <a:lstStyle/>
          <a:p>
            <a:r>
              <a:rPr lang="en-US" dirty="0"/>
              <a:t>Example </a:t>
            </a:r>
          </a:p>
        </p:txBody>
      </p:sp>
      <p:sp>
        <p:nvSpPr>
          <p:cNvPr id="3" name="Content Placeholder 2"/>
          <p:cNvSpPr>
            <a:spLocks noGrp="1"/>
          </p:cNvSpPr>
          <p:nvPr>
            <p:ph idx="1"/>
          </p:nvPr>
        </p:nvSpPr>
        <p:spPr>
          <a:xfrm>
            <a:off x="457200" y="1257732"/>
            <a:ext cx="8229600" cy="5066868"/>
          </a:xfrm>
        </p:spPr>
        <p:txBody>
          <a:bodyPr>
            <a:normAutofit fontScale="92500" lnSpcReduction="20000"/>
          </a:bodyPr>
          <a:lstStyle/>
          <a:p>
            <a:pPr>
              <a:buNone/>
            </a:pPr>
            <a:r>
              <a:rPr lang="en-US" sz="2000" i="1" dirty="0"/>
              <a:t>    Dear Mr. </a:t>
            </a:r>
            <a:r>
              <a:rPr lang="en-US" sz="2000" i="1" dirty="0" err="1"/>
              <a:t>Asif</a:t>
            </a:r>
            <a:r>
              <a:rPr lang="en-US" sz="2000" i="1" dirty="0"/>
              <a:t>: </a:t>
            </a:r>
            <a:br>
              <a:rPr lang="en-US" sz="2000" i="1" dirty="0"/>
            </a:br>
            <a:endParaRPr lang="en-US" sz="2000" i="1" dirty="0"/>
          </a:p>
          <a:p>
            <a:pPr>
              <a:buNone/>
            </a:pPr>
            <a:r>
              <a:rPr lang="en-US" sz="2000" i="1" dirty="0"/>
              <a:t>    We have received your May 1 claim reporting that our shipment of Old London lamppost lights reached you with 17 broken units. We regret the inconvenience and can understand your unhappiness. </a:t>
            </a:r>
            <a:br>
              <a:rPr lang="en-US" sz="2000" i="1" dirty="0"/>
            </a:br>
            <a:br>
              <a:rPr lang="en-US" sz="2000" i="1" dirty="0"/>
            </a:br>
            <a:r>
              <a:rPr lang="en-US" sz="2000" i="1" dirty="0"/>
              <a:t>Following our standard practices, we investigated the situation thoroughly. Apparently the fault is the result of an inexperienced temporary employee’s negligence. We have taken corrective measures to ensure that future shipments will be packed more carefully. </a:t>
            </a:r>
            <a:br>
              <a:rPr lang="en-US" sz="2000" i="1" dirty="0"/>
            </a:br>
            <a:br>
              <a:rPr lang="en-US" sz="2000" i="1" dirty="0"/>
            </a:br>
            <a:r>
              <a:rPr lang="en-US" sz="2000" i="1" dirty="0"/>
              <a:t>I am pleased to report that we are sending you replacements today. They should reach you before the sale begins. Our driver will pick up the broken units when he makes delivery. </a:t>
            </a:r>
          </a:p>
          <a:p>
            <a:pPr>
              <a:buNone/>
            </a:pPr>
            <a:endParaRPr lang="en-US" sz="2000" i="1" dirty="0"/>
          </a:p>
          <a:p>
            <a:pPr>
              <a:buNone/>
            </a:pPr>
            <a:r>
              <a:rPr lang="en-US" sz="2000" i="1" dirty="0"/>
              <a:t>	Again, we regret all the trouble caused. </a:t>
            </a:r>
          </a:p>
          <a:p>
            <a:pPr>
              <a:buNone/>
            </a:pPr>
            <a:endParaRPr lang="en-US" sz="2000" i="1" dirty="0"/>
          </a:p>
          <a:p>
            <a:pPr>
              <a:buNone/>
            </a:pPr>
            <a:r>
              <a:rPr lang="en-US" sz="2000" i="1" dirty="0"/>
              <a:t>	</a:t>
            </a:r>
            <a:r>
              <a:rPr lang="en-US" sz="2000" i="1" dirty="0" err="1"/>
              <a:t>Shahriar</a:t>
            </a:r>
            <a:r>
              <a:rPr lang="en-US" sz="2000" i="1" dirty="0"/>
              <a:t> </a:t>
            </a:r>
            <a:r>
              <a:rPr lang="en-US" sz="2000" i="1" dirty="0" err="1"/>
              <a:t>Hasan</a:t>
            </a:r>
            <a:r>
              <a:rPr lang="en-US" sz="2000" i="1" dirty="0"/>
              <a:t>   </a:t>
            </a:r>
          </a:p>
          <a:p>
            <a:pPr>
              <a:buNone/>
            </a:pP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the message </a:t>
            </a:r>
          </a:p>
        </p:txBody>
      </p:sp>
      <p:sp>
        <p:nvSpPr>
          <p:cNvPr id="3" name="Content Placeholder 2"/>
          <p:cNvSpPr>
            <a:spLocks noGrp="1"/>
          </p:cNvSpPr>
          <p:nvPr>
            <p:ph idx="1"/>
          </p:nvPr>
        </p:nvSpPr>
        <p:spPr/>
        <p:txBody>
          <a:bodyPr/>
          <a:lstStyle/>
          <a:p>
            <a:r>
              <a:rPr lang="en-US" dirty="0"/>
              <a:t> Indirect approach </a:t>
            </a:r>
          </a:p>
          <a:p>
            <a:r>
              <a:rPr lang="en-US" dirty="0"/>
              <a:t>It didn’t start with the good news </a:t>
            </a:r>
          </a:p>
          <a:p>
            <a:r>
              <a:rPr lang="en-US" dirty="0"/>
              <a:t>Apologizes twice and risk the negative effect </a:t>
            </a:r>
          </a:p>
          <a:p>
            <a:r>
              <a:rPr lang="en-US" dirty="0"/>
              <a:t>A lot of negative elements </a:t>
            </a:r>
          </a:p>
          <a:p>
            <a:r>
              <a:rPr lang="en-US" dirty="0"/>
              <a:t>Recalling the situation again and again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task </a:t>
            </a:r>
          </a:p>
        </p:txBody>
      </p:sp>
      <p:sp>
        <p:nvSpPr>
          <p:cNvPr id="3" name="Content Placeholder 2"/>
          <p:cNvSpPr>
            <a:spLocks noGrp="1"/>
          </p:cNvSpPr>
          <p:nvPr>
            <p:ph idx="1"/>
          </p:nvPr>
        </p:nvSpPr>
        <p:spPr/>
        <p:txBody>
          <a:bodyPr/>
          <a:lstStyle/>
          <a:p>
            <a:r>
              <a:rPr lang="en-US" dirty="0"/>
              <a:t>Establish a direct message in order to overcome the negative impressions and regain the lost confidence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2588"/>
            <a:ext cx="8229600" cy="819870"/>
          </a:xfrm>
        </p:spPr>
        <p:txBody>
          <a:bodyPr/>
          <a:lstStyle/>
          <a:p>
            <a:r>
              <a:rPr lang="en-US" dirty="0"/>
              <a:t>Direct Approach </a:t>
            </a:r>
          </a:p>
        </p:txBody>
      </p:sp>
      <p:sp>
        <p:nvSpPr>
          <p:cNvPr id="3" name="Content Placeholder 2"/>
          <p:cNvSpPr>
            <a:spLocks noGrp="1"/>
          </p:cNvSpPr>
          <p:nvPr>
            <p:ph idx="1"/>
          </p:nvPr>
        </p:nvSpPr>
        <p:spPr>
          <a:xfrm>
            <a:off x="457200" y="1196677"/>
            <a:ext cx="8229600" cy="5127923"/>
          </a:xfrm>
        </p:spPr>
        <p:txBody>
          <a:bodyPr>
            <a:normAutofit fontScale="92500" lnSpcReduction="20000"/>
          </a:bodyPr>
          <a:lstStyle/>
          <a:p>
            <a:pPr>
              <a:buNone/>
            </a:pPr>
            <a:r>
              <a:rPr lang="en-US" sz="2000" dirty="0"/>
              <a:t>     </a:t>
            </a:r>
            <a:r>
              <a:rPr lang="en-US" sz="2000" i="1" dirty="0"/>
              <a:t>Dear Mr. </a:t>
            </a:r>
            <a:r>
              <a:rPr lang="en-US" sz="2000" i="1" dirty="0" err="1"/>
              <a:t>Asif</a:t>
            </a:r>
            <a:r>
              <a:rPr lang="en-US" sz="2000" i="1" dirty="0"/>
              <a:t>:</a:t>
            </a:r>
          </a:p>
          <a:p>
            <a:pPr>
              <a:buNone/>
            </a:pPr>
            <a:endParaRPr lang="en-US" sz="2000" i="1" dirty="0"/>
          </a:p>
          <a:p>
            <a:pPr>
              <a:buNone/>
            </a:pPr>
            <a:r>
              <a:rPr lang="en-US" sz="2000" i="1" dirty="0"/>
              <a:t>     Seventeen carefully packed Old London lamppost lamps should reach your sales floor in time for your Saturday promotion. Our driver left our warehouse today with instructions to special deliver them to you on Friday. </a:t>
            </a:r>
          </a:p>
          <a:p>
            <a:pPr>
              <a:buNone/>
            </a:pPr>
            <a:r>
              <a:rPr lang="en-US" i="1" dirty="0"/>
              <a:t>    </a:t>
            </a:r>
            <a:r>
              <a:rPr lang="en-US" sz="2000" i="1" dirty="0"/>
              <a:t>Because your satisfaction with our service and product is important, we have thoroughly checked our shipping procedures. It appears that the shipment to you was packed by a temporary employee who was filling in for a hospitalized veteran packer. We now have our veteran packer back at work and have taken measures to to ensure better performance by  our temporary staff. </a:t>
            </a:r>
          </a:p>
          <a:p>
            <a:pPr>
              <a:buNone/>
            </a:pPr>
            <a:r>
              <a:rPr lang="en-US" sz="2000" i="1" dirty="0"/>
              <a:t>     </a:t>
            </a:r>
            <a:br>
              <a:rPr lang="en-US" sz="2000" i="1" dirty="0"/>
            </a:br>
            <a:r>
              <a:rPr lang="en-US" sz="2000" i="1" dirty="0"/>
              <a:t>As you know, the Old London lamppost lights have become one of the hottest products in the lighting field. We are confident they will contribute to the success of your sale. </a:t>
            </a:r>
          </a:p>
          <a:p>
            <a:pPr>
              <a:buNone/>
            </a:pPr>
            <a:endParaRPr lang="en-US" sz="2000" i="1" dirty="0"/>
          </a:p>
          <a:p>
            <a:pPr>
              <a:buNone/>
            </a:pPr>
            <a:r>
              <a:rPr lang="en-US" sz="2000" i="1" dirty="0"/>
              <a:t>     Thanks,</a:t>
            </a:r>
          </a:p>
          <a:p>
            <a:pPr>
              <a:buNone/>
            </a:pPr>
            <a:r>
              <a:rPr lang="en-US" sz="2000" i="1" dirty="0"/>
              <a:t>     </a:t>
            </a:r>
            <a:r>
              <a:rPr lang="en-US" sz="2000" i="1" dirty="0" err="1"/>
              <a:t>Shahriar</a:t>
            </a:r>
            <a:r>
              <a:rPr lang="en-US" sz="2000" i="1" dirty="0"/>
              <a:t> </a:t>
            </a:r>
            <a:r>
              <a:rPr lang="en-US" sz="2000" i="1" dirty="0" err="1"/>
              <a:t>Hossain</a:t>
            </a:r>
            <a:endParaRPr lang="en-US" sz="2000" i="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a:p>
          <a:p>
            <a:pPr>
              <a:buNone/>
            </a:pPr>
            <a:endParaRPr lang="en-US" dirty="0"/>
          </a:p>
          <a:p>
            <a:pPr>
              <a:buNone/>
            </a:pPr>
            <a:endParaRPr lang="en-US" dirty="0"/>
          </a:p>
          <a:p>
            <a:pPr>
              <a:buNone/>
            </a:pPr>
            <a:r>
              <a:rPr lang="en-US" dirty="0"/>
              <a:t>				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ＭＳ Ｐ明朝"/>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Flow.thmx</Template>
  <TotalTime>2223</TotalTime>
  <Words>3435</Words>
  <Application>Microsoft Office PowerPoint</Application>
  <PresentationFormat>On-screen Show (4:3)</PresentationFormat>
  <Paragraphs>325</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Calibri</vt:lpstr>
      <vt:lpstr>Constantia</vt:lpstr>
      <vt:lpstr>Wingdings</vt:lpstr>
      <vt:lpstr>Wingdings 2</vt:lpstr>
      <vt:lpstr>Flow</vt:lpstr>
      <vt:lpstr>Getting to the Point in Good-News and Neutral Messages </vt:lpstr>
      <vt:lpstr>Good News and Neutral Messages </vt:lpstr>
      <vt:lpstr>Types of Organizational Plans</vt:lpstr>
      <vt:lpstr>How to Decide on the Plan?</vt:lpstr>
      <vt:lpstr>Direct Plan</vt:lpstr>
      <vt:lpstr>Examples of Good-News and Neutral Messages </vt:lpstr>
      <vt:lpstr>Routine Enquiries </vt:lpstr>
      <vt:lpstr>The General Direct Plan for Routine Enquiries: Asking for Information </vt:lpstr>
      <vt:lpstr> Beginning with the Objective  </vt:lpstr>
      <vt:lpstr>Beginning with the Objective (cont.)</vt:lpstr>
      <vt:lpstr>Beginning with the Objective (cont.)</vt:lpstr>
      <vt:lpstr>Covering the Remaining Part of Objective </vt:lpstr>
      <vt:lpstr>Covering the Remaining Part of Objective (cont.)</vt:lpstr>
      <vt:lpstr>Ending with Goodwill</vt:lpstr>
      <vt:lpstr>               Example: Asking for Information </vt:lpstr>
      <vt:lpstr>Features of Previous Message </vt:lpstr>
      <vt:lpstr>Your Turn </vt:lpstr>
      <vt:lpstr>An Effective and Direct Message</vt:lpstr>
      <vt:lpstr>Identify the Message Being Answered: Give Information </vt:lpstr>
      <vt:lpstr>Begin with the Answer </vt:lpstr>
      <vt:lpstr>Logically Arranging the Answers </vt:lpstr>
      <vt:lpstr>Skillfully Handling the Negative  </vt:lpstr>
      <vt:lpstr>Skillfully Handling the Negative </vt:lpstr>
      <vt:lpstr>Considering Extras</vt:lpstr>
      <vt:lpstr>Closing Cordially </vt:lpstr>
      <vt:lpstr>Example: Giving Information</vt:lpstr>
      <vt:lpstr>Features of Previous Message </vt:lpstr>
      <vt:lpstr>Your Turn </vt:lpstr>
      <vt:lpstr>An Effective and Direct Response </vt:lpstr>
      <vt:lpstr>Features of previous message </vt:lpstr>
      <vt:lpstr>Building Goodwill with a “Thank-You” Message</vt:lpstr>
      <vt:lpstr>How to Establish the Acknowledgements </vt:lpstr>
      <vt:lpstr>How to Establish the Acknowledgements </vt:lpstr>
      <vt:lpstr>Tact in order acknowledgement </vt:lpstr>
      <vt:lpstr>Tact in Order Acknowledgement (cont.) </vt:lpstr>
      <vt:lpstr>Examples </vt:lpstr>
      <vt:lpstr>Features of the previous acknowledgment </vt:lpstr>
      <vt:lpstr>Your task </vt:lpstr>
      <vt:lpstr>Example </vt:lpstr>
      <vt:lpstr>Direct Claims </vt:lpstr>
      <vt:lpstr>Using Directness for Claims (cont.) </vt:lpstr>
      <vt:lpstr>Examples </vt:lpstr>
      <vt:lpstr>Feature of the messages </vt:lpstr>
      <vt:lpstr>Your task </vt:lpstr>
      <vt:lpstr>Direct approach </vt:lpstr>
      <vt:lpstr>Adjustment Grants </vt:lpstr>
      <vt:lpstr>Consider Special Needs </vt:lpstr>
      <vt:lpstr>Consider the Special Needs (cont.)</vt:lpstr>
      <vt:lpstr>Example </vt:lpstr>
      <vt:lpstr>Features of the message </vt:lpstr>
      <vt:lpstr>Your task </vt:lpstr>
      <vt:lpstr>Direct Approach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Sandra Pontjowardojo</dc:creator>
  <cp:lastModifiedBy>Md Mesbah</cp:lastModifiedBy>
  <cp:revision>48</cp:revision>
  <dcterms:created xsi:type="dcterms:W3CDTF">2016-02-15T05:57:08Z</dcterms:created>
  <dcterms:modified xsi:type="dcterms:W3CDTF">2022-02-04T14:16:15Z</dcterms:modified>
</cp:coreProperties>
</file>