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6858000" cx="9144000"/>
  <p:notesSz cx="6858000" cy="9144000"/>
  <p:embeddedFontLst>
    <p:embeddedFont>
      <p:font typeface="Tahoma"/>
      <p:regular r:id="rId50"/>
      <p:bold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2" roundtripDataSignature="AMtx7mjnHklI3Qx91UskOxrFN6u5Wilt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Tahoma-bold.fntdata"/><Relationship Id="rId50" Type="http://schemas.openxmlformats.org/officeDocument/2006/relationships/font" Target="fonts/Tahoma-regular.fntdata"/><Relationship Id="rId52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" name="Google Shape;310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" name="Google Shape;33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1" name="Google Shape;34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1" name="Google Shape;35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8" name="Google Shape;368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9" name="Google Shape;36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3" name="Google Shape;403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4" name="Google Shape;40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8" name="Google Shape;438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9" name="Google Shape;43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7" name="Google Shape;467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8" name="Google Shape;46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6" name="Google Shape;496;p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7" name="Google Shape;49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4" name="Google Shape;504;p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5" name="Google Shape;50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6" name="Google Shape;526;p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7" name="Google Shape;52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5" name="Google Shape;575;p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6" name="Google Shape;57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7" name="Google Shape;607;p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8" name="Google Shape;608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6" name="Google Shape;676;p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7" name="Google Shape;677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4" name="Google Shape;684;p3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5" name="Google Shape;68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2" name="Google Shape;692;p3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3" name="Google Shape;693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0" name="Google Shape;700;p3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1" name="Google Shape;70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8" name="Google Shape;708;p4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9" name="Google Shape;709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6" name="Google Shape;716;p4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7" name="Google Shape;717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4" name="Google Shape;724;p4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5" name="Google Shape;725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2" name="Google Shape;732;p4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3" name="Google Shape;733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4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6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6"/>
          <p:cNvSpPr txBox="1"/>
          <p:nvPr>
            <p:ph type="ctr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6"/>
          <p:cNvSpPr txBox="1"/>
          <p:nvPr>
            <p:ph idx="1" type="subTitle"/>
          </p:nvPr>
        </p:nvSpPr>
        <p:spPr>
          <a:xfrm>
            <a:off x="825038" y="4455621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46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6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6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6" name="Google Shape;26;p46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7"/>
          <p:cNvSpPr txBox="1"/>
          <p:nvPr>
            <p:ph idx="1" type="body"/>
          </p:nvPr>
        </p:nvSpPr>
        <p:spPr>
          <a:xfrm>
            <a:off x="457200" y="1223151"/>
            <a:ext cx="8229600" cy="4872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 "/>
              <a:defRPr sz="2400">
                <a:solidFill>
                  <a:schemeClr val="dk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Font typeface="Noto Sans Symbols"/>
              <a:buChar char="▪"/>
              <a:defRPr sz="2400">
                <a:solidFill>
                  <a:schemeClr val="dk1"/>
                </a:solidFill>
              </a:defRPr>
            </a:lvl2pPr>
            <a:lvl3pPr indent="-3810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Arial"/>
              <a:buChar char="•"/>
              <a:defRPr sz="2400">
                <a:solidFill>
                  <a:schemeClr val="dk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9" name="Google Shape;29;p47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7"/>
          <p:cNvSpPr/>
          <p:nvPr/>
        </p:nvSpPr>
        <p:spPr>
          <a:xfrm>
            <a:off x="0" y="6324600"/>
            <a:ext cx="9144000" cy="533400"/>
          </a:xfrm>
          <a:prstGeom prst="rect">
            <a:avLst/>
          </a:prstGeom>
          <a:solidFill>
            <a:schemeClr val="accent2"/>
          </a:solidFill>
          <a:ln cap="flat" cmpd="sng" w="15875">
            <a:solidFill>
              <a:srgbClr val="6F94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7"/>
          <p:cNvSpPr/>
          <p:nvPr/>
        </p:nvSpPr>
        <p:spPr>
          <a:xfrm>
            <a:off x="0" y="6246424"/>
            <a:ext cx="9144000" cy="116275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6F94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" name="Google Shape;32;p47"/>
          <p:cNvCxnSpPr/>
          <p:nvPr/>
        </p:nvCxnSpPr>
        <p:spPr>
          <a:xfrm flipH="1" rot="10800000">
            <a:off x="-31376" y="1136999"/>
            <a:ext cx="9175376" cy="1094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47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 type="txAndTwoObj">
  <p:cSld name="TEXT_AND_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8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8"/>
          <p:cNvSpPr txBox="1"/>
          <p:nvPr>
            <p:ph idx="1" type="body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7" name="Google Shape;37;p48"/>
          <p:cNvSpPr txBox="1"/>
          <p:nvPr>
            <p:ph idx="2" type="body"/>
          </p:nvPr>
        </p:nvSpPr>
        <p:spPr>
          <a:xfrm>
            <a:off x="4648200" y="1981200"/>
            <a:ext cx="38100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8" name="Google Shape;38;p48"/>
          <p:cNvSpPr txBox="1"/>
          <p:nvPr>
            <p:ph idx="3" type="body"/>
          </p:nvPr>
        </p:nvSpPr>
        <p:spPr>
          <a:xfrm>
            <a:off x="4648200" y="4114800"/>
            <a:ext cx="38100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9" name="Google Shape;39;p48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8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8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9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9"/>
          <p:cNvSpPr txBox="1"/>
          <p:nvPr>
            <p:ph idx="1" type="body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5" name="Google Shape;45;p49"/>
          <p:cNvSpPr txBox="1"/>
          <p:nvPr>
            <p:ph idx="2" type="body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6" name="Google Shape;46;p49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9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9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0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0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0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0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0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1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1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1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1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2"/>
          <p:cNvSpPr/>
          <p:nvPr/>
        </p:nvSpPr>
        <p:spPr>
          <a:xfrm>
            <a:off x="-8965" y="6413748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2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2"/>
          <p:cNvSpPr txBox="1"/>
          <p:nvPr>
            <p:ph type="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2"/>
          <p:cNvSpPr txBox="1"/>
          <p:nvPr>
            <p:ph idx="1" type="body"/>
          </p:nvPr>
        </p:nvSpPr>
        <p:spPr>
          <a:xfrm>
            <a:off x="822960" y="4453128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5" name="Google Shape;65;p52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2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2"/>
          <p:cNvSpPr txBox="1"/>
          <p:nvPr>
            <p:ph idx="12" type="sldNum"/>
          </p:nvPr>
        </p:nvSpPr>
        <p:spPr>
          <a:xfrm>
            <a:off x="7924800" y="6428574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8" name="Google Shape;68;p52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3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3"/>
          <p:cNvSpPr txBox="1"/>
          <p:nvPr>
            <p:ph idx="1" type="body"/>
          </p:nvPr>
        </p:nvSpPr>
        <p:spPr>
          <a:xfrm>
            <a:off x="822960" y="1845734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2" name="Google Shape;72;p53"/>
          <p:cNvSpPr txBox="1"/>
          <p:nvPr>
            <p:ph idx="2" type="body"/>
          </p:nvPr>
        </p:nvSpPr>
        <p:spPr>
          <a:xfrm>
            <a:off x="4663440" y="1845735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3" name="Google Shape;73;p53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3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53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4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4"/>
          <p:cNvSpPr txBox="1"/>
          <p:nvPr>
            <p:ph idx="1" type="body"/>
          </p:nvPr>
        </p:nvSpPr>
        <p:spPr>
          <a:xfrm>
            <a:off x="82296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9" name="Google Shape;79;p54"/>
          <p:cNvSpPr txBox="1"/>
          <p:nvPr>
            <p:ph idx="2" type="body"/>
          </p:nvPr>
        </p:nvSpPr>
        <p:spPr>
          <a:xfrm>
            <a:off x="822960" y="2582334"/>
            <a:ext cx="370332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0" name="Google Shape;80;p54"/>
          <p:cNvSpPr txBox="1"/>
          <p:nvPr>
            <p:ph idx="3" type="body"/>
          </p:nvPr>
        </p:nvSpPr>
        <p:spPr>
          <a:xfrm>
            <a:off x="466344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1" name="Google Shape;81;p54"/>
          <p:cNvSpPr txBox="1"/>
          <p:nvPr>
            <p:ph idx="4" type="body"/>
          </p:nvPr>
        </p:nvSpPr>
        <p:spPr>
          <a:xfrm>
            <a:off x="4663440" y="2582334"/>
            <a:ext cx="370332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2" name="Google Shape;82;p54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4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4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5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5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5"/>
          <p:cNvSpPr txBox="1"/>
          <p:nvPr>
            <p:ph type="title"/>
          </p:nvPr>
        </p:nvSpPr>
        <p:spPr>
          <a:xfrm>
            <a:off x="342900" y="594359"/>
            <a:ext cx="24003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5"/>
          <p:cNvSpPr txBox="1"/>
          <p:nvPr>
            <p:ph idx="1" type="body"/>
          </p:nvPr>
        </p:nvSpPr>
        <p:spPr>
          <a:xfrm>
            <a:off x="3600450" y="731520"/>
            <a:ext cx="486918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0" name="Google Shape;90;p55"/>
          <p:cNvSpPr txBox="1"/>
          <p:nvPr>
            <p:ph idx="2" type="body"/>
          </p:nvPr>
        </p:nvSpPr>
        <p:spPr>
          <a:xfrm>
            <a:off x="342900" y="2926080"/>
            <a:ext cx="24003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1" name="Google Shape;91;p55"/>
          <p:cNvSpPr txBox="1"/>
          <p:nvPr>
            <p:ph idx="10" type="dt"/>
          </p:nvPr>
        </p:nvSpPr>
        <p:spPr>
          <a:xfrm>
            <a:off x="349134" y="6459786"/>
            <a:ext cx="1963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5"/>
          <p:cNvSpPr txBox="1"/>
          <p:nvPr>
            <p:ph idx="11" type="ftr"/>
          </p:nvPr>
        </p:nvSpPr>
        <p:spPr>
          <a:xfrm>
            <a:off x="3600450" y="6459786"/>
            <a:ext cx="3486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5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6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6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6"/>
          <p:cNvSpPr txBox="1"/>
          <p:nvPr>
            <p:ph type="title"/>
          </p:nvPr>
        </p:nvSpPr>
        <p:spPr>
          <a:xfrm>
            <a:off x="822960" y="5074920"/>
            <a:ext cx="7585234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6"/>
          <p:cNvSpPr/>
          <p:nvPr>
            <p:ph idx="2" type="pic"/>
          </p:nvPr>
        </p:nvSpPr>
        <p:spPr>
          <a:xfrm>
            <a:off x="12" y="0"/>
            <a:ext cx="9143989" cy="4915076"/>
          </a:xfrm>
          <a:prstGeom prst="rect">
            <a:avLst/>
          </a:prstGeom>
          <a:solidFill>
            <a:srgbClr val="D2CDB0"/>
          </a:solidFill>
          <a:ln>
            <a:noFill/>
          </a:ln>
        </p:spPr>
      </p:sp>
      <p:sp>
        <p:nvSpPr>
          <p:cNvPr id="99" name="Google Shape;99;p56"/>
          <p:cNvSpPr txBox="1"/>
          <p:nvPr>
            <p:ph idx="1" type="body"/>
          </p:nvPr>
        </p:nvSpPr>
        <p:spPr>
          <a:xfrm>
            <a:off x="822960" y="5907024"/>
            <a:ext cx="7589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0" name="Google Shape;100;p56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56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56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7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57"/>
          <p:cNvSpPr txBox="1"/>
          <p:nvPr>
            <p:ph idx="1" type="body"/>
          </p:nvPr>
        </p:nvSpPr>
        <p:spPr>
          <a:xfrm rot="5400000">
            <a:off x="2583179" y="85514"/>
            <a:ext cx="4023360" cy="7543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6" name="Google Shape;106;p57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57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57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8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8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8"/>
          <p:cNvSpPr txBox="1"/>
          <p:nvPr>
            <p:ph type="title"/>
          </p:nvPr>
        </p:nvSpPr>
        <p:spPr>
          <a:xfrm rot="5400000">
            <a:off x="4649564" y="2306414"/>
            <a:ext cx="575989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8"/>
          <p:cNvSpPr txBox="1"/>
          <p:nvPr>
            <p:ph idx="1" type="body"/>
          </p:nvPr>
        </p:nvSpPr>
        <p:spPr>
          <a:xfrm rot="5400000">
            <a:off x="649064" y="391889"/>
            <a:ext cx="575989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14" name="Google Shape;114;p58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58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58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45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45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45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5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45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45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45"/>
          <p:cNvCxnSpPr/>
          <p:nvPr/>
        </p:nvCxnSpPr>
        <p:spPr>
          <a:xfrm>
            <a:off x="895149" y="1737845"/>
            <a:ext cx="74752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"/>
          <p:cNvSpPr txBox="1"/>
          <p:nvPr>
            <p:ph type="ctrTitle"/>
          </p:nvPr>
        </p:nvSpPr>
        <p:spPr>
          <a:xfrm>
            <a:off x="928036" y="2895600"/>
            <a:ext cx="7543800" cy="12771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Tahoma"/>
              <a:buNone/>
            </a:pPr>
            <a:r>
              <a:rPr b="1" lang="en-US" sz="4400">
                <a:latin typeface="Tahoma"/>
                <a:ea typeface="Tahoma"/>
                <a:cs typeface="Tahoma"/>
                <a:sym typeface="Tahoma"/>
              </a:rPr>
              <a:t>Theory of Computing</a:t>
            </a:r>
            <a:br>
              <a:rPr b="1" lang="en-US" sz="4400">
                <a:latin typeface="Tahoma"/>
                <a:ea typeface="Tahoma"/>
                <a:cs typeface="Tahoma"/>
                <a:sym typeface="Tahoma"/>
              </a:rPr>
            </a:br>
            <a:r>
              <a:rPr b="1" lang="en-US" sz="4400">
                <a:latin typeface="Tahoma"/>
                <a:ea typeface="Tahoma"/>
                <a:cs typeface="Tahoma"/>
                <a:sym typeface="Tahoma"/>
              </a:rPr>
              <a:t>SE-2112</a:t>
            </a:r>
            <a:endParaRPr b="1" sz="4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2" name="Google Shape;122;p1"/>
          <p:cNvSpPr txBox="1"/>
          <p:nvPr>
            <p:ph idx="1" type="subTitle"/>
          </p:nvPr>
        </p:nvSpPr>
        <p:spPr>
          <a:xfrm>
            <a:off x="914400" y="4528446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-US" cap="none">
                <a:latin typeface="Tahoma"/>
                <a:ea typeface="Tahoma"/>
                <a:cs typeface="Tahoma"/>
                <a:sym typeface="Tahoma"/>
              </a:rPr>
              <a:t>Lecture-3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1" cap="none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b="1" lang="en-US" cap="none">
                <a:latin typeface="Tahoma"/>
                <a:ea typeface="Tahoma"/>
                <a:cs typeface="Tahoma"/>
                <a:sym typeface="Tahoma"/>
              </a:rPr>
              <a:t>Dr. Naushin Nower</a:t>
            </a:r>
            <a:endParaRPr b="1" cap="none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3" name="Google Shape;123;p1"/>
          <p:cNvSpPr/>
          <p:nvPr/>
        </p:nvSpPr>
        <p:spPr>
          <a:xfrm>
            <a:off x="0" y="-12834"/>
            <a:ext cx="9144000" cy="457200"/>
          </a:xfrm>
          <a:prstGeom prst="rect">
            <a:avLst/>
          </a:prstGeom>
          <a:gradFill>
            <a:gsLst>
              <a:gs pos="0">
                <a:srgbClr val="33BDFE"/>
              </a:gs>
              <a:gs pos="34000">
                <a:srgbClr val="38BEFC"/>
              </a:gs>
              <a:gs pos="70000">
                <a:srgbClr val="35C1FF"/>
              </a:gs>
              <a:gs pos="100000">
                <a:srgbClr val="48C6FF"/>
              </a:gs>
            </a:gsLst>
            <a:path path="circle">
              <a:fillToRect b="50%" l="50%" r="50%" t="50%"/>
            </a:path>
            <a:tileRect/>
          </a:gra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r" dir="2700000" dist="254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"/>
          <p:cNvSpPr txBox="1"/>
          <p:nvPr>
            <p:ph idx="1" type="body"/>
          </p:nvPr>
        </p:nvSpPr>
        <p:spPr>
          <a:xfrm>
            <a:off x="457200" y="1223151"/>
            <a:ext cx="8229600" cy="5101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92500" lnSpcReduction="20000"/>
          </a:bodyPr>
          <a:lstStyle/>
          <a:p>
            <a:pPr indent="-164465" lvl="0" marL="9144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lang="en-US" sz="2800">
                <a:solidFill>
                  <a:schemeClr val="dk1"/>
                </a:solidFill>
              </a:rPr>
              <a:t>Finite automata are machine-like descriptions of languages</a:t>
            </a:r>
            <a:endParaRPr/>
          </a:p>
          <a:p>
            <a:pPr indent="-164465" lvl="0" marL="9144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2800">
                <a:solidFill>
                  <a:schemeClr val="dk1"/>
                </a:solidFill>
              </a:rPr>
              <a:t>Alternative: declarative description</a:t>
            </a:r>
            <a:endParaRPr/>
          </a:p>
          <a:p>
            <a:pPr indent="-164465" lvl="0" marL="9144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i="1" lang="en-US" sz="2800">
                <a:solidFill>
                  <a:srgbClr val="FF0000"/>
                </a:solidFill>
              </a:rPr>
              <a:t>Regular expressions</a:t>
            </a:r>
            <a:r>
              <a:rPr lang="en-US" sz="2800">
                <a:solidFill>
                  <a:srgbClr val="FF0000"/>
                </a:solidFill>
              </a:rPr>
              <a:t>  </a:t>
            </a:r>
            <a:r>
              <a:rPr lang="en-US" sz="2800">
                <a:solidFill>
                  <a:schemeClr val="dk1"/>
                </a:solidFill>
              </a:rPr>
              <a:t>are an algebraic way to describe languages.</a:t>
            </a:r>
            <a:endParaRPr/>
          </a:p>
          <a:p>
            <a:pPr indent="-152717" lvl="0" marL="9144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2600">
                <a:solidFill>
                  <a:schemeClr val="dk1"/>
                </a:solidFill>
              </a:rPr>
              <a:t>They describe exactly the regular languages.</a:t>
            </a:r>
            <a:endParaRPr/>
          </a:p>
          <a:p>
            <a:pPr indent="-152717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2600">
                <a:solidFill>
                  <a:schemeClr val="dk1"/>
                </a:solidFill>
              </a:rPr>
              <a:t>Notation to specify a language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▪"/>
            </a:pPr>
            <a:r>
              <a:rPr lang="en-US" sz="2600">
                <a:solidFill>
                  <a:schemeClr val="dk1"/>
                </a:solidFill>
              </a:rPr>
              <a:t>Capable of describing the same thing as a NFA</a:t>
            </a:r>
            <a:endParaRPr/>
          </a:p>
          <a:p>
            <a:pPr indent="0" lvl="2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US" sz="2600">
                <a:solidFill>
                  <a:schemeClr val="dk1"/>
                </a:solidFill>
              </a:rPr>
              <a:t>The two are actually equivalent, so RE = NFA = DFA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▪"/>
            </a:pPr>
            <a:r>
              <a:rPr lang="en-US" sz="2600">
                <a:solidFill>
                  <a:schemeClr val="dk1"/>
                </a:solidFill>
              </a:rPr>
              <a:t>We can define an algebra for regular expressions</a:t>
            </a:r>
            <a:endParaRPr/>
          </a:p>
          <a:p>
            <a:pPr indent="-30162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▪"/>
            </a:pPr>
            <a:r>
              <a:rPr lang="en-US" sz="2600">
                <a:solidFill>
                  <a:schemeClr val="dk1"/>
                </a:solidFill>
              </a:rPr>
              <a:t>Specifying a language using expressions and operations</a:t>
            </a:r>
            <a:endParaRPr/>
          </a:p>
          <a:p>
            <a:pPr indent="-30162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▪"/>
            </a:pPr>
            <a:r>
              <a:rPr lang="en-US" sz="2400">
                <a:solidFill>
                  <a:schemeClr val="dk1"/>
                </a:solidFill>
              </a:rPr>
              <a:t>Example:  01* + 10*  defines the language containing strings such as 01111, 100, 0, 1000000;  * and + are operators in this “algebra”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i="1"/>
          </a:p>
        </p:txBody>
      </p:sp>
      <p:sp>
        <p:nvSpPr>
          <p:cNvPr id="129" name="Google Shape;129;p2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i="1" lang="en-US">
                <a:solidFill>
                  <a:schemeClr val="dk1"/>
                </a:solidFill>
              </a:rPr>
              <a:t>Regular expressions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30" name="Google Shape;130;p2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/>
          <p:cNvSpPr txBox="1"/>
          <p:nvPr>
            <p:ph idx="1" type="body"/>
          </p:nvPr>
        </p:nvSpPr>
        <p:spPr>
          <a:xfrm>
            <a:off x="457200" y="1223151"/>
            <a:ext cx="8229600" cy="4872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778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sz="2800"/>
              <a:t>Regular expressions denote language.</a:t>
            </a:r>
            <a:endParaRPr sz="2800"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US"/>
              <a:t>Given that R</a:t>
            </a:r>
            <a:r>
              <a:rPr baseline="-25000" lang="en-US"/>
              <a:t>1</a:t>
            </a:r>
            <a:r>
              <a:rPr lang="en-US"/>
              <a:t> and R</a:t>
            </a:r>
            <a:r>
              <a:rPr baseline="-25000" lang="en-US"/>
              <a:t>2</a:t>
            </a:r>
            <a:r>
              <a:rPr lang="en-US"/>
              <a:t> are regular expressions, regular expressions are built from the following operations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 Union: R</a:t>
            </a:r>
            <a:r>
              <a:rPr baseline="-25000" lang="en-US"/>
              <a:t>1</a:t>
            </a:r>
            <a:r>
              <a:rPr lang="en-US"/>
              <a:t>+R</a:t>
            </a:r>
            <a:r>
              <a:rPr baseline="-25000" lang="en-US"/>
              <a:t>2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 Concatenation: R</a:t>
            </a:r>
            <a:r>
              <a:rPr baseline="-25000" lang="en-US"/>
              <a:t>1</a:t>
            </a:r>
            <a:r>
              <a:rPr lang="en-US"/>
              <a:t>R</a:t>
            </a:r>
            <a:r>
              <a:rPr baseline="-25000" lang="en-US"/>
              <a:t>2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 Kleene Star Closure: R</a:t>
            </a:r>
            <a:r>
              <a:rPr baseline="-25000" lang="en-US"/>
              <a:t>1</a:t>
            </a:r>
            <a:r>
              <a:rPr lang="en-US"/>
              <a:t>*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 Parentheses (to enforce precedence): (R</a:t>
            </a:r>
            <a:r>
              <a:rPr baseline="-25000" lang="en-US"/>
              <a:t>1</a:t>
            </a:r>
            <a:r>
              <a:rPr lang="en-US"/>
              <a:t>)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400"/>
              <a:buChar char=" "/>
            </a:pPr>
            <a:r>
              <a:rPr lang="en-US"/>
              <a:t>Nothing else is a regular expression unless it is built from the above rules 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36" name="Google Shape;136;p3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i="1" lang="en-US">
                <a:solidFill>
                  <a:schemeClr val="dk1"/>
                </a:solidFill>
              </a:rPr>
              <a:t>Regular expressions..</a:t>
            </a:r>
            <a:endParaRPr/>
          </a:p>
        </p:txBody>
      </p:sp>
      <p:sp>
        <p:nvSpPr>
          <p:cNvPr id="137" name="Google Shape;137;p3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1219200" y="2819400"/>
            <a:ext cx="762000" cy="99060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F94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4114800" y="2819400"/>
            <a:ext cx="838200" cy="99060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F94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4"/>
          <p:cNvCxnSpPr/>
          <p:nvPr/>
        </p:nvCxnSpPr>
        <p:spPr>
          <a:xfrm>
            <a:off x="1905000" y="3048000"/>
            <a:ext cx="2286000" cy="1588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7" name="Google Shape;147;p4"/>
          <p:cNvCxnSpPr/>
          <p:nvPr/>
        </p:nvCxnSpPr>
        <p:spPr>
          <a:xfrm>
            <a:off x="1905000" y="3505200"/>
            <a:ext cx="2286000" cy="1588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48" name="Google Shape;148;p4"/>
          <p:cNvSpPr txBox="1"/>
          <p:nvPr/>
        </p:nvSpPr>
        <p:spPr>
          <a:xfrm>
            <a:off x="2743200" y="26670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2819400" y="35814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1447800" y="3124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4343400" y="3124200"/>
            <a:ext cx="3064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5943600" y="2895600"/>
            <a:ext cx="838200" cy="99060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F94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4"/>
          <p:cNvCxnSpPr/>
          <p:nvPr/>
        </p:nvCxnSpPr>
        <p:spPr>
          <a:xfrm>
            <a:off x="4953000" y="3276600"/>
            <a:ext cx="990600" cy="1588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4" name="Google Shape;154;p4"/>
          <p:cNvSpPr/>
          <p:nvPr/>
        </p:nvSpPr>
        <p:spPr>
          <a:xfrm>
            <a:off x="5257800" y="3352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3429000" y="5029200"/>
            <a:ext cx="113685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(0+1)1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"/>
          <p:cNvSpPr txBox="1"/>
          <p:nvPr>
            <p:ph idx="1" type="body"/>
          </p:nvPr>
        </p:nvSpPr>
        <p:spPr>
          <a:xfrm>
            <a:off x="457200" y="1223151"/>
            <a:ext cx="8229600" cy="4872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1219200" y="2819400"/>
            <a:ext cx="762000" cy="99060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F94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114800" y="2819400"/>
            <a:ext cx="838200" cy="99060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F94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5"/>
          <p:cNvCxnSpPr/>
          <p:nvPr/>
        </p:nvCxnSpPr>
        <p:spPr>
          <a:xfrm>
            <a:off x="1828800" y="2895600"/>
            <a:ext cx="2286000" cy="1588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66" name="Google Shape;166;p5"/>
          <p:cNvSpPr txBox="1"/>
          <p:nvPr/>
        </p:nvSpPr>
        <p:spPr>
          <a:xfrm>
            <a:off x="2819400" y="35814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1447800" y="3124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4343400" y="3124200"/>
            <a:ext cx="3064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7010400" y="2438400"/>
            <a:ext cx="838200" cy="99060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F94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7315200" y="144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7159557" y="1892030"/>
            <a:ext cx="943583" cy="676072"/>
          </a:xfrm>
          <a:custGeom>
            <a:rect b="b" l="l" r="r" t="t"/>
            <a:pathLst>
              <a:path extrusionOk="0" h="676072" w="943583">
                <a:moveTo>
                  <a:pt x="0" y="676072"/>
                </a:moveTo>
                <a:cubicBezTo>
                  <a:pt x="10538" y="420721"/>
                  <a:pt x="21077" y="165370"/>
                  <a:pt x="165371" y="82685"/>
                </a:cubicBezTo>
                <a:cubicBezTo>
                  <a:pt x="309665" y="0"/>
                  <a:pt x="787941" y="97276"/>
                  <a:pt x="865762" y="179961"/>
                </a:cubicBezTo>
                <a:cubicBezTo>
                  <a:pt x="943583" y="262646"/>
                  <a:pt x="679315" y="499353"/>
                  <a:pt x="632298" y="578796"/>
                </a:cubicBezTo>
                <a:cubicBezTo>
                  <a:pt x="585281" y="658239"/>
                  <a:pt x="601494" y="642026"/>
                  <a:pt x="583660" y="656617"/>
                </a:cubicBezTo>
                <a:cubicBezTo>
                  <a:pt x="565826" y="671208"/>
                  <a:pt x="545560" y="668776"/>
                  <a:pt x="525294" y="666344"/>
                </a:cubicBezTo>
              </a:path>
            </a:pathLst>
          </a:cu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p5"/>
          <p:cNvCxnSpPr/>
          <p:nvPr/>
        </p:nvCxnSpPr>
        <p:spPr>
          <a:xfrm>
            <a:off x="1981200" y="3048000"/>
            <a:ext cx="2286000" cy="1588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1143000" y="2667000"/>
            <a:ext cx="762000" cy="99060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F94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6096000" y="2590800"/>
            <a:ext cx="762000" cy="99060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F94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3886200" y="3048000"/>
            <a:ext cx="762000" cy="68580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F94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6"/>
          <p:cNvCxnSpPr>
            <a:endCxn id="180" idx="1"/>
          </p:cNvCxnSpPr>
          <p:nvPr/>
        </p:nvCxnSpPr>
        <p:spPr>
          <a:xfrm flipH="1" rot="10800000">
            <a:off x="1752592" y="2735870"/>
            <a:ext cx="4455000" cy="8340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83" name="Google Shape;183;p6"/>
          <p:cNvCxnSpPr>
            <a:stCxn id="179" idx="6"/>
          </p:cNvCxnSpPr>
          <p:nvPr/>
        </p:nvCxnSpPr>
        <p:spPr>
          <a:xfrm>
            <a:off x="1905000" y="3162300"/>
            <a:ext cx="2057400" cy="19050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84" name="Google Shape;184;p6"/>
          <p:cNvCxnSpPr/>
          <p:nvPr/>
        </p:nvCxnSpPr>
        <p:spPr>
          <a:xfrm flipH="1" rot="10800000">
            <a:off x="4572000" y="3276600"/>
            <a:ext cx="1600200" cy="15240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85" name="Google Shape;185;p6"/>
          <p:cNvSpPr/>
          <p:nvPr/>
        </p:nvSpPr>
        <p:spPr>
          <a:xfrm rot="10160098">
            <a:off x="3788209" y="3739075"/>
            <a:ext cx="943583" cy="676072"/>
          </a:xfrm>
          <a:custGeom>
            <a:rect b="b" l="l" r="r" t="t"/>
            <a:pathLst>
              <a:path extrusionOk="0" h="676072" w="943583">
                <a:moveTo>
                  <a:pt x="0" y="676072"/>
                </a:moveTo>
                <a:cubicBezTo>
                  <a:pt x="10538" y="420721"/>
                  <a:pt x="21077" y="165370"/>
                  <a:pt x="165371" y="82685"/>
                </a:cubicBezTo>
                <a:cubicBezTo>
                  <a:pt x="309665" y="0"/>
                  <a:pt x="787941" y="97276"/>
                  <a:pt x="865762" y="179961"/>
                </a:cubicBezTo>
                <a:cubicBezTo>
                  <a:pt x="943583" y="262646"/>
                  <a:pt x="679315" y="499353"/>
                  <a:pt x="632298" y="578796"/>
                </a:cubicBezTo>
                <a:cubicBezTo>
                  <a:pt x="585281" y="658239"/>
                  <a:pt x="601494" y="642026"/>
                  <a:pt x="583660" y="656617"/>
                </a:cubicBezTo>
                <a:cubicBezTo>
                  <a:pt x="565826" y="671208"/>
                  <a:pt x="545560" y="668776"/>
                  <a:pt x="525294" y="666344"/>
                </a:cubicBezTo>
              </a:path>
            </a:pathLst>
          </a:cu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"/>
          <p:cNvSpPr txBox="1"/>
          <p:nvPr>
            <p:ph idx="1" type="body"/>
          </p:nvPr>
        </p:nvSpPr>
        <p:spPr>
          <a:xfrm>
            <a:off x="457200" y="1223151"/>
            <a:ext cx="8229600" cy="4872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/>
              <a:t>R</a:t>
            </a:r>
            <a:r>
              <a:rPr baseline="-25000" lang="en-US"/>
              <a:t>11</a:t>
            </a:r>
            <a:r>
              <a:rPr baseline="30000" lang="en-US"/>
              <a:t>0</a:t>
            </a:r>
            <a:r>
              <a:rPr lang="en-US"/>
              <a:t>= (ep +1)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US"/>
              <a:t>R</a:t>
            </a:r>
            <a:r>
              <a:rPr baseline="-25000" lang="en-US"/>
              <a:t>12</a:t>
            </a:r>
            <a:r>
              <a:rPr baseline="30000" lang="en-US"/>
              <a:t>0</a:t>
            </a:r>
            <a:r>
              <a:rPr lang="en-US"/>
              <a:t>= 0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US"/>
              <a:t>R</a:t>
            </a:r>
            <a:r>
              <a:rPr baseline="-25000" lang="en-US"/>
              <a:t>21</a:t>
            </a:r>
            <a:r>
              <a:rPr baseline="30000" lang="en-US"/>
              <a:t>0</a:t>
            </a:r>
            <a:r>
              <a:rPr lang="en-US"/>
              <a:t>= phi </a:t>
            </a:r>
            <a:r>
              <a:rPr baseline="30000" lang="en-US"/>
              <a:t>                                        </a:t>
            </a:r>
            <a:r>
              <a:rPr baseline="30000" lang="en-US" sz="3600">
                <a:solidFill>
                  <a:srgbClr val="FF0000"/>
                </a:solidFill>
              </a:rPr>
              <a:t>1+1 = 1 </a:t>
            </a:r>
            <a:endParaRPr/>
          </a:p>
          <a:p>
            <a:pPr indent="-228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600"/>
              <a:buChar char=" "/>
            </a:pPr>
            <a:r>
              <a:rPr baseline="30000" lang="en-US" sz="3600">
                <a:solidFill>
                  <a:srgbClr val="FF0000"/>
                </a:solidFill>
              </a:rPr>
              <a:t>                                            0+0=0</a:t>
            </a:r>
            <a:endParaRPr sz="3600">
              <a:solidFill>
                <a:srgbClr val="FF0000"/>
              </a:solidFill>
            </a:endParaRPr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baseline="30000" lang="en-US"/>
              <a:t>                         </a:t>
            </a:r>
            <a:r>
              <a:rPr baseline="30000" lang="en-US" sz="3600">
                <a:solidFill>
                  <a:srgbClr val="FF0000"/>
                </a:solidFill>
              </a:rPr>
              <a:t>0+1*0 =1*0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US"/>
              <a:t>R</a:t>
            </a:r>
            <a:r>
              <a:rPr baseline="-25000" lang="en-US"/>
              <a:t>22</a:t>
            </a:r>
            <a:r>
              <a:rPr baseline="30000" lang="en-US"/>
              <a:t>0 </a:t>
            </a:r>
            <a:r>
              <a:rPr lang="en-US"/>
              <a:t>=  (0+ 1 +ep)</a:t>
            </a:r>
            <a:endParaRPr/>
          </a:p>
          <a:p>
            <a:pPr indent="-2032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Char char=" "/>
            </a:pPr>
            <a:r>
              <a:rPr lang="en-US" sz="3200">
                <a:solidFill>
                  <a:srgbClr val="FF0000"/>
                </a:solidFill>
              </a:rPr>
              <a:t>R</a:t>
            </a:r>
            <a:r>
              <a:rPr baseline="-25000" lang="en-US" sz="3200">
                <a:solidFill>
                  <a:srgbClr val="FF0000"/>
                </a:solidFill>
              </a:rPr>
              <a:t>11</a:t>
            </a:r>
            <a:r>
              <a:rPr baseline="30000" lang="en-US" sz="3200">
                <a:solidFill>
                  <a:srgbClr val="FF0000"/>
                </a:solidFill>
              </a:rPr>
              <a:t>1</a:t>
            </a:r>
            <a:r>
              <a:rPr baseline="30000" lang="en-US" sz="3200"/>
              <a:t> </a:t>
            </a:r>
            <a:r>
              <a:rPr lang="en-US" sz="3200"/>
              <a:t>= R</a:t>
            </a:r>
            <a:r>
              <a:rPr baseline="-25000" lang="en-US" sz="3200"/>
              <a:t>11</a:t>
            </a:r>
            <a:r>
              <a:rPr baseline="30000" lang="en-US" sz="3200"/>
              <a:t>0</a:t>
            </a:r>
            <a:r>
              <a:rPr lang="en-US" sz="3200"/>
              <a:t>+</a:t>
            </a:r>
            <a:r>
              <a:rPr baseline="30000" lang="en-US" sz="3200"/>
              <a:t> </a:t>
            </a:r>
            <a:r>
              <a:rPr lang="en-US" sz="3200"/>
              <a:t>R</a:t>
            </a:r>
            <a:r>
              <a:rPr baseline="-25000" lang="en-US" sz="3200"/>
              <a:t>11</a:t>
            </a:r>
            <a:r>
              <a:rPr baseline="30000" lang="en-US" sz="3200"/>
              <a:t>0</a:t>
            </a:r>
            <a:r>
              <a:rPr lang="en-US" sz="3200"/>
              <a:t>(R</a:t>
            </a:r>
            <a:r>
              <a:rPr baseline="-25000" lang="en-US" sz="3200"/>
              <a:t>11</a:t>
            </a:r>
            <a:r>
              <a:rPr baseline="30000" lang="en-US" sz="3200"/>
              <a:t>0</a:t>
            </a:r>
            <a:r>
              <a:rPr lang="en-US" sz="3200"/>
              <a:t>)* R</a:t>
            </a:r>
            <a:r>
              <a:rPr baseline="-25000" lang="en-US" sz="3200"/>
              <a:t>11</a:t>
            </a:r>
            <a:r>
              <a:rPr baseline="30000" lang="en-US" sz="3200"/>
              <a:t>0</a:t>
            </a:r>
            <a:endParaRPr sz="3200"/>
          </a:p>
          <a:p>
            <a:pPr indent="-2032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Char char=" "/>
            </a:pPr>
            <a:r>
              <a:rPr lang="en-US" sz="3200"/>
              <a:t>=(ep+1) + (ep+1) (ep+1)* (ep+1)</a:t>
            </a:r>
            <a:endParaRPr sz="3200"/>
          </a:p>
        </p:txBody>
      </p:sp>
      <p:sp>
        <p:nvSpPr>
          <p:cNvPr id="191" name="Google Shape;191;p7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"/>
          <p:cNvSpPr txBox="1"/>
          <p:nvPr>
            <p:ph idx="1" type="body"/>
          </p:nvPr>
        </p:nvSpPr>
        <p:spPr>
          <a:xfrm>
            <a:off x="457200" y="1223151"/>
            <a:ext cx="8229600" cy="4568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>
                <a:solidFill>
                  <a:srgbClr val="FF0000"/>
                </a:solidFill>
              </a:rPr>
              <a:t> </a:t>
            </a:r>
            <a:r>
              <a:rPr b="1" lang="en-US" sz="3200">
                <a:solidFill>
                  <a:srgbClr val="FF0000"/>
                </a:solidFill>
              </a:rPr>
              <a:t>(01)</a:t>
            </a:r>
            <a:r>
              <a:rPr b="1" baseline="30000" lang="en-US" sz="3200">
                <a:solidFill>
                  <a:srgbClr val="FF0000"/>
                </a:solidFill>
              </a:rPr>
              <a:t>*</a:t>
            </a:r>
            <a:r>
              <a:rPr b="1" lang="en-US" sz="3200">
                <a:solidFill>
                  <a:srgbClr val="FF0000"/>
                </a:solidFill>
              </a:rPr>
              <a:t>+ (10)</a:t>
            </a:r>
            <a:r>
              <a:rPr b="1" baseline="30000" lang="en-US" sz="3200">
                <a:solidFill>
                  <a:srgbClr val="FF0000"/>
                </a:solidFill>
              </a:rPr>
              <a:t> *</a:t>
            </a:r>
            <a:r>
              <a:rPr b="1" lang="en-US" sz="3200">
                <a:solidFill>
                  <a:srgbClr val="FF0000"/>
                </a:solidFill>
              </a:rPr>
              <a:t>+ 1(01)</a:t>
            </a:r>
            <a:r>
              <a:rPr b="1" baseline="30000" lang="en-US" sz="3200">
                <a:solidFill>
                  <a:srgbClr val="FF0000"/>
                </a:solidFill>
              </a:rPr>
              <a:t> *</a:t>
            </a:r>
            <a:r>
              <a:rPr b="1" lang="en-US" sz="3200">
                <a:solidFill>
                  <a:srgbClr val="FF0000"/>
                </a:solidFill>
              </a:rPr>
              <a:t>+  0(10)</a:t>
            </a:r>
            <a:r>
              <a:rPr b="1" baseline="30000" lang="en-US" sz="3200">
                <a:solidFill>
                  <a:srgbClr val="FF0000"/>
                </a:solidFill>
              </a:rPr>
              <a:t> *</a:t>
            </a:r>
            <a:endParaRPr b="1" sz="3200">
              <a:solidFill>
                <a:srgbClr val="FF0000"/>
              </a:solidFill>
            </a:endParaRPr>
          </a:p>
          <a:p>
            <a:pPr indent="-2032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Char char=" "/>
            </a:pPr>
            <a:r>
              <a:rPr b="1" baseline="30000" lang="en-US" sz="3200"/>
              <a:t>  01 , 010101, 0101,……</a:t>
            </a:r>
            <a:endParaRPr/>
          </a:p>
          <a:p>
            <a:pPr indent="-2032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Char char=" "/>
            </a:pPr>
            <a:r>
              <a:rPr b="1" baseline="30000" lang="en-US" sz="3200"/>
              <a:t>10, 1010……</a:t>
            </a:r>
            <a:endParaRPr/>
          </a:p>
          <a:p>
            <a:pPr indent="-2032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Char char=" "/>
            </a:pPr>
            <a:r>
              <a:rPr b="1" baseline="30000" lang="en-US" sz="3200"/>
              <a:t>101</a:t>
            </a:r>
            <a:endParaRPr/>
          </a:p>
          <a:p>
            <a:pPr indent="-2032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Char char=" "/>
            </a:pPr>
            <a:r>
              <a:rPr b="1" baseline="30000" lang="en-US" sz="3200"/>
              <a:t>010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baseline="30000" sz="3200"/>
          </a:p>
          <a:p>
            <a:pPr indent="-2032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Char char=" "/>
            </a:pPr>
            <a:r>
              <a:rPr b="1" baseline="30000" lang="en-US" sz="3200"/>
              <a:t> </a:t>
            </a:r>
            <a:endParaRPr b="1" baseline="30000" sz="3200"/>
          </a:p>
        </p:txBody>
      </p:sp>
      <p:sp>
        <p:nvSpPr>
          <p:cNvPr id="198" name="Google Shape;198;p8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"/>
          <p:cNvSpPr txBox="1"/>
          <p:nvPr>
            <p:ph idx="1" type="body"/>
          </p:nvPr>
        </p:nvSpPr>
        <p:spPr>
          <a:xfrm>
            <a:off x="533400" y="1219200"/>
            <a:ext cx="8229600" cy="4872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■"/>
            </a:pPr>
            <a:r>
              <a:rPr lang="en-US" sz="2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 + ε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■"/>
            </a:pPr>
            <a:r>
              <a:rPr lang="en-US" sz="2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(ab)* + (ba)*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■"/>
            </a:pPr>
            <a:r>
              <a:rPr lang="en-US" sz="2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(0+1+2+3+4+5+6+7+8+9)*(0+5)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■"/>
            </a:pPr>
            <a:r>
              <a:rPr lang="en-US" sz="2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(x+y)*x(x+y)*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■"/>
            </a:pPr>
            <a:r>
              <a:rPr lang="en-US" sz="2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(01)*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■"/>
            </a:pPr>
            <a:r>
              <a:rPr lang="en-US" sz="2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0(1*)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■"/>
            </a:pPr>
            <a:r>
              <a:rPr lang="en-US" sz="2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01*    equivalent to  0(1*)</a:t>
            </a:r>
            <a:endParaRPr sz="2800"/>
          </a:p>
        </p:txBody>
      </p:sp>
      <p:sp>
        <p:nvSpPr>
          <p:cNvPr id="205" name="Google Shape;205;p9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>
                <a:solidFill>
                  <a:schemeClr val="dk1"/>
                </a:solidFill>
              </a:rPr>
              <a:t>Examples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6" name="Google Shape;206;p9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10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>
                <a:solidFill>
                  <a:schemeClr val="dk1"/>
                </a:solidFill>
              </a:rPr>
              <a:t>RE’s: Definition</a:t>
            </a:r>
            <a:endParaRPr/>
          </a:p>
        </p:txBody>
      </p:sp>
      <p:sp>
        <p:nvSpPr>
          <p:cNvPr id="214" name="Google Shape;214;p10"/>
          <p:cNvSpPr txBox="1"/>
          <p:nvPr>
            <p:ph idx="1" type="body"/>
          </p:nvPr>
        </p:nvSpPr>
        <p:spPr>
          <a:xfrm>
            <a:off x="457200" y="1223151"/>
            <a:ext cx="8229600" cy="4872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/>
              <a:t>Basis 1: If </a:t>
            </a:r>
            <a:r>
              <a:rPr i="1" lang="en-US"/>
              <a:t>a</a:t>
            </a:r>
            <a:r>
              <a:rPr lang="en-US"/>
              <a:t>  is any symbol, then </a:t>
            </a:r>
            <a:r>
              <a:rPr b="1" lang="en-US"/>
              <a:t>a</a:t>
            </a:r>
            <a:r>
              <a:rPr lang="en-US"/>
              <a:t> is a RE, and L(</a:t>
            </a:r>
            <a:r>
              <a:rPr b="1" lang="en-US"/>
              <a:t>a</a:t>
            </a:r>
            <a:r>
              <a:rPr lang="en-US"/>
              <a:t>) = {a}.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Note: {a} is the language containing one string, and that string is of length 1.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400"/>
              <a:buChar char=" "/>
            </a:pPr>
            <a:r>
              <a:rPr lang="en-US"/>
              <a:t>Basis 2: 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ε</a:t>
            </a:r>
            <a:r>
              <a:rPr lang="en-US"/>
              <a:t> is a RE, and L(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ε</a:t>
            </a:r>
            <a:r>
              <a:rPr lang="en-US"/>
              <a:t>) = {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ε</a:t>
            </a:r>
            <a:r>
              <a:rPr lang="en-US"/>
              <a:t>}.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US"/>
              <a:t>Basis 3: </a:t>
            </a:r>
            <a:r>
              <a:rPr lang="en-US" sz="2400">
                <a:latin typeface="Lucida Sans"/>
                <a:ea typeface="Lucida Sans"/>
                <a:cs typeface="Lucida Sans"/>
                <a:sym typeface="Lucida Sans"/>
              </a:rPr>
              <a:t>∅</a:t>
            </a:r>
            <a:r>
              <a:rPr lang="en-US"/>
              <a:t> is a RE, and L(</a:t>
            </a:r>
            <a:r>
              <a:rPr lang="en-US" sz="2400">
                <a:latin typeface="Lucida Sans"/>
                <a:ea typeface="Lucida Sans"/>
                <a:cs typeface="Lucida Sans"/>
                <a:sym typeface="Lucida Sans"/>
              </a:rPr>
              <a:t>∅</a:t>
            </a:r>
            <a:r>
              <a:rPr lang="en-US"/>
              <a:t>) = </a:t>
            </a:r>
            <a:r>
              <a:rPr lang="en-US" sz="2400">
                <a:latin typeface="Lucida Sans"/>
                <a:ea typeface="Lucida Sans"/>
                <a:cs typeface="Lucida Sans"/>
                <a:sym typeface="Lucida Sans"/>
              </a:rPr>
              <a:t>∅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11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>
                <a:solidFill>
                  <a:schemeClr val="dk1"/>
                </a:solidFill>
              </a:rPr>
              <a:t>RE’s: Definition – (2)</a:t>
            </a:r>
            <a:endParaRPr/>
          </a:p>
        </p:txBody>
      </p:sp>
      <p:sp>
        <p:nvSpPr>
          <p:cNvPr id="222" name="Google Shape;222;p11"/>
          <p:cNvSpPr txBox="1"/>
          <p:nvPr>
            <p:ph idx="1" type="body"/>
          </p:nvPr>
        </p:nvSpPr>
        <p:spPr>
          <a:xfrm>
            <a:off x="457200" y="1223151"/>
            <a:ext cx="8229600" cy="4872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778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sz="2800">
                <a:solidFill>
                  <a:srgbClr val="0066FF"/>
                </a:solidFill>
              </a:rPr>
              <a:t>Induction 1</a:t>
            </a:r>
            <a:r>
              <a:rPr lang="en-US" sz="2800"/>
              <a:t>: If E</a:t>
            </a:r>
            <a:r>
              <a:rPr baseline="-25000" lang="en-US" sz="2800"/>
              <a:t>1</a:t>
            </a:r>
            <a:r>
              <a:rPr lang="en-US" sz="2800"/>
              <a:t> and E</a:t>
            </a:r>
            <a:r>
              <a:rPr baseline="-25000" lang="en-US" sz="2800"/>
              <a:t>2</a:t>
            </a:r>
            <a:r>
              <a:rPr lang="en-US" sz="2800"/>
              <a:t> are regular expressions, then E</a:t>
            </a:r>
            <a:r>
              <a:rPr baseline="-25000" lang="en-US" sz="2800"/>
              <a:t>1</a:t>
            </a:r>
            <a:r>
              <a:rPr lang="en-US" sz="2800"/>
              <a:t>+E</a:t>
            </a:r>
            <a:r>
              <a:rPr baseline="-25000" lang="en-US" sz="2800"/>
              <a:t>2</a:t>
            </a:r>
            <a:r>
              <a:rPr lang="en-US" sz="2800"/>
              <a:t> is a regular expression, and L(E</a:t>
            </a:r>
            <a:r>
              <a:rPr baseline="-25000" lang="en-US" sz="2800"/>
              <a:t>1</a:t>
            </a:r>
            <a:r>
              <a:rPr lang="en-US" sz="2800"/>
              <a:t>+E</a:t>
            </a:r>
            <a:r>
              <a:rPr baseline="-25000" lang="en-US" sz="2800"/>
              <a:t>2</a:t>
            </a:r>
            <a:r>
              <a:rPr lang="en-US" sz="2800"/>
              <a:t>) = L(E</a:t>
            </a:r>
            <a:r>
              <a:rPr baseline="-25000" lang="en-US" sz="2800"/>
              <a:t>1</a:t>
            </a:r>
            <a:r>
              <a:rPr lang="en-US" sz="2800"/>
              <a:t>)∪L(E</a:t>
            </a:r>
            <a:r>
              <a:rPr baseline="-25000" lang="en-US" sz="2800"/>
              <a:t>2</a:t>
            </a:r>
            <a:r>
              <a:rPr lang="en-US" sz="2800"/>
              <a:t>).</a:t>
            </a:r>
            <a:endParaRPr/>
          </a:p>
          <a:p>
            <a:pPr indent="-1778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sz="2800">
                <a:solidFill>
                  <a:srgbClr val="0066FF"/>
                </a:solidFill>
              </a:rPr>
              <a:t>Induction 2:</a:t>
            </a:r>
            <a:r>
              <a:rPr lang="en-US" sz="2800"/>
              <a:t> If E</a:t>
            </a:r>
            <a:r>
              <a:rPr baseline="-25000" lang="en-US" sz="2800"/>
              <a:t>1</a:t>
            </a:r>
            <a:r>
              <a:rPr lang="en-US" sz="2800"/>
              <a:t> and E</a:t>
            </a:r>
            <a:r>
              <a:rPr baseline="-25000" lang="en-US" sz="2800"/>
              <a:t>2</a:t>
            </a:r>
            <a:r>
              <a:rPr lang="en-US" sz="2800"/>
              <a:t> are regular expressions, then E</a:t>
            </a:r>
            <a:r>
              <a:rPr baseline="-25000" lang="en-US" sz="2800"/>
              <a:t>1</a:t>
            </a:r>
            <a:r>
              <a:rPr lang="en-US" sz="2800"/>
              <a:t>E</a:t>
            </a:r>
            <a:r>
              <a:rPr baseline="-25000" lang="en-US" sz="2800"/>
              <a:t>2</a:t>
            </a:r>
            <a:r>
              <a:rPr lang="en-US" sz="2800"/>
              <a:t> is a regular expression, and L(E</a:t>
            </a:r>
            <a:r>
              <a:rPr baseline="-25000" lang="en-US" sz="2800"/>
              <a:t>1</a:t>
            </a:r>
            <a:r>
              <a:rPr lang="en-US" sz="2800"/>
              <a:t>E</a:t>
            </a:r>
            <a:r>
              <a:rPr baseline="-25000" lang="en-US" sz="2800"/>
              <a:t>2</a:t>
            </a:r>
            <a:r>
              <a:rPr lang="en-US" sz="2800"/>
              <a:t>) = L(E</a:t>
            </a:r>
            <a:r>
              <a:rPr baseline="-25000" lang="en-US" sz="2800"/>
              <a:t>1</a:t>
            </a:r>
            <a:r>
              <a:rPr lang="en-US" sz="2800"/>
              <a:t>)L(E</a:t>
            </a:r>
            <a:r>
              <a:rPr baseline="-25000" lang="en-US" sz="2800"/>
              <a:t>2</a:t>
            </a:r>
            <a:r>
              <a:rPr lang="en-US" sz="2800"/>
              <a:t>).</a:t>
            </a:r>
            <a:endParaRPr/>
          </a:p>
        </p:txBody>
      </p:sp>
      <p:grpSp>
        <p:nvGrpSpPr>
          <p:cNvPr id="223" name="Google Shape;223;p11"/>
          <p:cNvGrpSpPr/>
          <p:nvPr/>
        </p:nvGrpSpPr>
        <p:grpSpPr>
          <a:xfrm>
            <a:off x="685800" y="3048390"/>
            <a:ext cx="6807200" cy="1700214"/>
            <a:chOff x="384" y="3474"/>
            <a:chExt cx="4288" cy="1071"/>
          </a:xfrm>
        </p:grpSpPr>
        <p:sp>
          <p:nvSpPr>
            <p:cNvPr id="224" name="Google Shape;224;p11"/>
            <p:cNvSpPr txBox="1"/>
            <p:nvPr/>
          </p:nvSpPr>
          <p:spPr>
            <a:xfrm>
              <a:off x="384" y="4027"/>
              <a:ext cx="4288" cy="5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FF0066"/>
                  </a:solidFill>
                  <a:latin typeface="Tahoma"/>
                  <a:ea typeface="Tahoma"/>
                  <a:cs typeface="Tahoma"/>
                  <a:sym typeface="Tahoma"/>
                </a:rPr>
                <a:t>Concatenation </a:t>
              </a:r>
              <a:r>
                <a:rPr lang="en-US"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: the set of strings wx such that w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Is in L(E</a:t>
              </a:r>
              <a:r>
                <a:rPr baseline="-25000" lang="en-US"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1</a:t>
              </a:r>
              <a:r>
                <a:rPr lang="en-US"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) and x is in L(E</a:t>
              </a:r>
              <a:r>
                <a:rPr baseline="-25000" lang="en-US"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2</a:t>
              </a:r>
              <a:r>
                <a:rPr lang="en-US"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).</a:t>
              </a:r>
              <a:endParaRPr/>
            </a:p>
          </p:txBody>
        </p:sp>
        <p:cxnSp>
          <p:nvCxnSpPr>
            <p:cNvPr id="225" name="Google Shape;225;p11"/>
            <p:cNvCxnSpPr/>
            <p:nvPr/>
          </p:nvCxnSpPr>
          <p:spPr>
            <a:xfrm flipH="1" rot="10800000">
              <a:off x="2544" y="3474"/>
              <a:ext cx="816" cy="55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12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RE’s: Definition – (3)</a:t>
            </a:r>
            <a:endParaRPr/>
          </a:p>
        </p:txBody>
      </p:sp>
      <p:sp>
        <p:nvSpPr>
          <p:cNvPr id="233" name="Google Shape;233;p12"/>
          <p:cNvSpPr txBox="1"/>
          <p:nvPr>
            <p:ph idx="1" type="body"/>
          </p:nvPr>
        </p:nvSpPr>
        <p:spPr>
          <a:xfrm>
            <a:off x="457200" y="1223151"/>
            <a:ext cx="8229600" cy="4872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778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sz="2800">
                <a:solidFill>
                  <a:srgbClr val="3366FF"/>
                </a:solidFill>
              </a:rPr>
              <a:t>Induction 3</a:t>
            </a:r>
            <a:r>
              <a:rPr lang="en-US" sz="2800"/>
              <a:t>: If E is a RE, then E* is a RE, and L(E*) = (L(E))*.</a:t>
            </a:r>
            <a:endParaRPr/>
          </a:p>
        </p:txBody>
      </p:sp>
      <p:grpSp>
        <p:nvGrpSpPr>
          <p:cNvPr id="234" name="Google Shape;234;p12"/>
          <p:cNvGrpSpPr/>
          <p:nvPr/>
        </p:nvGrpSpPr>
        <p:grpSpPr>
          <a:xfrm>
            <a:off x="1062880" y="1828800"/>
            <a:ext cx="7315201" cy="2641601"/>
            <a:chOff x="243" y="1910"/>
            <a:chExt cx="3107" cy="1664"/>
          </a:xfrm>
        </p:grpSpPr>
        <p:sp>
          <p:nvSpPr>
            <p:cNvPr id="235" name="Google Shape;235;p12"/>
            <p:cNvSpPr txBox="1"/>
            <p:nvPr/>
          </p:nvSpPr>
          <p:spPr>
            <a:xfrm>
              <a:off x="243" y="2353"/>
              <a:ext cx="3107" cy="1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FF0066"/>
                  </a:solidFill>
                  <a:latin typeface="Tahoma"/>
                  <a:ea typeface="Tahoma"/>
                  <a:cs typeface="Tahoma"/>
                  <a:sym typeface="Tahoma"/>
                </a:rPr>
                <a:t>Closure</a:t>
              </a:r>
              <a:r>
                <a:rPr lang="en-US"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, or “Kleene closure” = set of strings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</a:t>
              </a:r>
              <a:r>
                <a:rPr baseline="-25000" lang="en-US"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1</a:t>
              </a:r>
              <a:r>
                <a:rPr lang="en-US"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</a:t>
              </a:r>
              <a:r>
                <a:rPr baseline="-25000" lang="en-US"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2</a:t>
              </a:r>
              <a:r>
                <a:rPr lang="en-US"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…w</a:t>
              </a:r>
              <a:r>
                <a:rPr baseline="-25000" lang="en-US"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</a:t>
              </a:r>
              <a:r>
                <a:rPr lang="en-US"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, for some n </a:t>
              </a:r>
              <a:r>
                <a:rPr lang="en-US" sz="2400" u="sng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&gt;</a:t>
              </a:r>
              <a:r>
                <a:rPr lang="en-US"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 0, where each w</a:t>
              </a:r>
              <a:r>
                <a:rPr baseline="-25000" lang="en-US"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i</a:t>
              </a:r>
              <a:r>
                <a:rPr lang="en-US"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 is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in L(E).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C3300"/>
                  </a:solidFill>
                  <a:latin typeface="Tahoma"/>
                  <a:ea typeface="Tahoma"/>
                  <a:cs typeface="Tahoma"/>
                  <a:sym typeface="Tahoma"/>
                </a:rPr>
                <a:t>Note</a:t>
              </a:r>
              <a:r>
                <a:rPr lang="en-US"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: when n=0, the string is </a:t>
              </a:r>
              <a:r>
                <a:rPr lang="en-US" sz="2400">
                  <a:solidFill>
                    <a:schemeClr val="dk1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ε</a:t>
              </a:r>
              <a:r>
                <a:rPr lang="en-US"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.</a:t>
              </a:r>
              <a:endParaRPr/>
            </a:p>
          </p:txBody>
        </p:sp>
        <p:cxnSp>
          <p:nvCxnSpPr>
            <p:cNvPr id="236" name="Google Shape;236;p12"/>
            <p:cNvCxnSpPr/>
            <p:nvPr/>
          </p:nvCxnSpPr>
          <p:spPr>
            <a:xfrm flipH="1" rot="10800000">
              <a:off x="2120" y="1910"/>
              <a:ext cx="573" cy="3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13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Precedence of Operators</a:t>
            </a:r>
            <a:endParaRPr/>
          </a:p>
        </p:txBody>
      </p:sp>
      <p:sp>
        <p:nvSpPr>
          <p:cNvPr id="244" name="Google Shape;244;p13"/>
          <p:cNvSpPr txBox="1"/>
          <p:nvPr>
            <p:ph idx="1" type="body"/>
          </p:nvPr>
        </p:nvSpPr>
        <p:spPr>
          <a:xfrm>
            <a:off x="457200" y="1223151"/>
            <a:ext cx="8229600" cy="4872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/>
              <a:t>Parentheses may be used wherever needed to influence the grouping of operators.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US"/>
              <a:t>Order of precedence is * (highest), then concatenation, then + (lowest).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>
                <a:solidFill>
                  <a:schemeClr val="dk1"/>
                </a:solidFill>
              </a:rPr>
              <a:t>From DFA to RE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0" name="Google Shape;250;p14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1" name="Google Shape;251;p14"/>
          <p:cNvSpPr/>
          <p:nvPr/>
        </p:nvSpPr>
        <p:spPr>
          <a:xfrm>
            <a:off x="1600200" y="1981200"/>
            <a:ext cx="1905000" cy="762000"/>
          </a:xfrm>
          <a:prstGeom prst="ellipse">
            <a:avLst/>
          </a:prstGeom>
          <a:solidFill>
            <a:srgbClr val="8DD9C7"/>
          </a:solidFill>
          <a:ln cap="flat" cmpd="sng" w="15875">
            <a:solidFill>
              <a:srgbClr val="6F94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1575793" y="3810000"/>
            <a:ext cx="1905000" cy="762000"/>
          </a:xfrm>
          <a:prstGeom prst="ellipse">
            <a:avLst/>
          </a:prstGeom>
          <a:solidFill>
            <a:srgbClr val="8DD9C7"/>
          </a:solidFill>
          <a:ln cap="flat" cmpd="sng" w="15875">
            <a:solidFill>
              <a:srgbClr val="6F94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4876800" y="2058387"/>
            <a:ext cx="1905000" cy="762000"/>
          </a:xfrm>
          <a:prstGeom prst="ellipse">
            <a:avLst/>
          </a:prstGeom>
          <a:solidFill>
            <a:srgbClr val="8DD9C7"/>
          </a:solidFill>
          <a:ln cap="flat" cmpd="sng" w="15875">
            <a:solidFill>
              <a:srgbClr val="6F94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4876800" y="3810000"/>
            <a:ext cx="1905000" cy="762000"/>
          </a:xfrm>
          <a:prstGeom prst="ellipse">
            <a:avLst/>
          </a:prstGeom>
          <a:solidFill>
            <a:srgbClr val="8DD9C7"/>
          </a:solidFill>
          <a:ln cap="flat" cmpd="sng" w="15875">
            <a:solidFill>
              <a:srgbClr val="6F94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14"/>
          <p:cNvCxnSpPr>
            <a:stCxn id="253" idx="4"/>
            <a:endCxn id="254" idx="0"/>
          </p:cNvCxnSpPr>
          <p:nvPr/>
        </p:nvCxnSpPr>
        <p:spPr>
          <a:xfrm>
            <a:off x="5829300" y="2820387"/>
            <a:ext cx="0" cy="989700"/>
          </a:xfrm>
          <a:prstGeom prst="straightConnector1">
            <a:avLst/>
          </a:prstGeom>
          <a:noFill/>
          <a:ln cap="flat" cmpd="sng" w="349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6" name="Google Shape;256;p14"/>
          <p:cNvCxnSpPr>
            <a:stCxn id="254" idx="2"/>
          </p:cNvCxnSpPr>
          <p:nvPr/>
        </p:nvCxnSpPr>
        <p:spPr>
          <a:xfrm rot="10800000">
            <a:off x="3469800" y="4191000"/>
            <a:ext cx="1407000" cy="0"/>
          </a:xfrm>
          <a:prstGeom prst="straightConnector1">
            <a:avLst/>
          </a:prstGeom>
          <a:noFill/>
          <a:ln cap="flat" cmpd="sng" w="349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7" name="Google Shape;257;p14"/>
          <p:cNvCxnSpPr>
            <a:stCxn id="252" idx="0"/>
            <a:endCxn id="251" idx="4"/>
          </p:cNvCxnSpPr>
          <p:nvPr/>
        </p:nvCxnSpPr>
        <p:spPr>
          <a:xfrm flipH="1" rot="10800000">
            <a:off x="2528293" y="2743200"/>
            <a:ext cx="24300" cy="1066800"/>
          </a:xfrm>
          <a:prstGeom prst="straightConnector1">
            <a:avLst/>
          </a:prstGeom>
          <a:noFill/>
          <a:ln cap="flat" cmpd="sng" w="349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8" name="Google Shape;258;p14"/>
          <p:cNvCxnSpPr/>
          <p:nvPr/>
        </p:nvCxnSpPr>
        <p:spPr>
          <a:xfrm>
            <a:off x="3244824" y="2603028"/>
            <a:ext cx="1755532" cy="1421504"/>
          </a:xfrm>
          <a:prstGeom prst="straightConnector1">
            <a:avLst/>
          </a:prstGeom>
          <a:noFill/>
          <a:ln cap="flat" cmpd="sng" w="349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9" name="Google Shape;259;p14"/>
          <p:cNvSpPr/>
          <p:nvPr/>
        </p:nvSpPr>
        <p:spPr>
          <a:xfrm rot="1342963">
            <a:off x="5634939" y="2571337"/>
            <a:ext cx="1447800" cy="1524000"/>
          </a:xfrm>
          <a:prstGeom prst="arc">
            <a:avLst>
              <a:gd fmla="val 16227501" name="adj1"/>
              <a:gd fmla="val 2564446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14"/>
          <p:cNvCxnSpPr/>
          <p:nvPr/>
        </p:nvCxnSpPr>
        <p:spPr>
          <a:xfrm rot="10800000">
            <a:off x="3469907" y="2391969"/>
            <a:ext cx="1793985" cy="1478864"/>
          </a:xfrm>
          <a:prstGeom prst="straightConnector1">
            <a:avLst/>
          </a:prstGeom>
          <a:noFill/>
          <a:ln cap="flat" cmpd="sng" w="349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1" name="Google Shape;261;p14"/>
          <p:cNvSpPr txBox="1"/>
          <p:nvPr/>
        </p:nvSpPr>
        <p:spPr>
          <a:xfrm>
            <a:off x="2072267" y="2131368"/>
            <a:ext cx="92557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Ԑ-NFA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 txBox="1"/>
          <p:nvPr/>
        </p:nvSpPr>
        <p:spPr>
          <a:xfrm>
            <a:off x="2220250" y="3960167"/>
            <a:ext cx="50206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 txBox="1"/>
          <p:nvPr/>
        </p:nvSpPr>
        <p:spPr>
          <a:xfrm>
            <a:off x="5472422" y="2208554"/>
            <a:ext cx="6851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NFA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 txBox="1"/>
          <p:nvPr/>
        </p:nvSpPr>
        <p:spPr>
          <a:xfrm>
            <a:off x="5522869" y="3960166"/>
            <a:ext cx="6851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5"/>
          <p:cNvSpPr txBox="1"/>
          <p:nvPr>
            <p:ph idx="1" type="body"/>
          </p:nvPr>
        </p:nvSpPr>
        <p:spPr>
          <a:xfrm>
            <a:off x="457200" y="1223151"/>
            <a:ext cx="8229600" cy="4872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778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sz="2800"/>
              <a:t>Finite Automata and Regular Expressions are equivalent.  To show this: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Show we can express a DFA as an equivalent RE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Show we can express a RE as an ε-NFA.  Since the ε-NFA can be converted to a DFA and the DFA to an NFA, then RE will be equivalent to all the automata we have described.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70" name="Google Shape;270;p15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>
                <a:solidFill>
                  <a:schemeClr val="dk1"/>
                </a:solidFill>
              </a:rPr>
              <a:t>Equivalence of FA and RE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1" name="Google Shape;271;p15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6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DFA to Regular Expression</a:t>
            </a:r>
            <a:endParaRPr/>
          </a:p>
        </p:txBody>
      </p:sp>
      <p:sp>
        <p:nvSpPr>
          <p:cNvPr id="277" name="Google Shape;277;p16"/>
          <p:cNvSpPr txBox="1"/>
          <p:nvPr>
            <p:ph idx="1" type="body"/>
          </p:nvPr>
        </p:nvSpPr>
        <p:spPr>
          <a:xfrm>
            <a:off x="457200" y="1223151"/>
            <a:ext cx="8229600" cy="4872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778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sz="2800"/>
              <a:t>Theorem:  If L=L(A) for some DFA A, then there is a regular expression R such that L=L(R).</a:t>
            </a:r>
            <a:endParaRPr sz="2800"/>
          </a:p>
          <a:p>
            <a:pPr indent="-177800" lvl="0" marL="9144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sz="2800"/>
              <a:t>Build the regular expression “bottom up” starting with simpler strings that are acceptable using a subset of states in the DFA</a:t>
            </a:r>
            <a:endParaRPr/>
          </a:p>
          <a:p>
            <a:pPr indent="-177800" lvl="0" marL="9144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sz="2800"/>
              <a:t>Define R</a:t>
            </a:r>
            <a:r>
              <a:rPr baseline="30000" lang="en-US" sz="2800"/>
              <a:t>k</a:t>
            </a:r>
            <a:r>
              <a:rPr baseline="-25000" lang="en-US" sz="2800"/>
              <a:t>i,j </a:t>
            </a:r>
            <a:r>
              <a:rPr lang="en-US" sz="2800"/>
              <a:t>as the expression for strings that have an admissible state sequence from state i to state j with no intermediate states greater than k</a:t>
            </a:r>
            <a:endParaRPr/>
          </a:p>
          <a:p>
            <a:pPr indent="-182880" lvl="1" marL="384048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Assume no states are numbered 0, but k can be 0</a:t>
            </a:r>
            <a:endParaRPr/>
          </a:p>
        </p:txBody>
      </p:sp>
      <p:sp>
        <p:nvSpPr>
          <p:cNvPr id="278" name="Google Shape;278;p16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7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>
                <a:solidFill>
                  <a:schemeClr val="dk1"/>
                </a:solidFill>
              </a:rPr>
              <a:t>R</a:t>
            </a:r>
            <a:r>
              <a:rPr baseline="30000" lang="en-US">
                <a:solidFill>
                  <a:schemeClr val="dk1"/>
                </a:solidFill>
              </a:rPr>
              <a:t>0</a:t>
            </a:r>
            <a:r>
              <a:rPr baseline="-25000" lang="en-US">
                <a:solidFill>
                  <a:schemeClr val="dk1"/>
                </a:solidFill>
              </a:rPr>
              <a:t>i,j</a:t>
            </a:r>
            <a:endParaRPr/>
          </a:p>
        </p:txBody>
      </p:sp>
      <p:sp>
        <p:nvSpPr>
          <p:cNvPr id="284" name="Google Shape;284;p17"/>
          <p:cNvSpPr txBox="1"/>
          <p:nvPr>
            <p:ph idx="1" type="body"/>
          </p:nvPr>
        </p:nvSpPr>
        <p:spPr>
          <a:xfrm>
            <a:off x="457200" y="1223151"/>
            <a:ext cx="8229600" cy="4872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778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sz="2800"/>
              <a:t>Observe that R</a:t>
            </a:r>
            <a:r>
              <a:rPr baseline="30000" lang="en-US" sz="2800"/>
              <a:t>0</a:t>
            </a:r>
            <a:r>
              <a:rPr baseline="-25000" lang="en-US" sz="2800"/>
              <a:t>i,j </a:t>
            </a:r>
            <a:r>
              <a:rPr lang="en-US" sz="2800"/>
              <a:t>describes strings of length 1 or 0, particularly: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{a</a:t>
            </a:r>
            <a:r>
              <a:rPr baseline="-25000" lang="en-US" sz="2400"/>
              <a:t>1</a:t>
            </a:r>
            <a:r>
              <a:rPr lang="en-US" sz="2400"/>
              <a:t>, a</a:t>
            </a:r>
            <a:r>
              <a:rPr baseline="-25000" lang="en-US" sz="2400"/>
              <a:t>2</a:t>
            </a:r>
            <a:r>
              <a:rPr lang="en-US" sz="2400"/>
              <a:t>, a</a:t>
            </a:r>
            <a:r>
              <a:rPr baseline="-25000" lang="en-US" sz="2400"/>
              <a:t>3</a:t>
            </a:r>
            <a:r>
              <a:rPr lang="en-US" sz="2400"/>
              <a:t>, … }, where, for each a</a:t>
            </a:r>
            <a:r>
              <a:rPr baseline="-25000" lang="en-US" sz="2400"/>
              <a:t>x</a:t>
            </a:r>
            <a:r>
              <a:rPr lang="en-US" sz="2400"/>
              <a:t>, δ(i,a</a:t>
            </a:r>
            <a:r>
              <a:rPr baseline="-25000" lang="en-US" sz="2400"/>
              <a:t>x</a:t>
            </a:r>
            <a:r>
              <a:rPr lang="en-US" sz="2400"/>
              <a:t>) = j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Add ε to the set if i = j </a:t>
            </a:r>
            <a:endParaRPr/>
          </a:p>
          <a:p>
            <a:pPr indent="-17780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Char char=" "/>
            </a:pPr>
            <a:r>
              <a:rPr lang="en-US" sz="2800"/>
              <a:t>The 0 in R</a:t>
            </a:r>
            <a:r>
              <a:rPr baseline="30000" lang="en-US" sz="2800"/>
              <a:t>0</a:t>
            </a:r>
            <a:r>
              <a:rPr baseline="-25000" lang="en-US" sz="2800"/>
              <a:t>i,j  </a:t>
            </a:r>
            <a:r>
              <a:rPr lang="en-US" sz="2800"/>
              <a:t>means no intermediate states are allowed, so either no transition is made (just stay in state i to accept ε if i = j) or make a single transition from state i to state j</a:t>
            </a:r>
            <a:endParaRPr/>
          </a:p>
          <a:p>
            <a:pPr indent="-1778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sz="2800"/>
              <a:t>These are the base cases in our construction</a:t>
            </a:r>
            <a:endParaRPr/>
          </a:p>
        </p:txBody>
      </p:sp>
      <p:sp>
        <p:nvSpPr>
          <p:cNvPr id="285" name="Google Shape;285;p17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R</a:t>
            </a:r>
            <a:r>
              <a:rPr baseline="30000" lang="en-US"/>
              <a:t>k</a:t>
            </a:r>
            <a:r>
              <a:rPr baseline="-25000" lang="en-US"/>
              <a:t>i,j</a:t>
            </a:r>
            <a:endParaRPr/>
          </a:p>
        </p:txBody>
      </p:sp>
      <p:sp>
        <p:nvSpPr>
          <p:cNvPr id="291" name="Google Shape;291;p18"/>
          <p:cNvSpPr txBox="1"/>
          <p:nvPr>
            <p:ph idx="1" type="body"/>
          </p:nvPr>
        </p:nvSpPr>
        <p:spPr>
          <a:xfrm>
            <a:off x="457200" y="1223151"/>
            <a:ext cx="8229600" cy="4872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778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sz="2800"/>
              <a:t>Recursive step: for each k, we can build R</a:t>
            </a:r>
            <a:r>
              <a:rPr baseline="30000" lang="en-US" sz="2800"/>
              <a:t>k</a:t>
            </a:r>
            <a:r>
              <a:rPr baseline="-25000" lang="en-US" sz="2800"/>
              <a:t>i,j </a:t>
            </a:r>
            <a:r>
              <a:rPr lang="en-US" sz="2800"/>
              <a:t>as follows: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rPr lang="en-US" sz="2800"/>
              <a:t>		R</a:t>
            </a:r>
            <a:r>
              <a:rPr baseline="30000" lang="en-US" sz="2800"/>
              <a:t>k</a:t>
            </a:r>
            <a:r>
              <a:rPr baseline="-25000" lang="en-US" sz="2800"/>
              <a:t>i,j </a:t>
            </a:r>
            <a:r>
              <a:rPr lang="en-US" sz="2800"/>
              <a:t>= R</a:t>
            </a:r>
            <a:r>
              <a:rPr baseline="30000" lang="en-US" sz="2800"/>
              <a:t>k-1</a:t>
            </a:r>
            <a:r>
              <a:rPr baseline="-25000" lang="en-US" sz="2800"/>
              <a:t>i,j  </a:t>
            </a:r>
            <a:r>
              <a:rPr lang="en-US" sz="2800"/>
              <a:t>+ R</a:t>
            </a:r>
            <a:r>
              <a:rPr baseline="30000" lang="en-US" sz="2800"/>
              <a:t>k-1</a:t>
            </a:r>
            <a:r>
              <a:rPr baseline="-25000" lang="en-US" sz="2800"/>
              <a:t>i,k </a:t>
            </a:r>
            <a:r>
              <a:rPr lang="en-US" sz="2800"/>
              <a:t>(R</a:t>
            </a:r>
            <a:r>
              <a:rPr baseline="30000" lang="en-US" sz="2800"/>
              <a:t>k-1</a:t>
            </a:r>
            <a:r>
              <a:rPr baseline="-25000" lang="en-US" sz="2800"/>
              <a:t>k,k</a:t>
            </a:r>
            <a:r>
              <a:rPr lang="en-US" sz="2800"/>
              <a:t>)* R</a:t>
            </a:r>
            <a:r>
              <a:rPr baseline="30000" lang="en-US" sz="2800"/>
              <a:t>k-1</a:t>
            </a:r>
            <a:r>
              <a:rPr baseline="-25000" lang="en-US" sz="2800"/>
              <a:t>k,j</a:t>
            </a:r>
            <a:endParaRPr/>
          </a:p>
          <a:p>
            <a:pPr indent="-1778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sz="2800"/>
              <a:t>Intuition: since the accepting sequence contains one or more visits to state k, break the path into pieces that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first goes from i to its first k-visit (R</a:t>
            </a:r>
            <a:r>
              <a:rPr baseline="30000" lang="en-US" sz="2400"/>
              <a:t>k-1</a:t>
            </a:r>
            <a:r>
              <a:rPr baseline="-25000" lang="en-US" sz="2400"/>
              <a:t>i,k</a:t>
            </a:r>
            <a:r>
              <a:rPr lang="en-US" sz="2400"/>
              <a:t>)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followed by zero or more revisits to k (R</a:t>
            </a:r>
            <a:r>
              <a:rPr baseline="30000" lang="en-US" sz="2400"/>
              <a:t>k-1</a:t>
            </a:r>
            <a:r>
              <a:rPr baseline="-25000" lang="en-US" sz="2400"/>
              <a:t>k,k</a:t>
            </a:r>
            <a:r>
              <a:rPr lang="en-US" sz="2400"/>
              <a:t>)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followed by a path from k to j (R</a:t>
            </a:r>
            <a:r>
              <a:rPr baseline="30000" lang="en-US" sz="2400"/>
              <a:t>k-1</a:t>
            </a:r>
            <a:r>
              <a:rPr baseline="-25000" lang="en-US" sz="2400"/>
              <a:t>k,j </a:t>
            </a:r>
            <a:r>
              <a:rPr lang="en-US" sz="2400"/>
              <a:t>)</a:t>
            </a:r>
            <a:endParaRPr/>
          </a:p>
        </p:txBody>
      </p:sp>
      <p:sp>
        <p:nvSpPr>
          <p:cNvPr id="292" name="Google Shape;292;p18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9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And finally…</a:t>
            </a:r>
            <a:endParaRPr/>
          </a:p>
        </p:txBody>
      </p:sp>
      <p:sp>
        <p:nvSpPr>
          <p:cNvPr id="298" name="Google Shape;298;p19"/>
          <p:cNvSpPr txBox="1"/>
          <p:nvPr>
            <p:ph idx="1" type="body"/>
          </p:nvPr>
        </p:nvSpPr>
        <p:spPr>
          <a:xfrm>
            <a:off x="457200" y="1223151"/>
            <a:ext cx="8229600" cy="4872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778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sz="2800"/>
              <a:t>We get the regular expression(s) that represent all strings with admissible sequences that start with the initial state (state 1) and end with a final state</a:t>
            </a:r>
            <a:endParaRPr/>
          </a:p>
          <a:p>
            <a:pPr indent="-1778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sz="2800"/>
              <a:t>Resulting regular expression built from the DFA:  the union of all R</a:t>
            </a:r>
            <a:r>
              <a:rPr baseline="30000" lang="en-US" sz="2800"/>
              <a:t>n</a:t>
            </a:r>
            <a:r>
              <a:rPr baseline="-25000" lang="en-US" sz="2800"/>
              <a:t>1,f  </a:t>
            </a:r>
            <a:r>
              <a:rPr lang="en-US" sz="2800"/>
              <a:t>where f is a final state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Note: n is the number of states in the DFA meaning there are no more restrictions for intermediate states in the accepting sequence</a:t>
            </a:r>
            <a:endParaRPr baseline="-25000" sz="2400"/>
          </a:p>
        </p:txBody>
      </p:sp>
      <p:sp>
        <p:nvSpPr>
          <p:cNvPr id="299" name="Google Shape;299;p19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0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DFA to RE: State Elimination</a:t>
            </a:r>
            <a:endParaRPr/>
          </a:p>
        </p:txBody>
      </p:sp>
      <p:sp>
        <p:nvSpPr>
          <p:cNvPr id="306" name="Google Shape;306;p20"/>
          <p:cNvSpPr txBox="1"/>
          <p:nvPr>
            <p:ph idx="1" type="body"/>
          </p:nvPr>
        </p:nvSpPr>
        <p:spPr>
          <a:xfrm>
            <a:off x="457200" y="1223151"/>
            <a:ext cx="8229600" cy="4872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/>
              <a:t>Eliminates states of the automaton and replaces the edges with regular expressions that includes the behavior of the eliminated states.  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US"/>
              <a:t>Eventually we get down to the situation with just a start and final node, and this is easy to express as a RE</a:t>
            </a:r>
            <a:endParaRPr/>
          </a:p>
        </p:txBody>
      </p:sp>
      <p:sp>
        <p:nvSpPr>
          <p:cNvPr id="307" name="Google Shape;307;p20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1"/>
          <p:cNvSpPr txBox="1"/>
          <p:nvPr>
            <p:ph type="title"/>
          </p:nvPr>
        </p:nvSpPr>
        <p:spPr>
          <a:xfrm>
            <a:off x="685800" y="-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lang="en-US">
                <a:solidFill>
                  <a:schemeClr val="dk1"/>
                </a:solidFill>
              </a:rPr>
              <a:t>State Elimination</a:t>
            </a:r>
            <a:endParaRPr/>
          </a:p>
        </p:txBody>
      </p:sp>
      <p:sp>
        <p:nvSpPr>
          <p:cNvPr id="314" name="Google Shape;314;p21"/>
          <p:cNvSpPr txBox="1"/>
          <p:nvPr>
            <p:ph idx="1" type="body"/>
          </p:nvPr>
        </p:nvSpPr>
        <p:spPr>
          <a:xfrm>
            <a:off x="685800" y="7620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143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sz="1800">
                <a:solidFill>
                  <a:schemeClr val="dk1"/>
                </a:solidFill>
              </a:rPr>
              <a:t>Consider the figure below, which shows a generic state </a:t>
            </a:r>
            <a:r>
              <a:rPr lang="en-US" sz="1800">
                <a:solidFill>
                  <a:srgbClr val="FF0000"/>
                </a:solidFill>
              </a:rPr>
              <a:t>S</a:t>
            </a:r>
            <a:r>
              <a:rPr lang="en-US" sz="1800">
                <a:solidFill>
                  <a:schemeClr val="dk1"/>
                </a:solidFill>
              </a:rPr>
              <a:t> about to be eliminated.  The labels on all edges are regular expressions.</a:t>
            </a:r>
            <a:endParaRPr/>
          </a:p>
          <a:p>
            <a:pPr indent="-1143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US" sz="1800">
                <a:solidFill>
                  <a:schemeClr val="dk1"/>
                </a:solidFill>
              </a:rPr>
              <a:t>To remove</a:t>
            </a:r>
            <a:r>
              <a:rPr lang="en-US" sz="1800"/>
              <a:t> </a:t>
            </a:r>
            <a:r>
              <a:rPr lang="en-US" sz="1800">
                <a:solidFill>
                  <a:srgbClr val="FF0000"/>
                </a:solidFill>
              </a:rPr>
              <a:t>S</a:t>
            </a:r>
            <a:r>
              <a:rPr lang="en-US" sz="1800"/>
              <a:t> </a:t>
            </a:r>
            <a:r>
              <a:rPr lang="en-US" sz="1800">
                <a:solidFill>
                  <a:schemeClr val="dk1"/>
                </a:solidFill>
              </a:rPr>
              <a:t>we must make labels from each </a:t>
            </a:r>
            <a:r>
              <a:rPr lang="en-US" sz="1800">
                <a:solidFill>
                  <a:srgbClr val="FF0000"/>
                </a:solidFill>
              </a:rPr>
              <a:t>q</a:t>
            </a:r>
            <a:r>
              <a:rPr baseline="-25000" lang="en-US" sz="1800">
                <a:solidFill>
                  <a:srgbClr val="FF0000"/>
                </a:solidFill>
              </a:rPr>
              <a:t>i</a:t>
            </a:r>
            <a:r>
              <a:rPr lang="en-US" sz="1800">
                <a:solidFill>
                  <a:srgbClr val="FF0000"/>
                </a:solidFill>
              </a:rPr>
              <a:t> </a:t>
            </a:r>
            <a:r>
              <a:rPr lang="en-US" sz="1800">
                <a:solidFill>
                  <a:schemeClr val="dk1"/>
                </a:solidFill>
              </a:rPr>
              <a:t>to</a:t>
            </a:r>
            <a:r>
              <a:rPr lang="en-US" sz="1800">
                <a:solidFill>
                  <a:srgbClr val="FF0000"/>
                </a:solidFill>
              </a:rPr>
              <a:t> p</a:t>
            </a:r>
            <a:r>
              <a:rPr baseline="-25000" lang="en-US" sz="1800">
                <a:solidFill>
                  <a:srgbClr val="FF0000"/>
                </a:solidFill>
              </a:rPr>
              <a:t>1</a:t>
            </a:r>
            <a:r>
              <a:rPr lang="en-US" sz="1800"/>
              <a:t> </a:t>
            </a:r>
            <a:r>
              <a:rPr lang="en-US" sz="1800">
                <a:solidFill>
                  <a:schemeClr val="dk1"/>
                </a:solidFill>
              </a:rPr>
              <a:t>up to p</a:t>
            </a:r>
            <a:r>
              <a:rPr baseline="-25000" lang="en-US" sz="1800">
                <a:solidFill>
                  <a:schemeClr val="dk1"/>
                </a:solidFill>
              </a:rPr>
              <a:t>m</a:t>
            </a:r>
            <a:r>
              <a:rPr lang="en-US" sz="1800">
                <a:solidFill>
                  <a:schemeClr val="dk1"/>
                </a:solidFill>
              </a:rPr>
              <a:t> that include the paths we could have made through </a:t>
            </a:r>
            <a:r>
              <a:rPr lang="en-US" sz="1800">
                <a:solidFill>
                  <a:srgbClr val="FF0000"/>
                </a:solidFill>
              </a:rPr>
              <a:t>S</a:t>
            </a:r>
            <a:r>
              <a:rPr lang="en-US" sz="1800"/>
              <a:t>. </a:t>
            </a:r>
            <a:endParaRPr/>
          </a:p>
        </p:txBody>
      </p:sp>
      <p:pic>
        <p:nvPicPr>
          <p:cNvPr id="315" name="Google Shape;315;p21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981200"/>
            <a:ext cx="3732213" cy="449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1"/>
          <p:cNvPicPr preferRelativeResize="0"/>
          <p:nvPr>
            <p:ph idx="3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2528888"/>
            <a:ext cx="4038600" cy="3490912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1"/>
          <p:cNvSpPr/>
          <p:nvPr/>
        </p:nvSpPr>
        <p:spPr>
          <a:xfrm>
            <a:off x="4191000" y="3962400"/>
            <a:ext cx="533400" cy="457200"/>
          </a:xfrm>
          <a:prstGeom prst="rightArrow">
            <a:avLst>
              <a:gd fmla="val 50000" name="adj1"/>
              <a:gd fmla="val 29167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8" name="Google Shape;318;p21"/>
          <p:cNvSpPr txBox="1"/>
          <p:nvPr/>
        </p:nvSpPr>
        <p:spPr>
          <a:xfrm>
            <a:off x="3032125" y="6289675"/>
            <a:ext cx="46815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 q and p may be the same state!</a:t>
            </a:r>
            <a:endParaRPr/>
          </a:p>
        </p:txBody>
      </p:sp>
      <p:sp>
        <p:nvSpPr>
          <p:cNvPr id="319" name="Google Shape;319;p21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2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/>
              <a:buNone/>
            </a:pPr>
            <a:r>
              <a:rPr lang="en-US" sz="4000"/>
              <a:t>DFA to RE via State Elimination (1)</a:t>
            </a:r>
            <a:endParaRPr/>
          </a:p>
        </p:txBody>
      </p:sp>
      <p:sp>
        <p:nvSpPr>
          <p:cNvPr id="326" name="Google Shape;326;p22"/>
          <p:cNvSpPr txBox="1"/>
          <p:nvPr>
            <p:ph idx="1" type="body"/>
          </p:nvPr>
        </p:nvSpPr>
        <p:spPr>
          <a:xfrm>
            <a:off x="457200" y="1223151"/>
            <a:ext cx="8229600" cy="4872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6096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AutoNum type="arabicPeriod"/>
            </a:pPr>
            <a:r>
              <a:rPr lang="en-US"/>
              <a:t>Starting with intermediate states and then moving to accepting states, apply the state elimination process to produce an equivalent automaton with regular expression labels on the edges.   </a:t>
            </a:r>
            <a:endParaRPr/>
          </a:p>
          <a:p>
            <a:pPr indent="-533400" lvl="1" marL="990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/>
              <a:t>The result will be a one or two state automaton with a start state and accepting state.</a:t>
            </a:r>
            <a:endParaRPr/>
          </a:p>
          <a:p>
            <a:pPr indent="-457200" lvl="0" marL="609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27" name="Google Shape;327;p22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3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DFA to RE State Elimination (2)</a:t>
            </a:r>
            <a:endParaRPr/>
          </a:p>
        </p:txBody>
      </p:sp>
      <p:sp>
        <p:nvSpPr>
          <p:cNvPr id="334" name="Google Shape;334;p23"/>
          <p:cNvSpPr txBox="1"/>
          <p:nvPr>
            <p:ph idx="1" type="body"/>
          </p:nvPr>
        </p:nvSpPr>
        <p:spPr>
          <a:xfrm>
            <a:off x="685800" y="1981200"/>
            <a:ext cx="6477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6096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 startAt="2"/>
            </a:pPr>
            <a:r>
              <a:rPr lang="en-US" sz="2800">
                <a:solidFill>
                  <a:schemeClr val="dk1"/>
                </a:solidFill>
              </a:rPr>
              <a:t>If the two states are different, we will have an automaton that looks like the following:</a:t>
            </a:r>
            <a:endParaRPr/>
          </a:p>
          <a:p>
            <a:pPr indent="-431800" lvl="0" marL="609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  <p:pic>
        <p:nvPicPr>
          <p:cNvPr id="335" name="Google Shape;335;p23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3429000"/>
            <a:ext cx="3581400" cy="2163763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3"/>
          <p:cNvSpPr txBox="1"/>
          <p:nvPr/>
        </p:nvSpPr>
        <p:spPr>
          <a:xfrm>
            <a:off x="1279525" y="5680075"/>
            <a:ext cx="66405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describe this automaton as:  (R+SU*T)*SU*</a:t>
            </a:r>
            <a:endParaRPr/>
          </a:p>
        </p:txBody>
      </p:sp>
      <p:sp>
        <p:nvSpPr>
          <p:cNvPr id="337" name="Google Shape;337;p23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4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DFA to RE State Elimination (3)</a:t>
            </a:r>
            <a:endParaRPr/>
          </a:p>
        </p:txBody>
      </p:sp>
      <p:sp>
        <p:nvSpPr>
          <p:cNvPr id="344" name="Google Shape;344;p24"/>
          <p:cNvSpPr txBox="1"/>
          <p:nvPr>
            <p:ph idx="1" type="body"/>
          </p:nvPr>
        </p:nvSpPr>
        <p:spPr>
          <a:xfrm>
            <a:off x="685800" y="1981200"/>
            <a:ext cx="8001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609600" lvl="0" marL="609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AutoNum type="arabicPeriod" startAt="3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start state is also an accepting state, then we must also perform a state elimination from the original automaton that gets rid of every state but the start state.  This leaves the following:</a:t>
            </a:r>
            <a:endParaRPr/>
          </a:p>
          <a:p>
            <a:pPr indent="-431800" lvl="0" marL="609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  <p:pic>
        <p:nvPicPr>
          <p:cNvPr id="345" name="Google Shape;345;p24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0" y="3886200"/>
            <a:ext cx="2055813" cy="144462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4"/>
          <p:cNvSpPr txBox="1"/>
          <p:nvPr/>
        </p:nvSpPr>
        <p:spPr>
          <a:xfrm>
            <a:off x="1355725" y="5680075"/>
            <a:ext cx="58150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describe this automaton as simply R*.</a:t>
            </a:r>
            <a:endParaRPr/>
          </a:p>
        </p:txBody>
      </p:sp>
      <p:sp>
        <p:nvSpPr>
          <p:cNvPr id="347" name="Google Shape;347;p24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5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DFA to RE State Elimination (4)</a:t>
            </a:r>
            <a:endParaRPr/>
          </a:p>
        </p:txBody>
      </p:sp>
      <p:sp>
        <p:nvSpPr>
          <p:cNvPr id="354" name="Google Shape;354;p25"/>
          <p:cNvSpPr txBox="1"/>
          <p:nvPr>
            <p:ph idx="1" type="body"/>
          </p:nvPr>
        </p:nvSpPr>
        <p:spPr>
          <a:xfrm>
            <a:off x="457200" y="1223151"/>
            <a:ext cx="8229600" cy="4872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6096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AutoNum type="arabicPeriod" startAt="4"/>
            </a:pPr>
            <a:r>
              <a:rPr lang="en-US"/>
              <a:t>If there are n accepting states, we must repeat the above steps for each accepting states to get n different regular expressions, R</a:t>
            </a:r>
            <a:r>
              <a:rPr baseline="-25000" lang="en-US"/>
              <a:t>1</a:t>
            </a:r>
            <a:r>
              <a:rPr lang="en-US"/>
              <a:t>, R</a:t>
            </a:r>
            <a:r>
              <a:rPr baseline="-25000" lang="en-US"/>
              <a:t>2</a:t>
            </a:r>
            <a:r>
              <a:rPr lang="en-US"/>
              <a:t>, … R</a:t>
            </a:r>
            <a:r>
              <a:rPr baseline="-25000" lang="en-US"/>
              <a:t>n</a:t>
            </a:r>
            <a:r>
              <a:rPr lang="en-US"/>
              <a:t>.  For each repeat we turn any other accepting state to non-accepting.  The desired regular expression for the automaton is then the union of each of the n regular expressions:  R</a:t>
            </a:r>
            <a:r>
              <a:rPr baseline="-25000" lang="en-US"/>
              <a:t>1</a:t>
            </a:r>
            <a:r>
              <a:rPr lang="en-US"/>
              <a:t>∪ R</a:t>
            </a:r>
            <a:r>
              <a:rPr baseline="-25000" lang="en-US"/>
              <a:t>2</a:t>
            </a:r>
            <a:r>
              <a:rPr lang="en-US"/>
              <a:t>… ∪ R</a:t>
            </a:r>
            <a:r>
              <a:rPr baseline="-25000" lang="en-US"/>
              <a:t>N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55" name="Google Shape;355;p25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6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DFA🡪RE Example</a:t>
            </a:r>
            <a:endParaRPr/>
          </a:p>
        </p:txBody>
      </p:sp>
      <p:sp>
        <p:nvSpPr>
          <p:cNvPr id="362" name="Google Shape;362;p26"/>
          <p:cNvSpPr txBox="1"/>
          <p:nvPr>
            <p:ph idx="1" type="body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778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sz="2800"/>
              <a:t>Convert the following to a RE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778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sz="2800"/>
              <a:t>First convert the edges to RE’s:</a:t>
            </a:r>
            <a:endParaRPr/>
          </a:p>
        </p:txBody>
      </p:sp>
      <p:pic>
        <p:nvPicPr>
          <p:cNvPr id="363" name="Google Shape;363;p26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2438400"/>
            <a:ext cx="3810000" cy="182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6"/>
          <p:cNvPicPr preferRelativeResize="0"/>
          <p:nvPr>
            <p:ph idx="3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0" y="4495800"/>
            <a:ext cx="3810000" cy="1817688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6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7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DFA 🡪 RE Example (2)</a:t>
            </a:r>
            <a:endParaRPr/>
          </a:p>
        </p:txBody>
      </p:sp>
      <p:sp>
        <p:nvSpPr>
          <p:cNvPr id="372" name="Google Shape;372;p27"/>
          <p:cNvSpPr txBox="1"/>
          <p:nvPr>
            <p:ph idx="1" type="body"/>
          </p:nvPr>
        </p:nvSpPr>
        <p:spPr>
          <a:xfrm>
            <a:off x="457200" y="1223151"/>
            <a:ext cx="8229600" cy="4872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/>
              <a:t>Eliminate State 1: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US"/>
              <a:t>To: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73" name="Google Shape;373;p27"/>
          <p:cNvSpPr/>
          <p:nvPr/>
        </p:nvSpPr>
        <p:spPr>
          <a:xfrm>
            <a:off x="4111625" y="2593975"/>
            <a:ext cx="758825" cy="758825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cxnSp>
        <p:nvCxnSpPr>
          <p:cNvPr id="374" name="Google Shape;374;p27"/>
          <p:cNvCxnSpPr/>
          <p:nvPr/>
        </p:nvCxnSpPr>
        <p:spPr>
          <a:xfrm>
            <a:off x="3502025" y="29718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5" name="Google Shape;375;p27"/>
          <p:cNvSpPr txBox="1"/>
          <p:nvPr/>
        </p:nvSpPr>
        <p:spPr>
          <a:xfrm>
            <a:off x="2855913" y="2819400"/>
            <a:ext cx="56991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</a:t>
            </a:r>
            <a:endParaRPr/>
          </a:p>
        </p:txBody>
      </p:sp>
      <p:sp>
        <p:nvSpPr>
          <p:cNvPr id="376" name="Google Shape;376;p27"/>
          <p:cNvSpPr/>
          <p:nvPr/>
        </p:nvSpPr>
        <p:spPr>
          <a:xfrm>
            <a:off x="5410200" y="2590800"/>
            <a:ext cx="758825" cy="758825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377" name="Google Shape;377;p27"/>
          <p:cNvSpPr/>
          <p:nvPr/>
        </p:nvSpPr>
        <p:spPr>
          <a:xfrm>
            <a:off x="6702425" y="2590800"/>
            <a:ext cx="758825" cy="758825"/>
          </a:xfrm>
          <a:prstGeom prst="ellipse">
            <a:avLst/>
          </a:prstGeom>
          <a:noFill/>
          <a:ln cap="flat" cmpd="thinThick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cxnSp>
        <p:nvCxnSpPr>
          <p:cNvPr id="378" name="Google Shape;378;p27"/>
          <p:cNvCxnSpPr/>
          <p:nvPr/>
        </p:nvCxnSpPr>
        <p:spPr>
          <a:xfrm>
            <a:off x="4949825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9" name="Google Shape;379;p27"/>
          <p:cNvCxnSpPr/>
          <p:nvPr/>
        </p:nvCxnSpPr>
        <p:spPr>
          <a:xfrm>
            <a:off x="6169025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0" name="Google Shape;380;p27"/>
          <p:cNvSpPr txBox="1"/>
          <p:nvPr/>
        </p:nvSpPr>
        <p:spPr>
          <a:xfrm>
            <a:off x="5026025" y="2635250"/>
            <a:ext cx="2857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381" name="Google Shape;381;p27"/>
          <p:cNvSpPr txBox="1"/>
          <p:nvPr/>
        </p:nvSpPr>
        <p:spPr>
          <a:xfrm>
            <a:off x="6245225" y="2590800"/>
            <a:ext cx="2857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cxnSp>
        <p:nvCxnSpPr>
          <p:cNvPr id="382" name="Google Shape;382;p27"/>
          <p:cNvCxnSpPr>
            <a:stCxn id="373" idx="7"/>
            <a:endCxn id="373" idx="1"/>
          </p:cNvCxnSpPr>
          <p:nvPr/>
        </p:nvCxnSpPr>
        <p:spPr>
          <a:xfrm rot="5400000">
            <a:off x="4490673" y="2437052"/>
            <a:ext cx="600" cy="536700"/>
          </a:xfrm>
          <a:prstGeom prst="curvedConnector3">
            <a:avLst>
              <a:gd fmla="val -105073141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3" name="Google Shape;383;p27"/>
          <p:cNvSpPr txBox="1"/>
          <p:nvPr/>
        </p:nvSpPr>
        <p:spPr>
          <a:xfrm>
            <a:off x="4370388" y="1720850"/>
            <a:ext cx="2857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cxnSp>
        <p:nvCxnSpPr>
          <p:cNvPr id="384" name="Google Shape;384;p27"/>
          <p:cNvCxnSpPr>
            <a:stCxn id="376" idx="3"/>
            <a:endCxn id="373" idx="5"/>
          </p:cNvCxnSpPr>
          <p:nvPr/>
        </p:nvCxnSpPr>
        <p:spPr>
          <a:xfrm rot="5400000">
            <a:off x="5138677" y="2859148"/>
            <a:ext cx="3300" cy="762000"/>
          </a:xfrm>
          <a:prstGeom prst="curvedConnector3">
            <a:avLst>
              <a:gd fmla="val 10390995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5" name="Google Shape;385;p27"/>
          <p:cNvSpPr txBox="1"/>
          <p:nvPr/>
        </p:nvSpPr>
        <p:spPr>
          <a:xfrm>
            <a:off x="5041900" y="3549650"/>
            <a:ext cx="2857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cxnSp>
        <p:nvCxnSpPr>
          <p:cNvPr id="386" name="Google Shape;386;p27"/>
          <p:cNvCxnSpPr/>
          <p:nvPr/>
        </p:nvCxnSpPr>
        <p:spPr>
          <a:xfrm flipH="1">
            <a:off x="6851526" y="2660650"/>
            <a:ext cx="536700" cy="1500"/>
          </a:xfrm>
          <a:prstGeom prst="curvedConnector3">
            <a:avLst>
              <a:gd fmla="val 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7" name="Google Shape;387;p27"/>
          <p:cNvSpPr txBox="1"/>
          <p:nvPr/>
        </p:nvSpPr>
        <p:spPr>
          <a:xfrm>
            <a:off x="6999288" y="1676400"/>
            <a:ext cx="5016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0+1</a:t>
            </a:r>
            <a:endParaRPr/>
          </a:p>
        </p:txBody>
      </p:sp>
      <p:sp>
        <p:nvSpPr>
          <p:cNvPr id="388" name="Google Shape;388;p27"/>
          <p:cNvSpPr/>
          <p:nvPr/>
        </p:nvSpPr>
        <p:spPr>
          <a:xfrm>
            <a:off x="4075113" y="4956175"/>
            <a:ext cx="758825" cy="758825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cxnSp>
        <p:nvCxnSpPr>
          <p:cNvPr id="389" name="Google Shape;389;p27"/>
          <p:cNvCxnSpPr/>
          <p:nvPr/>
        </p:nvCxnSpPr>
        <p:spPr>
          <a:xfrm>
            <a:off x="3465513" y="5334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0" name="Google Shape;390;p27"/>
          <p:cNvSpPr txBox="1"/>
          <p:nvPr/>
        </p:nvSpPr>
        <p:spPr>
          <a:xfrm>
            <a:off x="2819400" y="5181600"/>
            <a:ext cx="56991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</a:t>
            </a:r>
            <a:endParaRPr/>
          </a:p>
        </p:txBody>
      </p:sp>
      <p:sp>
        <p:nvSpPr>
          <p:cNvPr id="391" name="Google Shape;391;p27"/>
          <p:cNvSpPr/>
          <p:nvPr/>
        </p:nvSpPr>
        <p:spPr>
          <a:xfrm>
            <a:off x="6208713" y="4953000"/>
            <a:ext cx="758825" cy="758825"/>
          </a:xfrm>
          <a:prstGeom prst="ellipse">
            <a:avLst/>
          </a:prstGeom>
          <a:noFill/>
          <a:ln cap="flat" cmpd="thinThick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cxnSp>
        <p:nvCxnSpPr>
          <p:cNvPr id="392" name="Google Shape;392;p27"/>
          <p:cNvCxnSpPr/>
          <p:nvPr/>
        </p:nvCxnSpPr>
        <p:spPr>
          <a:xfrm>
            <a:off x="4873625" y="5334000"/>
            <a:ext cx="125888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3" name="Google Shape;393;p27"/>
          <p:cNvSpPr txBox="1"/>
          <p:nvPr/>
        </p:nvSpPr>
        <p:spPr>
          <a:xfrm>
            <a:off x="5181600" y="4953000"/>
            <a:ext cx="3873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/>
          </a:p>
        </p:txBody>
      </p:sp>
      <p:cxnSp>
        <p:nvCxnSpPr>
          <p:cNvPr id="394" name="Google Shape;394;p27"/>
          <p:cNvCxnSpPr>
            <a:stCxn id="388" idx="7"/>
            <a:endCxn id="388" idx="1"/>
          </p:cNvCxnSpPr>
          <p:nvPr/>
        </p:nvCxnSpPr>
        <p:spPr>
          <a:xfrm rot="5400000">
            <a:off x="4454161" y="4799252"/>
            <a:ext cx="600" cy="536700"/>
          </a:xfrm>
          <a:prstGeom prst="curvedConnector3">
            <a:avLst>
              <a:gd fmla="val -105073141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5" name="Google Shape;395;p27"/>
          <p:cNvSpPr txBox="1"/>
          <p:nvPr/>
        </p:nvSpPr>
        <p:spPr>
          <a:xfrm>
            <a:off x="4333875" y="4083050"/>
            <a:ext cx="6032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0+10</a:t>
            </a:r>
            <a:endParaRPr/>
          </a:p>
        </p:txBody>
      </p:sp>
      <p:cxnSp>
        <p:nvCxnSpPr>
          <p:cNvPr id="396" name="Google Shape;396;p27"/>
          <p:cNvCxnSpPr/>
          <p:nvPr/>
        </p:nvCxnSpPr>
        <p:spPr>
          <a:xfrm flipH="1">
            <a:off x="6357813" y="5022850"/>
            <a:ext cx="536700" cy="1500"/>
          </a:xfrm>
          <a:prstGeom prst="curvedConnector3">
            <a:avLst>
              <a:gd fmla="val 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7" name="Google Shape;397;p27"/>
          <p:cNvSpPr txBox="1"/>
          <p:nvPr/>
        </p:nvSpPr>
        <p:spPr>
          <a:xfrm>
            <a:off x="6505575" y="4038600"/>
            <a:ext cx="5016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0+1</a:t>
            </a:r>
            <a:endParaRPr/>
          </a:p>
        </p:txBody>
      </p:sp>
      <p:sp>
        <p:nvSpPr>
          <p:cNvPr id="398" name="Google Shape;398;p27"/>
          <p:cNvSpPr txBox="1"/>
          <p:nvPr/>
        </p:nvSpPr>
        <p:spPr>
          <a:xfrm>
            <a:off x="669925" y="4232275"/>
            <a:ext cx="2774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 edge from 3🡪3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9" name="Google Shape;399;p27"/>
          <p:cNvSpPr txBox="1"/>
          <p:nvPr/>
        </p:nvSpPr>
        <p:spPr>
          <a:xfrm>
            <a:off x="593725" y="5908675"/>
            <a:ext cx="34909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Answer:  (0+10)*11(0+1)*</a:t>
            </a:r>
            <a:endParaRPr/>
          </a:p>
        </p:txBody>
      </p:sp>
      <p:sp>
        <p:nvSpPr>
          <p:cNvPr id="400" name="Google Shape;400;p27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8"/>
          <p:cNvSpPr txBox="1"/>
          <p:nvPr>
            <p:ph type="title"/>
          </p:nvPr>
        </p:nvSpPr>
        <p:spPr>
          <a:xfrm>
            <a:off x="6858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Second Example</a:t>
            </a:r>
            <a:endParaRPr/>
          </a:p>
        </p:txBody>
      </p:sp>
      <p:sp>
        <p:nvSpPr>
          <p:cNvPr id="407" name="Google Shape;407;p28"/>
          <p:cNvSpPr txBox="1"/>
          <p:nvPr>
            <p:ph idx="1" type="body"/>
          </p:nvPr>
        </p:nvSpPr>
        <p:spPr>
          <a:xfrm>
            <a:off x="685800" y="13716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/>
              <a:t>Automata that accepts even number of 1’s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US"/>
              <a:t>Eliminate state 2:</a:t>
            </a:r>
            <a:endParaRPr/>
          </a:p>
        </p:txBody>
      </p:sp>
      <p:sp>
        <p:nvSpPr>
          <p:cNvPr id="408" name="Google Shape;408;p28"/>
          <p:cNvSpPr/>
          <p:nvPr/>
        </p:nvSpPr>
        <p:spPr>
          <a:xfrm>
            <a:off x="2743200" y="2895600"/>
            <a:ext cx="758825" cy="758825"/>
          </a:xfrm>
          <a:prstGeom prst="ellipse">
            <a:avLst/>
          </a:prstGeom>
          <a:noFill/>
          <a:ln cap="flat" cmpd="thinThick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cxnSp>
        <p:nvCxnSpPr>
          <p:cNvPr id="409" name="Google Shape;409;p28"/>
          <p:cNvCxnSpPr/>
          <p:nvPr/>
        </p:nvCxnSpPr>
        <p:spPr>
          <a:xfrm>
            <a:off x="2133600" y="3273425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0" name="Google Shape;410;p28"/>
          <p:cNvSpPr txBox="1"/>
          <p:nvPr/>
        </p:nvSpPr>
        <p:spPr>
          <a:xfrm>
            <a:off x="1487488" y="3121025"/>
            <a:ext cx="56991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</a:t>
            </a:r>
            <a:endParaRPr/>
          </a:p>
        </p:txBody>
      </p:sp>
      <p:sp>
        <p:nvSpPr>
          <p:cNvPr id="411" name="Google Shape;411;p28"/>
          <p:cNvSpPr/>
          <p:nvPr/>
        </p:nvSpPr>
        <p:spPr>
          <a:xfrm>
            <a:off x="4041775" y="2892425"/>
            <a:ext cx="758825" cy="758825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412" name="Google Shape;412;p28"/>
          <p:cNvSpPr/>
          <p:nvPr/>
        </p:nvSpPr>
        <p:spPr>
          <a:xfrm>
            <a:off x="5334000" y="2892425"/>
            <a:ext cx="758825" cy="758825"/>
          </a:xfrm>
          <a:prstGeom prst="ellipse">
            <a:avLst/>
          </a:prstGeom>
          <a:noFill/>
          <a:ln cap="flat" cmpd="thinThick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cxnSp>
        <p:nvCxnSpPr>
          <p:cNvPr id="413" name="Google Shape;413;p28"/>
          <p:cNvCxnSpPr/>
          <p:nvPr/>
        </p:nvCxnSpPr>
        <p:spPr>
          <a:xfrm>
            <a:off x="3581400" y="3273425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4" name="Google Shape;414;p28"/>
          <p:cNvCxnSpPr/>
          <p:nvPr/>
        </p:nvCxnSpPr>
        <p:spPr>
          <a:xfrm>
            <a:off x="4800600" y="3273425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5" name="Google Shape;415;p28"/>
          <p:cNvSpPr txBox="1"/>
          <p:nvPr/>
        </p:nvSpPr>
        <p:spPr>
          <a:xfrm>
            <a:off x="3657600" y="2936875"/>
            <a:ext cx="2857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416" name="Google Shape;416;p28"/>
          <p:cNvSpPr txBox="1"/>
          <p:nvPr/>
        </p:nvSpPr>
        <p:spPr>
          <a:xfrm>
            <a:off x="4876800" y="2892425"/>
            <a:ext cx="2857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cxnSp>
        <p:nvCxnSpPr>
          <p:cNvPr id="417" name="Google Shape;417;p28"/>
          <p:cNvCxnSpPr>
            <a:stCxn id="408" idx="7"/>
            <a:endCxn id="408" idx="1"/>
          </p:cNvCxnSpPr>
          <p:nvPr/>
        </p:nvCxnSpPr>
        <p:spPr>
          <a:xfrm rot="5400000">
            <a:off x="3122248" y="2738677"/>
            <a:ext cx="600" cy="536700"/>
          </a:xfrm>
          <a:prstGeom prst="curvedConnector3">
            <a:avLst>
              <a:gd fmla="val -105865641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8" name="Google Shape;418;p28"/>
          <p:cNvSpPr txBox="1"/>
          <p:nvPr/>
        </p:nvSpPr>
        <p:spPr>
          <a:xfrm>
            <a:off x="3001963" y="2022475"/>
            <a:ext cx="2857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cxnSp>
        <p:nvCxnSpPr>
          <p:cNvPr id="419" name="Google Shape;419;p28"/>
          <p:cNvCxnSpPr/>
          <p:nvPr/>
        </p:nvCxnSpPr>
        <p:spPr>
          <a:xfrm flipH="1">
            <a:off x="4648200" y="3540125"/>
            <a:ext cx="762000" cy="3300"/>
          </a:xfrm>
          <a:prstGeom prst="curvedConnector3">
            <a:avLst>
              <a:gd fmla="val 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0" name="Google Shape;420;p28"/>
          <p:cNvSpPr txBox="1"/>
          <p:nvPr/>
        </p:nvSpPr>
        <p:spPr>
          <a:xfrm>
            <a:off x="4930775" y="3851275"/>
            <a:ext cx="2857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cxnSp>
        <p:nvCxnSpPr>
          <p:cNvPr id="421" name="Google Shape;421;p28"/>
          <p:cNvCxnSpPr/>
          <p:nvPr/>
        </p:nvCxnSpPr>
        <p:spPr>
          <a:xfrm flipH="1">
            <a:off x="5483101" y="2962275"/>
            <a:ext cx="536700" cy="1500"/>
          </a:xfrm>
          <a:prstGeom prst="curvedConnector3">
            <a:avLst>
              <a:gd fmla="val 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2" name="Google Shape;422;p28"/>
          <p:cNvSpPr txBox="1"/>
          <p:nvPr/>
        </p:nvSpPr>
        <p:spPr>
          <a:xfrm>
            <a:off x="5630863" y="1978025"/>
            <a:ext cx="2857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cxnSp>
        <p:nvCxnSpPr>
          <p:cNvPr id="423" name="Google Shape;423;p28"/>
          <p:cNvCxnSpPr/>
          <p:nvPr/>
        </p:nvCxnSpPr>
        <p:spPr>
          <a:xfrm flipH="1">
            <a:off x="4114676" y="2962275"/>
            <a:ext cx="536700" cy="1500"/>
          </a:xfrm>
          <a:prstGeom prst="curvedConnector3">
            <a:avLst>
              <a:gd fmla="val 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4" name="Google Shape;424;p28"/>
          <p:cNvSpPr txBox="1"/>
          <p:nvPr/>
        </p:nvSpPr>
        <p:spPr>
          <a:xfrm>
            <a:off x="4262438" y="1978025"/>
            <a:ext cx="2857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425" name="Google Shape;425;p28"/>
          <p:cNvSpPr/>
          <p:nvPr/>
        </p:nvSpPr>
        <p:spPr>
          <a:xfrm>
            <a:off x="2779713" y="5337175"/>
            <a:ext cx="758825" cy="758825"/>
          </a:xfrm>
          <a:prstGeom prst="ellipse">
            <a:avLst/>
          </a:prstGeom>
          <a:noFill/>
          <a:ln cap="flat" cmpd="thinThick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cxnSp>
        <p:nvCxnSpPr>
          <p:cNvPr id="426" name="Google Shape;426;p28"/>
          <p:cNvCxnSpPr/>
          <p:nvPr/>
        </p:nvCxnSpPr>
        <p:spPr>
          <a:xfrm>
            <a:off x="2170113" y="5715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7" name="Google Shape;427;p28"/>
          <p:cNvSpPr txBox="1"/>
          <p:nvPr/>
        </p:nvSpPr>
        <p:spPr>
          <a:xfrm>
            <a:off x="1524000" y="5562600"/>
            <a:ext cx="56991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</a:t>
            </a:r>
            <a:endParaRPr/>
          </a:p>
        </p:txBody>
      </p:sp>
      <p:sp>
        <p:nvSpPr>
          <p:cNvPr id="428" name="Google Shape;428;p28"/>
          <p:cNvSpPr/>
          <p:nvPr/>
        </p:nvSpPr>
        <p:spPr>
          <a:xfrm>
            <a:off x="5370513" y="5334000"/>
            <a:ext cx="758825" cy="758825"/>
          </a:xfrm>
          <a:prstGeom prst="ellipse">
            <a:avLst/>
          </a:prstGeom>
          <a:noFill/>
          <a:ln cap="flat" cmpd="thinThick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cxnSp>
        <p:nvCxnSpPr>
          <p:cNvPr id="429" name="Google Shape;429;p28"/>
          <p:cNvCxnSpPr/>
          <p:nvPr/>
        </p:nvCxnSpPr>
        <p:spPr>
          <a:xfrm>
            <a:off x="3617913" y="5715000"/>
            <a:ext cx="16398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0" name="Google Shape;430;p28"/>
          <p:cNvCxnSpPr>
            <a:stCxn id="425" idx="7"/>
            <a:endCxn id="425" idx="1"/>
          </p:cNvCxnSpPr>
          <p:nvPr/>
        </p:nvCxnSpPr>
        <p:spPr>
          <a:xfrm rot="5400000">
            <a:off x="3158761" y="5180252"/>
            <a:ext cx="600" cy="536700"/>
          </a:xfrm>
          <a:prstGeom prst="curvedConnector3">
            <a:avLst>
              <a:gd fmla="val -105865641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1" name="Google Shape;431;p28"/>
          <p:cNvSpPr txBox="1"/>
          <p:nvPr/>
        </p:nvSpPr>
        <p:spPr>
          <a:xfrm>
            <a:off x="3038475" y="4464050"/>
            <a:ext cx="2857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cxnSp>
        <p:nvCxnSpPr>
          <p:cNvPr id="432" name="Google Shape;432;p28"/>
          <p:cNvCxnSpPr/>
          <p:nvPr/>
        </p:nvCxnSpPr>
        <p:spPr>
          <a:xfrm flipH="1">
            <a:off x="5519614" y="5403850"/>
            <a:ext cx="536700" cy="1500"/>
          </a:xfrm>
          <a:prstGeom prst="curvedConnector3">
            <a:avLst>
              <a:gd fmla="val 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3" name="Google Shape;433;p28"/>
          <p:cNvSpPr txBox="1"/>
          <p:nvPr/>
        </p:nvSpPr>
        <p:spPr>
          <a:xfrm>
            <a:off x="5667375" y="4419600"/>
            <a:ext cx="8064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0+10*1</a:t>
            </a:r>
            <a:endParaRPr/>
          </a:p>
        </p:txBody>
      </p:sp>
      <p:sp>
        <p:nvSpPr>
          <p:cNvPr id="434" name="Google Shape;434;p28"/>
          <p:cNvSpPr txBox="1"/>
          <p:nvPr/>
        </p:nvSpPr>
        <p:spPr>
          <a:xfrm>
            <a:off x="3733800" y="5378450"/>
            <a:ext cx="5905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10*1</a:t>
            </a:r>
            <a:endParaRPr/>
          </a:p>
        </p:txBody>
      </p:sp>
      <p:sp>
        <p:nvSpPr>
          <p:cNvPr id="435" name="Google Shape;435;p28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9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Second Example (2)</a:t>
            </a:r>
            <a:endParaRPr/>
          </a:p>
        </p:txBody>
      </p:sp>
      <p:sp>
        <p:nvSpPr>
          <p:cNvPr id="442" name="Google Shape;442;p29"/>
          <p:cNvSpPr txBox="1"/>
          <p:nvPr>
            <p:ph idx="1" type="body"/>
          </p:nvPr>
        </p:nvSpPr>
        <p:spPr>
          <a:xfrm>
            <a:off x="533400" y="35052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/>
              <a:t>Two accepting states, turn off state 3 first</a:t>
            </a:r>
            <a:endParaRPr/>
          </a:p>
        </p:txBody>
      </p:sp>
      <p:sp>
        <p:nvSpPr>
          <p:cNvPr id="443" name="Google Shape;443;p29"/>
          <p:cNvSpPr/>
          <p:nvPr/>
        </p:nvSpPr>
        <p:spPr>
          <a:xfrm>
            <a:off x="2667000" y="2670175"/>
            <a:ext cx="758825" cy="758825"/>
          </a:xfrm>
          <a:prstGeom prst="ellipse">
            <a:avLst/>
          </a:prstGeom>
          <a:noFill/>
          <a:ln cap="flat" cmpd="thinThick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cxnSp>
        <p:nvCxnSpPr>
          <p:cNvPr id="444" name="Google Shape;444;p29"/>
          <p:cNvCxnSpPr/>
          <p:nvPr/>
        </p:nvCxnSpPr>
        <p:spPr>
          <a:xfrm>
            <a:off x="2057400" y="3048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5" name="Google Shape;445;p29"/>
          <p:cNvSpPr txBox="1"/>
          <p:nvPr/>
        </p:nvSpPr>
        <p:spPr>
          <a:xfrm>
            <a:off x="1411288" y="2895600"/>
            <a:ext cx="56991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</a:t>
            </a:r>
            <a:endParaRPr/>
          </a:p>
        </p:txBody>
      </p:sp>
      <p:sp>
        <p:nvSpPr>
          <p:cNvPr id="446" name="Google Shape;446;p29"/>
          <p:cNvSpPr/>
          <p:nvPr/>
        </p:nvSpPr>
        <p:spPr>
          <a:xfrm>
            <a:off x="5257800" y="2667000"/>
            <a:ext cx="758825" cy="758825"/>
          </a:xfrm>
          <a:prstGeom prst="ellipse">
            <a:avLst/>
          </a:prstGeom>
          <a:noFill/>
          <a:ln cap="flat" cmpd="thinThick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cxnSp>
        <p:nvCxnSpPr>
          <p:cNvPr id="447" name="Google Shape;447;p29"/>
          <p:cNvCxnSpPr/>
          <p:nvPr/>
        </p:nvCxnSpPr>
        <p:spPr>
          <a:xfrm>
            <a:off x="3505200" y="3048000"/>
            <a:ext cx="163988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8" name="Google Shape;448;p29"/>
          <p:cNvCxnSpPr>
            <a:stCxn id="443" idx="7"/>
            <a:endCxn id="443" idx="1"/>
          </p:cNvCxnSpPr>
          <p:nvPr/>
        </p:nvCxnSpPr>
        <p:spPr>
          <a:xfrm rot="5400000">
            <a:off x="3046048" y="2513252"/>
            <a:ext cx="600" cy="536700"/>
          </a:xfrm>
          <a:prstGeom prst="curvedConnector3">
            <a:avLst>
              <a:gd fmla="val -105865641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9" name="Google Shape;449;p29"/>
          <p:cNvSpPr txBox="1"/>
          <p:nvPr/>
        </p:nvSpPr>
        <p:spPr>
          <a:xfrm>
            <a:off x="2925763" y="1797050"/>
            <a:ext cx="2857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cxnSp>
        <p:nvCxnSpPr>
          <p:cNvPr id="450" name="Google Shape;450;p29"/>
          <p:cNvCxnSpPr/>
          <p:nvPr/>
        </p:nvCxnSpPr>
        <p:spPr>
          <a:xfrm flipH="1">
            <a:off x="5406901" y="2736850"/>
            <a:ext cx="536700" cy="1500"/>
          </a:xfrm>
          <a:prstGeom prst="curvedConnector3">
            <a:avLst>
              <a:gd fmla="val 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1" name="Google Shape;451;p29"/>
          <p:cNvSpPr txBox="1"/>
          <p:nvPr/>
        </p:nvSpPr>
        <p:spPr>
          <a:xfrm>
            <a:off x="5554663" y="1752600"/>
            <a:ext cx="8064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0+10*1</a:t>
            </a:r>
            <a:endParaRPr/>
          </a:p>
        </p:txBody>
      </p:sp>
      <p:sp>
        <p:nvSpPr>
          <p:cNvPr id="452" name="Google Shape;452;p29"/>
          <p:cNvSpPr txBox="1"/>
          <p:nvPr/>
        </p:nvSpPr>
        <p:spPr>
          <a:xfrm>
            <a:off x="3621088" y="2711450"/>
            <a:ext cx="5905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10*1</a:t>
            </a:r>
            <a:endParaRPr/>
          </a:p>
        </p:txBody>
      </p:sp>
      <p:sp>
        <p:nvSpPr>
          <p:cNvPr id="453" name="Google Shape;453;p29"/>
          <p:cNvSpPr/>
          <p:nvPr/>
        </p:nvSpPr>
        <p:spPr>
          <a:xfrm>
            <a:off x="2627313" y="5032375"/>
            <a:ext cx="758825" cy="758825"/>
          </a:xfrm>
          <a:prstGeom prst="ellipse">
            <a:avLst/>
          </a:prstGeom>
          <a:noFill/>
          <a:ln cap="flat" cmpd="thinThick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cxnSp>
        <p:nvCxnSpPr>
          <p:cNvPr id="454" name="Google Shape;454;p29"/>
          <p:cNvCxnSpPr/>
          <p:nvPr/>
        </p:nvCxnSpPr>
        <p:spPr>
          <a:xfrm>
            <a:off x="2017713" y="54102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5" name="Google Shape;455;p29"/>
          <p:cNvSpPr txBox="1"/>
          <p:nvPr/>
        </p:nvSpPr>
        <p:spPr>
          <a:xfrm>
            <a:off x="1371600" y="5257800"/>
            <a:ext cx="56991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</a:t>
            </a:r>
            <a:endParaRPr/>
          </a:p>
        </p:txBody>
      </p:sp>
      <p:cxnSp>
        <p:nvCxnSpPr>
          <p:cNvPr id="456" name="Google Shape;456;p29"/>
          <p:cNvCxnSpPr>
            <a:stCxn id="453" idx="7"/>
            <a:endCxn id="453" idx="1"/>
          </p:cNvCxnSpPr>
          <p:nvPr/>
        </p:nvCxnSpPr>
        <p:spPr>
          <a:xfrm rot="5400000">
            <a:off x="3006361" y="4875452"/>
            <a:ext cx="600" cy="536700"/>
          </a:xfrm>
          <a:prstGeom prst="curvedConnector3">
            <a:avLst>
              <a:gd fmla="val -105865641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7" name="Google Shape;457;p29"/>
          <p:cNvSpPr txBox="1"/>
          <p:nvPr/>
        </p:nvSpPr>
        <p:spPr>
          <a:xfrm>
            <a:off x="2886075" y="4159250"/>
            <a:ext cx="2857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458" name="Google Shape;458;p29"/>
          <p:cNvSpPr txBox="1"/>
          <p:nvPr/>
        </p:nvSpPr>
        <p:spPr>
          <a:xfrm>
            <a:off x="457200" y="6096000"/>
            <a:ext cx="8048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just 0*;  can ignore going to state 3 since we would “die”</a:t>
            </a:r>
            <a:endParaRPr/>
          </a:p>
        </p:txBody>
      </p:sp>
      <p:sp>
        <p:nvSpPr>
          <p:cNvPr id="459" name="Google Shape;459;p29"/>
          <p:cNvSpPr/>
          <p:nvPr/>
        </p:nvSpPr>
        <p:spPr>
          <a:xfrm>
            <a:off x="5257800" y="5029200"/>
            <a:ext cx="758825" cy="758825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cxnSp>
        <p:nvCxnSpPr>
          <p:cNvPr id="460" name="Google Shape;460;p29"/>
          <p:cNvCxnSpPr/>
          <p:nvPr/>
        </p:nvCxnSpPr>
        <p:spPr>
          <a:xfrm>
            <a:off x="3505200" y="5410200"/>
            <a:ext cx="163988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1" name="Google Shape;461;p29"/>
          <p:cNvCxnSpPr/>
          <p:nvPr/>
        </p:nvCxnSpPr>
        <p:spPr>
          <a:xfrm flipH="1">
            <a:off x="5406901" y="5099050"/>
            <a:ext cx="536700" cy="1500"/>
          </a:xfrm>
          <a:prstGeom prst="curvedConnector3">
            <a:avLst>
              <a:gd fmla="val 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2" name="Google Shape;462;p29"/>
          <p:cNvSpPr txBox="1"/>
          <p:nvPr/>
        </p:nvSpPr>
        <p:spPr>
          <a:xfrm>
            <a:off x="5554663" y="4114800"/>
            <a:ext cx="8064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0+10*1</a:t>
            </a:r>
            <a:endParaRPr/>
          </a:p>
        </p:txBody>
      </p:sp>
      <p:sp>
        <p:nvSpPr>
          <p:cNvPr id="463" name="Google Shape;463;p29"/>
          <p:cNvSpPr txBox="1"/>
          <p:nvPr/>
        </p:nvSpPr>
        <p:spPr>
          <a:xfrm>
            <a:off x="3621088" y="5073650"/>
            <a:ext cx="5905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10*1</a:t>
            </a:r>
            <a:endParaRPr/>
          </a:p>
        </p:txBody>
      </p:sp>
      <p:sp>
        <p:nvSpPr>
          <p:cNvPr id="464" name="Google Shape;464;p29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0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Second Example (3)</a:t>
            </a:r>
            <a:endParaRPr/>
          </a:p>
        </p:txBody>
      </p:sp>
      <p:sp>
        <p:nvSpPr>
          <p:cNvPr id="471" name="Google Shape;471;p30"/>
          <p:cNvSpPr txBox="1"/>
          <p:nvPr>
            <p:ph idx="1" type="body"/>
          </p:nvPr>
        </p:nvSpPr>
        <p:spPr>
          <a:xfrm>
            <a:off x="457200" y="35814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/>
              <a:t>Turn off state 1 second: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72" name="Google Shape;472;p30"/>
          <p:cNvSpPr/>
          <p:nvPr/>
        </p:nvSpPr>
        <p:spPr>
          <a:xfrm>
            <a:off x="2667000" y="2670175"/>
            <a:ext cx="758825" cy="758825"/>
          </a:xfrm>
          <a:prstGeom prst="ellipse">
            <a:avLst/>
          </a:prstGeom>
          <a:noFill/>
          <a:ln cap="flat" cmpd="thinThick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cxnSp>
        <p:nvCxnSpPr>
          <p:cNvPr id="473" name="Google Shape;473;p30"/>
          <p:cNvCxnSpPr/>
          <p:nvPr/>
        </p:nvCxnSpPr>
        <p:spPr>
          <a:xfrm>
            <a:off x="2057400" y="3048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4" name="Google Shape;474;p30"/>
          <p:cNvSpPr txBox="1"/>
          <p:nvPr/>
        </p:nvSpPr>
        <p:spPr>
          <a:xfrm>
            <a:off x="1411288" y="2895600"/>
            <a:ext cx="56991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</a:t>
            </a:r>
            <a:endParaRPr/>
          </a:p>
        </p:txBody>
      </p:sp>
      <p:sp>
        <p:nvSpPr>
          <p:cNvPr id="475" name="Google Shape;475;p30"/>
          <p:cNvSpPr/>
          <p:nvPr/>
        </p:nvSpPr>
        <p:spPr>
          <a:xfrm>
            <a:off x="5257800" y="2667000"/>
            <a:ext cx="758825" cy="758825"/>
          </a:xfrm>
          <a:prstGeom prst="ellipse">
            <a:avLst/>
          </a:prstGeom>
          <a:noFill/>
          <a:ln cap="flat" cmpd="thinThick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cxnSp>
        <p:nvCxnSpPr>
          <p:cNvPr id="476" name="Google Shape;476;p30"/>
          <p:cNvCxnSpPr/>
          <p:nvPr/>
        </p:nvCxnSpPr>
        <p:spPr>
          <a:xfrm>
            <a:off x="3505200" y="3048000"/>
            <a:ext cx="163988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7" name="Google Shape;477;p30"/>
          <p:cNvCxnSpPr>
            <a:stCxn id="472" idx="7"/>
            <a:endCxn id="472" idx="1"/>
          </p:cNvCxnSpPr>
          <p:nvPr/>
        </p:nvCxnSpPr>
        <p:spPr>
          <a:xfrm rot="5400000">
            <a:off x="3046048" y="2513252"/>
            <a:ext cx="600" cy="536700"/>
          </a:xfrm>
          <a:prstGeom prst="curvedConnector3">
            <a:avLst>
              <a:gd fmla="val -105865641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8" name="Google Shape;478;p30"/>
          <p:cNvSpPr txBox="1"/>
          <p:nvPr/>
        </p:nvSpPr>
        <p:spPr>
          <a:xfrm>
            <a:off x="2925763" y="1797050"/>
            <a:ext cx="2857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cxnSp>
        <p:nvCxnSpPr>
          <p:cNvPr id="479" name="Google Shape;479;p30"/>
          <p:cNvCxnSpPr/>
          <p:nvPr/>
        </p:nvCxnSpPr>
        <p:spPr>
          <a:xfrm flipH="1">
            <a:off x="5406901" y="2736850"/>
            <a:ext cx="536700" cy="1500"/>
          </a:xfrm>
          <a:prstGeom prst="curvedConnector3">
            <a:avLst>
              <a:gd fmla="val 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0" name="Google Shape;480;p30"/>
          <p:cNvSpPr txBox="1"/>
          <p:nvPr/>
        </p:nvSpPr>
        <p:spPr>
          <a:xfrm>
            <a:off x="5554663" y="1752600"/>
            <a:ext cx="8064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0+10*1</a:t>
            </a:r>
            <a:endParaRPr/>
          </a:p>
        </p:txBody>
      </p:sp>
      <p:sp>
        <p:nvSpPr>
          <p:cNvPr id="481" name="Google Shape;481;p30"/>
          <p:cNvSpPr txBox="1"/>
          <p:nvPr/>
        </p:nvSpPr>
        <p:spPr>
          <a:xfrm>
            <a:off x="3621088" y="2711450"/>
            <a:ext cx="5905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10*1</a:t>
            </a:r>
            <a:endParaRPr/>
          </a:p>
        </p:txBody>
      </p:sp>
      <p:sp>
        <p:nvSpPr>
          <p:cNvPr id="482" name="Google Shape;482;p30"/>
          <p:cNvSpPr txBox="1"/>
          <p:nvPr/>
        </p:nvSpPr>
        <p:spPr>
          <a:xfrm>
            <a:off x="5257800" y="5318125"/>
            <a:ext cx="4054475" cy="131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just 0*10*1(0+10*1)*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 from previous slide to get 0* + 0*10*1(0+10*1)*</a:t>
            </a:r>
            <a:endParaRPr/>
          </a:p>
        </p:txBody>
      </p:sp>
      <p:sp>
        <p:nvSpPr>
          <p:cNvPr id="483" name="Google Shape;483;p30"/>
          <p:cNvSpPr/>
          <p:nvPr/>
        </p:nvSpPr>
        <p:spPr>
          <a:xfrm>
            <a:off x="1600200" y="5260975"/>
            <a:ext cx="758825" cy="758825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cxnSp>
        <p:nvCxnSpPr>
          <p:cNvPr id="484" name="Google Shape;484;p30"/>
          <p:cNvCxnSpPr/>
          <p:nvPr/>
        </p:nvCxnSpPr>
        <p:spPr>
          <a:xfrm>
            <a:off x="990600" y="56388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5" name="Google Shape;485;p30"/>
          <p:cNvSpPr txBox="1"/>
          <p:nvPr/>
        </p:nvSpPr>
        <p:spPr>
          <a:xfrm>
            <a:off x="344488" y="5486400"/>
            <a:ext cx="56991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</a:t>
            </a:r>
            <a:endParaRPr/>
          </a:p>
        </p:txBody>
      </p:sp>
      <p:sp>
        <p:nvSpPr>
          <p:cNvPr id="486" name="Google Shape;486;p30"/>
          <p:cNvSpPr/>
          <p:nvPr/>
        </p:nvSpPr>
        <p:spPr>
          <a:xfrm>
            <a:off x="4191000" y="5257800"/>
            <a:ext cx="758825" cy="758825"/>
          </a:xfrm>
          <a:prstGeom prst="ellipse">
            <a:avLst/>
          </a:prstGeom>
          <a:noFill/>
          <a:ln cap="flat" cmpd="thinThick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cxnSp>
        <p:nvCxnSpPr>
          <p:cNvPr id="487" name="Google Shape;487;p30"/>
          <p:cNvCxnSpPr/>
          <p:nvPr/>
        </p:nvCxnSpPr>
        <p:spPr>
          <a:xfrm>
            <a:off x="2438400" y="5638800"/>
            <a:ext cx="163988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8" name="Google Shape;488;p30"/>
          <p:cNvCxnSpPr>
            <a:stCxn id="483" idx="7"/>
            <a:endCxn id="483" idx="1"/>
          </p:cNvCxnSpPr>
          <p:nvPr/>
        </p:nvCxnSpPr>
        <p:spPr>
          <a:xfrm rot="5400000">
            <a:off x="1979248" y="5104052"/>
            <a:ext cx="600" cy="536700"/>
          </a:xfrm>
          <a:prstGeom prst="curvedConnector3">
            <a:avLst>
              <a:gd fmla="val -56639141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9" name="Google Shape;489;p30"/>
          <p:cNvSpPr txBox="1"/>
          <p:nvPr/>
        </p:nvSpPr>
        <p:spPr>
          <a:xfrm>
            <a:off x="1858963" y="4387850"/>
            <a:ext cx="2857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cxnSp>
        <p:nvCxnSpPr>
          <p:cNvPr id="490" name="Google Shape;490;p30"/>
          <p:cNvCxnSpPr/>
          <p:nvPr/>
        </p:nvCxnSpPr>
        <p:spPr>
          <a:xfrm flipH="1">
            <a:off x="4340101" y="5327650"/>
            <a:ext cx="536700" cy="1500"/>
          </a:xfrm>
          <a:prstGeom prst="curvedConnector3">
            <a:avLst>
              <a:gd fmla="val 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1" name="Google Shape;491;p30"/>
          <p:cNvSpPr txBox="1"/>
          <p:nvPr/>
        </p:nvSpPr>
        <p:spPr>
          <a:xfrm>
            <a:off x="4487863" y="4343400"/>
            <a:ext cx="8064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0+10*1</a:t>
            </a:r>
            <a:endParaRPr/>
          </a:p>
        </p:txBody>
      </p:sp>
      <p:sp>
        <p:nvSpPr>
          <p:cNvPr id="492" name="Google Shape;492;p30"/>
          <p:cNvSpPr txBox="1"/>
          <p:nvPr/>
        </p:nvSpPr>
        <p:spPr>
          <a:xfrm>
            <a:off x="2554288" y="5302250"/>
            <a:ext cx="5905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10*1</a:t>
            </a:r>
            <a:endParaRPr/>
          </a:p>
        </p:txBody>
      </p:sp>
      <p:sp>
        <p:nvSpPr>
          <p:cNvPr id="493" name="Google Shape;493;p30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1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Converting a RE to an Automata</a:t>
            </a:r>
            <a:endParaRPr/>
          </a:p>
        </p:txBody>
      </p:sp>
      <p:sp>
        <p:nvSpPr>
          <p:cNvPr id="500" name="Google Shape;500;p31"/>
          <p:cNvSpPr txBox="1"/>
          <p:nvPr>
            <p:ph idx="1" type="body"/>
          </p:nvPr>
        </p:nvSpPr>
        <p:spPr>
          <a:xfrm>
            <a:off x="457200" y="1223151"/>
            <a:ext cx="8229600" cy="4872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778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sz="2800"/>
              <a:t>We have shown we can convert an automata to a RE.  To show equivalence we must also go the other direction, convert a RE to an automaton.</a:t>
            </a:r>
            <a:endParaRPr/>
          </a:p>
          <a:p>
            <a:pPr indent="-1778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sz="2800"/>
              <a:t>We can do this easiest by converting a RE to an ε-NFA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Inductive construction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Start with a simple basis, use that to build more complex parts of the NFA</a:t>
            </a:r>
            <a:endParaRPr sz="2400"/>
          </a:p>
        </p:txBody>
      </p:sp>
      <p:sp>
        <p:nvSpPr>
          <p:cNvPr id="501" name="Google Shape;501;p31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2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RE to ε-NFA</a:t>
            </a:r>
            <a:endParaRPr/>
          </a:p>
        </p:txBody>
      </p:sp>
      <p:sp>
        <p:nvSpPr>
          <p:cNvPr id="508" name="Google Shape;508;p32"/>
          <p:cNvSpPr txBox="1"/>
          <p:nvPr>
            <p:ph idx="1" type="body"/>
          </p:nvPr>
        </p:nvSpPr>
        <p:spPr>
          <a:xfrm>
            <a:off x="457200" y="1223151"/>
            <a:ext cx="8229600" cy="48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/>
              <a:t>Basis: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09" name="Google Shape;509;p32"/>
          <p:cNvSpPr txBox="1"/>
          <p:nvPr/>
        </p:nvSpPr>
        <p:spPr>
          <a:xfrm>
            <a:off x="2209800" y="2819400"/>
            <a:ext cx="6937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R=a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0" name="Google Shape;510;p32"/>
          <p:cNvSpPr txBox="1"/>
          <p:nvPr/>
        </p:nvSpPr>
        <p:spPr>
          <a:xfrm>
            <a:off x="2206625" y="3810000"/>
            <a:ext cx="6873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R=ε</a:t>
            </a:r>
            <a:endParaRPr/>
          </a:p>
        </p:txBody>
      </p:sp>
      <p:sp>
        <p:nvSpPr>
          <p:cNvPr id="511" name="Google Shape;511;p32"/>
          <p:cNvSpPr/>
          <p:nvPr/>
        </p:nvSpPr>
        <p:spPr>
          <a:xfrm>
            <a:off x="5330825" y="2819400"/>
            <a:ext cx="533400" cy="533400"/>
          </a:xfrm>
          <a:prstGeom prst="ellipse">
            <a:avLst/>
          </a:prstGeom>
          <a:noFill/>
          <a:ln cap="flat" cmpd="dbl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12" name="Google Shape;512;p32"/>
          <p:cNvCxnSpPr/>
          <p:nvPr/>
        </p:nvCxnSpPr>
        <p:spPr>
          <a:xfrm>
            <a:off x="4794250" y="30480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3" name="Google Shape;513;p32"/>
          <p:cNvSpPr txBox="1"/>
          <p:nvPr/>
        </p:nvSpPr>
        <p:spPr>
          <a:xfrm>
            <a:off x="4870450" y="2711450"/>
            <a:ext cx="2746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514" name="Google Shape;514;p32"/>
          <p:cNvSpPr/>
          <p:nvPr/>
        </p:nvSpPr>
        <p:spPr>
          <a:xfrm>
            <a:off x="4267200" y="3841750"/>
            <a:ext cx="533400" cy="533400"/>
          </a:xfrm>
          <a:prstGeom prst="ellipse">
            <a:avLst/>
          </a:prstGeom>
          <a:noFill/>
          <a:ln cap="flat" cmpd="dbl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15" name="Google Shape;515;p32"/>
          <p:cNvCxnSpPr/>
          <p:nvPr/>
        </p:nvCxnSpPr>
        <p:spPr>
          <a:xfrm>
            <a:off x="3730625" y="407035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6" name="Google Shape;516;p32"/>
          <p:cNvSpPr txBox="1"/>
          <p:nvPr/>
        </p:nvSpPr>
        <p:spPr>
          <a:xfrm>
            <a:off x="3806825" y="3733800"/>
            <a:ext cx="2698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</a:t>
            </a:r>
            <a:endParaRPr/>
          </a:p>
        </p:txBody>
      </p:sp>
      <p:sp>
        <p:nvSpPr>
          <p:cNvPr id="517" name="Google Shape;517;p32"/>
          <p:cNvSpPr txBox="1"/>
          <p:nvPr/>
        </p:nvSpPr>
        <p:spPr>
          <a:xfrm>
            <a:off x="2206625" y="4692650"/>
            <a:ext cx="7794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R=Ø</a:t>
            </a:r>
            <a:endParaRPr/>
          </a:p>
        </p:txBody>
      </p:sp>
      <p:sp>
        <p:nvSpPr>
          <p:cNvPr id="518" name="Google Shape;518;p32"/>
          <p:cNvSpPr/>
          <p:nvPr/>
        </p:nvSpPr>
        <p:spPr>
          <a:xfrm>
            <a:off x="4267200" y="472440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19" name="Google Shape;519;p32"/>
          <p:cNvCxnSpPr/>
          <p:nvPr/>
        </p:nvCxnSpPr>
        <p:spPr>
          <a:xfrm>
            <a:off x="3730625" y="49530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0" name="Google Shape;520;p32"/>
          <p:cNvSpPr/>
          <p:nvPr/>
        </p:nvSpPr>
        <p:spPr>
          <a:xfrm>
            <a:off x="4264025" y="281940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21" name="Google Shape;521;p32"/>
          <p:cNvCxnSpPr/>
          <p:nvPr/>
        </p:nvCxnSpPr>
        <p:spPr>
          <a:xfrm>
            <a:off x="3727450" y="30480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2" name="Google Shape;522;p32"/>
          <p:cNvSpPr txBox="1"/>
          <p:nvPr/>
        </p:nvSpPr>
        <p:spPr>
          <a:xfrm>
            <a:off x="669925" y="5832475"/>
            <a:ext cx="4057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 slide: More complex RE’s</a:t>
            </a:r>
            <a:endParaRPr/>
          </a:p>
        </p:txBody>
      </p:sp>
      <p:sp>
        <p:nvSpPr>
          <p:cNvPr id="523" name="Google Shape;523;p32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3"/>
          <p:cNvSpPr txBox="1"/>
          <p:nvPr/>
        </p:nvSpPr>
        <p:spPr>
          <a:xfrm>
            <a:off x="685800" y="990600"/>
            <a:ext cx="1085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R=S+T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0" name="Google Shape;530;p33"/>
          <p:cNvSpPr/>
          <p:nvPr/>
        </p:nvSpPr>
        <p:spPr>
          <a:xfrm>
            <a:off x="2593975" y="99060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31" name="Google Shape;531;p33"/>
          <p:cNvCxnSpPr/>
          <p:nvPr/>
        </p:nvCxnSpPr>
        <p:spPr>
          <a:xfrm>
            <a:off x="2057400" y="12192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2" name="Google Shape;532;p33"/>
          <p:cNvSpPr/>
          <p:nvPr/>
        </p:nvSpPr>
        <p:spPr>
          <a:xfrm>
            <a:off x="3810000" y="53340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3" name="Google Shape;533;p33"/>
          <p:cNvSpPr/>
          <p:nvPr/>
        </p:nvSpPr>
        <p:spPr>
          <a:xfrm>
            <a:off x="3810000" y="160020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4" name="Google Shape;534;p33"/>
          <p:cNvSpPr/>
          <p:nvPr/>
        </p:nvSpPr>
        <p:spPr>
          <a:xfrm>
            <a:off x="3733800" y="381000"/>
            <a:ext cx="2514600" cy="914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535" name="Google Shape;535;p33"/>
          <p:cNvSpPr/>
          <p:nvPr/>
        </p:nvSpPr>
        <p:spPr>
          <a:xfrm>
            <a:off x="3733800" y="1447800"/>
            <a:ext cx="2514600" cy="914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536" name="Google Shape;536;p33"/>
          <p:cNvSpPr/>
          <p:nvPr/>
        </p:nvSpPr>
        <p:spPr>
          <a:xfrm>
            <a:off x="5562600" y="53340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7" name="Google Shape;537;p33"/>
          <p:cNvSpPr/>
          <p:nvPr/>
        </p:nvSpPr>
        <p:spPr>
          <a:xfrm>
            <a:off x="5562600" y="160020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8" name="Google Shape;538;p33"/>
          <p:cNvSpPr/>
          <p:nvPr/>
        </p:nvSpPr>
        <p:spPr>
          <a:xfrm>
            <a:off x="6858000" y="990600"/>
            <a:ext cx="533400" cy="533400"/>
          </a:xfrm>
          <a:prstGeom prst="ellipse">
            <a:avLst/>
          </a:prstGeom>
          <a:noFill/>
          <a:ln cap="flat" cmpd="thinThick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39" name="Google Shape;539;p33"/>
          <p:cNvCxnSpPr/>
          <p:nvPr/>
        </p:nvCxnSpPr>
        <p:spPr>
          <a:xfrm flipH="1" rot="10800000">
            <a:off x="3124200" y="914400"/>
            <a:ext cx="6858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0" name="Google Shape;540;p33"/>
          <p:cNvCxnSpPr/>
          <p:nvPr/>
        </p:nvCxnSpPr>
        <p:spPr>
          <a:xfrm>
            <a:off x="3124200" y="1371600"/>
            <a:ext cx="6096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1" name="Google Shape;541;p33"/>
          <p:cNvCxnSpPr/>
          <p:nvPr/>
        </p:nvCxnSpPr>
        <p:spPr>
          <a:xfrm flipH="1" rot="10800000">
            <a:off x="6172200" y="1447800"/>
            <a:ext cx="6858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2" name="Google Shape;542;p33"/>
          <p:cNvCxnSpPr/>
          <p:nvPr/>
        </p:nvCxnSpPr>
        <p:spPr>
          <a:xfrm>
            <a:off x="6096000" y="838200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3" name="Google Shape;543;p33"/>
          <p:cNvSpPr txBox="1"/>
          <p:nvPr/>
        </p:nvSpPr>
        <p:spPr>
          <a:xfrm>
            <a:off x="3200400" y="730250"/>
            <a:ext cx="2698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</a:t>
            </a:r>
            <a:endParaRPr/>
          </a:p>
        </p:txBody>
      </p:sp>
      <p:sp>
        <p:nvSpPr>
          <p:cNvPr id="544" name="Google Shape;544;p33"/>
          <p:cNvSpPr txBox="1"/>
          <p:nvPr/>
        </p:nvSpPr>
        <p:spPr>
          <a:xfrm>
            <a:off x="3200400" y="1492250"/>
            <a:ext cx="2698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</a:t>
            </a:r>
            <a:endParaRPr/>
          </a:p>
        </p:txBody>
      </p:sp>
      <p:sp>
        <p:nvSpPr>
          <p:cNvPr id="545" name="Google Shape;545;p33"/>
          <p:cNvSpPr txBox="1"/>
          <p:nvPr/>
        </p:nvSpPr>
        <p:spPr>
          <a:xfrm>
            <a:off x="6359525" y="685800"/>
            <a:ext cx="2698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</a:t>
            </a:r>
            <a:endParaRPr/>
          </a:p>
        </p:txBody>
      </p:sp>
      <p:sp>
        <p:nvSpPr>
          <p:cNvPr id="546" name="Google Shape;546;p33"/>
          <p:cNvSpPr txBox="1"/>
          <p:nvPr/>
        </p:nvSpPr>
        <p:spPr>
          <a:xfrm>
            <a:off x="6477000" y="1524000"/>
            <a:ext cx="2698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</a:t>
            </a:r>
            <a:endParaRPr/>
          </a:p>
        </p:txBody>
      </p:sp>
      <p:sp>
        <p:nvSpPr>
          <p:cNvPr id="547" name="Google Shape;547;p33"/>
          <p:cNvSpPr/>
          <p:nvPr/>
        </p:nvSpPr>
        <p:spPr>
          <a:xfrm>
            <a:off x="762000" y="32766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R=ST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48" name="Google Shape;548;p33"/>
          <p:cNvCxnSpPr/>
          <p:nvPr/>
        </p:nvCxnSpPr>
        <p:spPr>
          <a:xfrm>
            <a:off x="2057400" y="35052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9" name="Google Shape;549;p33"/>
          <p:cNvSpPr/>
          <p:nvPr/>
        </p:nvSpPr>
        <p:spPr>
          <a:xfrm>
            <a:off x="2590800" y="327660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0" name="Google Shape;550;p33"/>
          <p:cNvSpPr/>
          <p:nvPr/>
        </p:nvSpPr>
        <p:spPr>
          <a:xfrm>
            <a:off x="2514600" y="3124200"/>
            <a:ext cx="2514600" cy="914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551" name="Google Shape;551;p33"/>
          <p:cNvSpPr/>
          <p:nvPr/>
        </p:nvSpPr>
        <p:spPr>
          <a:xfrm>
            <a:off x="4343400" y="327660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2" name="Google Shape;552;p33"/>
          <p:cNvSpPr/>
          <p:nvPr/>
        </p:nvSpPr>
        <p:spPr>
          <a:xfrm>
            <a:off x="5562600" y="327660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3" name="Google Shape;553;p33"/>
          <p:cNvSpPr/>
          <p:nvPr/>
        </p:nvSpPr>
        <p:spPr>
          <a:xfrm>
            <a:off x="5486400" y="3124200"/>
            <a:ext cx="2514600" cy="914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554" name="Google Shape;554;p33"/>
          <p:cNvSpPr/>
          <p:nvPr/>
        </p:nvSpPr>
        <p:spPr>
          <a:xfrm>
            <a:off x="7315200" y="3276600"/>
            <a:ext cx="533400" cy="533400"/>
          </a:xfrm>
          <a:prstGeom prst="ellipse">
            <a:avLst/>
          </a:prstGeom>
          <a:noFill/>
          <a:ln cap="flat" cmpd="thinThick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55" name="Google Shape;555;p33"/>
          <p:cNvCxnSpPr/>
          <p:nvPr/>
        </p:nvCxnSpPr>
        <p:spPr>
          <a:xfrm>
            <a:off x="4876800" y="3505200"/>
            <a:ext cx="685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6" name="Google Shape;556;p33"/>
          <p:cNvSpPr txBox="1"/>
          <p:nvPr/>
        </p:nvSpPr>
        <p:spPr>
          <a:xfrm>
            <a:off x="5105400" y="3168650"/>
            <a:ext cx="2698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</a:t>
            </a:r>
            <a:endParaRPr/>
          </a:p>
        </p:txBody>
      </p:sp>
      <p:sp>
        <p:nvSpPr>
          <p:cNvPr id="557" name="Google Shape;557;p33"/>
          <p:cNvSpPr/>
          <p:nvPr/>
        </p:nvSpPr>
        <p:spPr>
          <a:xfrm>
            <a:off x="831850" y="4953000"/>
            <a:ext cx="8302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R=S</a:t>
            </a:r>
            <a:r>
              <a:rPr baseline="3000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58" name="Google Shape;558;p33"/>
          <p:cNvCxnSpPr/>
          <p:nvPr/>
        </p:nvCxnSpPr>
        <p:spPr>
          <a:xfrm>
            <a:off x="3124200" y="51816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9" name="Google Shape;559;p33"/>
          <p:cNvSpPr/>
          <p:nvPr/>
        </p:nvSpPr>
        <p:spPr>
          <a:xfrm>
            <a:off x="3581400" y="4800600"/>
            <a:ext cx="2514600" cy="914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560" name="Google Shape;560;p33"/>
          <p:cNvSpPr/>
          <p:nvPr/>
        </p:nvSpPr>
        <p:spPr>
          <a:xfrm>
            <a:off x="5410200" y="495300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1" name="Google Shape;561;p33"/>
          <p:cNvSpPr/>
          <p:nvPr/>
        </p:nvSpPr>
        <p:spPr>
          <a:xfrm>
            <a:off x="2517775" y="495300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62" name="Google Shape;562;p33"/>
          <p:cNvCxnSpPr/>
          <p:nvPr/>
        </p:nvCxnSpPr>
        <p:spPr>
          <a:xfrm>
            <a:off x="1981200" y="51816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3" name="Google Shape;563;p33"/>
          <p:cNvSpPr/>
          <p:nvPr/>
        </p:nvSpPr>
        <p:spPr>
          <a:xfrm>
            <a:off x="6781800" y="4953000"/>
            <a:ext cx="533400" cy="533400"/>
          </a:xfrm>
          <a:prstGeom prst="ellipse">
            <a:avLst/>
          </a:prstGeom>
          <a:noFill/>
          <a:ln cap="flat" cmpd="thinThick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64" name="Google Shape;564;p33"/>
          <p:cNvCxnSpPr/>
          <p:nvPr/>
        </p:nvCxnSpPr>
        <p:spPr>
          <a:xfrm>
            <a:off x="5943600" y="5181600"/>
            <a:ext cx="76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5" name="Google Shape;565;p33"/>
          <p:cNvCxnSpPr>
            <a:stCxn id="560" idx="1"/>
            <a:endCxn id="566" idx="7"/>
          </p:cNvCxnSpPr>
          <p:nvPr/>
        </p:nvCxnSpPr>
        <p:spPr>
          <a:xfrm rot="5400000">
            <a:off x="4800265" y="4343665"/>
            <a:ext cx="600" cy="1375500"/>
          </a:xfrm>
          <a:prstGeom prst="curvedConnector3">
            <a:avLst>
              <a:gd fmla="val -76759437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6" name="Google Shape;566;p33"/>
          <p:cNvSpPr/>
          <p:nvPr/>
        </p:nvSpPr>
        <p:spPr>
          <a:xfrm>
            <a:off x="3657600" y="495300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67" name="Google Shape;567;p33"/>
          <p:cNvCxnSpPr>
            <a:stCxn id="561" idx="5"/>
            <a:endCxn id="563" idx="3"/>
          </p:cNvCxnSpPr>
          <p:nvPr/>
        </p:nvCxnSpPr>
        <p:spPr>
          <a:xfrm flipH="1" rot="-5400000">
            <a:off x="4916160" y="3465185"/>
            <a:ext cx="600" cy="3886800"/>
          </a:xfrm>
          <a:prstGeom prst="curvedConnector3">
            <a:avLst>
              <a:gd fmla="val 106946333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8" name="Google Shape;568;p33"/>
          <p:cNvSpPr txBox="1"/>
          <p:nvPr/>
        </p:nvSpPr>
        <p:spPr>
          <a:xfrm>
            <a:off x="3200400" y="4876800"/>
            <a:ext cx="2698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</a:t>
            </a:r>
            <a:endParaRPr/>
          </a:p>
        </p:txBody>
      </p:sp>
      <p:sp>
        <p:nvSpPr>
          <p:cNvPr id="569" name="Google Shape;569;p33"/>
          <p:cNvSpPr txBox="1"/>
          <p:nvPr/>
        </p:nvSpPr>
        <p:spPr>
          <a:xfrm>
            <a:off x="4724400" y="5988050"/>
            <a:ext cx="2698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</a:t>
            </a:r>
            <a:endParaRPr/>
          </a:p>
        </p:txBody>
      </p:sp>
      <p:sp>
        <p:nvSpPr>
          <p:cNvPr id="570" name="Google Shape;570;p33"/>
          <p:cNvSpPr txBox="1"/>
          <p:nvPr/>
        </p:nvSpPr>
        <p:spPr>
          <a:xfrm>
            <a:off x="4648200" y="4267200"/>
            <a:ext cx="2698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</a:t>
            </a:r>
            <a:endParaRPr/>
          </a:p>
        </p:txBody>
      </p:sp>
      <p:sp>
        <p:nvSpPr>
          <p:cNvPr id="571" name="Google Shape;571;p33"/>
          <p:cNvSpPr txBox="1"/>
          <p:nvPr/>
        </p:nvSpPr>
        <p:spPr>
          <a:xfrm>
            <a:off x="6207125" y="4800600"/>
            <a:ext cx="2698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</a:t>
            </a:r>
            <a:endParaRPr/>
          </a:p>
        </p:txBody>
      </p:sp>
      <p:sp>
        <p:nvSpPr>
          <p:cNvPr id="572" name="Google Shape;572;p33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4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RE to ε-NFA Example</a:t>
            </a:r>
            <a:endParaRPr/>
          </a:p>
        </p:txBody>
      </p:sp>
      <p:sp>
        <p:nvSpPr>
          <p:cNvPr id="579" name="Google Shape;579;p34"/>
          <p:cNvSpPr txBox="1"/>
          <p:nvPr>
            <p:ph idx="1" type="body"/>
          </p:nvPr>
        </p:nvSpPr>
        <p:spPr>
          <a:xfrm>
            <a:off x="457200" y="1223151"/>
            <a:ext cx="8229600" cy="4872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/>
              <a:t>Convert R= (ab+a)* to an NFA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We proceed in stages, starting from simple elements and working our way up </a:t>
            </a:r>
            <a:endParaRPr/>
          </a:p>
        </p:txBody>
      </p:sp>
      <p:sp>
        <p:nvSpPr>
          <p:cNvPr id="580" name="Google Shape;580;p34"/>
          <p:cNvSpPr txBox="1"/>
          <p:nvPr/>
        </p:nvSpPr>
        <p:spPr>
          <a:xfrm>
            <a:off x="1127125" y="3698875"/>
            <a:ext cx="319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1" name="Google Shape;581;p34"/>
          <p:cNvSpPr/>
          <p:nvPr/>
        </p:nvSpPr>
        <p:spPr>
          <a:xfrm>
            <a:off x="4343400" y="3657600"/>
            <a:ext cx="533400" cy="533400"/>
          </a:xfrm>
          <a:prstGeom prst="ellipse">
            <a:avLst/>
          </a:prstGeom>
          <a:noFill/>
          <a:ln cap="flat" cmpd="dbl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82" name="Google Shape;582;p34"/>
          <p:cNvCxnSpPr/>
          <p:nvPr/>
        </p:nvCxnSpPr>
        <p:spPr>
          <a:xfrm>
            <a:off x="3806825" y="38862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3" name="Google Shape;583;p34"/>
          <p:cNvSpPr txBox="1"/>
          <p:nvPr/>
        </p:nvSpPr>
        <p:spPr>
          <a:xfrm>
            <a:off x="3883025" y="3549650"/>
            <a:ext cx="2746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584" name="Google Shape;584;p34"/>
          <p:cNvSpPr/>
          <p:nvPr/>
        </p:nvSpPr>
        <p:spPr>
          <a:xfrm>
            <a:off x="3276600" y="365760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85" name="Google Shape;585;p34"/>
          <p:cNvCxnSpPr/>
          <p:nvPr/>
        </p:nvCxnSpPr>
        <p:spPr>
          <a:xfrm>
            <a:off x="2740025" y="38862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6" name="Google Shape;586;p34"/>
          <p:cNvSpPr txBox="1"/>
          <p:nvPr/>
        </p:nvSpPr>
        <p:spPr>
          <a:xfrm>
            <a:off x="1143000" y="4613275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7" name="Google Shape;587;p34"/>
          <p:cNvSpPr/>
          <p:nvPr/>
        </p:nvSpPr>
        <p:spPr>
          <a:xfrm>
            <a:off x="4359275" y="4572000"/>
            <a:ext cx="533400" cy="533400"/>
          </a:xfrm>
          <a:prstGeom prst="ellipse">
            <a:avLst/>
          </a:prstGeom>
          <a:noFill/>
          <a:ln cap="flat" cmpd="dbl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88" name="Google Shape;588;p34"/>
          <p:cNvCxnSpPr/>
          <p:nvPr/>
        </p:nvCxnSpPr>
        <p:spPr>
          <a:xfrm>
            <a:off x="3822700" y="48006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9" name="Google Shape;589;p34"/>
          <p:cNvSpPr txBox="1"/>
          <p:nvPr/>
        </p:nvSpPr>
        <p:spPr>
          <a:xfrm>
            <a:off x="3898900" y="4464050"/>
            <a:ext cx="2857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590" name="Google Shape;590;p34"/>
          <p:cNvSpPr/>
          <p:nvPr/>
        </p:nvSpPr>
        <p:spPr>
          <a:xfrm>
            <a:off x="3292475" y="457200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91" name="Google Shape;591;p34"/>
          <p:cNvCxnSpPr/>
          <p:nvPr/>
        </p:nvCxnSpPr>
        <p:spPr>
          <a:xfrm>
            <a:off x="2755900" y="48006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2" name="Google Shape;592;p34"/>
          <p:cNvSpPr txBox="1"/>
          <p:nvPr/>
        </p:nvSpPr>
        <p:spPr>
          <a:xfrm>
            <a:off x="1143000" y="5486400"/>
            <a:ext cx="471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93" name="Google Shape;593;p34"/>
          <p:cNvCxnSpPr/>
          <p:nvPr/>
        </p:nvCxnSpPr>
        <p:spPr>
          <a:xfrm>
            <a:off x="3810000" y="567055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4" name="Google Shape;594;p34"/>
          <p:cNvSpPr txBox="1"/>
          <p:nvPr/>
        </p:nvSpPr>
        <p:spPr>
          <a:xfrm>
            <a:off x="3886200" y="5334000"/>
            <a:ext cx="2746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595" name="Google Shape;595;p34"/>
          <p:cNvSpPr/>
          <p:nvPr/>
        </p:nvSpPr>
        <p:spPr>
          <a:xfrm>
            <a:off x="3279775" y="544195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96" name="Google Shape;596;p34"/>
          <p:cNvCxnSpPr/>
          <p:nvPr/>
        </p:nvCxnSpPr>
        <p:spPr>
          <a:xfrm>
            <a:off x="2743200" y="567055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7" name="Google Shape;597;p34"/>
          <p:cNvSpPr/>
          <p:nvPr/>
        </p:nvSpPr>
        <p:spPr>
          <a:xfrm>
            <a:off x="4267200" y="541020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8" name="Google Shape;598;p34"/>
          <p:cNvSpPr/>
          <p:nvPr/>
        </p:nvSpPr>
        <p:spPr>
          <a:xfrm>
            <a:off x="6403975" y="5441950"/>
            <a:ext cx="533400" cy="533400"/>
          </a:xfrm>
          <a:prstGeom prst="ellipse">
            <a:avLst/>
          </a:prstGeom>
          <a:noFill/>
          <a:ln cap="flat" cmpd="dbl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99" name="Google Shape;599;p34"/>
          <p:cNvCxnSpPr/>
          <p:nvPr/>
        </p:nvCxnSpPr>
        <p:spPr>
          <a:xfrm>
            <a:off x="5867400" y="567055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0" name="Google Shape;600;p34"/>
          <p:cNvSpPr txBox="1"/>
          <p:nvPr/>
        </p:nvSpPr>
        <p:spPr>
          <a:xfrm>
            <a:off x="5943600" y="5334000"/>
            <a:ext cx="2857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601" name="Google Shape;601;p34"/>
          <p:cNvSpPr/>
          <p:nvPr/>
        </p:nvSpPr>
        <p:spPr>
          <a:xfrm>
            <a:off x="5337175" y="544195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02" name="Google Shape;602;p34"/>
          <p:cNvCxnSpPr/>
          <p:nvPr/>
        </p:nvCxnSpPr>
        <p:spPr>
          <a:xfrm>
            <a:off x="4800600" y="567055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3" name="Google Shape;603;p34"/>
          <p:cNvSpPr txBox="1"/>
          <p:nvPr/>
        </p:nvSpPr>
        <p:spPr>
          <a:xfrm>
            <a:off x="4876800" y="5334000"/>
            <a:ext cx="2698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</a:t>
            </a:r>
            <a:endParaRPr/>
          </a:p>
        </p:txBody>
      </p:sp>
      <p:sp>
        <p:nvSpPr>
          <p:cNvPr id="604" name="Google Shape;604;p34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5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RE to ε-NFA Example (2)</a:t>
            </a:r>
            <a:endParaRPr/>
          </a:p>
        </p:txBody>
      </p:sp>
      <p:sp>
        <p:nvSpPr>
          <p:cNvPr id="611" name="Google Shape;611;p35"/>
          <p:cNvSpPr txBox="1"/>
          <p:nvPr/>
        </p:nvSpPr>
        <p:spPr>
          <a:xfrm>
            <a:off x="533400" y="1905000"/>
            <a:ext cx="7778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ab+a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12" name="Google Shape;612;p35"/>
          <p:cNvCxnSpPr/>
          <p:nvPr/>
        </p:nvCxnSpPr>
        <p:spPr>
          <a:xfrm>
            <a:off x="2984500" y="262255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3" name="Google Shape;613;p35"/>
          <p:cNvSpPr txBox="1"/>
          <p:nvPr/>
        </p:nvSpPr>
        <p:spPr>
          <a:xfrm>
            <a:off x="3060700" y="2286000"/>
            <a:ext cx="2746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614" name="Google Shape;614;p35"/>
          <p:cNvSpPr/>
          <p:nvPr/>
        </p:nvSpPr>
        <p:spPr>
          <a:xfrm>
            <a:off x="2454275" y="239395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5" name="Google Shape;615;p35"/>
          <p:cNvSpPr/>
          <p:nvPr/>
        </p:nvSpPr>
        <p:spPr>
          <a:xfrm>
            <a:off x="3441700" y="236220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6" name="Google Shape;616;p35"/>
          <p:cNvSpPr/>
          <p:nvPr/>
        </p:nvSpPr>
        <p:spPr>
          <a:xfrm>
            <a:off x="5578475" y="239395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17" name="Google Shape;617;p35"/>
          <p:cNvCxnSpPr/>
          <p:nvPr/>
        </p:nvCxnSpPr>
        <p:spPr>
          <a:xfrm>
            <a:off x="5041900" y="262255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8" name="Google Shape;618;p35"/>
          <p:cNvSpPr txBox="1"/>
          <p:nvPr/>
        </p:nvSpPr>
        <p:spPr>
          <a:xfrm>
            <a:off x="5118100" y="2286000"/>
            <a:ext cx="2857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619" name="Google Shape;619;p35"/>
          <p:cNvSpPr/>
          <p:nvPr/>
        </p:nvSpPr>
        <p:spPr>
          <a:xfrm>
            <a:off x="4511675" y="239395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20" name="Google Shape;620;p35"/>
          <p:cNvCxnSpPr/>
          <p:nvPr/>
        </p:nvCxnSpPr>
        <p:spPr>
          <a:xfrm>
            <a:off x="3975100" y="262255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1" name="Google Shape;621;p35"/>
          <p:cNvSpPr txBox="1"/>
          <p:nvPr/>
        </p:nvSpPr>
        <p:spPr>
          <a:xfrm>
            <a:off x="4051300" y="2286000"/>
            <a:ext cx="2698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</a:t>
            </a:r>
            <a:endParaRPr/>
          </a:p>
        </p:txBody>
      </p:sp>
      <p:cxnSp>
        <p:nvCxnSpPr>
          <p:cNvPr id="622" name="Google Shape;622;p35"/>
          <p:cNvCxnSpPr/>
          <p:nvPr/>
        </p:nvCxnSpPr>
        <p:spPr>
          <a:xfrm>
            <a:off x="2984500" y="35687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3" name="Google Shape;623;p35"/>
          <p:cNvSpPr txBox="1"/>
          <p:nvPr/>
        </p:nvSpPr>
        <p:spPr>
          <a:xfrm>
            <a:off x="3060700" y="3232150"/>
            <a:ext cx="2746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624" name="Google Shape;624;p35"/>
          <p:cNvSpPr/>
          <p:nvPr/>
        </p:nvSpPr>
        <p:spPr>
          <a:xfrm>
            <a:off x="2454275" y="334010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5" name="Google Shape;625;p35"/>
          <p:cNvSpPr/>
          <p:nvPr/>
        </p:nvSpPr>
        <p:spPr>
          <a:xfrm>
            <a:off x="3444875" y="330835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6" name="Google Shape;626;p35"/>
          <p:cNvSpPr/>
          <p:nvPr/>
        </p:nvSpPr>
        <p:spPr>
          <a:xfrm>
            <a:off x="1616075" y="285115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7" name="Google Shape;627;p35"/>
          <p:cNvSpPr/>
          <p:nvPr/>
        </p:nvSpPr>
        <p:spPr>
          <a:xfrm>
            <a:off x="6416675" y="2851150"/>
            <a:ext cx="533400" cy="533400"/>
          </a:xfrm>
          <a:prstGeom prst="ellipse">
            <a:avLst/>
          </a:prstGeom>
          <a:noFill/>
          <a:ln cap="flat" cmpd="thinThick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28" name="Google Shape;628;p35"/>
          <p:cNvCxnSpPr/>
          <p:nvPr/>
        </p:nvCxnSpPr>
        <p:spPr>
          <a:xfrm flipH="1" rot="10800000">
            <a:off x="2073275" y="2698750"/>
            <a:ext cx="3048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9" name="Google Shape;629;p35"/>
          <p:cNvCxnSpPr/>
          <p:nvPr/>
        </p:nvCxnSpPr>
        <p:spPr>
          <a:xfrm>
            <a:off x="2073275" y="3308350"/>
            <a:ext cx="3810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0" name="Google Shape;630;p35"/>
          <p:cNvCxnSpPr/>
          <p:nvPr/>
        </p:nvCxnSpPr>
        <p:spPr>
          <a:xfrm>
            <a:off x="6111875" y="2774950"/>
            <a:ext cx="3048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1" name="Google Shape;631;p35"/>
          <p:cNvCxnSpPr/>
          <p:nvPr/>
        </p:nvCxnSpPr>
        <p:spPr>
          <a:xfrm flipH="1" rot="10800000">
            <a:off x="3978275" y="3155950"/>
            <a:ext cx="23622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2" name="Google Shape;632;p35"/>
          <p:cNvSpPr txBox="1"/>
          <p:nvPr/>
        </p:nvSpPr>
        <p:spPr>
          <a:xfrm>
            <a:off x="1997075" y="2514600"/>
            <a:ext cx="2698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</a:t>
            </a:r>
            <a:endParaRPr/>
          </a:p>
        </p:txBody>
      </p:sp>
      <p:sp>
        <p:nvSpPr>
          <p:cNvPr id="633" name="Google Shape;633;p35"/>
          <p:cNvSpPr txBox="1"/>
          <p:nvPr/>
        </p:nvSpPr>
        <p:spPr>
          <a:xfrm>
            <a:off x="1997075" y="3352800"/>
            <a:ext cx="2698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</a:t>
            </a:r>
            <a:endParaRPr/>
          </a:p>
        </p:txBody>
      </p:sp>
      <p:sp>
        <p:nvSpPr>
          <p:cNvPr id="634" name="Google Shape;634;p35"/>
          <p:cNvSpPr txBox="1"/>
          <p:nvPr/>
        </p:nvSpPr>
        <p:spPr>
          <a:xfrm>
            <a:off x="6146800" y="2546350"/>
            <a:ext cx="2698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</a:t>
            </a:r>
            <a:endParaRPr/>
          </a:p>
        </p:txBody>
      </p:sp>
      <p:sp>
        <p:nvSpPr>
          <p:cNvPr id="635" name="Google Shape;635;p35"/>
          <p:cNvSpPr txBox="1"/>
          <p:nvPr/>
        </p:nvSpPr>
        <p:spPr>
          <a:xfrm>
            <a:off x="4775200" y="3352800"/>
            <a:ext cx="2698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</a:t>
            </a:r>
            <a:endParaRPr/>
          </a:p>
        </p:txBody>
      </p:sp>
      <p:sp>
        <p:nvSpPr>
          <p:cNvPr id="636" name="Google Shape;636;p35"/>
          <p:cNvSpPr/>
          <p:nvPr/>
        </p:nvSpPr>
        <p:spPr>
          <a:xfrm>
            <a:off x="457200" y="4267200"/>
            <a:ext cx="11334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(ab+a)*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37" name="Google Shape;637;p35"/>
          <p:cNvCxnSpPr/>
          <p:nvPr/>
        </p:nvCxnSpPr>
        <p:spPr>
          <a:xfrm>
            <a:off x="1082675" y="307975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8" name="Google Shape;638;p35"/>
          <p:cNvCxnSpPr/>
          <p:nvPr/>
        </p:nvCxnSpPr>
        <p:spPr>
          <a:xfrm>
            <a:off x="3822700" y="47879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9" name="Google Shape;639;p35"/>
          <p:cNvSpPr txBox="1"/>
          <p:nvPr/>
        </p:nvSpPr>
        <p:spPr>
          <a:xfrm>
            <a:off x="3746500" y="4451350"/>
            <a:ext cx="2746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640" name="Google Shape;640;p35"/>
          <p:cNvSpPr/>
          <p:nvPr/>
        </p:nvSpPr>
        <p:spPr>
          <a:xfrm>
            <a:off x="3292475" y="455930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1" name="Google Shape;641;p35"/>
          <p:cNvSpPr/>
          <p:nvPr/>
        </p:nvSpPr>
        <p:spPr>
          <a:xfrm>
            <a:off x="4279900" y="452755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2" name="Google Shape;642;p35"/>
          <p:cNvSpPr/>
          <p:nvPr/>
        </p:nvSpPr>
        <p:spPr>
          <a:xfrm>
            <a:off x="6416675" y="455930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43" name="Google Shape;643;p35"/>
          <p:cNvCxnSpPr/>
          <p:nvPr/>
        </p:nvCxnSpPr>
        <p:spPr>
          <a:xfrm>
            <a:off x="5880100" y="47879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4" name="Google Shape;644;p35"/>
          <p:cNvSpPr txBox="1"/>
          <p:nvPr/>
        </p:nvSpPr>
        <p:spPr>
          <a:xfrm>
            <a:off x="5803900" y="4451350"/>
            <a:ext cx="2857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645" name="Google Shape;645;p35"/>
          <p:cNvSpPr/>
          <p:nvPr/>
        </p:nvSpPr>
        <p:spPr>
          <a:xfrm>
            <a:off x="5349875" y="455930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46" name="Google Shape;646;p35"/>
          <p:cNvCxnSpPr/>
          <p:nvPr/>
        </p:nvCxnSpPr>
        <p:spPr>
          <a:xfrm>
            <a:off x="4813300" y="47879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7" name="Google Shape;647;p35"/>
          <p:cNvSpPr txBox="1"/>
          <p:nvPr/>
        </p:nvSpPr>
        <p:spPr>
          <a:xfrm>
            <a:off x="4737100" y="4451350"/>
            <a:ext cx="2698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</a:t>
            </a:r>
            <a:endParaRPr/>
          </a:p>
        </p:txBody>
      </p:sp>
      <p:cxnSp>
        <p:nvCxnSpPr>
          <p:cNvPr id="648" name="Google Shape;648;p35"/>
          <p:cNvCxnSpPr/>
          <p:nvPr/>
        </p:nvCxnSpPr>
        <p:spPr>
          <a:xfrm>
            <a:off x="3822700" y="573405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9" name="Google Shape;649;p35"/>
          <p:cNvSpPr txBox="1"/>
          <p:nvPr/>
        </p:nvSpPr>
        <p:spPr>
          <a:xfrm>
            <a:off x="3898900" y="5397500"/>
            <a:ext cx="2746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650" name="Google Shape;650;p35"/>
          <p:cNvSpPr/>
          <p:nvPr/>
        </p:nvSpPr>
        <p:spPr>
          <a:xfrm>
            <a:off x="3292475" y="550545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1" name="Google Shape;651;p35"/>
          <p:cNvSpPr/>
          <p:nvPr/>
        </p:nvSpPr>
        <p:spPr>
          <a:xfrm>
            <a:off x="4283075" y="547370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2" name="Google Shape;652;p35"/>
          <p:cNvSpPr/>
          <p:nvPr/>
        </p:nvSpPr>
        <p:spPr>
          <a:xfrm>
            <a:off x="2454275" y="501650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3" name="Google Shape;653;p35"/>
          <p:cNvSpPr/>
          <p:nvPr/>
        </p:nvSpPr>
        <p:spPr>
          <a:xfrm>
            <a:off x="7254875" y="501650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54" name="Google Shape;654;p35"/>
          <p:cNvCxnSpPr/>
          <p:nvPr/>
        </p:nvCxnSpPr>
        <p:spPr>
          <a:xfrm flipH="1" rot="10800000">
            <a:off x="2911475" y="4864100"/>
            <a:ext cx="3048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5" name="Google Shape;655;p35"/>
          <p:cNvCxnSpPr/>
          <p:nvPr/>
        </p:nvCxnSpPr>
        <p:spPr>
          <a:xfrm>
            <a:off x="2911475" y="5473700"/>
            <a:ext cx="3810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6" name="Google Shape;656;p35"/>
          <p:cNvCxnSpPr/>
          <p:nvPr/>
        </p:nvCxnSpPr>
        <p:spPr>
          <a:xfrm>
            <a:off x="6950075" y="4940300"/>
            <a:ext cx="3048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7" name="Google Shape;657;p35"/>
          <p:cNvCxnSpPr/>
          <p:nvPr/>
        </p:nvCxnSpPr>
        <p:spPr>
          <a:xfrm flipH="1" rot="10800000">
            <a:off x="4816475" y="5321300"/>
            <a:ext cx="23622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8" name="Google Shape;658;p35"/>
          <p:cNvSpPr txBox="1"/>
          <p:nvPr/>
        </p:nvSpPr>
        <p:spPr>
          <a:xfrm>
            <a:off x="2835275" y="4679950"/>
            <a:ext cx="2698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</a:t>
            </a:r>
            <a:endParaRPr/>
          </a:p>
        </p:txBody>
      </p:sp>
      <p:sp>
        <p:nvSpPr>
          <p:cNvPr id="659" name="Google Shape;659;p35"/>
          <p:cNvSpPr txBox="1"/>
          <p:nvPr/>
        </p:nvSpPr>
        <p:spPr>
          <a:xfrm>
            <a:off x="2835275" y="5518150"/>
            <a:ext cx="2698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</a:t>
            </a:r>
            <a:endParaRPr/>
          </a:p>
        </p:txBody>
      </p:sp>
      <p:sp>
        <p:nvSpPr>
          <p:cNvPr id="660" name="Google Shape;660;p35"/>
          <p:cNvSpPr txBox="1"/>
          <p:nvPr/>
        </p:nvSpPr>
        <p:spPr>
          <a:xfrm>
            <a:off x="6985000" y="4711700"/>
            <a:ext cx="2698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</a:t>
            </a:r>
            <a:endParaRPr/>
          </a:p>
        </p:txBody>
      </p:sp>
      <p:sp>
        <p:nvSpPr>
          <p:cNvPr id="661" name="Google Shape;661;p35"/>
          <p:cNvSpPr txBox="1"/>
          <p:nvPr/>
        </p:nvSpPr>
        <p:spPr>
          <a:xfrm>
            <a:off x="5613400" y="5518150"/>
            <a:ext cx="2698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</a:t>
            </a:r>
            <a:endParaRPr/>
          </a:p>
        </p:txBody>
      </p:sp>
      <p:cxnSp>
        <p:nvCxnSpPr>
          <p:cNvPr id="662" name="Google Shape;662;p35"/>
          <p:cNvCxnSpPr/>
          <p:nvPr/>
        </p:nvCxnSpPr>
        <p:spPr>
          <a:xfrm>
            <a:off x="1920875" y="52451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3" name="Google Shape;663;p35"/>
          <p:cNvSpPr/>
          <p:nvPr/>
        </p:nvSpPr>
        <p:spPr>
          <a:xfrm>
            <a:off x="1311275" y="498475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64" name="Google Shape;664;p35"/>
          <p:cNvCxnSpPr/>
          <p:nvPr/>
        </p:nvCxnSpPr>
        <p:spPr>
          <a:xfrm>
            <a:off x="777875" y="521335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5" name="Google Shape;665;p35"/>
          <p:cNvSpPr/>
          <p:nvPr/>
        </p:nvSpPr>
        <p:spPr>
          <a:xfrm>
            <a:off x="8321675" y="5060950"/>
            <a:ext cx="533400" cy="533400"/>
          </a:xfrm>
          <a:prstGeom prst="ellipse">
            <a:avLst/>
          </a:prstGeom>
          <a:noFill/>
          <a:ln cap="flat" cmpd="thinThick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66" name="Google Shape;666;p35"/>
          <p:cNvCxnSpPr/>
          <p:nvPr/>
        </p:nvCxnSpPr>
        <p:spPr>
          <a:xfrm>
            <a:off x="7788275" y="528955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7" name="Google Shape;667;p35"/>
          <p:cNvSpPr txBox="1"/>
          <p:nvPr/>
        </p:nvSpPr>
        <p:spPr>
          <a:xfrm>
            <a:off x="7823200" y="4953000"/>
            <a:ext cx="2698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</a:t>
            </a:r>
            <a:endParaRPr/>
          </a:p>
        </p:txBody>
      </p:sp>
      <p:sp>
        <p:nvSpPr>
          <p:cNvPr id="668" name="Google Shape;668;p35"/>
          <p:cNvSpPr txBox="1"/>
          <p:nvPr/>
        </p:nvSpPr>
        <p:spPr>
          <a:xfrm>
            <a:off x="1997075" y="4908550"/>
            <a:ext cx="2698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</a:t>
            </a:r>
            <a:endParaRPr/>
          </a:p>
        </p:txBody>
      </p:sp>
      <p:cxnSp>
        <p:nvCxnSpPr>
          <p:cNvPr id="669" name="Google Shape;669;p35"/>
          <p:cNvCxnSpPr>
            <a:stCxn id="653" idx="0"/>
            <a:endCxn id="652" idx="0"/>
          </p:cNvCxnSpPr>
          <p:nvPr/>
        </p:nvCxnSpPr>
        <p:spPr>
          <a:xfrm rot="5400000">
            <a:off x="5120975" y="2616500"/>
            <a:ext cx="600" cy="4800600"/>
          </a:xfrm>
          <a:prstGeom prst="curvedConnector3">
            <a:avLst>
              <a:gd fmla="val -147419333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0" name="Google Shape;670;p35"/>
          <p:cNvCxnSpPr>
            <a:stCxn id="663" idx="5"/>
            <a:endCxn id="665" idx="3"/>
          </p:cNvCxnSpPr>
          <p:nvPr/>
        </p:nvCxnSpPr>
        <p:spPr>
          <a:xfrm flipH="1" rot="-5400000">
            <a:off x="5045110" y="2161485"/>
            <a:ext cx="76200" cy="6633300"/>
          </a:xfrm>
          <a:prstGeom prst="curvedConnector3">
            <a:avLst>
              <a:gd fmla="val 1296259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1" name="Google Shape;671;p35"/>
          <p:cNvSpPr txBox="1"/>
          <p:nvPr/>
        </p:nvSpPr>
        <p:spPr>
          <a:xfrm>
            <a:off x="5121275" y="3841750"/>
            <a:ext cx="2698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</a:t>
            </a:r>
            <a:endParaRPr/>
          </a:p>
        </p:txBody>
      </p:sp>
      <p:sp>
        <p:nvSpPr>
          <p:cNvPr id="672" name="Google Shape;672;p35"/>
          <p:cNvSpPr txBox="1"/>
          <p:nvPr/>
        </p:nvSpPr>
        <p:spPr>
          <a:xfrm>
            <a:off x="4816475" y="6127750"/>
            <a:ext cx="2698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</a:t>
            </a:r>
            <a:endParaRPr/>
          </a:p>
        </p:txBody>
      </p:sp>
      <p:sp>
        <p:nvSpPr>
          <p:cNvPr id="673" name="Google Shape;673;p35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6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What have we shown?</a:t>
            </a:r>
            <a:endParaRPr/>
          </a:p>
        </p:txBody>
      </p:sp>
      <p:sp>
        <p:nvSpPr>
          <p:cNvPr id="680" name="Google Shape;680;p36"/>
          <p:cNvSpPr txBox="1"/>
          <p:nvPr>
            <p:ph idx="1" type="body"/>
          </p:nvPr>
        </p:nvSpPr>
        <p:spPr>
          <a:xfrm>
            <a:off x="457200" y="1223151"/>
            <a:ext cx="8229600" cy="4872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/>
              <a:t>Regular expressions and finite state automata are really two different ways of expressing the same thing.  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US"/>
              <a:t>In some cases you may find it easier to start with one and move to the other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E.g., the language of an even number of one’s is typically easier to design as a NFA or DFA and then convert it to a RE</a:t>
            </a:r>
            <a:endParaRPr/>
          </a:p>
        </p:txBody>
      </p:sp>
      <p:sp>
        <p:nvSpPr>
          <p:cNvPr id="681" name="Google Shape;681;p36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37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Algebraic Laws for RE’s</a:t>
            </a:r>
            <a:endParaRPr/>
          </a:p>
        </p:txBody>
      </p:sp>
      <p:sp>
        <p:nvSpPr>
          <p:cNvPr id="688" name="Google Shape;688;p37"/>
          <p:cNvSpPr txBox="1"/>
          <p:nvPr>
            <p:ph idx="1" type="body"/>
          </p:nvPr>
        </p:nvSpPr>
        <p:spPr>
          <a:xfrm>
            <a:off x="457200" y="1223151"/>
            <a:ext cx="8229600" cy="4872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/>
              <a:t>Just like we have an algebra for arithmetic, we also have an algebra for regular expressions.  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While there are some similarities to arithmetic algebra, it is a bit different with regular expressions.</a:t>
            </a:r>
            <a:endParaRPr/>
          </a:p>
        </p:txBody>
      </p:sp>
      <p:sp>
        <p:nvSpPr>
          <p:cNvPr id="689" name="Google Shape;689;p37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8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Algebra for RE’s</a:t>
            </a:r>
            <a:endParaRPr/>
          </a:p>
        </p:txBody>
      </p:sp>
      <p:sp>
        <p:nvSpPr>
          <p:cNvPr id="696" name="Google Shape;696;p38"/>
          <p:cNvSpPr txBox="1"/>
          <p:nvPr>
            <p:ph idx="1" type="body"/>
          </p:nvPr>
        </p:nvSpPr>
        <p:spPr>
          <a:xfrm>
            <a:off x="457200" y="1223151"/>
            <a:ext cx="8229600" cy="4872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/>
              <a:t>Commutative law for union:	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L + M = M + L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400"/>
              <a:buChar char=" "/>
            </a:pPr>
            <a:r>
              <a:rPr lang="en-US"/>
              <a:t>Associative law for union:	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(L + M) + N = L + (M + N)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400"/>
              <a:buChar char=" "/>
            </a:pPr>
            <a:r>
              <a:rPr lang="en-US"/>
              <a:t>Associative law for concatenation:	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(LM)N = L(MN)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400"/>
              <a:buChar char=" "/>
            </a:pPr>
            <a:r>
              <a:rPr lang="en-US"/>
              <a:t>Note that there is no commutative law for concatenation, i.e. LM ≠ ML</a:t>
            </a:r>
            <a:endParaRPr/>
          </a:p>
        </p:txBody>
      </p:sp>
      <p:sp>
        <p:nvSpPr>
          <p:cNvPr id="697" name="Google Shape;697;p38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9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Algebra for RE’s (2)</a:t>
            </a:r>
            <a:endParaRPr/>
          </a:p>
        </p:txBody>
      </p:sp>
      <p:sp>
        <p:nvSpPr>
          <p:cNvPr id="704" name="Google Shape;704;p39"/>
          <p:cNvSpPr txBox="1"/>
          <p:nvPr>
            <p:ph idx="1" type="body"/>
          </p:nvPr>
        </p:nvSpPr>
        <p:spPr>
          <a:xfrm>
            <a:off x="457200" y="1223151"/>
            <a:ext cx="8229600" cy="4872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2400" lvl="0" marL="9144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 sz="2400"/>
              <a:t>The identity for union is:		</a:t>
            </a:r>
            <a:endParaRPr/>
          </a:p>
          <a:p>
            <a:pPr indent="-182880" lvl="1" marL="384048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L + Ø = Ø + L = L</a:t>
            </a:r>
            <a:endParaRPr/>
          </a:p>
          <a:p>
            <a:pPr indent="-152400" lvl="0" marL="9144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ts val="2400"/>
              <a:buChar char=" "/>
            </a:pPr>
            <a:r>
              <a:rPr lang="en-US" sz="2400"/>
              <a:t>The identity for concatenation is: 	</a:t>
            </a:r>
            <a:endParaRPr/>
          </a:p>
          <a:p>
            <a:pPr indent="-182880" lvl="1" marL="384048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Lε = εL = L</a:t>
            </a:r>
            <a:endParaRPr/>
          </a:p>
          <a:p>
            <a:pPr indent="-152400" lvl="0" marL="9144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ts val="2400"/>
              <a:buChar char=" "/>
            </a:pPr>
            <a:r>
              <a:rPr lang="en-US" sz="2400"/>
              <a:t>The annihilator for concatenation is:	</a:t>
            </a:r>
            <a:endParaRPr/>
          </a:p>
          <a:p>
            <a:pPr indent="-182880" lvl="1" marL="384048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ØL = LØ = Ø</a:t>
            </a:r>
            <a:endParaRPr/>
          </a:p>
          <a:p>
            <a:pPr indent="-152400" lvl="0" marL="9144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ts val="2400"/>
              <a:buChar char=" "/>
            </a:pPr>
            <a:r>
              <a:rPr lang="en-US" sz="2400"/>
              <a:t>Left distributive law:			</a:t>
            </a:r>
            <a:endParaRPr/>
          </a:p>
          <a:p>
            <a:pPr indent="-182880" lvl="1" marL="384048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L(M + N) = LM + LN</a:t>
            </a:r>
            <a:endParaRPr/>
          </a:p>
          <a:p>
            <a:pPr indent="-152400" lvl="0" marL="9144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ts val="2400"/>
              <a:buChar char=" "/>
            </a:pPr>
            <a:r>
              <a:rPr lang="en-US" sz="2400"/>
              <a:t>Right distributive law:			</a:t>
            </a:r>
            <a:endParaRPr/>
          </a:p>
          <a:p>
            <a:pPr indent="-182880" lvl="1" marL="384048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(M + N)L = LM + LN</a:t>
            </a:r>
            <a:endParaRPr/>
          </a:p>
          <a:p>
            <a:pPr indent="-152400" lvl="0" marL="9144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ts val="2400"/>
              <a:buChar char=" "/>
            </a:pPr>
            <a:r>
              <a:rPr lang="en-US" sz="2400"/>
              <a:t>Idempotent law:			</a:t>
            </a:r>
            <a:endParaRPr/>
          </a:p>
          <a:p>
            <a:pPr indent="-182880" lvl="1" marL="384048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L + L = L</a:t>
            </a:r>
            <a:endParaRPr/>
          </a:p>
        </p:txBody>
      </p:sp>
      <p:sp>
        <p:nvSpPr>
          <p:cNvPr id="705" name="Google Shape;705;p39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0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Laws Involving Closure</a:t>
            </a:r>
            <a:endParaRPr/>
          </a:p>
        </p:txBody>
      </p:sp>
      <p:sp>
        <p:nvSpPr>
          <p:cNvPr id="712" name="Google Shape;712;p40"/>
          <p:cNvSpPr txBox="1"/>
          <p:nvPr>
            <p:ph idx="1" type="body"/>
          </p:nvPr>
        </p:nvSpPr>
        <p:spPr>
          <a:xfrm>
            <a:off x="457200" y="1223151"/>
            <a:ext cx="8229600" cy="4872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77800" lvl="0" marL="9144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lang="en-US" sz="2800"/>
              <a:t>(L*)*	=  L*	</a:t>
            </a:r>
            <a:endParaRPr/>
          </a:p>
          <a:p>
            <a:pPr indent="-182880" lvl="1" marL="384048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i.e. closing an already closed expression does not change the language</a:t>
            </a:r>
            <a:endParaRPr/>
          </a:p>
          <a:p>
            <a:pPr indent="-177800" lvl="0" marL="9144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ts val="2800"/>
              <a:buChar char=" "/>
            </a:pPr>
            <a:r>
              <a:rPr lang="en-US" sz="2800"/>
              <a:t>Ø* 	= ε</a:t>
            </a:r>
            <a:endParaRPr/>
          </a:p>
          <a:p>
            <a:pPr indent="-177800" lvl="0" marL="9144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sz="2800"/>
              <a:t>ε*	= ε</a:t>
            </a:r>
            <a:endParaRPr/>
          </a:p>
          <a:p>
            <a:pPr indent="-177800" lvl="0" marL="9144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sz="2800"/>
              <a:t>L</a:t>
            </a:r>
            <a:r>
              <a:rPr baseline="30000" lang="en-US" sz="2800"/>
              <a:t>+</a:t>
            </a:r>
            <a:r>
              <a:rPr lang="en-US" sz="2800"/>
              <a:t>	= LL*  = L*L		</a:t>
            </a:r>
            <a:endParaRPr/>
          </a:p>
          <a:p>
            <a:pPr indent="-182880" lvl="1" marL="384048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more of a definition than a law</a:t>
            </a:r>
            <a:endParaRPr/>
          </a:p>
          <a:p>
            <a:pPr indent="-177800" lvl="0" marL="9144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ts val="2800"/>
              <a:buChar char=" "/>
            </a:pPr>
            <a:r>
              <a:rPr lang="en-US" sz="2800"/>
              <a:t>L*	= L</a:t>
            </a:r>
            <a:r>
              <a:rPr baseline="30000" lang="en-US" sz="2800"/>
              <a:t>+</a:t>
            </a:r>
            <a:r>
              <a:rPr lang="en-US" sz="2800"/>
              <a:t> + ε</a:t>
            </a:r>
            <a:endParaRPr/>
          </a:p>
          <a:p>
            <a:pPr indent="-177800" lvl="0" marL="9144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lang="en-US" sz="2800"/>
              <a:t>L?	= ε + L			</a:t>
            </a:r>
            <a:endParaRPr/>
          </a:p>
          <a:p>
            <a:pPr indent="-182880" lvl="1" marL="384048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more of a definition than a law</a:t>
            </a:r>
            <a:endParaRPr/>
          </a:p>
        </p:txBody>
      </p:sp>
      <p:sp>
        <p:nvSpPr>
          <p:cNvPr id="713" name="Google Shape;713;p40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1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Checking a Law</a:t>
            </a:r>
            <a:endParaRPr/>
          </a:p>
        </p:txBody>
      </p:sp>
      <p:sp>
        <p:nvSpPr>
          <p:cNvPr id="720" name="Google Shape;720;p41"/>
          <p:cNvSpPr txBox="1"/>
          <p:nvPr>
            <p:ph idx="1" type="body"/>
          </p:nvPr>
        </p:nvSpPr>
        <p:spPr>
          <a:xfrm>
            <a:off x="609600" y="12954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 sz="2400"/>
              <a:t>Suppose we are told that the law 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None/>
            </a:pPr>
            <a:r>
              <a:rPr lang="en-US" sz="2000"/>
              <a:t>(R + S)* = (R*S*)* 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alibri"/>
              <a:buNone/>
            </a:pPr>
            <a:r>
              <a:rPr lang="en-US" sz="2400"/>
              <a:t>	holds for regular expressions. How would we check that this claim is true?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Calibri"/>
              <a:buNone/>
            </a:pPr>
            <a:r>
              <a:rPr lang="en-US" sz="2400"/>
              <a:t>1.  Convert the RE’s to DFA’s and minimize the DFA’s to see if they are equivalent (we’ll cover minimization later)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Calibri"/>
              <a:buNone/>
            </a:pPr>
            <a:r>
              <a:rPr lang="en-US" sz="2400"/>
              <a:t>2.  We can use the “concretization” test: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Think of R and S as if they were single symbols, rather than placeholders for languages, i.e., R = {0} and S = {1}.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Test whether the law holds under the concrete symbols.  If so, then this is a true law, and if not then the law is false.  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721" name="Google Shape;721;p41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2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Concretization Test</a:t>
            </a:r>
            <a:endParaRPr/>
          </a:p>
        </p:txBody>
      </p:sp>
      <p:sp>
        <p:nvSpPr>
          <p:cNvPr id="728" name="Google Shape;728;p42"/>
          <p:cNvSpPr txBox="1"/>
          <p:nvPr>
            <p:ph idx="1" type="body"/>
          </p:nvPr>
        </p:nvSpPr>
        <p:spPr>
          <a:xfrm>
            <a:off x="457200" y="1223151"/>
            <a:ext cx="8229600" cy="4872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/>
              <a:t>For our example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Calibri"/>
              <a:buNone/>
            </a:pPr>
            <a:r>
              <a:rPr lang="en-US"/>
              <a:t>(R + S)* = (R*S*)* 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alibri"/>
              <a:buNone/>
            </a:pPr>
            <a:r>
              <a:rPr lang="en-US"/>
              <a:t>	We can substitute 0 for R and 1 for S.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Calibri"/>
              <a:buNone/>
            </a:pPr>
            <a:r>
              <a:rPr lang="en-US"/>
              <a:t>	The left side is clearly any sequence of 0's and 1's.  The right side also denotes any string of 0's and 1's, since 0 and 1 are each in L(0*1*). </a:t>
            </a:r>
            <a:endParaRPr/>
          </a:p>
        </p:txBody>
      </p:sp>
      <p:sp>
        <p:nvSpPr>
          <p:cNvPr id="729" name="Google Shape;729;p42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43"/>
          <p:cNvSpPr txBox="1"/>
          <p:nvPr>
            <p:ph type="title"/>
          </p:nvPr>
        </p:nvSpPr>
        <p:spPr>
          <a:xfrm>
            <a:off x="443753" y="2286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Concretization Test</a:t>
            </a:r>
            <a:endParaRPr/>
          </a:p>
        </p:txBody>
      </p:sp>
      <p:sp>
        <p:nvSpPr>
          <p:cNvPr id="736" name="Google Shape;736;p43"/>
          <p:cNvSpPr txBox="1"/>
          <p:nvPr>
            <p:ph idx="1" type="body"/>
          </p:nvPr>
        </p:nvSpPr>
        <p:spPr>
          <a:xfrm>
            <a:off x="457200" y="1223151"/>
            <a:ext cx="8229600" cy="4872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US" sz="2400"/>
              <a:t>NOTE: extensions of the test beyond regular expressions may fail.  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US" sz="2400"/>
              <a:t>Consider the “law” L ∩ M ∩ N = L ∩ M.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US" sz="2400"/>
              <a:t>This is clearly false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Let L=M={a} and N=Ø.  {a} ≠ Ø.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But if L={a} and M = {b} and N={c} then 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L∩M does equal L ∩ M ∩ N which is empty.  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The test would say this law is true, but it is not because we are applying the test beyond regular expressions.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400"/>
              <a:buChar char=" "/>
            </a:pPr>
            <a:r>
              <a:rPr lang="en-US" sz="2400"/>
              <a:t>We’ll see soon various languages that do not have corresponding regular expressions.</a:t>
            </a:r>
            <a:endParaRPr/>
          </a:p>
        </p:txBody>
      </p:sp>
      <p:sp>
        <p:nvSpPr>
          <p:cNvPr id="737" name="Google Shape;737;p43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44"/>
          <p:cNvSpPr txBox="1"/>
          <p:nvPr>
            <p:ph type="title"/>
          </p:nvPr>
        </p:nvSpPr>
        <p:spPr>
          <a:xfrm>
            <a:off x="685800" y="2743200"/>
            <a:ext cx="8229600" cy="916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Thank you ☺</a:t>
            </a:r>
            <a:endParaRPr/>
          </a:p>
        </p:txBody>
      </p:sp>
      <p:sp>
        <p:nvSpPr>
          <p:cNvPr id="743" name="Google Shape;743;p44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Naushin</dc:creator>
</cp:coreProperties>
</file>