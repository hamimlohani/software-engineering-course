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858000" cy="9144000"/>
  <p:embeddedFontLst>
    <p:embeddedFont>
      <p:font typeface="Merriweather Sans"/>
      <p:regular r:id="rId50"/>
      <p:bold r:id="rId51"/>
      <p:italic r:id="rId52"/>
      <p:boldItalic r:id="rId53"/>
    </p:embeddedFont>
    <p:embeddedFont>
      <p:font typeface="Tahoma"/>
      <p:regular r:id="rId54"/>
      <p:bold r:id="rId55"/>
    </p:embeddedFont>
    <p:embeddedFont>
      <p:font typeface="Noto Sans Symbols"/>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8" roundtripDataSignature="AMtx7mgsty4ngJuAx2eLz/uKotn6SQF7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897E22-C150-4A5A-9EAF-E89ED8D2B1E7}">
  <a:tblStyle styleId="{4E897E22-C150-4A5A-9EAF-E89ED8D2B1E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Sans-bold.fntdata"/><Relationship Id="rId50" Type="http://schemas.openxmlformats.org/officeDocument/2006/relationships/font" Target="fonts/MerriweatherSans-regular.fntdata"/><Relationship Id="rId53" Type="http://schemas.openxmlformats.org/officeDocument/2006/relationships/font" Target="fonts/MerriweatherSans-boldItalic.fntdata"/><Relationship Id="rId52" Type="http://schemas.openxmlformats.org/officeDocument/2006/relationships/font" Target="fonts/MerriweatherSans-italic.fntdata"/><Relationship Id="rId11" Type="http://schemas.openxmlformats.org/officeDocument/2006/relationships/slide" Target="slides/slide5.xml"/><Relationship Id="rId55" Type="http://schemas.openxmlformats.org/officeDocument/2006/relationships/font" Target="fonts/Tahoma-bold.fntdata"/><Relationship Id="rId10" Type="http://schemas.openxmlformats.org/officeDocument/2006/relationships/slide" Target="slides/slide4.xml"/><Relationship Id="rId54" Type="http://schemas.openxmlformats.org/officeDocument/2006/relationships/font" Target="fonts/Tahoma-regular.fntdata"/><Relationship Id="rId13" Type="http://schemas.openxmlformats.org/officeDocument/2006/relationships/slide" Target="slides/slide7.xml"/><Relationship Id="rId57" Type="http://schemas.openxmlformats.org/officeDocument/2006/relationships/font" Target="fonts/NotoSansSymbols-bold.fntdata"/><Relationship Id="rId12" Type="http://schemas.openxmlformats.org/officeDocument/2006/relationships/slide" Target="slides/slide6.xml"/><Relationship Id="rId56" Type="http://schemas.openxmlformats.org/officeDocument/2006/relationships/font" Target="fonts/NotoSansSymbols-regular.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77e416f7ede9c36c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77e416f7ede9c36c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77e416f7ede9c36c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4" name="Google Shape;414;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Cpt S 317: Spring 2009</a:t>
            </a:r>
            <a:endParaRPr/>
          </a:p>
        </p:txBody>
      </p:sp>
      <p:sp>
        <p:nvSpPr>
          <p:cNvPr id="422" name="Google Shape;422;p32: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School of EECS, WSU</a:t>
            </a:r>
            <a:endParaRPr/>
          </a:p>
        </p:txBody>
      </p:sp>
      <p:sp>
        <p:nvSpPr>
          <p:cNvPr id="423" name="Google Shape;4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4" name="Google Shape;424;p32: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44"/>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4"/>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4"/>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4"/>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4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44"/>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spTree>
      <p:nvGrpSpPr>
        <p:cNvPr id="27" name="Shape 27"/>
        <p:cNvGrpSpPr/>
        <p:nvPr/>
      </p:nvGrpSpPr>
      <p:grpSpPr>
        <a:xfrm>
          <a:off x="0" y="0"/>
          <a:ext cx="0" cy="0"/>
          <a:chOff x="0" y="0"/>
          <a:chExt cx="0" cy="0"/>
        </a:xfrm>
      </p:grpSpPr>
      <p:sp>
        <p:nvSpPr>
          <p:cNvPr id="28" name="Google Shape;28;p45"/>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Font typeface="Noto Sans Symbols"/>
              <a:buChar char="▪"/>
              <a:defRPr sz="2000"/>
            </a:lvl2pPr>
            <a:lvl3pPr indent="-355600" lvl="2" marL="1371600" algn="l">
              <a:lnSpc>
                <a:spcPct val="90000"/>
              </a:lnSpc>
              <a:spcBef>
                <a:spcPts val="400"/>
              </a:spcBef>
              <a:spcAft>
                <a:spcPts val="0"/>
              </a:spcAft>
              <a:buSzPts val="2000"/>
              <a:buFont typeface="Arial"/>
              <a:buChar char="•"/>
              <a:defRPr sz="2000"/>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9" name="Google Shape;29;p45"/>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rgbClr val="3F3F3F"/>
              </a:buClr>
              <a:buSzPts val="48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5"/>
          <p:cNvSpPr/>
          <p:nvPr/>
        </p:nvSpPr>
        <p:spPr>
          <a:xfrm>
            <a:off x="0" y="6324600"/>
            <a:ext cx="9144000" cy="533400"/>
          </a:xfrm>
          <a:prstGeom prst="rect">
            <a:avLst/>
          </a:prstGeom>
          <a:solidFill>
            <a:schemeClr val="accent2"/>
          </a:solid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45"/>
          <p:cNvSpPr/>
          <p:nvPr/>
        </p:nvSpPr>
        <p:spPr>
          <a:xfrm>
            <a:off x="0" y="6246424"/>
            <a:ext cx="9144000" cy="116275"/>
          </a:xfrm>
          <a:prstGeom prst="rect">
            <a:avLst/>
          </a:prstGeom>
          <a:solidFill>
            <a:schemeClr val="accent1"/>
          </a:solid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2" name="Google Shape;32;p45"/>
          <p:cNvCxnSpPr/>
          <p:nvPr/>
        </p:nvCxnSpPr>
        <p:spPr>
          <a:xfrm flipH="1" rot="10800000">
            <a:off x="-31376" y="1136999"/>
            <a:ext cx="9175376" cy="10940"/>
          </a:xfrm>
          <a:prstGeom prst="straightConnector1">
            <a:avLst/>
          </a:prstGeom>
          <a:noFill/>
          <a:ln cap="flat" cmpd="sng" w="12700">
            <a:solidFill>
              <a:schemeClr val="accent2"/>
            </a:solidFill>
            <a:prstDash val="solid"/>
            <a:round/>
            <a:headEnd len="sm" w="sm" type="none"/>
            <a:tailEnd len="sm" w="sm" type="none"/>
          </a:ln>
        </p:spPr>
      </p:cxnSp>
      <p:sp>
        <p:nvSpPr>
          <p:cNvPr id="33" name="Google Shape;33;p4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4" name="Shape 34"/>
        <p:cNvGrpSpPr/>
        <p:nvPr/>
      </p:nvGrpSpPr>
      <p:grpSpPr>
        <a:xfrm>
          <a:off x="0" y="0"/>
          <a:ext cx="0" cy="0"/>
          <a:chOff x="0" y="0"/>
          <a:chExt cx="0" cy="0"/>
        </a:xfrm>
      </p:grpSpPr>
      <p:sp>
        <p:nvSpPr>
          <p:cNvPr id="35" name="Google Shape;35;p46"/>
          <p:cNvSpPr/>
          <p:nvPr/>
        </p:nvSpPr>
        <p:spPr>
          <a:xfrm>
            <a:off x="-8965" y="6413748"/>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6"/>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6"/>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6"/>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9" name="Google Shape;39;p4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6"/>
          <p:cNvSpPr txBox="1"/>
          <p:nvPr>
            <p:ph idx="12" type="sldNum"/>
          </p:nvPr>
        </p:nvSpPr>
        <p:spPr>
          <a:xfrm>
            <a:off x="7924800" y="6428574"/>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46"/>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4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7"/>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47"/>
          <p:cNvSpPr txBox="1"/>
          <p:nvPr>
            <p:ph idx="2" type="body"/>
          </p:nvPr>
        </p:nvSpPr>
        <p:spPr>
          <a:xfrm>
            <a:off x="4663440" y="1845735"/>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4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8"/>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3" name="Google Shape;53;p48"/>
          <p:cNvSpPr txBox="1"/>
          <p:nvPr>
            <p:ph idx="2" type="body"/>
          </p:nvPr>
        </p:nvSpPr>
        <p:spPr>
          <a:xfrm>
            <a:off x="82296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48"/>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5" name="Google Shape;55;p48"/>
          <p:cNvSpPr txBox="1"/>
          <p:nvPr>
            <p:ph idx="4" type="body"/>
          </p:nvPr>
        </p:nvSpPr>
        <p:spPr>
          <a:xfrm>
            <a:off x="4663440" y="2582334"/>
            <a:ext cx="370332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4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4" name="Shape 64"/>
        <p:cNvGrpSpPr/>
        <p:nvPr/>
      </p:nvGrpSpPr>
      <p:grpSpPr>
        <a:xfrm>
          <a:off x="0" y="0"/>
          <a:ext cx="0" cy="0"/>
          <a:chOff x="0" y="0"/>
          <a:chExt cx="0" cy="0"/>
        </a:xfrm>
      </p:grpSpPr>
      <p:sp>
        <p:nvSpPr>
          <p:cNvPr id="65" name="Google Shape;65;p50"/>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0"/>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51"/>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1"/>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1"/>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1"/>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5" name="Google Shape;75;p51"/>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6" name="Google Shape;76;p51"/>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9" name="Shape 79"/>
        <p:cNvGrpSpPr/>
        <p:nvPr/>
      </p:nvGrpSpPr>
      <p:grpSpPr>
        <a:xfrm>
          <a:off x="0" y="0"/>
          <a:ext cx="0" cy="0"/>
          <a:chOff x="0" y="0"/>
          <a:chExt cx="0" cy="0"/>
        </a:xfrm>
      </p:grpSpPr>
      <p:sp>
        <p:nvSpPr>
          <p:cNvPr id="80" name="Google Shape;80;p52"/>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2"/>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2"/>
          <p:cNvSpPr txBox="1"/>
          <p:nvPr>
            <p:ph type="title"/>
          </p:nvPr>
        </p:nvSpPr>
        <p:spPr>
          <a:xfrm>
            <a:off x="822960" y="5074920"/>
            <a:ext cx="758523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52"/>
          <p:cNvSpPr/>
          <p:nvPr>
            <p:ph idx="2" type="pic"/>
          </p:nvPr>
        </p:nvSpPr>
        <p:spPr>
          <a:xfrm>
            <a:off x="12" y="0"/>
            <a:ext cx="9143989" cy="4915076"/>
          </a:xfrm>
          <a:prstGeom prst="rect">
            <a:avLst/>
          </a:prstGeom>
          <a:solidFill>
            <a:srgbClr val="D2CDB0"/>
          </a:solidFill>
          <a:ln>
            <a:noFill/>
          </a:ln>
        </p:spPr>
      </p:sp>
      <p:sp>
        <p:nvSpPr>
          <p:cNvPr id="84" name="Google Shape;84;p52"/>
          <p:cNvSpPr txBox="1"/>
          <p:nvPr>
            <p:ph idx="1" type="body"/>
          </p:nvPr>
        </p:nvSpPr>
        <p:spPr>
          <a:xfrm>
            <a:off x="822960"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5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5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53"/>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1" name="Google Shape;91;p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4" name="Shape 94"/>
        <p:cNvGrpSpPr/>
        <p:nvPr/>
      </p:nvGrpSpPr>
      <p:grpSpPr>
        <a:xfrm>
          <a:off x="0" y="0"/>
          <a:ext cx="0" cy="0"/>
          <a:chOff x="0" y="0"/>
          <a:chExt cx="0" cy="0"/>
        </a:xfrm>
      </p:grpSpPr>
      <p:sp>
        <p:nvSpPr>
          <p:cNvPr id="95" name="Google Shape;95;p54"/>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4"/>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4"/>
          <p:cNvSpPr txBox="1"/>
          <p:nvPr>
            <p:ph type="title"/>
          </p:nvPr>
        </p:nvSpPr>
        <p:spPr>
          <a:xfrm rot="5400000">
            <a:off x="4649564" y="2306414"/>
            <a:ext cx="5759898"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4"/>
          <p:cNvSpPr txBox="1"/>
          <p:nvPr>
            <p:ph idx="1" type="body"/>
          </p:nvPr>
        </p:nvSpPr>
        <p:spPr>
          <a:xfrm rot="5400000">
            <a:off x="649064" y="391889"/>
            <a:ext cx="5759898"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9" name="Google Shape;99;p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3"/>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4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4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4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43"/>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thetaray.com/" TargetMode="External"/><Relationship Id="rId4" Type="http://schemas.openxmlformats.org/officeDocument/2006/relationships/hyperlink" Target="https://thetaray.com/" TargetMode="External"/><Relationship Id="rId11" Type="http://schemas.openxmlformats.org/officeDocument/2006/relationships/hyperlink" Target="https://www.veritone.com/" TargetMode="External"/><Relationship Id="rId10" Type="http://schemas.openxmlformats.org/officeDocument/2006/relationships/hyperlink" Target="https://www.zerto.com/" TargetMode="External"/><Relationship Id="rId12" Type="http://schemas.openxmlformats.org/officeDocument/2006/relationships/hyperlink" Target="https://www.veritone.com/" TargetMode="External"/><Relationship Id="rId9" Type="http://schemas.openxmlformats.org/officeDocument/2006/relationships/hyperlink" Target="https://www.zerto.com/" TargetMode="External"/><Relationship Id="rId5" Type="http://schemas.openxmlformats.org/officeDocument/2006/relationships/hyperlink" Target="https://www.seal-software.com/" TargetMode="External"/><Relationship Id="rId6" Type="http://schemas.openxmlformats.org/officeDocument/2006/relationships/hyperlink" Target="https://www.seal-software.com/" TargetMode="External"/><Relationship Id="rId7" Type="http://schemas.openxmlformats.org/officeDocument/2006/relationships/hyperlink" Target="https://www.cerebriai.com/" TargetMode="External"/><Relationship Id="rId8" Type="http://schemas.openxmlformats.org/officeDocument/2006/relationships/hyperlink" Target="https://www.cerebriai.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928036" y="2895600"/>
            <a:ext cx="7543800" cy="1277112"/>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4400"/>
              <a:buFont typeface="Tahoma"/>
              <a:buNone/>
            </a:pPr>
            <a:r>
              <a:rPr b="1" lang="en-US" sz="4400">
                <a:latin typeface="Tahoma"/>
                <a:ea typeface="Tahoma"/>
                <a:cs typeface="Tahoma"/>
                <a:sym typeface="Tahoma"/>
              </a:rPr>
              <a:t>Theory of Computing</a:t>
            </a:r>
            <a:br>
              <a:rPr b="1" lang="en-US" sz="4400">
                <a:latin typeface="Tahoma"/>
                <a:ea typeface="Tahoma"/>
                <a:cs typeface="Tahoma"/>
                <a:sym typeface="Tahoma"/>
              </a:rPr>
            </a:br>
            <a:r>
              <a:rPr b="1" lang="en-US" sz="4400">
                <a:latin typeface="Tahoma"/>
                <a:ea typeface="Tahoma"/>
                <a:cs typeface="Tahoma"/>
                <a:sym typeface="Tahoma"/>
              </a:rPr>
              <a:t>SE-2112</a:t>
            </a:r>
            <a:endParaRPr b="1" sz="4400">
              <a:latin typeface="Tahoma"/>
              <a:ea typeface="Tahoma"/>
              <a:cs typeface="Tahoma"/>
              <a:sym typeface="Tahoma"/>
            </a:endParaRPr>
          </a:p>
        </p:txBody>
      </p:sp>
      <p:sp>
        <p:nvSpPr>
          <p:cNvPr id="107" name="Google Shape;107;p1"/>
          <p:cNvSpPr txBox="1"/>
          <p:nvPr>
            <p:ph idx="1" type="subTitle"/>
          </p:nvPr>
        </p:nvSpPr>
        <p:spPr>
          <a:xfrm>
            <a:off x="914400" y="4528446"/>
            <a:ext cx="7543800" cy="1143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90000"/>
              </a:lnSpc>
              <a:spcBef>
                <a:spcPts val="0"/>
              </a:spcBef>
              <a:spcAft>
                <a:spcPts val="0"/>
              </a:spcAft>
              <a:buSzPct val="100000"/>
              <a:buNone/>
            </a:pPr>
            <a:r>
              <a:rPr b="1" lang="en-US" cap="none">
                <a:latin typeface="Tahoma"/>
                <a:ea typeface="Tahoma"/>
                <a:cs typeface="Tahoma"/>
                <a:sym typeface="Tahoma"/>
              </a:rPr>
              <a:t>Lecture-1</a:t>
            </a:r>
            <a:endParaRPr/>
          </a:p>
          <a:p>
            <a:pPr indent="0" lvl="0" marL="0" rtl="0" algn="ctr">
              <a:lnSpc>
                <a:spcPct val="90000"/>
              </a:lnSpc>
              <a:spcBef>
                <a:spcPts val="1400"/>
              </a:spcBef>
              <a:spcAft>
                <a:spcPts val="0"/>
              </a:spcAft>
              <a:buSzPct val="100000"/>
              <a:buNone/>
            </a:pPr>
            <a:r>
              <a:rPr b="1" lang="en-US" cap="none">
                <a:latin typeface="Tahoma"/>
                <a:ea typeface="Tahoma"/>
                <a:cs typeface="Tahoma"/>
                <a:sym typeface="Tahoma"/>
              </a:rPr>
              <a:t>Dr. Naushin Nower</a:t>
            </a:r>
            <a:endParaRPr b="1" cap="none">
              <a:latin typeface="Tahoma"/>
              <a:ea typeface="Tahoma"/>
              <a:cs typeface="Tahoma"/>
              <a:sym typeface="Tahoma"/>
            </a:endParaRPr>
          </a:p>
          <a:p>
            <a:pPr indent="0" lvl="0" marL="0" rtl="0" algn="ctr">
              <a:lnSpc>
                <a:spcPct val="90000"/>
              </a:lnSpc>
              <a:spcBef>
                <a:spcPts val="1400"/>
              </a:spcBef>
              <a:spcAft>
                <a:spcPts val="0"/>
              </a:spcAft>
              <a:buSzPct val="100000"/>
              <a:buNone/>
            </a:pPr>
            <a:r>
              <a:rPr b="1" lang="en-US" cap="none">
                <a:latin typeface="Tahoma"/>
                <a:ea typeface="Tahoma"/>
                <a:cs typeface="Tahoma"/>
                <a:sym typeface="Tahoma"/>
              </a:rPr>
              <a:t>Professor, IIT DU </a:t>
            </a:r>
            <a:endParaRPr b="1" cap="none">
              <a:latin typeface="Tahoma"/>
              <a:ea typeface="Tahoma"/>
              <a:cs typeface="Tahoma"/>
              <a:sym typeface="Tahoma"/>
            </a:endParaRPr>
          </a:p>
        </p:txBody>
      </p:sp>
      <p:sp>
        <p:nvSpPr>
          <p:cNvPr id="108" name="Google Shape;108;p1"/>
          <p:cNvSpPr/>
          <p:nvPr/>
        </p:nvSpPr>
        <p:spPr>
          <a:xfrm>
            <a:off x="0" y="-12834"/>
            <a:ext cx="9144000" cy="457200"/>
          </a:xfrm>
          <a:prstGeom prst="rect">
            <a:avLst/>
          </a:prstGeom>
          <a:gradFill>
            <a:gsLst>
              <a:gs pos="0">
                <a:srgbClr val="33BDFE"/>
              </a:gs>
              <a:gs pos="34000">
                <a:srgbClr val="38BEFC"/>
              </a:gs>
              <a:gs pos="70000">
                <a:srgbClr val="35C1FF"/>
              </a:gs>
              <a:gs pos="100000">
                <a:srgbClr val="48C6FF"/>
              </a:gs>
            </a:gsLst>
            <a:path path="circle">
              <a:fillToRect b="50%" l="50%" r="50%" t="50%"/>
            </a:path>
            <a:tileRect/>
          </a:gradFill>
          <a:ln cap="flat" cmpd="sng" w="127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457200" y="99631"/>
            <a:ext cx="8229600" cy="1043369"/>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Textbook</a:t>
            </a:r>
            <a:endParaRPr/>
          </a:p>
        </p:txBody>
      </p:sp>
      <p:sp>
        <p:nvSpPr>
          <p:cNvPr id="115" name="Google Shape;115;p2"/>
          <p:cNvSpPr txBox="1"/>
          <p:nvPr>
            <p:ph idx="1" type="body"/>
          </p:nvPr>
        </p:nvSpPr>
        <p:spPr>
          <a:xfrm>
            <a:off x="457200" y="1223151"/>
            <a:ext cx="3352800" cy="4872849"/>
          </a:xfrm>
          <a:prstGeom prst="rect">
            <a:avLst/>
          </a:prstGeom>
          <a:noFill/>
          <a:ln>
            <a:noFill/>
          </a:ln>
        </p:spPr>
        <p:txBody>
          <a:bodyPr anchorCtr="0" anchor="t" bIns="45700" lIns="0" spcFirstLastPara="1" rIns="0" wrap="square" tIns="45700">
            <a:normAutofit/>
          </a:bodyPr>
          <a:lstStyle/>
          <a:p>
            <a:pPr indent="-609600" lvl="0" marL="609600" rtl="0" algn="ctr">
              <a:lnSpc>
                <a:spcPct val="80000"/>
              </a:lnSpc>
              <a:spcBef>
                <a:spcPts val="0"/>
              </a:spcBef>
              <a:spcAft>
                <a:spcPts val="0"/>
              </a:spcAft>
              <a:buSzPts val="2400"/>
              <a:buFont typeface="Calibri"/>
              <a:buNone/>
            </a:pPr>
            <a:r>
              <a:rPr lang="en-US">
                <a:solidFill>
                  <a:srgbClr val="FF0000"/>
                </a:solidFill>
              </a:rPr>
              <a:t>Introduction to Automata Theory, Languages, and</a:t>
            </a:r>
            <a:r>
              <a:rPr lang="en-US">
                <a:solidFill>
                  <a:schemeClr val="accent2"/>
                </a:solidFill>
              </a:rPr>
              <a:t> </a:t>
            </a:r>
            <a:r>
              <a:rPr lang="en-US">
                <a:solidFill>
                  <a:srgbClr val="FF0000"/>
                </a:solidFill>
              </a:rPr>
              <a:t>Computation</a:t>
            </a:r>
            <a:r>
              <a:rPr lang="en-US" sz="1800">
                <a:solidFill>
                  <a:schemeClr val="accent2"/>
                </a:solidFill>
              </a:rPr>
              <a:t> </a:t>
            </a:r>
            <a:endParaRPr/>
          </a:p>
          <a:p>
            <a:pPr indent="-609600" lvl="0" marL="609600" rtl="0" algn="ctr">
              <a:lnSpc>
                <a:spcPct val="80000"/>
              </a:lnSpc>
              <a:spcBef>
                <a:spcPts val="1400"/>
              </a:spcBef>
              <a:spcAft>
                <a:spcPts val="0"/>
              </a:spcAft>
              <a:buSzPts val="1800"/>
              <a:buFont typeface="Calibri"/>
              <a:buNone/>
            </a:pPr>
            <a:r>
              <a:t/>
            </a:r>
            <a:endParaRPr sz="1800">
              <a:solidFill>
                <a:schemeClr val="accent2"/>
              </a:solidFill>
            </a:endParaRPr>
          </a:p>
          <a:p>
            <a:pPr indent="-609600" lvl="0" marL="609600" rtl="0" algn="ctr">
              <a:lnSpc>
                <a:spcPct val="80000"/>
              </a:lnSpc>
              <a:spcBef>
                <a:spcPts val="1400"/>
              </a:spcBef>
              <a:spcAft>
                <a:spcPts val="0"/>
              </a:spcAft>
              <a:buSzPts val="2000"/>
              <a:buFont typeface="Calibri"/>
              <a:buNone/>
            </a:pPr>
            <a:r>
              <a:rPr b="1" lang="en-US" sz="2000"/>
              <a:t>John E. Hopcroft</a:t>
            </a:r>
            <a:r>
              <a:rPr lang="en-US" sz="2000"/>
              <a:t>, </a:t>
            </a:r>
            <a:endParaRPr/>
          </a:p>
          <a:p>
            <a:pPr indent="-609600" lvl="0" marL="609600" rtl="0" algn="ctr">
              <a:lnSpc>
                <a:spcPct val="80000"/>
              </a:lnSpc>
              <a:spcBef>
                <a:spcPts val="1400"/>
              </a:spcBef>
              <a:spcAft>
                <a:spcPts val="0"/>
              </a:spcAft>
              <a:buSzPts val="2000"/>
              <a:buFont typeface="Calibri"/>
              <a:buNone/>
            </a:pPr>
            <a:r>
              <a:rPr b="1" lang="en-US" sz="2000"/>
              <a:t>Rajeev Motwani</a:t>
            </a:r>
            <a:r>
              <a:rPr lang="en-US" sz="2000"/>
              <a:t>, </a:t>
            </a:r>
            <a:endParaRPr/>
          </a:p>
          <a:p>
            <a:pPr indent="-609600" lvl="0" marL="609600" rtl="0" algn="ctr">
              <a:lnSpc>
                <a:spcPct val="80000"/>
              </a:lnSpc>
              <a:spcBef>
                <a:spcPts val="1400"/>
              </a:spcBef>
              <a:spcAft>
                <a:spcPts val="0"/>
              </a:spcAft>
              <a:buSzPts val="2000"/>
              <a:buFont typeface="Calibri"/>
              <a:buNone/>
            </a:pPr>
            <a:r>
              <a:rPr b="1" lang="en-US" sz="2000"/>
              <a:t>Jeffrey D. Ullman</a:t>
            </a:r>
            <a:r>
              <a:rPr lang="en-US" sz="2000"/>
              <a:t>, </a:t>
            </a:r>
            <a:endParaRPr/>
          </a:p>
          <a:p>
            <a:pPr indent="-609600" lvl="0" marL="609600" rtl="0" algn="ctr">
              <a:lnSpc>
                <a:spcPct val="80000"/>
              </a:lnSpc>
              <a:spcBef>
                <a:spcPts val="1400"/>
              </a:spcBef>
              <a:spcAft>
                <a:spcPts val="0"/>
              </a:spcAft>
              <a:buSzPts val="2000"/>
              <a:buFont typeface="Calibri"/>
              <a:buNone/>
            </a:pPr>
            <a:br>
              <a:rPr lang="en-US" sz="2000"/>
            </a:br>
            <a:endParaRPr sz="2000">
              <a:solidFill>
                <a:schemeClr val="accent2"/>
              </a:solidFill>
            </a:endParaRPr>
          </a:p>
          <a:p>
            <a:pPr indent="-609600" lvl="0" marL="609600" rtl="0" algn="ctr">
              <a:lnSpc>
                <a:spcPct val="80000"/>
              </a:lnSpc>
              <a:spcBef>
                <a:spcPts val="1400"/>
              </a:spcBef>
              <a:spcAft>
                <a:spcPts val="0"/>
              </a:spcAft>
              <a:buSzPts val="1800"/>
              <a:buFont typeface="Calibri"/>
              <a:buNone/>
            </a:pPr>
            <a:r>
              <a:rPr lang="en-US" sz="1800"/>
              <a:t>(2nd Ed. Addison-Wesley, 2001)</a:t>
            </a:r>
            <a:endParaRPr/>
          </a:p>
          <a:p>
            <a:pPr indent="0" lvl="0" marL="91440" rtl="0" algn="l">
              <a:lnSpc>
                <a:spcPct val="90000"/>
              </a:lnSpc>
              <a:spcBef>
                <a:spcPts val="1400"/>
              </a:spcBef>
              <a:spcAft>
                <a:spcPts val="0"/>
              </a:spcAft>
              <a:buSzPts val="2400"/>
              <a:buNone/>
            </a:pPr>
            <a:r>
              <a:t/>
            </a:r>
            <a:endParaRPr/>
          </a:p>
        </p:txBody>
      </p:sp>
      <p:pic>
        <p:nvPicPr>
          <p:cNvPr descr="0201441241" id="116" name="Google Shape;116;p2"/>
          <p:cNvPicPr preferRelativeResize="0"/>
          <p:nvPr/>
        </p:nvPicPr>
        <p:blipFill rotWithShape="1">
          <a:blip r:embed="rId3">
            <a:alphaModFix/>
          </a:blip>
          <a:srcRect b="0" l="0" r="0" t="0"/>
          <a:stretch/>
        </p:blipFill>
        <p:spPr>
          <a:xfrm>
            <a:off x="4876800" y="1225557"/>
            <a:ext cx="3352800" cy="4555738"/>
          </a:xfrm>
          <a:prstGeom prst="rect">
            <a:avLst/>
          </a:prstGeom>
          <a:noFill/>
          <a:ln>
            <a:noFill/>
          </a:ln>
        </p:spPr>
      </p:pic>
      <p:sp>
        <p:nvSpPr>
          <p:cNvPr id="117" name="Google Shape;117;p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a:solidFill>
                  <a:srgbClr val="FF0000"/>
                </a:solidFill>
              </a:rPr>
              <a:t> </a:t>
            </a:r>
            <a:r>
              <a:rPr lang="en-US">
                <a:solidFill>
                  <a:schemeClr val="dk1"/>
                </a:solidFill>
              </a:rPr>
              <a:t>Finite automata</a:t>
            </a:r>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Regular languages, Regular grammars</a:t>
            </a:r>
            <a:endParaRPr>
              <a:solidFill>
                <a:schemeClr val="dk1"/>
              </a:solidFill>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Properties of Regular Languages</a:t>
            </a:r>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Context-free Grammars and Languages</a:t>
            </a:r>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Pushdown Automata</a:t>
            </a:r>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Properties of Context-Free Languages</a:t>
            </a:r>
            <a:endParaRPr/>
          </a:p>
          <a:p>
            <a:pPr indent="-152400" lvl="0" marL="91440" rtl="0" algn="l">
              <a:lnSpc>
                <a:spcPct val="90000"/>
              </a:lnSpc>
              <a:spcBef>
                <a:spcPts val="1400"/>
              </a:spcBef>
              <a:spcAft>
                <a:spcPts val="0"/>
              </a:spcAft>
              <a:buSzPts val="2400"/>
              <a:buFont typeface="Noto Sans Symbols"/>
              <a:buChar char="▪"/>
            </a:pPr>
            <a:r>
              <a:rPr lang="en-US">
                <a:solidFill>
                  <a:schemeClr val="dk1"/>
                </a:solidFill>
              </a:rPr>
              <a:t> Induction to Turing Machine and etc.. ☺</a:t>
            </a:r>
            <a:endParaRPr>
              <a:solidFill>
                <a:schemeClr val="dk1"/>
              </a:solidFill>
            </a:endParaRPr>
          </a:p>
        </p:txBody>
      </p:sp>
      <p:sp>
        <p:nvSpPr>
          <p:cNvPr id="124" name="Google Shape;124;p3"/>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Topics to be Covered</a:t>
            </a:r>
            <a:endParaRPr/>
          </a:p>
        </p:txBody>
      </p:sp>
      <p:sp>
        <p:nvSpPr>
          <p:cNvPr id="125" name="Google Shape;125;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a:t>Assignment</a:t>
            </a:r>
            <a:endParaRPr/>
          </a:p>
          <a:p>
            <a:pPr indent="-91440" lvl="0" marL="91440" rtl="0" algn="l">
              <a:lnSpc>
                <a:spcPct val="90000"/>
              </a:lnSpc>
              <a:spcBef>
                <a:spcPts val="1400"/>
              </a:spcBef>
              <a:spcAft>
                <a:spcPts val="0"/>
              </a:spcAft>
              <a:buSzPts val="2400"/>
              <a:buNone/>
            </a:pPr>
            <a:r>
              <a:rPr lang="en-US"/>
              <a:t>Midterm  1                </a:t>
            </a:r>
            <a:endParaRPr/>
          </a:p>
          <a:p>
            <a:pPr indent="-91440" lvl="0" marL="91440" rtl="0" algn="l">
              <a:lnSpc>
                <a:spcPct val="90000"/>
              </a:lnSpc>
              <a:spcBef>
                <a:spcPts val="1400"/>
              </a:spcBef>
              <a:spcAft>
                <a:spcPts val="0"/>
              </a:spcAft>
              <a:buSzPts val="2400"/>
              <a:buNone/>
            </a:pPr>
            <a:r>
              <a:rPr lang="en-US"/>
              <a:t>Midterm 2</a:t>
            </a:r>
            <a:endParaRPr/>
          </a:p>
          <a:p>
            <a:pPr indent="-152400" lvl="0" marL="91440" rtl="0" algn="l">
              <a:lnSpc>
                <a:spcPct val="90000"/>
              </a:lnSpc>
              <a:spcBef>
                <a:spcPts val="1400"/>
              </a:spcBef>
              <a:spcAft>
                <a:spcPts val="0"/>
              </a:spcAft>
              <a:buSzPts val="2400"/>
              <a:buChar char=" "/>
            </a:pPr>
            <a:r>
              <a:rPr lang="en-US"/>
              <a:t>Attendance              </a:t>
            </a:r>
            <a:endParaRPr/>
          </a:p>
          <a:p>
            <a:pPr indent="-152400" lvl="0" marL="91440" rtl="0" algn="l">
              <a:lnSpc>
                <a:spcPct val="90000"/>
              </a:lnSpc>
              <a:spcBef>
                <a:spcPts val="1400"/>
              </a:spcBef>
              <a:spcAft>
                <a:spcPts val="0"/>
              </a:spcAft>
              <a:buSzPts val="2400"/>
              <a:buChar char=" "/>
            </a:pPr>
            <a:r>
              <a:rPr lang="en-US"/>
              <a:t>Final Exam              </a:t>
            </a:r>
            <a:endParaRPr/>
          </a:p>
          <a:p>
            <a:pPr indent="0" lvl="0" marL="91440" rtl="0" algn="l">
              <a:lnSpc>
                <a:spcPct val="90000"/>
              </a:lnSpc>
              <a:spcBef>
                <a:spcPts val="1400"/>
              </a:spcBef>
              <a:spcAft>
                <a:spcPts val="0"/>
              </a:spcAft>
              <a:buSzPts val="2400"/>
              <a:buNone/>
            </a:pPr>
            <a:r>
              <a:t/>
            </a:r>
            <a:endParaRPr/>
          </a:p>
          <a:p>
            <a:pPr indent="0" lvl="0" marL="91440" rtl="0" algn="l">
              <a:lnSpc>
                <a:spcPct val="90000"/>
              </a:lnSpc>
              <a:spcBef>
                <a:spcPts val="1400"/>
              </a:spcBef>
              <a:spcAft>
                <a:spcPts val="0"/>
              </a:spcAft>
              <a:buSzPts val="2400"/>
              <a:buNone/>
            </a:pPr>
            <a:r>
              <a:t/>
            </a:r>
            <a:endParaRPr/>
          </a:p>
        </p:txBody>
      </p:sp>
      <p:sp>
        <p:nvSpPr>
          <p:cNvPr id="131" name="Google Shape;131;p4"/>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Grading</a:t>
            </a:r>
            <a:endParaRPr/>
          </a:p>
        </p:txBody>
      </p:sp>
      <p:sp>
        <p:nvSpPr>
          <p:cNvPr id="132" name="Google Shape;132;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a:t>Theory of computation</a:t>
            </a:r>
            <a:r>
              <a:rPr lang="en-US"/>
              <a:t> </a:t>
            </a:r>
            <a:endParaRPr/>
          </a:p>
          <a:p>
            <a:pPr indent="-152400" lvl="0" marL="91440" rtl="0" algn="just">
              <a:lnSpc>
                <a:spcPct val="90000"/>
              </a:lnSpc>
              <a:spcBef>
                <a:spcPts val="1400"/>
              </a:spcBef>
              <a:spcAft>
                <a:spcPts val="0"/>
              </a:spcAft>
              <a:buSzPts val="2400"/>
              <a:buChar char=" "/>
            </a:pPr>
            <a:r>
              <a:rPr b="1" lang="en-US"/>
              <a:t>Automata</a:t>
            </a:r>
            <a:r>
              <a:rPr lang="en-US"/>
              <a:t> theory (also known as </a:t>
            </a:r>
            <a:r>
              <a:rPr b="1" lang="en-US"/>
              <a:t>Theory of Computation</a:t>
            </a:r>
            <a:r>
              <a:rPr lang="en-US"/>
              <a:t>) is a theoretical branch of Computer Science and Mathematics</a:t>
            </a:r>
            <a:endParaRPr/>
          </a:p>
          <a:p>
            <a:pPr indent="-152400" lvl="0" marL="91440" rtl="0" algn="just">
              <a:lnSpc>
                <a:spcPct val="90000"/>
              </a:lnSpc>
              <a:spcBef>
                <a:spcPts val="1400"/>
              </a:spcBef>
              <a:spcAft>
                <a:spcPts val="0"/>
              </a:spcAft>
              <a:buSzPts val="2400"/>
              <a:buChar char=" "/>
            </a:pPr>
            <a:r>
              <a:rPr lang="en-US"/>
              <a:t>is the branch that deals with how efficiently problems can be solved on a model of computation, using an algorithm</a:t>
            </a:r>
            <a:endParaRPr/>
          </a:p>
          <a:p>
            <a:pPr indent="-152400" lvl="0" marL="91440" rtl="0" algn="just">
              <a:lnSpc>
                <a:spcPct val="90000"/>
              </a:lnSpc>
              <a:spcBef>
                <a:spcPts val="1400"/>
              </a:spcBef>
              <a:spcAft>
                <a:spcPts val="0"/>
              </a:spcAft>
              <a:buSzPts val="2400"/>
              <a:buChar char=" "/>
            </a:pPr>
            <a:r>
              <a:rPr lang="en-US"/>
              <a:t>deals with the logic of computation with respect to simple machines, referred to as automata</a:t>
            </a:r>
            <a:endParaRPr/>
          </a:p>
          <a:p>
            <a:pPr indent="-152400" lvl="0" marL="91440" rtl="0" algn="l">
              <a:lnSpc>
                <a:spcPct val="90000"/>
              </a:lnSpc>
              <a:spcBef>
                <a:spcPts val="1400"/>
              </a:spcBef>
              <a:spcAft>
                <a:spcPts val="0"/>
              </a:spcAft>
              <a:buSzPts val="2400"/>
              <a:buChar char=" "/>
            </a:pPr>
            <a:r>
              <a:rPr lang="en-US"/>
              <a:t>Automata* enables the scientists to understand how machines compute the functions and solve problems</a:t>
            </a:r>
            <a:endParaRPr/>
          </a:p>
          <a:p>
            <a:pPr indent="0" lvl="0" marL="91440" rtl="0" algn="l">
              <a:lnSpc>
                <a:spcPct val="90000"/>
              </a:lnSpc>
              <a:spcBef>
                <a:spcPts val="1400"/>
              </a:spcBef>
              <a:spcAft>
                <a:spcPts val="0"/>
              </a:spcAft>
              <a:buSzPts val="2400"/>
              <a:buFont typeface="Noto Sans Symbols"/>
              <a:buNone/>
            </a:pPr>
            <a:r>
              <a:t/>
            </a:r>
            <a:endParaRPr/>
          </a:p>
          <a:p>
            <a:pPr indent="-152400" lvl="0" marL="91440" rtl="0" algn="ctr">
              <a:lnSpc>
                <a:spcPct val="90000"/>
              </a:lnSpc>
              <a:spcBef>
                <a:spcPts val="1400"/>
              </a:spcBef>
              <a:spcAft>
                <a:spcPts val="0"/>
              </a:spcAft>
              <a:buSzPts val="2400"/>
              <a:buChar char=" "/>
            </a:pPr>
            <a:r>
              <a:rPr i="1" lang="en-US">
                <a:solidFill>
                  <a:srgbClr val="FF0000"/>
                </a:solidFill>
              </a:rPr>
              <a:t>"What are the fundamental capabilities and limitations of computers?</a:t>
            </a:r>
            <a:endParaRPr>
              <a:solidFill>
                <a:srgbClr val="FF0000"/>
              </a:solidFill>
            </a:endParaRPr>
          </a:p>
        </p:txBody>
      </p:sp>
      <p:sp>
        <p:nvSpPr>
          <p:cNvPr id="139" name="Google Shape;139;p5"/>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Calibri"/>
              <a:buNone/>
            </a:pPr>
            <a:br>
              <a:rPr lang="en-US"/>
            </a:br>
            <a:r>
              <a:rPr b="1" lang="en-US"/>
              <a:t>Theory of Computation</a:t>
            </a:r>
            <a:r>
              <a:rPr lang="en-US"/>
              <a:t> </a:t>
            </a:r>
            <a:endParaRPr/>
          </a:p>
        </p:txBody>
      </p:sp>
      <p:sp>
        <p:nvSpPr>
          <p:cNvPr id="140" name="Google Shape;140;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idx="1" type="body"/>
          </p:nvPr>
        </p:nvSpPr>
        <p:spPr>
          <a:xfrm>
            <a:off x="762000" y="1223151"/>
            <a:ext cx="7924800" cy="4872849"/>
          </a:xfrm>
          <a:prstGeom prst="rect">
            <a:avLst/>
          </a:prstGeom>
          <a:noFill/>
          <a:ln>
            <a:noFill/>
          </a:ln>
        </p:spPr>
        <p:txBody>
          <a:bodyPr anchorCtr="0" anchor="t" bIns="45700" lIns="0" spcFirstLastPara="1" rIns="0" wrap="square" tIns="45700">
            <a:normAutofit/>
          </a:bodyPr>
          <a:lstStyle/>
          <a:p>
            <a:pPr indent="-152400" lvl="0" marL="91440" rtl="0" algn="just">
              <a:lnSpc>
                <a:spcPct val="90000"/>
              </a:lnSpc>
              <a:spcBef>
                <a:spcPts val="0"/>
              </a:spcBef>
              <a:spcAft>
                <a:spcPts val="0"/>
              </a:spcAft>
              <a:buClr>
                <a:srgbClr val="FF0000"/>
              </a:buClr>
              <a:buSzPts val="2400"/>
              <a:buFont typeface="Noto Sans Symbols"/>
              <a:buChar char="▪"/>
            </a:pPr>
            <a:r>
              <a:rPr lang="en-US">
                <a:latin typeface="Tahoma"/>
                <a:ea typeface="Tahoma"/>
                <a:cs typeface="Tahoma"/>
                <a:sym typeface="Tahoma"/>
              </a:rPr>
              <a:t>  Study of abstract computing devices or machines</a:t>
            </a:r>
            <a:endParaRPr/>
          </a:p>
          <a:p>
            <a:pPr indent="-152400" lvl="0" marL="91440" rtl="0" algn="just">
              <a:lnSpc>
                <a:spcPct val="9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a:t>
            </a:r>
            <a:r>
              <a:rPr lang="en-US">
                <a:solidFill>
                  <a:srgbClr val="FF0000"/>
                </a:solidFill>
                <a:latin typeface="Tahoma"/>
                <a:ea typeface="Tahoma"/>
                <a:cs typeface="Tahoma"/>
                <a:sym typeface="Tahoma"/>
              </a:rPr>
              <a:t>Automaton=an abstract computing device</a:t>
            </a:r>
            <a:endParaRPr/>
          </a:p>
          <a:p>
            <a:pPr indent="-182880" lvl="2" marL="566928" rtl="0" algn="just">
              <a:lnSpc>
                <a:spcPct val="90000"/>
              </a:lnSpc>
              <a:spcBef>
                <a:spcPts val="400"/>
              </a:spcBef>
              <a:spcAft>
                <a:spcPts val="0"/>
              </a:spcAft>
              <a:buClr>
                <a:srgbClr val="FF0000"/>
              </a:buClr>
              <a:buSzPts val="2000"/>
              <a:buFont typeface="Noto Sans Symbols"/>
              <a:buChar char="▪"/>
            </a:pPr>
            <a:r>
              <a:rPr lang="en-US">
                <a:solidFill>
                  <a:srgbClr val="FF0000"/>
                </a:solidFill>
                <a:latin typeface="Tahoma"/>
                <a:ea typeface="Tahoma"/>
                <a:cs typeface="Tahoma"/>
                <a:sym typeface="Tahoma"/>
              </a:rPr>
              <a:t>  </a:t>
            </a:r>
            <a:r>
              <a:rPr lang="en-US">
                <a:solidFill>
                  <a:schemeClr val="dk1"/>
                </a:solidFill>
                <a:latin typeface="Tahoma"/>
                <a:ea typeface="Tahoma"/>
                <a:cs typeface="Tahoma"/>
                <a:sym typeface="Tahoma"/>
              </a:rPr>
              <a:t>a device need not even be a physical hardware</a:t>
            </a:r>
            <a:endParaRPr/>
          </a:p>
          <a:p>
            <a:pPr indent="-152400" lvl="0" marL="91440" rtl="0" algn="just">
              <a:lnSpc>
                <a:spcPct val="90000"/>
              </a:lnSpc>
              <a:spcBef>
                <a:spcPts val="1600"/>
              </a:spcBef>
              <a:spcAft>
                <a:spcPts val="0"/>
              </a:spcAft>
              <a:buClr>
                <a:srgbClr val="FF0000"/>
              </a:buClr>
              <a:buSzPts val="2400"/>
              <a:buFont typeface="Noto Sans Symbols"/>
              <a:buChar char="▪"/>
            </a:pPr>
            <a:r>
              <a:rPr lang="en-US">
                <a:latin typeface="Tahoma"/>
                <a:ea typeface="Tahoma"/>
                <a:cs typeface="Tahoma"/>
                <a:sym typeface="Tahoma"/>
              </a:rPr>
              <a:t>  Abstract devices are (simplified) models of real computations </a:t>
            </a:r>
            <a:endParaRPr/>
          </a:p>
          <a:p>
            <a:pPr indent="-152400" lvl="0" marL="91440" rtl="0" algn="just">
              <a:lnSpc>
                <a:spcPct val="9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Computations happen everywhere: On your laptop, on     your cell phone, in nature, …</a:t>
            </a:r>
            <a:endParaRPr/>
          </a:p>
          <a:p>
            <a:pPr indent="0" lvl="0" marL="91440" rtl="0" algn="just">
              <a:lnSpc>
                <a:spcPct val="90000"/>
              </a:lnSpc>
              <a:spcBef>
                <a:spcPts val="1400"/>
              </a:spcBef>
              <a:spcAft>
                <a:spcPts val="0"/>
              </a:spcAft>
              <a:buClr>
                <a:srgbClr val="FF0000"/>
              </a:buClr>
              <a:buSzPts val="2400"/>
              <a:buFont typeface="Noto Sans Symbols"/>
              <a:buNone/>
            </a:pPr>
            <a:r>
              <a:t/>
            </a:r>
            <a:endParaRPr>
              <a:solidFill>
                <a:schemeClr val="dk1"/>
              </a:solidFill>
              <a:latin typeface="Tahoma"/>
              <a:ea typeface="Tahoma"/>
              <a:cs typeface="Tahoma"/>
              <a:sym typeface="Tahoma"/>
            </a:endParaRPr>
          </a:p>
          <a:p>
            <a:pPr indent="-55880" lvl="2" marL="566928" rtl="0" algn="l">
              <a:lnSpc>
                <a:spcPct val="90000"/>
              </a:lnSpc>
              <a:spcBef>
                <a:spcPts val="400"/>
              </a:spcBef>
              <a:spcAft>
                <a:spcPts val="0"/>
              </a:spcAft>
              <a:buClr>
                <a:srgbClr val="FF0000"/>
              </a:buClr>
              <a:buSzPts val="2000"/>
              <a:buFont typeface="Noto Sans Symbols"/>
              <a:buNone/>
            </a:pPr>
            <a:r>
              <a:t/>
            </a:r>
            <a:endParaRPr>
              <a:solidFill>
                <a:schemeClr val="dk1"/>
              </a:solidFill>
              <a:latin typeface="Tahoma"/>
              <a:ea typeface="Tahoma"/>
              <a:cs typeface="Tahoma"/>
              <a:sym typeface="Tahoma"/>
            </a:endParaRPr>
          </a:p>
          <a:p>
            <a:pPr indent="0" lvl="0" marL="91440" rtl="0" algn="l">
              <a:lnSpc>
                <a:spcPct val="90000"/>
              </a:lnSpc>
              <a:spcBef>
                <a:spcPts val="1600"/>
              </a:spcBef>
              <a:spcAft>
                <a:spcPts val="0"/>
              </a:spcAft>
              <a:buClr>
                <a:srgbClr val="FF0000"/>
              </a:buClr>
              <a:buSzPts val="2400"/>
              <a:buFont typeface="Noto Sans Symbols"/>
              <a:buNone/>
            </a:pPr>
            <a:r>
              <a:t/>
            </a:r>
            <a:endParaRPr>
              <a:solidFill>
                <a:schemeClr val="dk1"/>
              </a:solidFill>
              <a:latin typeface="Tahoma"/>
              <a:ea typeface="Tahoma"/>
              <a:cs typeface="Tahoma"/>
              <a:sym typeface="Tahoma"/>
            </a:endParaRPr>
          </a:p>
        </p:txBody>
      </p:sp>
      <p:sp>
        <p:nvSpPr>
          <p:cNvPr id="146" name="Google Shape;146;p6"/>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What is Automata Theory?</a:t>
            </a:r>
            <a:endParaRPr/>
          </a:p>
        </p:txBody>
      </p:sp>
      <p:sp>
        <p:nvSpPr>
          <p:cNvPr id="147" name="Google Shape;147;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91440" lvl="0" marL="91440" rtl="0" algn="l">
              <a:lnSpc>
                <a:spcPct val="80000"/>
              </a:lnSpc>
              <a:spcBef>
                <a:spcPts val="0"/>
              </a:spcBef>
              <a:spcAft>
                <a:spcPts val="0"/>
              </a:spcAft>
              <a:buSzPts val="2800"/>
              <a:buFont typeface="Tahoma"/>
              <a:buNone/>
            </a:pPr>
            <a:r>
              <a:rPr lang="en-US" sz="2800">
                <a:solidFill>
                  <a:srgbClr val="FF0000"/>
                </a:solidFill>
                <a:latin typeface="Tahoma"/>
                <a:ea typeface="Tahoma"/>
                <a:cs typeface="Tahoma"/>
                <a:sym typeface="Tahoma"/>
              </a:rPr>
              <a:t>Finite automata are a useful model for hardware and software:</a:t>
            </a:r>
            <a:endParaRPr/>
          </a:p>
          <a:p>
            <a:pPr indent="-91440" lvl="0" marL="91440" rtl="0" algn="l">
              <a:lnSpc>
                <a:spcPct val="80000"/>
              </a:lnSpc>
              <a:spcBef>
                <a:spcPts val="1400"/>
              </a:spcBef>
              <a:spcAft>
                <a:spcPts val="0"/>
              </a:spcAft>
              <a:buSzPts val="2800"/>
              <a:buFont typeface="Calibri"/>
              <a:buNone/>
            </a:pPr>
            <a:r>
              <a:t/>
            </a:r>
            <a:endParaRPr sz="2800">
              <a:latin typeface="Tahoma"/>
              <a:ea typeface="Tahoma"/>
              <a:cs typeface="Tahoma"/>
              <a:sym typeface="Tahoma"/>
            </a:endParaRPr>
          </a:p>
          <a:p>
            <a:pPr indent="-152400" lvl="0" marL="91440" rtl="0" algn="l">
              <a:lnSpc>
                <a:spcPct val="8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Software for designing and checking digital circuits.</a:t>
            </a:r>
            <a:endParaRPr/>
          </a:p>
          <a:p>
            <a:pPr indent="-152400" lvl="0" marL="91440" rtl="0" algn="l">
              <a:lnSpc>
                <a:spcPct val="8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Lexical analyzer of compilers. </a:t>
            </a:r>
            <a:endParaRPr/>
          </a:p>
          <a:p>
            <a:pPr indent="-152400" lvl="0" marL="91440" rtl="0" algn="l">
              <a:lnSpc>
                <a:spcPct val="8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Finding words and patterns in large bodies of text, e.g. in web pages.</a:t>
            </a:r>
            <a:endParaRPr/>
          </a:p>
          <a:p>
            <a:pPr indent="-152400" lvl="0" marL="91440" rtl="0" algn="l">
              <a:lnSpc>
                <a:spcPct val="80000"/>
              </a:lnSpc>
              <a:spcBef>
                <a:spcPts val="1400"/>
              </a:spcBef>
              <a:spcAft>
                <a:spcPts val="0"/>
              </a:spcAft>
              <a:buClr>
                <a:srgbClr val="FF0000"/>
              </a:buClr>
              <a:buSzPts val="2400"/>
              <a:buFont typeface="Noto Sans Symbols"/>
              <a:buChar char="▪"/>
            </a:pPr>
            <a:r>
              <a:rPr lang="en-US">
                <a:latin typeface="Tahoma"/>
                <a:ea typeface="Tahoma"/>
                <a:cs typeface="Tahoma"/>
                <a:sym typeface="Tahoma"/>
              </a:rPr>
              <a:t> Verification of systems with finite number of states, e.g.  communication protocols, software testing etc...</a:t>
            </a:r>
            <a:endParaRPr>
              <a:latin typeface="Tahoma"/>
              <a:ea typeface="Tahoma"/>
              <a:cs typeface="Tahoma"/>
              <a:sym typeface="Tahoma"/>
            </a:endParaRPr>
          </a:p>
          <a:p>
            <a:pPr indent="0" lvl="0" marL="91440" rtl="0" algn="l">
              <a:lnSpc>
                <a:spcPct val="90000"/>
              </a:lnSpc>
              <a:spcBef>
                <a:spcPts val="1400"/>
              </a:spcBef>
              <a:spcAft>
                <a:spcPts val="0"/>
              </a:spcAft>
              <a:buSzPts val="2400"/>
              <a:buNone/>
            </a:pPr>
            <a:r>
              <a:t/>
            </a:r>
            <a:endParaRPr/>
          </a:p>
        </p:txBody>
      </p:sp>
      <p:sp>
        <p:nvSpPr>
          <p:cNvPr id="153" name="Google Shape;153;p7"/>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Why do study Automata Theory</a:t>
            </a:r>
            <a:endParaRPr/>
          </a:p>
        </p:txBody>
      </p:sp>
      <p:sp>
        <p:nvSpPr>
          <p:cNvPr id="154" name="Google Shape;154;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Applications</a:t>
            </a:r>
            <a:endParaRPr/>
          </a:p>
        </p:txBody>
      </p:sp>
      <p:sp>
        <p:nvSpPr>
          <p:cNvPr id="160" name="Google Shape;160;p8"/>
          <p:cNvSpPr txBox="1"/>
          <p:nvPr/>
        </p:nvSpPr>
        <p:spPr>
          <a:xfrm>
            <a:off x="1066800" y="4048318"/>
            <a:ext cx="7162800" cy="2039938"/>
          </a:xfrm>
          <a:prstGeom prst="rect">
            <a:avLst/>
          </a:prstGeom>
          <a:solidFill>
            <a:srgbClr val="9999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333CC"/>
              </a:buClr>
              <a:buSzPts val="3200"/>
              <a:buFont typeface="Comic Sans MS"/>
              <a:buNone/>
            </a:pPr>
            <a:r>
              <a:rPr b="0" i="0" lang="en-US" sz="3200" u="none" cap="none" strike="noStrike">
                <a:solidFill>
                  <a:srgbClr val="3333CC"/>
                </a:solidFill>
                <a:latin typeface="Comic Sans MS"/>
                <a:ea typeface="Comic Sans MS"/>
                <a:cs typeface="Comic Sans MS"/>
                <a:sym typeface="Comic Sans MS"/>
              </a:rPr>
              <a:t>Theoretical Computer Science</a:t>
            </a:r>
            <a:endParaRPr b="0" i="0" sz="2400" u="none" cap="none" strike="noStrike">
              <a:solidFill>
                <a:srgbClr val="FF0000"/>
              </a:solidFill>
              <a:latin typeface="Comic Sans MS"/>
              <a:ea typeface="Comic Sans MS"/>
              <a:cs typeface="Comic Sans MS"/>
              <a:sym typeface="Comic Sans MS"/>
            </a:endParaRPr>
          </a:p>
          <a:p>
            <a:pPr indent="0" lvl="0" marL="0" marR="0" rtl="0" algn="ctr">
              <a:lnSpc>
                <a:spcPct val="100000"/>
              </a:lnSpc>
              <a:spcBef>
                <a:spcPts val="1200"/>
              </a:spcBef>
              <a:spcAft>
                <a:spcPts val="0"/>
              </a:spcAft>
              <a:buClr>
                <a:srgbClr val="FF0000"/>
              </a:buClr>
              <a:buSzPts val="2400"/>
              <a:buFont typeface="Comic Sans MS"/>
              <a:buNone/>
            </a:pPr>
            <a:r>
              <a:rPr b="0" i="0" lang="en-US" sz="2400" u="none" cap="none" strike="noStrike">
                <a:solidFill>
                  <a:srgbClr val="FF0000"/>
                </a:solidFill>
                <a:latin typeface="Comic Sans MS"/>
                <a:ea typeface="Comic Sans MS"/>
                <a:cs typeface="Comic Sans MS"/>
                <a:sym typeface="Comic Sans MS"/>
              </a:rPr>
              <a:t>Automata Theory, Formal Languages, Computability, Complexity …</a:t>
            </a:r>
            <a:endParaRPr/>
          </a:p>
          <a:p>
            <a:pPr indent="0" lvl="0" marL="0" marR="0" rtl="0" algn="l">
              <a:lnSpc>
                <a:spcPct val="100000"/>
              </a:lnSpc>
              <a:spcBef>
                <a:spcPts val="1200"/>
              </a:spcBef>
              <a:spcAft>
                <a:spcPts val="0"/>
              </a:spcAft>
              <a:buClr>
                <a:schemeClr val="accent2"/>
              </a:buClr>
              <a:buSzPts val="2400"/>
              <a:buFont typeface="Comic Sans MS"/>
              <a:buNone/>
            </a:pPr>
            <a:r>
              <a:t/>
            </a:r>
            <a:endParaRPr b="0" i="0" sz="2400" u="none" cap="none" strike="noStrike">
              <a:solidFill>
                <a:srgbClr val="3333CC"/>
              </a:solidFill>
              <a:latin typeface="Comic Sans MS"/>
              <a:ea typeface="Comic Sans MS"/>
              <a:cs typeface="Comic Sans MS"/>
              <a:sym typeface="Comic Sans MS"/>
            </a:endParaRPr>
          </a:p>
        </p:txBody>
      </p:sp>
      <p:sp>
        <p:nvSpPr>
          <p:cNvPr id="161" name="Google Shape;161;p8"/>
          <p:cNvSpPr txBox="1"/>
          <p:nvPr/>
        </p:nvSpPr>
        <p:spPr>
          <a:xfrm rot="5400000">
            <a:off x="578644" y="2721962"/>
            <a:ext cx="1981200" cy="671512"/>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3200"/>
              <a:buFont typeface="Comic Sans MS"/>
              <a:buNone/>
            </a:pPr>
            <a:r>
              <a:rPr b="0" i="0" lang="en-US" sz="3200" u="none" cap="none" strike="noStrike">
                <a:solidFill>
                  <a:srgbClr val="3333CC"/>
                </a:solidFill>
                <a:latin typeface="Comic Sans MS"/>
                <a:ea typeface="Comic Sans MS"/>
                <a:cs typeface="Comic Sans MS"/>
                <a:sym typeface="Comic Sans MS"/>
              </a:rPr>
              <a:t>Compiler</a:t>
            </a:r>
            <a:endParaRPr/>
          </a:p>
        </p:txBody>
      </p:sp>
      <p:sp>
        <p:nvSpPr>
          <p:cNvPr id="162" name="Google Shape;162;p8"/>
          <p:cNvSpPr txBox="1"/>
          <p:nvPr/>
        </p:nvSpPr>
        <p:spPr>
          <a:xfrm rot="5400000">
            <a:off x="982663" y="2516381"/>
            <a:ext cx="2514600" cy="549275"/>
          </a:xfrm>
          <a:prstGeom prst="rect">
            <a:avLst/>
          </a:prstGeom>
          <a:solidFill>
            <a:srgbClr val="00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Comic Sans MS"/>
              <a:buNone/>
            </a:pPr>
            <a:r>
              <a:rPr b="0" i="0" lang="en-US" sz="2400" u="none" cap="none" strike="noStrike">
                <a:solidFill>
                  <a:srgbClr val="3333CC"/>
                </a:solidFill>
                <a:latin typeface="Comic Sans MS"/>
                <a:ea typeface="Comic Sans MS"/>
                <a:cs typeface="Comic Sans MS"/>
                <a:sym typeface="Comic Sans MS"/>
              </a:rPr>
              <a:t>Prog. languages</a:t>
            </a:r>
            <a:endParaRPr/>
          </a:p>
        </p:txBody>
      </p:sp>
      <p:sp>
        <p:nvSpPr>
          <p:cNvPr id="163" name="Google Shape;163;p8"/>
          <p:cNvSpPr txBox="1"/>
          <p:nvPr/>
        </p:nvSpPr>
        <p:spPr>
          <a:xfrm rot="5400000">
            <a:off x="1630363" y="2554481"/>
            <a:ext cx="2438400" cy="549275"/>
          </a:xfrm>
          <a:prstGeom prst="rect">
            <a:avLst/>
          </a:prstGeom>
          <a:solidFill>
            <a:srgbClr val="FF00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Comic Sans MS"/>
              <a:buNone/>
            </a:pPr>
            <a:r>
              <a:rPr b="0" i="0" lang="en-US" sz="2400" u="none" cap="none" strike="noStrike">
                <a:solidFill>
                  <a:srgbClr val="3333CC"/>
                </a:solidFill>
                <a:latin typeface="Comic Sans MS"/>
                <a:ea typeface="Comic Sans MS"/>
                <a:cs typeface="Comic Sans MS"/>
                <a:sym typeface="Comic Sans MS"/>
              </a:rPr>
              <a:t>Comm. protocols</a:t>
            </a:r>
            <a:endParaRPr/>
          </a:p>
        </p:txBody>
      </p:sp>
      <p:sp>
        <p:nvSpPr>
          <p:cNvPr id="164" name="Google Shape;164;p8"/>
          <p:cNvSpPr txBox="1"/>
          <p:nvPr/>
        </p:nvSpPr>
        <p:spPr>
          <a:xfrm rot="5400000">
            <a:off x="2507456" y="2760062"/>
            <a:ext cx="1905000" cy="671513"/>
          </a:xfrm>
          <a:prstGeom prst="rect">
            <a:avLst/>
          </a:prstGeom>
          <a:solidFill>
            <a:srgbClr val="CC99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333CC"/>
              </a:buClr>
              <a:buSzPts val="3200"/>
              <a:buFont typeface="Comic Sans MS"/>
              <a:buNone/>
            </a:pPr>
            <a:r>
              <a:rPr b="0" i="0" lang="en-US" sz="3200" u="none" cap="none" strike="noStrike">
                <a:solidFill>
                  <a:srgbClr val="3333CC"/>
                </a:solidFill>
                <a:latin typeface="Comic Sans MS"/>
                <a:ea typeface="Comic Sans MS"/>
                <a:cs typeface="Comic Sans MS"/>
                <a:sym typeface="Comic Sans MS"/>
              </a:rPr>
              <a:t>circuits</a:t>
            </a:r>
            <a:endParaRPr/>
          </a:p>
        </p:txBody>
      </p:sp>
      <p:sp>
        <p:nvSpPr>
          <p:cNvPr id="165" name="Google Shape;165;p8"/>
          <p:cNvSpPr txBox="1"/>
          <p:nvPr/>
        </p:nvSpPr>
        <p:spPr>
          <a:xfrm rot="5400000">
            <a:off x="2895600" y="2219518"/>
            <a:ext cx="2743200" cy="914400"/>
          </a:xfrm>
          <a:prstGeom prst="rect">
            <a:avLst/>
          </a:prstGeom>
          <a:solidFill>
            <a:srgbClr val="80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Pattern recognition</a:t>
            </a:r>
            <a:endParaRPr/>
          </a:p>
        </p:txBody>
      </p:sp>
      <p:sp>
        <p:nvSpPr>
          <p:cNvPr id="166" name="Google Shape;166;p8"/>
          <p:cNvSpPr txBox="1"/>
          <p:nvPr/>
        </p:nvSpPr>
        <p:spPr>
          <a:xfrm rot="5400000">
            <a:off x="3986213" y="2271906"/>
            <a:ext cx="2514600" cy="1038225"/>
          </a:xfrm>
          <a:prstGeom prst="rect">
            <a:avLst/>
          </a:prstGeom>
          <a:solidFill>
            <a:srgbClr val="A5002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2800"/>
              <a:buFont typeface="Comic Sans MS"/>
              <a:buNone/>
            </a:pPr>
            <a:r>
              <a:rPr b="0" i="0" lang="en-US" sz="2800" u="none" cap="none" strike="noStrike">
                <a:solidFill>
                  <a:srgbClr val="FFFF00"/>
                </a:solidFill>
                <a:latin typeface="Comic Sans MS"/>
                <a:ea typeface="Comic Sans MS"/>
                <a:cs typeface="Comic Sans MS"/>
                <a:sym typeface="Comic Sans MS"/>
              </a:rPr>
              <a:t>Supervisory control</a:t>
            </a:r>
            <a:endParaRPr/>
          </a:p>
        </p:txBody>
      </p:sp>
      <p:sp>
        <p:nvSpPr>
          <p:cNvPr id="167" name="Google Shape;167;p8"/>
          <p:cNvSpPr txBox="1"/>
          <p:nvPr/>
        </p:nvSpPr>
        <p:spPr>
          <a:xfrm rot="5400000">
            <a:off x="5219700" y="2638618"/>
            <a:ext cx="1905000" cy="9144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Quantum computing</a:t>
            </a:r>
            <a:endParaRPr/>
          </a:p>
        </p:txBody>
      </p:sp>
      <p:sp>
        <p:nvSpPr>
          <p:cNvPr id="168" name="Google Shape;168;p8"/>
          <p:cNvSpPr txBox="1"/>
          <p:nvPr/>
        </p:nvSpPr>
        <p:spPr>
          <a:xfrm rot="5400000">
            <a:off x="5829300" y="2333818"/>
            <a:ext cx="2514600" cy="914400"/>
          </a:xfrm>
          <a:prstGeom prst="rect">
            <a:avLst/>
          </a:prstGeom>
          <a:solidFill>
            <a:srgbClr val="FF99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Comic Sans MS"/>
              <a:buNone/>
            </a:pPr>
            <a:r>
              <a:rPr b="0" i="0" lang="en-US" sz="2400" u="none" cap="none" strike="noStrike">
                <a:solidFill>
                  <a:srgbClr val="3333CC"/>
                </a:solidFill>
                <a:latin typeface="Comic Sans MS"/>
                <a:ea typeface="Comic Sans MS"/>
                <a:cs typeface="Comic Sans MS"/>
                <a:sym typeface="Comic Sans MS"/>
              </a:rPr>
              <a:t>Computer-Aided Verification</a:t>
            </a:r>
            <a:endParaRPr/>
          </a:p>
        </p:txBody>
      </p:sp>
      <p:sp>
        <p:nvSpPr>
          <p:cNvPr id="169" name="Google Shape;169;p8"/>
          <p:cNvSpPr txBox="1"/>
          <p:nvPr/>
        </p:nvSpPr>
        <p:spPr>
          <a:xfrm rot="5400000">
            <a:off x="6487299" y="2437819"/>
            <a:ext cx="2667000" cy="553998"/>
          </a:xfrm>
          <a:prstGeom prst="rect">
            <a:avLst/>
          </a:prstGeom>
          <a:solidFill>
            <a:schemeClr val="accent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CC"/>
              </a:buClr>
              <a:buSzPts val="2400"/>
              <a:buFont typeface="Comic Sans MS"/>
              <a:buNone/>
            </a:pPr>
            <a:r>
              <a:rPr b="0" i="0" lang="en-US" sz="2400" u="none" cap="none" strike="noStrike">
                <a:solidFill>
                  <a:srgbClr val="3333CC"/>
                </a:solidFill>
                <a:latin typeface="Comic Sans MS"/>
                <a:ea typeface="Comic Sans MS"/>
                <a:cs typeface="Comic Sans MS"/>
                <a:sym typeface="Comic Sans MS"/>
              </a:rPr>
              <a:t>Software testing</a:t>
            </a:r>
            <a:endParaRPr/>
          </a:p>
        </p:txBody>
      </p:sp>
      <p:sp>
        <p:nvSpPr>
          <p:cNvPr id="170" name="Google Shape;170;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500"/>
                                        <p:tgtEl>
                                          <p:spTgt spid="1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500"/>
                                        <p:tgtEl>
                                          <p:spTgt spid="1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500"/>
                                        <p:tgtEl>
                                          <p:spTgt spid="1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a:latin typeface="Tahoma"/>
                <a:ea typeface="Tahoma"/>
                <a:cs typeface="Tahoma"/>
                <a:sym typeface="Tahoma"/>
              </a:rPr>
              <a:t>Is the simplest kind of machine</a:t>
            </a:r>
            <a:endParaRPr/>
          </a:p>
          <a:p>
            <a:pPr indent="-152400" lvl="0" marL="91440" rtl="0" algn="l">
              <a:lnSpc>
                <a:spcPct val="90000"/>
              </a:lnSpc>
              <a:spcBef>
                <a:spcPts val="1400"/>
              </a:spcBef>
              <a:spcAft>
                <a:spcPts val="0"/>
              </a:spcAft>
              <a:buSzPts val="2400"/>
              <a:buChar char=" "/>
            </a:pPr>
            <a:r>
              <a:rPr lang="en-US">
                <a:latin typeface="Tahoma"/>
                <a:ea typeface="Tahoma"/>
                <a:cs typeface="Tahoma"/>
                <a:sym typeface="Tahoma"/>
              </a:rPr>
              <a:t>--- an FA modeling an on/off switch</a:t>
            </a:r>
            <a:endParaRPr/>
          </a:p>
          <a:p>
            <a:pPr indent="0" lvl="0" marL="91440" rtl="0" algn="l">
              <a:lnSpc>
                <a:spcPct val="90000"/>
              </a:lnSpc>
              <a:spcBef>
                <a:spcPts val="1400"/>
              </a:spcBef>
              <a:spcAft>
                <a:spcPts val="0"/>
              </a:spcAft>
              <a:buSzPts val="2400"/>
              <a:buNone/>
            </a:pPr>
            <a:r>
              <a:t/>
            </a:r>
            <a:endParaRPr>
              <a:latin typeface="Tahoma"/>
              <a:ea typeface="Tahoma"/>
              <a:cs typeface="Tahoma"/>
              <a:sym typeface="Tahoma"/>
            </a:endParaRPr>
          </a:p>
          <a:p>
            <a:pPr indent="0" lvl="0" marL="91440" rtl="0" algn="l">
              <a:lnSpc>
                <a:spcPct val="90000"/>
              </a:lnSpc>
              <a:spcBef>
                <a:spcPts val="1400"/>
              </a:spcBef>
              <a:spcAft>
                <a:spcPts val="0"/>
              </a:spcAft>
              <a:buSzPts val="2400"/>
              <a:buNone/>
            </a:pPr>
            <a:r>
              <a:t/>
            </a:r>
            <a:endParaRPr>
              <a:latin typeface="Tahoma"/>
              <a:ea typeface="Tahoma"/>
              <a:cs typeface="Tahoma"/>
              <a:sym typeface="Tahoma"/>
            </a:endParaRPr>
          </a:p>
          <a:p>
            <a:pPr indent="0" lvl="0" marL="91440" rtl="0" algn="l">
              <a:lnSpc>
                <a:spcPct val="90000"/>
              </a:lnSpc>
              <a:spcBef>
                <a:spcPts val="1400"/>
              </a:spcBef>
              <a:spcAft>
                <a:spcPts val="0"/>
              </a:spcAft>
              <a:buSzPts val="2400"/>
              <a:buNone/>
            </a:pPr>
            <a:r>
              <a:t/>
            </a:r>
            <a:endParaRPr>
              <a:latin typeface="Tahoma"/>
              <a:ea typeface="Tahoma"/>
              <a:cs typeface="Tahoma"/>
              <a:sym typeface="Tahoma"/>
            </a:endParaRPr>
          </a:p>
          <a:p>
            <a:pPr indent="-152400" lvl="1" marL="91440" rtl="0" algn="l">
              <a:lnSpc>
                <a:spcPct val="90000"/>
              </a:lnSpc>
              <a:spcBef>
                <a:spcPts val="1400"/>
              </a:spcBef>
              <a:spcAft>
                <a:spcPts val="0"/>
              </a:spcAft>
              <a:buSzPts val="2400"/>
              <a:buFont typeface="Calibri"/>
              <a:buChar char=" "/>
            </a:pPr>
            <a:r>
              <a:rPr lang="en-US" sz="2400">
                <a:latin typeface="Tahoma"/>
                <a:ea typeface="Tahoma"/>
                <a:cs typeface="Tahoma"/>
                <a:sym typeface="Tahoma"/>
              </a:rPr>
              <a:t>an FA modeling recognition of the keyword “then” in a lexical analyzer</a:t>
            </a:r>
            <a:endParaRPr/>
          </a:p>
          <a:p>
            <a:pPr indent="0" lvl="1" marL="91440" rtl="0" algn="l">
              <a:lnSpc>
                <a:spcPct val="90000"/>
              </a:lnSpc>
              <a:spcBef>
                <a:spcPts val="1400"/>
              </a:spcBef>
              <a:spcAft>
                <a:spcPts val="0"/>
              </a:spcAft>
              <a:buSzPts val="2400"/>
              <a:buFont typeface="Calibri"/>
              <a:buNone/>
            </a:pPr>
            <a:r>
              <a:t/>
            </a:r>
            <a:endParaRPr sz="2400">
              <a:latin typeface="Tahoma"/>
              <a:ea typeface="Tahoma"/>
              <a:cs typeface="Tahoma"/>
              <a:sym typeface="Tahoma"/>
            </a:endParaRPr>
          </a:p>
          <a:p>
            <a:pPr indent="0" lvl="1" marL="91440" rtl="0" algn="l">
              <a:lnSpc>
                <a:spcPct val="90000"/>
              </a:lnSpc>
              <a:spcBef>
                <a:spcPts val="1400"/>
              </a:spcBef>
              <a:spcAft>
                <a:spcPts val="0"/>
              </a:spcAft>
              <a:buSzPts val="2400"/>
              <a:buFont typeface="Calibri"/>
              <a:buNone/>
            </a:pPr>
            <a:r>
              <a:t/>
            </a:r>
            <a:endParaRPr sz="2400">
              <a:latin typeface="Tahoma"/>
              <a:ea typeface="Tahoma"/>
              <a:cs typeface="Tahoma"/>
              <a:sym typeface="Tahoma"/>
            </a:endParaRPr>
          </a:p>
          <a:p>
            <a:pPr indent="0" lvl="0" marL="91440" rtl="0" algn="l">
              <a:lnSpc>
                <a:spcPct val="90000"/>
              </a:lnSpc>
              <a:spcBef>
                <a:spcPts val="1400"/>
              </a:spcBef>
              <a:spcAft>
                <a:spcPts val="0"/>
              </a:spcAft>
              <a:buSzPts val="2400"/>
              <a:buNone/>
            </a:pPr>
            <a:r>
              <a:t/>
            </a:r>
            <a:endParaRPr>
              <a:latin typeface="Tahoma"/>
              <a:ea typeface="Tahoma"/>
              <a:cs typeface="Tahoma"/>
              <a:sym typeface="Tahoma"/>
            </a:endParaRPr>
          </a:p>
        </p:txBody>
      </p:sp>
      <p:sp>
        <p:nvSpPr>
          <p:cNvPr id="176" name="Google Shape;176;p9"/>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Finite Automata</a:t>
            </a:r>
            <a:endParaRPr/>
          </a:p>
        </p:txBody>
      </p:sp>
      <p:grpSp>
        <p:nvGrpSpPr>
          <p:cNvPr id="177" name="Google Shape;177;p9"/>
          <p:cNvGrpSpPr/>
          <p:nvPr/>
        </p:nvGrpSpPr>
        <p:grpSpPr>
          <a:xfrm>
            <a:off x="2209800" y="2514600"/>
            <a:ext cx="3690937" cy="1087438"/>
            <a:chOff x="1689" y="1390"/>
            <a:chExt cx="2325" cy="685"/>
          </a:xfrm>
        </p:grpSpPr>
        <p:sp>
          <p:nvSpPr>
            <p:cNvPr id="178" name="Google Shape;178;p9"/>
            <p:cNvSpPr/>
            <p:nvPr/>
          </p:nvSpPr>
          <p:spPr>
            <a:xfrm>
              <a:off x="2590" y="1522"/>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9"/>
            <p:cNvSpPr txBox="1"/>
            <p:nvPr/>
          </p:nvSpPr>
          <p:spPr>
            <a:xfrm>
              <a:off x="2656" y="1628"/>
              <a:ext cx="317" cy="2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off</a:t>
              </a:r>
              <a:endParaRPr b="1" baseline="-25000" i="0" sz="1800" u="none" cap="none" strike="noStrike">
                <a:solidFill>
                  <a:schemeClr val="dk1"/>
                </a:solidFill>
                <a:latin typeface="Arial"/>
                <a:ea typeface="Arial"/>
                <a:cs typeface="Arial"/>
                <a:sym typeface="Arial"/>
              </a:endParaRPr>
            </a:p>
          </p:txBody>
        </p:sp>
        <p:cxnSp>
          <p:nvCxnSpPr>
            <p:cNvPr id="180" name="Google Shape;180;p9"/>
            <p:cNvCxnSpPr/>
            <p:nvPr/>
          </p:nvCxnSpPr>
          <p:spPr>
            <a:xfrm>
              <a:off x="2141" y="1744"/>
              <a:ext cx="454" cy="0"/>
            </a:xfrm>
            <a:prstGeom prst="straightConnector1">
              <a:avLst/>
            </a:prstGeom>
            <a:noFill/>
            <a:ln cap="flat" cmpd="sng" w="9525">
              <a:solidFill>
                <a:schemeClr val="dk1"/>
              </a:solidFill>
              <a:prstDash val="solid"/>
              <a:round/>
              <a:headEnd len="med" w="med" type="none"/>
              <a:tailEnd len="med" w="med" type="triangle"/>
            </a:ln>
          </p:spPr>
        </p:cxnSp>
        <p:sp>
          <p:nvSpPr>
            <p:cNvPr id="181" name="Google Shape;181;p9"/>
            <p:cNvSpPr txBox="1"/>
            <p:nvPr/>
          </p:nvSpPr>
          <p:spPr>
            <a:xfrm>
              <a:off x="1689" y="1599"/>
              <a:ext cx="635"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0000"/>
                  </a:solidFill>
                  <a:latin typeface="Calibri"/>
                  <a:ea typeface="Calibri"/>
                  <a:cs typeface="Calibri"/>
                  <a:sym typeface="Calibri"/>
                </a:rPr>
                <a:t>start</a:t>
              </a:r>
              <a:endParaRPr/>
            </a:p>
          </p:txBody>
        </p:sp>
        <p:grpSp>
          <p:nvGrpSpPr>
            <p:cNvPr id="182" name="Google Shape;182;p9"/>
            <p:cNvGrpSpPr/>
            <p:nvPr/>
          </p:nvGrpSpPr>
          <p:grpSpPr>
            <a:xfrm>
              <a:off x="3560" y="1526"/>
              <a:ext cx="454" cy="454"/>
              <a:chOff x="2154" y="2840"/>
              <a:chExt cx="454" cy="454"/>
            </a:xfrm>
          </p:grpSpPr>
          <p:sp>
            <p:nvSpPr>
              <p:cNvPr id="183" name="Google Shape;183;p9"/>
              <p:cNvSpPr/>
              <p:nvPr/>
            </p:nvSpPr>
            <p:spPr>
              <a:xfrm>
                <a:off x="2154" y="2840"/>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4" name="Google Shape;184;p9"/>
              <p:cNvSpPr txBox="1"/>
              <p:nvPr/>
            </p:nvSpPr>
            <p:spPr>
              <a:xfrm>
                <a:off x="2210" y="2936"/>
                <a:ext cx="368" cy="2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on</a:t>
                </a:r>
                <a:endParaRPr b="1" baseline="-25000" i="0" sz="1800" u="none" cap="none" strike="noStrike">
                  <a:solidFill>
                    <a:schemeClr val="dk1"/>
                  </a:solidFill>
                  <a:latin typeface="Arial"/>
                  <a:ea typeface="Arial"/>
                  <a:cs typeface="Arial"/>
                  <a:sym typeface="Arial"/>
                </a:endParaRPr>
              </a:p>
            </p:txBody>
          </p:sp>
        </p:grpSp>
        <p:cxnSp>
          <p:nvCxnSpPr>
            <p:cNvPr id="185" name="Google Shape;185;p9"/>
            <p:cNvCxnSpPr/>
            <p:nvPr/>
          </p:nvCxnSpPr>
          <p:spPr>
            <a:xfrm>
              <a:off x="3015" y="1662"/>
              <a:ext cx="545" cy="0"/>
            </a:xfrm>
            <a:prstGeom prst="straightConnector1">
              <a:avLst/>
            </a:prstGeom>
            <a:noFill/>
            <a:ln cap="flat" cmpd="sng" w="9525">
              <a:solidFill>
                <a:schemeClr val="dk1"/>
              </a:solidFill>
              <a:prstDash val="solid"/>
              <a:round/>
              <a:headEnd len="med" w="med" type="none"/>
              <a:tailEnd len="med" w="med" type="triangle"/>
            </a:ln>
          </p:spPr>
        </p:cxnSp>
        <p:sp>
          <p:nvSpPr>
            <p:cNvPr id="186" name="Google Shape;186;p9"/>
            <p:cNvSpPr txBox="1"/>
            <p:nvPr/>
          </p:nvSpPr>
          <p:spPr>
            <a:xfrm>
              <a:off x="3061" y="1390"/>
              <a:ext cx="59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push</a:t>
              </a:r>
              <a:endParaRPr/>
            </a:p>
          </p:txBody>
        </p:sp>
        <p:sp>
          <p:nvSpPr>
            <p:cNvPr id="187" name="Google Shape;187;p9"/>
            <p:cNvSpPr txBox="1"/>
            <p:nvPr/>
          </p:nvSpPr>
          <p:spPr>
            <a:xfrm>
              <a:off x="3061" y="1844"/>
              <a:ext cx="49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push</a:t>
              </a:r>
              <a:endParaRPr/>
            </a:p>
          </p:txBody>
        </p:sp>
        <p:cxnSp>
          <p:nvCxnSpPr>
            <p:cNvPr id="188" name="Google Shape;188;p9"/>
            <p:cNvCxnSpPr/>
            <p:nvPr/>
          </p:nvCxnSpPr>
          <p:spPr>
            <a:xfrm rot="10800000">
              <a:off x="3015" y="1844"/>
              <a:ext cx="545" cy="0"/>
            </a:xfrm>
            <a:prstGeom prst="straightConnector1">
              <a:avLst/>
            </a:prstGeom>
            <a:noFill/>
            <a:ln cap="flat" cmpd="sng" w="9525">
              <a:solidFill>
                <a:schemeClr val="dk1"/>
              </a:solidFill>
              <a:prstDash val="solid"/>
              <a:round/>
              <a:headEnd len="med" w="med" type="none"/>
              <a:tailEnd len="med" w="med" type="triangle"/>
            </a:ln>
          </p:spPr>
        </p:cxnSp>
        <p:sp>
          <p:nvSpPr>
            <p:cNvPr id="189" name="Google Shape;189;p9"/>
            <p:cNvSpPr/>
            <p:nvPr/>
          </p:nvSpPr>
          <p:spPr>
            <a:xfrm>
              <a:off x="3606" y="1570"/>
              <a:ext cx="362" cy="36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190" name="Google Shape;190;p9"/>
          <p:cNvGrpSpPr/>
          <p:nvPr/>
        </p:nvGrpSpPr>
        <p:grpSpPr>
          <a:xfrm>
            <a:off x="990600" y="4762720"/>
            <a:ext cx="7337425" cy="722312"/>
            <a:chOff x="662" y="2886"/>
            <a:chExt cx="4622" cy="455"/>
          </a:xfrm>
        </p:grpSpPr>
        <p:sp>
          <p:nvSpPr>
            <p:cNvPr id="191" name="Google Shape;191;p9"/>
            <p:cNvSpPr txBox="1"/>
            <p:nvPr/>
          </p:nvSpPr>
          <p:spPr>
            <a:xfrm>
              <a:off x="662" y="2977"/>
              <a:ext cx="635"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0000"/>
                  </a:solidFill>
                  <a:latin typeface="Calibri"/>
                  <a:ea typeface="Calibri"/>
                  <a:cs typeface="Calibri"/>
                  <a:sym typeface="Calibri"/>
                </a:rPr>
                <a:t>start</a:t>
              </a:r>
              <a:endParaRPr/>
            </a:p>
          </p:txBody>
        </p:sp>
        <p:cxnSp>
          <p:nvCxnSpPr>
            <p:cNvPr id="192" name="Google Shape;192;p9"/>
            <p:cNvCxnSpPr/>
            <p:nvPr/>
          </p:nvCxnSpPr>
          <p:spPr>
            <a:xfrm>
              <a:off x="1116" y="3119"/>
              <a:ext cx="363" cy="0"/>
            </a:xfrm>
            <a:prstGeom prst="straightConnector1">
              <a:avLst/>
            </a:prstGeom>
            <a:noFill/>
            <a:ln cap="flat" cmpd="sng" w="9525">
              <a:solidFill>
                <a:schemeClr val="dk1"/>
              </a:solidFill>
              <a:prstDash val="solid"/>
              <a:round/>
              <a:headEnd len="med" w="med" type="none"/>
              <a:tailEnd len="med" w="med" type="triangle"/>
            </a:ln>
          </p:spPr>
        </p:cxnSp>
        <p:sp>
          <p:nvSpPr>
            <p:cNvPr id="193" name="Google Shape;193;p9"/>
            <p:cNvSpPr txBox="1"/>
            <p:nvPr/>
          </p:nvSpPr>
          <p:spPr>
            <a:xfrm>
              <a:off x="1115" y="2892"/>
              <a:ext cx="40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i="0" sz="1800" u="none" cap="none" strike="noStrike">
                <a:solidFill>
                  <a:schemeClr val="dk1"/>
                </a:solidFill>
                <a:latin typeface="Arial"/>
                <a:ea typeface="Arial"/>
                <a:cs typeface="Arial"/>
                <a:sym typeface="Arial"/>
              </a:endParaRPr>
            </a:p>
          </p:txBody>
        </p:sp>
        <p:grpSp>
          <p:nvGrpSpPr>
            <p:cNvPr id="194" name="Google Shape;194;p9"/>
            <p:cNvGrpSpPr/>
            <p:nvPr/>
          </p:nvGrpSpPr>
          <p:grpSpPr>
            <a:xfrm>
              <a:off x="1478" y="2887"/>
              <a:ext cx="454" cy="454"/>
              <a:chOff x="2154" y="2840"/>
              <a:chExt cx="454" cy="454"/>
            </a:xfrm>
          </p:grpSpPr>
          <p:sp>
            <p:nvSpPr>
              <p:cNvPr id="195" name="Google Shape;195;p9"/>
              <p:cNvSpPr/>
              <p:nvPr/>
            </p:nvSpPr>
            <p:spPr>
              <a:xfrm>
                <a:off x="2154" y="2840"/>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6" name="Google Shape;196;p9"/>
              <p:cNvSpPr txBox="1"/>
              <p:nvPr/>
            </p:nvSpPr>
            <p:spPr>
              <a:xfrm>
                <a:off x="2210" y="2936"/>
                <a:ext cx="368" cy="173"/>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baseline="-25000" i="0" sz="1800" u="none" cap="none" strike="noStrike">
                  <a:solidFill>
                    <a:schemeClr val="dk1"/>
                  </a:solidFill>
                  <a:latin typeface="Arial"/>
                  <a:ea typeface="Arial"/>
                  <a:cs typeface="Arial"/>
                  <a:sym typeface="Arial"/>
                </a:endParaRPr>
              </a:p>
            </p:txBody>
          </p:sp>
        </p:grpSp>
        <p:cxnSp>
          <p:nvCxnSpPr>
            <p:cNvPr id="197" name="Google Shape;197;p9"/>
            <p:cNvCxnSpPr/>
            <p:nvPr/>
          </p:nvCxnSpPr>
          <p:spPr>
            <a:xfrm>
              <a:off x="1932" y="3119"/>
              <a:ext cx="363" cy="0"/>
            </a:xfrm>
            <a:prstGeom prst="straightConnector1">
              <a:avLst/>
            </a:prstGeom>
            <a:noFill/>
            <a:ln cap="flat" cmpd="sng" w="9525">
              <a:solidFill>
                <a:schemeClr val="dk1"/>
              </a:solidFill>
              <a:prstDash val="solid"/>
              <a:round/>
              <a:headEnd len="med" w="med" type="none"/>
              <a:tailEnd len="med" w="med" type="triangle"/>
            </a:ln>
          </p:spPr>
        </p:cxnSp>
        <p:sp>
          <p:nvSpPr>
            <p:cNvPr id="198" name="Google Shape;198;p9"/>
            <p:cNvSpPr txBox="1"/>
            <p:nvPr/>
          </p:nvSpPr>
          <p:spPr>
            <a:xfrm>
              <a:off x="1931" y="2892"/>
              <a:ext cx="40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t</a:t>
              </a:r>
              <a:endParaRPr/>
            </a:p>
          </p:txBody>
        </p:sp>
        <p:grpSp>
          <p:nvGrpSpPr>
            <p:cNvPr id="199" name="Google Shape;199;p9"/>
            <p:cNvGrpSpPr/>
            <p:nvPr/>
          </p:nvGrpSpPr>
          <p:grpSpPr>
            <a:xfrm>
              <a:off x="2294" y="2887"/>
              <a:ext cx="454" cy="454"/>
              <a:chOff x="2154" y="2840"/>
              <a:chExt cx="454" cy="454"/>
            </a:xfrm>
          </p:grpSpPr>
          <p:sp>
            <p:nvSpPr>
              <p:cNvPr id="200" name="Google Shape;200;p9"/>
              <p:cNvSpPr/>
              <p:nvPr/>
            </p:nvSpPr>
            <p:spPr>
              <a:xfrm>
                <a:off x="2154" y="2840"/>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1" name="Google Shape;201;p9"/>
              <p:cNvSpPr txBox="1"/>
              <p:nvPr/>
            </p:nvSpPr>
            <p:spPr>
              <a:xfrm>
                <a:off x="2210" y="2936"/>
                <a:ext cx="368" cy="2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t</a:t>
                </a:r>
                <a:endParaRPr b="1" baseline="-25000" i="0" sz="1800" u="none" cap="none" strike="noStrike">
                  <a:solidFill>
                    <a:schemeClr val="dk1"/>
                  </a:solidFill>
                  <a:latin typeface="Arial"/>
                  <a:ea typeface="Arial"/>
                  <a:cs typeface="Arial"/>
                  <a:sym typeface="Arial"/>
                </a:endParaRPr>
              </a:p>
            </p:txBody>
          </p:sp>
        </p:grpSp>
        <p:cxnSp>
          <p:nvCxnSpPr>
            <p:cNvPr id="202" name="Google Shape;202;p9"/>
            <p:cNvCxnSpPr/>
            <p:nvPr/>
          </p:nvCxnSpPr>
          <p:spPr>
            <a:xfrm>
              <a:off x="2749" y="3119"/>
              <a:ext cx="363" cy="0"/>
            </a:xfrm>
            <a:prstGeom prst="straightConnector1">
              <a:avLst/>
            </a:prstGeom>
            <a:noFill/>
            <a:ln cap="flat" cmpd="sng" w="9525">
              <a:solidFill>
                <a:schemeClr val="dk1"/>
              </a:solidFill>
              <a:prstDash val="solid"/>
              <a:round/>
              <a:headEnd len="med" w="med" type="none"/>
              <a:tailEnd len="med" w="med" type="triangle"/>
            </a:ln>
          </p:spPr>
        </p:cxnSp>
        <p:sp>
          <p:nvSpPr>
            <p:cNvPr id="203" name="Google Shape;203;p9"/>
            <p:cNvSpPr txBox="1"/>
            <p:nvPr/>
          </p:nvSpPr>
          <p:spPr>
            <a:xfrm>
              <a:off x="2748" y="2892"/>
              <a:ext cx="40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h</a:t>
              </a:r>
              <a:endParaRPr/>
            </a:p>
          </p:txBody>
        </p:sp>
        <p:grpSp>
          <p:nvGrpSpPr>
            <p:cNvPr id="204" name="Google Shape;204;p9"/>
            <p:cNvGrpSpPr/>
            <p:nvPr/>
          </p:nvGrpSpPr>
          <p:grpSpPr>
            <a:xfrm>
              <a:off x="3111" y="2887"/>
              <a:ext cx="454" cy="454"/>
              <a:chOff x="2154" y="2840"/>
              <a:chExt cx="454" cy="454"/>
            </a:xfrm>
          </p:grpSpPr>
          <p:sp>
            <p:nvSpPr>
              <p:cNvPr id="205" name="Google Shape;205;p9"/>
              <p:cNvSpPr/>
              <p:nvPr/>
            </p:nvSpPr>
            <p:spPr>
              <a:xfrm>
                <a:off x="2154" y="2840"/>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6" name="Google Shape;206;p9"/>
              <p:cNvSpPr txBox="1"/>
              <p:nvPr/>
            </p:nvSpPr>
            <p:spPr>
              <a:xfrm>
                <a:off x="2210" y="2936"/>
                <a:ext cx="368" cy="23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th</a:t>
                </a:r>
                <a:endParaRPr b="1" baseline="-25000" i="0" sz="1800" u="none" cap="none" strike="noStrike">
                  <a:solidFill>
                    <a:schemeClr val="dk1"/>
                  </a:solidFill>
                  <a:latin typeface="Arial"/>
                  <a:ea typeface="Arial"/>
                  <a:cs typeface="Arial"/>
                  <a:sym typeface="Arial"/>
                </a:endParaRPr>
              </a:p>
            </p:txBody>
          </p:sp>
        </p:grpSp>
        <p:cxnSp>
          <p:nvCxnSpPr>
            <p:cNvPr id="207" name="Google Shape;207;p9"/>
            <p:cNvCxnSpPr/>
            <p:nvPr/>
          </p:nvCxnSpPr>
          <p:spPr>
            <a:xfrm>
              <a:off x="3565" y="3118"/>
              <a:ext cx="363" cy="0"/>
            </a:xfrm>
            <a:prstGeom prst="straightConnector1">
              <a:avLst/>
            </a:prstGeom>
            <a:noFill/>
            <a:ln cap="flat" cmpd="sng" w="9525">
              <a:solidFill>
                <a:schemeClr val="dk1"/>
              </a:solidFill>
              <a:prstDash val="solid"/>
              <a:round/>
              <a:headEnd len="med" w="med" type="none"/>
              <a:tailEnd len="med" w="med" type="triangle"/>
            </a:ln>
          </p:spPr>
        </p:cxnSp>
        <p:sp>
          <p:nvSpPr>
            <p:cNvPr id="208" name="Google Shape;208;p9"/>
            <p:cNvSpPr txBox="1"/>
            <p:nvPr/>
          </p:nvSpPr>
          <p:spPr>
            <a:xfrm>
              <a:off x="3564" y="2891"/>
              <a:ext cx="40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e</a:t>
              </a:r>
              <a:endParaRPr/>
            </a:p>
          </p:txBody>
        </p:sp>
        <p:sp>
          <p:nvSpPr>
            <p:cNvPr id="209" name="Google Shape;209;p9"/>
            <p:cNvSpPr/>
            <p:nvPr/>
          </p:nvSpPr>
          <p:spPr>
            <a:xfrm>
              <a:off x="3927" y="2886"/>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0" name="Google Shape;210;p9"/>
            <p:cNvSpPr txBox="1"/>
            <p:nvPr/>
          </p:nvSpPr>
          <p:spPr>
            <a:xfrm>
              <a:off x="3983" y="2982"/>
              <a:ext cx="36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the</a:t>
              </a:r>
              <a:endParaRPr b="1" baseline="-25000" i="0" sz="1800" u="none" cap="none" strike="noStrike">
                <a:solidFill>
                  <a:schemeClr val="dk1"/>
                </a:solidFill>
                <a:latin typeface="Arial"/>
                <a:ea typeface="Arial"/>
                <a:cs typeface="Arial"/>
                <a:sym typeface="Arial"/>
              </a:endParaRPr>
            </a:p>
          </p:txBody>
        </p:sp>
        <p:cxnSp>
          <p:nvCxnSpPr>
            <p:cNvPr id="211" name="Google Shape;211;p9"/>
            <p:cNvCxnSpPr/>
            <p:nvPr/>
          </p:nvCxnSpPr>
          <p:spPr>
            <a:xfrm>
              <a:off x="4382" y="3119"/>
              <a:ext cx="363" cy="0"/>
            </a:xfrm>
            <a:prstGeom prst="straightConnector1">
              <a:avLst/>
            </a:prstGeom>
            <a:noFill/>
            <a:ln cap="flat" cmpd="sng" w="9525">
              <a:solidFill>
                <a:schemeClr val="dk1"/>
              </a:solidFill>
              <a:prstDash val="solid"/>
              <a:round/>
              <a:headEnd len="med" w="med" type="none"/>
              <a:tailEnd len="med" w="med" type="triangle"/>
            </a:ln>
          </p:spPr>
        </p:cxnSp>
        <p:sp>
          <p:nvSpPr>
            <p:cNvPr id="212" name="Google Shape;212;p9"/>
            <p:cNvSpPr txBox="1"/>
            <p:nvPr/>
          </p:nvSpPr>
          <p:spPr>
            <a:xfrm>
              <a:off x="4381" y="2892"/>
              <a:ext cx="40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   n</a:t>
              </a:r>
              <a:endParaRPr/>
            </a:p>
          </p:txBody>
        </p:sp>
        <p:sp>
          <p:nvSpPr>
            <p:cNvPr id="213" name="Google Shape;213;p9"/>
            <p:cNvSpPr/>
            <p:nvPr/>
          </p:nvSpPr>
          <p:spPr>
            <a:xfrm>
              <a:off x="4744" y="2887"/>
              <a:ext cx="454" cy="454"/>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4" name="Google Shape;214;p9"/>
            <p:cNvSpPr txBox="1"/>
            <p:nvPr/>
          </p:nvSpPr>
          <p:spPr>
            <a:xfrm>
              <a:off x="4750" y="2983"/>
              <a:ext cx="53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then</a:t>
              </a:r>
              <a:endParaRPr b="1" baseline="-25000" i="0" sz="1800" u="none" cap="none" strike="noStrike">
                <a:solidFill>
                  <a:schemeClr val="dk1"/>
                </a:solidFill>
                <a:latin typeface="Arial"/>
                <a:ea typeface="Arial"/>
                <a:cs typeface="Arial"/>
                <a:sym typeface="Arial"/>
              </a:endParaRPr>
            </a:p>
          </p:txBody>
        </p:sp>
        <p:sp>
          <p:nvSpPr>
            <p:cNvPr id="215" name="Google Shape;215;p9"/>
            <p:cNvSpPr/>
            <p:nvPr/>
          </p:nvSpPr>
          <p:spPr>
            <a:xfrm>
              <a:off x="4790" y="2937"/>
              <a:ext cx="362" cy="36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216" name="Google Shape;216;p9"/>
          <p:cNvSpPr txBox="1"/>
          <p:nvPr/>
        </p:nvSpPr>
        <p:spPr>
          <a:xfrm>
            <a:off x="990600" y="5663034"/>
            <a:ext cx="1573530" cy="457200"/>
          </a:xfrm>
          <a:prstGeom prst="rect">
            <a:avLst/>
          </a:prstGeom>
          <a:solidFill>
            <a:srgbClr val="CCFFFF"/>
          </a:solidFill>
          <a:ln>
            <a:noFill/>
          </a:ln>
        </p:spPr>
        <p:txBody>
          <a:bodyPr anchorCtr="0" anchor="t" bIns="0" lIns="0" spcFirstLastPara="1" rIns="0" wrap="square" tIns="38100">
            <a:spAutoFit/>
          </a:bodyPr>
          <a:lstStyle/>
          <a:p>
            <a:pPr indent="0" lvl="0" marL="9144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Start state</a:t>
            </a:r>
            <a:endParaRPr/>
          </a:p>
        </p:txBody>
      </p:sp>
      <p:sp>
        <p:nvSpPr>
          <p:cNvPr id="217" name="Google Shape;217;p9"/>
          <p:cNvSpPr txBox="1"/>
          <p:nvPr/>
        </p:nvSpPr>
        <p:spPr>
          <a:xfrm>
            <a:off x="7439679" y="5594761"/>
            <a:ext cx="1590675" cy="457200"/>
          </a:xfrm>
          <a:prstGeom prst="rect">
            <a:avLst/>
          </a:prstGeom>
          <a:solidFill>
            <a:srgbClr val="DAEFF5"/>
          </a:solidFill>
          <a:ln>
            <a:noFill/>
          </a:ln>
        </p:spPr>
        <p:txBody>
          <a:bodyPr anchorCtr="0" anchor="t" bIns="0" lIns="0" spcFirstLastPara="1" rIns="0" wrap="square" tIns="38100">
            <a:spAutoFit/>
          </a:bodyPr>
          <a:lstStyle/>
          <a:p>
            <a:pPr indent="0" lvl="0" marL="9144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Final state</a:t>
            </a:r>
            <a:endParaRPr/>
          </a:p>
        </p:txBody>
      </p:sp>
      <p:sp>
        <p:nvSpPr>
          <p:cNvPr id="218" name="Google Shape;218;p9"/>
          <p:cNvSpPr txBox="1"/>
          <p:nvPr/>
        </p:nvSpPr>
        <p:spPr>
          <a:xfrm>
            <a:off x="3124200" y="5562600"/>
            <a:ext cx="1522730" cy="457200"/>
          </a:xfrm>
          <a:prstGeom prst="rect">
            <a:avLst/>
          </a:prstGeom>
          <a:solidFill>
            <a:srgbClr val="CCFFFF"/>
          </a:solidFill>
          <a:ln>
            <a:noFill/>
          </a:ln>
        </p:spPr>
        <p:txBody>
          <a:bodyPr anchorCtr="0" anchor="t" bIns="0" lIns="0" spcFirstLastPara="1" rIns="0" wrap="square" tIns="38100">
            <a:spAutoFit/>
          </a:bodyPr>
          <a:lstStyle/>
          <a:p>
            <a:pPr indent="0" lvl="0" marL="90805"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Transition</a:t>
            </a:r>
            <a:endParaRPr b="0" i="0" sz="2400" u="none" cap="none" strike="noStrike">
              <a:solidFill>
                <a:schemeClr val="dk1"/>
              </a:solidFill>
              <a:latin typeface="Arial"/>
              <a:ea typeface="Arial"/>
              <a:cs typeface="Arial"/>
              <a:sym typeface="Arial"/>
            </a:endParaRPr>
          </a:p>
        </p:txBody>
      </p:sp>
      <p:sp>
        <p:nvSpPr>
          <p:cNvPr id="219" name="Google Shape;219;p9"/>
          <p:cNvSpPr txBox="1"/>
          <p:nvPr/>
        </p:nvSpPr>
        <p:spPr>
          <a:xfrm>
            <a:off x="4953000" y="5562600"/>
            <a:ext cx="1964055" cy="777136"/>
          </a:xfrm>
          <a:prstGeom prst="rect">
            <a:avLst/>
          </a:prstGeom>
          <a:solidFill>
            <a:srgbClr val="DAEFF5"/>
          </a:solidFill>
          <a:ln>
            <a:noFill/>
          </a:ln>
        </p:spPr>
        <p:txBody>
          <a:bodyPr anchorCtr="0" anchor="t" bIns="0" lIns="0" spcFirstLastPara="1" rIns="0" wrap="square" tIns="38100">
            <a:spAutoFit/>
          </a:bodyPr>
          <a:lstStyle/>
          <a:p>
            <a:pPr indent="0" lvl="0" marL="90805" marR="169545" rtl="0" algn="ctr">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Intermediate state</a:t>
            </a:r>
            <a:endParaRPr/>
          </a:p>
        </p:txBody>
      </p:sp>
      <p:sp>
        <p:nvSpPr>
          <p:cNvPr id="220" name="Google Shape;220;p9"/>
          <p:cNvSpPr/>
          <p:nvPr/>
        </p:nvSpPr>
        <p:spPr>
          <a:xfrm>
            <a:off x="4191000" y="5158232"/>
            <a:ext cx="269875" cy="404495"/>
          </a:xfrm>
          <a:custGeom>
            <a:rect b="b" l="l" r="r" t="t"/>
            <a:pathLst>
              <a:path extrusionOk="0" h="404495" w="269875">
                <a:moveTo>
                  <a:pt x="0" y="404368"/>
                </a:moveTo>
                <a:lnTo>
                  <a:pt x="269582" y="0"/>
                </a:lnTo>
              </a:path>
            </a:pathLst>
          </a:custGeom>
          <a:noFill/>
          <a:ln cap="flat" cmpd="sng" w="127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9"/>
          <p:cNvSpPr/>
          <p:nvPr/>
        </p:nvSpPr>
        <p:spPr>
          <a:xfrm>
            <a:off x="5290464" y="5312244"/>
            <a:ext cx="196215" cy="327025"/>
          </a:xfrm>
          <a:custGeom>
            <a:rect b="b" l="l" r="r" t="t"/>
            <a:pathLst>
              <a:path extrusionOk="0" h="327025" w="196214">
                <a:moveTo>
                  <a:pt x="195935" y="326555"/>
                </a:moveTo>
                <a:lnTo>
                  <a:pt x="0" y="0"/>
                </a:lnTo>
              </a:path>
            </a:pathLst>
          </a:custGeom>
          <a:noFill/>
          <a:ln cap="flat" cmpd="sng" w="127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9"/>
          <p:cNvSpPr/>
          <p:nvPr/>
        </p:nvSpPr>
        <p:spPr>
          <a:xfrm>
            <a:off x="1868488" y="5395598"/>
            <a:ext cx="474662" cy="268821"/>
          </a:xfrm>
          <a:custGeom>
            <a:rect b="b" l="l" r="r" t="t"/>
            <a:pathLst>
              <a:path extrusionOk="0" h="175895" w="117475">
                <a:moveTo>
                  <a:pt x="0" y="175768"/>
                </a:moveTo>
                <a:lnTo>
                  <a:pt x="117182" y="0"/>
                </a:lnTo>
              </a:path>
            </a:pathLst>
          </a:custGeom>
          <a:noFill/>
          <a:ln cap="flat" cmpd="sng" w="127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9"/>
          <p:cNvSpPr/>
          <p:nvPr/>
        </p:nvSpPr>
        <p:spPr>
          <a:xfrm>
            <a:off x="8140299" y="5324060"/>
            <a:ext cx="220746" cy="313372"/>
          </a:xfrm>
          <a:custGeom>
            <a:rect b="b" l="l" r="r" t="t"/>
            <a:pathLst>
              <a:path extrusionOk="0" h="318770" w="64134">
                <a:moveTo>
                  <a:pt x="63741" y="318731"/>
                </a:moveTo>
                <a:lnTo>
                  <a:pt x="0" y="0"/>
                </a:lnTo>
              </a:path>
            </a:pathLst>
          </a:custGeom>
          <a:noFill/>
          <a:ln cap="flat" cmpd="sng" w="12675">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500"/>
                                        <p:tgtEl>
                                          <p:spTgt spid="2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500"/>
                                        <p:tgtEl>
                                          <p:spTgt spid="2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500"/>
                                        <p:tgtEl>
                                          <p:spTgt spid="2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txBox="1"/>
          <p:nvPr>
            <p:ph type="ctrTitle"/>
          </p:nvPr>
        </p:nvSpPr>
        <p:spPr>
          <a:xfrm>
            <a:off x="928036" y="2895600"/>
            <a:ext cx="7543800" cy="1277112"/>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4400"/>
              <a:buFont typeface="Tahoma"/>
              <a:buNone/>
            </a:pPr>
            <a:r>
              <a:rPr b="1" lang="en-US" sz="4400">
                <a:latin typeface="Tahoma"/>
                <a:ea typeface="Tahoma"/>
                <a:cs typeface="Tahoma"/>
                <a:sym typeface="Tahoma"/>
              </a:rPr>
              <a:t>Formal Proof</a:t>
            </a:r>
            <a:endParaRPr b="1" sz="4400">
              <a:latin typeface="Tahoma"/>
              <a:ea typeface="Tahoma"/>
              <a:cs typeface="Tahoma"/>
              <a:sym typeface="Tahoma"/>
            </a:endParaRPr>
          </a:p>
        </p:txBody>
      </p:sp>
      <p:sp>
        <p:nvSpPr>
          <p:cNvPr id="230" name="Google Shape;230;p10"/>
          <p:cNvSpPr/>
          <p:nvPr/>
        </p:nvSpPr>
        <p:spPr>
          <a:xfrm>
            <a:off x="0" y="-12834"/>
            <a:ext cx="9144000" cy="457200"/>
          </a:xfrm>
          <a:prstGeom prst="rect">
            <a:avLst/>
          </a:prstGeom>
          <a:gradFill>
            <a:gsLst>
              <a:gs pos="0">
                <a:srgbClr val="33BDFE"/>
              </a:gs>
              <a:gs pos="34000">
                <a:srgbClr val="38BEFC"/>
              </a:gs>
              <a:gs pos="70000">
                <a:srgbClr val="35C1FF"/>
              </a:gs>
              <a:gs pos="100000">
                <a:srgbClr val="48C6FF"/>
              </a:gs>
            </a:gsLst>
            <a:path path="circle">
              <a:fillToRect b="50%" l="50%" r="50%" t="50%"/>
            </a:path>
            <a:tileRect/>
          </a:gradFill>
          <a:ln cap="flat" cmpd="sng" w="127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type="title"/>
          </p:nvPr>
        </p:nvSpPr>
        <p:spPr>
          <a:xfrm>
            <a:off x="443753" y="228600"/>
            <a:ext cx="8229600" cy="916375"/>
          </a:xfrm>
          <a:prstGeom prst="rect">
            <a:avLst/>
          </a:prstGeom>
          <a:noFill/>
          <a:ln>
            <a:noFill/>
          </a:ln>
        </p:spPr>
        <p:txBody>
          <a:bodyPr anchorCtr="0" anchor="b" bIns="0" lIns="0" spcFirstLastPara="1" rIns="0" wrap="square" tIns="0">
            <a:spAutoFit/>
          </a:bodyPr>
          <a:lstStyle/>
          <a:p>
            <a:pPr indent="0" lvl="0" marL="192405" rtl="0" algn="ctr">
              <a:lnSpc>
                <a:spcPct val="100000"/>
              </a:lnSpc>
              <a:spcBef>
                <a:spcPts val="0"/>
              </a:spcBef>
              <a:spcAft>
                <a:spcPts val="0"/>
              </a:spcAft>
              <a:buClr>
                <a:srgbClr val="3F3F3F"/>
              </a:buClr>
              <a:buSzPts val="4800"/>
              <a:buFont typeface="Calibri"/>
              <a:buNone/>
            </a:pPr>
            <a:r>
              <a:rPr lang="en-US"/>
              <a:t>Deductive Proofs</a:t>
            </a:r>
            <a:endParaRPr/>
          </a:p>
        </p:txBody>
      </p:sp>
      <p:sp>
        <p:nvSpPr>
          <p:cNvPr id="236" name="Google Shape;236;p11"/>
          <p:cNvSpPr txBox="1"/>
          <p:nvPr/>
        </p:nvSpPr>
        <p:spPr>
          <a:xfrm>
            <a:off x="1177087" y="1170642"/>
            <a:ext cx="6954520" cy="2910840"/>
          </a:xfrm>
          <a:prstGeom prst="rect">
            <a:avLst/>
          </a:prstGeom>
          <a:noFill/>
          <a:ln>
            <a:noFill/>
          </a:ln>
        </p:spPr>
        <p:txBody>
          <a:bodyPr anchorCtr="0" anchor="t" bIns="0" lIns="0" spcFirstLastPara="1" rIns="0" wrap="square" tIns="0">
            <a:spAutoFit/>
          </a:bodyPr>
          <a:lstStyle/>
          <a:p>
            <a:pPr indent="-343535" lvl="0" marL="355600" marR="5080" rtl="0" algn="l">
              <a:lnSpc>
                <a:spcPct val="100000"/>
              </a:lnSpc>
              <a:spcBef>
                <a:spcPts val="0"/>
              </a:spcBef>
              <a:spcAft>
                <a:spcPts val="0"/>
              </a:spcAft>
              <a:buNone/>
            </a:pPr>
            <a:r>
              <a:rPr i="1" lang="en-US" sz="2800">
                <a:solidFill>
                  <a:srgbClr val="C00000"/>
                </a:solidFill>
                <a:latin typeface="Arial"/>
                <a:ea typeface="Arial"/>
                <a:cs typeface="Arial"/>
                <a:sym typeface="Arial"/>
              </a:rPr>
              <a:t>From the given statement(s) to a conclusion statement (what we want to prove)</a:t>
            </a:r>
            <a:endParaRPr sz="2800">
              <a:solidFill>
                <a:schemeClr val="dk1"/>
              </a:solidFill>
              <a:latin typeface="Arial"/>
              <a:ea typeface="Arial"/>
              <a:cs typeface="Arial"/>
              <a:sym typeface="Arial"/>
            </a:endParaRPr>
          </a:p>
          <a:p>
            <a:pPr indent="-342900" lvl="0" marL="355600" marR="0" rtl="0" algn="l">
              <a:lnSpc>
                <a:spcPct val="100000"/>
              </a:lnSpc>
              <a:spcBef>
                <a:spcPts val="670"/>
              </a:spcBef>
              <a:spcAft>
                <a:spcPts val="0"/>
              </a:spcAft>
              <a:buClr>
                <a:srgbClr val="3333CC"/>
              </a:buClr>
              <a:buSzPts val="1650"/>
              <a:buFont typeface="Noto Sans Symbols"/>
              <a:buChar char="■"/>
            </a:pPr>
            <a:r>
              <a:rPr lang="en-US" sz="2800">
                <a:solidFill>
                  <a:schemeClr val="dk1"/>
                </a:solidFill>
                <a:latin typeface="Arial"/>
                <a:ea typeface="Arial"/>
                <a:cs typeface="Arial"/>
                <a:sym typeface="Arial"/>
              </a:rPr>
              <a:t>Logical progression by direct implications</a:t>
            </a:r>
            <a:endParaRPr/>
          </a:p>
          <a:p>
            <a:pPr indent="0" lvl="0" marL="0" marR="0" rtl="0" algn="l">
              <a:lnSpc>
                <a:spcPct val="100000"/>
              </a:lnSpc>
              <a:spcBef>
                <a:spcPts val="46"/>
              </a:spcBef>
              <a:spcAft>
                <a:spcPts val="0"/>
              </a:spcAft>
              <a:buClr>
                <a:srgbClr val="3333CC"/>
              </a:buClr>
              <a:buSzPts val="4050"/>
              <a:buFont typeface="Noto Sans Symbols"/>
              <a:buNone/>
            </a:pPr>
            <a:r>
              <a:t/>
            </a:r>
            <a:endParaRPr sz="4050">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None/>
            </a:pPr>
            <a:r>
              <a:rPr lang="en-US" sz="2800">
                <a:solidFill>
                  <a:schemeClr val="dk1"/>
                </a:solidFill>
                <a:latin typeface="Arial"/>
                <a:ea typeface="Arial"/>
                <a:cs typeface="Arial"/>
                <a:sym typeface="Arial"/>
              </a:rPr>
              <a:t>Example for parsing a statement:</a:t>
            </a:r>
            <a:endParaRPr sz="2800">
              <a:solidFill>
                <a:schemeClr val="dk1"/>
              </a:solidFill>
              <a:latin typeface="Arial"/>
              <a:ea typeface="Arial"/>
              <a:cs typeface="Arial"/>
              <a:sym typeface="Arial"/>
            </a:endParaRPr>
          </a:p>
          <a:p>
            <a:pPr indent="-342900" lvl="0" marL="355600" marR="0" rtl="0" algn="l">
              <a:lnSpc>
                <a:spcPct val="100000"/>
              </a:lnSpc>
              <a:spcBef>
                <a:spcPts val="670"/>
              </a:spcBef>
              <a:spcAft>
                <a:spcPts val="0"/>
              </a:spcAft>
              <a:buClr>
                <a:srgbClr val="3333CC"/>
              </a:buClr>
              <a:buSzPts val="1650"/>
              <a:buFont typeface="Noto Sans Symbols"/>
              <a:buChar char="■"/>
            </a:pPr>
            <a:r>
              <a:rPr lang="en-US" sz="2800">
                <a:solidFill>
                  <a:schemeClr val="dk1"/>
                </a:solidFill>
                <a:latin typeface="Arial"/>
                <a:ea typeface="Arial"/>
                <a:cs typeface="Arial"/>
                <a:sym typeface="Arial"/>
              </a:rPr>
              <a:t>“If y≥4,	then 2</a:t>
            </a:r>
            <a:r>
              <a:rPr baseline="30000" lang="en-US" sz="2775">
                <a:solidFill>
                  <a:schemeClr val="dk1"/>
                </a:solidFill>
                <a:latin typeface="Arial"/>
                <a:ea typeface="Arial"/>
                <a:cs typeface="Arial"/>
                <a:sym typeface="Arial"/>
              </a:rPr>
              <a:t>y</a:t>
            </a:r>
            <a:r>
              <a:rPr lang="en-US" sz="2800">
                <a:solidFill>
                  <a:schemeClr val="dk1"/>
                </a:solidFill>
                <a:latin typeface="Arial"/>
                <a:ea typeface="Arial"/>
                <a:cs typeface="Arial"/>
                <a:sym typeface="Arial"/>
              </a:rPr>
              <a:t>≥y</a:t>
            </a:r>
            <a:r>
              <a:rPr baseline="30000" lang="en-US" sz="2775">
                <a:solidFill>
                  <a:schemeClr val="dk1"/>
                </a:solidFill>
                <a:latin typeface="Arial"/>
                <a:ea typeface="Arial"/>
                <a:cs typeface="Arial"/>
                <a:sym typeface="Arial"/>
              </a:rPr>
              <a:t>2</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237" name="Google Shape;237;p11"/>
          <p:cNvSpPr txBox="1"/>
          <p:nvPr/>
        </p:nvSpPr>
        <p:spPr>
          <a:xfrm>
            <a:off x="1032713" y="5170805"/>
            <a:ext cx="4548505" cy="34544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200">
                <a:solidFill>
                  <a:schemeClr val="dk1"/>
                </a:solidFill>
                <a:latin typeface="Arial"/>
                <a:ea typeface="Arial"/>
                <a:cs typeface="Arial"/>
                <a:sym typeface="Arial"/>
              </a:rPr>
              <a:t>(there are other ways of writing this).</a:t>
            </a:r>
            <a:endParaRPr sz="2200">
              <a:solidFill>
                <a:schemeClr val="dk1"/>
              </a:solidFill>
              <a:latin typeface="Arial"/>
              <a:ea typeface="Arial"/>
              <a:cs typeface="Arial"/>
              <a:sym typeface="Arial"/>
            </a:endParaRPr>
          </a:p>
        </p:txBody>
      </p:sp>
      <p:sp>
        <p:nvSpPr>
          <p:cNvPr id="238" name="Google Shape;238;p11"/>
          <p:cNvSpPr txBox="1"/>
          <p:nvPr/>
        </p:nvSpPr>
        <p:spPr>
          <a:xfrm>
            <a:off x="1600200" y="4495800"/>
            <a:ext cx="922655" cy="462280"/>
          </a:xfrm>
          <a:prstGeom prst="rect">
            <a:avLst/>
          </a:prstGeom>
          <a:solidFill>
            <a:srgbClr val="CCFFCC"/>
          </a:solidFill>
          <a:ln cap="flat" cmpd="sng" w="9525">
            <a:solidFill>
              <a:srgbClr val="800000"/>
            </a:solidFill>
            <a:prstDash val="solid"/>
            <a:round/>
            <a:headEnd len="sm" w="sm" type="none"/>
            <a:tailEnd len="sm" w="sm" type="none"/>
          </a:ln>
        </p:spPr>
        <p:txBody>
          <a:bodyPr anchorCtr="0" anchor="t" bIns="0" lIns="0" spcFirstLastPara="1" rIns="0" wrap="square" tIns="33000">
            <a:spAutoFit/>
          </a:bodyPr>
          <a:lstStyle/>
          <a:p>
            <a:pPr indent="0" lvl="0" marL="86360" marR="0" rtl="0" algn="l">
              <a:lnSpc>
                <a:spcPct val="100000"/>
              </a:lnSpc>
              <a:spcBef>
                <a:spcPts val="0"/>
              </a:spcBef>
              <a:spcAft>
                <a:spcPts val="0"/>
              </a:spcAft>
              <a:buNone/>
            </a:pPr>
            <a:r>
              <a:rPr i="1" lang="en-US" sz="2400">
                <a:solidFill>
                  <a:schemeClr val="dk1"/>
                </a:solidFill>
                <a:latin typeface="Arial"/>
                <a:ea typeface="Arial"/>
                <a:cs typeface="Arial"/>
                <a:sym typeface="Arial"/>
              </a:rPr>
              <a:t>given</a:t>
            </a:r>
            <a:endParaRPr sz="2400">
              <a:solidFill>
                <a:schemeClr val="dk1"/>
              </a:solidFill>
              <a:latin typeface="Arial"/>
              <a:ea typeface="Arial"/>
              <a:cs typeface="Arial"/>
              <a:sym typeface="Arial"/>
            </a:endParaRPr>
          </a:p>
        </p:txBody>
      </p:sp>
      <p:sp>
        <p:nvSpPr>
          <p:cNvPr id="239" name="Google Shape;239;p11"/>
          <p:cNvSpPr txBox="1"/>
          <p:nvPr/>
        </p:nvSpPr>
        <p:spPr>
          <a:xfrm>
            <a:off x="3157537" y="4505325"/>
            <a:ext cx="1633855" cy="466725"/>
          </a:xfrm>
          <a:prstGeom prst="rect">
            <a:avLst/>
          </a:prstGeom>
          <a:solidFill>
            <a:srgbClr val="CCFFCC"/>
          </a:solidFill>
          <a:ln cap="flat" cmpd="sng" w="9525">
            <a:solidFill>
              <a:srgbClr val="800000"/>
            </a:solidFill>
            <a:prstDash val="solid"/>
            <a:round/>
            <a:headEnd len="sm" w="sm" type="none"/>
            <a:tailEnd len="sm" w="sm" type="none"/>
          </a:ln>
        </p:spPr>
        <p:txBody>
          <a:bodyPr anchorCtr="0" anchor="t" bIns="0" lIns="0" spcFirstLastPara="1" rIns="0" wrap="square" tIns="33000">
            <a:spAutoFit/>
          </a:bodyPr>
          <a:lstStyle/>
          <a:p>
            <a:pPr indent="0" lvl="0" marL="86360" marR="0" rtl="0" algn="l">
              <a:lnSpc>
                <a:spcPct val="100000"/>
              </a:lnSpc>
              <a:spcBef>
                <a:spcPts val="0"/>
              </a:spcBef>
              <a:spcAft>
                <a:spcPts val="0"/>
              </a:spcAft>
              <a:buNone/>
            </a:pPr>
            <a:r>
              <a:rPr i="1" lang="en-US" sz="2400">
                <a:solidFill>
                  <a:schemeClr val="dk1"/>
                </a:solidFill>
                <a:latin typeface="Arial"/>
                <a:ea typeface="Arial"/>
                <a:cs typeface="Arial"/>
                <a:sym typeface="Arial"/>
              </a:rPr>
              <a:t>conclusion</a:t>
            </a:r>
            <a:endParaRPr sz="2400">
              <a:solidFill>
                <a:schemeClr val="dk1"/>
              </a:solidFill>
              <a:latin typeface="Arial"/>
              <a:ea typeface="Arial"/>
              <a:cs typeface="Arial"/>
              <a:sym typeface="Arial"/>
            </a:endParaRPr>
          </a:p>
        </p:txBody>
      </p:sp>
      <p:sp>
        <p:nvSpPr>
          <p:cNvPr id="240" name="Google Shape;240;p11"/>
          <p:cNvSpPr/>
          <p:nvPr/>
        </p:nvSpPr>
        <p:spPr>
          <a:xfrm>
            <a:off x="2819400" y="3895725"/>
            <a:ext cx="0" cy="1447800"/>
          </a:xfrm>
          <a:custGeom>
            <a:rect b="b" l="l" r="r" t="t"/>
            <a:pathLst>
              <a:path extrusionOk="0" h="1447800" w="120000">
                <a:moveTo>
                  <a:pt x="0" y="0"/>
                </a:moveTo>
                <a:lnTo>
                  <a:pt x="0" y="1447800"/>
                </a:lnTo>
              </a:path>
            </a:pathLst>
          </a:custGeom>
          <a:noFill/>
          <a:ln cap="flat" cmpd="sng" w="9525">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2"/>
          <p:cNvSpPr txBox="1"/>
          <p:nvPr>
            <p:ph type="title"/>
          </p:nvPr>
        </p:nvSpPr>
        <p:spPr>
          <a:xfrm>
            <a:off x="443753" y="228600"/>
            <a:ext cx="8229600" cy="916375"/>
          </a:xfrm>
          <a:prstGeom prst="rect">
            <a:avLst/>
          </a:prstGeom>
          <a:noFill/>
          <a:ln>
            <a:noFill/>
          </a:ln>
        </p:spPr>
        <p:txBody>
          <a:bodyPr anchorCtr="0" anchor="b" bIns="0" lIns="0" spcFirstLastPara="1" rIns="0" wrap="square" tIns="0">
            <a:spAutoFit/>
          </a:bodyPr>
          <a:lstStyle/>
          <a:p>
            <a:pPr indent="0" lvl="0" marL="192405" rtl="0" algn="ctr">
              <a:lnSpc>
                <a:spcPct val="100000"/>
              </a:lnSpc>
              <a:spcBef>
                <a:spcPts val="0"/>
              </a:spcBef>
              <a:spcAft>
                <a:spcPts val="0"/>
              </a:spcAft>
              <a:buClr>
                <a:srgbClr val="3F3F3F"/>
              </a:buClr>
              <a:buSzPts val="4800"/>
              <a:buFont typeface="Calibri"/>
              <a:buNone/>
            </a:pPr>
            <a:r>
              <a:rPr lang="en-US"/>
              <a:t>Example: Deductive proof</a:t>
            </a:r>
            <a:endParaRPr/>
          </a:p>
        </p:txBody>
      </p:sp>
      <p:sp>
        <p:nvSpPr>
          <p:cNvPr id="247" name="Google Shape;247;p12"/>
          <p:cNvSpPr txBox="1"/>
          <p:nvPr/>
        </p:nvSpPr>
        <p:spPr>
          <a:xfrm>
            <a:off x="1161161" y="1371600"/>
            <a:ext cx="7458709" cy="20834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i="1" lang="en-US" sz="2000">
                <a:solidFill>
                  <a:srgbClr val="7030A0"/>
                </a:solidFill>
                <a:latin typeface="Arial"/>
                <a:ea typeface="Arial"/>
                <a:cs typeface="Arial"/>
                <a:sym typeface="Arial"/>
              </a:rPr>
              <a:t>Let </a:t>
            </a:r>
            <a:r>
              <a:rPr b="1" i="1" lang="en-US" sz="2000" u="sng">
                <a:solidFill>
                  <a:srgbClr val="7030A0"/>
                </a:solidFill>
                <a:latin typeface="Arial"/>
                <a:ea typeface="Arial"/>
                <a:cs typeface="Arial"/>
                <a:sym typeface="Arial"/>
              </a:rPr>
              <a:t>Claim 1:</a:t>
            </a:r>
            <a:r>
              <a:rPr b="1" i="1" lang="en-US" sz="2000">
                <a:solidFill>
                  <a:srgbClr val="7030A0"/>
                </a:solidFill>
                <a:latin typeface="Arial"/>
                <a:ea typeface="Arial"/>
                <a:cs typeface="Arial"/>
                <a:sym typeface="Arial"/>
              </a:rPr>
              <a:t> If y≥4, then 2</a:t>
            </a:r>
            <a:r>
              <a:rPr b="1" baseline="30000" i="1" lang="en-US" sz="1950">
                <a:solidFill>
                  <a:srgbClr val="7030A0"/>
                </a:solidFill>
                <a:latin typeface="Arial"/>
                <a:ea typeface="Arial"/>
                <a:cs typeface="Arial"/>
                <a:sym typeface="Arial"/>
              </a:rPr>
              <a:t>y</a:t>
            </a:r>
            <a:r>
              <a:rPr b="1" i="1" lang="en-US" sz="2000">
                <a:solidFill>
                  <a:srgbClr val="7030A0"/>
                </a:solidFill>
                <a:latin typeface="Arial"/>
                <a:ea typeface="Arial"/>
                <a:cs typeface="Arial"/>
                <a:sym typeface="Arial"/>
              </a:rPr>
              <a:t>≥y</a:t>
            </a:r>
            <a:r>
              <a:rPr b="1" baseline="30000" i="1" lang="en-US" sz="1950">
                <a:solidFill>
                  <a:srgbClr val="7030A0"/>
                </a:solidFill>
                <a:latin typeface="Arial"/>
                <a:ea typeface="Arial"/>
                <a:cs typeface="Arial"/>
                <a:sym typeface="Arial"/>
              </a:rPr>
              <a:t>2</a:t>
            </a:r>
            <a:r>
              <a:rPr b="1" i="1" lang="en-US" sz="2000">
                <a:solidFill>
                  <a:srgbClr val="7030A0"/>
                </a:solidFill>
                <a:latin typeface="Arial"/>
                <a:ea typeface="Arial"/>
                <a:cs typeface="Arial"/>
                <a:sym typeface="Arial"/>
              </a:rPr>
              <a:t>.</a:t>
            </a:r>
            <a:endParaRPr sz="2000">
              <a:solidFill>
                <a:schemeClr val="dk1"/>
              </a:solidFill>
              <a:latin typeface="Arial"/>
              <a:ea typeface="Arial"/>
              <a:cs typeface="Arial"/>
              <a:sym typeface="Arial"/>
            </a:endParaRPr>
          </a:p>
          <a:p>
            <a:pPr indent="0" lvl="0" marL="0" marR="0" rtl="0" algn="l">
              <a:lnSpc>
                <a:spcPct val="100000"/>
              </a:lnSpc>
              <a:spcBef>
                <a:spcPts val="24"/>
              </a:spcBef>
              <a:spcAft>
                <a:spcPts val="0"/>
              </a:spcAft>
              <a:buNone/>
            </a:pPr>
            <a:r>
              <a:t/>
            </a:r>
            <a:endParaRPr sz="2900">
              <a:solidFill>
                <a:schemeClr val="dk1"/>
              </a:solidFill>
              <a:latin typeface="Times New Roman"/>
              <a:ea typeface="Times New Roman"/>
              <a:cs typeface="Times New Roman"/>
              <a:sym typeface="Times New Roman"/>
            </a:endParaRPr>
          </a:p>
          <a:p>
            <a:pPr indent="-342900" lvl="0" marL="354965" marR="5080" rtl="0" algn="l">
              <a:lnSpc>
                <a:spcPct val="100000"/>
              </a:lnSpc>
              <a:spcBef>
                <a:spcPts val="0"/>
              </a:spcBef>
              <a:spcAft>
                <a:spcPts val="0"/>
              </a:spcAft>
              <a:buNone/>
            </a:pPr>
            <a:r>
              <a:rPr b="1" i="1" lang="en-US" sz="2000">
                <a:solidFill>
                  <a:srgbClr val="7030A0"/>
                </a:solidFill>
                <a:latin typeface="Arial"/>
                <a:ea typeface="Arial"/>
                <a:cs typeface="Arial"/>
                <a:sym typeface="Arial"/>
              </a:rPr>
              <a:t>Let x be any number which is obtained by adding the squares of 4 positive integers.</a:t>
            </a:r>
            <a:endParaRPr sz="2000">
              <a:solidFill>
                <a:schemeClr val="dk1"/>
              </a:solidFill>
              <a:latin typeface="Arial"/>
              <a:ea typeface="Arial"/>
              <a:cs typeface="Arial"/>
              <a:sym typeface="Arial"/>
            </a:endParaRPr>
          </a:p>
          <a:p>
            <a:pPr indent="0" lvl="0" marL="12700" marR="0" rtl="0" algn="l">
              <a:lnSpc>
                <a:spcPct val="100000"/>
              </a:lnSpc>
              <a:spcBef>
                <a:spcPts val="480"/>
              </a:spcBef>
              <a:spcAft>
                <a:spcPts val="0"/>
              </a:spcAft>
              <a:buNone/>
            </a:pPr>
            <a:r>
              <a:rPr b="1" i="1" lang="en-US" sz="2000" u="sng">
                <a:solidFill>
                  <a:srgbClr val="7030A0"/>
                </a:solidFill>
                <a:latin typeface="Arial"/>
                <a:ea typeface="Arial"/>
                <a:cs typeface="Arial"/>
                <a:sym typeface="Arial"/>
              </a:rPr>
              <a:t>Claim 2:</a:t>
            </a:r>
            <a:endParaRPr sz="2000">
              <a:solidFill>
                <a:schemeClr val="dk1"/>
              </a:solidFill>
              <a:latin typeface="Arial"/>
              <a:ea typeface="Arial"/>
              <a:cs typeface="Arial"/>
              <a:sym typeface="Arial"/>
            </a:endParaRPr>
          </a:p>
          <a:p>
            <a:pPr indent="0" lvl="0" marL="12700" marR="0" rtl="0" algn="l">
              <a:lnSpc>
                <a:spcPct val="100000"/>
              </a:lnSpc>
              <a:spcBef>
                <a:spcPts val="480"/>
              </a:spcBef>
              <a:spcAft>
                <a:spcPts val="0"/>
              </a:spcAft>
              <a:buNone/>
            </a:pPr>
            <a:r>
              <a:rPr b="1" i="1" lang="en-US" sz="2000">
                <a:solidFill>
                  <a:srgbClr val="7030A0"/>
                </a:solidFill>
                <a:latin typeface="Arial"/>
                <a:ea typeface="Arial"/>
                <a:cs typeface="Arial"/>
                <a:sym typeface="Arial"/>
              </a:rPr>
              <a:t>Given x and assuming that Claim 1 is true, prove that 2</a:t>
            </a:r>
            <a:r>
              <a:rPr b="1" baseline="30000" i="1" lang="en-US" sz="1950">
                <a:solidFill>
                  <a:srgbClr val="7030A0"/>
                </a:solidFill>
                <a:latin typeface="Arial"/>
                <a:ea typeface="Arial"/>
                <a:cs typeface="Arial"/>
                <a:sym typeface="Arial"/>
              </a:rPr>
              <a:t>x</a:t>
            </a:r>
            <a:r>
              <a:rPr b="1" i="1" lang="en-US" sz="2000">
                <a:solidFill>
                  <a:srgbClr val="7030A0"/>
                </a:solidFill>
                <a:latin typeface="Arial"/>
                <a:ea typeface="Arial"/>
                <a:cs typeface="Arial"/>
                <a:sym typeface="Arial"/>
              </a:rPr>
              <a:t>≥x</a:t>
            </a:r>
            <a:r>
              <a:rPr b="1" baseline="30000" i="1" lang="en-US" sz="1950">
                <a:solidFill>
                  <a:srgbClr val="7030A0"/>
                </a:solidFill>
                <a:latin typeface="Arial"/>
                <a:ea typeface="Arial"/>
                <a:cs typeface="Arial"/>
                <a:sym typeface="Arial"/>
              </a:rPr>
              <a:t>2</a:t>
            </a:r>
            <a:endParaRPr baseline="30000" sz="1950">
              <a:solidFill>
                <a:schemeClr val="dk1"/>
              </a:solidFill>
              <a:latin typeface="Arial"/>
              <a:ea typeface="Arial"/>
              <a:cs typeface="Arial"/>
              <a:sym typeface="Arial"/>
            </a:endParaRPr>
          </a:p>
        </p:txBody>
      </p:sp>
      <p:sp>
        <p:nvSpPr>
          <p:cNvPr id="248" name="Google Shape;248;p12"/>
          <p:cNvSpPr/>
          <p:nvPr/>
        </p:nvSpPr>
        <p:spPr>
          <a:xfrm>
            <a:off x="1233375" y="4800600"/>
            <a:ext cx="942340" cy="797560"/>
          </a:xfrm>
          <a:custGeom>
            <a:rect b="b" l="l" r="r" t="t"/>
            <a:pathLst>
              <a:path extrusionOk="0" h="797560" w="942339">
                <a:moveTo>
                  <a:pt x="0" y="797178"/>
                </a:moveTo>
                <a:lnTo>
                  <a:pt x="942124" y="0"/>
                </a:lnTo>
              </a:path>
            </a:pathLst>
          </a:custGeom>
          <a:noFill/>
          <a:ln cap="flat" cmpd="sng" w="12700">
            <a:solidFill>
              <a:srgbClr val="FF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2"/>
          <p:cNvSpPr/>
          <p:nvPr/>
        </p:nvSpPr>
        <p:spPr>
          <a:xfrm>
            <a:off x="2127021" y="5334000"/>
            <a:ext cx="83185" cy="78740"/>
          </a:xfrm>
          <a:custGeom>
            <a:rect b="b" l="l" r="r" t="t"/>
            <a:pathLst>
              <a:path extrusionOk="0" h="78739" w="83185">
                <a:moveTo>
                  <a:pt x="82778" y="0"/>
                </a:moveTo>
                <a:lnTo>
                  <a:pt x="0" y="20129"/>
                </a:lnTo>
                <a:lnTo>
                  <a:pt x="49212" y="78308"/>
                </a:lnTo>
                <a:lnTo>
                  <a:pt x="82778"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2"/>
          <p:cNvSpPr txBox="1"/>
          <p:nvPr/>
        </p:nvSpPr>
        <p:spPr>
          <a:xfrm>
            <a:off x="443753" y="5815965"/>
            <a:ext cx="2298700" cy="3155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2000">
                <a:solidFill>
                  <a:srgbClr val="FF0000"/>
                </a:solidFill>
                <a:latin typeface="Arial"/>
                <a:ea typeface="Arial"/>
                <a:cs typeface="Arial"/>
                <a:sym typeface="Arial"/>
              </a:rPr>
              <a:t>“implies” </a:t>
            </a:r>
            <a:r>
              <a:rPr lang="en-US" sz="2000">
                <a:solidFill>
                  <a:srgbClr val="FF0000"/>
                </a:solidFill>
                <a:latin typeface="Arial"/>
                <a:ea typeface="Arial"/>
                <a:cs typeface="Arial"/>
                <a:sym typeface="Arial"/>
              </a:rPr>
              <a:t>or </a:t>
            </a:r>
            <a:r>
              <a:rPr i="1" lang="en-US" sz="2000">
                <a:solidFill>
                  <a:srgbClr val="FF0000"/>
                </a:solidFill>
                <a:latin typeface="Arial"/>
                <a:ea typeface="Arial"/>
                <a:cs typeface="Arial"/>
                <a:sym typeface="Arial"/>
              </a:rPr>
              <a:t>“follows”</a:t>
            </a:r>
            <a:endParaRPr sz="2000">
              <a:solidFill>
                <a:schemeClr val="dk1"/>
              </a:solidFill>
              <a:latin typeface="Arial"/>
              <a:ea typeface="Arial"/>
              <a:cs typeface="Arial"/>
              <a:sym typeface="Arial"/>
            </a:endParaRPr>
          </a:p>
        </p:txBody>
      </p:sp>
      <p:sp>
        <p:nvSpPr>
          <p:cNvPr id="251" name="Google Shape;251;p12"/>
          <p:cNvSpPr txBox="1"/>
          <p:nvPr>
            <p:ph idx="12" type="sldNum"/>
          </p:nvPr>
        </p:nvSpPr>
        <p:spPr>
          <a:xfrm>
            <a:off x="8370316" y="6537746"/>
            <a:ext cx="249554" cy="203834"/>
          </a:xfrm>
          <a:prstGeom prst="rect">
            <a:avLst/>
          </a:prstGeom>
          <a:noFill/>
          <a:ln>
            <a:noFill/>
          </a:ln>
        </p:spPr>
        <p:txBody>
          <a:bodyPr anchorCtr="0" anchor="ctr" bIns="0" lIns="0" spcFirstLastPara="1" rIns="0" wrap="square" tIns="0">
            <a:spAutoFit/>
          </a:bodyPr>
          <a:lstStyle/>
          <a:p>
            <a:pPr indent="0" lvl="0" marL="25400" rtl="0" algn="r">
              <a:lnSpc>
                <a:spcPct val="152000"/>
              </a:lnSpc>
              <a:spcBef>
                <a:spcPts val="0"/>
              </a:spcBef>
              <a:spcAft>
                <a:spcPts val="0"/>
              </a:spcAft>
              <a:buNone/>
            </a:pPr>
            <a:fld id="{00000000-1234-1234-1234-123412341234}" type="slidenum">
              <a:rPr lang="en-US"/>
              <a:t>‹#›</a:t>
            </a:fld>
            <a:endParaRPr/>
          </a:p>
        </p:txBody>
      </p:sp>
      <p:graphicFrame>
        <p:nvGraphicFramePr>
          <p:cNvPr id="252" name="Google Shape;252;p12"/>
          <p:cNvGraphicFramePr/>
          <p:nvPr/>
        </p:nvGraphicFramePr>
        <p:xfrm>
          <a:off x="1219200" y="3657597"/>
          <a:ext cx="3000000" cy="3000000"/>
        </p:xfrm>
        <a:graphic>
          <a:graphicData uri="http://schemas.openxmlformats.org/drawingml/2006/table">
            <a:tbl>
              <a:tblPr bandRow="1" firstRow="1">
                <a:noFill/>
                <a:tableStyleId>{4E897E22-C150-4A5A-9EAF-E89ED8D2B1E7}</a:tableStyleId>
              </a:tblPr>
              <a:tblGrid>
                <a:gridCol w="808175"/>
                <a:gridCol w="3497700"/>
                <a:gridCol w="2384000"/>
              </a:tblGrid>
              <a:tr h="685550">
                <a:tc gridSpan="2">
                  <a:txBody>
                    <a:bodyPr/>
                    <a:lstStyle/>
                    <a:p>
                      <a:pPr indent="-609600" lvl="0" marL="631825" marR="0" rtl="0" algn="l">
                        <a:lnSpc>
                          <a:spcPct val="100000"/>
                        </a:lnSpc>
                        <a:spcBef>
                          <a:spcPts val="0"/>
                        </a:spcBef>
                        <a:spcAft>
                          <a:spcPts val="0"/>
                        </a:spcAft>
                        <a:buClr>
                          <a:srgbClr val="3333CC"/>
                        </a:buClr>
                        <a:buSzPts val="1200"/>
                        <a:buFont typeface="Noto Sans Symbols"/>
                        <a:buChar char="■"/>
                      </a:pPr>
                      <a:r>
                        <a:rPr lang="en-US" sz="2000" u="sng" cap="none" strike="noStrike">
                          <a:latin typeface="Arial"/>
                          <a:ea typeface="Arial"/>
                          <a:cs typeface="Arial"/>
                          <a:sym typeface="Arial"/>
                        </a:rPr>
                        <a:t>Proof:</a:t>
                      </a:r>
                      <a:endParaRPr sz="2000" u="none" cap="none" strike="noStrike">
                        <a:latin typeface="Arial"/>
                        <a:ea typeface="Arial"/>
                        <a:cs typeface="Arial"/>
                        <a:sym typeface="Arial"/>
                      </a:endParaRPr>
                    </a:p>
                    <a:p>
                      <a:pPr indent="0" lvl="0" marL="478790" marR="0" rtl="0" algn="l">
                        <a:lnSpc>
                          <a:spcPct val="100000"/>
                        </a:lnSpc>
                        <a:spcBef>
                          <a:spcPts val="240"/>
                        </a:spcBef>
                        <a:spcAft>
                          <a:spcPts val="0"/>
                        </a:spcAft>
                        <a:buNone/>
                      </a:pPr>
                      <a:r>
                        <a:rPr lang="en-US" sz="1100" u="none" cap="none" strike="noStrike">
                          <a:solidFill>
                            <a:srgbClr val="FF0000"/>
                          </a:solidFill>
                          <a:latin typeface="Arial"/>
                          <a:ea typeface="Arial"/>
                          <a:cs typeface="Arial"/>
                          <a:sym typeface="Arial"/>
                        </a:rPr>
                        <a:t>1)	</a:t>
                      </a:r>
                      <a:r>
                        <a:rPr lang="en-US" sz="2000" u="none" cap="none" strike="noStrike">
                          <a:latin typeface="Arial"/>
                          <a:ea typeface="Arial"/>
                          <a:cs typeface="Arial"/>
                          <a:sym typeface="Arial"/>
                        </a:rPr>
                        <a:t>Given: x = a</a:t>
                      </a:r>
                      <a:r>
                        <a:rPr baseline="30000" lang="en-US" sz="1950" u="none" cap="none" strike="noStrike">
                          <a:latin typeface="Arial"/>
                          <a:ea typeface="Arial"/>
                          <a:cs typeface="Arial"/>
                          <a:sym typeface="Arial"/>
                        </a:rPr>
                        <a:t>2  </a:t>
                      </a:r>
                      <a:r>
                        <a:rPr lang="en-US" sz="2000" u="none" cap="none" strike="noStrike">
                          <a:latin typeface="Arial"/>
                          <a:ea typeface="Arial"/>
                          <a:cs typeface="Arial"/>
                          <a:sym typeface="Arial"/>
                        </a:rPr>
                        <a:t>+ b</a:t>
                      </a:r>
                      <a:r>
                        <a:rPr baseline="30000" lang="en-US" sz="1950" u="none" cap="none" strike="noStrike">
                          <a:latin typeface="Arial"/>
                          <a:ea typeface="Arial"/>
                          <a:cs typeface="Arial"/>
                          <a:sym typeface="Arial"/>
                        </a:rPr>
                        <a:t>2  </a:t>
                      </a:r>
                      <a:r>
                        <a:rPr lang="en-US" sz="2000" u="none" cap="none" strike="noStrike">
                          <a:latin typeface="Arial"/>
                          <a:ea typeface="Arial"/>
                          <a:cs typeface="Arial"/>
                          <a:sym typeface="Arial"/>
                        </a:rPr>
                        <a:t>+ c</a:t>
                      </a:r>
                      <a:r>
                        <a:rPr baseline="30000" lang="en-US" sz="1950" u="none" cap="none" strike="noStrike">
                          <a:latin typeface="Arial"/>
                          <a:ea typeface="Arial"/>
                          <a:cs typeface="Arial"/>
                          <a:sym typeface="Arial"/>
                        </a:rPr>
                        <a:t>2  </a:t>
                      </a:r>
                      <a:r>
                        <a:rPr lang="en-US" sz="2000" u="none" cap="none" strike="noStrike">
                          <a:latin typeface="Arial"/>
                          <a:ea typeface="Arial"/>
                          <a:cs typeface="Arial"/>
                          <a:sym typeface="Arial"/>
                        </a:rPr>
                        <a:t>+ d</a:t>
                      </a:r>
                      <a:r>
                        <a:rPr baseline="30000" lang="en-US" sz="1950" u="none" cap="none" strike="noStrike">
                          <a:latin typeface="Arial"/>
                          <a:ea typeface="Arial"/>
                          <a:cs typeface="Arial"/>
                          <a:sym typeface="Arial"/>
                        </a:rPr>
                        <a:t>2</a:t>
                      </a:r>
                      <a:endParaRPr/>
                    </a:p>
                  </a:txBody>
                  <a:tcPr marT="0" marB="0" marR="0" marL="0"/>
                </a:tc>
                <a:tc hMerge="1"/>
                <a:tc rowSpan="2">
                  <a:txBody>
                    <a:bodyPr/>
                    <a:lstStyle/>
                    <a:p>
                      <a:pPr indent="0" lvl="0" marL="0" marR="0" rtl="0" algn="l">
                        <a:spcBef>
                          <a:spcPts val="0"/>
                        </a:spcBef>
                        <a:spcAft>
                          <a:spcPts val="0"/>
                        </a:spcAft>
                        <a:buNone/>
                      </a:pPr>
                      <a:r>
                        <a:t/>
                      </a:r>
                      <a:endParaRPr baseline="30000" sz="1950">
                        <a:latin typeface="Arial"/>
                        <a:ea typeface="Arial"/>
                        <a:cs typeface="Arial"/>
                        <a:sym typeface="Arial"/>
                      </a:endParaRPr>
                    </a:p>
                  </a:txBody>
                  <a:tcPr marT="0" marB="0" marR="0" marL="0"/>
                </a:tc>
              </a:tr>
              <a:tr h="331750">
                <a:tc>
                  <a:txBody>
                    <a:bodyPr/>
                    <a:lstStyle/>
                    <a:p>
                      <a:pPr indent="0" lvl="0" marL="0" marR="196850" rtl="0" algn="r">
                        <a:lnSpc>
                          <a:spcPct val="100000"/>
                        </a:lnSpc>
                        <a:spcBef>
                          <a:spcPts val="0"/>
                        </a:spcBef>
                        <a:spcAft>
                          <a:spcPts val="0"/>
                        </a:spcAft>
                        <a:buNone/>
                      </a:pPr>
                      <a:r>
                        <a:rPr lang="en-US" sz="1100">
                          <a:solidFill>
                            <a:srgbClr val="FF0000"/>
                          </a:solidFill>
                          <a:latin typeface="Arial"/>
                          <a:ea typeface="Arial"/>
                          <a:cs typeface="Arial"/>
                          <a:sym typeface="Arial"/>
                        </a:rPr>
                        <a:t>2)</a:t>
                      </a:r>
                      <a:endParaRPr sz="1100">
                        <a:latin typeface="Arial"/>
                        <a:ea typeface="Arial"/>
                        <a:cs typeface="Arial"/>
                        <a:sym typeface="Arial"/>
                      </a:endParaRPr>
                    </a:p>
                  </a:txBody>
                  <a:tcPr marT="0" marB="0" marR="0" marL="0"/>
                </a:tc>
                <a:tc>
                  <a:txBody>
                    <a:bodyPr/>
                    <a:lstStyle/>
                    <a:p>
                      <a:pPr indent="0" lvl="0" marL="204470" marR="0" rtl="0" algn="l">
                        <a:lnSpc>
                          <a:spcPct val="116999"/>
                        </a:lnSpc>
                        <a:spcBef>
                          <a:spcPts val="0"/>
                        </a:spcBef>
                        <a:spcAft>
                          <a:spcPts val="0"/>
                        </a:spcAft>
                        <a:buNone/>
                      </a:pPr>
                      <a:r>
                        <a:rPr lang="en-US" sz="2000">
                          <a:latin typeface="Arial"/>
                          <a:ea typeface="Arial"/>
                          <a:cs typeface="Arial"/>
                          <a:sym typeface="Arial"/>
                        </a:rPr>
                        <a:t>Given: a≥1, b≥1, c≥1, d≥1</a:t>
                      </a:r>
                      <a:endParaRPr sz="2000">
                        <a:latin typeface="Arial"/>
                        <a:ea typeface="Arial"/>
                        <a:cs typeface="Arial"/>
                        <a:sym typeface="Arial"/>
                      </a:endParaRPr>
                    </a:p>
                  </a:txBody>
                  <a:tcPr marT="0" marB="0" marR="0" marL="0"/>
                </a:tc>
                <a:tc vMerge="1"/>
              </a:tr>
              <a:tr h="338850">
                <a:tc>
                  <a:txBody>
                    <a:bodyPr/>
                    <a:lstStyle/>
                    <a:p>
                      <a:pPr indent="0" lvl="0" marL="0" marR="196850" rtl="0" algn="r">
                        <a:lnSpc>
                          <a:spcPct val="100000"/>
                        </a:lnSpc>
                        <a:spcBef>
                          <a:spcPts val="0"/>
                        </a:spcBef>
                        <a:spcAft>
                          <a:spcPts val="0"/>
                        </a:spcAft>
                        <a:buNone/>
                      </a:pPr>
                      <a:r>
                        <a:rPr lang="en-US" sz="1100">
                          <a:solidFill>
                            <a:srgbClr val="FF0000"/>
                          </a:solidFill>
                          <a:latin typeface="Arial"/>
                          <a:ea typeface="Arial"/>
                          <a:cs typeface="Arial"/>
                          <a:sym typeface="Arial"/>
                        </a:rPr>
                        <a:t>3)</a:t>
                      </a:r>
                      <a:endParaRPr sz="1100">
                        <a:latin typeface="Arial"/>
                        <a:ea typeface="Arial"/>
                        <a:cs typeface="Arial"/>
                        <a:sym typeface="Arial"/>
                      </a:endParaRPr>
                    </a:p>
                  </a:txBody>
                  <a:tcPr marT="0" marB="0" marR="0" marL="0"/>
                </a:tc>
                <a:tc>
                  <a:txBody>
                    <a:bodyPr/>
                    <a:lstStyle/>
                    <a:p>
                      <a:pPr indent="0" lvl="0" marL="204470" marR="0" rtl="0" algn="l">
                        <a:lnSpc>
                          <a:spcPct val="118499"/>
                        </a:lnSpc>
                        <a:spcBef>
                          <a:spcPts val="0"/>
                        </a:spcBef>
                        <a:spcAft>
                          <a:spcPts val="0"/>
                        </a:spcAft>
                        <a:buNone/>
                      </a:pPr>
                      <a:r>
                        <a:rPr lang="en-US" sz="2000">
                          <a:latin typeface="Noto Sans Symbols"/>
                          <a:ea typeface="Noto Sans Symbols"/>
                          <a:cs typeface="Noto Sans Symbols"/>
                          <a:sym typeface="Noto Sans Symbols"/>
                        </a:rPr>
                        <a:t>🡺</a:t>
                      </a:r>
                      <a:r>
                        <a:rPr lang="en-US" sz="2000">
                          <a:latin typeface="Times New Roman"/>
                          <a:ea typeface="Times New Roman"/>
                          <a:cs typeface="Times New Roman"/>
                          <a:sym typeface="Times New Roman"/>
                        </a:rPr>
                        <a:t> </a:t>
                      </a:r>
                      <a:r>
                        <a:rPr lang="en-US" sz="2000">
                          <a:latin typeface="Arial"/>
                          <a:ea typeface="Arial"/>
                          <a:cs typeface="Arial"/>
                          <a:sym typeface="Arial"/>
                        </a:rPr>
                        <a:t>a</a:t>
                      </a:r>
                      <a:r>
                        <a:rPr baseline="30000" lang="en-US" sz="1950">
                          <a:latin typeface="Arial"/>
                          <a:ea typeface="Arial"/>
                          <a:cs typeface="Arial"/>
                          <a:sym typeface="Arial"/>
                        </a:rPr>
                        <a:t>2</a:t>
                      </a:r>
                      <a:r>
                        <a:rPr lang="en-US" sz="2000">
                          <a:latin typeface="Arial"/>
                          <a:ea typeface="Arial"/>
                          <a:cs typeface="Arial"/>
                          <a:sym typeface="Arial"/>
                        </a:rPr>
                        <a:t>≥1, b</a:t>
                      </a:r>
                      <a:r>
                        <a:rPr baseline="30000" lang="en-US" sz="1950">
                          <a:latin typeface="Arial"/>
                          <a:ea typeface="Arial"/>
                          <a:cs typeface="Arial"/>
                          <a:sym typeface="Arial"/>
                        </a:rPr>
                        <a:t>2</a:t>
                      </a:r>
                      <a:r>
                        <a:rPr lang="en-US" sz="2000">
                          <a:latin typeface="Arial"/>
                          <a:ea typeface="Arial"/>
                          <a:cs typeface="Arial"/>
                          <a:sym typeface="Arial"/>
                        </a:rPr>
                        <a:t>≥1, c</a:t>
                      </a:r>
                      <a:r>
                        <a:rPr baseline="30000" lang="en-US" sz="1950">
                          <a:latin typeface="Arial"/>
                          <a:ea typeface="Arial"/>
                          <a:cs typeface="Arial"/>
                          <a:sym typeface="Arial"/>
                        </a:rPr>
                        <a:t>2</a:t>
                      </a:r>
                      <a:r>
                        <a:rPr lang="en-US" sz="2000">
                          <a:latin typeface="Arial"/>
                          <a:ea typeface="Arial"/>
                          <a:cs typeface="Arial"/>
                          <a:sym typeface="Arial"/>
                        </a:rPr>
                        <a:t>≥1, d</a:t>
                      </a:r>
                      <a:r>
                        <a:rPr baseline="30000" lang="en-US" sz="1950">
                          <a:latin typeface="Arial"/>
                          <a:ea typeface="Arial"/>
                          <a:cs typeface="Arial"/>
                          <a:sym typeface="Arial"/>
                        </a:rPr>
                        <a:t>2</a:t>
                      </a:r>
                      <a:r>
                        <a:rPr lang="en-US" sz="2000">
                          <a:latin typeface="Arial"/>
                          <a:ea typeface="Arial"/>
                          <a:cs typeface="Arial"/>
                          <a:sym typeface="Arial"/>
                        </a:rPr>
                        <a:t>≥1</a:t>
                      </a:r>
                      <a:endParaRPr sz="2000">
                        <a:latin typeface="Arial"/>
                        <a:ea typeface="Arial"/>
                        <a:cs typeface="Arial"/>
                        <a:sym typeface="Arial"/>
                      </a:endParaRPr>
                    </a:p>
                  </a:txBody>
                  <a:tcPr marT="0" marB="0" marR="0" marL="0"/>
                </a:tc>
                <a:tc>
                  <a:txBody>
                    <a:bodyPr/>
                    <a:lstStyle/>
                    <a:p>
                      <a:pPr indent="0" lvl="0" marL="288290" marR="0" rtl="0" algn="l">
                        <a:lnSpc>
                          <a:spcPct val="118499"/>
                        </a:lnSpc>
                        <a:spcBef>
                          <a:spcPts val="0"/>
                        </a:spcBef>
                        <a:spcAft>
                          <a:spcPts val="0"/>
                        </a:spcAft>
                        <a:buNone/>
                      </a:pPr>
                      <a:r>
                        <a:rPr lang="en-US" sz="2000">
                          <a:solidFill>
                            <a:srgbClr val="3333CC"/>
                          </a:solidFill>
                          <a:latin typeface="Arial"/>
                          <a:ea typeface="Arial"/>
                          <a:cs typeface="Arial"/>
                          <a:sym typeface="Arial"/>
                        </a:rPr>
                        <a:t>(by 2)</a:t>
                      </a:r>
                      <a:endParaRPr sz="2000">
                        <a:latin typeface="Arial"/>
                        <a:ea typeface="Arial"/>
                        <a:cs typeface="Arial"/>
                        <a:sym typeface="Arial"/>
                      </a:endParaRPr>
                    </a:p>
                  </a:txBody>
                  <a:tcPr marT="0" marB="0" marR="0" marL="0"/>
                </a:tc>
              </a:tr>
              <a:tr h="331750">
                <a:tc>
                  <a:txBody>
                    <a:bodyPr/>
                    <a:lstStyle/>
                    <a:p>
                      <a:pPr indent="0" lvl="0" marL="0" marR="196850" rtl="0" algn="r">
                        <a:lnSpc>
                          <a:spcPct val="100000"/>
                        </a:lnSpc>
                        <a:spcBef>
                          <a:spcPts val="0"/>
                        </a:spcBef>
                        <a:spcAft>
                          <a:spcPts val="0"/>
                        </a:spcAft>
                        <a:buNone/>
                      </a:pPr>
                      <a:r>
                        <a:rPr lang="en-US" sz="1100">
                          <a:solidFill>
                            <a:srgbClr val="FF0000"/>
                          </a:solidFill>
                          <a:latin typeface="Arial"/>
                          <a:ea typeface="Arial"/>
                          <a:cs typeface="Arial"/>
                          <a:sym typeface="Arial"/>
                        </a:rPr>
                        <a:t>4)</a:t>
                      </a:r>
                      <a:endParaRPr sz="1100">
                        <a:latin typeface="Arial"/>
                        <a:ea typeface="Arial"/>
                        <a:cs typeface="Arial"/>
                        <a:sym typeface="Arial"/>
                      </a:endParaRPr>
                    </a:p>
                  </a:txBody>
                  <a:tcPr marT="0" marB="0" marR="0" marL="0"/>
                </a:tc>
                <a:tc>
                  <a:txBody>
                    <a:bodyPr/>
                    <a:lstStyle/>
                    <a:p>
                      <a:pPr indent="0" lvl="0" marL="204470" marR="0" rtl="0" algn="l">
                        <a:lnSpc>
                          <a:spcPct val="116999"/>
                        </a:lnSpc>
                        <a:spcBef>
                          <a:spcPts val="0"/>
                        </a:spcBef>
                        <a:spcAft>
                          <a:spcPts val="0"/>
                        </a:spcAft>
                        <a:buNone/>
                      </a:pPr>
                      <a:r>
                        <a:rPr lang="en-US" sz="2000">
                          <a:latin typeface="Noto Sans Symbols"/>
                          <a:ea typeface="Noto Sans Symbols"/>
                          <a:cs typeface="Noto Sans Symbols"/>
                          <a:sym typeface="Noto Sans Symbols"/>
                        </a:rPr>
                        <a:t>🡺</a:t>
                      </a:r>
                      <a:r>
                        <a:rPr lang="en-US" sz="2000">
                          <a:latin typeface="Times New Roman"/>
                          <a:ea typeface="Times New Roman"/>
                          <a:cs typeface="Times New Roman"/>
                          <a:sym typeface="Times New Roman"/>
                        </a:rPr>
                        <a:t> </a:t>
                      </a:r>
                      <a:r>
                        <a:rPr lang="en-US" sz="2000">
                          <a:latin typeface="Arial"/>
                          <a:ea typeface="Arial"/>
                          <a:cs typeface="Arial"/>
                          <a:sym typeface="Arial"/>
                        </a:rPr>
                        <a:t>x ≥ 4</a:t>
                      </a:r>
                      <a:endParaRPr sz="2000">
                        <a:latin typeface="Arial"/>
                        <a:ea typeface="Arial"/>
                        <a:cs typeface="Arial"/>
                        <a:sym typeface="Arial"/>
                      </a:endParaRPr>
                    </a:p>
                  </a:txBody>
                  <a:tcPr marT="0" marB="0" marR="0" marL="0"/>
                </a:tc>
                <a:tc>
                  <a:txBody>
                    <a:bodyPr/>
                    <a:lstStyle/>
                    <a:p>
                      <a:pPr indent="0" lvl="0" marL="287655" marR="0" rtl="0" algn="l">
                        <a:lnSpc>
                          <a:spcPct val="116999"/>
                        </a:lnSpc>
                        <a:spcBef>
                          <a:spcPts val="0"/>
                        </a:spcBef>
                        <a:spcAft>
                          <a:spcPts val="0"/>
                        </a:spcAft>
                        <a:buNone/>
                      </a:pPr>
                      <a:r>
                        <a:rPr lang="en-US" sz="2000">
                          <a:solidFill>
                            <a:srgbClr val="3333CC"/>
                          </a:solidFill>
                          <a:latin typeface="Arial"/>
                          <a:ea typeface="Arial"/>
                          <a:cs typeface="Arial"/>
                          <a:sym typeface="Arial"/>
                        </a:rPr>
                        <a:t>(by 1 &amp; 3)</a:t>
                      </a:r>
                      <a:endParaRPr sz="2000">
                        <a:latin typeface="Arial"/>
                        <a:ea typeface="Arial"/>
                        <a:cs typeface="Arial"/>
                        <a:sym typeface="Arial"/>
                      </a:endParaRPr>
                    </a:p>
                  </a:txBody>
                  <a:tcPr marT="0" marB="0" marR="0" marL="0"/>
                </a:tc>
              </a:tr>
              <a:tr h="361975">
                <a:tc>
                  <a:txBody>
                    <a:bodyPr/>
                    <a:lstStyle/>
                    <a:p>
                      <a:pPr indent="0" lvl="0" marL="0" marR="196850" rtl="0" algn="r">
                        <a:lnSpc>
                          <a:spcPct val="100000"/>
                        </a:lnSpc>
                        <a:spcBef>
                          <a:spcPts val="0"/>
                        </a:spcBef>
                        <a:spcAft>
                          <a:spcPts val="0"/>
                        </a:spcAft>
                        <a:buNone/>
                      </a:pPr>
                      <a:r>
                        <a:rPr lang="en-US" sz="1100">
                          <a:solidFill>
                            <a:srgbClr val="FF0000"/>
                          </a:solidFill>
                          <a:latin typeface="Arial"/>
                          <a:ea typeface="Arial"/>
                          <a:cs typeface="Arial"/>
                          <a:sym typeface="Arial"/>
                        </a:rPr>
                        <a:t>5)</a:t>
                      </a:r>
                      <a:endParaRPr sz="1100">
                        <a:latin typeface="Arial"/>
                        <a:ea typeface="Arial"/>
                        <a:cs typeface="Arial"/>
                        <a:sym typeface="Arial"/>
                      </a:endParaRPr>
                    </a:p>
                  </a:txBody>
                  <a:tcPr marT="0" marB="0" marR="0" marL="0"/>
                </a:tc>
                <a:tc>
                  <a:txBody>
                    <a:bodyPr/>
                    <a:lstStyle/>
                    <a:p>
                      <a:pPr indent="0" lvl="0" marL="204470" marR="0" rtl="0" algn="l">
                        <a:lnSpc>
                          <a:spcPct val="118499"/>
                        </a:lnSpc>
                        <a:spcBef>
                          <a:spcPts val="0"/>
                        </a:spcBef>
                        <a:spcAft>
                          <a:spcPts val="0"/>
                        </a:spcAft>
                        <a:buNone/>
                      </a:pPr>
                      <a:r>
                        <a:rPr lang="en-US" sz="2000">
                          <a:latin typeface="Noto Sans Symbols"/>
                          <a:ea typeface="Noto Sans Symbols"/>
                          <a:cs typeface="Noto Sans Symbols"/>
                          <a:sym typeface="Noto Sans Symbols"/>
                        </a:rPr>
                        <a:t>🡺</a:t>
                      </a:r>
                      <a:r>
                        <a:rPr lang="en-US" sz="2000">
                          <a:latin typeface="Times New Roman"/>
                          <a:ea typeface="Times New Roman"/>
                          <a:cs typeface="Times New Roman"/>
                          <a:sym typeface="Times New Roman"/>
                        </a:rPr>
                        <a:t> </a:t>
                      </a:r>
                      <a:r>
                        <a:rPr lang="en-US" sz="2000">
                          <a:latin typeface="Arial"/>
                          <a:ea typeface="Arial"/>
                          <a:cs typeface="Arial"/>
                          <a:sym typeface="Arial"/>
                        </a:rPr>
                        <a:t>2</a:t>
                      </a:r>
                      <a:r>
                        <a:rPr baseline="30000" lang="en-US" sz="1950">
                          <a:latin typeface="Arial"/>
                          <a:ea typeface="Arial"/>
                          <a:cs typeface="Arial"/>
                          <a:sym typeface="Arial"/>
                        </a:rPr>
                        <a:t>x  </a:t>
                      </a:r>
                      <a:r>
                        <a:rPr lang="en-US" sz="2000">
                          <a:latin typeface="Arial"/>
                          <a:ea typeface="Arial"/>
                          <a:cs typeface="Arial"/>
                          <a:sym typeface="Arial"/>
                        </a:rPr>
                        <a:t>≥ x</a:t>
                      </a:r>
                      <a:r>
                        <a:rPr baseline="30000" lang="en-US" sz="1950">
                          <a:latin typeface="Arial"/>
                          <a:ea typeface="Arial"/>
                          <a:cs typeface="Arial"/>
                          <a:sym typeface="Arial"/>
                        </a:rPr>
                        <a:t>2</a:t>
                      </a:r>
                      <a:endParaRPr baseline="30000" sz="1950">
                        <a:latin typeface="Arial"/>
                        <a:ea typeface="Arial"/>
                        <a:cs typeface="Arial"/>
                        <a:sym typeface="Arial"/>
                      </a:endParaRPr>
                    </a:p>
                  </a:txBody>
                  <a:tcPr marT="0" marB="0" marR="0" marL="0"/>
                </a:tc>
                <a:tc>
                  <a:txBody>
                    <a:bodyPr/>
                    <a:lstStyle/>
                    <a:p>
                      <a:pPr indent="0" lvl="0" marL="288290" marR="0" rtl="0" algn="l">
                        <a:lnSpc>
                          <a:spcPct val="118499"/>
                        </a:lnSpc>
                        <a:spcBef>
                          <a:spcPts val="0"/>
                        </a:spcBef>
                        <a:spcAft>
                          <a:spcPts val="0"/>
                        </a:spcAft>
                        <a:buNone/>
                      </a:pPr>
                      <a:r>
                        <a:rPr lang="en-US" sz="2000">
                          <a:solidFill>
                            <a:srgbClr val="3333CC"/>
                          </a:solidFill>
                          <a:latin typeface="Arial"/>
                          <a:ea typeface="Arial"/>
                          <a:cs typeface="Arial"/>
                          <a:sym typeface="Arial"/>
                        </a:rPr>
                        <a:t>(by 4 and Claim 1)</a:t>
                      </a:r>
                      <a:endParaRPr sz="2000">
                        <a:latin typeface="Arial"/>
                        <a:ea typeface="Arial"/>
                        <a:cs typeface="Arial"/>
                        <a:sym typeface="Arial"/>
                      </a:endParaRPr>
                    </a:p>
                  </a:txBody>
                  <a:tcPr marT="0" marB="0" marR="0" marL="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443753" y="228600"/>
            <a:ext cx="8229600" cy="916375"/>
          </a:xfrm>
          <a:prstGeom prst="rect">
            <a:avLst/>
          </a:prstGeom>
          <a:noFill/>
          <a:ln>
            <a:noFill/>
          </a:ln>
        </p:spPr>
        <p:txBody>
          <a:bodyPr anchorCtr="0" anchor="b" bIns="0" lIns="0" spcFirstLastPara="1" rIns="0" wrap="square" tIns="0">
            <a:spAutoFit/>
          </a:bodyPr>
          <a:lstStyle/>
          <a:p>
            <a:pPr indent="0" lvl="0" marL="192405" rtl="0" algn="ctr">
              <a:lnSpc>
                <a:spcPct val="100000"/>
              </a:lnSpc>
              <a:spcBef>
                <a:spcPts val="0"/>
              </a:spcBef>
              <a:spcAft>
                <a:spcPts val="0"/>
              </a:spcAft>
              <a:buClr>
                <a:srgbClr val="3F3F3F"/>
              </a:buClr>
              <a:buSzPts val="4800"/>
              <a:buFont typeface="Calibri"/>
              <a:buNone/>
            </a:pPr>
            <a:r>
              <a:rPr lang="en-US"/>
              <a:t>Quantifiers</a:t>
            </a:r>
            <a:endParaRPr/>
          </a:p>
        </p:txBody>
      </p:sp>
      <p:sp>
        <p:nvSpPr>
          <p:cNvPr id="258" name="Google Shape;258;p13"/>
          <p:cNvSpPr txBox="1"/>
          <p:nvPr>
            <p:ph idx="1" type="body"/>
          </p:nvPr>
        </p:nvSpPr>
        <p:spPr>
          <a:xfrm>
            <a:off x="609600" y="1295400"/>
            <a:ext cx="8229600" cy="4872849"/>
          </a:xfrm>
          <a:prstGeom prst="rect">
            <a:avLst/>
          </a:prstGeom>
          <a:noFill/>
          <a:ln>
            <a:noFill/>
          </a:ln>
        </p:spPr>
        <p:txBody>
          <a:bodyPr anchorCtr="0" anchor="t" bIns="0" lIns="0" spcFirstLastPara="1" rIns="0" wrap="square" tIns="0">
            <a:spAutoFit/>
          </a:bodyPr>
          <a:lstStyle/>
          <a:p>
            <a:pPr indent="-177800" lvl="0" marL="836930" rtl="0" algn="l">
              <a:lnSpc>
                <a:spcPct val="100000"/>
              </a:lnSpc>
              <a:spcBef>
                <a:spcPts val="0"/>
              </a:spcBef>
              <a:spcAft>
                <a:spcPts val="0"/>
              </a:spcAft>
              <a:buSzPts val="2800"/>
              <a:buChar char=" "/>
            </a:pPr>
            <a:r>
              <a:rPr lang="en-US" sz="2800"/>
              <a:t>“For all” </a:t>
            </a:r>
            <a:r>
              <a:rPr i="0" lang="en-US" sz="2800">
                <a:latin typeface="Arial"/>
                <a:ea typeface="Arial"/>
                <a:cs typeface="Arial"/>
                <a:sym typeface="Arial"/>
              </a:rPr>
              <a:t>or “</a:t>
            </a:r>
            <a:r>
              <a:rPr lang="en-US" sz="2800"/>
              <a:t>For every”</a:t>
            </a:r>
            <a:endParaRPr sz="2800">
              <a:latin typeface="Arial"/>
              <a:ea typeface="Arial"/>
              <a:cs typeface="Arial"/>
              <a:sym typeface="Arial"/>
            </a:endParaRPr>
          </a:p>
          <a:p>
            <a:pPr indent="-286385" lvl="0" marL="1580515" rtl="0" algn="l">
              <a:lnSpc>
                <a:spcPct val="100000"/>
              </a:lnSpc>
              <a:spcBef>
                <a:spcPts val="500"/>
              </a:spcBef>
              <a:spcAft>
                <a:spcPts val="0"/>
              </a:spcAft>
              <a:buClr>
                <a:srgbClr val="FF0000"/>
              </a:buClr>
              <a:buSzPts val="1300"/>
              <a:buFont typeface="Noto Sans Symbols"/>
              <a:buChar char="■"/>
            </a:pPr>
            <a:r>
              <a:rPr i="0" lang="en-US" sz="2400">
                <a:latin typeface="Arial"/>
                <a:ea typeface="Arial"/>
                <a:cs typeface="Arial"/>
                <a:sym typeface="Arial"/>
              </a:rPr>
              <a:t>Universal proofs</a:t>
            </a:r>
            <a:endParaRPr sz="2400">
              <a:latin typeface="Arial"/>
              <a:ea typeface="Arial"/>
              <a:cs typeface="Arial"/>
              <a:sym typeface="Arial"/>
            </a:endParaRPr>
          </a:p>
          <a:p>
            <a:pPr indent="-286385" lvl="0" marL="1580515" rtl="0" algn="l">
              <a:lnSpc>
                <a:spcPct val="100000"/>
              </a:lnSpc>
              <a:spcBef>
                <a:spcPts val="485"/>
              </a:spcBef>
              <a:spcAft>
                <a:spcPts val="0"/>
              </a:spcAft>
              <a:buClr>
                <a:srgbClr val="FF0000"/>
              </a:buClr>
              <a:buSzPts val="1300"/>
              <a:buFont typeface="Noto Sans Symbols"/>
              <a:buChar char="■"/>
            </a:pPr>
            <a:r>
              <a:rPr i="0" lang="en-US" sz="2400">
                <a:latin typeface="Arial"/>
                <a:ea typeface="Arial"/>
                <a:cs typeface="Arial"/>
                <a:sym typeface="Arial"/>
              </a:rPr>
              <a:t>Notation</a:t>
            </a:r>
            <a:r>
              <a:rPr baseline="30000" i="0" lang="en-US" sz="2400">
                <a:latin typeface="Arial"/>
                <a:ea typeface="Arial"/>
                <a:cs typeface="Arial"/>
                <a:sym typeface="Arial"/>
              </a:rPr>
              <a:t>*</a:t>
            </a:r>
            <a:r>
              <a:rPr i="0" lang="en-US" sz="2400">
                <a:latin typeface="Arial"/>
                <a:ea typeface="Arial"/>
                <a:cs typeface="Arial"/>
                <a:sym typeface="Arial"/>
              </a:rPr>
              <a:t>=?</a:t>
            </a:r>
            <a:endParaRPr sz="2400">
              <a:latin typeface="Arial"/>
              <a:ea typeface="Arial"/>
              <a:cs typeface="Arial"/>
              <a:sym typeface="Arial"/>
            </a:endParaRPr>
          </a:p>
          <a:p>
            <a:pPr indent="-177800" lvl="0" marL="836930" rtl="0" algn="l">
              <a:lnSpc>
                <a:spcPct val="100000"/>
              </a:lnSpc>
              <a:spcBef>
                <a:spcPts val="520"/>
              </a:spcBef>
              <a:spcAft>
                <a:spcPts val="0"/>
              </a:spcAft>
              <a:buSzPts val="2800"/>
              <a:buChar char=" "/>
            </a:pPr>
            <a:r>
              <a:rPr lang="en-US" sz="2800"/>
              <a:t>“There exists”</a:t>
            </a:r>
            <a:endParaRPr/>
          </a:p>
          <a:p>
            <a:pPr indent="-286385" lvl="0" marL="1580515" rtl="0" algn="l">
              <a:lnSpc>
                <a:spcPct val="100000"/>
              </a:lnSpc>
              <a:spcBef>
                <a:spcPts val="500"/>
              </a:spcBef>
              <a:spcAft>
                <a:spcPts val="0"/>
              </a:spcAft>
              <a:buClr>
                <a:srgbClr val="FF0000"/>
              </a:buClr>
              <a:buSzPts val="1300"/>
              <a:buFont typeface="Noto Sans Symbols"/>
              <a:buChar char="■"/>
            </a:pPr>
            <a:r>
              <a:rPr i="0" lang="en-US" sz="2400">
                <a:latin typeface="Arial"/>
                <a:ea typeface="Arial"/>
                <a:cs typeface="Arial"/>
                <a:sym typeface="Arial"/>
              </a:rPr>
              <a:t>Used in existential proofs</a:t>
            </a:r>
            <a:endParaRPr sz="2400">
              <a:latin typeface="Arial"/>
              <a:ea typeface="Arial"/>
              <a:cs typeface="Arial"/>
              <a:sym typeface="Arial"/>
            </a:endParaRPr>
          </a:p>
          <a:p>
            <a:pPr indent="-286385" lvl="0" marL="1580515" rtl="0" algn="l">
              <a:lnSpc>
                <a:spcPct val="100000"/>
              </a:lnSpc>
              <a:spcBef>
                <a:spcPts val="485"/>
              </a:spcBef>
              <a:spcAft>
                <a:spcPts val="0"/>
              </a:spcAft>
              <a:buClr>
                <a:srgbClr val="FF0000"/>
              </a:buClr>
              <a:buSzPts val="1300"/>
              <a:buFont typeface="Noto Sans Symbols"/>
              <a:buChar char="■"/>
            </a:pPr>
            <a:r>
              <a:rPr i="0" lang="en-US" sz="2400">
                <a:latin typeface="Arial"/>
                <a:ea typeface="Arial"/>
                <a:cs typeface="Arial"/>
                <a:sym typeface="Arial"/>
              </a:rPr>
              <a:t>Notation</a:t>
            </a:r>
            <a:r>
              <a:rPr baseline="30000" i="0" lang="en-US" sz="2400">
                <a:latin typeface="Arial"/>
                <a:ea typeface="Arial"/>
                <a:cs typeface="Arial"/>
                <a:sym typeface="Arial"/>
              </a:rPr>
              <a:t>*</a:t>
            </a:r>
            <a:r>
              <a:rPr i="0" lang="en-US" sz="2400">
                <a:latin typeface="Arial"/>
                <a:ea typeface="Arial"/>
                <a:cs typeface="Arial"/>
                <a:sym typeface="Arial"/>
              </a:rPr>
              <a:t>=?</a:t>
            </a:r>
            <a:endParaRPr sz="2400">
              <a:latin typeface="Arial"/>
              <a:ea typeface="Arial"/>
              <a:cs typeface="Arial"/>
              <a:sym typeface="Arial"/>
            </a:endParaRPr>
          </a:p>
          <a:p>
            <a:pPr indent="-152400" lvl="0" marL="836930" rtl="0" algn="l">
              <a:lnSpc>
                <a:spcPct val="100000"/>
              </a:lnSpc>
              <a:spcBef>
                <a:spcPts val="550"/>
              </a:spcBef>
              <a:spcAft>
                <a:spcPts val="0"/>
              </a:spcAft>
              <a:buSzPts val="2400"/>
              <a:buChar char=" "/>
            </a:pPr>
            <a:r>
              <a:rPr i="0" lang="en-US">
                <a:latin typeface="Arial"/>
                <a:ea typeface="Arial"/>
                <a:cs typeface="Arial"/>
                <a:sym typeface="Arial"/>
              </a:rPr>
              <a:t>Implication is denoted by =&gt;</a:t>
            </a:r>
            <a:endParaRPr/>
          </a:p>
          <a:p>
            <a:pPr indent="-228600" lvl="1" marL="1979929" rtl="0" algn="l">
              <a:lnSpc>
                <a:spcPct val="100000"/>
              </a:lnSpc>
              <a:spcBef>
                <a:spcPts val="475"/>
              </a:spcBef>
              <a:spcAft>
                <a:spcPts val="0"/>
              </a:spcAft>
              <a:buClr>
                <a:srgbClr val="3333CC"/>
              </a:buClr>
              <a:buSzPts val="1000"/>
              <a:buFont typeface="Noto Sans Symbols"/>
              <a:buChar char="■"/>
            </a:pPr>
            <a:r>
              <a:rPr lang="en-US" sz="2000">
                <a:latin typeface="Arial"/>
                <a:ea typeface="Arial"/>
                <a:cs typeface="Arial"/>
                <a:sym typeface="Arial"/>
              </a:rPr>
              <a:t>E.g., “IF A THEN B” can also be written as “A=&gt;B”</a:t>
            </a:r>
            <a:endParaRPr sz="2000">
              <a:latin typeface="Arial"/>
              <a:ea typeface="Arial"/>
              <a:cs typeface="Arial"/>
              <a:sym typeface="Arial"/>
            </a:endParaRPr>
          </a:p>
        </p:txBody>
      </p:sp>
      <p:sp>
        <p:nvSpPr>
          <p:cNvPr id="259" name="Google Shape;259;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4"/>
          <p:cNvSpPr txBox="1"/>
          <p:nvPr>
            <p:ph type="title"/>
          </p:nvPr>
        </p:nvSpPr>
        <p:spPr>
          <a:xfrm>
            <a:off x="443753" y="228600"/>
            <a:ext cx="8229600" cy="916375"/>
          </a:xfrm>
          <a:prstGeom prst="rect">
            <a:avLst/>
          </a:prstGeom>
          <a:noFill/>
          <a:ln>
            <a:noFill/>
          </a:ln>
        </p:spPr>
        <p:txBody>
          <a:bodyPr anchorCtr="0" anchor="b" bIns="0" lIns="0" spcFirstLastPara="1" rIns="0" wrap="square" tIns="0">
            <a:spAutoFit/>
          </a:bodyPr>
          <a:lstStyle/>
          <a:p>
            <a:pPr indent="0" lvl="0" marL="192405" rtl="0" algn="ctr">
              <a:lnSpc>
                <a:spcPct val="100000"/>
              </a:lnSpc>
              <a:spcBef>
                <a:spcPts val="0"/>
              </a:spcBef>
              <a:spcAft>
                <a:spcPts val="0"/>
              </a:spcAft>
              <a:buClr>
                <a:srgbClr val="3F3F3F"/>
              </a:buClr>
              <a:buSzPts val="4800"/>
              <a:buFont typeface="Calibri"/>
              <a:buNone/>
            </a:pPr>
            <a:r>
              <a:rPr lang="en-US"/>
              <a:t>Proving techniques</a:t>
            </a:r>
            <a:endParaRPr/>
          </a:p>
        </p:txBody>
      </p:sp>
      <p:sp>
        <p:nvSpPr>
          <p:cNvPr id="265" name="Google Shape;265;p14"/>
          <p:cNvSpPr txBox="1"/>
          <p:nvPr/>
        </p:nvSpPr>
        <p:spPr>
          <a:xfrm>
            <a:off x="1066800" y="1371600"/>
            <a:ext cx="7155815" cy="454469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rgbClr val="3333CC"/>
              </a:buClr>
              <a:buSzPts val="1400"/>
              <a:buFont typeface="Noto Sans Symbols"/>
              <a:buChar char="■"/>
            </a:pPr>
            <a:r>
              <a:rPr lang="en-US" sz="2400">
                <a:solidFill>
                  <a:srgbClr val="C00000"/>
                </a:solidFill>
                <a:latin typeface="Arial"/>
                <a:ea typeface="Arial"/>
                <a:cs typeface="Arial"/>
                <a:sym typeface="Arial"/>
              </a:rPr>
              <a:t>By contradiction</a:t>
            </a:r>
            <a:endParaRPr sz="2400">
              <a:solidFill>
                <a:schemeClr val="dk1"/>
              </a:solidFill>
              <a:latin typeface="Arial"/>
              <a:ea typeface="Arial"/>
              <a:cs typeface="Arial"/>
              <a:sym typeface="Arial"/>
            </a:endParaRPr>
          </a:p>
          <a:p>
            <a:pPr indent="-286385" lvl="1" marL="756285" marR="252095" rtl="0" algn="l">
              <a:lnSpc>
                <a:spcPct val="108181"/>
              </a:lnSpc>
              <a:spcBef>
                <a:spcPts val="555"/>
              </a:spcBef>
              <a:spcAft>
                <a:spcPts val="0"/>
              </a:spcAft>
              <a:buClr>
                <a:srgbClr val="FF0000"/>
              </a:buClr>
              <a:buSzPts val="1200"/>
              <a:buFont typeface="Noto Sans Symbols"/>
              <a:buChar char="■"/>
            </a:pPr>
            <a:r>
              <a:rPr b="0" i="0" lang="en-US" sz="2200" u="none" cap="none" strike="noStrike">
                <a:solidFill>
                  <a:schemeClr val="dk1"/>
                </a:solidFill>
                <a:latin typeface="Arial"/>
                <a:ea typeface="Arial"/>
                <a:cs typeface="Arial"/>
                <a:sym typeface="Arial"/>
              </a:rPr>
              <a:t>Start with the statement contradictory to the given statement</a:t>
            </a:r>
            <a:endParaRPr b="0" i="0" sz="2200" u="none" cap="none" strike="noStrike">
              <a:solidFill>
                <a:schemeClr val="dk1"/>
              </a:solidFill>
              <a:latin typeface="Arial"/>
              <a:ea typeface="Arial"/>
              <a:cs typeface="Arial"/>
              <a:sym typeface="Arial"/>
            </a:endParaRPr>
          </a:p>
          <a:p>
            <a:pPr indent="-286385" lvl="1" marL="756285" marR="0" rtl="0" algn="l">
              <a:lnSpc>
                <a:spcPct val="100000"/>
              </a:lnSpc>
              <a:spcBef>
                <a:spcPts val="225"/>
              </a:spcBef>
              <a:spcAft>
                <a:spcPts val="0"/>
              </a:spcAft>
              <a:buClr>
                <a:srgbClr val="FF0000"/>
              </a:buClr>
              <a:buSzPts val="1200"/>
              <a:buFont typeface="Noto Sans Symbols"/>
              <a:buChar char="■"/>
            </a:pPr>
            <a:r>
              <a:rPr b="0" i="0" lang="en-US" sz="2200" u="none" cap="none" strike="noStrike">
                <a:solidFill>
                  <a:schemeClr val="dk1"/>
                </a:solidFill>
                <a:latin typeface="Arial"/>
                <a:ea typeface="Arial"/>
                <a:cs typeface="Arial"/>
                <a:sym typeface="Arial"/>
              </a:rPr>
              <a:t>E.g., To prove (A =&gt; B), we start with:</a:t>
            </a:r>
            <a:endParaRPr b="0" i="0" sz="2200" u="none" cap="none" strike="noStrike">
              <a:solidFill>
                <a:schemeClr val="dk1"/>
              </a:solidFill>
              <a:latin typeface="Arial"/>
              <a:ea typeface="Arial"/>
              <a:cs typeface="Arial"/>
              <a:sym typeface="Arial"/>
            </a:endParaRPr>
          </a:p>
          <a:p>
            <a:pPr indent="-228600" lvl="2" marL="1155700" marR="0" rtl="0" algn="l">
              <a:lnSpc>
                <a:spcPct val="100000"/>
              </a:lnSpc>
              <a:spcBef>
                <a:spcPts val="229"/>
              </a:spcBef>
              <a:spcAft>
                <a:spcPts val="0"/>
              </a:spcAft>
              <a:buClr>
                <a:srgbClr val="3333CC"/>
              </a:buClr>
              <a:buSzPts val="900"/>
              <a:buFont typeface="Noto Sans Symbols"/>
              <a:buChar char="■"/>
            </a:pPr>
            <a:r>
              <a:rPr b="0" i="0" lang="en-US" sz="1800" u="none" cap="none" strike="noStrike">
                <a:solidFill>
                  <a:schemeClr val="dk1"/>
                </a:solidFill>
                <a:latin typeface="Arial"/>
                <a:ea typeface="Arial"/>
                <a:cs typeface="Arial"/>
                <a:sym typeface="Arial"/>
              </a:rPr>
              <a:t>(A and ~B)</a:t>
            </a:r>
            <a:endParaRPr/>
          </a:p>
          <a:p>
            <a:pPr indent="-228600" lvl="2" marL="1155700" marR="0" rtl="0" algn="l">
              <a:lnSpc>
                <a:spcPct val="100000"/>
              </a:lnSpc>
              <a:spcBef>
                <a:spcPts val="229"/>
              </a:spcBef>
              <a:spcAft>
                <a:spcPts val="0"/>
              </a:spcAft>
              <a:buClr>
                <a:srgbClr val="3333CC"/>
              </a:buClr>
              <a:buSzPts val="1000"/>
              <a:buFont typeface="Noto Sans Symbols"/>
              <a:buChar char="■"/>
            </a:pPr>
            <a:r>
              <a:rPr b="0" i="0" lang="en-US" sz="2000" u="none" cap="none" strike="noStrike">
                <a:solidFill>
                  <a:schemeClr val="dk1"/>
                </a:solidFill>
                <a:latin typeface="Arial"/>
                <a:ea typeface="Arial"/>
                <a:cs typeface="Arial"/>
                <a:sym typeface="Arial"/>
              </a:rPr>
              <a:t>… and then show that could never happen</a:t>
            </a:r>
            <a:endParaRPr/>
          </a:p>
          <a:p>
            <a:pPr indent="0" lvl="2" marL="914400" marR="0" rtl="0" algn="l">
              <a:lnSpc>
                <a:spcPct val="100000"/>
              </a:lnSpc>
              <a:spcBef>
                <a:spcPts val="23"/>
              </a:spcBef>
              <a:spcAft>
                <a:spcPts val="0"/>
              </a:spcAft>
              <a:buClr>
                <a:schemeClr val="dk1"/>
              </a:buClr>
              <a:buSzPts val="1650"/>
              <a:buFont typeface="Noto Sans Symbols"/>
              <a:buNone/>
            </a:pPr>
            <a:r>
              <a:t/>
            </a:r>
            <a:endParaRPr b="0" i="0" sz="1650" u="none" cap="none" strike="noStrike">
              <a:solidFill>
                <a:schemeClr val="dk1"/>
              </a:solidFill>
              <a:latin typeface="Times New Roman"/>
              <a:ea typeface="Times New Roman"/>
              <a:cs typeface="Times New Roman"/>
              <a:sym typeface="Times New Roman"/>
            </a:endParaRPr>
          </a:p>
          <a:p>
            <a:pPr indent="0" lvl="0" marL="1155065" marR="0" rtl="0" algn="l">
              <a:lnSpc>
                <a:spcPct val="100000"/>
              </a:lnSpc>
              <a:spcBef>
                <a:spcPts val="0"/>
              </a:spcBef>
              <a:spcAft>
                <a:spcPts val="0"/>
              </a:spcAft>
              <a:buNone/>
            </a:pPr>
            <a:r>
              <a:rPr lang="en-US" sz="2000">
                <a:solidFill>
                  <a:schemeClr val="dk1"/>
                </a:solidFill>
                <a:latin typeface="Arial"/>
                <a:ea typeface="Arial"/>
                <a:cs typeface="Arial"/>
                <a:sym typeface="Arial"/>
              </a:rPr>
              <a:t>What if you want to prove that “(A and B =&gt; C or D)”?</a:t>
            </a:r>
            <a:endParaRPr/>
          </a:p>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42900" lvl="0" marL="355600" marR="0" rtl="0" algn="l">
              <a:lnSpc>
                <a:spcPct val="100000"/>
              </a:lnSpc>
              <a:spcBef>
                <a:spcPts val="1150"/>
              </a:spcBef>
              <a:spcAft>
                <a:spcPts val="0"/>
              </a:spcAft>
              <a:buClr>
                <a:srgbClr val="3333CC"/>
              </a:buClr>
              <a:buSzPts val="1400"/>
              <a:buFont typeface="Noto Sans Symbols"/>
              <a:buChar char="■"/>
            </a:pPr>
            <a:r>
              <a:rPr lang="en-US" sz="2400">
                <a:solidFill>
                  <a:srgbClr val="C00000"/>
                </a:solidFill>
                <a:latin typeface="Arial"/>
                <a:ea typeface="Arial"/>
                <a:cs typeface="Arial"/>
                <a:sym typeface="Arial"/>
              </a:rPr>
              <a:t>By induction</a:t>
            </a:r>
            <a:endParaRPr sz="2400">
              <a:solidFill>
                <a:schemeClr val="dk1"/>
              </a:solidFill>
              <a:latin typeface="Arial"/>
              <a:ea typeface="Arial"/>
              <a:cs typeface="Arial"/>
              <a:sym typeface="Arial"/>
            </a:endParaRPr>
          </a:p>
          <a:p>
            <a:pPr indent="-286385" lvl="1" marL="756285" marR="0" rtl="0" algn="l">
              <a:lnSpc>
                <a:spcPct val="100000"/>
              </a:lnSpc>
              <a:spcBef>
                <a:spcPts val="260"/>
              </a:spcBef>
              <a:spcAft>
                <a:spcPts val="0"/>
              </a:spcAft>
              <a:buClr>
                <a:srgbClr val="FF0000"/>
              </a:buClr>
              <a:buSzPts val="1200"/>
              <a:buFont typeface="Noto Sans Symbols"/>
              <a:buChar char="■"/>
            </a:pPr>
            <a:r>
              <a:rPr b="0" i="0" lang="en-US" sz="2200" u="none" cap="none" strike="noStrike">
                <a:solidFill>
                  <a:schemeClr val="dk1"/>
                </a:solidFill>
                <a:latin typeface="Arial"/>
                <a:ea typeface="Arial"/>
                <a:cs typeface="Arial"/>
                <a:sym typeface="Arial"/>
              </a:rPr>
              <a:t>(3 steps) Basis, inductive hypothesis, inductive step</a:t>
            </a:r>
            <a:endParaRPr b="0" i="0" sz="2200" u="none" cap="none" strike="noStrike">
              <a:solidFill>
                <a:schemeClr val="dk1"/>
              </a:solidFill>
              <a:latin typeface="Arial"/>
              <a:ea typeface="Arial"/>
              <a:cs typeface="Arial"/>
              <a:sym typeface="Arial"/>
            </a:endParaRPr>
          </a:p>
          <a:p>
            <a:pPr indent="-342900" lvl="0" marL="355600" marR="0" rtl="0" algn="l">
              <a:lnSpc>
                <a:spcPct val="100000"/>
              </a:lnSpc>
              <a:spcBef>
                <a:spcPts val="290"/>
              </a:spcBef>
              <a:spcAft>
                <a:spcPts val="0"/>
              </a:spcAft>
              <a:buClr>
                <a:srgbClr val="3333CC"/>
              </a:buClr>
              <a:buSzPts val="1450"/>
              <a:buFont typeface="Noto Sans Symbols"/>
              <a:buChar char="■"/>
            </a:pPr>
            <a:r>
              <a:rPr lang="en-US" sz="2400">
                <a:solidFill>
                  <a:srgbClr val="C00000"/>
                </a:solidFill>
                <a:latin typeface="Arial"/>
                <a:ea typeface="Arial"/>
                <a:cs typeface="Arial"/>
                <a:sym typeface="Arial"/>
              </a:rPr>
              <a:t>By contrapositive statement</a:t>
            </a:r>
            <a:endParaRPr sz="2400">
              <a:solidFill>
                <a:schemeClr val="dk1"/>
              </a:solidFill>
              <a:latin typeface="Arial"/>
              <a:ea typeface="Arial"/>
              <a:cs typeface="Arial"/>
              <a:sym typeface="Arial"/>
            </a:endParaRPr>
          </a:p>
          <a:p>
            <a:pPr indent="-286385" lvl="1" marL="756285" marR="0" rtl="0" algn="l">
              <a:lnSpc>
                <a:spcPct val="100000"/>
              </a:lnSpc>
              <a:spcBef>
                <a:spcPts val="259"/>
              </a:spcBef>
              <a:spcAft>
                <a:spcPts val="0"/>
              </a:spcAft>
              <a:buClr>
                <a:srgbClr val="FF0000"/>
              </a:buClr>
              <a:buSzPts val="1200"/>
              <a:buFont typeface="Noto Sans Symbols"/>
              <a:buChar char="■"/>
            </a:pPr>
            <a:r>
              <a:rPr b="0" i="0" lang="en-US" sz="2200" u="none" cap="none" strike="noStrike">
                <a:solidFill>
                  <a:schemeClr val="dk1"/>
                </a:solidFill>
                <a:latin typeface="Arial"/>
                <a:ea typeface="Arial"/>
                <a:cs typeface="Arial"/>
                <a:sym typeface="Arial"/>
              </a:rPr>
              <a:t>If </a:t>
            </a:r>
            <a:r>
              <a:rPr b="0" i="1" lang="en-US" sz="2200" u="none" cap="none" strike="noStrike">
                <a:solidFill>
                  <a:schemeClr val="dk1"/>
                </a:solidFill>
                <a:latin typeface="Arial"/>
                <a:ea typeface="Arial"/>
                <a:cs typeface="Arial"/>
                <a:sym typeface="Arial"/>
              </a:rPr>
              <a:t>A </a:t>
            </a:r>
            <a:r>
              <a:rPr b="0" i="0" lang="en-US" sz="2200" u="none" cap="none" strike="noStrike">
                <a:solidFill>
                  <a:schemeClr val="dk1"/>
                </a:solidFill>
                <a:latin typeface="Arial"/>
                <a:ea typeface="Arial"/>
                <a:cs typeface="Arial"/>
                <a:sym typeface="Arial"/>
              </a:rPr>
              <a:t>then </a:t>
            </a:r>
            <a:r>
              <a:rPr b="0" i="1" lang="en-US" sz="2200" u="none" cap="none" strike="noStrike">
                <a:solidFill>
                  <a:schemeClr val="dk1"/>
                </a:solidFill>
                <a:latin typeface="Arial"/>
                <a:ea typeface="Arial"/>
                <a:cs typeface="Arial"/>
                <a:sym typeface="Arial"/>
              </a:rPr>
              <a:t>B	</a:t>
            </a:r>
            <a:r>
              <a:rPr b="0" i="0" lang="en-US" sz="2200" u="none" cap="none" strike="noStrike">
                <a:solidFill>
                  <a:schemeClr val="dk1"/>
                </a:solidFill>
                <a:latin typeface="Arial"/>
                <a:ea typeface="Arial"/>
                <a:cs typeface="Arial"/>
                <a:sym typeface="Arial"/>
              </a:rPr>
              <a:t>≡	If </a:t>
            </a:r>
            <a:r>
              <a:rPr b="0" i="1" lang="en-US" sz="2200" u="none" cap="none" strike="noStrike">
                <a:solidFill>
                  <a:schemeClr val="dk1"/>
                </a:solidFill>
                <a:latin typeface="Arial"/>
                <a:ea typeface="Arial"/>
                <a:cs typeface="Arial"/>
                <a:sym typeface="Arial"/>
              </a:rPr>
              <a:t>~B </a:t>
            </a:r>
            <a:r>
              <a:rPr b="0" i="0" lang="en-US" sz="2200" u="none" cap="none" strike="noStrike">
                <a:solidFill>
                  <a:schemeClr val="dk1"/>
                </a:solidFill>
                <a:latin typeface="Arial"/>
                <a:ea typeface="Arial"/>
                <a:cs typeface="Arial"/>
                <a:sym typeface="Arial"/>
              </a:rPr>
              <a:t>then </a:t>
            </a:r>
            <a:r>
              <a:rPr b="0" i="1" lang="en-US" sz="2200" u="none" cap="none" strike="noStrike">
                <a:solidFill>
                  <a:schemeClr val="dk1"/>
                </a:solidFill>
                <a:latin typeface="Arial"/>
                <a:ea typeface="Arial"/>
                <a:cs typeface="Arial"/>
                <a:sym typeface="Arial"/>
              </a:rPr>
              <a:t>~A</a:t>
            </a:r>
            <a:endParaRPr b="0" i="0" sz="2200" u="none" cap="none" strike="noStrike">
              <a:solidFill>
                <a:schemeClr val="dk1"/>
              </a:solidFill>
              <a:latin typeface="Arial"/>
              <a:ea typeface="Arial"/>
              <a:cs typeface="Arial"/>
              <a:sym typeface="Arial"/>
            </a:endParaRPr>
          </a:p>
        </p:txBody>
      </p:sp>
      <p:sp>
        <p:nvSpPr>
          <p:cNvPr id="266" name="Google Shape;266;p1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txBox="1"/>
          <p:nvPr>
            <p:ph type="title"/>
          </p:nvPr>
        </p:nvSpPr>
        <p:spPr>
          <a:xfrm>
            <a:off x="381000" y="152400"/>
            <a:ext cx="8229600" cy="916375"/>
          </a:xfrm>
          <a:prstGeom prst="rect">
            <a:avLst/>
          </a:prstGeom>
          <a:noFill/>
          <a:ln>
            <a:noFill/>
          </a:ln>
        </p:spPr>
        <p:txBody>
          <a:bodyPr anchorCtr="0" anchor="b" bIns="0" lIns="0" spcFirstLastPara="1" rIns="0" wrap="square" tIns="0">
            <a:spAutoFit/>
          </a:bodyPr>
          <a:lstStyle/>
          <a:p>
            <a:pPr indent="0" lvl="0" marL="192405" rtl="0" algn="ctr">
              <a:lnSpc>
                <a:spcPct val="100000"/>
              </a:lnSpc>
              <a:spcBef>
                <a:spcPts val="0"/>
              </a:spcBef>
              <a:spcAft>
                <a:spcPts val="0"/>
              </a:spcAft>
              <a:buClr>
                <a:srgbClr val="3F3F3F"/>
              </a:buClr>
              <a:buSzPts val="4800"/>
              <a:buFont typeface="Calibri"/>
              <a:buNone/>
            </a:pPr>
            <a:r>
              <a:rPr lang="en-US"/>
              <a:t>Proving techniques…</a:t>
            </a:r>
            <a:endParaRPr/>
          </a:p>
        </p:txBody>
      </p:sp>
      <p:sp>
        <p:nvSpPr>
          <p:cNvPr id="272" name="Google Shape;272;p15"/>
          <p:cNvSpPr txBox="1"/>
          <p:nvPr/>
        </p:nvSpPr>
        <p:spPr>
          <a:xfrm>
            <a:off x="1064959" y="1600200"/>
            <a:ext cx="7430134" cy="264350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rgbClr val="3333CC"/>
              </a:buClr>
              <a:buSzPts val="1400"/>
              <a:buFont typeface="Noto Sans Symbols"/>
              <a:buChar char="■"/>
            </a:pPr>
            <a:r>
              <a:rPr lang="en-US" sz="2400">
                <a:solidFill>
                  <a:srgbClr val="C00000"/>
                </a:solidFill>
                <a:latin typeface="Arial"/>
                <a:ea typeface="Arial"/>
                <a:cs typeface="Arial"/>
                <a:sym typeface="Arial"/>
              </a:rPr>
              <a:t>By counter-example</a:t>
            </a:r>
            <a:endParaRPr sz="2400">
              <a:solidFill>
                <a:schemeClr val="dk1"/>
              </a:solidFill>
              <a:latin typeface="Arial"/>
              <a:ea typeface="Arial"/>
              <a:cs typeface="Arial"/>
              <a:sym typeface="Arial"/>
            </a:endParaRPr>
          </a:p>
          <a:p>
            <a:pPr indent="-286385" lvl="1" marL="756285" marR="0" rtl="0" algn="l">
              <a:lnSpc>
                <a:spcPct val="100000"/>
              </a:lnSpc>
              <a:spcBef>
                <a:spcPts val="285"/>
              </a:spcBef>
              <a:spcAft>
                <a:spcPts val="0"/>
              </a:spcAft>
              <a:buClr>
                <a:srgbClr val="FF0000"/>
              </a:buClr>
              <a:buSzPts val="1300"/>
              <a:buFont typeface="Noto Sans Symbols"/>
              <a:buChar char="■"/>
            </a:pPr>
            <a:r>
              <a:rPr b="0" i="0" lang="en-US" sz="2400" u="none" cap="none" strike="noStrike">
                <a:solidFill>
                  <a:srgbClr val="161616"/>
                </a:solidFill>
                <a:latin typeface="Arial"/>
                <a:ea typeface="Arial"/>
                <a:cs typeface="Arial"/>
                <a:sym typeface="Arial"/>
              </a:rPr>
              <a:t>Show an example that disproves the claim</a:t>
            </a:r>
            <a:endParaRPr b="0" i="0" sz="2400" u="none" cap="none" strike="noStrike">
              <a:solidFill>
                <a:schemeClr val="dk1"/>
              </a:solidFill>
              <a:latin typeface="Arial"/>
              <a:ea typeface="Arial"/>
              <a:cs typeface="Arial"/>
              <a:sym typeface="Arial"/>
            </a:endParaRPr>
          </a:p>
          <a:p>
            <a:pPr indent="0" lvl="1" marL="457200" marR="0" rtl="0" algn="l">
              <a:lnSpc>
                <a:spcPct val="100000"/>
              </a:lnSpc>
              <a:spcBef>
                <a:spcPts val="46"/>
              </a:spcBef>
              <a:spcAft>
                <a:spcPts val="0"/>
              </a:spcAft>
              <a:buClr>
                <a:srgbClr val="FF0000"/>
              </a:buClr>
              <a:buSzPts val="3250"/>
              <a:buFont typeface="Noto Sans Symbols"/>
              <a:buNone/>
            </a:pPr>
            <a:r>
              <a:t/>
            </a:r>
            <a:endParaRPr b="0" i="0" sz="3250" u="none" cap="none" strike="noStrike">
              <a:solidFill>
                <a:schemeClr val="dk1"/>
              </a:solidFill>
              <a:latin typeface="Times New Roman"/>
              <a:ea typeface="Times New Roman"/>
              <a:cs typeface="Times New Roman"/>
              <a:sym typeface="Times New Roman"/>
            </a:endParaRPr>
          </a:p>
          <a:p>
            <a:pPr indent="-342900" lvl="0" marL="355600" marR="2118995" rtl="0" algn="l">
              <a:lnSpc>
                <a:spcPct val="107916"/>
              </a:lnSpc>
              <a:spcBef>
                <a:spcPts val="0"/>
              </a:spcBef>
              <a:spcAft>
                <a:spcPts val="0"/>
              </a:spcAft>
              <a:buClr>
                <a:srgbClr val="3333CC"/>
              </a:buClr>
              <a:buSzPts val="1450"/>
              <a:buFont typeface="Noto Sans Symbols"/>
              <a:buChar char="■"/>
            </a:pPr>
            <a:r>
              <a:rPr lang="en-US" sz="2400">
                <a:solidFill>
                  <a:srgbClr val="C00000"/>
                </a:solidFill>
                <a:latin typeface="Arial"/>
                <a:ea typeface="Arial"/>
                <a:cs typeface="Arial"/>
                <a:sym typeface="Arial"/>
              </a:rPr>
              <a:t>Note: There is no such thing called a “proof by example”!</a:t>
            </a:r>
            <a:endParaRPr sz="2400">
              <a:solidFill>
                <a:schemeClr val="dk1"/>
              </a:solidFill>
              <a:latin typeface="Arial"/>
              <a:ea typeface="Arial"/>
              <a:cs typeface="Arial"/>
              <a:sym typeface="Arial"/>
            </a:endParaRPr>
          </a:p>
          <a:p>
            <a:pPr indent="-286385" lvl="1" marL="756285" marR="5080" rtl="0" algn="l">
              <a:lnSpc>
                <a:spcPct val="107916"/>
              </a:lnSpc>
              <a:spcBef>
                <a:spcPts val="575"/>
              </a:spcBef>
              <a:spcAft>
                <a:spcPts val="0"/>
              </a:spcAft>
              <a:buClr>
                <a:srgbClr val="FF0000"/>
              </a:buClr>
              <a:buSzPts val="1300"/>
              <a:buFont typeface="Noto Sans Symbols"/>
              <a:buChar char="■"/>
            </a:pPr>
            <a:r>
              <a:rPr b="0" i="0" lang="en-US" sz="2400" u="none" cap="none" strike="noStrike">
                <a:solidFill>
                  <a:srgbClr val="161616"/>
                </a:solidFill>
                <a:latin typeface="Arial"/>
                <a:ea typeface="Arial"/>
                <a:cs typeface="Arial"/>
                <a:sym typeface="Arial"/>
              </a:rPr>
              <a:t>So when asked to prove a claim, an example that satisfied that claim is </a:t>
            </a:r>
            <a:r>
              <a:rPr b="0" i="1" lang="en-US" sz="2400" u="none" cap="none" strike="noStrike">
                <a:solidFill>
                  <a:srgbClr val="161616"/>
                </a:solidFill>
                <a:latin typeface="Arial"/>
                <a:ea typeface="Arial"/>
                <a:cs typeface="Arial"/>
                <a:sym typeface="Arial"/>
              </a:rPr>
              <a:t>not </a:t>
            </a:r>
            <a:r>
              <a:rPr b="0" i="0" lang="en-US" sz="2400" u="none" cap="none" strike="noStrike">
                <a:solidFill>
                  <a:srgbClr val="161616"/>
                </a:solidFill>
                <a:latin typeface="Arial"/>
                <a:ea typeface="Arial"/>
                <a:cs typeface="Arial"/>
                <a:sym typeface="Arial"/>
              </a:rPr>
              <a:t>a proof</a:t>
            </a:r>
            <a:endParaRPr b="0" i="0" sz="2400" u="none" cap="none" strike="noStrike">
              <a:solidFill>
                <a:schemeClr val="dk1"/>
              </a:solidFill>
              <a:latin typeface="Arial"/>
              <a:ea typeface="Arial"/>
              <a:cs typeface="Arial"/>
              <a:sym typeface="Arial"/>
            </a:endParaRPr>
          </a:p>
        </p:txBody>
      </p:sp>
      <p:sp>
        <p:nvSpPr>
          <p:cNvPr id="273" name="Google Shape;273;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478790" y="453222"/>
            <a:ext cx="8229600" cy="615553"/>
          </a:xfrm>
          <a:prstGeom prst="rect">
            <a:avLst/>
          </a:prstGeom>
          <a:noFill/>
          <a:ln>
            <a:noFill/>
          </a:ln>
        </p:spPr>
        <p:txBody>
          <a:bodyPr anchorCtr="0" anchor="b" bIns="0" lIns="0" spcFirstLastPara="1" rIns="0" wrap="square" tIns="0">
            <a:spAutoFit/>
          </a:bodyPr>
          <a:lstStyle/>
          <a:p>
            <a:pPr indent="0" lvl="0" marL="184150" rtl="0" algn="ctr">
              <a:lnSpc>
                <a:spcPct val="100000"/>
              </a:lnSpc>
              <a:spcBef>
                <a:spcPts val="0"/>
              </a:spcBef>
              <a:spcAft>
                <a:spcPts val="0"/>
              </a:spcAft>
              <a:buClr>
                <a:srgbClr val="3F3F3F"/>
              </a:buClr>
              <a:buSzPts val="4000"/>
              <a:buFont typeface="Arial"/>
              <a:buNone/>
            </a:pPr>
            <a:r>
              <a:rPr i="1" lang="en-US" sz="4000">
                <a:latin typeface="Arial"/>
                <a:ea typeface="Arial"/>
                <a:cs typeface="Arial"/>
                <a:sym typeface="Arial"/>
              </a:rPr>
              <a:t>“If-and-Only-If” </a:t>
            </a:r>
            <a:r>
              <a:rPr lang="en-US" sz="4000"/>
              <a:t>statements</a:t>
            </a:r>
            <a:endParaRPr/>
          </a:p>
        </p:txBody>
      </p:sp>
      <p:sp>
        <p:nvSpPr>
          <p:cNvPr id="279" name="Google Shape;279;p16"/>
          <p:cNvSpPr txBox="1"/>
          <p:nvPr/>
        </p:nvSpPr>
        <p:spPr>
          <a:xfrm>
            <a:off x="1371600" y="1447800"/>
            <a:ext cx="3221990" cy="65402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rgbClr val="3333CC"/>
              </a:buClr>
              <a:buSzPts val="1179"/>
              <a:buFont typeface="Noto Sans Symbols"/>
              <a:buChar char="■"/>
            </a:pPr>
            <a:r>
              <a:rPr lang="en-US" sz="2000">
                <a:solidFill>
                  <a:schemeClr val="dk1"/>
                </a:solidFill>
                <a:latin typeface="Arial"/>
                <a:ea typeface="Arial"/>
                <a:cs typeface="Arial"/>
                <a:sym typeface="Arial"/>
              </a:rPr>
              <a:t>“A if and only if B”</a:t>
            </a:r>
            <a:endParaRPr sz="2000">
              <a:solidFill>
                <a:schemeClr val="dk1"/>
              </a:solidFill>
              <a:latin typeface="Arial"/>
              <a:ea typeface="Arial"/>
              <a:cs typeface="Arial"/>
              <a:sym typeface="Arial"/>
            </a:endParaRPr>
          </a:p>
          <a:p>
            <a:pPr indent="-286385" lvl="1" marL="756285" marR="0" rtl="0" algn="l">
              <a:lnSpc>
                <a:spcPct val="100000"/>
              </a:lnSpc>
              <a:spcBef>
                <a:spcPts val="300"/>
              </a:spcBef>
              <a:spcAft>
                <a:spcPts val="0"/>
              </a:spcAft>
              <a:buClr>
                <a:srgbClr val="FF0000"/>
              </a:buClr>
              <a:buSzPts val="1083"/>
              <a:buFont typeface="Noto Sans Symbols"/>
              <a:buChar char="■"/>
            </a:pPr>
            <a:r>
              <a:rPr b="0" i="1" lang="en-US" sz="2000" u="none" cap="none" strike="noStrike">
                <a:solidFill>
                  <a:schemeClr val="dk1"/>
                </a:solidFill>
                <a:latin typeface="Arial"/>
                <a:ea typeface="Arial"/>
                <a:cs typeface="Arial"/>
                <a:sym typeface="Arial"/>
              </a:rPr>
              <a:t>(if part) </a:t>
            </a:r>
            <a:r>
              <a:rPr b="0" i="0" lang="en-US" sz="2000" u="none" cap="none" strike="noStrike">
                <a:solidFill>
                  <a:schemeClr val="dk1"/>
                </a:solidFill>
                <a:latin typeface="Arial"/>
                <a:ea typeface="Arial"/>
                <a:cs typeface="Arial"/>
                <a:sym typeface="Arial"/>
              </a:rPr>
              <a:t>if B then A</a:t>
            </a:r>
            <a:endParaRPr/>
          </a:p>
        </p:txBody>
      </p:sp>
      <p:sp>
        <p:nvSpPr>
          <p:cNvPr id="280" name="Google Shape;280;p16"/>
          <p:cNvSpPr txBox="1"/>
          <p:nvPr/>
        </p:nvSpPr>
        <p:spPr>
          <a:xfrm>
            <a:off x="5029200" y="1447800"/>
            <a:ext cx="1762760" cy="65402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(A &lt;==&gt; B)</a:t>
            </a:r>
            <a:endParaRPr sz="2000">
              <a:solidFill>
                <a:schemeClr val="dk1"/>
              </a:solidFill>
              <a:latin typeface="Arial"/>
              <a:ea typeface="Arial"/>
              <a:cs typeface="Arial"/>
              <a:sym typeface="Arial"/>
            </a:endParaRPr>
          </a:p>
          <a:p>
            <a:pPr indent="0" lvl="0" marL="12700" marR="0" rtl="0" algn="l">
              <a:lnSpc>
                <a:spcPct val="100000"/>
              </a:lnSpc>
              <a:spcBef>
                <a:spcPts val="300"/>
              </a:spcBef>
              <a:spcAft>
                <a:spcPts val="0"/>
              </a:spcAft>
              <a:buNone/>
            </a:pPr>
            <a:r>
              <a:rPr lang="en-US" sz="2000">
                <a:solidFill>
                  <a:schemeClr val="dk1"/>
                </a:solidFill>
                <a:latin typeface="Arial"/>
                <a:ea typeface="Arial"/>
                <a:cs typeface="Arial"/>
                <a:sym typeface="Arial"/>
              </a:rPr>
              <a:t>( &lt;= )</a:t>
            </a:r>
            <a:endParaRPr/>
          </a:p>
        </p:txBody>
      </p:sp>
      <p:sp>
        <p:nvSpPr>
          <p:cNvPr id="281" name="Google Shape;281;p16"/>
          <p:cNvSpPr txBox="1"/>
          <p:nvPr/>
        </p:nvSpPr>
        <p:spPr>
          <a:xfrm>
            <a:off x="1371600" y="2288540"/>
            <a:ext cx="7585709" cy="3167534"/>
          </a:xfrm>
          <a:prstGeom prst="rect">
            <a:avLst/>
          </a:prstGeom>
          <a:noFill/>
          <a:ln>
            <a:noFill/>
          </a:ln>
        </p:spPr>
        <p:txBody>
          <a:bodyPr anchorCtr="0" anchor="t" bIns="0" lIns="0" spcFirstLastPara="1" rIns="0" wrap="square" tIns="0">
            <a:spAutoFit/>
          </a:bodyPr>
          <a:lstStyle/>
          <a:p>
            <a:pPr indent="-286385" lvl="0" marL="756285" marR="0" rtl="0" algn="l">
              <a:lnSpc>
                <a:spcPct val="136750"/>
              </a:lnSpc>
              <a:spcBef>
                <a:spcPts val="0"/>
              </a:spcBef>
              <a:spcAft>
                <a:spcPts val="0"/>
              </a:spcAft>
              <a:buClr>
                <a:srgbClr val="FF0000"/>
              </a:buClr>
              <a:buSzPts val="1083"/>
              <a:buFont typeface="Noto Sans Symbols"/>
              <a:buChar char="■"/>
            </a:pPr>
            <a:r>
              <a:rPr i="1" lang="en-US" sz="2000">
                <a:solidFill>
                  <a:schemeClr val="dk1"/>
                </a:solidFill>
                <a:latin typeface="Arial"/>
                <a:ea typeface="Arial"/>
                <a:cs typeface="Arial"/>
                <a:sym typeface="Arial"/>
              </a:rPr>
              <a:t>(only if part) </a:t>
            </a:r>
            <a:r>
              <a:rPr lang="en-US" sz="2000">
                <a:solidFill>
                  <a:schemeClr val="dk1"/>
                </a:solidFill>
                <a:latin typeface="Arial"/>
                <a:ea typeface="Arial"/>
                <a:cs typeface="Arial"/>
                <a:sym typeface="Arial"/>
              </a:rPr>
              <a:t>A only if B	( =&gt; )</a:t>
            </a:r>
            <a:endParaRPr/>
          </a:p>
          <a:p>
            <a:pPr indent="0" lvl="0" marL="2755900" marR="0" rtl="0" algn="l">
              <a:lnSpc>
                <a:spcPct val="136750"/>
              </a:lnSpc>
              <a:spcBef>
                <a:spcPts val="0"/>
              </a:spcBef>
              <a:spcAft>
                <a:spcPts val="0"/>
              </a:spcAft>
              <a:buNone/>
            </a:pPr>
            <a:r>
              <a:rPr lang="en-US" sz="2000">
                <a:solidFill>
                  <a:schemeClr val="dk1"/>
                </a:solidFill>
                <a:latin typeface="Arial"/>
                <a:ea typeface="Arial"/>
                <a:cs typeface="Arial"/>
                <a:sym typeface="Arial"/>
              </a:rPr>
              <a:t>(same as “if A then B”)</a:t>
            </a:r>
            <a:endParaRPr/>
          </a:p>
          <a:p>
            <a:pPr indent="-342900" lvl="0" marL="355600" marR="0" rtl="0" algn="l">
              <a:lnSpc>
                <a:spcPct val="100000"/>
              </a:lnSpc>
              <a:spcBef>
                <a:spcPts val="320"/>
              </a:spcBef>
              <a:spcAft>
                <a:spcPts val="0"/>
              </a:spcAft>
              <a:buClr>
                <a:srgbClr val="3333CC"/>
              </a:buClr>
              <a:buSzPts val="1179"/>
              <a:buFont typeface="Noto Sans Symbols"/>
              <a:buChar char="■"/>
            </a:pPr>
            <a:r>
              <a:rPr lang="en-US" sz="2000">
                <a:solidFill>
                  <a:schemeClr val="dk1"/>
                </a:solidFill>
                <a:latin typeface="Arial"/>
                <a:ea typeface="Arial"/>
                <a:cs typeface="Arial"/>
                <a:sym typeface="Arial"/>
              </a:rPr>
              <a:t>“If and only if” is abbreviated as “iff”</a:t>
            </a:r>
            <a:endParaRPr sz="2000">
              <a:solidFill>
                <a:schemeClr val="dk1"/>
              </a:solidFill>
              <a:latin typeface="Arial"/>
              <a:ea typeface="Arial"/>
              <a:cs typeface="Arial"/>
              <a:sym typeface="Arial"/>
            </a:endParaRPr>
          </a:p>
          <a:p>
            <a:pPr indent="-286385" lvl="1" marL="756285" marR="0" rtl="0" algn="l">
              <a:lnSpc>
                <a:spcPct val="100000"/>
              </a:lnSpc>
              <a:spcBef>
                <a:spcPts val="300"/>
              </a:spcBef>
              <a:spcAft>
                <a:spcPts val="0"/>
              </a:spcAft>
              <a:buClr>
                <a:srgbClr val="FF0000"/>
              </a:buClr>
              <a:buSzPts val="1083"/>
              <a:buFont typeface="Noto Sans Symbols"/>
              <a:buChar char="■"/>
            </a:pPr>
            <a:r>
              <a:rPr b="0" i="0" lang="en-US" sz="2000" u="none" cap="none" strike="noStrike">
                <a:solidFill>
                  <a:schemeClr val="dk1"/>
                </a:solidFill>
                <a:latin typeface="Arial"/>
                <a:ea typeface="Arial"/>
                <a:cs typeface="Arial"/>
                <a:sym typeface="Arial"/>
              </a:rPr>
              <a:t>i.e., “A iff B”</a:t>
            </a:r>
            <a:endParaRPr/>
          </a:p>
          <a:p>
            <a:pPr indent="-440055" lvl="0" marL="452755" marR="0" rtl="0" algn="l">
              <a:lnSpc>
                <a:spcPct val="100000"/>
              </a:lnSpc>
              <a:spcBef>
                <a:spcPts val="320"/>
              </a:spcBef>
              <a:spcAft>
                <a:spcPts val="0"/>
              </a:spcAft>
              <a:buClr>
                <a:srgbClr val="3333CC"/>
              </a:buClr>
              <a:buSzPts val="1179"/>
              <a:buFont typeface="Noto Sans Symbols"/>
              <a:buChar char="■"/>
            </a:pPr>
            <a:r>
              <a:rPr lang="en-US" sz="2000" u="sng">
                <a:solidFill>
                  <a:schemeClr val="dk1"/>
                </a:solidFill>
                <a:latin typeface="Arial"/>
                <a:ea typeface="Arial"/>
                <a:cs typeface="Arial"/>
                <a:sym typeface="Arial"/>
              </a:rPr>
              <a:t>Example:</a:t>
            </a:r>
            <a:endParaRPr sz="2000">
              <a:solidFill>
                <a:schemeClr val="dk1"/>
              </a:solidFill>
              <a:latin typeface="Arial"/>
              <a:ea typeface="Arial"/>
              <a:cs typeface="Arial"/>
              <a:sym typeface="Arial"/>
            </a:endParaRPr>
          </a:p>
          <a:p>
            <a:pPr indent="-286385" lvl="1" marL="756285" marR="5080" rtl="0" algn="l">
              <a:lnSpc>
                <a:spcPct val="129500"/>
              </a:lnSpc>
              <a:spcBef>
                <a:spcPts val="630"/>
              </a:spcBef>
              <a:spcAft>
                <a:spcPts val="0"/>
              </a:spcAft>
              <a:buClr>
                <a:srgbClr val="FF0000"/>
              </a:buClr>
              <a:buSzPts val="1083"/>
              <a:buFont typeface="Noto Sans Symbols"/>
              <a:buChar char="■"/>
            </a:pPr>
            <a:r>
              <a:rPr b="0" i="0" lang="en-US" sz="2000" u="sng" cap="none" strike="noStrike">
                <a:solidFill>
                  <a:schemeClr val="dk1"/>
                </a:solidFill>
                <a:latin typeface="Arial"/>
                <a:ea typeface="Arial"/>
                <a:cs typeface="Arial"/>
                <a:sym typeface="Arial"/>
              </a:rPr>
              <a:t>Theorem:</a:t>
            </a:r>
            <a:r>
              <a:rPr b="0" i="0" lang="en-US" sz="2000" u="none" cap="none" strike="noStrike">
                <a:solidFill>
                  <a:schemeClr val="dk1"/>
                </a:solidFill>
                <a:latin typeface="Arial"/>
                <a:ea typeface="Arial"/>
                <a:cs typeface="Arial"/>
                <a:sym typeface="Arial"/>
              </a:rPr>
              <a:t> </a:t>
            </a:r>
            <a:r>
              <a:rPr b="0" i="1" lang="en-US" sz="2000" u="none" cap="none" strike="noStrike">
                <a:solidFill>
                  <a:srgbClr val="FF0000"/>
                </a:solidFill>
                <a:latin typeface="Arial"/>
                <a:ea typeface="Arial"/>
                <a:cs typeface="Arial"/>
                <a:sym typeface="Arial"/>
              </a:rPr>
              <a:t>Let x be a real number. Then floor of x = ceiling of x </a:t>
            </a:r>
            <a:r>
              <a:rPr b="0" i="1" lang="en-US" sz="2000" u="sng" cap="none" strike="noStrike">
                <a:solidFill>
                  <a:srgbClr val="FF0000"/>
                </a:solidFill>
                <a:latin typeface="Arial"/>
                <a:ea typeface="Arial"/>
                <a:cs typeface="Arial"/>
                <a:sym typeface="Arial"/>
              </a:rPr>
              <a:t>if and only if</a:t>
            </a:r>
            <a:r>
              <a:rPr b="0" i="1" lang="en-US" sz="2000" u="none" cap="none" strike="noStrike">
                <a:solidFill>
                  <a:srgbClr val="FF0000"/>
                </a:solidFill>
                <a:latin typeface="Arial"/>
                <a:ea typeface="Arial"/>
                <a:cs typeface="Arial"/>
                <a:sym typeface="Arial"/>
              </a:rPr>
              <a:t> x is an integer.</a:t>
            </a:r>
            <a:endParaRPr b="0" i="0" sz="2000" u="none" cap="none" strike="noStrike">
              <a:solidFill>
                <a:schemeClr val="dk1"/>
              </a:solidFill>
              <a:latin typeface="Arial"/>
              <a:ea typeface="Arial"/>
              <a:cs typeface="Arial"/>
              <a:sym typeface="Arial"/>
            </a:endParaRPr>
          </a:p>
          <a:p>
            <a:pPr indent="-342900" lvl="0" marL="355600" marR="0" rtl="0" algn="l">
              <a:lnSpc>
                <a:spcPct val="100000"/>
              </a:lnSpc>
              <a:spcBef>
                <a:spcPts val="280"/>
              </a:spcBef>
              <a:spcAft>
                <a:spcPts val="0"/>
              </a:spcAft>
              <a:buClr>
                <a:srgbClr val="3333CC"/>
              </a:buClr>
              <a:buSzPts val="1179"/>
              <a:buFont typeface="Noto Sans Symbols"/>
              <a:buChar char="■"/>
            </a:pPr>
            <a:r>
              <a:rPr lang="en-US" sz="2000">
                <a:solidFill>
                  <a:schemeClr val="dk1"/>
                </a:solidFill>
                <a:latin typeface="Arial"/>
                <a:ea typeface="Arial"/>
                <a:cs typeface="Arial"/>
                <a:sym typeface="Arial"/>
              </a:rPr>
              <a:t>Proofs for iff have two parts</a:t>
            </a:r>
            <a:endParaRPr sz="2000">
              <a:solidFill>
                <a:schemeClr val="dk1"/>
              </a:solidFill>
              <a:latin typeface="Arial"/>
              <a:ea typeface="Arial"/>
              <a:cs typeface="Arial"/>
              <a:sym typeface="Arial"/>
            </a:endParaRPr>
          </a:p>
          <a:p>
            <a:pPr indent="-286385" lvl="1" marL="756285" marR="0" rtl="0" algn="l">
              <a:lnSpc>
                <a:spcPct val="100000"/>
              </a:lnSpc>
              <a:spcBef>
                <a:spcPts val="305"/>
              </a:spcBef>
              <a:spcAft>
                <a:spcPts val="0"/>
              </a:spcAft>
              <a:buClr>
                <a:srgbClr val="FF0000"/>
              </a:buClr>
              <a:buSzPts val="1083"/>
              <a:buFont typeface="Noto Sans Symbols"/>
              <a:buChar char="■"/>
            </a:pPr>
            <a:r>
              <a:rPr b="0" i="0" lang="en-US" sz="2000" u="none" cap="none" strike="noStrike">
                <a:solidFill>
                  <a:schemeClr val="dk1"/>
                </a:solidFill>
                <a:latin typeface="Arial"/>
                <a:ea typeface="Arial"/>
                <a:cs typeface="Arial"/>
                <a:sym typeface="Arial"/>
              </a:rPr>
              <a:t>One for the “if part” &amp; another for the “only if part”</a:t>
            </a:r>
            <a:endParaRPr/>
          </a:p>
        </p:txBody>
      </p:sp>
      <p:sp>
        <p:nvSpPr>
          <p:cNvPr id="282" name="Google Shape;282;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7"/>
          <p:cNvSpPr txBox="1"/>
          <p:nvPr>
            <p:ph type="ctrTitle"/>
          </p:nvPr>
        </p:nvSpPr>
        <p:spPr>
          <a:xfrm>
            <a:off x="928036" y="2895600"/>
            <a:ext cx="7543800" cy="127711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262626"/>
              </a:buClr>
              <a:buSzPct val="100000"/>
              <a:buFont typeface="Tahoma"/>
              <a:buNone/>
            </a:pPr>
            <a:br>
              <a:rPr b="1" lang="en-US" sz="4400">
                <a:latin typeface="Tahoma"/>
                <a:ea typeface="Tahoma"/>
                <a:cs typeface="Tahoma"/>
                <a:sym typeface="Tahoma"/>
              </a:rPr>
            </a:br>
            <a:r>
              <a:rPr b="1" lang="en-US" sz="4400">
                <a:latin typeface="Tahoma"/>
                <a:ea typeface="Tahoma"/>
                <a:cs typeface="Tahoma"/>
                <a:sym typeface="Tahoma"/>
              </a:rPr>
              <a:t>Preliminaries</a:t>
            </a:r>
            <a:br>
              <a:rPr b="1" lang="en-US" sz="4400">
                <a:latin typeface="Tahoma"/>
                <a:ea typeface="Tahoma"/>
                <a:cs typeface="Tahoma"/>
                <a:sym typeface="Tahoma"/>
              </a:rPr>
            </a:br>
            <a:endParaRPr b="1" sz="4400">
              <a:latin typeface="Tahoma"/>
              <a:ea typeface="Tahoma"/>
              <a:cs typeface="Tahoma"/>
              <a:sym typeface="Tahoma"/>
            </a:endParaRPr>
          </a:p>
        </p:txBody>
      </p:sp>
      <p:sp>
        <p:nvSpPr>
          <p:cNvPr id="288" name="Google Shape;288;p17"/>
          <p:cNvSpPr/>
          <p:nvPr/>
        </p:nvSpPr>
        <p:spPr>
          <a:xfrm>
            <a:off x="0" y="-12834"/>
            <a:ext cx="9144000" cy="457200"/>
          </a:xfrm>
          <a:prstGeom prst="rect">
            <a:avLst/>
          </a:prstGeom>
          <a:gradFill>
            <a:gsLst>
              <a:gs pos="0">
                <a:srgbClr val="33BDFE"/>
              </a:gs>
              <a:gs pos="34000">
                <a:srgbClr val="38BEFC"/>
              </a:gs>
              <a:gs pos="70000">
                <a:srgbClr val="35C1FF"/>
              </a:gs>
              <a:gs pos="100000">
                <a:srgbClr val="48C6FF"/>
              </a:gs>
            </a:gsLst>
            <a:path path="circle">
              <a:fillToRect b="50%" l="50%" r="50%" t="50%"/>
            </a:path>
            <a:tileRect/>
          </a:gradFill>
          <a:ln cap="flat" cmpd="sng" w="127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lang="en-US" sz="4000"/>
              <a:t>Central Concepts of Automata Theory</a:t>
            </a:r>
            <a:endParaRPr/>
          </a:p>
        </p:txBody>
      </p:sp>
      <p:sp>
        <p:nvSpPr>
          <p:cNvPr id="294" name="Google Shape;294;p18"/>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0" lvl="0" marL="91440" rtl="0" algn="l">
              <a:lnSpc>
                <a:spcPct val="20000"/>
              </a:lnSpc>
              <a:spcBef>
                <a:spcPts val="0"/>
              </a:spcBef>
              <a:spcAft>
                <a:spcPts val="0"/>
              </a:spcAft>
              <a:buSzPts val="2400"/>
              <a:buNone/>
            </a:pPr>
            <a:r>
              <a:t/>
            </a:r>
            <a:endParaRPr/>
          </a:p>
          <a:p>
            <a:pPr indent="-182880" lvl="1" marL="384048" rtl="0" algn="l">
              <a:lnSpc>
                <a:spcPct val="120000"/>
              </a:lnSpc>
              <a:spcBef>
                <a:spcPts val="400"/>
              </a:spcBef>
              <a:spcAft>
                <a:spcPts val="0"/>
              </a:spcAft>
              <a:buSzPts val="2000"/>
              <a:buChar char="▪"/>
            </a:pPr>
            <a:r>
              <a:rPr lang="en-US">
                <a:solidFill>
                  <a:srgbClr val="FF0000"/>
                </a:solidFill>
                <a:latin typeface="Tahoma"/>
                <a:ea typeface="Tahoma"/>
                <a:cs typeface="Tahoma"/>
                <a:sym typeface="Tahoma"/>
              </a:rPr>
              <a:t>Symbols ---- </a:t>
            </a:r>
            <a:r>
              <a:rPr lang="en-US">
                <a:solidFill>
                  <a:schemeClr val="dk1"/>
                </a:solidFill>
                <a:latin typeface="Tahoma"/>
                <a:ea typeface="Tahoma"/>
                <a:cs typeface="Tahoma"/>
                <a:sym typeface="Tahoma"/>
              </a:rPr>
              <a:t>a, b, 0, 1,2 etc</a:t>
            </a:r>
            <a:endParaRPr/>
          </a:p>
          <a:p>
            <a:pPr indent="-182880" lvl="1" marL="384048" rtl="0" algn="l">
              <a:lnSpc>
                <a:spcPct val="120000"/>
              </a:lnSpc>
              <a:spcBef>
                <a:spcPts val="600"/>
              </a:spcBef>
              <a:spcAft>
                <a:spcPts val="0"/>
              </a:spcAft>
              <a:buSzPts val="2000"/>
              <a:buChar char="▪"/>
            </a:pPr>
            <a:r>
              <a:rPr lang="en-US">
                <a:solidFill>
                  <a:srgbClr val="FF0000"/>
                </a:solidFill>
                <a:latin typeface="Tahoma"/>
                <a:ea typeface="Tahoma"/>
                <a:cs typeface="Tahoma"/>
                <a:sym typeface="Tahoma"/>
              </a:rPr>
              <a:t>Alphabet</a:t>
            </a:r>
            <a:r>
              <a:rPr lang="en-US">
                <a:solidFill>
                  <a:srgbClr val="FFFF66"/>
                </a:solidFill>
                <a:latin typeface="Tahoma"/>
                <a:ea typeface="Tahoma"/>
                <a:cs typeface="Tahoma"/>
                <a:sym typeface="Tahoma"/>
              </a:rPr>
              <a:t> </a:t>
            </a:r>
            <a:r>
              <a:rPr lang="en-US">
                <a:latin typeface="Tahoma"/>
                <a:ea typeface="Tahoma"/>
                <a:cs typeface="Tahoma"/>
                <a:sym typeface="Tahoma"/>
              </a:rPr>
              <a:t>--- a set of symbols</a:t>
            </a:r>
            <a:endParaRPr/>
          </a:p>
          <a:p>
            <a:pPr indent="-182880" lvl="1" marL="384048" rtl="0" algn="l">
              <a:lnSpc>
                <a:spcPct val="120000"/>
              </a:lnSpc>
              <a:spcBef>
                <a:spcPts val="600"/>
              </a:spcBef>
              <a:spcAft>
                <a:spcPts val="0"/>
              </a:spcAft>
              <a:buSzPts val="2000"/>
              <a:buChar char="▪"/>
            </a:pPr>
            <a:r>
              <a:rPr lang="en-US">
                <a:solidFill>
                  <a:srgbClr val="FF0000"/>
                </a:solidFill>
                <a:latin typeface="Tahoma"/>
                <a:ea typeface="Tahoma"/>
                <a:cs typeface="Tahoma"/>
                <a:sym typeface="Tahoma"/>
              </a:rPr>
              <a:t>Strings </a:t>
            </a:r>
            <a:r>
              <a:rPr lang="en-US">
                <a:latin typeface="Tahoma"/>
                <a:ea typeface="Tahoma"/>
                <a:cs typeface="Tahoma"/>
                <a:sym typeface="Tahoma"/>
              </a:rPr>
              <a:t>--- a sequence of symbols from an alphabet</a:t>
            </a:r>
            <a:endParaRPr/>
          </a:p>
          <a:p>
            <a:pPr indent="-182880" lvl="1" marL="384048" rtl="0" algn="l">
              <a:lnSpc>
                <a:spcPct val="120000"/>
              </a:lnSpc>
              <a:spcBef>
                <a:spcPts val="600"/>
              </a:spcBef>
              <a:spcAft>
                <a:spcPts val="0"/>
              </a:spcAft>
              <a:buSzPts val="2000"/>
              <a:buChar char="▪"/>
            </a:pPr>
            <a:r>
              <a:rPr lang="en-US">
                <a:solidFill>
                  <a:srgbClr val="FF0000"/>
                </a:solidFill>
                <a:latin typeface="Tahoma"/>
                <a:ea typeface="Tahoma"/>
                <a:cs typeface="Tahoma"/>
                <a:sym typeface="Tahoma"/>
              </a:rPr>
              <a:t>Language</a:t>
            </a:r>
            <a:r>
              <a:rPr lang="en-US">
                <a:solidFill>
                  <a:srgbClr val="FFFF66"/>
                </a:solidFill>
                <a:latin typeface="Tahoma"/>
                <a:ea typeface="Tahoma"/>
                <a:cs typeface="Tahoma"/>
                <a:sym typeface="Tahoma"/>
              </a:rPr>
              <a:t> </a:t>
            </a:r>
            <a:r>
              <a:rPr lang="en-US">
                <a:latin typeface="Tahoma"/>
                <a:ea typeface="Tahoma"/>
                <a:cs typeface="Tahoma"/>
                <a:sym typeface="Tahoma"/>
              </a:rPr>
              <a:t>--- a set of strings from the same alphabet</a:t>
            </a:r>
            <a:endParaRPr/>
          </a:p>
        </p:txBody>
      </p:sp>
      <p:sp>
        <p:nvSpPr>
          <p:cNvPr id="295" name="Google Shape;295;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9"/>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Alphabets</a:t>
            </a:r>
            <a:endParaRPr/>
          </a:p>
        </p:txBody>
      </p:sp>
      <p:sp>
        <p:nvSpPr>
          <p:cNvPr id="301" name="Google Shape;301;p19"/>
          <p:cNvSpPr txBox="1"/>
          <p:nvPr>
            <p:ph idx="1" type="body"/>
          </p:nvPr>
        </p:nvSpPr>
        <p:spPr>
          <a:xfrm>
            <a:off x="665209" y="1275800"/>
            <a:ext cx="7786688" cy="5068888"/>
          </a:xfrm>
          <a:prstGeom prst="rect">
            <a:avLst/>
          </a:prstGeom>
          <a:noFill/>
          <a:ln>
            <a:noFill/>
          </a:ln>
        </p:spPr>
        <p:txBody>
          <a:bodyPr anchorCtr="0" anchor="t" bIns="45700" lIns="0" spcFirstLastPara="1" rIns="0" wrap="square" tIns="45700">
            <a:normAutofit/>
          </a:bodyPr>
          <a:lstStyle/>
          <a:p>
            <a:pPr indent="-152400" lvl="0" marL="91440" rtl="0" algn="l">
              <a:lnSpc>
                <a:spcPct val="150000"/>
              </a:lnSpc>
              <a:spcBef>
                <a:spcPts val="0"/>
              </a:spcBef>
              <a:spcAft>
                <a:spcPts val="0"/>
              </a:spcAft>
              <a:buSzPts val="2400"/>
              <a:buChar char=" "/>
            </a:pPr>
            <a:r>
              <a:rPr lang="en-US" sz="2400"/>
              <a:t>An </a:t>
            </a:r>
            <a:r>
              <a:rPr lang="en-US" sz="2400">
                <a:solidFill>
                  <a:schemeClr val="dk1"/>
                </a:solidFill>
              </a:rPr>
              <a:t>alphabet is a finite, nonempty set </a:t>
            </a:r>
            <a:r>
              <a:rPr lang="en-US" sz="2400"/>
              <a:t>of symbols.</a:t>
            </a:r>
            <a:endParaRPr/>
          </a:p>
          <a:p>
            <a:pPr indent="-182880" lvl="2" marL="566928" rtl="0" algn="l">
              <a:lnSpc>
                <a:spcPct val="100000"/>
              </a:lnSpc>
              <a:spcBef>
                <a:spcPts val="400"/>
              </a:spcBef>
              <a:spcAft>
                <a:spcPts val="0"/>
              </a:spcAft>
              <a:buSzPts val="2400"/>
              <a:buChar char="•"/>
            </a:pPr>
            <a:r>
              <a:rPr lang="en-US" sz="2400"/>
              <a:t>Conventional notation --- </a:t>
            </a:r>
            <a:r>
              <a:rPr lang="en-US" sz="2400">
                <a:latin typeface="Noto Sans Symbols"/>
                <a:ea typeface="Noto Sans Symbols"/>
                <a:cs typeface="Noto Sans Symbols"/>
                <a:sym typeface="Noto Sans Symbols"/>
              </a:rPr>
              <a:t>Σ</a:t>
            </a:r>
            <a:endParaRPr/>
          </a:p>
          <a:p>
            <a:pPr indent="-182880" lvl="1" marL="384048" rtl="0" algn="l">
              <a:lnSpc>
                <a:spcPct val="160000"/>
              </a:lnSpc>
              <a:spcBef>
                <a:spcPts val="600"/>
              </a:spcBef>
              <a:spcAft>
                <a:spcPts val="0"/>
              </a:spcAft>
              <a:buSzPts val="2400"/>
              <a:buChar char="▪"/>
            </a:pPr>
            <a:r>
              <a:rPr lang="en-US" sz="2400"/>
              <a:t>The term “</a:t>
            </a:r>
            <a:r>
              <a:rPr lang="en-US" sz="2400">
                <a:solidFill>
                  <a:schemeClr val="dk1"/>
                </a:solidFill>
              </a:rPr>
              <a:t>symbol</a:t>
            </a:r>
            <a:r>
              <a:rPr lang="en-US" sz="2400"/>
              <a:t>” is usually undefined.</a:t>
            </a:r>
            <a:endParaRPr/>
          </a:p>
          <a:p>
            <a:pPr indent="-182880" lvl="2" marL="566928" rtl="0" algn="l">
              <a:lnSpc>
                <a:spcPct val="160000"/>
              </a:lnSpc>
              <a:spcBef>
                <a:spcPts val="600"/>
              </a:spcBef>
              <a:spcAft>
                <a:spcPts val="0"/>
              </a:spcAft>
              <a:buSzPts val="2400"/>
              <a:buChar char="•"/>
            </a:pPr>
            <a:r>
              <a:rPr lang="en-US" sz="2400"/>
              <a:t>Examples --- </a:t>
            </a:r>
            <a:endParaRPr/>
          </a:p>
          <a:p>
            <a:pPr indent="-182880" lvl="3" marL="749808" rtl="0" algn="l">
              <a:lnSpc>
                <a:spcPct val="160000"/>
              </a:lnSpc>
              <a:spcBef>
                <a:spcPts val="600"/>
              </a:spcBef>
              <a:spcAft>
                <a:spcPts val="0"/>
              </a:spcAft>
              <a:buSzPts val="2400"/>
              <a:buChar char="◦"/>
            </a:pPr>
            <a:r>
              <a:rPr lang="en-US" sz="2400"/>
              <a:t>Binary alphabet </a:t>
            </a:r>
            <a:r>
              <a:rPr lang="en-US" sz="2400">
                <a:latin typeface="Noto Sans Symbols"/>
                <a:ea typeface="Noto Sans Symbols"/>
                <a:cs typeface="Noto Sans Symbols"/>
                <a:sym typeface="Noto Sans Symbols"/>
              </a:rPr>
              <a:t>Σ = {0, 1}.</a:t>
            </a:r>
            <a:endParaRPr/>
          </a:p>
          <a:p>
            <a:pPr indent="-182880" lvl="3" marL="749808" rtl="0" algn="l">
              <a:lnSpc>
                <a:spcPct val="160000"/>
              </a:lnSpc>
              <a:spcBef>
                <a:spcPts val="600"/>
              </a:spcBef>
              <a:spcAft>
                <a:spcPts val="0"/>
              </a:spcAft>
              <a:buSzPts val="2400"/>
              <a:buChar char="◦"/>
            </a:pPr>
            <a:r>
              <a:rPr lang="en-US" sz="2400">
                <a:latin typeface="Noto Sans Symbols"/>
                <a:ea typeface="Noto Sans Symbols"/>
                <a:cs typeface="Noto Sans Symbols"/>
                <a:sym typeface="Noto Sans Symbols"/>
              </a:rPr>
              <a:t>Σ = {</a:t>
            </a:r>
            <a:r>
              <a:rPr i="1" lang="en-US" sz="2400"/>
              <a:t>a, b, …, z</a:t>
            </a:r>
            <a:r>
              <a:rPr lang="en-US" sz="2400"/>
              <a:t>} …</a:t>
            </a:r>
            <a:endParaRPr/>
          </a:p>
          <a:p>
            <a:pPr indent="-55880" lvl="2" marL="566928" rtl="0" algn="l">
              <a:lnSpc>
                <a:spcPct val="100000"/>
              </a:lnSpc>
              <a:spcBef>
                <a:spcPts val="600"/>
              </a:spcBef>
              <a:spcAft>
                <a:spcPts val="0"/>
              </a:spcAft>
              <a:buSzPts val="2000"/>
              <a:buNone/>
            </a:pPr>
            <a:r>
              <a:t/>
            </a:r>
            <a:endParaRPr>
              <a:latin typeface="Noto Sans Symbols"/>
              <a:ea typeface="Noto Sans Symbols"/>
              <a:cs typeface="Noto Sans Symbols"/>
              <a:sym typeface="Noto Sans Symbols"/>
            </a:endParaRPr>
          </a:p>
        </p:txBody>
      </p:sp>
      <p:sp>
        <p:nvSpPr>
          <p:cNvPr id="302" name="Google Shape;302;p1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0"/>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Strings</a:t>
            </a:r>
            <a:endParaRPr/>
          </a:p>
        </p:txBody>
      </p:sp>
      <p:sp>
        <p:nvSpPr>
          <p:cNvPr id="308" name="Google Shape;308;p20"/>
          <p:cNvSpPr txBox="1"/>
          <p:nvPr>
            <p:ph idx="1" type="body"/>
          </p:nvPr>
        </p:nvSpPr>
        <p:spPr>
          <a:xfrm>
            <a:off x="533401" y="1306706"/>
            <a:ext cx="8382000" cy="4997450"/>
          </a:xfrm>
          <a:prstGeom prst="rect">
            <a:avLst/>
          </a:prstGeom>
          <a:noFill/>
          <a:ln>
            <a:noFill/>
          </a:ln>
        </p:spPr>
        <p:txBody>
          <a:bodyPr anchorCtr="0" anchor="t" bIns="45700" lIns="0" spcFirstLastPara="1" rIns="0" wrap="square" tIns="45700">
            <a:normAutofit/>
          </a:bodyPr>
          <a:lstStyle/>
          <a:p>
            <a:pPr indent="-152400" lvl="0" marL="91440" rtl="0" algn="l">
              <a:lnSpc>
                <a:spcPct val="120000"/>
              </a:lnSpc>
              <a:spcBef>
                <a:spcPts val="0"/>
              </a:spcBef>
              <a:spcAft>
                <a:spcPts val="0"/>
              </a:spcAft>
              <a:buSzPts val="2400"/>
              <a:buChar char=" "/>
            </a:pPr>
            <a:r>
              <a:rPr lang="en-US" sz="2400">
                <a:solidFill>
                  <a:schemeClr val="dk1"/>
                </a:solidFill>
              </a:rPr>
              <a:t>A string (or word) is a finite sequence of symbols from an alphabet.</a:t>
            </a:r>
            <a:endParaRPr/>
          </a:p>
          <a:p>
            <a:pPr indent="-182880" lvl="2" marL="566928" rtl="0" algn="l">
              <a:lnSpc>
                <a:spcPct val="120000"/>
              </a:lnSpc>
              <a:spcBef>
                <a:spcPts val="400"/>
              </a:spcBef>
              <a:spcAft>
                <a:spcPts val="0"/>
              </a:spcAft>
              <a:buSzPts val="2400"/>
              <a:buChar char="•"/>
            </a:pPr>
            <a:r>
              <a:rPr lang="en-US" sz="2400">
                <a:solidFill>
                  <a:schemeClr val="dk1"/>
                </a:solidFill>
              </a:rPr>
              <a:t>Example --- </a:t>
            </a:r>
            <a:endParaRPr/>
          </a:p>
          <a:p>
            <a:pPr indent="-182880" lvl="3" marL="749808" rtl="0" algn="l">
              <a:lnSpc>
                <a:spcPct val="120000"/>
              </a:lnSpc>
              <a:spcBef>
                <a:spcPts val="600"/>
              </a:spcBef>
              <a:spcAft>
                <a:spcPts val="0"/>
              </a:spcAft>
              <a:buSzPts val="2400"/>
              <a:buChar char="◦"/>
            </a:pPr>
            <a:r>
              <a:rPr lang="en-US" sz="2400">
                <a:solidFill>
                  <a:schemeClr val="dk1"/>
                </a:solidFill>
              </a:rPr>
              <a:t>1011 is a string from alphabet </a:t>
            </a:r>
            <a:r>
              <a:rPr lang="en-US" sz="2400">
                <a:solidFill>
                  <a:schemeClr val="dk1"/>
                </a:solidFill>
                <a:latin typeface="Noto Sans Symbols"/>
                <a:ea typeface="Noto Sans Symbols"/>
                <a:cs typeface="Noto Sans Symbols"/>
                <a:sym typeface="Noto Sans Symbols"/>
              </a:rPr>
              <a:t>Σ = {0, 1}</a:t>
            </a:r>
            <a:endParaRPr/>
          </a:p>
          <a:p>
            <a:pPr indent="-182880" lvl="1" marL="384048" rtl="0" algn="l">
              <a:lnSpc>
                <a:spcPct val="140000"/>
              </a:lnSpc>
              <a:spcBef>
                <a:spcPts val="600"/>
              </a:spcBef>
              <a:spcAft>
                <a:spcPts val="0"/>
              </a:spcAft>
              <a:buSzPts val="2400"/>
              <a:buChar char="▪"/>
            </a:pPr>
            <a:r>
              <a:rPr lang="en-US" sz="2400">
                <a:solidFill>
                  <a:schemeClr val="dk1"/>
                </a:solidFill>
              </a:rPr>
              <a:t>Empty string </a:t>
            </a:r>
            <a:r>
              <a:rPr lang="en-US" sz="2400">
                <a:solidFill>
                  <a:schemeClr val="dk1"/>
                </a:solidFill>
                <a:latin typeface="Noto Sans Symbols"/>
                <a:ea typeface="Noto Sans Symbols"/>
                <a:cs typeface="Noto Sans Symbols"/>
                <a:sym typeface="Noto Sans Symbols"/>
              </a:rPr>
              <a:t>ε</a:t>
            </a:r>
            <a:r>
              <a:rPr i="1" lang="en-US" sz="2400">
                <a:solidFill>
                  <a:schemeClr val="dk1"/>
                </a:solidFill>
                <a:latin typeface="Noto Sans Symbols"/>
                <a:ea typeface="Noto Sans Symbols"/>
                <a:cs typeface="Noto Sans Symbols"/>
                <a:sym typeface="Noto Sans Symbols"/>
              </a:rPr>
              <a:t> </a:t>
            </a:r>
            <a:r>
              <a:rPr lang="en-US" sz="2400">
                <a:solidFill>
                  <a:schemeClr val="dk1"/>
                </a:solidFill>
              </a:rPr>
              <a:t>--- a string with zero occurrences of symbols</a:t>
            </a:r>
            <a:endParaRPr i="1" sz="2400">
              <a:solidFill>
                <a:schemeClr val="dk1"/>
              </a:solidFill>
              <a:latin typeface="Noto Sans Symbols"/>
              <a:ea typeface="Noto Sans Symbols"/>
              <a:cs typeface="Noto Sans Symbols"/>
              <a:sym typeface="Noto Sans Symbols"/>
            </a:endParaRPr>
          </a:p>
          <a:p>
            <a:pPr indent="-182880" lvl="1" marL="384048" rtl="0" algn="l">
              <a:lnSpc>
                <a:spcPct val="140000"/>
              </a:lnSpc>
              <a:spcBef>
                <a:spcPts val="600"/>
              </a:spcBef>
              <a:spcAft>
                <a:spcPts val="0"/>
              </a:spcAft>
              <a:buSzPts val="2400"/>
              <a:buChar char="▪"/>
            </a:pPr>
            <a:r>
              <a:rPr lang="en-US" sz="2400">
                <a:solidFill>
                  <a:schemeClr val="dk1"/>
                </a:solidFill>
              </a:rPr>
              <a:t>Length |</a:t>
            </a:r>
            <a:r>
              <a:rPr i="1" lang="en-US" sz="2400">
                <a:solidFill>
                  <a:schemeClr val="dk1"/>
                </a:solidFill>
              </a:rPr>
              <a:t>w</a:t>
            </a:r>
            <a:r>
              <a:rPr lang="en-US" sz="2400">
                <a:solidFill>
                  <a:schemeClr val="dk1"/>
                </a:solidFill>
              </a:rPr>
              <a:t>| of string </a:t>
            </a:r>
            <a:r>
              <a:rPr i="1" lang="en-US" sz="2400">
                <a:solidFill>
                  <a:schemeClr val="dk1"/>
                </a:solidFill>
              </a:rPr>
              <a:t>w</a:t>
            </a:r>
            <a:r>
              <a:rPr lang="en-US" sz="2400">
                <a:solidFill>
                  <a:schemeClr val="dk1"/>
                </a:solidFill>
              </a:rPr>
              <a:t> --- the number of positions for symbols in </a:t>
            </a:r>
            <a:r>
              <a:rPr i="1" lang="en-US" sz="2400">
                <a:solidFill>
                  <a:schemeClr val="dk1"/>
                </a:solidFill>
              </a:rPr>
              <a:t>w</a:t>
            </a:r>
            <a:endParaRPr sz="2400">
              <a:solidFill>
                <a:schemeClr val="dk1"/>
              </a:solidFill>
            </a:endParaRPr>
          </a:p>
          <a:p>
            <a:pPr indent="-182880" lvl="2" marL="566928" rtl="0" algn="l">
              <a:lnSpc>
                <a:spcPct val="140000"/>
              </a:lnSpc>
              <a:spcBef>
                <a:spcPts val="600"/>
              </a:spcBef>
              <a:spcAft>
                <a:spcPts val="0"/>
              </a:spcAft>
              <a:buSzPts val="2400"/>
              <a:buChar char="•"/>
            </a:pPr>
            <a:r>
              <a:rPr lang="en-US" sz="2400">
                <a:solidFill>
                  <a:schemeClr val="dk1"/>
                </a:solidFill>
              </a:rPr>
              <a:t>Examples --- |0111|=4, |</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|=0, …</a:t>
            </a:r>
            <a:endParaRPr/>
          </a:p>
          <a:p>
            <a:pPr indent="-93980" lvl="3" marL="749808" rtl="0" algn="l">
              <a:lnSpc>
                <a:spcPct val="120000"/>
              </a:lnSpc>
              <a:spcBef>
                <a:spcPts val="600"/>
              </a:spcBef>
              <a:spcAft>
                <a:spcPts val="0"/>
              </a:spcAft>
              <a:buSzPts val="1400"/>
              <a:buNone/>
            </a:pPr>
            <a:r>
              <a:t/>
            </a:r>
            <a:endParaRPr/>
          </a:p>
          <a:p>
            <a:pPr indent="-55879" lvl="1" marL="384048" rtl="0" algn="l">
              <a:lnSpc>
                <a:spcPct val="120000"/>
              </a:lnSpc>
              <a:spcBef>
                <a:spcPts val="600"/>
              </a:spcBef>
              <a:spcAft>
                <a:spcPts val="0"/>
              </a:spcAft>
              <a:buSzPts val="2000"/>
              <a:buNone/>
            </a:pPr>
            <a:r>
              <a:t/>
            </a:r>
            <a:endParaRPr>
              <a:solidFill>
                <a:srgbClr val="FFFF66"/>
              </a:solidFill>
            </a:endParaRPr>
          </a:p>
        </p:txBody>
      </p:sp>
      <p:sp>
        <p:nvSpPr>
          <p:cNvPr id="309" name="Google Shape;309;p2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1"/>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String..</a:t>
            </a:r>
            <a:endParaRPr/>
          </a:p>
        </p:txBody>
      </p:sp>
      <p:sp>
        <p:nvSpPr>
          <p:cNvPr id="315" name="Google Shape;315;p21"/>
          <p:cNvSpPr txBox="1"/>
          <p:nvPr>
            <p:ph idx="1" type="body"/>
          </p:nvPr>
        </p:nvSpPr>
        <p:spPr>
          <a:xfrm>
            <a:off x="443753" y="1144975"/>
            <a:ext cx="8435975" cy="4997450"/>
          </a:xfrm>
          <a:prstGeom prst="rect">
            <a:avLst/>
          </a:prstGeom>
          <a:noFill/>
          <a:ln>
            <a:noFill/>
          </a:ln>
        </p:spPr>
        <p:txBody>
          <a:bodyPr anchorCtr="0" anchor="t" bIns="45700" lIns="0" spcFirstLastPara="1" rIns="0" wrap="square" tIns="45700">
            <a:normAutofit/>
          </a:bodyPr>
          <a:lstStyle/>
          <a:p>
            <a:pPr indent="-182880" lvl="1" marL="384048" rtl="0" algn="l">
              <a:lnSpc>
                <a:spcPct val="130000"/>
              </a:lnSpc>
              <a:spcBef>
                <a:spcPts val="0"/>
              </a:spcBef>
              <a:spcAft>
                <a:spcPts val="0"/>
              </a:spcAft>
              <a:buSzPts val="2400"/>
              <a:buChar char="▪"/>
            </a:pPr>
            <a:r>
              <a:rPr lang="en-US" sz="2400">
                <a:solidFill>
                  <a:schemeClr val="dk1"/>
                </a:solidFill>
              </a:rPr>
              <a:t>Power of an alphabet </a:t>
            </a:r>
            <a:r>
              <a:rPr lang="en-US" sz="2400">
                <a:solidFill>
                  <a:schemeClr val="dk1"/>
                </a:solidFill>
                <a:latin typeface="Noto Sans Symbols"/>
                <a:ea typeface="Noto Sans Symbols"/>
                <a:cs typeface="Noto Sans Symbols"/>
                <a:sym typeface="Noto Sans Symbols"/>
              </a:rPr>
              <a:t>Σ</a:t>
            </a:r>
            <a:r>
              <a:rPr baseline="30000" i="1" lang="en-US" sz="2400">
                <a:solidFill>
                  <a:schemeClr val="dk1"/>
                </a:solidFill>
              </a:rPr>
              <a:t>k</a:t>
            </a:r>
            <a:r>
              <a:rPr lang="en-US" sz="2400">
                <a:solidFill>
                  <a:schemeClr val="dk1"/>
                </a:solidFill>
                <a:latin typeface="Noto Sans Symbols"/>
                <a:ea typeface="Noto Sans Symbols"/>
                <a:cs typeface="Noto Sans Symbols"/>
                <a:sym typeface="Noto Sans Symbols"/>
              </a:rPr>
              <a:t> </a:t>
            </a:r>
            <a:r>
              <a:rPr lang="en-US" sz="2400">
                <a:solidFill>
                  <a:schemeClr val="dk1"/>
                </a:solidFill>
              </a:rPr>
              <a:t> --- </a:t>
            </a:r>
            <a:endParaRPr/>
          </a:p>
          <a:p>
            <a:pPr indent="-182880" lvl="3" marL="749808" rtl="0" algn="l">
              <a:lnSpc>
                <a:spcPct val="130000"/>
              </a:lnSpc>
              <a:spcBef>
                <a:spcPts val="600"/>
              </a:spcBef>
              <a:spcAft>
                <a:spcPts val="0"/>
              </a:spcAft>
              <a:buSzPts val="2400"/>
              <a:buFont typeface="Noto Sans Symbols"/>
              <a:buNone/>
            </a:pPr>
            <a:r>
              <a:rPr lang="en-US" sz="2400">
                <a:solidFill>
                  <a:schemeClr val="dk1"/>
                </a:solidFill>
              </a:rPr>
              <a:t>a set of all strings of length </a:t>
            </a:r>
            <a:r>
              <a:rPr i="1" lang="en-US" sz="2400">
                <a:solidFill>
                  <a:schemeClr val="dk1"/>
                </a:solidFill>
              </a:rPr>
              <a:t>k</a:t>
            </a:r>
            <a:endParaRPr/>
          </a:p>
          <a:p>
            <a:pPr indent="-182880" lvl="2" marL="566928" rtl="0" algn="l">
              <a:lnSpc>
                <a:spcPct val="130000"/>
              </a:lnSpc>
              <a:spcBef>
                <a:spcPts val="600"/>
              </a:spcBef>
              <a:spcAft>
                <a:spcPts val="0"/>
              </a:spcAft>
              <a:buSzPts val="2400"/>
              <a:buChar char="•"/>
            </a:pPr>
            <a:r>
              <a:rPr lang="en-US" sz="2400">
                <a:solidFill>
                  <a:schemeClr val="dk1"/>
                </a:solidFill>
              </a:rPr>
              <a:t>Examples --- </a:t>
            </a:r>
            <a:endParaRPr/>
          </a:p>
          <a:p>
            <a:pPr indent="-182880" lvl="3" marL="749808" rtl="0" algn="l">
              <a:lnSpc>
                <a:spcPct val="130000"/>
              </a:lnSpc>
              <a:spcBef>
                <a:spcPts val="600"/>
              </a:spcBef>
              <a:spcAft>
                <a:spcPts val="0"/>
              </a:spcAft>
              <a:buSzPts val="2400"/>
              <a:buChar char="◦"/>
            </a:pPr>
            <a:r>
              <a:rPr lang="en-US" sz="2400">
                <a:solidFill>
                  <a:schemeClr val="dk1"/>
                </a:solidFill>
              </a:rPr>
              <a:t>given</a:t>
            </a:r>
            <a:r>
              <a:rPr i="1" lang="en-US" sz="2400">
                <a:solidFill>
                  <a:schemeClr val="dk1"/>
                </a:solidFill>
              </a:rPr>
              <a:t> </a:t>
            </a:r>
            <a:r>
              <a:rPr lang="en-US" sz="2400">
                <a:solidFill>
                  <a:schemeClr val="dk1"/>
                </a:solidFill>
                <a:latin typeface="Noto Sans Symbols"/>
                <a:ea typeface="Noto Sans Symbols"/>
                <a:cs typeface="Noto Sans Symbols"/>
                <a:sym typeface="Noto Sans Symbols"/>
              </a:rPr>
              <a:t>Σ</a:t>
            </a:r>
            <a:r>
              <a:rPr baseline="30000" lang="en-US" sz="2400">
                <a:solidFill>
                  <a:schemeClr val="dk1"/>
                </a:solidFill>
                <a:latin typeface="Noto Sans Symbols"/>
                <a:ea typeface="Noto Sans Symbols"/>
                <a:cs typeface="Noto Sans Symbols"/>
                <a:sym typeface="Noto Sans Symbols"/>
              </a:rPr>
              <a:t> </a:t>
            </a:r>
            <a:r>
              <a:rPr lang="en-US" sz="2400">
                <a:solidFill>
                  <a:schemeClr val="dk1"/>
                </a:solidFill>
                <a:latin typeface="Noto Sans Symbols"/>
                <a:ea typeface="Noto Sans Symbols"/>
                <a:cs typeface="Noto Sans Symbols"/>
                <a:sym typeface="Noto Sans Symbols"/>
              </a:rPr>
              <a:t>= {0, 1}, </a:t>
            </a:r>
            <a:r>
              <a:rPr lang="en-US" sz="2400">
                <a:solidFill>
                  <a:schemeClr val="dk1"/>
                </a:solidFill>
              </a:rPr>
              <a:t>we have</a:t>
            </a:r>
            <a:endParaRPr/>
          </a:p>
          <a:p>
            <a:pPr indent="-182880" lvl="3" marL="749808" rtl="0" algn="l">
              <a:lnSpc>
                <a:spcPct val="130000"/>
              </a:lnSpc>
              <a:spcBef>
                <a:spcPts val="600"/>
              </a:spcBef>
              <a:spcAft>
                <a:spcPts val="0"/>
              </a:spcAft>
              <a:buSzPts val="2400"/>
              <a:buFont typeface="Noto Sans Symbols"/>
              <a:buChar char="●"/>
            </a:pPr>
            <a:r>
              <a:rPr lang="en-US" sz="2400">
                <a:solidFill>
                  <a:schemeClr val="dk1"/>
                </a:solidFill>
                <a:latin typeface="Noto Sans Symbols"/>
                <a:ea typeface="Noto Sans Symbols"/>
                <a:cs typeface="Noto Sans Symbols"/>
                <a:sym typeface="Noto Sans Symbols"/>
              </a:rPr>
              <a:t>     Σ</a:t>
            </a:r>
            <a:r>
              <a:rPr baseline="30000" lang="en-US" sz="2400">
                <a:solidFill>
                  <a:schemeClr val="dk1"/>
                </a:solidFill>
                <a:latin typeface="Noto Sans Symbols"/>
                <a:ea typeface="Noto Sans Symbols"/>
                <a:cs typeface="Noto Sans Symbols"/>
                <a:sym typeface="Noto Sans Symbols"/>
              </a:rPr>
              <a:t>0</a:t>
            </a:r>
            <a:r>
              <a:rPr lang="en-US" sz="2400">
                <a:solidFill>
                  <a:schemeClr val="dk1"/>
                </a:solidFill>
              </a:rPr>
              <a:t> = {</a:t>
            </a:r>
            <a:r>
              <a:rPr lang="en-US" sz="2400">
                <a:solidFill>
                  <a:schemeClr val="dk1"/>
                </a:solidFill>
                <a:latin typeface="Noto Sans Symbols"/>
                <a:ea typeface="Noto Sans Symbols"/>
                <a:cs typeface="Noto Sans Symbols"/>
                <a:sym typeface="Noto Sans Symbols"/>
              </a:rPr>
              <a:t>ε}, Σ</a:t>
            </a:r>
            <a:r>
              <a:rPr baseline="30000" lang="en-US" sz="2400">
                <a:solidFill>
                  <a:schemeClr val="dk1"/>
                </a:solidFill>
              </a:rPr>
              <a:t>2</a:t>
            </a:r>
            <a:r>
              <a:rPr lang="en-US" sz="2400">
                <a:solidFill>
                  <a:schemeClr val="dk1"/>
                </a:solidFill>
              </a:rPr>
              <a:t> = {00, 01, 10, 11}</a:t>
            </a:r>
            <a:endParaRPr sz="2400">
              <a:solidFill>
                <a:schemeClr val="dk1"/>
              </a:solidFill>
            </a:endParaRPr>
          </a:p>
          <a:p>
            <a:pPr indent="-182880" lvl="2" marL="566928" rtl="0" algn="l">
              <a:lnSpc>
                <a:spcPct val="130000"/>
              </a:lnSpc>
              <a:spcBef>
                <a:spcPts val="600"/>
              </a:spcBef>
              <a:spcAft>
                <a:spcPts val="0"/>
              </a:spcAft>
              <a:buSzPts val="2400"/>
              <a:buChar char="•"/>
            </a:pPr>
            <a:r>
              <a:rPr lang="en-US" sz="2400">
                <a:solidFill>
                  <a:schemeClr val="dk1"/>
                </a:solidFill>
              </a:rPr>
              <a:t> Supplemental --- 1</a:t>
            </a:r>
            <a:r>
              <a:rPr baseline="30000" lang="en-US" sz="2400">
                <a:solidFill>
                  <a:schemeClr val="dk1"/>
                </a:solidFill>
              </a:rPr>
              <a:t>0</a:t>
            </a:r>
            <a:r>
              <a:rPr lang="en-US" sz="2400">
                <a:solidFill>
                  <a:schemeClr val="dk1"/>
                </a:solidFill>
              </a:rPr>
              <a:t> = </a:t>
            </a:r>
            <a:r>
              <a:rPr lang="en-US" sz="2400">
                <a:solidFill>
                  <a:schemeClr val="dk1"/>
                </a:solidFill>
                <a:latin typeface="Noto Sans Symbols"/>
                <a:ea typeface="Noto Sans Symbols"/>
                <a:cs typeface="Noto Sans Symbols"/>
                <a:sym typeface="Noto Sans Symbols"/>
              </a:rPr>
              <a:t>ε, </a:t>
            </a:r>
            <a:r>
              <a:rPr lang="en-US" sz="2400">
                <a:solidFill>
                  <a:schemeClr val="dk1"/>
                </a:solidFill>
              </a:rPr>
              <a:t>(01)</a:t>
            </a:r>
            <a:r>
              <a:rPr baseline="30000" lang="en-US" sz="2400">
                <a:solidFill>
                  <a:schemeClr val="dk1"/>
                </a:solidFill>
              </a:rPr>
              <a:t>0</a:t>
            </a:r>
            <a:r>
              <a:rPr lang="en-US" sz="2400">
                <a:solidFill>
                  <a:schemeClr val="dk1"/>
                </a:solidFill>
              </a:rPr>
              <a:t> = </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 …</a:t>
            </a:r>
            <a:endParaRPr/>
          </a:p>
          <a:p>
            <a:pPr indent="-182880" lvl="1" marL="384048" rtl="0" algn="l">
              <a:lnSpc>
                <a:spcPct val="150000"/>
              </a:lnSpc>
              <a:spcBef>
                <a:spcPts val="600"/>
              </a:spcBef>
              <a:spcAft>
                <a:spcPts val="0"/>
              </a:spcAft>
              <a:buSzPts val="2000"/>
              <a:buChar char="▪"/>
            </a:pPr>
            <a:r>
              <a:rPr lang="en-US">
                <a:solidFill>
                  <a:schemeClr val="dk1"/>
                </a:solidFill>
              </a:rPr>
              <a:t>Set of all strings over </a:t>
            </a:r>
            <a:r>
              <a:rPr lang="en-US">
                <a:solidFill>
                  <a:schemeClr val="dk1"/>
                </a:solidFill>
                <a:latin typeface="Noto Sans Symbols"/>
                <a:ea typeface="Noto Sans Symbols"/>
                <a:cs typeface="Noto Sans Symbols"/>
                <a:sym typeface="Noto Sans Symbols"/>
              </a:rPr>
              <a:t>Σ</a:t>
            </a:r>
            <a:r>
              <a:rPr lang="en-US">
                <a:solidFill>
                  <a:schemeClr val="dk1"/>
                </a:solidFill>
              </a:rPr>
              <a:t> --- denoted as </a:t>
            </a:r>
            <a:r>
              <a:rPr lang="en-US">
                <a:solidFill>
                  <a:schemeClr val="dk1"/>
                </a:solidFill>
                <a:latin typeface="Noto Sans Symbols"/>
                <a:ea typeface="Noto Sans Symbols"/>
                <a:cs typeface="Noto Sans Symbols"/>
                <a:sym typeface="Noto Sans Symbols"/>
              </a:rPr>
              <a:t>Σ</a:t>
            </a:r>
            <a:r>
              <a:rPr baseline="30000" lang="en-US">
                <a:solidFill>
                  <a:schemeClr val="dk1"/>
                </a:solidFill>
                <a:latin typeface="Noto Sans Symbols"/>
                <a:ea typeface="Noto Sans Symbols"/>
                <a:cs typeface="Noto Sans Symbols"/>
                <a:sym typeface="Noto Sans Symbols"/>
              </a:rPr>
              <a:t>*</a:t>
            </a:r>
            <a:r>
              <a:rPr lang="en-US">
                <a:solidFill>
                  <a:schemeClr val="dk1"/>
                </a:solidFill>
                <a:latin typeface="Noto Sans Symbols"/>
                <a:ea typeface="Noto Sans Symbols"/>
                <a:cs typeface="Noto Sans Symbols"/>
                <a:sym typeface="Noto Sans Symbols"/>
              </a:rPr>
              <a:t> </a:t>
            </a:r>
            <a:endParaRPr/>
          </a:p>
          <a:p>
            <a:pPr indent="-182880" lvl="1" marL="384048" rtl="0" algn="l">
              <a:lnSpc>
                <a:spcPct val="150000"/>
              </a:lnSpc>
              <a:spcBef>
                <a:spcPts val="600"/>
              </a:spcBef>
              <a:spcAft>
                <a:spcPts val="0"/>
              </a:spcAft>
              <a:buSzPts val="2000"/>
              <a:buChar char="▪"/>
            </a:pPr>
            <a:r>
              <a:rPr lang="en-US">
                <a:solidFill>
                  <a:schemeClr val="dk1"/>
                </a:solidFill>
              </a:rPr>
              <a:t>It is not difficult to know that </a:t>
            </a:r>
            <a:endParaRPr>
              <a:solidFill>
                <a:schemeClr val="dk1"/>
              </a:solidFill>
            </a:endParaRPr>
          </a:p>
          <a:p>
            <a:pPr indent="-182880" lvl="2" marL="566928" rtl="0" algn="l">
              <a:lnSpc>
                <a:spcPct val="150000"/>
              </a:lnSpc>
              <a:spcBef>
                <a:spcPts val="600"/>
              </a:spcBef>
              <a:spcAft>
                <a:spcPts val="0"/>
              </a:spcAft>
              <a:buSzPts val="2000"/>
              <a:buNone/>
            </a:pPr>
            <a:r>
              <a:rPr lang="en-US">
                <a:solidFill>
                  <a:schemeClr val="dk1"/>
                </a:solidFill>
                <a:latin typeface="Noto Sans Symbols"/>
                <a:ea typeface="Noto Sans Symbols"/>
                <a:cs typeface="Noto Sans Symbols"/>
                <a:sym typeface="Noto Sans Symbols"/>
              </a:rPr>
              <a:t>Σ</a:t>
            </a:r>
            <a:r>
              <a:rPr baseline="30000" lang="en-US">
                <a:solidFill>
                  <a:schemeClr val="dk1"/>
                </a:solidFill>
                <a:latin typeface="Noto Sans Symbols"/>
                <a:ea typeface="Noto Sans Symbols"/>
                <a:cs typeface="Noto Sans Symbols"/>
                <a:sym typeface="Noto Sans Symbols"/>
              </a:rPr>
              <a:t>*</a:t>
            </a:r>
            <a:r>
              <a:rPr lang="en-US">
                <a:solidFill>
                  <a:schemeClr val="dk1"/>
                </a:solidFill>
                <a:latin typeface="Noto Sans Symbols"/>
                <a:ea typeface="Noto Sans Symbols"/>
                <a:cs typeface="Noto Sans Symbols"/>
                <a:sym typeface="Noto Sans Symbols"/>
              </a:rPr>
              <a:t> = Σ</a:t>
            </a:r>
            <a:r>
              <a:rPr baseline="30000" lang="en-US">
                <a:solidFill>
                  <a:schemeClr val="dk1"/>
                </a:solidFill>
                <a:latin typeface="Noto Sans Symbols"/>
                <a:ea typeface="Noto Sans Symbols"/>
                <a:cs typeface="Noto Sans Symbols"/>
                <a:sym typeface="Noto Sans Symbols"/>
              </a:rPr>
              <a:t>0 </a:t>
            </a:r>
            <a:r>
              <a:rPr b="1" lang="en-US">
                <a:solidFill>
                  <a:schemeClr val="dk1"/>
                </a:solidFill>
              </a:rPr>
              <a:t>∪</a:t>
            </a:r>
            <a:r>
              <a:rPr lang="en-US">
                <a:solidFill>
                  <a:schemeClr val="dk1"/>
                </a:solidFill>
                <a:latin typeface="Arial"/>
                <a:ea typeface="Arial"/>
                <a:cs typeface="Arial"/>
                <a:sym typeface="Arial"/>
              </a:rPr>
              <a:t> </a:t>
            </a:r>
            <a:r>
              <a:rPr lang="en-US">
                <a:solidFill>
                  <a:schemeClr val="dk1"/>
                </a:solidFill>
                <a:latin typeface="Noto Sans Symbols"/>
                <a:ea typeface="Noto Sans Symbols"/>
                <a:cs typeface="Noto Sans Symbols"/>
                <a:sym typeface="Noto Sans Symbols"/>
              </a:rPr>
              <a:t>Σ</a:t>
            </a:r>
            <a:r>
              <a:rPr baseline="30000" lang="en-US">
                <a:solidFill>
                  <a:schemeClr val="dk1"/>
                </a:solidFill>
                <a:latin typeface="Noto Sans Symbols"/>
                <a:ea typeface="Noto Sans Symbols"/>
                <a:cs typeface="Noto Sans Symbols"/>
                <a:sym typeface="Noto Sans Symbols"/>
              </a:rPr>
              <a:t>1 </a:t>
            </a:r>
            <a:r>
              <a:rPr b="1" lang="en-US">
                <a:solidFill>
                  <a:schemeClr val="dk1"/>
                </a:solidFill>
              </a:rPr>
              <a:t>∪</a:t>
            </a:r>
            <a:r>
              <a:rPr lang="en-US">
                <a:solidFill>
                  <a:schemeClr val="dk1"/>
                </a:solidFill>
                <a:latin typeface="Arial"/>
                <a:ea typeface="Arial"/>
                <a:cs typeface="Arial"/>
                <a:sym typeface="Arial"/>
              </a:rPr>
              <a:t> </a:t>
            </a:r>
            <a:r>
              <a:rPr lang="en-US">
                <a:solidFill>
                  <a:schemeClr val="dk1"/>
                </a:solidFill>
                <a:latin typeface="Noto Sans Symbols"/>
                <a:ea typeface="Noto Sans Symbols"/>
                <a:cs typeface="Noto Sans Symbols"/>
                <a:sym typeface="Noto Sans Symbols"/>
              </a:rPr>
              <a:t>Σ</a:t>
            </a:r>
            <a:r>
              <a:rPr baseline="30000" lang="en-US">
                <a:solidFill>
                  <a:schemeClr val="dk1"/>
                </a:solidFill>
                <a:latin typeface="Noto Sans Symbols"/>
                <a:ea typeface="Noto Sans Symbols"/>
                <a:cs typeface="Noto Sans Symbols"/>
                <a:sym typeface="Noto Sans Symbols"/>
              </a:rPr>
              <a:t>2 </a:t>
            </a:r>
            <a:r>
              <a:rPr b="1" lang="en-US">
                <a:solidFill>
                  <a:schemeClr val="dk1"/>
                </a:solidFill>
              </a:rPr>
              <a:t>∪</a:t>
            </a:r>
            <a:r>
              <a:rPr lang="en-US">
                <a:solidFill>
                  <a:schemeClr val="dk1"/>
                </a:solidFill>
                <a:latin typeface="Arial"/>
                <a:ea typeface="Arial"/>
                <a:cs typeface="Arial"/>
                <a:sym typeface="Arial"/>
              </a:rPr>
              <a:t> </a:t>
            </a:r>
            <a:r>
              <a:rPr lang="en-US">
                <a:solidFill>
                  <a:schemeClr val="dk1"/>
                </a:solidFill>
              </a:rPr>
              <a:t>…</a:t>
            </a:r>
            <a:r>
              <a:rPr lang="en-US">
                <a:solidFill>
                  <a:schemeClr val="dk1"/>
                </a:solidFill>
                <a:latin typeface="Noto Sans Symbols"/>
                <a:ea typeface="Noto Sans Symbols"/>
                <a:cs typeface="Noto Sans Symbols"/>
                <a:sym typeface="Noto Sans Symbols"/>
              </a:rPr>
              <a:t> </a:t>
            </a:r>
            <a:endParaRPr/>
          </a:p>
          <a:p>
            <a:pPr indent="-30480" lvl="2" marL="566928" rtl="0" algn="l">
              <a:lnSpc>
                <a:spcPct val="130000"/>
              </a:lnSpc>
              <a:spcBef>
                <a:spcPts val="600"/>
              </a:spcBef>
              <a:spcAft>
                <a:spcPts val="0"/>
              </a:spcAft>
              <a:buSzPts val="2400"/>
              <a:buNone/>
            </a:pPr>
            <a:r>
              <a:t/>
            </a:r>
            <a:endParaRPr sz="2400">
              <a:solidFill>
                <a:schemeClr val="dk1"/>
              </a:solidFill>
            </a:endParaRPr>
          </a:p>
        </p:txBody>
      </p:sp>
      <p:sp>
        <p:nvSpPr>
          <p:cNvPr id="316" name="Google Shape;316;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2"/>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Strings..</a:t>
            </a:r>
            <a:endParaRPr/>
          </a:p>
        </p:txBody>
      </p:sp>
      <p:sp>
        <p:nvSpPr>
          <p:cNvPr id="322" name="Google Shape;322;p22"/>
          <p:cNvSpPr txBox="1"/>
          <p:nvPr>
            <p:ph idx="1" type="body"/>
          </p:nvPr>
        </p:nvSpPr>
        <p:spPr>
          <a:xfrm>
            <a:off x="351389" y="1208088"/>
            <a:ext cx="8686800" cy="5257800"/>
          </a:xfrm>
          <a:prstGeom prst="rect">
            <a:avLst/>
          </a:prstGeom>
          <a:noFill/>
          <a:ln>
            <a:noFill/>
          </a:ln>
        </p:spPr>
        <p:txBody>
          <a:bodyPr anchorCtr="0" anchor="t" bIns="45700" lIns="0" spcFirstLastPara="1" rIns="0" wrap="square" tIns="45700">
            <a:normAutofit lnSpcReduction="10000"/>
          </a:bodyPr>
          <a:lstStyle/>
          <a:p>
            <a:pPr indent="-182880" lvl="1" marL="384048" rtl="0" algn="l">
              <a:lnSpc>
                <a:spcPct val="130000"/>
              </a:lnSpc>
              <a:spcBef>
                <a:spcPts val="0"/>
              </a:spcBef>
              <a:spcAft>
                <a:spcPts val="0"/>
              </a:spcAft>
              <a:buSzPts val="2000"/>
              <a:buChar char="▪"/>
            </a:pPr>
            <a:r>
              <a:rPr lang="en-US">
                <a:latin typeface="Noto Sans Symbols"/>
                <a:ea typeface="Noto Sans Symbols"/>
                <a:cs typeface="Noto Sans Symbols"/>
                <a:sym typeface="Noto Sans Symbols"/>
              </a:rPr>
              <a:t>Σ</a:t>
            </a:r>
            <a:r>
              <a:rPr baseline="30000" lang="en-US">
                <a:latin typeface="Noto Sans Symbols"/>
                <a:ea typeface="Noto Sans Symbols"/>
                <a:cs typeface="Noto Sans Symbols"/>
                <a:sym typeface="Noto Sans Symbols"/>
              </a:rPr>
              <a:t>+</a:t>
            </a:r>
            <a:r>
              <a:rPr lang="en-US">
                <a:latin typeface="Noto Sans Symbols"/>
                <a:ea typeface="Noto Sans Symbols"/>
                <a:cs typeface="Noto Sans Symbols"/>
                <a:sym typeface="Noto Sans Symbols"/>
              </a:rPr>
              <a:t> = </a:t>
            </a:r>
            <a:r>
              <a:rPr lang="en-US"/>
              <a:t>set of nonempty strings from</a:t>
            </a:r>
            <a:r>
              <a:rPr lang="en-US">
                <a:latin typeface="Noto Sans Symbols"/>
                <a:ea typeface="Noto Sans Symbols"/>
                <a:cs typeface="Noto Sans Symbols"/>
                <a:sym typeface="Noto Sans Symbols"/>
              </a:rPr>
              <a:t> Σ </a:t>
            </a:r>
            <a:endParaRPr/>
          </a:p>
          <a:p>
            <a:pPr indent="-182880" lvl="1" marL="384048" rtl="0" algn="l">
              <a:lnSpc>
                <a:spcPct val="130000"/>
              </a:lnSpc>
              <a:spcBef>
                <a:spcPts val="600"/>
              </a:spcBef>
              <a:spcAft>
                <a:spcPts val="0"/>
              </a:spcAft>
              <a:buSzPts val="2000"/>
              <a:buFont typeface="Noto Sans Symbols"/>
              <a:buNone/>
            </a:pPr>
            <a:r>
              <a:rPr lang="en-US">
                <a:latin typeface="Noto Sans Symbols"/>
                <a:ea typeface="Noto Sans Symbols"/>
                <a:cs typeface="Noto Sans Symbols"/>
                <a:sym typeface="Noto Sans Symbols"/>
              </a:rPr>
              <a:t>        = Σ</a:t>
            </a:r>
            <a:r>
              <a:rPr baseline="30000" lang="en-US">
                <a:latin typeface="Noto Sans Symbols"/>
                <a:ea typeface="Noto Sans Symbols"/>
                <a:cs typeface="Noto Sans Symbols"/>
                <a:sym typeface="Noto Sans Symbols"/>
              </a:rPr>
              <a:t>*</a:t>
            </a:r>
            <a:r>
              <a:rPr lang="en-US">
                <a:latin typeface="Noto Sans Symbols"/>
                <a:ea typeface="Noto Sans Symbols"/>
                <a:cs typeface="Noto Sans Symbols"/>
                <a:sym typeface="Noto Sans Symbols"/>
              </a:rPr>
              <a:t> </a:t>
            </a:r>
            <a:r>
              <a:rPr b="1" lang="en-US"/>
              <a:t>-</a:t>
            </a:r>
            <a:r>
              <a:rPr lang="en-US">
                <a:latin typeface="Noto Sans Symbols"/>
                <a:ea typeface="Noto Sans Symbols"/>
                <a:cs typeface="Noto Sans Symbols"/>
                <a:sym typeface="Noto Sans Symbols"/>
              </a:rPr>
              <a:t> {ε} </a:t>
            </a:r>
            <a:endParaRPr/>
          </a:p>
          <a:p>
            <a:pPr indent="-182880" lvl="1" marL="384048" rtl="0" algn="l">
              <a:lnSpc>
                <a:spcPct val="130000"/>
              </a:lnSpc>
              <a:spcBef>
                <a:spcPts val="600"/>
              </a:spcBef>
              <a:spcAft>
                <a:spcPts val="0"/>
              </a:spcAft>
              <a:buSzPts val="2000"/>
              <a:buChar char="▪"/>
            </a:pPr>
            <a:r>
              <a:rPr lang="en-US"/>
              <a:t>Therefore, we have</a:t>
            </a:r>
            <a:endParaRPr/>
          </a:p>
          <a:p>
            <a:pPr indent="-182880" lvl="1" marL="384048" rtl="0" algn="l">
              <a:lnSpc>
                <a:spcPct val="130000"/>
              </a:lnSpc>
              <a:spcBef>
                <a:spcPts val="600"/>
              </a:spcBef>
              <a:spcAft>
                <a:spcPts val="0"/>
              </a:spcAft>
              <a:buSzPts val="2000"/>
              <a:buFont typeface="Noto Sans Symbols"/>
              <a:buChar char="●"/>
            </a:pPr>
            <a:r>
              <a:rPr lang="en-US">
                <a:latin typeface="Noto Sans Symbols"/>
                <a:ea typeface="Noto Sans Symbols"/>
                <a:cs typeface="Noto Sans Symbols"/>
                <a:sym typeface="Noto Sans Symbols"/>
              </a:rPr>
              <a:t> Σ</a:t>
            </a:r>
            <a:r>
              <a:rPr baseline="30000" lang="en-US">
                <a:latin typeface="Noto Sans Symbols"/>
                <a:ea typeface="Noto Sans Symbols"/>
                <a:cs typeface="Noto Sans Symbols"/>
                <a:sym typeface="Noto Sans Symbols"/>
              </a:rPr>
              <a:t>+</a:t>
            </a:r>
            <a:r>
              <a:rPr lang="en-US">
                <a:latin typeface="Noto Sans Symbols"/>
                <a:ea typeface="Noto Sans Symbols"/>
                <a:cs typeface="Noto Sans Symbols"/>
                <a:sym typeface="Noto Sans Symbols"/>
              </a:rPr>
              <a:t> = Σ</a:t>
            </a:r>
            <a:r>
              <a:rPr baseline="30000" lang="en-US">
                <a:latin typeface="Noto Sans Symbols"/>
                <a:ea typeface="Noto Sans Symbols"/>
                <a:cs typeface="Noto Sans Symbols"/>
                <a:sym typeface="Noto Sans Symbols"/>
              </a:rPr>
              <a:t>1 </a:t>
            </a:r>
            <a:r>
              <a:rPr b="1" lang="en-US"/>
              <a:t>∪</a:t>
            </a:r>
            <a:r>
              <a:rPr lang="en-US">
                <a:latin typeface="Arial"/>
                <a:ea typeface="Arial"/>
                <a:cs typeface="Arial"/>
                <a:sym typeface="Arial"/>
              </a:rPr>
              <a:t> </a:t>
            </a:r>
            <a:r>
              <a:rPr lang="en-US">
                <a:latin typeface="Noto Sans Symbols"/>
                <a:ea typeface="Noto Sans Symbols"/>
                <a:cs typeface="Noto Sans Symbols"/>
                <a:sym typeface="Noto Sans Symbols"/>
              </a:rPr>
              <a:t>Σ</a:t>
            </a:r>
            <a:r>
              <a:rPr baseline="30000" lang="en-US">
                <a:latin typeface="Noto Sans Symbols"/>
                <a:ea typeface="Noto Sans Symbols"/>
                <a:cs typeface="Noto Sans Symbols"/>
                <a:sym typeface="Noto Sans Symbols"/>
              </a:rPr>
              <a:t>2 </a:t>
            </a:r>
            <a:r>
              <a:rPr b="1" lang="en-US"/>
              <a:t>∪</a:t>
            </a:r>
            <a:r>
              <a:rPr lang="en-US">
                <a:latin typeface="Arial"/>
                <a:ea typeface="Arial"/>
                <a:cs typeface="Arial"/>
                <a:sym typeface="Arial"/>
              </a:rPr>
              <a:t> </a:t>
            </a:r>
            <a:r>
              <a:rPr lang="en-US">
                <a:latin typeface="Noto Sans Symbols"/>
                <a:ea typeface="Noto Sans Symbols"/>
                <a:cs typeface="Noto Sans Symbols"/>
                <a:sym typeface="Noto Sans Symbols"/>
              </a:rPr>
              <a:t>Σ</a:t>
            </a:r>
            <a:r>
              <a:rPr baseline="30000" lang="en-US">
                <a:latin typeface="Noto Sans Symbols"/>
                <a:ea typeface="Noto Sans Symbols"/>
                <a:cs typeface="Noto Sans Symbols"/>
                <a:sym typeface="Noto Sans Symbols"/>
              </a:rPr>
              <a:t>3 </a:t>
            </a:r>
            <a:r>
              <a:rPr b="1" lang="en-US"/>
              <a:t>∪</a:t>
            </a:r>
            <a:r>
              <a:rPr baseline="30000" lang="en-US">
                <a:latin typeface="Noto Sans Symbols"/>
                <a:ea typeface="Noto Sans Symbols"/>
                <a:cs typeface="Noto Sans Symbols"/>
                <a:sym typeface="Noto Sans Symbols"/>
              </a:rPr>
              <a:t> </a:t>
            </a:r>
            <a:r>
              <a:rPr lang="en-US"/>
              <a:t>…</a:t>
            </a:r>
            <a:endParaRPr>
              <a:latin typeface="Noto Sans Symbols"/>
              <a:ea typeface="Noto Sans Symbols"/>
              <a:cs typeface="Noto Sans Symbols"/>
              <a:sym typeface="Noto Sans Symbols"/>
            </a:endParaRPr>
          </a:p>
          <a:p>
            <a:pPr indent="-182880" lvl="1" marL="384048" rtl="0" algn="l">
              <a:lnSpc>
                <a:spcPct val="130000"/>
              </a:lnSpc>
              <a:spcBef>
                <a:spcPts val="600"/>
              </a:spcBef>
              <a:spcAft>
                <a:spcPts val="0"/>
              </a:spcAft>
              <a:buSzPts val="2000"/>
              <a:buFont typeface="Noto Sans Symbols"/>
              <a:buChar char="●"/>
            </a:pPr>
            <a:r>
              <a:rPr lang="en-US">
                <a:latin typeface="Noto Sans Symbols"/>
                <a:ea typeface="Noto Sans Symbols"/>
                <a:cs typeface="Noto Sans Symbols"/>
                <a:sym typeface="Noto Sans Symbols"/>
              </a:rPr>
              <a:t> Σ</a:t>
            </a:r>
            <a:r>
              <a:rPr baseline="30000" lang="en-US">
                <a:latin typeface="Noto Sans Symbols"/>
                <a:ea typeface="Noto Sans Symbols"/>
                <a:cs typeface="Noto Sans Symbols"/>
                <a:sym typeface="Noto Sans Symbols"/>
              </a:rPr>
              <a:t>*</a:t>
            </a:r>
            <a:r>
              <a:rPr lang="en-US">
                <a:latin typeface="Noto Sans Symbols"/>
                <a:ea typeface="Noto Sans Symbols"/>
                <a:cs typeface="Noto Sans Symbols"/>
                <a:sym typeface="Noto Sans Symbols"/>
              </a:rPr>
              <a:t> = Σ</a:t>
            </a:r>
            <a:r>
              <a:rPr baseline="30000" lang="en-US">
                <a:latin typeface="Noto Sans Symbols"/>
                <a:ea typeface="Noto Sans Symbols"/>
                <a:cs typeface="Noto Sans Symbols"/>
                <a:sym typeface="Noto Sans Symbols"/>
              </a:rPr>
              <a:t>+ </a:t>
            </a:r>
            <a:r>
              <a:rPr b="1" lang="en-US"/>
              <a:t>∪</a:t>
            </a:r>
            <a:r>
              <a:rPr lang="en-US">
                <a:latin typeface="Noto Sans Symbols"/>
                <a:ea typeface="Noto Sans Symbols"/>
                <a:cs typeface="Noto Sans Symbols"/>
                <a:sym typeface="Noto Sans Symbols"/>
              </a:rPr>
              <a:t>{ε}</a:t>
            </a:r>
            <a:endParaRPr/>
          </a:p>
          <a:p>
            <a:pPr indent="-182880" lvl="1" marL="384048" rtl="0" algn="l">
              <a:lnSpc>
                <a:spcPct val="130000"/>
              </a:lnSpc>
              <a:spcBef>
                <a:spcPts val="600"/>
              </a:spcBef>
              <a:spcAft>
                <a:spcPts val="0"/>
              </a:spcAft>
              <a:buSzPts val="2000"/>
              <a:buChar char="▪"/>
            </a:pPr>
            <a:r>
              <a:rPr lang="en-US">
                <a:solidFill>
                  <a:schemeClr val="dk1"/>
                </a:solidFill>
              </a:rPr>
              <a:t>Concatenation of two strings </a:t>
            </a:r>
            <a:r>
              <a:rPr i="1" lang="en-US">
                <a:solidFill>
                  <a:schemeClr val="dk1"/>
                </a:solidFill>
              </a:rPr>
              <a:t>x</a:t>
            </a:r>
            <a:r>
              <a:rPr lang="en-US">
                <a:solidFill>
                  <a:schemeClr val="dk1"/>
                </a:solidFill>
              </a:rPr>
              <a:t> and y --- </a:t>
            </a:r>
            <a:r>
              <a:rPr i="1" lang="en-US">
                <a:solidFill>
                  <a:schemeClr val="dk1"/>
                </a:solidFill>
              </a:rPr>
              <a:t>xy</a:t>
            </a:r>
            <a:endParaRPr i="1">
              <a:solidFill>
                <a:schemeClr val="dk1"/>
              </a:solidFill>
            </a:endParaRPr>
          </a:p>
          <a:p>
            <a:pPr indent="-182880" lvl="2" marL="566928" rtl="0" algn="l">
              <a:lnSpc>
                <a:spcPct val="130000"/>
              </a:lnSpc>
              <a:spcBef>
                <a:spcPts val="600"/>
              </a:spcBef>
              <a:spcAft>
                <a:spcPts val="0"/>
              </a:spcAft>
              <a:buSzPts val="2000"/>
              <a:buChar char="•"/>
            </a:pPr>
            <a:r>
              <a:rPr lang="en-US">
                <a:solidFill>
                  <a:schemeClr val="dk1"/>
                </a:solidFill>
              </a:rPr>
              <a:t>Example --- </a:t>
            </a:r>
            <a:endParaRPr/>
          </a:p>
          <a:p>
            <a:pPr indent="-182880" lvl="3" marL="749808" rtl="0" algn="l">
              <a:lnSpc>
                <a:spcPct val="130000"/>
              </a:lnSpc>
              <a:spcBef>
                <a:spcPts val="600"/>
              </a:spcBef>
              <a:spcAft>
                <a:spcPts val="0"/>
              </a:spcAft>
              <a:buSzPts val="2000"/>
              <a:buChar char="◦"/>
            </a:pPr>
            <a:r>
              <a:rPr lang="en-US" sz="2000">
                <a:solidFill>
                  <a:schemeClr val="dk1"/>
                </a:solidFill>
              </a:rPr>
              <a:t>if</a:t>
            </a:r>
            <a:r>
              <a:rPr i="1" lang="en-US" sz="2000">
                <a:solidFill>
                  <a:schemeClr val="dk1"/>
                </a:solidFill>
              </a:rPr>
              <a:t> x </a:t>
            </a:r>
            <a:r>
              <a:rPr lang="en-US" sz="2000">
                <a:solidFill>
                  <a:schemeClr val="dk1"/>
                </a:solidFill>
              </a:rPr>
              <a:t>= 01101</a:t>
            </a:r>
            <a:r>
              <a:rPr i="1" lang="en-US" sz="2000">
                <a:solidFill>
                  <a:schemeClr val="dk1"/>
                </a:solidFill>
              </a:rPr>
              <a:t>, y</a:t>
            </a:r>
            <a:r>
              <a:rPr lang="en-US" sz="2000">
                <a:solidFill>
                  <a:schemeClr val="dk1"/>
                </a:solidFill>
              </a:rPr>
              <a:t> = 110, then</a:t>
            </a:r>
            <a:endParaRPr/>
          </a:p>
          <a:p>
            <a:pPr indent="-182880" lvl="2" marL="566928" rtl="0" algn="l">
              <a:lnSpc>
                <a:spcPct val="130000"/>
              </a:lnSpc>
              <a:spcBef>
                <a:spcPts val="600"/>
              </a:spcBef>
              <a:spcAft>
                <a:spcPts val="0"/>
              </a:spcAft>
              <a:buSzPts val="2000"/>
              <a:buNone/>
            </a:pPr>
            <a:r>
              <a:rPr i="1" lang="en-US">
                <a:solidFill>
                  <a:schemeClr val="dk1"/>
                </a:solidFill>
              </a:rPr>
              <a:t>        xy</a:t>
            </a:r>
            <a:r>
              <a:rPr lang="en-US">
                <a:solidFill>
                  <a:schemeClr val="dk1"/>
                </a:solidFill>
              </a:rPr>
              <a:t> = 01101110, </a:t>
            </a:r>
            <a:r>
              <a:rPr i="1" lang="en-US">
                <a:solidFill>
                  <a:schemeClr val="dk1"/>
                </a:solidFill>
              </a:rPr>
              <a:t>xx = x</a:t>
            </a:r>
            <a:r>
              <a:rPr baseline="30000" lang="en-US">
                <a:solidFill>
                  <a:schemeClr val="dk1"/>
                </a:solidFill>
                <a:latin typeface="Noto Sans Symbols"/>
                <a:ea typeface="Noto Sans Symbols"/>
                <a:cs typeface="Noto Sans Symbols"/>
                <a:sym typeface="Noto Sans Symbols"/>
              </a:rPr>
              <a:t>2 </a:t>
            </a:r>
            <a:r>
              <a:rPr i="1" lang="en-US">
                <a:solidFill>
                  <a:schemeClr val="dk1"/>
                </a:solidFill>
              </a:rPr>
              <a:t>= </a:t>
            </a:r>
            <a:r>
              <a:rPr lang="en-US">
                <a:solidFill>
                  <a:schemeClr val="dk1"/>
                </a:solidFill>
              </a:rPr>
              <a:t>0110101101, …</a:t>
            </a:r>
            <a:endParaRPr>
              <a:solidFill>
                <a:schemeClr val="dk1"/>
              </a:solidFill>
            </a:endParaRPr>
          </a:p>
          <a:p>
            <a:pPr indent="-182880" lvl="1" marL="384048" rtl="0" algn="l">
              <a:lnSpc>
                <a:spcPct val="130000"/>
              </a:lnSpc>
              <a:spcBef>
                <a:spcPts val="600"/>
              </a:spcBef>
              <a:spcAft>
                <a:spcPts val="0"/>
              </a:spcAft>
              <a:buSzPts val="2000"/>
              <a:buChar char="▪"/>
            </a:pPr>
            <a:r>
              <a:rPr lang="en-US">
                <a:solidFill>
                  <a:schemeClr val="dk1"/>
                </a:solidFill>
                <a:latin typeface="Noto Sans Symbols"/>
                <a:ea typeface="Noto Sans Symbols"/>
                <a:cs typeface="Noto Sans Symbols"/>
                <a:sym typeface="Noto Sans Symbols"/>
              </a:rPr>
              <a:t>ε</a:t>
            </a:r>
            <a:r>
              <a:rPr lang="en-US">
                <a:solidFill>
                  <a:schemeClr val="dk1"/>
                </a:solidFill>
              </a:rPr>
              <a:t> is the identity for concatenation </a:t>
            </a:r>
            <a:endParaRPr/>
          </a:p>
          <a:p>
            <a:pPr indent="-182880" lvl="1" marL="384048" rtl="0" algn="l">
              <a:lnSpc>
                <a:spcPct val="130000"/>
              </a:lnSpc>
              <a:spcBef>
                <a:spcPts val="600"/>
              </a:spcBef>
              <a:spcAft>
                <a:spcPts val="0"/>
              </a:spcAft>
              <a:buSzPts val="2000"/>
              <a:buNone/>
            </a:pPr>
            <a:r>
              <a:rPr lang="en-US">
                <a:solidFill>
                  <a:schemeClr val="dk1"/>
                </a:solidFill>
              </a:rPr>
              <a:t>   since </a:t>
            </a:r>
            <a:r>
              <a:rPr lang="en-US">
                <a:solidFill>
                  <a:schemeClr val="dk1"/>
                </a:solidFill>
                <a:latin typeface="Noto Sans Symbols"/>
                <a:ea typeface="Noto Sans Symbols"/>
                <a:cs typeface="Noto Sans Symbols"/>
                <a:sym typeface="Noto Sans Symbols"/>
              </a:rPr>
              <a:t>ε</a:t>
            </a:r>
            <a:r>
              <a:rPr i="1" lang="en-US">
                <a:solidFill>
                  <a:schemeClr val="dk1"/>
                </a:solidFill>
              </a:rPr>
              <a:t>w</a:t>
            </a:r>
            <a:r>
              <a:rPr lang="en-US">
                <a:solidFill>
                  <a:schemeClr val="dk1"/>
                </a:solidFill>
              </a:rPr>
              <a:t> = </a:t>
            </a:r>
            <a:r>
              <a:rPr i="1" lang="en-US">
                <a:solidFill>
                  <a:schemeClr val="dk1"/>
                </a:solidFill>
              </a:rPr>
              <a:t>w</a:t>
            </a:r>
            <a:r>
              <a:rPr lang="en-US">
                <a:solidFill>
                  <a:schemeClr val="dk1"/>
                </a:solidFill>
                <a:latin typeface="Noto Sans Symbols"/>
                <a:ea typeface="Noto Sans Symbols"/>
                <a:cs typeface="Noto Sans Symbols"/>
                <a:sym typeface="Noto Sans Symbols"/>
              </a:rPr>
              <a:t>ε = </a:t>
            </a:r>
            <a:r>
              <a:rPr i="1" lang="en-US">
                <a:solidFill>
                  <a:schemeClr val="dk1"/>
                </a:solidFill>
              </a:rPr>
              <a:t>w.</a:t>
            </a:r>
            <a:r>
              <a:rPr lang="en-US">
                <a:solidFill>
                  <a:schemeClr val="dk1"/>
                </a:solidFill>
              </a:rPr>
              <a:t>  </a:t>
            </a:r>
            <a:endParaRPr/>
          </a:p>
          <a:p>
            <a:pPr indent="-55879" lvl="1" marL="384048" rtl="0" algn="l">
              <a:lnSpc>
                <a:spcPct val="130000"/>
              </a:lnSpc>
              <a:spcBef>
                <a:spcPts val="600"/>
              </a:spcBef>
              <a:spcAft>
                <a:spcPts val="0"/>
              </a:spcAft>
              <a:buSzPts val="2000"/>
              <a:buFont typeface="Noto Sans Symbols"/>
              <a:buNone/>
            </a:pPr>
            <a:r>
              <a:t/>
            </a:r>
            <a:endParaRPr>
              <a:latin typeface="Noto Sans Symbols"/>
              <a:ea typeface="Noto Sans Symbols"/>
              <a:cs typeface="Noto Sans Symbols"/>
              <a:sym typeface="Noto Sans Symbols"/>
            </a:endParaRPr>
          </a:p>
          <a:p>
            <a:pPr indent="-182880" lvl="1" marL="384048" rtl="0" algn="l">
              <a:lnSpc>
                <a:spcPct val="130000"/>
              </a:lnSpc>
              <a:spcBef>
                <a:spcPts val="600"/>
              </a:spcBef>
              <a:spcAft>
                <a:spcPts val="0"/>
              </a:spcAft>
              <a:buSzPts val="2000"/>
              <a:buFont typeface="Noto Sans Symbols"/>
              <a:buNone/>
            </a:pPr>
            <a:r>
              <a:t/>
            </a:r>
            <a:endParaRPr/>
          </a:p>
        </p:txBody>
      </p:sp>
      <p:sp>
        <p:nvSpPr>
          <p:cNvPr id="323" name="Google Shape;323;p2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77e416f7ede9c36c_0"/>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330" name="Google Shape;330;g77e416f7ede9c36c_0"/>
          <p:cNvSpPr txBox="1"/>
          <p:nvPr>
            <p:ph idx="1" type="body"/>
          </p:nvPr>
        </p:nvSpPr>
        <p:spPr>
          <a:xfrm>
            <a:off x="3000010" y="1530059"/>
            <a:ext cx="37032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t/>
            </a:r>
            <a:endParaRPr/>
          </a:p>
        </p:txBody>
      </p:sp>
      <p:sp>
        <p:nvSpPr>
          <p:cNvPr id="331" name="Google Shape;331;g77e416f7ede9c36c_0"/>
          <p:cNvSpPr txBox="1"/>
          <p:nvPr>
            <p:ph idx="2" type="body"/>
          </p:nvPr>
        </p:nvSpPr>
        <p:spPr>
          <a:xfrm>
            <a:off x="4663440" y="1845735"/>
            <a:ext cx="37032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t/>
            </a:r>
            <a:endParaRPr/>
          </a:p>
        </p:txBody>
      </p:sp>
      <p:sp>
        <p:nvSpPr>
          <p:cNvPr id="332" name="Google Shape;332;g77e416f7ede9c36c_0"/>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33" name="Google Shape;333;g77e416f7ede9c36c_0"/>
          <p:cNvSpPr txBox="1"/>
          <p:nvPr/>
        </p:nvSpPr>
        <p:spPr>
          <a:xfrm>
            <a:off x="0" y="0"/>
            <a:ext cx="3000000" cy="4578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1500">
                <a:solidFill>
                  <a:srgbClr val="080809"/>
                </a:solidFill>
                <a:highlight>
                  <a:srgbClr val="FFFFFF"/>
                </a:highlight>
              </a:rPr>
              <a:t>The future of artificial intelligence is subject to wild speculation. In many cases, AI is marketed as an end-all solution to every problem faced by an enterprise. Whereas, in reality, it is simply a tool that can be used to optimize complex business processes through intelligent automation.</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Explaining this further,</a:t>
            </a:r>
            <a:r>
              <a:rPr b="1" lang="en-US" sz="1500">
                <a:solidFill>
                  <a:srgbClr val="080809"/>
                </a:solidFill>
                <a:highlight>
                  <a:srgbClr val="FFFFFF"/>
                </a:highlight>
              </a:rPr>
              <a:t> Mark Gazit, CEO of </a:t>
            </a:r>
            <a:r>
              <a:rPr b="1" lang="en-US" sz="1500">
                <a:solidFill>
                  <a:srgbClr val="007FA2"/>
                </a:solidFill>
                <a:highlight>
                  <a:srgbClr val="FFFFFF"/>
                </a:highlight>
                <a:uFill>
                  <a:noFill/>
                </a:uFill>
                <a:hlinkClick r:id="rId3">
                  <a:extLst>
                    <a:ext uri="{A12FA001-AC4F-418D-AE19-62706E023703}">
                      <ahyp:hlinkClr val="tx"/>
                    </a:ext>
                  </a:extLst>
                </a:hlinkClick>
              </a:rPr>
              <a:t>ThetaRay</a:t>
            </a:r>
            <a:r>
              <a:rPr b="1" lang="en-US" sz="100">
                <a:solidFill>
                  <a:srgbClr val="007FA2"/>
                </a:solidFill>
                <a:highlight>
                  <a:srgbClr val="FFFFFF"/>
                </a:highlight>
                <a:uFill>
                  <a:noFill/>
                </a:uFill>
                <a:hlinkClick r:id="rId4">
                  <a:extLst>
                    <a:ext uri="{A12FA001-AC4F-418D-AE19-62706E023703}">
                      <ahyp:hlinkClr val="tx"/>
                    </a:ext>
                  </a:extLst>
                </a:hlinkClick>
              </a:rPr>
              <a:t>Opens  window </a:t>
            </a:r>
            <a:r>
              <a:rPr lang="en-US" sz="1500">
                <a:solidFill>
                  <a:srgbClr val="080809"/>
                </a:solidFill>
                <a:highlight>
                  <a:srgbClr val="FFFFFF"/>
                </a:highlight>
              </a:rPr>
              <a:t>, said, “The world is moving from simple AI analytics to a more powerful form – artificial intuition. Up to this point, we’ve only had what I would term “rational” AI, which is comparable to the functioning of the cerebral cortex. Intuitive AI algorithms, on the other hand, replicate the powerful decision-making of human intuition. Looking into the future, we can envision machines that are like humans in thought, memory, emotions, and self-awareness.”</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Although AI is a complex concept, customers do not need to understand how it works to appreciate the benefits. This will eventually result in an environment where the end user interacts with the product, while AI provides its benefits in the background.</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Agreeing to this,</a:t>
            </a:r>
            <a:r>
              <a:rPr b="1" lang="en-US" sz="1500">
                <a:solidFill>
                  <a:srgbClr val="080809"/>
                </a:solidFill>
                <a:highlight>
                  <a:srgbClr val="FFFFFF"/>
                </a:highlight>
              </a:rPr>
              <a:t> David Gingell, CMO at </a:t>
            </a:r>
            <a:r>
              <a:rPr b="1" lang="en-US" sz="1500">
                <a:solidFill>
                  <a:srgbClr val="007FA2"/>
                </a:solidFill>
                <a:highlight>
                  <a:srgbClr val="FFFFFF"/>
                </a:highlight>
                <a:uFill>
                  <a:noFill/>
                </a:uFill>
                <a:hlinkClick r:id="rId5">
                  <a:extLst>
                    <a:ext uri="{A12FA001-AC4F-418D-AE19-62706E023703}">
                      <ahyp:hlinkClr val="tx"/>
                    </a:ext>
                  </a:extLst>
                </a:hlinkClick>
              </a:rPr>
              <a:t>Seal Software</a:t>
            </a:r>
            <a:r>
              <a:rPr b="1" lang="en-US" sz="100">
                <a:solidFill>
                  <a:srgbClr val="007FA2"/>
                </a:solidFill>
                <a:highlight>
                  <a:srgbClr val="FFFFFF"/>
                </a:highlight>
                <a:uFill>
                  <a:noFill/>
                </a:uFill>
                <a:hlinkClick r:id="rId6">
                  <a:extLst>
                    <a:ext uri="{A12FA001-AC4F-418D-AE19-62706E023703}">
                      <ahyp:hlinkClr val="tx"/>
                    </a:ext>
                  </a:extLst>
                </a:hlinkClick>
              </a:rPr>
              <a:t>Opens a new window </a:t>
            </a:r>
            <a:r>
              <a:rPr lang="en-US" sz="1500">
                <a:solidFill>
                  <a:srgbClr val="080809"/>
                </a:solidFill>
                <a:highlight>
                  <a:srgbClr val="FFFFFF"/>
                </a:highlight>
              </a:rPr>
              <a:t>, said, “Few people understand (or even care) how the internet truly works, how transfer protocols work, how data moves around networks or how security is implemented. AI will be like that. It is in the background, facilitating every aspect of computation. AI will be pervasive. In the way that the internet has permeated every facet of human existence, at least in the developed world, so too will AI.”</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However, for this widespread adoption of AI to occur, many of the issues that plague it today need to be remedied. This is especially relevant in the fields of data protection and privacy.</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Speaking on the subject, </a:t>
            </a:r>
            <a:r>
              <a:rPr b="1" lang="en-US" sz="1500">
                <a:solidFill>
                  <a:srgbClr val="080809"/>
                </a:solidFill>
                <a:highlight>
                  <a:srgbClr val="FFFFFF"/>
                </a:highlight>
              </a:rPr>
              <a:t>Dr. Alain Briançon, Chief Technology Officer and VP Data Science of </a:t>
            </a:r>
            <a:r>
              <a:rPr b="1" lang="en-US" sz="1500">
                <a:solidFill>
                  <a:srgbClr val="007FA2"/>
                </a:solidFill>
                <a:highlight>
                  <a:srgbClr val="FFFFFF"/>
                </a:highlight>
                <a:uFill>
                  <a:noFill/>
                </a:uFill>
                <a:hlinkClick r:id="rId7">
                  <a:extLst>
                    <a:ext uri="{A12FA001-AC4F-418D-AE19-62706E023703}">
                      <ahyp:hlinkClr val="tx"/>
                    </a:ext>
                  </a:extLst>
                </a:hlinkClick>
              </a:rPr>
              <a:t>Cerebri AI</a:t>
            </a:r>
            <a:r>
              <a:rPr b="1" lang="en-US" sz="100">
                <a:solidFill>
                  <a:srgbClr val="007FA2"/>
                </a:solidFill>
                <a:highlight>
                  <a:srgbClr val="FFFFFF"/>
                </a:highlight>
                <a:uFill>
                  <a:noFill/>
                </a:uFill>
                <a:hlinkClick r:id="rId8">
                  <a:extLst>
                    <a:ext uri="{A12FA001-AC4F-418D-AE19-62706E023703}">
                      <ahyp:hlinkClr val="tx"/>
                    </a:ext>
                  </a:extLst>
                </a:hlinkClick>
              </a:rPr>
              <a:t>Opens a new window </a:t>
            </a:r>
            <a:r>
              <a:rPr lang="en-US" sz="1500">
                <a:solidFill>
                  <a:srgbClr val="080809"/>
                </a:solidFill>
                <a:highlight>
                  <a:srgbClr val="FFFFFF"/>
                </a:highlight>
              </a:rPr>
              <a:t>, commented, “The future of AI resonates with possible successes that we cannot even dream of today. For AI to be adopted thoroughly, the backlash against the obvious abuses of privacy from social media concerns and the ‘slap happy’ approach to data security will both have to be worked out.”</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Owing to its capability to be easily adapted into any field, a suitable AI implementation can often provide a better solution than existing ones. Even existing systems and networks can find improvement in the future through artificial intelligence applications.</a:t>
            </a:r>
            <a:endParaRPr sz="1500">
              <a:solidFill>
                <a:srgbClr val="080809"/>
              </a:solidFill>
              <a:highlight>
                <a:srgbClr val="FFFFFF"/>
              </a:highlight>
            </a:endParaRPr>
          </a:p>
          <a:p>
            <a:pPr indent="0" lvl="0" marL="0" rtl="0" algn="l">
              <a:lnSpc>
                <a:spcPct val="150000"/>
              </a:lnSpc>
              <a:spcBef>
                <a:spcPts val="3000"/>
              </a:spcBef>
              <a:spcAft>
                <a:spcPts val="0"/>
              </a:spcAft>
              <a:buNone/>
            </a:pPr>
            <a:r>
              <a:rPr b="1" lang="en-US" sz="1500">
                <a:solidFill>
                  <a:srgbClr val="080809"/>
                </a:solidFill>
                <a:highlight>
                  <a:srgbClr val="FFFFFF"/>
                </a:highlight>
              </a:rPr>
              <a:t>Steve Blow, Technology Evangelist at </a:t>
            </a:r>
            <a:r>
              <a:rPr b="1" lang="en-US" sz="1500">
                <a:solidFill>
                  <a:srgbClr val="007FA2"/>
                </a:solidFill>
                <a:highlight>
                  <a:srgbClr val="FFFFFF"/>
                </a:highlight>
                <a:uFill>
                  <a:noFill/>
                </a:uFill>
                <a:hlinkClick r:id="rId9">
                  <a:extLst>
                    <a:ext uri="{A12FA001-AC4F-418D-AE19-62706E023703}">
                      <ahyp:hlinkClr val="tx"/>
                    </a:ext>
                  </a:extLst>
                </a:hlinkClick>
              </a:rPr>
              <a:t>Zerto</a:t>
            </a:r>
            <a:r>
              <a:rPr b="1" lang="en-US" sz="100">
                <a:solidFill>
                  <a:srgbClr val="007FA2"/>
                </a:solidFill>
                <a:highlight>
                  <a:srgbClr val="FFFFFF"/>
                </a:highlight>
                <a:uFill>
                  <a:noFill/>
                </a:uFill>
                <a:hlinkClick r:id="rId10">
                  <a:extLst>
                    <a:ext uri="{A12FA001-AC4F-418D-AE19-62706E023703}">
                      <ahyp:hlinkClr val="tx"/>
                    </a:ext>
                  </a:extLst>
                </a:hlinkClick>
              </a:rPr>
              <a:t>Opens a new window </a:t>
            </a:r>
            <a:r>
              <a:rPr lang="en-US" sz="1500">
                <a:solidFill>
                  <a:srgbClr val="080809"/>
                </a:solidFill>
                <a:highlight>
                  <a:srgbClr val="FFFFFF"/>
                </a:highlight>
              </a:rPr>
              <a:t>, said, “In the future, a security system equipped with advanced machine learning will be able to detect the encryption taking place as it happens and then automatically connect with a recovery system to both stop the attack as it’s happening and failover to unencrypted data. This scenario will be a reality in the near future, and eventually, with the rate at which cyber threats are growing, no business will be able to survive or compete without this kind of protective technology in place.”</a:t>
            </a:r>
            <a:endParaRPr sz="1500">
              <a:solidFill>
                <a:srgbClr val="080809"/>
              </a:solidFill>
              <a:highlight>
                <a:srgbClr val="FFFFFF"/>
              </a:highlight>
            </a:endParaRPr>
          </a:p>
          <a:p>
            <a:pPr indent="0" lvl="0" marL="0" rtl="0" algn="l">
              <a:lnSpc>
                <a:spcPct val="150000"/>
              </a:lnSpc>
              <a:spcBef>
                <a:spcPts val="3000"/>
              </a:spcBef>
              <a:spcAft>
                <a:spcPts val="0"/>
              </a:spcAft>
              <a:buNone/>
            </a:pPr>
            <a:r>
              <a:rPr lang="en-US" sz="1500">
                <a:solidFill>
                  <a:srgbClr val="080809"/>
                </a:solidFill>
                <a:highlight>
                  <a:srgbClr val="FFFFFF"/>
                </a:highlight>
              </a:rPr>
              <a:t>With the widespread use that this technology has seen over the past few years, it is evident that the field still has room to grow and develop. This makes the future of AI an exciting proposition for enterprises and customers alike.</a:t>
            </a:r>
            <a:endParaRPr sz="1500">
              <a:solidFill>
                <a:srgbClr val="080809"/>
              </a:solidFill>
              <a:highlight>
                <a:srgbClr val="FFFFFF"/>
              </a:highlight>
            </a:endParaRPr>
          </a:p>
          <a:p>
            <a:pPr indent="0" lvl="0" marL="0" rtl="0" algn="l">
              <a:lnSpc>
                <a:spcPct val="150000"/>
              </a:lnSpc>
              <a:spcBef>
                <a:spcPts val="3000"/>
              </a:spcBef>
              <a:spcAft>
                <a:spcPts val="3000"/>
              </a:spcAft>
              <a:buNone/>
            </a:pPr>
            <a:r>
              <a:rPr lang="en-US" sz="1500">
                <a:solidFill>
                  <a:srgbClr val="080809"/>
                </a:solidFill>
                <a:highlight>
                  <a:srgbClr val="FFFFFF"/>
                </a:highlight>
              </a:rPr>
              <a:t>While talking to Toolbox about the future, </a:t>
            </a:r>
            <a:r>
              <a:rPr b="1" lang="en-US" sz="1500">
                <a:solidFill>
                  <a:srgbClr val="080809"/>
                </a:solidFill>
                <a:highlight>
                  <a:srgbClr val="FFFFFF"/>
                </a:highlight>
              </a:rPr>
              <a:t>Al Brown, the SVP of Engineering at </a:t>
            </a:r>
            <a:r>
              <a:rPr b="1" lang="en-US" sz="1500">
                <a:solidFill>
                  <a:srgbClr val="007FA2"/>
                </a:solidFill>
                <a:highlight>
                  <a:srgbClr val="FFFFFF"/>
                </a:highlight>
                <a:uFill>
                  <a:noFill/>
                </a:uFill>
                <a:hlinkClick r:id="rId11">
                  <a:extLst>
                    <a:ext uri="{A12FA001-AC4F-418D-AE19-62706E023703}">
                      <ahyp:hlinkClr val="tx"/>
                    </a:ext>
                  </a:extLst>
                </a:hlinkClick>
              </a:rPr>
              <a:t>Veritone</a:t>
            </a:r>
            <a:r>
              <a:rPr b="1" lang="en-US" sz="100">
                <a:solidFill>
                  <a:srgbClr val="007FA2"/>
                </a:solidFill>
                <a:highlight>
                  <a:srgbClr val="FFFFFF"/>
                </a:highlight>
                <a:uFill>
                  <a:noFill/>
                </a:uFill>
                <a:hlinkClick r:id="rId12">
                  <a:extLst>
                    <a:ext uri="{A12FA001-AC4F-418D-AE19-62706E023703}">
                      <ahyp:hlinkClr val="tx"/>
                    </a:ext>
                  </a:extLst>
                </a:hlinkClick>
              </a:rPr>
              <a:t>Opens a new window </a:t>
            </a:r>
            <a:r>
              <a:rPr lang="en-US" sz="1500">
                <a:solidFill>
                  <a:srgbClr val="080809"/>
                </a:solidFill>
                <a:highlight>
                  <a:srgbClr val="FFFFFF"/>
                </a:highlight>
              </a:rPr>
              <a:t>, said, “The future of AI is nothing short of amazing. When it comes to AI’s impact on the business world, specifically, we have only scratched the surface of its potential to transform companies around the world. Over the next five years in particular, as AI continues to develop and mature, it will make companies and their employees more effective, efficient, and profitable in their work.”</a:t>
            </a:r>
            <a:endParaRPr sz="1500">
              <a:solidFill>
                <a:srgbClr val="080809"/>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Calibri"/>
              <a:buNone/>
            </a:pPr>
            <a:r>
              <a:rPr b="1" lang="en-US" sz="4000">
                <a:solidFill>
                  <a:schemeClr val="dk1"/>
                </a:solidFill>
              </a:rPr>
              <a:t>Strings..</a:t>
            </a:r>
            <a:endParaRPr/>
          </a:p>
        </p:txBody>
      </p:sp>
      <p:sp>
        <p:nvSpPr>
          <p:cNvPr id="339" name="Google Shape;339;p23"/>
          <p:cNvSpPr txBox="1"/>
          <p:nvPr>
            <p:ph idx="1" type="body"/>
          </p:nvPr>
        </p:nvSpPr>
        <p:spPr>
          <a:xfrm>
            <a:off x="477441" y="1295400"/>
            <a:ext cx="8435975" cy="5257800"/>
          </a:xfrm>
          <a:prstGeom prst="rect">
            <a:avLst/>
          </a:prstGeom>
          <a:noFill/>
          <a:ln>
            <a:noFill/>
          </a:ln>
        </p:spPr>
        <p:txBody>
          <a:bodyPr anchorCtr="0" anchor="t" bIns="45700" lIns="0" spcFirstLastPara="1" rIns="0" wrap="square" tIns="45700">
            <a:normAutofit/>
          </a:bodyPr>
          <a:lstStyle/>
          <a:p>
            <a:pPr indent="-182880" lvl="1" marL="384048" rtl="0" algn="l">
              <a:lnSpc>
                <a:spcPct val="130000"/>
              </a:lnSpc>
              <a:spcBef>
                <a:spcPts val="0"/>
              </a:spcBef>
              <a:spcAft>
                <a:spcPts val="0"/>
              </a:spcAft>
              <a:buSzPts val="2400"/>
              <a:buChar char="▪"/>
            </a:pPr>
            <a:r>
              <a:rPr lang="en-US" sz="2400">
                <a:solidFill>
                  <a:schemeClr val="dk1"/>
                </a:solidFill>
              </a:rPr>
              <a:t> Power of a string --- </a:t>
            </a:r>
            <a:endParaRPr/>
          </a:p>
          <a:p>
            <a:pPr indent="-182880" lvl="2" marL="566928" rtl="0" algn="l">
              <a:lnSpc>
                <a:spcPct val="130000"/>
              </a:lnSpc>
              <a:spcBef>
                <a:spcPts val="600"/>
              </a:spcBef>
              <a:spcAft>
                <a:spcPts val="0"/>
              </a:spcAft>
              <a:buSzPts val="2400"/>
              <a:buChar char="•"/>
            </a:pPr>
            <a:r>
              <a:rPr lang="en-US" sz="2400">
                <a:solidFill>
                  <a:schemeClr val="dk1"/>
                </a:solidFill>
              </a:rPr>
              <a:t>Defined by concatenation ---</a:t>
            </a:r>
            <a:endParaRPr/>
          </a:p>
          <a:p>
            <a:pPr indent="-182880" lvl="3" marL="749808" rtl="0" algn="l">
              <a:lnSpc>
                <a:spcPct val="130000"/>
              </a:lnSpc>
              <a:spcBef>
                <a:spcPts val="600"/>
              </a:spcBef>
              <a:spcAft>
                <a:spcPts val="0"/>
              </a:spcAft>
              <a:buSzPts val="2400"/>
              <a:buChar char="◦"/>
            </a:pPr>
            <a:r>
              <a:rPr i="1" lang="en-US" sz="2400">
                <a:solidFill>
                  <a:schemeClr val="dk1"/>
                </a:solidFill>
              </a:rPr>
              <a:t>x</a:t>
            </a:r>
            <a:r>
              <a:rPr baseline="30000" i="1" lang="en-US" sz="2400">
                <a:solidFill>
                  <a:schemeClr val="dk1"/>
                </a:solidFill>
              </a:rPr>
              <a:t>i</a:t>
            </a:r>
            <a:r>
              <a:rPr lang="en-US" sz="2400">
                <a:solidFill>
                  <a:schemeClr val="dk1"/>
                </a:solidFill>
              </a:rPr>
              <a:t> = </a:t>
            </a:r>
            <a:r>
              <a:rPr i="1" lang="en-US" sz="2400">
                <a:solidFill>
                  <a:schemeClr val="dk1"/>
                </a:solidFill>
              </a:rPr>
              <a:t>xx</a:t>
            </a:r>
            <a:r>
              <a:rPr lang="en-US" sz="2400">
                <a:solidFill>
                  <a:schemeClr val="dk1"/>
                </a:solidFill>
                <a:latin typeface="Times New Roman"/>
                <a:ea typeface="Times New Roman"/>
                <a:cs typeface="Times New Roman"/>
                <a:sym typeface="Times New Roman"/>
              </a:rPr>
              <a:t>…</a:t>
            </a:r>
            <a:r>
              <a:rPr i="1" lang="en-US" sz="2400">
                <a:solidFill>
                  <a:schemeClr val="dk1"/>
                </a:solidFill>
              </a:rPr>
              <a:t>x</a:t>
            </a:r>
            <a:r>
              <a:rPr lang="en-US" sz="2400">
                <a:solidFill>
                  <a:schemeClr val="dk1"/>
                </a:solidFill>
              </a:rPr>
              <a:t> (</a:t>
            </a:r>
            <a:r>
              <a:rPr i="1" lang="en-US" sz="2400">
                <a:solidFill>
                  <a:schemeClr val="dk1"/>
                </a:solidFill>
              </a:rPr>
              <a:t>x</a:t>
            </a:r>
            <a:r>
              <a:rPr lang="en-US" sz="2400">
                <a:solidFill>
                  <a:schemeClr val="dk1"/>
                </a:solidFill>
              </a:rPr>
              <a:t> concatenated </a:t>
            </a:r>
            <a:r>
              <a:rPr i="1" lang="en-US" sz="2400">
                <a:solidFill>
                  <a:schemeClr val="dk1"/>
                </a:solidFill>
              </a:rPr>
              <a:t>i</a:t>
            </a:r>
            <a:r>
              <a:rPr lang="en-US" sz="2400">
                <a:solidFill>
                  <a:schemeClr val="dk1"/>
                </a:solidFill>
              </a:rPr>
              <a:t> times)</a:t>
            </a:r>
            <a:endParaRPr/>
          </a:p>
          <a:p>
            <a:pPr indent="-182880" lvl="2" marL="566928" rtl="0" algn="l">
              <a:lnSpc>
                <a:spcPct val="130000"/>
              </a:lnSpc>
              <a:spcBef>
                <a:spcPts val="600"/>
              </a:spcBef>
              <a:spcAft>
                <a:spcPts val="0"/>
              </a:spcAft>
              <a:buSzPts val="2400"/>
              <a:buChar char="•"/>
            </a:pPr>
            <a:r>
              <a:rPr lang="en-US" sz="2400">
                <a:solidFill>
                  <a:schemeClr val="dk1"/>
                </a:solidFill>
              </a:rPr>
              <a:t>Defined by recursion ---</a:t>
            </a:r>
            <a:endParaRPr/>
          </a:p>
          <a:p>
            <a:pPr indent="-182880" lvl="3" marL="749808" rtl="0" algn="l">
              <a:lnSpc>
                <a:spcPct val="130000"/>
              </a:lnSpc>
              <a:spcBef>
                <a:spcPts val="600"/>
              </a:spcBef>
              <a:spcAft>
                <a:spcPts val="0"/>
              </a:spcAft>
              <a:buSzPts val="2400"/>
              <a:buChar char="◦"/>
            </a:pPr>
            <a:r>
              <a:rPr i="1" lang="en-US" sz="2400">
                <a:solidFill>
                  <a:schemeClr val="dk1"/>
                </a:solidFill>
              </a:rPr>
              <a:t>x</a:t>
            </a:r>
            <a:r>
              <a:rPr baseline="30000" lang="en-US" sz="2400">
                <a:solidFill>
                  <a:schemeClr val="dk1"/>
                </a:solidFill>
              </a:rPr>
              <a:t>0</a:t>
            </a:r>
            <a:r>
              <a:rPr lang="en-US" sz="2400">
                <a:solidFill>
                  <a:schemeClr val="dk1"/>
                </a:solidFill>
              </a:rPr>
              <a:t> = </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 (by definition)</a:t>
            </a:r>
            <a:endParaRPr sz="2400">
              <a:solidFill>
                <a:schemeClr val="dk1"/>
              </a:solidFill>
              <a:latin typeface="Noto Sans Symbols"/>
              <a:ea typeface="Noto Sans Symbols"/>
              <a:cs typeface="Noto Sans Symbols"/>
              <a:sym typeface="Noto Sans Symbols"/>
            </a:endParaRPr>
          </a:p>
          <a:p>
            <a:pPr indent="-182880" lvl="3" marL="749808" rtl="0" algn="l">
              <a:lnSpc>
                <a:spcPct val="130000"/>
              </a:lnSpc>
              <a:spcBef>
                <a:spcPts val="600"/>
              </a:spcBef>
              <a:spcAft>
                <a:spcPts val="0"/>
              </a:spcAft>
              <a:buSzPts val="2400"/>
              <a:buChar char="◦"/>
            </a:pPr>
            <a:r>
              <a:rPr i="1" lang="en-US" sz="2400">
                <a:solidFill>
                  <a:schemeClr val="dk1"/>
                </a:solidFill>
              </a:rPr>
              <a:t>x</a:t>
            </a:r>
            <a:r>
              <a:rPr baseline="30000" i="1" lang="en-US" sz="2400">
                <a:solidFill>
                  <a:schemeClr val="dk1"/>
                </a:solidFill>
              </a:rPr>
              <a:t>i</a:t>
            </a:r>
            <a:r>
              <a:rPr lang="en-US" sz="2400">
                <a:solidFill>
                  <a:schemeClr val="dk1"/>
                </a:solidFill>
              </a:rPr>
              <a:t> = </a:t>
            </a:r>
            <a:r>
              <a:rPr i="1" lang="en-US" sz="2400">
                <a:solidFill>
                  <a:schemeClr val="dk1"/>
                </a:solidFill>
              </a:rPr>
              <a:t>xx</a:t>
            </a:r>
            <a:r>
              <a:rPr baseline="30000" i="1" lang="en-US" sz="2400">
                <a:solidFill>
                  <a:schemeClr val="dk1"/>
                </a:solidFill>
              </a:rPr>
              <a:t>i</a:t>
            </a:r>
            <a:r>
              <a:rPr baseline="30000" lang="en-US" sz="2400">
                <a:solidFill>
                  <a:schemeClr val="dk1"/>
                </a:solidFill>
              </a:rPr>
              <a:t>-1</a:t>
            </a:r>
            <a:endParaRPr/>
          </a:p>
        </p:txBody>
      </p:sp>
      <p:sp>
        <p:nvSpPr>
          <p:cNvPr id="340" name="Google Shape;340;p2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Languages</a:t>
            </a:r>
            <a:endParaRPr/>
          </a:p>
        </p:txBody>
      </p:sp>
      <p:sp>
        <p:nvSpPr>
          <p:cNvPr id="346" name="Google Shape;346;p24"/>
          <p:cNvSpPr txBox="1"/>
          <p:nvPr>
            <p:ph idx="1" type="body"/>
          </p:nvPr>
        </p:nvSpPr>
        <p:spPr>
          <a:xfrm>
            <a:off x="443753" y="1306706"/>
            <a:ext cx="8204200" cy="4997450"/>
          </a:xfrm>
          <a:prstGeom prst="rect">
            <a:avLst/>
          </a:prstGeom>
          <a:noFill/>
          <a:ln>
            <a:noFill/>
          </a:ln>
        </p:spPr>
        <p:txBody>
          <a:bodyPr anchorCtr="0" anchor="t" bIns="45700" lIns="0" spcFirstLastPara="1" rIns="0" wrap="square" tIns="45700">
            <a:normAutofit/>
          </a:bodyPr>
          <a:lstStyle/>
          <a:p>
            <a:pPr indent="-182880" lvl="2" marL="566928" rtl="0" algn="l">
              <a:lnSpc>
                <a:spcPct val="110000"/>
              </a:lnSpc>
              <a:spcBef>
                <a:spcPts val="0"/>
              </a:spcBef>
              <a:spcAft>
                <a:spcPts val="0"/>
              </a:spcAft>
              <a:buSzPts val="2400"/>
              <a:buFont typeface="Noto Sans Symbols"/>
              <a:buNone/>
            </a:pPr>
            <a:r>
              <a:rPr lang="en-US" sz="2400">
                <a:solidFill>
                  <a:schemeClr val="dk1"/>
                </a:solidFill>
              </a:rPr>
              <a:t>a language is a set of strings all chosen from some </a:t>
            </a:r>
            <a:r>
              <a:rPr lang="en-US" sz="2400">
                <a:solidFill>
                  <a:schemeClr val="dk1"/>
                </a:solidFill>
                <a:latin typeface="Noto Sans Symbols"/>
                <a:ea typeface="Noto Sans Symbols"/>
                <a:cs typeface="Noto Sans Symbols"/>
                <a:sym typeface="Noto Sans Symbols"/>
              </a:rPr>
              <a:t>Σ</a:t>
            </a:r>
            <a:r>
              <a:rPr baseline="30000" lang="en-US" sz="2400">
                <a:solidFill>
                  <a:schemeClr val="dk1"/>
                </a:solidFill>
              </a:rPr>
              <a:t>*</a:t>
            </a:r>
            <a:endParaRPr/>
          </a:p>
          <a:p>
            <a:pPr indent="-182880" lvl="2" marL="566928" rtl="0" algn="l">
              <a:lnSpc>
                <a:spcPct val="80000"/>
              </a:lnSpc>
              <a:spcBef>
                <a:spcPts val="600"/>
              </a:spcBef>
              <a:spcAft>
                <a:spcPts val="0"/>
              </a:spcAft>
              <a:buSzPts val="2400"/>
              <a:buFont typeface="Noto Sans Symbols"/>
              <a:buNone/>
            </a:pPr>
            <a:r>
              <a:t/>
            </a:r>
            <a:endParaRPr sz="2400">
              <a:solidFill>
                <a:schemeClr val="dk1"/>
              </a:solidFill>
            </a:endParaRPr>
          </a:p>
          <a:p>
            <a:pPr indent="-182880" lvl="1" marL="384048" rtl="0" algn="l">
              <a:lnSpc>
                <a:spcPct val="110000"/>
              </a:lnSpc>
              <a:spcBef>
                <a:spcPts val="600"/>
              </a:spcBef>
              <a:spcAft>
                <a:spcPts val="0"/>
              </a:spcAft>
              <a:buSzPts val="2400"/>
              <a:buChar char="▪"/>
            </a:pPr>
            <a:r>
              <a:rPr lang="en-US" sz="2400">
                <a:solidFill>
                  <a:schemeClr val="dk1"/>
                </a:solidFill>
              </a:rPr>
              <a:t>If </a:t>
            </a:r>
            <a:r>
              <a:rPr lang="en-US" sz="2400">
                <a:solidFill>
                  <a:schemeClr val="dk1"/>
                </a:solidFill>
                <a:latin typeface="Noto Sans Symbols"/>
                <a:ea typeface="Noto Sans Symbols"/>
                <a:cs typeface="Noto Sans Symbols"/>
                <a:sym typeface="Noto Sans Symbols"/>
              </a:rPr>
              <a:t>Σ</a:t>
            </a:r>
            <a:r>
              <a:rPr lang="en-US" sz="2400">
                <a:solidFill>
                  <a:schemeClr val="dk1"/>
                </a:solidFill>
              </a:rPr>
              <a:t> is an alphabet, and </a:t>
            </a:r>
            <a:r>
              <a:rPr i="1" lang="en-US" sz="2400">
                <a:solidFill>
                  <a:schemeClr val="dk1"/>
                </a:solidFill>
              </a:rPr>
              <a:t>L</a:t>
            </a:r>
            <a:r>
              <a:rPr lang="en-US" sz="2400">
                <a:solidFill>
                  <a:schemeClr val="dk1"/>
                </a:solidFill>
                <a:latin typeface="DFKai-SB"/>
                <a:ea typeface="DFKai-SB"/>
                <a:cs typeface="DFKai-SB"/>
                <a:sym typeface="DFKai-SB"/>
              </a:rPr>
              <a:t>⊆</a:t>
            </a:r>
            <a:r>
              <a:rPr lang="en-US" sz="2400">
                <a:solidFill>
                  <a:schemeClr val="dk1"/>
                </a:solidFill>
                <a:latin typeface="Noto Sans Symbols"/>
                <a:ea typeface="Noto Sans Symbols"/>
                <a:cs typeface="Noto Sans Symbols"/>
                <a:sym typeface="Noto Sans Symbols"/>
              </a:rPr>
              <a:t>Σ</a:t>
            </a:r>
            <a:r>
              <a:rPr baseline="30000" lang="en-US" sz="2400">
                <a:solidFill>
                  <a:schemeClr val="dk1"/>
                </a:solidFill>
              </a:rPr>
              <a:t>*</a:t>
            </a:r>
            <a:r>
              <a:rPr lang="en-US" sz="2400">
                <a:solidFill>
                  <a:schemeClr val="dk1"/>
                </a:solidFill>
              </a:rPr>
              <a:t>, then </a:t>
            </a:r>
            <a:r>
              <a:rPr i="1" lang="en-US" sz="2400">
                <a:solidFill>
                  <a:schemeClr val="dk1"/>
                </a:solidFill>
              </a:rPr>
              <a:t>L</a:t>
            </a:r>
            <a:r>
              <a:rPr lang="en-US" sz="2400">
                <a:solidFill>
                  <a:schemeClr val="dk1"/>
                </a:solidFill>
              </a:rPr>
              <a:t> is a language over </a:t>
            </a:r>
            <a:r>
              <a:rPr lang="en-US" sz="2400">
                <a:solidFill>
                  <a:schemeClr val="dk1"/>
                </a:solidFill>
                <a:latin typeface="Noto Sans Symbols"/>
                <a:ea typeface="Noto Sans Symbols"/>
                <a:cs typeface="Noto Sans Symbols"/>
                <a:sym typeface="Noto Sans Symbols"/>
              </a:rPr>
              <a:t>Σ</a:t>
            </a:r>
            <a:r>
              <a:rPr lang="en-US" sz="2400">
                <a:solidFill>
                  <a:schemeClr val="dk1"/>
                </a:solidFill>
              </a:rPr>
              <a:t>.</a:t>
            </a:r>
            <a:endParaRPr/>
          </a:p>
          <a:p>
            <a:pPr indent="-182880" lvl="2" marL="566928" rtl="0" algn="l">
              <a:lnSpc>
                <a:spcPct val="90000"/>
              </a:lnSpc>
              <a:spcBef>
                <a:spcPts val="600"/>
              </a:spcBef>
              <a:spcAft>
                <a:spcPts val="0"/>
              </a:spcAft>
              <a:buSzPts val="2400"/>
              <a:buChar char="•"/>
            </a:pPr>
            <a:r>
              <a:rPr i="1" lang="en-US" sz="2400">
                <a:solidFill>
                  <a:schemeClr val="dk1"/>
                </a:solidFill>
              </a:rPr>
              <a:t>Examples ---</a:t>
            </a:r>
            <a:endParaRPr i="1" sz="2400">
              <a:solidFill>
                <a:schemeClr val="dk1"/>
              </a:solidFill>
            </a:endParaRPr>
          </a:p>
          <a:p>
            <a:pPr indent="-182880" lvl="3" marL="749808" rtl="0" algn="l">
              <a:lnSpc>
                <a:spcPct val="90000"/>
              </a:lnSpc>
              <a:spcBef>
                <a:spcPts val="600"/>
              </a:spcBef>
              <a:spcAft>
                <a:spcPts val="0"/>
              </a:spcAft>
              <a:buSzPts val="2400"/>
              <a:buChar char="◦"/>
            </a:pPr>
            <a:r>
              <a:rPr lang="en-US" sz="2400">
                <a:solidFill>
                  <a:schemeClr val="dk1"/>
                </a:solidFill>
              </a:rPr>
              <a:t>The set of all legal English words is a language. Why? What is the alphabet here? </a:t>
            </a:r>
            <a:endParaRPr/>
          </a:p>
          <a:p>
            <a:pPr indent="-182880" lvl="3" marL="749808" rtl="0" algn="l">
              <a:lnSpc>
                <a:spcPct val="90000"/>
              </a:lnSpc>
              <a:spcBef>
                <a:spcPts val="600"/>
              </a:spcBef>
              <a:spcAft>
                <a:spcPts val="0"/>
              </a:spcAft>
              <a:buSzPts val="2400"/>
              <a:buNone/>
            </a:pPr>
            <a:r>
              <a:rPr lang="en-US" sz="2400">
                <a:solidFill>
                  <a:schemeClr val="dk1"/>
                </a:solidFill>
              </a:rPr>
              <a:t>   Answer: the set of all letters</a:t>
            </a:r>
            <a:endParaRPr/>
          </a:p>
          <a:p>
            <a:pPr indent="-182880" lvl="3" marL="749808" rtl="0" algn="l">
              <a:lnSpc>
                <a:spcPct val="60000"/>
              </a:lnSpc>
              <a:spcBef>
                <a:spcPts val="600"/>
              </a:spcBef>
              <a:spcAft>
                <a:spcPts val="0"/>
              </a:spcAft>
              <a:buSzPts val="2400"/>
              <a:buNone/>
            </a:pPr>
            <a:r>
              <a:t/>
            </a:r>
            <a:endParaRPr sz="2400">
              <a:solidFill>
                <a:schemeClr val="dk1"/>
              </a:solidFill>
            </a:endParaRPr>
          </a:p>
          <a:p>
            <a:pPr indent="-182880" lvl="3" marL="749808" rtl="0" algn="l">
              <a:lnSpc>
                <a:spcPct val="90000"/>
              </a:lnSpc>
              <a:spcBef>
                <a:spcPts val="600"/>
              </a:spcBef>
              <a:spcAft>
                <a:spcPts val="0"/>
              </a:spcAft>
              <a:buSzPts val="2400"/>
              <a:buChar char="◦"/>
            </a:pPr>
            <a:r>
              <a:rPr lang="en-US" sz="2400">
                <a:solidFill>
                  <a:schemeClr val="dk1"/>
                </a:solidFill>
              </a:rPr>
              <a:t>A legal program of C is a language. Why? What is the alphabet here? </a:t>
            </a:r>
            <a:endParaRPr/>
          </a:p>
          <a:p>
            <a:pPr indent="-182880" lvl="3" marL="749808" rtl="0" algn="l">
              <a:lnSpc>
                <a:spcPct val="90000"/>
              </a:lnSpc>
              <a:spcBef>
                <a:spcPts val="600"/>
              </a:spcBef>
              <a:spcAft>
                <a:spcPts val="0"/>
              </a:spcAft>
              <a:buSzPts val="2400"/>
              <a:buNone/>
            </a:pPr>
            <a:r>
              <a:rPr lang="en-US" sz="2400">
                <a:solidFill>
                  <a:schemeClr val="dk1"/>
                </a:solidFill>
              </a:rPr>
              <a:t>   Answer: a subset of the ASCII characters.</a:t>
            </a:r>
            <a:endParaRPr sz="2400">
              <a:solidFill>
                <a:schemeClr val="dk1"/>
              </a:solidFill>
            </a:endParaRPr>
          </a:p>
          <a:p>
            <a:pPr indent="-30479" lvl="1" marL="384048" rtl="0" algn="l">
              <a:lnSpc>
                <a:spcPct val="110000"/>
              </a:lnSpc>
              <a:spcBef>
                <a:spcPts val="600"/>
              </a:spcBef>
              <a:spcAft>
                <a:spcPts val="0"/>
              </a:spcAft>
              <a:buSzPts val="2400"/>
              <a:buNone/>
            </a:pPr>
            <a:r>
              <a:t/>
            </a:r>
            <a:endParaRPr i="1" sz="2400">
              <a:solidFill>
                <a:schemeClr val="dk1"/>
              </a:solidFill>
            </a:endParaRPr>
          </a:p>
        </p:txBody>
      </p:sp>
      <p:sp>
        <p:nvSpPr>
          <p:cNvPr id="347" name="Google Shape;347;p2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443753" y="1524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000"/>
              <a:buFont typeface="Calibri"/>
              <a:buNone/>
            </a:pPr>
            <a:r>
              <a:rPr b="1" lang="en-US" sz="4000"/>
              <a:t>Languages</a:t>
            </a:r>
            <a:endParaRPr/>
          </a:p>
        </p:txBody>
      </p:sp>
      <p:sp>
        <p:nvSpPr>
          <p:cNvPr id="353" name="Google Shape;353;p25"/>
          <p:cNvSpPr txBox="1"/>
          <p:nvPr>
            <p:ph idx="1" type="body"/>
          </p:nvPr>
        </p:nvSpPr>
        <p:spPr>
          <a:xfrm>
            <a:off x="335803" y="1182146"/>
            <a:ext cx="8445500" cy="4913854"/>
          </a:xfrm>
          <a:prstGeom prst="rect">
            <a:avLst/>
          </a:prstGeom>
          <a:noFill/>
          <a:ln>
            <a:noFill/>
          </a:ln>
        </p:spPr>
        <p:txBody>
          <a:bodyPr anchorCtr="0" anchor="t" bIns="45700" lIns="0" spcFirstLastPara="1" rIns="0" wrap="square" tIns="45700">
            <a:normAutofit/>
          </a:bodyPr>
          <a:lstStyle/>
          <a:p>
            <a:pPr indent="-182880" lvl="1" marL="384048" rtl="0" algn="l">
              <a:lnSpc>
                <a:spcPct val="130000"/>
              </a:lnSpc>
              <a:spcBef>
                <a:spcPts val="0"/>
              </a:spcBef>
              <a:spcAft>
                <a:spcPts val="0"/>
              </a:spcAft>
              <a:buSzPts val="2400"/>
              <a:buChar char="▪"/>
            </a:pPr>
            <a:r>
              <a:rPr lang="en-US" sz="2400">
                <a:solidFill>
                  <a:schemeClr val="dk1"/>
                </a:solidFill>
              </a:rPr>
              <a:t>More examples of languages ---</a:t>
            </a:r>
            <a:endParaRPr/>
          </a:p>
          <a:p>
            <a:pPr indent="-182880" lvl="2" marL="566928" rtl="0" algn="l">
              <a:lnSpc>
                <a:spcPct val="130000"/>
              </a:lnSpc>
              <a:spcBef>
                <a:spcPts val="600"/>
              </a:spcBef>
              <a:spcAft>
                <a:spcPts val="0"/>
              </a:spcAft>
              <a:buSzPts val="2400"/>
              <a:buChar char="•"/>
            </a:pPr>
            <a:r>
              <a:rPr lang="en-US" sz="2400">
                <a:solidFill>
                  <a:schemeClr val="dk1"/>
                </a:solidFill>
              </a:rPr>
              <a:t>The set of all strings of </a:t>
            </a:r>
            <a:r>
              <a:rPr i="1" lang="en-US" sz="2400">
                <a:solidFill>
                  <a:schemeClr val="dk1"/>
                </a:solidFill>
              </a:rPr>
              <a:t>n</a:t>
            </a:r>
            <a:r>
              <a:rPr lang="en-US" sz="2400">
                <a:solidFill>
                  <a:schemeClr val="dk1"/>
                </a:solidFill>
              </a:rPr>
              <a:t> 0’s followed by </a:t>
            </a:r>
            <a:r>
              <a:rPr i="1" lang="en-US" sz="2400">
                <a:solidFill>
                  <a:schemeClr val="dk1"/>
                </a:solidFill>
              </a:rPr>
              <a:t>n</a:t>
            </a:r>
            <a:r>
              <a:rPr lang="en-US" sz="2400">
                <a:solidFill>
                  <a:schemeClr val="dk1"/>
                </a:solidFill>
              </a:rPr>
              <a:t> 1’s for </a:t>
            </a:r>
            <a:r>
              <a:rPr i="1" lang="en-US" sz="2400">
                <a:solidFill>
                  <a:schemeClr val="dk1"/>
                </a:solidFill>
              </a:rPr>
              <a:t>n</a:t>
            </a:r>
            <a:r>
              <a:rPr lang="en-US" sz="2400">
                <a:solidFill>
                  <a:schemeClr val="dk1"/>
                </a:solidFill>
              </a:rPr>
              <a:t>≥ 0:</a:t>
            </a:r>
            <a:endParaRPr/>
          </a:p>
          <a:p>
            <a:pPr indent="-182880" lvl="2" marL="566928" rtl="0" algn="l">
              <a:lnSpc>
                <a:spcPct val="130000"/>
              </a:lnSpc>
              <a:spcBef>
                <a:spcPts val="600"/>
              </a:spcBef>
              <a:spcAft>
                <a:spcPts val="0"/>
              </a:spcAft>
              <a:buSzPts val="2400"/>
              <a:buFont typeface="Noto Sans Symbols"/>
              <a:buNone/>
            </a:pPr>
            <a:r>
              <a:rPr lang="en-US" sz="2400">
                <a:solidFill>
                  <a:schemeClr val="dk1"/>
                </a:solidFill>
              </a:rPr>
              <a:t>            {</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 01, 0011, 000111, …}</a:t>
            </a:r>
            <a:endParaRPr/>
          </a:p>
          <a:p>
            <a:pPr indent="-182880" lvl="2" marL="566928" rtl="0" algn="l">
              <a:lnSpc>
                <a:spcPct val="130000"/>
              </a:lnSpc>
              <a:spcBef>
                <a:spcPts val="600"/>
              </a:spcBef>
              <a:spcAft>
                <a:spcPts val="0"/>
              </a:spcAft>
              <a:buSzPts val="2400"/>
              <a:buChar char="•"/>
            </a:pPr>
            <a:r>
              <a:rPr lang="en-US" sz="2400">
                <a:solidFill>
                  <a:schemeClr val="dk1"/>
                </a:solidFill>
                <a:latin typeface="Noto Sans Symbols"/>
                <a:ea typeface="Noto Sans Symbols"/>
                <a:cs typeface="Noto Sans Symbols"/>
                <a:sym typeface="Noto Sans Symbols"/>
              </a:rPr>
              <a:t>Σ</a:t>
            </a:r>
            <a:r>
              <a:rPr baseline="30000" lang="en-US" sz="2400">
                <a:solidFill>
                  <a:schemeClr val="dk1"/>
                </a:solidFill>
              </a:rPr>
              <a:t>* </a:t>
            </a:r>
            <a:r>
              <a:rPr lang="en-US" sz="2400">
                <a:solidFill>
                  <a:schemeClr val="dk1"/>
                </a:solidFill>
              </a:rPr>
              <a:t>is an infinite language for any alphabet </a:t>
            </a:r>
            <a:r>
              <a:rPr lang="en-US" sz="2400">
                <a:solidFill>
                  <a:schemeClr val="dk1"/>
                </a:solidFill>
                <a:latin typeface="Noto Sans Symbols"/>
                <a:ea typeface="Noto Sans Symbols"/>
                <a:cs typeface="Noto Sans Symbols"/>
                <a:sym typeface="Noto Sans Symbols"/>
              </a:rPr>
              <a:t>Σ</a:t>
            </a:r>
            <a:r>
              <a:rPr lang="en-US" sz="2400">
                <a:solidFill>
                  <a:schemeClr val="dk1"/>
                </a:solidFill>
              </a:rPr>
              <a:t>.</a:t>
            </a:r>
            <a:endParaRPr/>
          </a:p>
          <a:p>
            <a:pPr indent="-182880" lvl="2" marL="566928" rtl="0" algn="l">
              <a:lnSpc>
                <a:spcPct val="140000"/>
              </a:lnSpc>
              <a:spcBef>
                <a:spcPts val="600"/>
              </a:spcBef>
              <a:spcAft>
                <a:spcPts val="0"/>
              </a:spcAft>
              <a:buSzPts val="2400"/>
              <a:buChar char="•"/>
            </a:pPr>
            <a:r>
              <a:rPr lang="en-US" sz="2400">
                <a:solidFill>
                  <a:schemeClr val="dk1"/>
                </a:solidFill>
                <a:latin typeface="Noto Sans Symbols"/>
                <a:ea typeface="Noto Sans Symbols"/>
                <a:cs typeface="Noto Sans Symbols"/>
                <a:sym typeface="Noto Sans Symbols"/>
              </a:rPr>
              <a:t>φ = </a:t>
            </a:r>
            <a:r>
              <a:rPr lang="en-US" sz="2400">
                <a:solidFill>
                  <a:schemeClr val="dk1"/>
                </a:solidFill>
              </a:rPr>
              <a:t>the empty language (not the empty string </a:t>
            </a:r>
            <a:r>
              <a:rPr lang="en-US" sz="2400">
                <a:solidFill>
                  <a:schemeClr val="dk1"/>
                </a:solidFill>
                <a:latin typeface="Noto Sans Symbols"/>
                <a:ea typeface="Noto Sans Symbols"/>
                <a:cs typeface="Noto Sans Symbols"/>
                <a:sym typeface="Noto Sans Symbols"/>
              </a:rPr>
              <a:t>ε) </a:t>
            </a:r>
            <a:r>
              <a:rPr lang="en-US" sz="2400">
                <a:solidFill>
                  <a:schemeClr val="dk1"/>
                </a:solidFill>
              </a:rPr>
              <a:t>is a language over any alphabet.</a:t>
            </a:r>
            <a:endParaRPr/>
          </a:p>
          <a:p>
            <a:pPr indent="-30480" lvl="2" marL="566928" rtl="0" algn="l">
              <a:lnSpc>
                <a:spcPct val="60000"/>
              </a:lnSpc>
              <a:spcBef>
                <a:spcPts val="600"/>
              </a:spcBef>
              <a:spcAft>
                <a:spcPts val="0"/>
              </a:spcAft>
              <a:buSzPts val="2400"/>
              <a:buNone/>
            </a:pPr>
            <a:r>
              <a:t/>
            </a:r>
            <a:endParaRPr sz="2400">
              <a:solidFill>
                <a:schemeClr val="dk1"/>
              </a:solidFill>
            </a:endParaRPr>
          </a:p>
          <a:p>
            <a:pPr indent="-182880" lvl="2" marL="566928" rtl="0" algn="l">
              <a:lnSpc>
                <a:spcPct val="140000"/>
              </a:lnSpc>
              <a:spcBef>
                <a:spcPts val="600"/>
              </a:spcBef>
              <a:spcAft>
                <a:spcPts val="0"/>
              </a:spcAft>
              <a:buSzPts val="2400"/>
              <a:buChar char="•"/>
            </a:pPr>
            <a:r>
              <a:rPr lang="en-US" sz="2400">
                <a:solidFill>
                  <a:schemeClr val="dk1"/>
                </a:solidFill>
              </a:rPr>
              <a:t>{</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 is a language over any alphabet (consisting of only one string, the empty string </a:t>
            </a:r>
            <a:r>
              <a:rPr lang="en-US" sz="2400">
                <a:solidFill>
                  <a:schemeClr val="dk1"/>
                </a:solidFill>
                <a:latin typeface="Noto Sans Symbols"/>
                <a:ea typeface="Noto Sans Symbols"/>
                <a:cs typeface="Noto Sans Symbols"/>
                <a:sym typeface="Noto Sans Symbols"/>
              </a:rPr>
              <a:t>ε</a:t>
            </a:r>
            <a:r>
              <a:rPr lang="en-US" sz="2400">
                <a:solidFill>
                  <a:schemeClr val="dk1"/>
                </a:solidFill>
              </a:rPr>
              <a:t>).</a:t>
            </a:r>
            <a:endParaRPr/>
          </a:p>
          <a:p>
            <a:pPr indent="-55880" lvl="2" marL="566928" rtl="0" algn="l">
              <a:lnSpc>
                <a:spcPct val="130000"/>
              </a:lnSpc>
              <a:spcBef>
                <a:spcPts val="600"/>
              </a:spcBef>
              <a:spcAft>
                <a:spcPts val="0"/>
              </a:spcAft>
              <a:buSzPts val="2000"/>
              <a:buNone/>
            </a:pPr>
            <a:r>
              <a:t/>
            </a:r>
            <a:endParaRPr>
              <a:solidFill>
                <a:schemeClr val="dk1"/>
              </a:solidFill>
            </a:endParaRPr>
          </a:p>
          <a:p>
            <a:pPr indent="-55880" lvl="2" marL="566928" rtl="0" algn="l">
              <a:lnSpc>
                <a:spcPct val="130000"/>
              </a:lnSpc>
              <a:spcBef>
                <a:spcPts val="600"/>
              </a:spcBef>
              <a:spcAft>
                <a:spcPts val="0"/>
              </a:spcAft>
              <a:buSzPts val="2000"/>
              <a:buNone/>
            </a:pPr>
            <a:r>
              <a:t/>
            </a:r>
            <a:endParaRPr>
              <a:solidFill>
                <a:schemeClr val="dk1"/>
              </a:solidFill>
            </a:endParaRPr>
          </a:p>
        </p:txBody>
      </p:sp>
      <p:sp>
        <p:nvSpPr>
          <p:cNvPr id="354" name="Google Shape;354;p2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6"/>
          <p:cNvSpPr txBox="1"/>
          <p:nvPr>
            <p:ph type="ctrTitle"/>
          </p:nvPr>
        </p:nvSpPr>
        <p:spPr>
          <a:xfrm>
            <a:off x="928036" y="2895600"/>
            <a:ext cx="7543800" cy="1277112"/>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4400"/>
              <a:buFont typeface="Tahoma"/>
              <a:buNone/>
            </a:pPr>
            <a:br>
              <a:rPr b="1" lang="en-US" sz="4400">
                <a:latin typeface="Tahoma"/>
                <a:ea typeface="Tahoma"/>
                <a:cs typeface="Tahoma"/>
                <a:sym typeface="Tahoma"/>
              </a:rPr>
            </a:br>
            <a:r>
              <a:rPr b="1" lang="en-US" sz="4400">
                <a:latin typeface="Tahoma"/>
                <a:ea typeface="Tahoma"/>
                <a:cs typeface="Tahoma"/>
                <a:sym typeface="Tahoma"/>
              </a:rPr>
              <a:t>Finite Automata</a:t>
            </a:r>
            <a:endParaRPr b="1" sz="4400">
              <a:latin typeface="Tahoma"/>
              <a:ea typeface="Tahoma"/>
              <a:cs typeface="Tahoma"/>
              <a:sym typeface="Tahoma"/>
            </a:endParaRPr>
          </a:p>
        </p:txBody>
      </p:sp>
      <p:sp>
        <p:nvSpPr>
          <p:cNvPr id="360" name="Google Shape;360;p26"/>
          <p:cNvSpPr/>
          <p:nvPr/>
        </p:nvSpPr>
        <p:spPr>
          <a:xfrm>
            <a:off x="0" y="-12834"/>
            <a:ext cx="9144000" cy="457200"/>
          </a:xfrm>
          <a:prstGeom prst="rect">
            <a:avLst/>
          </a:prstGeom>
          <a:gradFill>
            <a:gsLst>
              <a:gs pos="0">
                <a:srgbClr val="33BDFE"/>
              </a:gs>
              <a:gs pos="34000">
                <a:srgbClr val="38BEFC"/>
              </a:gs>
              <a:gs pos="70000">
                <a:srgbClr val="35C1FF"/>
              </a:gs>
              <a:gs pos="100000">
                <a:srgbClr val="48C6FF"/>
              </a:gs>
            </a:gsLst>
            <a:path path="circle">
              <a:fillToRect b="50%" l="50%" r="50%" t="50%"/>
            </a:path>
            <a:tileRect/>
          </a:gradFill>
          <a:ln cap="flat" cmpd="sng" w="12700">
            <a:solidFill>
              <a:schemeClr val="accent6"/>
            </a:solidFill>
            <a:prstDash val="solid"/>
            <a:round/>
            <a:headEnd len="sm" w="sm" type="none"/>
            <a:tailEnd len="sm" w="sm" type="none"/>
          </a:ln>
          <a:effectLst>
            <a:outerShdw blurRad="38100" rotWithShape="0" algn="br" dir="2700000" dist="254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7"/>
          <p:cNvSpPr txBox="1"/>
          <p:nvPr>
            <p:ph type="title"/>
          </p:nvPr>
        </p:nvSpPr>
        <p:spPr>
          <a:xfrm>
            <a:off x="533400" y="1604"/>
            <a:ext cx="8229600" cy="11430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Calibri"/>
              <a:buNone/>
            </a:pPr>
            <a:r>
              <a:rPr lang="en-US"/>
              <a:t>Finite Automata</a:t>
            </a:r>
            <a:br>
              <a:rPr lang="en-US"/>
            </a:br>
            <a:r>
              <a:rPr lang="en-US"/>
              <a:t> ( or Finite State Machines)</a:t>
            </a:r>
            <a:endParaRPr/>
          </a:p>
        </p:txBody>
      </p:sp>
      <p:sp>
        <p:nvSpPr>
          <p:cNvPr id="366" name="Google Shape;366;p27"/>
          <p:cNvSpPr txBox="1"/>
          <p:nvPr>
            <p:ph idx="1" type="body"/>
          </p:nvPr>
        </p:nvSpPr>
        <p:spPr>
          <a:xfrm>
            <a:off x="563880" y="1144604"/>
            <a:ext cx="8199120" cy="4951396"/>
          </a:xfrm>
          <a:prstGeom prst="rect">
            <a:avLst/>
          </a:prstGeom>
          <a:noFill/>
          <a:ln>
            <a:noFill/>
          </a:ln>
        </p:spPr>
        <p:txBody>
          <a:bodyPr anchorCtr="0" anchor="t" bIns="45700" lIns="0" spcFirstLastPara="1" rIns="0" wrap="square" tIns="45700">
            <a:normAutofit fontScale="92500" lnSpcReduction="20000"/>
          </a:bodyPr>
          <a:lstStyle/>
          <a:p>
            <a:pPr indent="-140970" lvl="0" marL="91440" rtl="0" algn="l">
              <a:lnSpc>
                <a:spcPct val="90000"/>
              </a:lnSpc>
              <a:spcBef>
                <a:spcPts val="0"/>
              </a:spcBef>
              <a:spcAft>
                <a:spcPts val="0"/>
              </a:spcAft>
              <a:buSzPct val="100000"/>
              <a:buChar char=" "/>
            </a:pPr>
            <a:r>
              <a:rPr b="1" lang="en-US"/>
              <a:t>Automatons </a:t>
            </a:r>
            <a:r>
              <a:rPr lang="en-US"/>
              <a:t>are abstract models of machines that perform computations on an input by moving through a series of states or configurations. At each state of the computation, a transition function determines the next configuration on the basis of a finite portion of the present configuration. As a result, once the computation reaches an accepting configuration, it accepts that input.</a:t>
            </a:r>
            <a:endParaRPr/>
          </a:p>
          <a:p>
            <a:pPr indent="-140970" lvl="0" marL="91440" rtl="0" algn="l">
              <a:lnSpc>
                <a:spcPct val="90000"/>
              </a:lnSpc>
              <a:spcBef>
                <a:spcPts val="1400"/>
              </a:spcBef>
              <a:spcAft>
                <a:spcPts val="0"/>
              </a:spcAft>
              <a:buSzPct val="100000"/>
              <a:buChar char=" "/>
            </a:pPr>
            <a:r>
              <a:rPr lang="en-US"/>
              <a:t>This is the simplest kind of machine.</a:t>
            </a:r>
            <a:endParaRPr/>
          </a:p>
          <a:p>
            <a:pPr indent="-140970" lvl="0" marL="91440" rtl="0" algn="l">
              <a:lnSpc>
                <a:spcPct val="90000"/>
              </a:lnSpc>
              <a:spcBef>
                <a:spcPts val="1400"/>
              </a:spcBef>
              <a:spcAft>
                <a:spcPts val="0"/>
              </a:spcAft>
              <a:buSzPct val="100000"/>
              <a:buChar char=" "/>
            </a:pPr>
            <a:r>
              <a:rPr lang="en-US"/>
              <a:t>We will study 3 types of Finite Automata:</a:t>
            </a:r>
            <a:endParaRPr/>
          </a:p>
          <a:p>
            <a:pPr indent="-182880" lvl="1" marL="384048" rtl="0" algn="l">
              <a:lnSpc>
                <a:spcPct val="90000"/>
              </a:lnSpc>
              <a:spcBef>
                <a:spcPts val="400"/>
              </a:spcBef>
              <a:spcAft>
                <a:spcPts val="0"/>
              </a:spcAft>
              <a:buSzPct val="100000"/>
              <a:buChar char="▪"/>
            </a:pPr>
            <a:r>
              <a:rPr lang="en-US"/>
              <a:t>Deterministic Finite Automata (DFA)</a:t>
            </a:r>
            <a:endParaRPr/>
          </a:p>
          <a:p>
            <a:pPr indent="-182880" lvl="1" marL="384048" rtl="0" algn="l">
              <a:lnSpc>
                <a:spcPct val="90000"/>
              </a:lnSpc>
              <a:spcBef>
                <a:spcPts val="600"/>
              </a:spcBef>
              <a:spcAft>
                <a:spcPts val="0"/>
              </a:spcAft>
              <a:buSzPct val="100000"/>
              <a:buChar char="▪"/>
            </a:pPr>
            <a:r>
              <a:rPr lang="en-US"/>
              <a:t>Non-deterministic Finite Automata (NFA)</a:t>
            </a:r>
            <a:endParaRPr/>
          </a:p>
          <a:p>
            <a:pPr indent="-182880" lvl="1" marL="384048" rtl="0" algn="l">
              <a:lnSpc>
                <a:spcPct val="90000"/>
              </a:lnSpc>
              <a:spcBef>
                <a:spcPts val="600"/>
              </a:spcBef>
              <a:spcAft>
                <a:spcPts val="0"/>
              </a:spcAft>
              <a:buSzPct val="100000"/>
              <a:buChar char="▪"/>
            </a:pPr>
            <a:r>
              <a:rPr lang="en-US"/>
              <a:t>Finite Automata with ε-transitions (ε-NFA)</a:t>
            </a:r>
            <a:endParaRPr/>
          </a:p>
          <a:p>
            <a:pPr indent="-140970" lvl="0" marL="91440" rtl="0" algn="l">
              <a:lnSpc>
                <a:spcPct val="90000"/>
              </a:lnSpc>
              <a:spcBef>
                <a:spcPts val="1600"/>
              </a:spcBef>
              <a:spcAft>
                <a:spcPts val="0"/>
              </a:spcAft>
              <a:buSzPct val="100000"/>
              <a:buChar char=" "/>
            </a:pPr>
            <a:r>
              <a:rPr lang="en-US">
                <a:solidFill>
                  <a:srgbClr val="FF0000"/>
                </a:solidFill>
              </a:rPr>
              <a:t>Deterministic Finite Automata (DFA)</a:t>
            </a:r>
            <a:endParaRPr/>
          </a:p>
          <a:p>
            <a:pPr indent="-182880" lvl="1" marL="384048" rtl="0" algn="l">
              <a:lnSpc>
                <a:spcPct val="90000"/>
              </a:lnSpc>
              <a:spcBef>
                <a:spcPts val="400"/>
              </a:spcBef>
              <a:spcAft>
                <a:spcPts val="0"/>
              </a:spcAft>
              <a:buSzPct val="100000"/>
              <a:buChar char="▪"/>
            </a:pPr>
            <a:r>
              <a:rPr lang="en-US"/>
              <a:t>Refers to the fact that on each input there is one and only state to which the automaton has a transition from its current state.</a:t>
            </a:r>
            <a:endParaRPr/>
          </a:p>
          <a:p>
            <a:pPr indent="-140970" lvl="0" marL="91440" rtl="0" algn="l">
              <a:lnSpc>
                <a:spcPct val="90000"/>
              </a:lnSpc>
              <a:spcBef>
                <a:spcPts val="1600"/>
              </a:spcBef>
              <a:spcAft>
                <a:spcPts val="0"/>
              </a:spcAft>
              <a:buSzPct val="100000"/>
              <a:buChar char=" "/>
            </a:pPr>
            <a:r>
              <a:rPr lang="en-US">
                <a:solidFill>
                  <a:srgbClr val="FF0000"/>
                </a:solidFill>
              </a:rPr>
              <a:t>Non-deterministic Finite Automata (NFA)</a:t>
            </a:r>
            <a:endParaRPr/>
          </a:p>
          <a:p>
            <a:pPr indent="-182880" lvl="1" marL="384048" rtl="0" algn="l">
              <a:lnSpc>
                <a:spcPct val="90000"/>
              </a:lnSpc>
              <a:spcBef>
                <a:spcPts val="400"/>
              </a:spcBef>
              <a:spcAft>
                <a:spcPts val="0"/>
              </a:spcAft>
              <a:buSzPct val="100000"/>
              <a:buChar char="▪"/>
            </a:pPr>
            <a:r>
              <a:rPr lang="en-US"/>
              <a:t>Has a transition in multiple states at the same time for one input symbol</a:t>
            </a:r>
            <a:endParaRPr/>
          </a:p>
          <a:p>
            <a:pPr indent="-65404" lvl="1" marL="384048" rtl="0" algn="l">
              <a:lnSpc>
                <a:spcPct val="90000"/>
              </a:lnSpc>
              <a:spcBef>
                <a:spcPts val="600"/>
              </a:spcBef>
              <a:spcAft>
                <a:spcPts val="0"/>
              </a:spcAft>
              <a:buSzPct val="100000"/>
              <a:buNone/>
            </a:pPr>
            <a:r>
              <a:t/>
            </a:r>
            <a:endParaRPr/>
          </a:p>
        </p:txBody>
      </p:sp>
      <p:sp>
        <p:nvSpPr>
          <p:cNvPr id="367" name="Google Shape;367;p2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45C75"/>
                </a:solidFill>
                <a:latin typeface="Times New Roman"/>
                <a:ea typeface="Times New Roman"/>
                <a:cs typeface="Times New Roman"/>
                <a:sym typeface="Times New Roman"/>
              </a:rPr>
              <a:t>‹#›</a:t>
            </a:fld>
            <a:endParaRPr sz="1200">
              <a:solidFill>
                <a:srgbClr val="045C75"/>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Calibri"/>
              <a:buNone/>
            </a:pPr>
            <a:r>
              <a:rPr lang="en-US"/>
              <a:t>Deterministic Finite Automata (DFA)</a:t>
            </a:r>
            <a:endParaRPr/>
          </a:p>
        </p:txBody>
      </p:sp>
      <p:sp>
        <p:nvSpPr>
          <p:cNvPr id="373" name="Google Shape;373;p28"/>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Calibri"/>
              <a:buChar char=" "/>
            </a:pPr>
            <a:r>
              <a:rPr lang="en-US">
                <a:solidFill>
                  <a:schemeClr val="dk1"/>
                </a:solidFill>
              </a:rPr>
              <a:t>  We have seen a simple example before:</a:t>
            </a:r>
            <a:endParaRPr/>
          </a:p>
          <a:p>
            <a:pPr indent="0" lvl="0" marL="91440" rtl="0" algn="l">
              <a:lnSpc>
                <a:spcPct val="90000"/>
              </a:lnSpc>
              <a:spcBef>
                <a:spcPts val="1400"/>
              </a:spcBef>
              <a:spcAft>
                <a:spcPts val="0"/>
              </a:spcAft>
              <a:buSzPts val="2400"/>
              <a:buNone/>
            </a:pPr>
            <a:r>
              <a:t/>
            </a:r>
            <a:endParaRPr/>
          </a:p>
        </p:txBody>
      </p:sp>
      <p:sp>
        <p:nvSpPr>
          <p:cNvPr id="374" name="Google Shape;374;p2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45C75"/>
                </a:solidFill>
                <a:latin typeface="Times New Roman"/>
                <a:ea typeface="Times New Roman"/>
                <a:cs typeface="Times New Roman"/>
                <a:sym typeface="Times New Roman"/>
              </a:rPr>
              <a:t>‹#›</a:t>
            </a:fld>
            <a:endParaRPr sz="1200">
              <a:solidFill>
                <a:srgbClr val="045C75"/>
              </a:solidFill>
              <a:latin typeface="Times New Roman"/>
              <a:ea typeface="Times New Roman"/>
              <a:cs typeface="Times New Roman"/>
              <a:sym typeface="Times New Roman"/>
            </a:endParaRPr>
          </a:p>
        </p:txBody>
      </p:sp>
      <p:sp>
        <p:nvSpPr>
          <p:cNvPr id="375" name="Google Shape;375;p28"/>
          <p:cNvSpPr/>
          <p:nvPr/>
        </p:nvSpPr>
        <p:spPr>
          <a:xfrm>
            <a:off x="3581400" y="2433401"/>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76" name="Google Shape;376;p28"/>
          <p:cNvSpPr/>
          <p:nvPr/>
        </p:nvSpPr>
        <p:spPr>
          <a:xfrm>
            <a:off x="5334000" y="2357201"/>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77" name="Google Shape;377;p28"/>
          <p:cNvSpPr/>
          <p:nvPr/>
        </p:nvSpPr>
        <p:spPr>
          <a:xfrm>
            <a:off x="4114800" y="2192101"/>
            <a:ext cx="1295400" cy="317500"/>
          </a:xfrm>
          <a:custGeom>
            <a:rect b="b" l="l" r="r" t="t"/>
            <a:pathLst>
              <a:path extrusionOk="0" h="200" w="816">
                <a:moveTo>
                  <a:pt x="0" y="200"/>
                </a:moveTo>
                <a:cubicBezTo>
                  <a:pt x="124" y="108"/>
                  <a:pt x="248" y="16"/>
                  <a:pt x="384" y="8"/>
                </a:cubicBezTo>
                <a:cubicBezTo>
                  <a:pt x="520" y="0"/>
                  <a:pt x="668" y="76"/>
                  <a:pt x="816" y="15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8"/>
          <p:cNvSpPr/>
          <p:nvPr/>
        </p:nvSpPr>
        <p:spPr>
          <a:xfrm flipH="1" rot="10800000">
            <a:off x="4191000" y="2877901"/>
            <a:ext cx="1295400" cy="317500"/>
          </a:xfrm>
          <a:custGeom>
            <a:rect b="b" l="l" r="r" t="t"/>
            <a:pathLst>
              <a:path extrusionOk="0" h="200" w="816">
                <a:moveTo>
                  <a:pt x="0" y="200"/>
                </a:moveTo>
                <a:cubicBezTo>
                  <a:pt x="124" y="108"/>
                  <a:pt x="248" y="16"/>
                  <a:pt x="384" y="8"/>
                </a:cubicBezTo>
                <a:cubicBezTo>
                  <a:pt x="520" y="0"/>
                  <a:pt x="668" y="76"/>
                  <a:pt x="816" y="15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79" name="Google Shape;379;p28"/>
          <p:cNvCxnSpPr/>
          <p:nvPr/>
        </p:nvCxnSpPr>
        <p:spPr>
          <a:xfrm>
            <a:off x="3200400" y="2738201"/>
            <a:ext cx="381000" cy="0"/>
          </a:xfrm>
          <a:prstGeom prst="straightConnector1">
            <a:avLst/>
          </a:prstGeom>
          <a:noFill/>
          <a:ln cap="flat" cmpd="sng" w="9525">
            <a:solidFill>
              <a:schemeClr val="dk1"/>
            </a:solidFill>
            <a:prstDash val="solid"/>
            <a:round/>
            <a:headEnd len="med" w="med" type="none"/>
            <a:tailEnd len="med" w="med" type="triangle"/>
          </a:ln>
        </p:spPr>
      </p:cxnSp>
      <p:sp>
        <p:nvSpPr>
          <p:cNvPr id="380" name="Google Shape;380;p28"/>
          <p:cNvSpPr txBox="1"/>
          <p:nvPr/>
        </p:nvSpPr>
        <p:spPr>
          <a:xfrm>
            <a:off x="3581400" y="2509601"/>
            <a:ext cx="539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off</a:t>
            </a:r>
            <a:endParaRPr/>
          </a:p>
        </p:txBody>
      </p:sp>
      <p:sp>
        <p:nvSpPr>
          <p:cNvPr id="381" name="Google Shape;381;p28"/>
          <p:cNvSpPr txBox="1"/>
          <p:nvPr/>
        </p:nvSpPr>
        <p:spPr>
          <a:xfrm>
            <a:off x="5410200" y="2433401"/>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on</a:t>
            </a:r>
            <a:endParaRPr/>
          </a:p>
        </p:txBody>
      </p:sp>
      <p:sp>
        <p:nvSpPr>
          <p:cNvPr id="382" name="Google Shape;382;p28"/>
          <p:cNvSpPr txBox="1"/>
          <p:nvPr/>
        </p:nvSpPr>
        <p:spPr>
          <a:xfrm>
            <a:off x="2514600" y="2509601"/>
            <a:ext cx="708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start</a:t>
            </a:r>
            <a:endParaRPr/>
          </a:p>
        </p:txBody>
      </p:sp>
      <p:sp>
        <p:nvSpPr>
          <p:cNvPr id="383" name="Google Shape;383;p28"/>
          <p:cNvSpPr txBox="1"/>
          <p:nvPr/>
        </p:nvSpPr>
        <p:spPr>
          <a:xfrm>
            <a:off x="4648200" y="1823801"/>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384" name="Google Shape;384;p28"/>
          <p:cNvSpPr txBox="1"/>
          <p:nvPr/>
        </p:nvSpPr>
        <p:spPr>
          <a:xfrm>
            <a:off x="4692650" y="3119201"/>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385" name="Google Shape;385;p28"/>
          <p:cNvSpPr txBox="1"/>
          <p:nvPr/>
        </p:nvSpPr>
        <p:spPr>
          <a:xfrm>
            <a:off x="685800" y="3921006"/>
            <a:ext cx="7848600" cy="1373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There are some </a:t>
            </a:r>
            <a:r>
              <a:rPr lang="en-US" sz="2800" u="sng">
                <a:solidFill>
                  <a:schemeClr val="dk1"/>
                </a:solidFill>
                <a:latin typeface="Times New Roman"/>
                <a:ea typeface="Times New Roman"/>
                <a:cs typeface="Times New Roman"/>
                <a:sym typeface="Times New Roman"/>
              </a:rPr>
              <a:t>states</a:t>
            </a:r>
            <a:r>
              <a:rPr lang="en-US" sz="2800">
                <a:solidFill>
                  <a:schemeClr val="dk1"/>
                </a:solidFill>
                <a:latin typeface="Times New Roman"/>
                <a:ea typeface="Times New Roman"/>
                <a:cs typeface="Times New Roman"/>
                <a:sym typeface="Times New Roman"/>
              </a:rPr>
              <a:t> and </a:t>
            </a:r>
            <a:r>
              <a:rPr lang="en-US" sz="2800" u="sng">
                <a:solidFill>
                  <a:schemeClr val="dk1"/>
                </a:solidFill>
                <a:latin typeface="Times New Roman"/>
                <a:ea typeface="Times New Roman"/>
                <a:cs typeface="Times New Roman"/>
                <a:sym typeface="Times New Roman"/>
              </a:rPr>
              <a:t>transitions</a:t>
            </a:r>
            <a:r>
              <a:rPr lang="en-US" sz="2800">
                <a:solidFill>
                  <a:schemeClr val="dk1"/>
                </a:solidFill>
                <a:latin typeface="Times New Roman"/>
                <a:ea typeface="Times New Roman"/>
                <a:cs typeface="Times New Roman"/>
                <a:sym typeface="Times New Roman"/>
              </a:rPr>
              <a:t> (edges) between the states. The edge labels tell when we can move from one state to another.</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9"/>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Definition of DFA</a:t>
            </a:r>
            <a:endParaRPr/>
          </a:p>
        </p:txBody>
      </p:sp>
      <p:sp>
        <p:nvSpPr>
          <p:cNvPr id="391" name="Google Shape;391;p29"/>
          <p:cNvSpPr txBox="1"/>
          <p:nvPr>
            <p:ph idx="1" type="body"/>
          </p:nvPr>
        </p:nvSpPr>
        <p:spPr>
          <a:xfrm>
            <a:off x="672353" y="1371600"/>
            <a:ext cx="7772400" cy="41148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Times New Roman"/>
              <a:buChar char=" "/>
            </a:pPr>
            <a:r>
              <a:rPr lang="en-US">
                <a:solidFill>
                  <a:schemeClr val="dk1"/>
                </a:solidFill>
                <a:latin typeface="Times New Roman"/>
                <a:ea typeface="Times New Roman"/>
                <a:cs typeface="Times New Roman"/>
                <a:sym typeface="Times New Roman"/>
              </a:rPr>
              <a:t>A DFA is a 5-tuple (Q, Σ, δ, q</a:t>
            </a:r>
            <a:r>
              <a:rPr baseline="-25000" lang="en-US">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 F) where</a:t>
            </a:r>
            <a:endParaRPr/>
          </a:p>
          <a:p>
            <a:pPr indent="0" lvl="0" marL="91440" rtl="0" algn="l">
              <a:lnSpc>
                <a:spcPct val="90000"/>
              </a:lnSpc>
              <a:spcBef>
                <a:spcPts val="1400"/>
              </a:spcBef>
              <a:spcAft>
                <a:spcPts val="0"/>
              </a:spcAft>
              <a:buSzPts val="2400"/>
              <a:buFont typeface="Calibri"/>
              <a:buNone/>
            </a:pPr>
            <a:r>
              <a:t/>
            </a:r>
            <a:endParaRPr>
              <a:solidFill>
                <a:schemeClr val="dk1"/>
              </a:solidFill>
              <a:latin typeface="Times New Roman"/>
              <a:ea typeface="Times New Roman"/>
              <a:cs typeface="Times New Roman"/>
              <a:sym typeface="Times New Roman"/>
            </a:endParaRPr>
          </a:p>
          <a:p>
            <a:pPr indent="-182880" lvl="1" marL="384048" rtl="0" algn="l">
              <a:lnSpc>
                <a:spcPct val="90000"/>
              </a:lnSpc>
              <a:spcBef>
                <a:spcPts val="400"/>
              </a:spcBef>
              <a:spcAft>
                <a:spcPts val="0"/>
              </a:spcAft>
              <a:buSzPts val="2400"/>
              <a:buFont typeface="Times New Roman"/>
              <a:buChar char=" "/>
            </a:pPr>
            <a:r>
              <a:rPr lang="en-US" sz="2400">
                <a:solidFill>
                  <a:schemeClr val="dk1"/>
                </a:solidFill>
                <a:latin typeface="Times New Roman"/>
                <a:ea typeface="Times New Roman"/>
                <a:cs typeface="Times New Roman"/>
                <a:sym typeface="Times New Roman"/>
              </a:rPr>
              <a:t>Q is a finite set of </a:t>
            </a:r>
            <a:r>
              <a:rPr lang="en-US" sz="2400" u="sng">
                <a:solidFill>
                  <a:srgbClr val="FF0000"/>
                </a:solidFill>
                <a:latin typeface="Times New Roman"/>
                <a:ea typeface="Times New Roman"/>
                <a:cs typeface="Times New Roman"/>
                <a:sym typeface="Times New Roman"/>
              </a:rPr>
              <a:t>states</a:t>
            </a:r>
            <a:endParaRPr sz="2400">
              <a:solidFill>
                <a:srgbClr val="FF0000"/>
              </a:solidFill>
              <a:latin typeface="Times New Roman"/>
              <a:ea typeface="Times New Roman"/>
              <a:cs typeface="Times New Roman"/>
              <a:sym typeface="Times New Roman"/>
            </a:endParaRPr>
          </a:p>
          <a:p>
            <a:pPr indent="-182880" lvl="1" marL="384048" rtl="0" algn="l">
              <a:lnSpc>
                <a:spcPct val="90000"/>
              </a:lnSpc>
              <a:spcBef>
                <a:spcPts val="600"/>
              </a:spcBef>
              <a:spcAft>
                <a:spcPts val="0"/>
              </a:spcAft>
              <a:buSzPts val="2400"/>
              <a:buFont typeface="Times New Roman"/>
              <a:buChar char=" "/>
            </a:pPr>
            <a:r>
              <a:rPr lang="en-US" sz="2400">
                <a:solidFill>
                  <a:schemeClr val="dk1"/>
                </a:solidFill>
                <a:latin typeface="Times New Roman"/>
                <a:ea typeface="Times New Roman"/>
                <a:cs typeface="Times New Roman"/>
                <a:sym typeface="Times New Roman"/>
              </a:rPr>
              <a:t>Σ is a finite input </a:t>
            </a:r>
            <a:r>
              <a:rPr lang="en-US" sz="2400" u="sng">
                <a:solidFill>
                  <a:srgbClr val="FF0000"/>
                </a:solidFill>
                <a:latin typeface="Times New Roman"/>
                <a:ea typeface="Times New Roman"/>
                <a:cs typeface="Times New Roman"/>
                <a:sym typeface="Times New Roman"/>
              </a:rPr>
              <a:t>alphabet</a:t>
            </a:r>
            <a:endParaRPr sz="2400">
              <a:solidFill>
                <a:srgbClr val="FF0000"/>
              </a:solidFill>
              <a:latin typeface="Times New Roman"/>
              <a:ea typeface="Times New Roman"/>
              <a:cs typeface="Times New Roman"/>
              <a:sym typeface="Times New Roman"/>
            </a:endParaRPr>
          </a:p>
          <a:p>
            <a:pPr indent="-182880" lvl="1" marL="384048" rtl="0" algn="l">
              <a:lnSpc>
                <a:spcPct val="90000"/>
              </a:lnSpc>
              <a:spcBef>
                <a:spcPts val="600"/>
              </a:spcBef>
              <a:spcAft>
                <a:spcPts val="0"/>
              </a:spcAft>
              <a:buSzPts val="2400"/>
              <a:buFont typeface="Times New Roman"/>
              <a:buChar char=" "/>
            </a:pPr>
            <a:r>
              <a:rPr lang="en-US" sz="2400">
                <a:solidFill>
                  <a:schemeClr val="dk1"/>
                </a:solidFill>
                <a:latin typeface="Times New Roman"/>
                <a:ea typeface="Times New Roman"/>
                <a:cs typeface="Times New Roman"/>
                <a:sym typeface="Times New Roman"/>
              </a:rPr>
              <a:t>δ is the </a:t>
            </a:r>
            <a:r>
              <a:rPr lang="en-US" sz="2400" u="sng">
                <a:solidFill>
                  <a:srgbClr val="FF0000"/>
                </a:solidFill>
                <a:latin typeface="Times New Roman"/>
                <a:ea typeface="Times New Roman"/>
                <a:cs typeface="Times New Roman"/>
                <a:sym typeface="Times New Roman"/>
              </a:rPr>
              <a:t>transition function</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mapping Q × Σ to Q</a:t>
            </a:r>
            <a:endParaRPr/>
          </a:p>
          <a:p>
            <a:pPr indent="-182880" lvl="1" marL="384048" rtl="0" algn="l">
              <a:lnSpc>
                <a:spcPct val="90000"/>
              </a:lnSpc>
              <a:spcBef>
                <a:spcPts val="600"/>
              </a:spcBef>
              <a:spcAft>
                <a:spcPts val="0"/>
              </a:spcAft>
              <a:buSzPts val="2400"/>
              <a:buFont typeface="Times New Roman"/>
              <a:buChar char=" "/>
            </a:pPr>
            <a:r>
              <a:rPr lang="en-US" sz="2400">
                <a:solidFill>
                  <a:schemeClr val="dk1"/>
                </a:solidFill>
                <a:latin typeface="Times New Roman"/>
                <a:ea typeface="Times New Roman"/>
                <a:cs typeface="Times New Roman"/>
                <a:sym typeface="Times New Roman"/>
              </a:rPr>
              <a:t>q</a:t>
            </a:r>
            <a:r>
              <a:rPr baseline="-25000" lang="en-US" sz="2400">
                <a:solidFill>
                  <a:schemeClr val="dk1"/>
                </a:solidFill>
                <a:latin typeface="Times New Roman"/>
                <a:ea typeface="Times New Roman"/>
                <a:cs typeface="Times New Roman"/>
                <a:sym typeface="Times New Roman"/>
              </a:rPr>
              <a:t>0</a:t>
            </a:r>
            <a:r>
              <a:rPr lang="en-US" sz="2400">
                <a:solidFill>
                  <a:schemeClr val="dk1"/>
                </a:solidFill>
                <a:latin typeface="Times New Roman"/>
                <a:ea typeface="Times New Roman"/>
                <a:cs typeface="Times New Roman"/>
                <a:sym typeface="Times New Roman"/>
              </a:rPr>
              <a:t> in Q is the </a:t>
            </a:r>
            <a:r>
              <a:rPr lang="en-US" sz="2400" u="sng">
                <a:solidFill>
                  <a:srgbClr val="FF0000"/>
                </a:solidFill>
                <a:latin typeface="Times New Roman"/>
                <a:ea typeface="Times New Roman"/>
                <a:cs typeface="Times New Roman"/>
                <a:sym typeface="Times New Roman"/>
              </a:rPr>
              <a:t>initial state</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(only one)</a:t>
            </a:r>
            <a:endParaRPr/>
          </a:p>
          <a:p>
            <a:pPr indent="-182880" lvl="1" marL="384048" rtl="0" algn="l">
              <a:lnSpc>
                <a:spcPct val="90000"/>
              </a:lnSpc>
              <a:spcBef>
                <a:spcPts val="600"/>
              </a:spcBef>
              <a:spcAft>
                <a:spcPts val="0"/>
              </a:spcAft>
              <a:buSzPts val="2400"/>
              <a:buFont typeface="Times New Roman"/>
              <a:buChar char=" "/>
            </a:pPr>
            <a:r>
              <a:rPr lang="en-US" sz="2400">
                <a:solidFill>
                  <a:schemeClr val="dk1"/>
                </a:solidFill>
                <a:latin typeface="Times New Roman"/>
                <a:ea typeface="Times New Roman"/>
                <a:cs typeface="Times New Roman"/>
                <a:sym typeface="Times New Roman"/>
              </a:rPr>
              <a:t>F ⊆ Q is a set of </a:t>
            </a:r>
            <a:r>
              <a:rPr lang="en-US" sz="2400" u="sng">
                <a:solidFill>
                  <a:srgbClr val="FF0000"/>
                </a:solidFill>
                <a:latin typeface="Times New Roman"/>
                <a:ea typeface="Times New Roman"/>
                <a:cs typeface="Times New Roman"/>
                <a:sym typeface="Times New Roman"/>
              </a:rPr>
              <a:t>final states</a:t>
            </a:r>
            <a:r>
              <a:rPr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(zero or more)</a:t>
            </a:r>
            <a:endParaRPr/>
          </a:p>
          <a:p>
            <a:pPr indent="-30479" lvl="1" marL="384048" rtl="0" algn="l">
              <a:lnSpc>
                <a:spcPct val="90000"/>
              </a:lnSpc>
              <a:spcBef>
                <a:spcPts val="600"/>
              </a:spcBef>
              <a:spcAft>
                <a:spcPts val="0"/>
              </a:spcAft>
              <a:buSzPts val="2400"/>
              <a:buFont typeface="Calibri"/>
              <a:buNone/>
            </a:pPr>
            <a:r>
              <a:t/>
            </a:r>
            <a:endParaRPr sz="2400">
              <a:solidFill>
                <a:schemeClr val="dk1"/>
              </a:solidFill>
              <a:latin typeface="Times New Roman"/>
              <a:ea typeface="Times New Roman"/>
              <a:cs typeface="Times New Roman"/>
              <a:sym typeface="Times New Roman"/>
            </a:endParaRPr>
          </a:p>
          <a:p>
            <a:pPr indent="-457200" lvl="2" marL="1371600" rtl="0" algn="l">
              <a:lnSpc>
                <a:spcPct val="90000"/>
              </a:lnSpc>
              <a:spcBef>
                <a:spcPts val="600"/>
              </a:spcBef>
              <a:spcAft>
                <a:spcPts val="0"/>
              </a:spcAft>
              <a:buSzPts val="2000"/>
              <a:buFont typeface="Arial"/>
              <a:buChar char="●"/>
            </a:pPr>
            <a:r>
              <a:rPr lang="en-US">
                <a:solidFill>
                  <a:schemeClr val="dk1"/>
                </a:solidFill>
                <a:latin typeface="Times New Roman"/>
                <a:ea typeface="Times New Roman"/>
                <a:cs typeface="Times New Roman"/>
                <a:sym typeface="Times New Roman"/>
              </a:rPr>
              <a:t>“Final” and “accepting” are synonyms.</a:t>
            </a:r>
            <a:endParaRPr/>
          </a:p>
          <a:p>
            <a:pPr indent="-30479" lvl="1" marL="384048" rtl="0" algn="l">
              <a:lnSpc>
                <a:spcPct val="90000"/>
              </a:lnSpc>
              <a:spcBef>
                <a:spcPts val="600"/>
              </a:spcBef>
              <a:spcAft>
                <a:spcPts val="0"/>
              </a:spcAft>
              <a:buSzPts val="2400"/>
              <a:buFont typeface="Calibri"/>
              <a:buNone/>
            </a:pPr>
            <a:r>
              <a:t/>
            </a:r>
            <a:endParaRPr baseline="-25000" sz="2400">
              <a:solidFill>
                <a:schemeClr val="dk1"/>
              </a:solidFill>
              <a:latin typeface="Times New Roman"/>
              <a:ea typeface="Times New Roman"/>
              <a:cs typeface="Times New Roman"/>
              <a:sym typeface="Times New Roman"/>
            </a:endParaRPr>
          </a:p>
        </p:txBody>
      </p:sp>
      <p:sp>
        <p:nvSpPr>
          <p:cNvPr id="392" name="Google Shape;392;p2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45C75"/>
                </a:solidFill>
                <a:latin typeface="Times New Roman"/>
                <a:ea typeface="Times New Roman"/>
                <a:cs typeface="Times New Roman"/>
                <a:sym typeface="Times New Roman"/>
              </a:rPr>
              <a:t>‹#›</a:t>
            </a:fld>
            <a:endParaRPr sz="1200">
              <a:solidFill>
                <a:srgbClr val="045C75"/>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0"/>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Definition of DFA</a:t>
            </a:r>
            <a:endParaRPr/>
          </a:p>
        </p:txBody>
      </p:sp>
      <p:sp>
        <p:nvSpPr>
          <p:cNvPr id="398" name="Google Shape;398;p30"/>
          <p:cNvSpPr txBox="1"/>
          <p:nvPr>
            <p:ph idx="1" type="body"/>
          </p:nvPr>
        </p:nvSpPr>
        <p:spPr>
          <a:xfrm>
            <a:off x="672353" y="1289050"/>
            <a:ext cx="7772400" cy="411480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Times New Roman"/>
              <a:buChar char=" "/>
            </a:pPr>
            <a:r>
              <a:rPr lang="en-US">
                <a:latin typeface="Times New Roman"/>
                <a:ea typeface="Times New Roman"/>
                <a:cs typeface="Times New Roman"/>
                <a:sym typeface="Times New Roman"/>
              </a:rPr>
              <a:t>For example:</a:t>
            </a:r>
            <a:endParaRPr/>
          </a:p>
          <a:p>
            <a:pPr indent="0" lvl="0" marL="91440" rtl="0" algn="l">
              <a:lnSpc>
                <a:spcPct val="90000"/>
              </a:lnSpc>
              <a:spcBef>
                <a:spcPts val="1400"/>
              </a:spcBef>
              <a:spcAft>
                <a:spcPts val="0"/>
              </a:spcAft>
              <a:buSzPts val="2400"/>
              <a:buNone/>
            </a:pPr>
            <a:r>
              <a:t/>
            </a:r>
            <a:endParaRPr/>
          </a:p>
        </p:txBody>
      </p:sp>
      <p:sp>
        <p:nvSpPr>
          <p:cNvPr id="399" name="Google Shape;399;p3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45C75"/>
                </a:solidFill>
                <a:latin typeface="Times New Roman"/>
                <a:ea typeface="Times New Roman"/>
                <a:cs typeface="Times New Roman"/>
                <a:sym typeface="Times New Roman"/>
              </a:rPr>
              <a:t>‹#›</a:t>
            </a:fld>
            <a:endParaRPr sz="1200">
              <a:solidFill>
                <a:srgbClr val="045C75"/>
              </a:solidFill>
              <a:latin typeface="Times New Roman"/>
              <a:ea typeface="Times New Roman"/>
              <a:cs typeface="Times New Roman"/>
              <a:sym typeface="Times New Roman"/>
            </a:endParaRPr>
          </a:p>
        </p:txBody>
      </p:sp>
      <p:sp>
        <p:nvSpPr>
          <p:cNvPr id="400" name="Google Shape;400;p30"/>
          <p:cNvSpPr/>
          <p:nvPr/>
        </p:nvSpPr>
        <p:spPr>
          <a:xfrm>
            <a:off x="3359150" y="1851843"/>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01" name="Google Shape;401;p30"/>
          <p:cNvSpPr/>
          <p:nvPr/>
        </p:nvSpPr>
        <p:spPr>
          <a:xfrm>
            <a:off x="5107973" y="1785986"/>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02" name="Google Shape;402;p30"/>
          <p:cNvSpPr/>
          <p:nvPr/>
        </p:nvSpPr>
        <p:spPr>
          <a:xfrm>
            <a:off x="3892550" y="1610543"/>
            <a:ext cx="1295400" cy="317500"/>
          </a:xfrm>
          <a:custGeom>
            <a:rect b="b" l="l" r="r" t="t"/>
            <a:pathLst>
              <a:path extrusionOk="0" h="200" w="816">
                <a:moveTo>
                  <a:pt x="0" y="200"/>
                </a:moveTo>
                <a:cubicBezTo>
                  <a:pt x="124" y="108"/>
                  <a:pt x="248" y="16"/>
                  <a:pt x="384" y="8"/>
                </a:cubicBezTo>
                <a:cubicBezTo>
                  <a:pt x="520" y="0"/>
                  <a:pt x="668" y="76"/>
                  <a:pt x="816" y="15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30"/>
          <p:cNvSpPr/>
          <p:nvPr/>
        </p:nvSpPr>
        <p:spPr>
          <a:xfrm flipH="1" rot="10800000">
            <a:off x="3968750" y="2296343"/>
            <a:ext cx="1295400" cy="317500"/>
          </a:xfrm>
          <a:custGeom>
            <a:rect b="b" l="l" r="r" t="t"/>
            <a:pathLst>
              <a:path extrusionOk="0" h="200" w="816">
                <a:moveTo>
                  <a:pt x="0" y="200"/>
                </a:moveTo>
                <a:cubicBezTo>
                  <a:pt x="124" y="108"/>
                  <a:pt x="248" y="16"/>
                  <a:pt x="384" y="8"/>
                </a:cubicBezTo>
                <a:cubicBezTo>
                  <a:pt x="520" y="0"/>
                  <a:pt x="668" y="76"/>
                  <a:pt x="816" y="152"/>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04" name="Google Shape;404;p30"/>
          <p:cNvCxnSpPr/>
          <p:nvPr/>
        </p:nvCxnSpPr>
        <p:spPr>
          <a:xfrm>
            <a:off x="2978150" y="2156643"/>
            <a:ext cx="381000" cy="0"/>
          </a:xfrm>
          <a:prstGeom prst="straightConnector1">
            <a:avLst/>
          </a:prstGeom>
          <a:noFill/>
          <a:ln cap="flat" cmpd="sng" w="9525">
            <a:solidFill>
              <a:schemeClr val="dk1"/>
            </a:solidFill>
            <a:prstDash val="solid"/>
            <a:round/>
            <a:headEnd len="med" w="med" type="none"/>
            <a:tailEnd len="med" w="med" type="triangle"/>
          </a:ln>
        </p:spPr>
      </p:cxnSp>
      <p:sp>
        <p:nvSpPr>
          <p:cNvPr id="405" name="Google Shape;405;p30"/>
          <p:cNvSpPr txBox="1"/>
          <p:nvPr/>
        </p:nvSpPr>
        <p:spPr>
          <a:xfrm>
            <a:off x="3389011" y="1903321"/>
            <a:ext cx="539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off</a:t>
            </a:r>
            <a:endParaRPr/>
          </a:p>
        </p:txBody>
      </p:sp>
      <p:sp>
        <p:nvSpPr>
          <p:cNvPr id="406" name="Google Shape;406;p30"/>
          <p:cNvSpPr txBox="1"/>
          <p:nvPr/>
        </p:nvSpPr>
        <p:spPr>
          <a:xfrm>
            <a:off x="5187950" y="1851843"/>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on</a:t>
            </a:r>
            <a:endParaRPr/>
          </a:p>
        </p:txBody>
      </p:sp>
      <p:sp>
        <p:nvSpPr>
          <p:cNvPr id="407" name="Google Shape;407;p30"/>
          <p:cNvSpPr txBox="1"/>
          <p:nvPr/>
        </p:nvSpPr>
        <p:spPr>
          <a:xfrm>
            <a:off x="2292350" y="1928043"/>
            <a:ext cx="708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start</a:t>
            </a:r>
            <a:endParaRPr/>
          </a:p>
        </p:txBody>
      </p:sp>
      <p:sp>
        <p:nvSpPr>
          <p:cNvPr id="408" name="Google Shape;408;p30"/>
          <p:cNvSpPr txBox="1"/>
          <p:nvPr/>
        </p:nvSpPr>
        <p:spPr>
          <a:xfrm>
            <a:off x="4425950" y="1242243"/>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409" name="Google Shape;409;p30"/>
          <p:cNvSpPr txBox="1"/>
          <p:nvPr/>
        </p:nvSpPr>
        <p:spPr>
          <a:xfrm>
            <a:off x="4470400" y="2537643"/>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sp>
        <p:nvSpPr>
          <p:cNvPr id="410" name="Google Shape;410;p30"/>
          <p:cNvSpPr txBox="1"/>
          <p:nvPr/>
        </p:nvSpPr>
        <p:spPr>
          <a:xfrm>
            <a:off x="999331" y="3303554"/>
            <a:ext cx="6853238" cy="22272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Q is the set of states: {on, off}</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Σ is the set of input symbols: {1}</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δ is the transitions: off × 1 → on; on × 1 → off</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q</a:t>
            </a:r>
            <a:r>
              <a:rPr baseline="-25000" lang="en-US" sz="2800">
                <a:solidFill>
                  <a:schemeClr val="dk1"/>
                </a:solidFill>
                <a:latin typeface="Times New Roman"/>
                <a:ea typeface="Times New Roman"/>
                <a:cs typeface="Times New Roman"/>
                <a:sym typeface="Times New Roman"/>
              </a:rPr>
              <a:t>0</a:t>
            </a:r>
            <a:r>
              <a:rPr lang="en-US" sz="2800">
                <a:solidFill>
                  <a:schemeClr val="dk1"/>
                </a:solidFill>
                <a:latin typeface="Times New Roman"/>
                <a:ea typeface="Times New Roman"/>
                <a:cs typeface="Times New Roman"/>
                <a:sym typeface="Times New Roman"/>
              </a:rPr>
              <a:t> is the initial state: off</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F is the set of final states (double circle): {on}</a:t>
            </a:r>
            <a:endParaRPr baseline="-25000" sz="2800">
              <a:solidFill>
                <a:schemeClr val="dk1"/>
              </a:solidFill>
              <a:latin typeface="Times New Roman"/>
              <a:ea typeface="Times New Roman"/>
              <a:cs typeface="Times New Roman"/>
              <a:sym typeface="Times New Roman"/>
            </a:endParaRPr>
          </a:p>
        </p:txBody>
      </p:sp>
      <p:sp>
        <p:nvSpPr>
          <p:cNvPr id="411" name="Google Shape;411;p30"/>
          <p:cNvSpPr/>
          <p:nvPr/>
        </p:nvSpPr>
        <p:spPr>
          <a:xfrm>
            <a:off x="5149850" y="1816918"/>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8" name="Google Shape;418;p31"/>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The Transition Function</a:t>
            </a:r>
            <a:endParaRPr/>
          </a:p>
        </p:txBody>
      </p:sp>
      <p:sp>
        <p:nvSpPr>
          <p:cNvPr id="419" name="Google Shape;419;p31"/>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Clr>
                <a:srgbClr val="FF0000"/>
              </a:buClr>
              <a:buSzPts val="2400"/>
              <a:buFont typeface="Noto Sans Symbols"/>
              <a:buChar char="▪"/>
            </a:pPr>
            <a:r>
              <a:rPr lang="en-US"/>
              <a:t> Takes two arguments: a state and an input symbol.</a:t>
            </a:r>
            <a:endParaRPr/>
          </a:p>
          <a:p>
            <a:pPr indent="-152400" lvl="0" marL="91440" rtl="0" algn="l">
              <a:lnSpc>
                <a:spcPct val="90000"/>
              </a:lnSpc>
              <a:spcBef>
                <a:spcPts val="1400"/>
              </a:spcBef>
              <a:spcAft>
                <a:spcPts val="0"/>
              </a:spcAft>
              <a:buClr>
                <a:srgbClr val="FF0000"/>
              </a:buClr>
              <a:buSzPts val="2400"/>
              <a:buFont typeface="Noto Sans Symbols"/>
              <a:buChar char="▪"/>
            </a:pPr>
            <a:r>
              <a:rPr lang="en-US">
                <a:latin typeface="Lucida Sans"/>
                <a:ea typeface="Lucida Sans"/>
                <a:cs typeface="Lucida Sans"/>
                <a:sym typeface="Lucida Sans"/>
              </a:rPr>
              <a:t> δ</a:t>
            </a:r>
            <a:r>
              <a:rPr lang="en-US"/>
              <a:t>(q, a) = the state that the DFA goes to when it is in state </a:t>
            </a:r>
            <a:r>
              <a:rPr i="1" lang="en-US"/>
              <a:t>q</a:t>
            </a:r>
            <a:r>
              <a:rPr lang="en-US"/>
              <a:t>  and input </a:t>
            </a:r>
            <a:r>
              <a:rPr i="1" lang="en-US"/>
              <a:t>a</a:t>
            </a:r>
            <a:r>
              <a:rPr lang="en-US"/>
              <a:t>  is received.</a:t>
            </a:r>
            <a:endParaRPr/>
          </a:p>
          <a:p>
            <a:pPr indent="-152400" lvl="0" marL="91440" rtl="0" algn="l">
              <a:lnSpc>
                <a:spcPct val="90000"/>
              </a:lnSpc>
              <a:spcBef>
                <a:spcPts val="1400"/>
              </a:spcBef>
              <a:spcAft>
                <a:spcPts val="0"/>
              </a:spcAft>
              <a:buClr>
                <a:srgbClr val="FF0000"/>
              </a:buClr>
              <a:buSzPts val="2400"/>
              <a:buFont typeface="Noto Sans Symbols"/>
              <a:buChar char="▪"/>
            </a:pPr>
            <a:r>
              <a:rPr lang="en-US"/>
              <a:t> Nodes = states.</a:t>
            </a:r>
            <a:endParaRPr/>
          </a:p>
          <a:p>
            <a:pPr indent="-152400" lvl="0" marL="91440" rtl="0" algn="l">
              <a:lnSpc>
                <a:spcPct val="90000"/>
              </a:lnSpc>
              <a:spcBef>
                <a:spcPts val="1400"/>
              </a:spcBef>
              <a:spcAft>
                <a:spcPts val="0"/>
              </a:spcAft>
              <a:buClr>
                <a:srgbClr val="FF0000"/>
              </a:buClr>
              <a:buSzPts val="2400"/>
              <a:buFont typeface="Noto Sans Symbols"/>
              <a:buChar char="▪"/>
            </a:pPr>
            <a:r>
              <a:rPr lang="en-US"/>
              <a:t> Arcs represent transition function.</a:t>
            </a:r>
            <a:endParaRPr/>
          </a:p>
          <a:p>
            <a:pPr indent="-182880" lvl="1" marL="384048" rtl="0" algn="l">
              <a:lnSpc>
                <a:spcPct val="90000"/>
              </a:lnSpc>
              <a:spcBef>
                <a:spcPts val="400"/>
              </a:spcBef>
              <a:spcAft>
                <a:spcPts val="0"/>
              </a:spcAft>
              <a:buClr>
                <a:srgbClr val="FF0000"/>
              </a:buClr>
              <a:buSzPts val="2000"/>
              <a:buChar char="▪"/>
            </a:pPr>
            <a:r>
              <a:rPr lang="en-US"/>
              <a:t>Arc from state p to state q labeled by all those input symbols that have transitions from p to q.</a:t>
            </a:r>
            <a:endParaRPr/>
          </a:p>
          <a:p>
            <a:pPr indent="-152400" lvl="0" marL="91440" rtl="0" algn="l">
              <a:lnSpc>
                <a:spcPct val="90000"/>
              </a:lnSpc>
              <a:spcBef>
                <a:spcPts val="1600"/>
              </a:spcBef>
              <a:spcAft>
                <a:spcPts val="0"/>
              </a:spcAft>
              <a:buClr>
                <a:srgbClr val="FF0000"/>
              </a:buClr>
              <a:buSzPts val="2400"/>
              <a:buFont typeface="Noto Sans Symbols"/>
              <a:buChar char="▪"/>
            </a:pPr>
            <a:r>
              <a:rPr lang="en-US"/>
              <a:t> Arrow labeled “Start” to the start state.</a:t>
            </a:r>
            <a:endParaRPr/>
          </a:p>
          <a:p>
            <a:pPr indent="-152400" lvl="0" marL="91440" rtl="0" algn="l">
              <a:lnSpc>
                <a:spcPct val="90000"/>
              </a:lnSpc>
              <a:spcBef>
                <a:spcPts val="1400"/>
              </a:spcBef>
              <a:spcAft>
                <a:spcPts val="0"/>
              </a:spcAft>
              <a:buClr>
                <a:srgbClr val="FF0000"/>
              </a:buClr>
              <a:buSzPts val="2400"/>
              <a:buFont typeface="Noto Sans Symbols"/>
              <a:buChar char="▪"/>
            </a:pPr>
            <a:r>
              <a:rPr lang="en-US"/>
              <a:t> Final states indicated by double circles.</a:t>
            </a:r>
            <a:endParaRPr/>
          </a:p>
          <a:p>
            <a:pPr indent="0" lvl="0" marL="91440" rtl="0" algn="l">
              <a:lnSpc>
                <a:spcPct val="90000"/>
              </a:lnSpc>
              <a:spcBef>
                <a:spcPts val="1400"/>
              </a:spcBef>
              <a:spcAft>
                <a:spcPts val="0"/>
              </a:spcAft>
              <a:buClr>
                <a:srgbClr val="FF0000"/>
              </a:buClr>
              <a:buSzPts val="2400"/>
              <a:buFont typeface="Noto Sans Symbols"/>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8" name="Google Shape;428;p32"/>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Example #1</a:t>
            </a:r>
            <a:endParaRPr/>
          </a:p>
        </p:txBody>
      </p:sp>
      <p:sp>
        <p:nvSpPr>
          <p:cNvPr id="429" name="Google Shape;429;p32"/>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400"/>
              <a:buNone/>
            </a:pPr>
            <a:r>
              <a:t/>
            </a:r>
            <a:endParaRPr>
              <a:latin typeface="Arial"/>
              <a:ea typeface="Arial"/>
              <a:cs typeface="Arial"/>
              <a:sym typeface="Arial"/>
            </a:endParaRPr>
          </a:p>
          <a:p>
            <a:pPr indent="0" lvl="0" marL="91440" rtl="0" algn="l">
              <a:lnSpc>
                <a:spcPct val="90000"/>
              </a:lnSpc>
              <a:spcBef>
                <a:spcPts val="1400"/>
              </a:spcBef>
              <a:spcAft>
                <a:spcPts val="0"/>
              </a:spcAft>
              <a:buSzPts val="2000"/>
              <a:buNone/>
            </a:pPr>
            <a:r>
              <a:t/>
            </a:r>
            <a:endParaRPr sz="2000">
              <a:latin typeface="Arial"/>
              <a:ea typeface="Arial"/>
              <a:cs typeface="Arial"/>
              <a:sym typeface="Arial"/>
            </a:endParaRPr>
          </a:p>
          <a:p>
            <a:pPr indent="-127000" lvl="0" marL="91440" rtl="0" algn="l">
              <a:lnSpc>
                <a:spcPct val="90000"/>
              </a:lnSpc>
              <a:spcBef>
                <a:spcPts val="1400"/>
              </a:spcBef>
              <a:spcAft>
                <a:spcPts val="0"/>
              </a:spcAft>
              <a:buSzPts val="2000"/>
              <a:buChar char=" "/>
            </a:pPr>
            <a:r>
              <a:rPr lang="en-US" sz="2000">
                <a:latin typeface="Arial"/>
                <a:ea typeface="Arial"/>
                <a:cs typeface="Arial"/>
                <a:sym typeface="Arial"/>
              </a:rPr>
              <a:t>Build a DFA for the following language:</a:t>
            </a:r>
            <a:endParaRPr/>
          </a:p>
          <a:p>
            <a:pPr indent="-182880" lvl="1" marL="384048" rtl="0" algn="l">
              <a:lnSpc>
                <a:spcPct val="90000"/>
              </a:lnSpc>
              <a:spcBef>
                <a:spcPts val="400"/>
              </a:spcBef>
              <a:spcAft>
                <a:spcPts val="0"/>
              </a:spcAft>
              <a:buSzPts val="2000"/>
              <a:buChar char="▪"/>
            </a:pPr>
            <a:r>
              <a:rPr lang="en-US">
                <a:solidFill>
                  <a:srgbClr val="FF0000"/>
                </a:solidFill>
                <a:latin typeface="Arial"/>
                <a:ea typeface="Arial"/>
                <a:cs typeface="Arial"/>
                <a:sym typeface="Arial"/>
              </a:rPr>
              <a:t>L = {w | w is a binary string that contains 01 as a substring}</a:t>
            </a:r>
            <a:endParaRPr/>
          </a:p>
          <a:p>
            <a:pPr indent="-127000" lvl="0" marL="91440" rtl="0" algn="l">
              <a:lnSpc>
                <a:spcPct val="90000"/>
              </a:lnSpc>
              <a:spcBef>
                <a:spcPts val="1600"/>
              </a:spcBef>
              <a:spcAft>
                <a:spcPts val="0"/>
              </a:spcAft>
              <a:buSzPts val="2000"/>
              <a:buChar char=" "/>
            </a:pPr>
            <a:r>
              <a:rPr lang="en-US" sz="2000">
                <a:latin typeface="Arial"/>
                <a:ea typeface="Arial"/>
                <a:cs typeface="Arial"/>
                <a:sym typeface="Arial"/>
              </a:rPr>
              <a:t>Steps for building a DFA to recognize L:</a:t>
            </a:r>
            <a:endParaRPr/>
          </a:p>
          <a:p>
            <a:pPr indent="-182880" lvl="1" marL="384048" rtl="0" algn="l">
              <a:lnSpc>
                <a:spcPct val="90000"/>
              </a:lnSpc>
              <a:spcBef>
                <a:spcPts val="400"/>
              </a:spcBef>
              <a:spcAft>
                <a:spcPts val="0"/>
              </a:spcAft>
              <a:buSzPts val="2000"/>
              <a:buChar char="▪"/>
            </a:pPr>
            <a:r>
              <a:rPr lang="en-US">
                <a:latin typeface="Arial"/>
                <a:ea typeface="Arial"/>
                <a:cs typeface="Arial"/>
                <a:sym typeface="Arial"/>
              </a:rPr>
              <a:t> ∑ = {0,1}</a:t>
            </a:r>
            <a:endParaRPr/>
          </a:p>
          <a:p>
            <a:pPr indent="-182880" lvl="1" marL="384048" rtl="0" algn="l">
              <a:lnSpc>
                <a:spcPct val="90000"/>
              </a:lnSpc>
              <a:spcBef>
                <a:spcPts val="600"/>
              </a:spcBef>
              <a:spcAft>
                <a:spcPts val="0"/>
              </a:spcAft>
              <a:buSzPts val="2000"/>
              <a:buChar char="▪"/>
            </a:pPr>
            <a:r>
              <a:rPr lang="en-US">
                <a:latin typeface="Arial"/>
                <a:ea typeface="Arial"/>
                <a:cs typeface="Arial"/>
                <a:sym typeface="Arial"/>
              </a:rPr>
              <a:t> Decide on the states: Q</a:t>
            </a:r>
            <a:endParaRPr/>
          </a:p>
          <a:p>
            <a:pPr indent="-182880" lvl="1" marL="384048" rtl="0" algn="l">
              <a:lnSpc>
                <a:spcPct val="90000"/>
              </a:lnSpc>
              <a:spcBef>
                <a:spcPts val="600"/>
              </a:spcBef>
              <a:spcAft>
                <a:spcPts val="0"/>
              </a:spcAft>
              <a:buSzPts val="2000"/>
              <a:buChar char="▪"/>
            </a:pPr>
            <a:r>
              <a:rPr lang="en-US">
                <a:latin typeface="Arial"/>
                <a:ea typeface="Arial"/>
                <a:cs typeface="Arial"/>
                <a:sym typeface="Arial"/>
              </a:rPr>
              <a:t> Designate start state and final state(s)</a:t>
            </a:r>
            <a:endParaRPr/>
          </a:p>
          <a:p>
            <a:pPr indent="-182880" lvl="1" marL="384048" rtl="0" algn="l">
              <a:lnSpc>
                <a:spcPct val="90000"/>
              </a:lnSpc>
              <a:spcBef>
                <a:spcPts val="600"/>
              </a:spcBef>
              <a:spcAft>
                <a:spcPts val="0"/>
              </a:spcAft>
              <a:buSzPts val="2000"/>
              <a:buChar char="▪"/>
            </a:pPr>
            <a:r>
              <a:rPr lang="en-US">
                <a:latin typeface="Arial"/>
                <a:ea typeface="Arial"/>
                <a:cs typeface="Arial"/>
                <a:sym typeface="Arial"/>
              </a:rPr>
              <a:t> δ: Decide on the transitions: </a:t>
            </a:r>
            <a:endParaRPr/>
          </a:p>
          <a:p>
            <a:pPr indent="-127000" lvl="0" marL="91440" rtl="0" algn="l">
              <a:lnSpc>
                <a:spcPct val="90000"/>
              </a:lnSpc>
              <a:spcBef>
                <a:spcPts val="1600"/>
              </a:spcBef>
              <a:spcAft>
                <a:spcPts val="0"/>
              </a:spcAft>
              <a:buSzPts val="2000"/>
              <a:buChar char=" "/>
            </a:pPr>
            <a:r>
              <a:rPr lang="en-US" sz="2000">
                <a:latin typeface="Arial"/>
                <a:ea typeface="Arial"/>
                <a:cs typeface="Arial"/>
                <a:sym typeface="Arial"/>
              </a:rPr>
              <a:t>“Final” states == same as “accepting states”</a:t>
            </a:r>
            <a:endParaRPr/>
          </a:p>
          <a:p>
            <a:pPr indent="-127000" lvl="0" marL="91440" rtl="0" algn="l">
              <a:lnSpc>
                <a:spcPct val="90000"/>
              </a:lnSpc>
              <a:spcBef>
                <a:spcPts val="1400"/>
              </a:spcBef>
              <a:spcAft>
                <a:spcPts val="0"/>
              </a:spcAft>
              <a:buSzPts val="2000"/>
              <a:buChar char=" "/>
            </a:pPr>
            <a:r>
              <a:rPr lang="en-US" sz="2000">
                <a:latin typeface="Arial"/>
                <a:ea typeface="Arial"/>
                <a:cs typeface="Arial"/>
                <a:sym typeface="Arial"/>
              </a:rPr>
              <a:t>Other states == same as “non-accepting states”</a:t>
            </a:r>
            <a:endParaRPr/>
          </a:p>
        </p:txBody>
      </p:sp>
      <p:sp>
        <p:nvSpPr>
          <p:cNvPr id="430" name="Google Shape;430;p32"/>
          <p:cNvSpPr/>
          <p:nvPr/>
        </p:nvSpPr>
        <p:spPr>
          <a:xfrm>
            <a:off x="533400" y="1371600"/>
            <a:ext cx="7467600"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chemeClr val="dk1"/>
                </a:solidFill>
                <a:latin typeface="Arial"/>
                <a:ea typeface="Arial"/>
                <a:cs typeface="Arial"/>
                <a:sym typeface="Arial"/>
              </a:rPr>
              <a:t>A DFA  A accepts string </a:t>
            </a:r>
            <a:r>
              <a:rPr i="1" lang="en-US" sz="1800">
                <a:solidFill>
                  <a:schemeClr val="dk1"/>
                </a:solidFill>
                <a:latin typeface="Arial"/>
                <a:ea typeface="Arial"/>
                <a:cs typeface="Arial"/>
                <a:sym typeface="Arial"/>
              </a:rPr>
              <a:t>w </a:t>
            </a:r>
            <a:r>
              <a:rPr lang="en-US" sz="1800">
                <a:solidFill>
                  <a:schemeClr val="dk1"/>
                </a:solidFill>
                <a:latin typeface="Arial"/>
                <a:ea typeface="Arial"/>
                <a:cs typeface="Arial"/>
                <a:sym typeface="Arial"/>
              </a:rPr>
              <a:t>if there is a path from </a:t>
            </a:r>
            <a:r>
              <a:rPr i="1" lang="en-US" sz="1800">
                <a:solidFill>
                  <a:schemeClr val="dk1"/>
                </a:solidFill>
                <a:latin typeface="Arial"/>
                <a:ea typeface="Arial"/>
                <a:cs typeface="Arial"/>
                <a:sym typeface="Arial"/>
              </a:rPr>
              <a:t>q</a:t>
            </a:r>
            <a:r>
              <a:rPr baseline="-25000" i="1" lang="en-US" sz="1800">
                <a:solidFill>
                  <a:schemeClr val="dk1"/>
                </a:solidFill>
                <a:latin typeface="Arial"/>
                <a:ea typeface="Arial"/>
                <a:cs typeface="Arial"/>
                <a:sym typeface="Arial"/>
              </a:rPr>
              <a:t>0</a:t>
            </a:r>
            <a:r>
              <a:rPr lang="en-US" sz="1800">
                <a:solidFill>
                  <a:schemeClr val="dk1"/>
                </a:solidFill>
                <a:latin typeface="Arial"/>
                <a:ea typeface="Arial"/>
                <a:cs typeface="Arial"/>
                <a:sym typeface="Arial"/>
              </a:rPr>
              <a:t> to an accepting (or final) state that is labeled by </a:t>
            </a:r>
            <a:r>
              <a:rPr i="1" lang="en-US" sz="1800">
                <a:solidFill>
                  <a:schemeClr val="dk1"/>
                </a:solidFill>
                <a:latin typeface="Arial"/>
                <a:ea typeface="Arial"/>
                <a:cs typeface="Arial"/>
                <a:sym typeface="Arial"/>
              </a:rPr>
              <a:t>w</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3"/>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DFA for strings containing 01</a:t>
            </a:r>
            <a:endParaRPr b="1"/>
          </a:p>
        </p:txBody>
      </p:sp>
      <p:sp>
        <p:nvSpPr>
          <p:cNvPr id="436" name="Google Shape;436;p3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437" name="Google Shape;437;p33"/>
          <p:cNvGrpSpPr/>
          <p:nvPr/>
        </p:nvGrpSpPr>
        <p:grpSpPr>
          <a:xfrm>
            <a:off x="843957" y="2970995"/>
            <a:ext cx="1371600" cy="609600"/>
            <a:chOff x="624" y="2352"/>
            <a:chExt cx="864" cy="384"/>
          </a:xfrm>
        </p:grpSpPr>
        <p:sp>
          <p:nvSpPr>
            <p:cNvPr id="438" name="Google Shape;438;p33"/>
            <p:cNvSpPr/>
            <p:nvPr/>
          </p:nvSpPr>
          <p:spPr>
            <a:xfrm>
              <a:off x="1200"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0</a:t>
              </a:r>
              <a:endParaRPr/>
            </a:p>
          </p:txBody>
        </p:sp>
        <p:cxnSp>
          <p:nvCxnSpPr>
            <p:cNvPr id="439" name="Google Shape;439;p33"/>
            <p:cNvCxnSpPr/>
            <p:nvPr/>
          </p:nvCxnSpPr>
          <p:spPr>
            <a:xfrm>
              <a:off x="816" y="2592"/>
              <a:ext cx="384" cy="0"/>
            </a:xfrm>
            <a:prstGeom prst="straightConnector1">
              <a:avLst/>
            </a:prstGeom>
            <a:noFill/>
            <a:ln cap="flat" cmpd="sng" w="9525">
              <a:solidFill>
                <a:schemeClr val="dk1"/>
              </a:solidFill>
              <a:prstDash val="solid"/>
              <a:round/>
              <a:headEnd len="med" w="med" type="none"/>
              <a:tailEnd len="med" w="med" type="triangle"/>
            </a:ln>
          </p:spPr>
        </p:cxnSp>
        <p:sp>
          <p:nvSpPr>
            <p:cNvPr id="440" name="Google Shape;440;p33"/>
            <p:cNvSpPr txBox="1"/>
            <p:nvPr/>
          </p:nvSpPr>
          <p:spPr>
            <a:xfrm>
              <a:off x="624" y="2352"/>
              <a:ext cx="48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a:t>
              </a:r>
              <a:endParaRPr/>
            </a:p>
          </p:txBody>
        </p:sp>
      </p:grpSp>
      <p:grpSp>
        <p:nvGrpSpPr>
          <p:cNvPr id="441" name="Google Shape;441;p33"/>
          <p:cNvGrpSpPr/>
          <p:nvPr/>
        </p:nvGrpSpPr>
        <p:grpSpPr>
          <a:xfrm>
            <a:off x="2215557" y="2934483"/>
            <a:ext cx="990600" cy="646112"/>
            <a:chOff x="2016" y="2329"/>
            <a:chExt cx="624" cy="407"/>
          </a:xfrm>
        </p:grpSpPr>
        <p:cxnSp>
          <p:nvCxnSpPr>
            <p:cNvPr id="442" name="Google Shape;442;p33"/>
            <p:cNvCxnSpPr/>
            <p:nvPr/>
          </p:nvCxnSpPr>
          <p:spPr>
            <a:xfrm>
              <a:off x="2016" y="2592"/>
              <a:ext cx="336" cy="0"/>
            </a:xfrm>
            <a:prstGeom prst="straightConnector1">
              <a:avLst/>
            </a:prstGeom>
            <a:noFill/>
            <a:ln cap="flat" cmpd="sng" w="9525">
              <a:solidFill>
                <a:schemeClr val="dk1"/>
              </a:solidFill>
              <a:prstDash val="solid"/>
              <a:round/>
              <a:headEnd len="med" w="med" type="none"/>
              <a:tailEnd len="med" w="med" type="triangle"/>
            </a:ln>
          </p:spPr>
        </p:cxnSp>
        <p:sp>
          <p:nvSpPr>
            <p:cNvPr id="443" name="Google Shape;443;p33"/>
            <p:cNvSpPr/>
            <p:nvPr/>
          </p:nvSpPr>
          <p:spPr>
            <a:xfrm>
              <a:off x="2352"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1</a:t>
              </a:r>
              <a:endParaRPr/>
            </a:p>
          </p:txBody>
        </p:sp>
        <p:sp>
          <p:nvSpPr>
            <p:cNvPr id="444" name="Google Shape;444;p33"/>
            <p:cNvSpPr txBox="1"/>
            <p:nvPr/>
          </p:nvSpPr>
          <p:spPr>
            <a:xfrm>
              <a:off x="2054" y="2329"/>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0</a:t>
              </a:r>
              <a:endParaRPr/>
            </a:p>
          </p:txBody>
        </p:sp>
      </p:grpSp>
      <p:grpSp>
        <p:nvGrpSpPr>
          <p:cNvPr id="445" name="Google Shape;445;p33"/>
          <p:cNvGrpSpPr/>
          <p:nvPr/>
        </p:nvGrpSpPr>
        <p:grpSpPr>
          <a:xfrm>
            <a:off x="1732954" y="2401083"/>
            <a:ext cx="425450" cy="722312"/>
            <a:chOff x="1712" y="1993"/>
            <a:chExt cx="268" cy="455"/>
          </a:xfrm>
        </p:grpSpPr>
        <p:sp>
          <p:nvSpPr>
            <p:cNvPr id="446" name="Google Shape;446;p33"/>
            <p:cNvSpPr/>
            <p:nvPr/>
          </p:nvSpPr>
          <p:spPr>
            <a:xfrm>
              <a:off x="1712" y="2248"/>
              <a:ext cx="264" cy="2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7" name="Google Shape;447;p33"/>
            <p:cNvSpPr txBox="1"/>
            <p:nvPr/>
          </p:nvSpPr>
          <p:spPr>
            <a:xfrm>
              <a:off x="1766" y="1993"/>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grpSp>
      <p:grpSp>
        <p:nvGrpSpPr>
          <p:cNvPr id="448" name="Google Shape;448;p33"/>
          <p:cNvGrpSpPr/>
          <p:nvPr/>
        </p:nvGrpSpPr>
        <p:grpSpPr>
          <a:xfrm>
            <a:off x="3730032" y="2361395"/>
            <a:ext cx="658813" cy="722313"/>
            <a:chOff x="2970" y="1968"/>
            <a:chExt cx="415" cy="455"/>
          </a:xfrm>
        </p:grpSpPr>
        <p:sp>
          <p:nvSpPr>
            <p:cNvPr id="449" name="Google Shape;449;p33"/>
            <p:cNvSpPr/>
            <p:nvPr/>
          </p:nvSpPr>
          <p:spPr>
            <a:xfrm>
              <a:off x="2970" y="2223"/>
              <a:ext cx="264" cy="2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0" name="Google Shape;450;p33"/>
            <p:cNvSpPr txBox="1"/>
            <p:nvPr/>
          </p:nvSpPr>
          <p:spPr>
            <a:xfrm>
              <a:off x="3024" y="1968"/>
              <a:ext cx="36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0,1</a:t>
              </a:r>
              <a:endParaRPr/>
            </a:p>
          </p:txBody>
        </p:sp>
      </p:grpSp>
      <p:grpSp>
        <p:nvGrpSpPr>
          <p:cNvPr id="451" name="Google Shape;451;p33"/>
          <p:cNvGrpSpPr/>
          <p:nvPr/>
        </p:nvGrpSpPr>
        <p:grpSpPr>
          <a:xfrm>
            <a:off x="2739428" y="2437595"/>
            <a:ext cx="425450" cy="722313"/>
            <a:chOff x="2346" y="2016"/>
            <a:chExt cx="268" cy="455"/>
          </a:xfrm>
        </p:grpSpPr>
        <p:sp>
          <p:nvSpPr>
            <p:cNvPr id="452" name="Google Shape;452;p33"/>
            <p:cNvSpPr/>
            <p:nvPr/>
          </p:nvSpPr>
          <p:spPr>
            <a:xfrm>
              <a:off x="2346" y="2271"/>
              <a:ext cx="264" cy="2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3" name="Google Shape;453;p33"/>
            <p:cNvSpPr txBox="1"/>
            <p:nvPr/>
          </p:nvSpPr>
          <p:spPr>
            <a:xfrm>
              <a:off x="2400" y="2016"/>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0</a:t>
              </a:r>
              <a:endParaRPr/>
            </a:p>
          </p:txBody>
        </p:sp>
      </p:grpSp>
      <p:grpSp>
        <p:nvGrpSpPr>
          <p:cNvPr id="454" name="Google Shape;454;p33"/>
          <p:cNvGrpSpPr/>
          <p:nvPr/>
        </p:nvGrpSpPr>
        <p:grpSpPr>
          <a:xfrm>
            <a:off x="3206157" y="2894795"/>
            <a:ext cx="990600" cy="685800"/>
            <a:chOff x="2640" y="2304"/>
            <a:chExt cx="624" cy="432"/>
          </a:xfrm>
        </p:grpSpPr>
        <p:sp>
          <p:nvSpPr>
            <p:cNvPr id="455" name="Google Shape;455;p33"/>
            <p:cNvSpPr txBox="1"/>
            <p:nvPr/>
          </p:nvSpPr>
          <p:spPr>
            <a:xfrm>
              <a:off x="2688" y="2304"/>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56" name="Google Shape;456;p33"/>
            <p:cNvSpPr/>
            <p:nvPr/>
          </p:nvSpPr>
          <p:spPr>
            <a:xfrm>
              <a:off x="2976"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2</a:t>
              </a:r>
              <a:endParaRPr/>
            </a:p>
          </p:txBody>
        </p:sp>
        <p:cxnSp>
          <p:nvCxnSpPr>
            <p:cNvPr id="457" name="Google Shape;457;p33"/>
            <p:cNvCxnSpPr/>
            <p:nvPr/>
          </p:nvCxnSpPr>
          <p:spPr>
            <a:xfrm>
              <a:off x="2640" y="2592"/>
              <a:ext cx="288" cy="0"/>
            </a:xfrm>
            <a:prstGeom prst="straightConnector1">
              <a:avLst/>
            </a:prstGeom>
            <a:noFill/>
            <a:ln cap="flat" cmpd="sng" w="9525">
              <a:solidFill>
                <a:schemeClr val="dk1"/>
              </a:solidFill>
              <a:prstDash val="solid"/>
              <a:round/>
              <a:headEnd len="med" w="med" type="none"/>
              <a:tailEnd len="med" w="med" type="triangle"/>
            </a:ln>
          </p:spPr>
        </p:cxnSp>
      </p:grpSp>
      <p:grpSp>
        <p:nvGrpSpPr>
          <p:cNvPr id="458" name="Google Shape;458;p33"/>
          <p:cNvGrpSpPr/>
          <p:nvPr/>
        </p:nvGrpSpPr>
        <p:grpSpPr>
          <a:xfrm>
            <a:off x="3571288" y="3047196"/>
            <a:ext cx="1416053" cy="1327151"/>
            <a:chOff x="2342" y="2400"/>
            <a:chExt cx="892" cy="836"/>
          </a:xfrm>
        </p:grpSpPr>
        <p:sp>
          <p:nvSpPr>
            <p:cNvPr id="459" name="Google Shape;459;p33"/>
            <p:cNvSpPr/>
            <p:nvPr/>
          </p:nvSpPr>
          <p:spPr>
            <a:xfrm>
              <a:off x="2400" y="2400"/>
              <a:ext cx="384" cy="384"/>
            </a:xfrm>
            <a:prstGeom prst="ellipse">
              <a:avLst/>
            </a:prstGeom>
            <a:solidFill>
              <a:schemeClr val="accent1">
                <a:alpha val="12156"/>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0" name="Google Shape;460;p33"/>
            <p:cNvSpPr txBox="1"/>
            <p:nvPr/>
          </p:nvSpPr>
          <p:spPr>
            <a:xfrm>
              <a:off x="2342" y="2713"/>
              <a:ext cx="892" cy="5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Accepting</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state</a:t>
              </a:r>
              <a:endParaRPr/>
            </a:p>
          </p:txBody>
        </p:sp>
      </p:grpSp>
      <p:sp>
        <p:nvSpPr>
          <p:cNvPr id="461" name="Google Shape;461;p33"/>
          <p:cNvSpPr txBox="1"/>
          <p:nvPr/>
        </p:nvSpPr>
        <p:spPr>
          <a:xfrm>
            <a:off x="135044" y="1750915"/>
            <a:ext cx="4894160" cy="461665"/>
          </a:xfrm>
          <a:prstGeom prst="rect">
            <a:avLst/>
          </a:prstGeom>
          <a:solidFill>
            <a:srgbClr val="CCFFCC"/>
          </a:solid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 What makes this DFA deterministic?</a:t>
            </a:r>
            <a:endParaRPr/>
          </a:p>
        </p:txBody>
      </p:sp>
      <p:grpSp>
        <p:nvGrpSpPr>
          <p:cNvPr id="462" name="Google Shape;462;p33"/>
          <p:cNvGrpSpPr/>
          <p:nvPr/>
        </p:nvGrpSpPr>
        <p:grpSpPr>
          <a:xfrm>
            <a:off x="5203318" y="1967135"/>
            <a:ext cx="3733800" cy="3657600"/>
            <a:chOff x="2880" y="1680"/>
            <a:chExt cx="2352" cy="2304"/>
          </a:xfrm>
        </p:grpSpPr>
        <p:cxnSp>
          <p:nvCxnSpPr>
            <p:cNvPr id="463" name="Google Shape;463;p33"/>
            <p:cNvCxnSpPr/>
            <p:nvPr/>
          </p:nvCxnSpPr>
          <p:spPr>
            <a:xfrm>
              <a:off x="2880" y="1728"/>
              <a:ext cx="0" cy="2160"/>
            </a:xfrm>
            <a:prstGeom prst="straightConnector1">
              <a:avLst/>
            </a:prstGeom>
            <a:noFill/>
            <a:ln cap="flat" cmpd="sng" w="9525">
              <a:solidFill>
                <a:schemeClr val="dk1"/>
              </a:solidFill>
              <a:prstDash val="solid"/>
              <a:round/>
              <a:headEnd len="med" w="med" type="none"/>
              <a:tailEnd len="med" w="med" type="none"/>
            </a:ln>
          </p:spPr>
        </p:cxnSp>
        <p:sp>
          <p:nvSpPr>
            <p:cNvPr id="464" name="Google Shape;464;p33"/>
            <p:cNvSpPr txBox="1"/>
            <p:nvPr/>
          </p:nvSpPr>
          <p:spPr>
            <a:xfrm>
              <a:off x="3216" y="1680"/>
              <a:ext cx="2016" cy="1280"/>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Q = {q</a:t>
              </a:r>
              <a:r>
                <a:rPr baseline="-25000" lang="en-US" sz="1800">
                  <a:solidFill>
                    <a:schemeClr val="dk1"/>
                  </a:solidFill>
                  <a:latin typeface="Arial"/>
                  <a:ea typeface="Arial"/>
                  <a:cs typeface="Arial"/>
                  <a:sym typeface="Arial"/>
                </a:rPr>
                <a:t>0</a:t>
              </a: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1</a:t>
              </a: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2</a:t>
              </a:r>
              <a:r>
                <a:rPr lang="en-US" sz="1800">
                  <a:solidFill>
                    <a:schemeClr val="dk1"/>
                  </a:solidFill>
                  <a:latin typeface="Arial"/>
                  <a:ea typeface="Arial"/>
                  <a:cs typeface="Arial"/>
                  <a:sym typeface="Arial"/>
                </a:rPr>
                <a:t>}</a:t>
              </a:r>
              <a:endParaRPr/>
            </a:p>
            <a:p>
              <a:pPr indent="-114300" lvl="0" marL="0" marR="0" rtl="0" algn="l">
                <a:spcBef>
                  <a:spcPts val="900"/>
                </a:spcBef>
                <a:spcAft>
                  <a:spcPts val="0"/>
                </a:spcAft>
                <a:buClr>
                  <a:schemeClr val="dk1"/>
                </a:buClr>
                <a:buSzPts val="1800"/>
                <a:buFont typeface="Arial"/>
                <a:buChar char="•"/>
              </a:pPr>
              <a:r>
                <a:rPr lang="en-US" sz="1800">
                  <a:solidFill>
                    <a:schemeClr val="dk1"/>
                  </a:solidFill>
                  <a:latin typeface="Arial"/>
                  <a:ea typeface="Arial"/>
                  <a:cs typeface="Arial"/>
                  <a:sym typeface="Arial"/>
                </a:rPr>
                <a:t> ∑ = {0,1}</a:t>
              </a:r>
              <a:endParaRPr/>
            </a:p>
            <a:p>
              <a:pPr indent="-114300" lvl="0" marL="0" marR="0" rtl="0" algn="l">
                <a:spcBef>
                  <a:spcPts val="900"/>
                </a:spcBef>
                <a:spcAft>
                  <a:spcPts val="0"/>
                </a:spcAft>
                <a:buClr>
                  <a:schemeClr val="dk1"/>
                </a:buClr>
                <a:buSzPts val="1800"/>
                <a:buFont typeface="Arial"/>
                <a:buChar char="•"/>
              </a:pPr>
              <a:r>
                <a:rPr lang="en-US" sz="1800">
                  <a:solidFill>
                    <a:schemeClr val="dk1"/>
                  </a:solidFill>
                  <a:latin typeface="Arial"/>
                  <a:ea typeface="Arial"/>
                  <a:cs typeface="Arial"/>
                  <a:sym typeface="Arial"/>
                </a:rPr>
                <a:t> start state = q</a:t>
              </a:r>
              <a:r>
                <a:rPr baseline="-25000" lang="en-US" sz="1800">
                  <a:solidFill>
                    <a:schemeClr val="dk1"/>
                  </a:solidFill>
                  <a:latin typeface="Arial"/>
                  <a:ea typeface="Arial"/>
                  <a:cs typeface="Arial"/>
                  <a:sym typeface="Arial"/>
                </a:rPr>
                <a:t>0</a:t>
              </a:r>
              <a:r>
                <a:rPr lang="en-US" sz="1800">
                  <a:solidFill>
                    <a:schemeClr val="dk1"/>
                  </a:solidFill>
                  <a:latin typeface="Arial"/>
                  <a:ea typeface="Arial"/>
                  <a:cs typeface="Arial"/>
                  <a:sym typeface="Arial"/>
                </a:rPr>
                <a:t> </a:t>
              </a:r>
              <a:endParaRPr/>
            </a:p>
            <a:p>
              <a:pPr indent="-114300" lvl="0" marL="0" marR="0" rtl="0" algn="l">
                <a:spcBef>
                  <a:spcPts val="900"/>
                </a:spcBef>
                <a:spcAft>
                  <a:spcPts val="0"/>
                </a:spcAft>
                <a:buClr>
                  <a:schemeClr val="dk1"/>
                </a:buClr>
                <a:buSzPts val="1800"/>
                <a:buFont typeface="Arial"/>
                <a:buChar char="•"/>
              </a:pPr>
              <a:r>
                <a:rPr lang="en-US" sz="1800">
                  <a:solidFill>
                    <a:schemeClr val="dk1"/>
                  </a:solidFill>
                  <a:latin typeface="Arial"/>
                  <a:ea typeface="Arial"/>
                  <a:cs typeface="Arial"/>
                  <a:sym typeface="Arial"/>
                </a:rPr>
                <a:t> F = {q</a:t>
              </a:r>
              <a:r>
                <a:rPr baseline="-25000" lang="en-US" sz="1800">
                  <a:solidFill>
                    <a:schemeClr val="dk1"/>
                  </a:solidFill>
                  <a:latin typeface="Arial"/>
                  <a:ea typeface="Arial"/>
                  <a:cs typeface="Arial"/>
                  <a:sym typeface="Arial"/>
                </a:rPr>
                <a:t>2</a:t>
              </a:r>
              <a:r>
                <a:rPr lang="en-US"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indent="-114300" lvl="0" marL="0" marR="0" rtl="0" algn="l">
                <a:spcBef>
                  <a:spcPts val="900"/>
                </a:spcBef>
                <a:spcAft>
                  <a:spcPts val="0"/>
                </a:spcAft>
                <a:buClr>
                  <a:schemeClr val="dk1"/>
                </a:buClr>
                <a:buSzPts val="1800"/>
                <a:buFont typeface="Arial"/>
                <a:buChar char="•"/>
              </a:pPr>
              <a:r>
                <a:rPr lang="en-US" sz="1800">
                  <a:solidFill>
                    <a:schemeClr val="dk1"/>
                  </a:solidFill>
                  <a:latin typeface="Arial"/>
                  <a:ea typeface="Arial"/>
                  <a:cs typeface="Arial"/>
                  <a:sym typeface="Arial"/>
                </a:rPr>
                <a:t> Transition table</a:t>
              </a:r>
              <a:endParaRPr/>
            </a:p>
          </p:txBody>
        </p:sp>
        <p:pic>
          <p:nvPicPr>
            <p:cNvPr descr="delta" id="465" name="Google Shape;465;p33"/>
            <p:cNvPicPr preferRelativeResize="0"/>
            <p:nvPr/>
          </p:nvPicPr>
          <p:blipFill rotWithShape="1">
            <a:blip r:embed="rId3">
              <a:alphaModFix/>
            </a:blip>
            <a:srcRect b="0" l="0" r="0" t="0"/>
            <a:stretch/>
          </p:blipFill>
          <p:spPr>
            <a:xfrm>
              <a:off x="3264" y="3120"/>
              <a:ext cx="213" cy="240"/>
            </a:xfrm>
            <a:prstGeom prst="rect">
              <a:avLst/>
            </a:prstGeom>
            <a:noFill/>
            <a:ln>
              <a:noFill/>
            </a:ln>
          </p:spPr>
        </p:pic>
        <p:sp>
          <p:nvSpPr>
            <p:cNvPr id="466" name="Google Shape;466;p33"/>
            <p:cNvSpPr/>
            <p:nvPr/>
          </p:nvSpPr>
          <p:spPr>
            <a:xfrm>
              <a:off x="4464" y="3773"/>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2</a:t>
              </a:r>
              <a:endParaRPr/>
            </a:p>
          </p:txBody>
        </p:sp>
        <p:sp>
          <p:nvSpPr>
            <p:cNvPr id="467" name="Google Shape;467;p33"/>
            <p:cNvSpPr/>
            <p:nvPr/>
          </p:nvSpPr>
          <p:spPr>
            <a:xfrm>
              <a:off x="3840" y="3773"/>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2</a:t>
              </a:r>
              <a:endParaRPr/>
            </a:p>
          </p:txBody>
        </p:sp>
        <p:sp>
          <p:nvSpPr>
            <p:cNvPr id="468" name="Google Shape;468;p33"/>
            <p:cNvSpPr/>
            <p:nvPr/>
          </p:nvSpPr>
          <p:spPr>
            <a:xfrm>
              <a:off x="3216" y="3773"/>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b="1" lang="en-US" sz="1800">
                  <a:solidFill>
                    <a:schemeClr val="hlink"/>
                  </a:solidFill>
                  <a:latin typeface="Arial"/>
                  <a:ea typeface="Arial"/>
                  <a:cs typeface="Arial"/>
                  <a:sym typeface="Arial"/>
                </a:rPr>
                <a:t>*q</a:t>
              </a:r>
              <a:r>
                <a:rPr b="1" baseline="-25000" lang="en-US" sz="1800">
                  <a:solidFill>
                    <a:schemeClr val="hlink"/>
                  </a:solidFill>
                  <a:latin typeface="Arial"/>
                  <a:ea typeface="Arial"/>
                  <a:cs typeface="Arial"/>
                  <a:sym typeface="Arial"/>
                </a:rPr>
                <a:t>2</a:t>
              </a:r>
              <a:endParaRPr b="1" sz="1800">
                <a:solidFill>
                  <a:schemeClr val="hlink"/>
                </a:solidFill>
                <a:latin typeface="Arial"/>
                <a:ea typeface="Arial"/>
                <a:cs typeface="Arial"/>
                <a:sym typeface="Arial"/>
              </a:endParaRPr>
            </a:p>
          </p:txBody>
        </p:sp>
        <p:sp>
          <p:nvSpPr>
            <p:cNvPr id="469" name="Google Shape;469;p33"/>
            <p:cNvSpPr/>
            <p:nvPr/>
          </p:nvSpPr>
          <p:spPr>
            <a:xfrm>
              <a:off x="4464" y="3562"/>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2</a:t>
              </a:r>
              <a:endParaRPr/>
            </a:p>
          </p:txBody>
        </p:sp>
        <p:sp>
          <p:nvSpPr>
            <p:cNvPr id="470" name="Google Shape;470;p33"/>
            <p:cNvSpPr/>
            <p:nvPr/>
          </p:nvSpPr>
          <p:spPr>
            <a:xfrm>
              <a:off x="3840" y="3562"/>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1</a:t>
              </a:r>
              <a:endParaRPr/>
            </a:p>
          </p:txBody>
        </p:sp>
        <p:sp>
          <p:nvSpPr>
            <p:cNvPr id="471" name="Google Shape;471;p33"/>
            <p:cNvSpPr/>
            <p:nvPr/>
          </p:nvSpPr>
          <p:spPr>
            <a:xfrm>
              <a:off x="3216" y="3562"/>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b="1" lang="en-US" sz="1800">
                  <a:solidFill>
                    <a:schemeClr val="hlink"/>
                  </a:solidFill>
                  <a:latin typeface="Arial"/>
                  <a:ea typeface="Arial"/>
                  <a:cs typeface="Arial"/>
                  <a:sym typeface="Arial"/>
                </a:rPr>
                <a:t>q</a:t>
              </a:r>
              <a:r>
                <a:rPr b="1" baseline="-25000" lang="en-US" sz="1800">
                  <a:solidFill>
                    <a:schemeClr val="hlink"/>
                  </a:solidFill>
                  <a:latin typeface="Arial"/>
                  <a:ea typeface="Arial"/>
                  <a:cs typeface="Arial"/>
                  <a:sym typeface="Arial"/>
                </a:rPr>
                <a:t>1</a:t>
              </a:r>
              <a:endParaRPr b="1" sz="1800">
                <a:solidFill>
                  <a:schemeClr val="hlink"/>
                </a:solidFill>
                <a:latin typeface="Arial"/>
                <a:ea typeface="Arial"/>
                <a:cs typeface="Arial"/>
                <a:sym typeface="Arial"/>
              </a:endParaRPr>
            </a:p>
          </p:txBody>
        </p:sp>
        <p:sp>
          <p:nvSpPr>
            <p:cNvPr id="472" name="Google Shape;472;p33"/>
            <p:cNvSpPr/>
            <p:nvPr/>
          </p:nvSpPr>
          <p:spPr>
            <a:xfrm>
              <a:off x="4464" y="3351"/>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0</a:t>
              </a:r>
              <a:endParaRPr/>
            </a:p>
          </p:txBody>
        </p:sp>
        <p:sp>
          <p:nvSpPr>
            <p:cNvPr id="473" name="Google Shape;473;p33"/>
            <p:cNvSpPr/>
            <p:nvPr/>
          </p:nvSpPr>
          <p:spPr>
            <a:xfrm>
              <a:off x="3840" y="3351"/>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1</a:t>
              </a:r>
              <a:endParaRPr sz="1800">
                <a:solidFill>
                  <a:schemeClr val="dk1"/>
                </a:solidFill>
                <a:latin typeface="Arial"/>
                <a:ea typeface="Arial"/>
                <a:cs typeface="Arial"/>
                <a:sym typeface="Arial"/>
              </a:endParaRPr>
            </a:p>
          </p:txBody>
        </p:sp>
        <p:sp>
          <p:nvSpPr>
            <p:cNvPr id="474" name="Google Shape;474;p33"/>
            <p:cNvSpPr/>
            <p:nvPr/>
          </p:nvSpPr>
          <p:spPr>
            <a:xfrm>
              <a:off x="3216" y="3351"/>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b="1" lang="en-US" sz="1800">
                  <a:solidFill>
                    <a:schemeClr val="hlink"/>
                  </a:solidFill>
                  <a:latin typeface="Arial"/>
                  <a:ea typeface="Arial"/>
                  <a:cs typeface="Arial"/>
                  <a:sym typeface="Arial"/>
                </a:rPr>
                <a:t>q</a:t>
              </a:r>
              <a:r>
                <a:rPr b="1" baseline="-25000" lang="en-US" sz="1800">
                  <a:solidFill>
                    <a:schemeClr val="hlink"/>
                  </a:solidFill>
                  <a:latin typeface="Arial"/>
                  <a:ea typeface="Arial"/>
                  <a:cs typeface="Arial"/>
                  <a:sym typeface="Arial"/>
                </a:rPr>
                <a:t>0</a:t>
              </a:r>
              <a:endParaRPr/>
            </a:p>
          </p:txBody>
        </p:sp>
        <p:sp>
          <p:nvSpPr>
            <p:cNvPr id="475" name="Google Shape;475;p33"/>
            <p:cNvSpPr/>
            <p:nvPr/>
          </p:nvSpPr>
          <p:spPr>
            <a:xfrm>
              <a:off x="4464" y="3140"/>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b="1" lang="en-US" sz="1800">
                  <a:solidFill>
                    <a:schemeClr val="hlink"/>
                  </a:solidFill>
                  <a:latin typeface="Arial"/>
                  <a:ea typeface="Arial"/>
                  <a:cs typeface="Arial"/>
                  <a:sym typeface="Arial"/>
                </a:rPr>
                <a:t>1</a:t>
              </a:r>
              <a:endParaRPr/>
            </a:p>
          </p:txBody>
        </p:sp>
        <p:sp>
          <p:nvSpPr>
            <p:cNvPr id="476" name="Google Shape;476;p33"/>
            <p:cNvSpPr/>
            <p:nvPr/>
          </p:nvSpPr>
          <p:spPr>
            <a:xfrm>
              <a:off x="3840" y="3140"/>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rPr b="1" lang="en-US" sz="1800">
                  <a:solidFill>
                    <a:schemeClr val="hlink"/>
                  </a:solidFill>
                  <a:latin typeface="Arial"/>
                  <a:ea typeface="Arial"/>
                  <a:cs typeface="Arial"/>
                  <a:sym typeface="Arial"/>
                </a:rPr>
                <a:t>0</a:t>
              </a:r>
              <a:endParaRPr/>
            </a:p>
          </p:txBody>
        </p:sp>
        <p:sp>
          <p:nvSpPr>
            <p:cNvPr id="477" name="Google Shape;477;p33"/>
            <p:cNvSpPr/>
            <p:nvPr/>
          </p:nvSpPr>
          <p:spPr>
            <a:xfrm>
              <a:off x="3216" y="3140"/>
              <a:ext cx="624" cy="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folHlink"/>
                </a:buClr>
                <a:buSzPts val="1080"/>
                <a:buFont typeface="Noto Sans Symbols"/>
                <a:buNone/>
              </a:pPr>
              <a:r>
                <a:t/>
              </a:r>
              <a:endParaRPr sz="1800">
                <a:solidFill>
                  <a:schemeClr val="dk1"/>
                </a:solidFill>
                <a:latin typeface="Arial"/>
                <a:ea typeface="Arial"/>
                <a:cs typeface="Arial"/>
                <a:sym typeface="Arial"/>
              </a:endParaRPr>
            </a:p>
          </p:txBody>
        </p:sp>
        <p:cxnSp>
          <p:nvCxnSpPr>
            <p:cNvPr id="478" name="Google Shape;478;p33"/>
            <p:cNvCxnSpPr/>
            <p:nvPr/>
          </p:nvCxnSpPr>
          <p:spPr>
            <a:xfrm>
              <a:off x="3216" y="3140"/>
              <a:ext cx="624" cy="0"/>
            </a:xfrm>
            <a:prstGeom prst="straightConnector1">
              <a:avLst/>
            </a:prstGeom>
            <a:noFill/>
            <a:ln>
              <a:noFill/>
            </a:ln>
          </p:spPr>
        </p:cxnSp>
        <p:cxnSp>
          <p:nvCxnSpPr>
            <p:cNvPr id="479" name="Google Shape;479;p33"/>
            <p:cNvCxnSpPr/>
            <p:nvPr/>
          </p:nvCxnSpPr>
          <p:spPr>
            <a:xfrm>
              <a:off x="3216" y="3562"/>
              <a:ext cx="1872" cy="0"/>
            </a:xfrm>
            <a:prstGeom prst="straightConnector1">
              <a:avLst/>
            </a:prstGeom>
            <a:noFill/>
            <a:ln cap="flat" cmpd="sng" w="12700">
              <a:solidFill>
                <a:schemeClr val="dk1"/>
              </a:solidFill>
              <a:prstDash val="solid"/>
              <a:round/>
              <a:headEnd len="med" w="med" type="none"/>
              <a:tailEnd len="med" w="med" type="none"/>
            </a:ln>
          </p:spPr>
        </p:cxnSp>
        <p:cxnSp>
          <p:nvCxnSpPr>
            <p:cNvPr id="480" name="Google Shape;480;p33"/>
            <p:cNvCxnSpPr/>
            <p:nvPr/>
          </p:nvCxnSpPr>
          <p:spPr>
            <a:xfrm>
              <a:off x="3216" y="3773"/>
              <a:ext cx="1872" cy="0"/>
            </a:xfrm>
            <a:prstGeom prst="straightConnector1">
              <a:avLst/>
            </a:prstGeom>
            <a:noFill/>
            <a:ln cap="flat" cmpd="sng" w="12700">
              <a:solidFill>
                <a:schemeClr val="dk1"/>
              </a:solidFill>
              <a:prstDash val="solid"/>
              <a:round/>
              <a:headEnd len="med" w="med" type="none"/>
              <a:tailEnd len="med" w="med" type="none"/>
            </a:ln>
          </p:spPr>
        </p:cxnSp>
        <p:cxnSp>
          <p:nvCxnSpPr>
            <p:cNvPr id="481" name="Google Shape;481;p33"/>
            <p:cNvCxnSpPr/>
            <p:nvPr/>
          </p:nvCxnSpPr>
          <p:spPr>
            <a:xfrm>
              <a:off x="3216" y="3984"/>
              <a:ext cx="1872" cy="0"/>
            </a:xfrm>
            <a:prstGeom prst="straightConnector1">
              <a:avLst/>
            </a:prstGeom>
            <a:noFill/>
            <a:ln cap="flat" cmpd="sng" w="28575">
              <a:solidFill>
                <a:schemeClr val="dk1"/>
              </a:solidFill>
              <a:prstDash val="solid"/>
              <a:round/>
              <a:headEnd len="med" w="med" type="none"/>
              <a:tailEnd len="med" w="med" type="none"/>
            </a:ln>
          </p:spPr>
        </p:cxnSp>
        <p:cxnSp>
          <p:nvCxnSpPr>
            <p:cNvPr id="482" name="Google Shape;482;p33"/>
            <p:cNvCxnSpPr/>
            <p:nvPr/>
          </p:nvCxnSpPr>
          <p:spPr>
            <a:xfrm>
              <a:off x="3216" y="3140"/>
              <a:ext cx="0" cy="211"/>
            </a:xfrm>
            <a:prstGeom prst="straightConnector1">
              <a:avLst/>
            </a:prstGeom>
            <a:noFill/>
            <a:ln>
              <a:noFill/>
            </a:ln>
          </p:spPr>
        </p:cxnSp>
        <p:cxnSp>
          <p:nvCxnSpPr>
            <p:cNvPr id="483" name="Google Shape;483;p33"/>
            <p:cNvCxnSpPr/>
            <p:nvPr/>
          </p:nvCxnSpPr>
          <p:spPr>
            <a:xfrm>
              <a:off x="4464" y="3140"/>
              <a:ext cx="0" cy="844"/>
            </a:xfrm>
            <a:prstGeom prst="straightConnector1">
              <a:avLst/>
            </a:prstGeom>
            <a:noFill/>
            <a:ln cap="flat" cmpd="sng" w="12700">
              <a:solidFill>
                <a:schemeClr val="dk1"/>
              </a:solidFill>
              <a:prstDash val="solid"/>
              <a:round/>
              <a:headEnd len="med" w="med" type="none"/>
              <a:tailEnd len="med" w="med" type="none"/>
            </a:ln>
          </p:spPr>
        </p:cxnSp>
        <p:cxnSp>
          <p:nvCxnSpPr>
            <p:cNvPr id="484" name="Google Shape;484;p33"/>
            <p:cNvCxnSpPr/>
            <p:nvPr/>
          </p:nvCxnSpPr>
          <p:spPr>
            <a:xfrm>
              <a:off x="5088" y="3140"/>
              <a:ext cx="0" cy="844"/>
            </a:xfrm>
            <a:prstGeom prst="straightConnector1">
              <a:avLst/>
            </a:prstGeom>
            <a:noFill/>
            <a:ln cap="flat" cmpd="sng" w="28575">
              <a:solidFill>
                <a:schemeClr val="dk1"/>
              </a:solidFill>
              <a:prstDash val="solid"/>
              <a:round/>
              <a:headEnd len="med" w="med" type="none"/>
              <a:tailEnd len="med" w="med" type="none"/>
            </a:ln>
          </p:spPr>
        </p:cxnSp>
        <p:cxnSp>
          <p:nvCxnSpPr>
            <p:cNvPr id="485" name="Google Shape;485;p33"/>
            <p:cNvCxnSpPr/>
            <p:nvPr/>
          </p:nvCxnSpPr>
          <p:spPr>
            <a:xfrm>
              <a:off x="3840" y="3140"/>
              <a:ext cx="624" cy="0"/>
            </a:xfrm>
            <a:prstGeom prst="straightConnector1">
              <a:avLst/>
            </a:prstGeom>
            <a:noFill/>
            <a:ln>
              <a:noFill/>
            </a:ln>
          </p:spPr>
        </p:cxnSp>
        <p:cxnSp>
          <p:nvCxnSpPr>
            <p:cNvPr id="486" name="Google Shape;486;p33"/>
            <p:cNvCxnSpPr/>
            <p:nvPr/>
          </p:nvCxnSpPr>
          <p:spPr>
            <a:xfrm>
              <a:off x="3216" y="3351"/>
              <a:ext cx="0" cy="211"/>
            </a:xfrm>
            <a:prstGeom prst="straightConnector1">
              <a:avLst/>
            </a:prstGeom>
            <a:noFill/>
            <a:ln>
              <a:noFill/>
            </a:ln>
          </p:spPr>
        </p:cxnSp>
        <p:cxnSp>
          <p:nvCxnSpPr>
            <p:cNvPr id="487" name="Google Shape;487;p33"/>
            <p:cNvCxnSpPr/>
            <p:nvPr/>
          </p:nvCxnSpPr>
          <p:spPr>
            <a:xfrm>
              <a:off x="3840" y="3140"/>
              <a:ext cx="0" cy="844"/>
            </a:xfrm>
            <a:prstGeom prst="straightConnector1">
              <a:avLst/>
            </a:prstGeom>
            <a:noFill/>
            <a:ln cap="flat" cmpd="sng" w="12700">
              <a:solidFill>
                <a:schemeClr val="dk1"/>
              </a:solidFill>
              <a:prstDash val="solid"/>
              <a:round/>
              <a:headEnd len="med" w="med" type="none"/>
              <a:tailEnd len="med" w="med" type="none"/>
            </a:ln>
          </p:spPr>
        </p:cxnSp>
        <p:cxnSp>
          <p:nvCxnSpPr>
            <p:cNvPr id="488" name="Google Shape;488;p33"/>
            <p:cNvCxnSpPr/>
            <p:nvPr/>
          </p:nvCxnSpPr>
          <p:spPr>
            <a:xfrm>
              <a:off x="3216" y="3351"/>
              <a:ext cx="1872" cy="0"/>
            </a:xfrm>
            <a:prstGeom prst="straightConnector1">
              <a:avLst/>
            </a:prstGeom>
            <a:noFill/>
            <a:ln cap="flat" cmpd="sng" w="12700">
              <a:solidFill>
                <a:schemeClr val="dk1"/>
              </a:solidFill>
              <a:prstDash val="solid"/>
              <a:round/>
              <a:headEnd len="med" w="med" type="none"/>
              <a:tailEnd len="med" w="med" type="none"/>
            </a:ln>
          </p:spPr>
        </p:cxnSp>
        <p:cxnSp>
          <p:nvCxnSpPr>
            <p:cNvPr id="489" name="Google Shape;489;p33"/>
            <p:cNvCxnSpPr/>
            <p:nvPr/>
          </p:nvCxnSpPr>
          <p:spPr>
            <a:xfrm>
              <a:off x="4464" y="3140"/>
              <a:ext cx="624" cy="0"/>
            </a:xfrm>
            <a:prstGeom prst="straightConnector1">
              <a:avLst/>
            </a:prstGeom>
            <a:noFill/>
            <a:ln>
              <a:noFill/>
            </a:ln>
          </p:spPr>
        </p:cxnSp>
        <p:cxnSp>
          <p:nvCxnSpPr>
            <p:cNvPr id="490" name="Google Shape;490;p33"/>
            <p:cNvCxnSpPr/>
            <p:nvPr/>
          </p:nvCxnSpPr>
          <p:spPr>
            <a:xfrm>
              <a:off x="3216" y="3562"/>
              <a:ext cx="0" cy="211"/>
            </a:xfrm>
            <a:prstGeom prst="straightConnector1">
              <a:avLst/>
            </a:prstGeom>
            <a:noFill/>
            <a:ln>
              <a:noFill/>
            </a:ln>
          </p:spPr>
        </p:cxnSp>
        <p:cxnSp>
          <p:nvCxnSpPr>
            <p:cNvPr id="491" name="Google Shape;491;p33"/>
            <p:cNvCxnSpPr/>
            <p:nvPr/>
          </p:nvCxnSpPr>
          <p:spPr>
            <a:xfrm>
              <a:off x="3216" y="3773"/>
              <a:ext cx="0" cy="211"/>
            </a:xfrm>
            <a:prstGeom prst="straightConnector1">
              <a:avLst/>
            </a:prstGeom>
            <a:noFill/>
            <a:ln>
              <a:noFill/>
            </a:ln>
          </p:spPr>
        </p:cxnSp>
        <p:sp>
          <p:nvSpPr>
            <p:cNvPr id="492" name="Google Shape;492;p33"/>
            <p:cNvSpPr txBox="1"/>
            <p:nvPr/>
          </p:nvSpPr>
          <p:spPr>
            <a:xfrm rot="-5400000">
              <a:off x="2803" y="3618"/>
              <a:ext cx="5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states</a:t>
              </a:r>
              <a:endParaRPr/>
            </a:p>
          </p:txBody>
        </p:sp>
        <p:sp>
          <p:nvSpPr>
            <p:cNvPr id="493" name="Google Shape;493;p33"/>
            <p:cNvSpPr txBox="1"/>
            <p:nvPr/>
          </p:nvSpPr>
          <p:spPr>
            <a:xfrm>
              <a:off x="4054" y="2926"/>
              <a:ext cx="64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symbols</a:t>
              </a:r>
              <a:endParaRPr/>
            </a:p>
          </p:txBody>
        </p:sp>
        <p:cxnSp>
          <p:nvCxnSpPr>
            <p:cNvPr id="494" name="Google Shape;494;p33"/>
            <p:cNvCxnSpPr/>
            <p:nvPr/>
          </p:nvCxnSpPr>
          <p:spPr>
            <a:xfrm>
              <a:off x="2976" y="3456"/>
              <a:ext cx="288" cy="0"/>
            </a:xfrm>
            <a:prstGeom prst="straightConnector1">
              <a:avLst/>
            </a:prstGeom>
            <a:noFill/>
            <a:ln cap="flat" cmpd="sng" w="9525">
              <a:solidFill>
                <a:srgbClr val="0080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4"/>
          <p:cNvSpPr txBox="1"/>
          <p:nvPr>
            <p:ph idx="1" type="body"/>
          </p:nvPr>
        </p:nvSpPr>
        <p:spPr>
          <a:xfrm>
            <a:off x="457200" y="1223151"/>
            <a:ext cx="8229600" cy="25106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a:t>Automata of all kinds define languages.</a:t>
            </a:r>
            <a:endParaRPr/>
          </a:p>
          <a:p>
            <a:pPr indent="-152400" lvl="0" marL="91440" rtl="0" algn="l">
              <a:lnSpc>
                <a:spcPct val="90000"/>
              </a:lnSpc>
              <a:spcBef>
                <a:spcPts val="1400"/>
              </a:spcBef>
              <a:spcAft>
                <a:spcPts val="0"/>
              </a:spcAft>
              <a:buSzPts val="2400"/>
              <a:buChar char=" "/>
            </a:pPr>
            <a:r>
              <a:rPr lang="en-US"/>
              <a:t>If A is an automaton, L(A) is its language.</a:t>
            </a:r>
            <a:endParaRPr/>
          </a:p>
          <a:p>
            <a:pPr indent="-152400" lvl="0" marL="91440" rtl="0" algn="l">
              <a:lnSpc>
                <a:spcPct val="90000"/>
              </a:lnSpc>
              <a:spcBef>
                <a:spcPts val="1400"/>
              </a:spcBef>
              <a:spcAft>
                <a:spcPts val="0"/>
              </a:spcAft>
              <a:buSzPts val="2400"/>
              <a:buChar char=" "/>
            </a:pPr>
            <a:r>
              <a:rPr lang="en-US"/>
              <a:t>For a DFA A, L(A) is the set of strings labeling paths from the start state to a final state.</a:t>
            </a:r>
            <a:endParaRPr/>
          </a:p>
          <a:p>
            <a:pPr indent="-152400" lvl="0" marL="91440" rtl="0" algn="l">
              <a:lnSpc>
                <a:spcPct val="90000"/>
              </a:lnSpc>
              <a:spcBef>
                <a:spcPts val="1400"/>
              </a:spcBef>
              <a:spcAft>
                <a:spcPts val="0"/>
              </a:spcAft>
              <a:buSzPts val="2400"/>
              <a:buChar char=" "/>
            </a:pPr>
            <a:r>
              <a:rPr lang="en-US"/>
              <a:t>Formally: L(A) = the set of strings w such that </a:t>
            </a:r>
            <a:r>
              <a:rPr lang="en-US">
                <a:latin typeface="Lucida Sans"/>
                <a:ea typeface="Lucida Sans"/>
                <a:cs typeface="Lucida Sans"/>
                <a:sym typeface="Lucida Sans"/>
              </a:rPr>
              <a:t>δ</a:t>
            </a:r>
            <a:r>
              <a:rPr lang="en-US"/>
              <a:t>(q</a:t>
            </a:r>
            <a:r>
              <a:rPr baseline="-25000" lang="en-US"/>
              <a:t>0</a:t>
            </a:r>
            <a:r>
              <a:rPr lang="en-US"/>
              <a:t>, w) is in F.</a:t>
            </a:r>
            <a:endParaRPr/>
          </a:p>
          <a:p>
            <a:pPr indent="0" lvl="0" marL="91440" rtl="0" algn="l">
              <a:lnSpc>
                <a:spcPct val="90000"/>
              </a:lnSpc>
              <a:spcBef>
                <a:spcPts val="1400"/>
              </a:spcBef>
              <a:spcAft>
                <a:spcPts val="0"/>
              </a:spcAft>
              <a:buSzPts val="2400"/>
              <a:buNone/>
            </a:pPr>
            <a:r>
              <a:t/>
            </a:r>
            <a:endParaRPr/>
          </a:p>
        </p:txBody>
      </p:sp>
      <p:sp>
        <p:nvSpPr>
          <p:cNvPr id="500" name="Google Shape;500;p34"/>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Language of a DFA</a:t>
            </a:r>
            <a:endParaRPr/>
          </a:p>
        </p:txBody>
      </p:sp>
      <p:sp>
        <p:nvSpPr>
          <p:cNvPr id="501" name="Google Shape;501;p3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2" name="Google Shape;502;p34"/>
          <p:cNvSpPr txBox="1"/>
          <p:nvPr/>
        </p:nvSpPr>
        <p:spPr>
          <a:xfrm>
            <a:off x="685800" y="3429000"/>
            <a:ext cx="7772400"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CC00CC"/>
              </a:buClr>
              <a:buSzPts val="2400"/>
              <a:buFont typeface="Arial"/>
              <a:buChar char="●"/>
            </a:pPr>
            <a:r>
              <a:rPr b="0" i="0" lang="en-US" sz="2400" u="none" cap="none" strike="noStrike">
                <a:solidFill>
                  <a:srgbClr val="000000"/>
                </a:solidFill>
                <a:latin typeface="Tahoma"/>
                <a:ea typeface="Tahoma"/>
                <a:cs typeface="Tahoma"/>
                <a:sym typeface="Tahoma"/>
              </a:rPr>
              <a:t>The language of our example DFA is:</a:t>
            </a:r>
            <a:endParaRPr/>
          </a:p>
          <a:p>
            <a:pPr indent="-342900" lvl="0" marL="342900" marR="0" rtl="0" algn="l">
              <a:lnSpc>
                <a:spcPct val="100000"/>
              </a:lnSpc>
              <a:spcBef>
                <a:spcPts val="480"/>
              </a:spcBef>
              <a:spcAft>
                <a:spcPts val="0"/>
              </a:spcAft>
              <a:buClr>
                <a:srgbClr val="CC00CC"/>
              </a:buClr>
              <a:buSzPts val="2400"/>
              <a:buFont typeface="Arial"/>
              <a:buNone/>
            </a:pPr>
            <a:r>
              <a:rPr b="0" i="0" lang="en-US" sz="2400" u="none" cap="none" strike="noStrike">
                <a:solidFill>
                  <a:srgbClr val="000000"/>
                </a:solidFill>
                <a:latin typeface="Tahoma"/>
                <a:ea typeface="Tahoma"/>
                <a:cs typeface="Tahoma"/>
                <a:sym typeface="Tahoma"/>
              </a:rPr>
              <a:t>{w | w is in {0,1}* and w does not have</a:t>
            </a:r>
            <a:endParaRPr/>
          </a:p>
          <a:p>
            <a:pPr indent="-342900" lvl="0" marL="342900" marR="0" rtl="0" algn="l">
              <a:lnSpc>
                <a:spcPct val="100000"/>
              </a:lnSpc>
              <a:spcBef>
                <a:spcPts val="480"/>
              </a:spcBef>
              <a:spcAft>
                <a:spcPts val="0"/>
              </a:spcAft>
              <a:buClr>
                <a:srgbClr val="CC00CC"/>
              </a:buClr>
              <a:buSzPts val="2400"/>
              <a:buFont typeface="Arial"/>
              <a:buNone/>
            </a:pPr>
            <a:r>
              <a:rPr b="0" i="0" lang="en-US" sz="2400" u="none" cap="none" strike="noStrike">
                <a:solidFill>
                  <a:srgbClr val="000000"/>
                </a:solidFill>
                <a:latin typeface="Tahoma"/>
                <a:ea typeface="Tahoma"/>
                <a:cs typeface="Tahoma"/>
                <a:sym typeface="Tahoma"/>
              </a:rPr>
              <a:t>			two consecutive 0’s}</a:t>
            </a:r>
            <a:endParaRPr/>
          </a:p>
        </p:txBody>
      </p:sp>
      <p:grpSp>
        <p:nvGrpSpPr>
          <p:cNvPr id="503" name="Google Shape;503;p34"/>
          <p:cNvGrpSpPr/>
          <p:nvPr/>
        </p:nvGrpSpPr>
        <p:grpSpPr>
          <a:xfrm>
            <a:off x="381000" y="4191059"/>
            <a:ext cx="2741613" cy="2140185"/>
            <a:chOff x="240" y="1968"/>
            <a:chExt cx="1727" cy="2080"/>
          </a:xfrm>
        </p:grpSpPr>
        <p:sp>
          <p:nvSpPr>
            <p:cNvPr id="504" name="Google Shape;504;p34"/>
            <p:cNvSpPr txBox="1"/>
            <p:nvPr/>
          </p:nvSpPr>
          <p:spPr>
            <a:xfrm>
              <a:off x="240" y="3360"/>
              <a:ext cx="1727" cy="6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 Read a </a:t>
              </a:r>
              <a:r>
                <a:rPr b="0" i="1" lang="en-US" sz="2000" u="none" cap="none" strike="noStrike">
                  <a:solidFill>
                    <a:srgbClr val="FF0066"/>
                  </a:solidFill>
                  <a:latin typeface="Tahoma"/>
                  <a:ea typeface="Tahoma"/>
                  <a:cs typeface="Tahoma"/>
                  <a:sym typeface="Tahoma"/>
                </a:rPr>
                <a:t>set former</a:t>
              </a:r>
              <a:r>
                <a:rPr b="0" i="0" lang="en-US" sz="2000" u="none" cap="none" strike="noStrike">
                  <a:solidFill>
                    <a:srgbClr val="000000"/>
                  </a:solidFill>
                  <a:latin typeface="Tahoma"/>
                  <a:ea typeface="Tahoma"/>
                  <a:cs typeface="Tahoma"/>
                  <a:sym typeface="Tahoma"/>
                </a:rPr>
                <a:t>  as</a:t>
              </a:r>
              <a:endParaRPr/>
            </a:p>
            <a:p>
              <a:pPr indent="0" lvl="0" marL="0" marR="0" rtl="0" algn="l">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“The set of strings w…</a:t>
              </a:r>
              <a:endParaRPr/>
            </a:p>
          </p:txBody>
        </p:sp>
        <p:cxnSp>
          <p:nvCxnSpPr>
            <p:cNvPr id="505" name="Google Shape;505;p34"/>
            <p:cNvCxnSpPr/>
            <p:nvPr/>
          </p:nvCxnSpPr>
          <p:spPr>
            <a:xfrm rot="10800000">
              <a:off x="720" y="1968"/>
              <a:ext cx="0" cy="1344"/>
            </a:xfrm>
            <a:prstGeom prst="straightConnector1">
              <a:avLst/>
            </a:prstGeom>
            <a:noFill/>
            <a:ln cap="flat" cmpd="sng" w="9525">
              <a:solidFill>
                <a:srgbClr val="000000"/>
              </a:solidFill>
              <a:prstDash val="solid"/>
              <a:round/>
              <a:headEnd len="med" w="med" type="none"/>
              <a:tailEnd len="med" w="med" type="triangle"/>
            </a:ln>
          </p:spPr>
        </p:cxnSp>
      </p:grpSp>
      <p:grpSp>
        <p:nvGrpSpPr>
          <p:cNvPr id="506" name="Google Shape;506;p34"/>
          <p:cNvGrpSpPr/>
          <p:nvPr/>
        </p:nvGrpSpPr>
        <p:grpSpPr>
          <a:xfrm>
            <a:off x="5029200" y="4740828"/>
            <a:ext cx="2232025" cy="1174015"/>
            <a:chOff x="3264" y="2379"/>
            <a:chExt cx="1406" cy="1141"/>
          </a:xfrm>
        </p:grpSpPr>
        <p:sp>
          <p:nvSpPr>
            <p:cNvPr id="507" name="Google Shape;507;p34"/>
            <p:cNvSpPr txBox="1"/>
            <p:nvPr/>
          </p:nvSpPr>
          <p:spPr>
            <a:xfrm>
              <a:off x="3312" y="2832"/>
              <a:ext cx="1358" cy="6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These conditions</a:t>
              </a:r>
              <a:endParaRPr/>
            </a:p>
            <a:p>
              <a:pPr indent="0" lvl="0" marL="0" marR="0" rtl="0" algn="l">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about w are true.</a:t>
              </a:r>
              <a:endParaRPr/>
            </a:p>
          </p:txBody>
        </p:sp>
        <p:cxnSp>
          <p:nvCxnSpPr>
            <p:cNvPr id="508" name="Google Shape;508;p34"/>
            <p:cNvCxnSpPr/>
            <p:nvPr/>
          </p:nvCxnSpPr>
          <p:spPr>
            <a:xfrm rot="10800000">
              <a:off x="3264" y="2379"/>
              <a:ext cx="432" cy="384"/>
            </a:xfrm>
            <a:prstGeom prst="straightConnector1">
              <a:avLst/>
            </a:prstGeom>
            <a:noFill/>
            <a:ln cap="flat" cmpd="sng" w="9525">
              <a:solidFill>
                <a:srgbClr val="0000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5"/>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3CC33"/>
              </a:buClr>
              <a:buSzPts val="4800"/>
              <a:buFont typeface="Calibri"/>
              <a:buNone/>
            </a:pPr>
            <a:r>
              <a:rPr lang="en-US">
                <a:solidFill>
                  <a:srgbClr val="33CC33"/>
                </a:solidFill>
              </a:rPr>
              <a:t>Example</a:t>
            </a:r>
            <a:r>
              <a:rPr lang="en-US"/>
              <a:t>: String in a Language</a:t>
            </a:r>
            <a:endParaRPr/>
          </a:p>
        </p:txBody>
      </p:sp>
      <p:sp>
        <p:nvSpPr>
          <p:cNvPr id="514" name="Google Shape;514;p3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515" name="Google Shape;515;p35"/>
          <p:cNvGrpSpPr/>
          <p:nvPr/>
        </p:nvGrpSpPr>
        <p:grpSpPr>
          <a:xfrm>
            <a:off x="1752600" y="1606290"/>
            <a:ext cx="5387975" cy="2090738"/>
            <a:chOff x="624" y="1563"/>
            <a:chExt cx="3394" cy="1317"/>
          </a:xfrm>
        </p:grpSpPr>
        <p:sp>
          <p:nvSpPr>
            <p:cNvPr id="516" name="Google Shape;516;p35"/>
            <p:cNvSpPr txBox="1"/>
            <p:nvPr/>
          </p:nvSpPr>
          <p:spPr>
            <a:xfrm>
              <a:off x="624" y="2592"/>
              <a:ext cx="5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Start</a:t>
              </a:r>
              <a:endParaRPr/>
            </a:p>
          </p:txBody>
        </p:sp>
        <p:grpSp>
          <p:nvGrpSpPr>
            <p:cNvPr id="517" name="Google Shape;517;p35"/>
            <p:cNvGrpSpPr/>
            <p:nvPr/>
          </p:nvGrpSpPr>
          <p:grpSpPr>
            <a:xfrm>
              <a:off x="960" y="1563"/>
              <a:ext cx="3058" cy="1317"/>
              <a:chOff x="960" y="1563"/>
              <a:chExt cx="3058" cy="1317"/>
            </a:xfrm>
          </p:grpSpPr>
          <p:sp>
            <p:nvSpPr>
              <p:cNvPr id="518" name="Google Shape;518;p35"/>
              <p:cNvSpPr txBox="1"/>
              <p:nvPr/>
            </p:nvSpPr>
            <p:spPr>
              <a:xfrm>
                <a:off x="1824" y="1968"/>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a:t>
                </a:r>
                <a:endParaRPr/>
              </a:p>
            </p:txBody>
          </p:sp>
          <p:sp>
            <p:nvSpPr>
              <p:cNvPr id="519" name="Google Shape;519;p35"/>
              <p:cNvSpPr txBox="1"/>
              <p:nvPr/>
            </p:nvSpPr>
            <p:spPr>
              <a:xfrm>
                <a:off x="1872" y="2592"/>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1</a:t>
                </a:r>
                <a:endParaRPr/>
              </a:p>
            </p:txBody>
          </p:sp>
          <p:grpSp>
            <p:nvGrpSpPr>
              <p:cNvPr id="520" name="Google Shape;520;p35"/>
              <p:cNvGrpSpPr/>
              <p:nvPr/>
            </p:nvGrpSpPr>
            <p:grpSpPr>
              <a:xfrm>
                <a:off x="960" y="1563"/>
                <a:ext cx="3058" cy="1056"/>
                <a:chOff x="960" y="1584"/>
                <a:chExt cx="3058" cy="1056"/>
              </a:xfrm>
            </p:grpSpPr>
            <p:cxnSp>
              <p:nvCxnSpPr>
                <p:cNvPr id="521" name="Google Shape;521;p35"/>
                <p:cNvCxnSpPr/>
                <p:nvPr/>
              </p:nvCxnSpPr>
              <p:spPr>
                <a:xfrm rot="5400000">
                  <a:off x="1431" y="1977"/>
                  <a:ext cx="1" cy="272"/>
                </a:xfrm>
                <a:prstGeom prst="curvedConnector3">
                  <a:avLst>
                    <a:gd fmla="val -40600005" name="adj1"/>
                  </a:avLst>
                </a:prstGeom>
                <a:noFill/>
                <a:ln cap="flat" cmpd="sng" w="9525">
                  <a:solidFill>
                    <a:srgbClr val="000000"/>
                  </a:solidFill>
                  <a:prstDash val="solid"/>
                  <a:round/>
                  <a:headEnd len="med" w="med" type="none"/>
                  <a:tailEnd len="med" w="med" type="triangle"/>
                </a:ln>
              </p:spPr>
            </p:cxnSp>
            <p:grpSp>
              <p:nvGrpSpPr>
                <p:cNvPr id="522" name="Google Shape;522;p35"/>
                <p:cNvGrpSpPr/>
                <p:nvPr/>
              </p:nvGrpSpPr>
              <p:grpSpPr>
                <a:xfrm>
                  <a:off x="960" y="1584"/>
                  <a:ext cx="3058" cy="1056"/>
                  <a:chOff x="974" y="1584"/>
                  <a:chExt cx="3058" cy="1056"/>
                </a:xfrm>
              </p:grpSpPr>
              <p:sp>
                <p:nvSpPr>
                  <p:cNvPr id="523" name="Google Shape;523;p35"/>
                  <p:cNvSpPr/>
                  <p:nvPr/>
                </p:nvSpPr>
                <p:spPr>
                  <a:xfrm>
                    <a:off x="1310"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A</a:t>
                    </a:r>
                    <a:endParaRPr/>
                  </a:p>
                </p:txBody>
              </p:sp>
              <p:sp>
                <p:nvSpPr>
                  <p:cNvPr id="524" name="Google Shape;524;p35"/>
                  <p:cNvSpPr/>
                  <p:nvPr/>
                </p:nvSpPr>
                <p:spPr>
                  <a:xfrm>
                    <a:off x="3462"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C</a:t>
                    </a:r>
                    <a:endParaRPr/>
                  </a:p>
                </p:txBody>
              </p:sp>
              <p:sp>
                <p:nvSpPr>
                  <p:cNvPr id="525" name="Google Shape;525;p35"/>
                  <p:cNvSpPr/>
                  <p:nvPr/>
                </p:nvSpPr>
                <p:spPr>
                  <a:xfrm>
                    <a:off x="2406"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B</a:t>
                    </a:r>
                    <a:endParaRPr/>
                  </a:p>
                </p:txBody>
              </p:sp>
              <p:sp>
                <p:nvSpPr>
                  <p:cNvPr id="526" name="Google Shape;526;p35"/>
                  <p:cNvSpPr/>
                  <p:nvPr/>
                </p:nvSpPr>
                <p:spPr>
                  <a:xfrm>
                    <a:off x="1262" y="2064"/>
                    <a:ext cx="384" cy="384"/>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527" name="Google Shape;527;p35"/>
                  <p:cNvSpPr/>
                  <p:nvPr/>
                </p:nvSpPr>
                <p:spPr>
                  <a:xfrm>
                    <a:off x="2358" y="2064"/>
                    <a:ext cx="384" cy="384"/>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cxnSp>
                <p:nvCxnSpPr>
                  <p:cNvPr id="528" name="Google Shape;528;p35"/>
                  <p:cNvCxnSpPr/>
                  <p:nvPr/>
                </p:nvCxnSpPr>
                <p:spPr>
                  <a:xfrm flipH="1" rot="10800000">
                    <a:off x="974" y="2352"/>
                    <a:ext cx="336" cy="288"/>
                  </a:xfrm>
                  <a:prstGeom prst="straightConnector1">
                    <a:avLst/>
                  </a:prstGeom>
                  <a:noFill/>
                  <a:ln cap="flat" cmpd="sng" w="9525">
                    <a:solidFill>
                      <a:srgbClr val="000000"/>
                    </a:solidFill>
                    <a:prstDash val="solid"/>
                    <a:round/>
                    <a:headEnd len="med" w="med" type="none"/>
                    <a:tailEnd len="med" w="med" type="triangle"/>
                  </a:ln>
                </p:spPr>
              </p:cxnSp>
              <p:cxnSp>
                <p:nvCxnSpPr>
                  <p:cNvPr id="529" name="Google Shape;529;p35"/>
                  <p:cNvCxnSpPr/>
                  <p:nvPr/>
                </p:nvCxnSpPr>
                <p:spPr>
                  <a:xfrm>
                    <a:off x="1638" y="2256"/>
                    <a:ext cx="720" cy="0"/>
                  </a:xfrm>
                  <a:prstGeom prst="straightConnector1">
                    <a:avLst/>
                  </a:prstGeom>
                  <a:noFill/>
                  <a:ln cap="flat" cmpd="sng" w="9525">
                    <a:solidFill>
                      <a:srgbClr val="000000"/>
                    </a:solidFill>
                    <a:prstDash val="solid"/>
                    <a:round/>
                    <a:headEnd len="med" w="med" type="none"/>
                    <a:tailEnd len="med" w="med" type="triangle"/>
                  </a:ln>
                </p:spPr>
              </p:cxnSp>
              <p:cxnSp>
                <p:nvCxnSpPr>
                  <p:cNvPr id="530" name="Google Shape;530;p35"/>
                  <p:cNvCxnSpPr/>
                  <p:nvPr/>
                </p:nvCxnSpPr>
                <p:spPr>
                  <a:xfrm>
                    <a:off x="2742" y="2256"/>
                    <a:ext cx="720" cy="0"/>
                  </a:xfrm>
                  <a:prstGeom prst="straightConnector1">
                    <a:avLst/>
                  </a:prstGeom>
                  <a:noFill/>
                  <a:ln cap="flat" cmpd="sng" w="9525">
                    <a:solidFill>
                      <a:srgbClr val="000000"/>
                    </a:solidFill>
                    <a:prstDash val="solid"/>
                    <a:round/>
                    <a:headEnd len="med" w="med" type="none"/>
                    <a:tailEnd len="med" w="med" type="triangle"/>
                  </a:ln>
                </p:spPr>
              </p:cxnSp>
              <p:sp>
                <p:nvSpPr>
                  <p:cNvPr id="531" name="Google Shape;531;p35"/>
                  <p:cNvSpPr txBox="1"/>
                  <p:nvPr/>
                </p:nvSpPr>
                <p:spPr>
                  <a:xfrm>
                    <a:off x="2976" y="1968"/>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a:t>
                    </a:r>
                    <a:endParaRPr/>
                  </a:p>
                </p:txBody>
              </p:sp>
              <p:sp>
                <p:nvSpPr>
                  <p:cNvPr id="532" name="Google Shape;532;p35"/>
                  <p:cNvSpPr txBox="1"/>
                  <p:nvPr/>
                </p:nvSpPr>
                <p:spPr>
                  <a:xfrm>
                    <a:off x="1536" y="1584"/>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1</a:t>
                    </a:r>
                    <a:endParaRPr/>
                  </a:p>
                </p:txBody>
              </p:sp>
              <p:cxnSp>
                <p:nvCxnSpPr>
                  <p:cNvPr id="533" name="Google Shape;533;p35"/>
                  <p:cNvCxnSpPr>
                    <a:stCxn id="527" idx="3"/>
                    <a:endCxn id="526" idx="5"/>
                  </p:cNvCxnSpPr>
                  <p:nvPr/>
                </p:nvCxnSpPr>
                <p:spPr>
                  <a:xfrm>
                    <a:off x="1964" y="1942"/>
                    <a:ext cx="0" cy="900"/>
                  </a:xfrm>
                  <a:prstGeom prst="curvedConnector3">
                    <a:avLst>
                      <a:gd fmla="val 20000000" name="adj1"/>
                    </a:avLst>
                  </a:prstGeom>
                  <a:noFill/>
                  <a:ln cap="flat" cmpd="sng" w="9525">
                    <a:solidFill>
                      <a:srgbClr val="000000"/>
                    </a:solidFill>
                    <a:prstDash val="solid"/>
                    <a:round/>
                    <a:headEnd len="med" w="med" type="none"/>
                    <a:tailEnd len="med" w="med" type="triangle"/>
                  </a:ln>
                </p:spPr>
              </p:cxnSp>
              <p:sp>
                <p:nvSpPr>
                  <p:cNvPr id="534" name="Google Shape;534;p35"/>
                  <p:cNvSpPr txBox="1"/>
                  <p:nvPr/>
                </p:nvSpPr>
                <p:spPr>
                  <a:xfrm>
                    <a:off x="3648" y="1632"/>
                    <a:ext cx="38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0,1</a:t>
                    </a:r>
                    <a:endParaRPr/>
                  </a:p>
                </p:txBody>
              </p:sp>
              <p:cxnSp>
                <p:nvCxnSpPr>
                  <p:cNvPr id="535" name="Google Shape;535;p35"/>
                  <p:cNvCxnSpPr>
                    <a:stCxn id="524" idx="7"/>
                    <a:endCxn id="524" idx="1"/>
                  </p:cNvCxnSpPr>
                  <p:nvPr/>
                </p:nvCxnSpPr>
                <p:spPr>
                  <a:xfrm>
                    <a:off x="3558" y="2004"/>
                    <a:ext cx="0" cy="300"/>
                  </a:xfrm>
                  <a:prstGeom prst="curvedConnector3">
                    <a:avLst>
                      <a:gd fmla="val -18600000" name="adj1"/>
                    </a:avLst>
                  </a:prstGeom>
                  <a:noFill/>
                  <a:ln cap="flat" cmpd="sng" w="9525">
                    <a:solidFill>
                      <a:srgbClr val="000000"/>
                    </a:solidFill>
                    <a:prstDash val="solid"/>
                    <a:round/>
                    <a:headEnd len="med" w="med" type="none"/>
                    <a:tailEnd len="med" w="med" type="triangle"/>
                  </a:ln>
                </p:spPr>
              </p:cxnSp>
            </p:grpSp>
          </p:grpSp>
        </p:grpSp>
      </p:grpSp>
      <p:sp>
        <p:nvSpPr>
          <p:cNvPr id="536" name="Google Shape;536;p35"/>
          <p:cNvSpPr txBox="1"/>
          <p:nvPr/>
        </p:nvSpPr>
        <p:spPr>
          <a:xfrm>
            <a:off x="897590" y="1147920"/>
            <a:ext cx="659802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String 010 is in the language of the DFA below.</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Start at A.</a:t>
            </a:r>
            <a:endParaRPr/>
          </a:p>
        </p:txBody>
      </p:sp>
      <p:sp>
        <p:nvSpPr>
          <p:cNvPr id="537" name="Google Shape;537;p35"/>
          <p:cNvSpPr txBox="1"/>
          <p:nvPr/>
        </p:nvSpPr>
        <p:spPr>
          <a:xfrm>
            <a:off x="1563687" y="5461796"/>
            <a:ext cx="8270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Start</a:t>
            </a:r>
            <a:endParaRPr/>
          </a:p>
        </p:txBody>
      </p:sp>
      <p:sp>
        <p:nvSpPr>
          <p:cNvPr id="538" name="Google Shape;538;p35"/>
          <p:cNvSpPr txBox="1"/>
          <p:nvPr/>
        </p:nvSpPr>
        <p:spPr>
          <a:xfrm>
            <a:off x="3468687" y="4471196"/>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0</a:t>
            </a:r>
            <a:endParaRPr/>
          </a:p>
        </p:txBody>
      </p:sp>
      <p:sp>
        <p:nvSpPr>
          <p:cNvPr id="539" name="Google Shape;539;p35"/>
          <p:cNvSpPr txBox="1"/>
          <p:nvPr/>
        </p:nvSpPr>
        <p:spPr>
          <a:xfrm>
            <a:off x="3544887" y="5461796"/>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1</a:t>
            </a:r>
            <a:endParaRPr/>
          </a:p>
        </p:txBody>
      </p:sp>
      <p:cxnSp>
        <p:nvCxnSpPr>
          <p:cNvPr id="540" name="Google Shape;540;p35"/>
          <p:cNvCxnSpPr/>
          <p:nvPr/>
        </p:nvCxnSpPr>
        <p:spPr>
          <a:xfrm flipH="1">
            <a:off x="2630587" y="4666458"/>
            <a:ext cx="431700" cy="1500"/>
          </a:xfrm>
          <a:prstGeom prst="curvedConnector3">
            <a:avLst>
              <a:gd fmla="val 0" name="adj1"/>
            </a:avLst>
          </a:prstGeom>
          <a:noFill/>
          <a:ln cap="flat" cmpd="sng" w="9525">
            <a:solidFill>
              <a:srgbClr val="000000"/>
            </a:solidFill>
            <a:prstDash val="solid"/>
            <a:round/>
            <a:headEnd len="med" w="med" type="none"/>
            <a:tailEnd len="med" w="med" type="triangle"/>
          </a:ln>
        </p:spPr>
      </p:cxnSp>
      <p:sp>
        <p:nvSpPr>
          <p:cNvPr id="541" name="Google Shape;541;p35"/>
          <p:cNvSpPr/>
          <p:nvPr/>
        </p:nvSpPr>
        <p:spPr>
          <a:xfrm>
            <a:off x="2630487" y="4666458"/>
            <a:ext cx="457200" cy="457200"/>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A</a:t>
            </a:r>
            <a:endParaRPr/>
          </a:p>
        </p:txBody>
      </p:sp>
      <p:sp>
        <p:nvSpPr>
          <p:cNvPr id="542" name="Google Shape;542;p35"/>
          <p:cNvSpPr/>
          <p:nvPr/>
        </p:nvSpPr>
        <p:spPr>
          <a:xfrm>
            <a:off x="6046787" y="4666458"/>
            <a:ext cx="457200" cy="457200"/>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C</a:t>
            </a:r>
            <a:endParaRPr/>
          </a:p>
        </p:txBody>
      </p:sp>
      <p:sp>
        <p:nvSpPr>
          <p:cNvPr id="543" name="Google Shape;543;p35"/>
          <p:cNvSpPr/>
          <p:nvPr/>
        </p:nvSpPr>
        <p:spPr>
          <a:xfrm>
            <a:off x="4370387" y="4666458"/>
            <a:ext cx="457200" cy="457200"/>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B</a:t>
            </a:r>
            <a:endParaRPr/>
          </a:p>
        </p:txBody>
      </p:sp>
      <p:sp>
        <p:nvSpPr>
          <p:cNvPr id="544" name="Google Shape;544;p35"/>
          <p:cNvSpPr/>
          <p:nvPr/>
        </p:nvSpPr>
        <p:spPr>
          <a:xfrm>
            <a:off x="2554287" y="4590258"/>
            <a:ext cx="609600" cy="6096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545" name="Google Shape;545;p35"/>
          <p:cNvSpPr/>
          <p:nvPr/>
        </p:nvSpPr>
        <p:spPr>
          <a:xfrm>
            <a:off x="4294187" y="4590258"/>
            <a:ext cx="609600" cy="6096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cxnSp>
        <p:nvCxnSpPr>
          <p:cNvPr id="546" name="Google Shape;546;p35"/>
          <p:cNvCxnSpPr/>
          <p:nvPr/>
        </p:nvCxnSpPr>
        <p:spPr>
          <a:xfrm flipH="1" rot="10800000">
            <a:off x="2097087" y="5047458"/>
            <a:ext cx="533400" cy="457200"/>
          </a:xfrm>
          <a:prstGeom prst="straightConnector1">
            <a:avLst/>
          </a:prstGeom>
          <a:noFill/>
          <a:ln cap="flat" cmpd="sng" w="9525">
            <a:solidFill>
              <a:srgbClr val="000000"/>
            </a:solidFill>
            <a:prstDash val="solid"/>
            <a:round/>
            <a:headEnd len="med" w="med" type="none"/>
            <a:tailEnd len="med" w="med" type="triangle"/>
          </a:ln>
        </p:spPr>
      </p:cxnSp>
      <p:cxnSp>
        <p:nvCxnSpPr>
          <p:cNvPr id="547" name="Google Shape;547;p35"/>
          <p:cNvCxnSpPr/>
          <p:nvPr/>
        </p:nvCxnSpPr>
        <p:spPr>
          <a:xfrm flipH="1" rot="10800000">
            <a:off x="3151187" y="4893530"/>
            <a:ext cx="1219200" cy="16468"/>
          </a:xfrm>
          <a:prstGeom prst="straightConnector1">
            <a:avLst/>
          </a:prstGeom>
          <a:noFill/>
          <a:ln cap="flat" cmpd="sng" w="41275">
            <a:solidFill>
              <a:srgbClr val="FF0000"/>
            </a:solidFill>
            <a:prstDash val="solid"/>
            <a:round/>
            <a:headEnd len="med" w="med" type="none"/>
            <a:tailEnd len="med" w="med" type="triangle"/>
          </a:ln>
        </p:spPr>
      </p:cxnSp>
      <p:cxnSp>
        <p:nvCxnSpPr>
          <p:cNvPr id="548" name="Google Shape;548;p35"/>
          <p:cNvCxnSpPr/>
          <p:nvPr/>
        </p:nvCxnSpPr>
        <p:spPr>
          <a:xfrm>
            <a:off x="4903787" y="4895058"/>
            <a:ext cx="1143000" cy="0"/>
          </a:xfrm>
          <a:prstGeom prst="straightConnector1">
            <a:avLst/>
          </a:prstGeom>
          <a:noFill/>
          <a:ln cap="flat" cmpd="sng" w="9525">
            <a:solidFill>
              <a:srgbClr val="000000"/>
            </a:solidFill>
            <a:prstDash val="solid"/>
            <a:round/>
            <a:headEnd len="med" w="med" type="none"/>
            <a:tailEnd len="med" w="med" type="triangle"/>
          </a:ln>
        </p:spPr>
      </p:cxnSp>
      <p:sp>
        <p:nvSpPr>
          <p:cNvPr id="549" name="Google Shape;549;p35"/>
          <p:cNvSpPr txBox="1"/>
          <p:nvPr/>
        </p:nvSpPr>
        <p:spPr>
          <a:xfrm>
            <a:off x="5275262" y="4437858"/>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0</a:t>
            </a:r>
            <a:endParaRPr/>
          </a:p>
        </p:txBody>
      </p:sp>
      <p:sp>
        <p:nvSpPr>
          <p:cNvPr id="550" name="Google Shape;550;p35"/>
          <p:cNvSpPr txBox="1"/>
          <p:nvPr/>
        </p:nvSpPr>
        <p:spPr>
          <a:xfrm>
            <a:off x="2989262" y="3828258"/>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1</a:t>
            </a:r>
            <a:endParaRPr/>
          </a:p>
        </p:txBody>
      </p:sp>
      <p:cxnSp>
        <p:nvCxnSpPr>
          <p:cNvPr id="551" name="Google Shape;551;p35"/>
          <p:cNvCxnSpPr>
            <a:stCxn id="545" idx="3"/>
            <a:endCxn id="544" idx="5"/>
          </p:cNvCxnSpPr>
          <p:nvPr/>
        </p:nvCxnSpPr>
        <p:spPr>
          <a:xfrm rot="5400000">
            <a:off x="3728711" y="4456434"/>
            <a:ext cx="600" cy="1308900"/>
          </a:xfrm>
          <a:prstGeom prst="curvedConnector3">
            <a:avLst>
              <a:gd fmla="val 52995642" name="adj1"/>
            </a:avLst>
          </a:prstGeom>
          <a:noFill/>
          <a:ln cap="flat" cmpd="sng" w="9525">
            <a:solidFill>
              <a:srgbClr val="000000"/>
            </a:solidFill>
            <a:prstDash val="solid"/>
            <a:round/>
            <a:headEnd len="med" w="med" type="none"/>
            <a:tailEnd len="med" w="med" type="triangle"/>
          </a:ln>
        </p:spPr>
      </p:cxnSp>
      <p:sp>
        <p:nvSpPr>
          <p:cNvPr id="552" name="Google Shape;552;p35"/>
          <p:cNvSpPr txBox="1"/>
          <p:nvPr/>
        </p:nvSpPr>
        <p:spPr>
          <a:xfrm>
            <a:off x="6342062" y="3904458"/>
            <a:ext cx="60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0,1</a:t>
            </a:r>
            <a:endParaRPr/>
          </a:p>
        </p:txBody>
      </p:sp>
      <p:cxnSp>
        <p:nvCxnSpPr>
          <p:cNvPr id="553" name="Google Shape;553;p35"/>
          <p:cNvCxnSpPr>
            <a:stCxn id="542" idx="7"/>
            <a:endCxn id="542" idx="1"/>
          </p:cNvCxnSpPr>
          <p:nvPr/>
        </p:nvCxnSpPr>
        <p:spPr>
          <a:xfrm rot="5400000">
            <a:off x="6275032" y="4572013"/>
            <a:ext cx="600" cy="323400"/>
          </a:xfrm>
          <a:prstGeom prst="curvedConnector3">
            <a:avLst>
              <a:gd fmla="val -49274732" name="adj1"/>
            </a:avLst>
          </a:prstGeom>
          <a:noFill/>
          <a:ln cap="flat" cmpd="sng" w="9525">
            <a:solidFill>
              <a:srgbClr val="000000"/>
            </a:solidFill>
            <a:prstDash val="solid"/>
            <a:round/>
            <a:headEnd len="med" w="med" type="none"/>
            <a:tailEnd len="med" w="med" type="triangle"/>
          </a:ln>
        </p:spPr>
      </p:cxnSp>
      <p:cxnSp>
        <p:nvCxnSpPr>
          <p:cNvPr id="554" name="Google Shape;554;p35"/>
          <p:cNvCxnSpPr/>
          <p:nvPr/>
        </p:nvCxnSpPr>
        <p:spPr>
          <a:xfrm>
            <a:off x="3166516" y="4885585"/>
            <a:ext cx="1143000" cy="0"/>
          </a:xfrm>
          <a:prstGeom prst="straightConnector1">
            <a:avLst/>
          </a:prstGeom>
          <a:noFill/>
          <a:ln cap="flat" cmpd="sng" w="9525">
            <a:solidFill>
              <a:srgbClr val="000000"/>
            </a:solidFill>
            <a:prstDash val="solid"/>
            <a:round/>
            <a:headEnd len="med" w="med" type="none"/>
            <a:tailEnd len="med" w="med" type="triangle"/>
          </a:ln>
        </p:spPr>
      </p:cxnSp>
      <p:cxnSp>
        <p:nvCxnSpPr>
          <p:cNvPr id="555" name="Google Shape;555;p35"/>
          <p:cNvCxnSpPr/>
          <p:nvPr/>
        </p:nvCxnSpPr>
        <p:spPr>
          <a:xfrm flipH="1">
            <a:off x="3087787" y="5099302"/>
            <a:ext cx="1308000" cy="1500"/>
          </a:xfrm>
          <a:prstGeom prst="curvedConnector3">
            <a:avLst>
              <a:gd fmla="val 0" name="adj1"/>
            </a:avLst>
          </a:prstGeom>
          <a:noFill/>
          <a:ln cap="flat" cmpd="sng" w="41275">
            <a:solidFill>
              <a:srgbClr val="FF0000"/>
            </a:solidFill>
            <a:prstDash val="solid"/>
            <a:round/>
            <a:headEnd len="med" w="med" type="none"/>
            <a:tailEnd len="med" w="med" type="triangle"/>
          </a:ln>
        </p:spPr>
      </p:cxnSp>
      <p:sp>
        <p:nvSpPr>
          <p:cNvPr id="556" name="Google Shape;556;p35"/>
          <p:cNvSpPr/>
          <p:nvPr/>
        </p:nvSpPr>
        <p:spPr>
          <a:xfrm>
            <a:off x="897590" y="5859611"/>
            <a:ext cx="854784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Tahoma"/>
                <a:ea typeface="Tahoma"/>
                <a:cs typeface="Tahoma"/>
                <a:sym typeface="Tahoma"/>
              </a:rPr>
              <a:t>{w | w is in {0,1}* and w does not have two consecutive 0’s}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6"/>
                                        </p:tgtEl>
                                        <p:attrNameLst>
                                          <p:attrName>style.visibility</p:attrName>
                                        </p:attrNameLst>
                                      </p:cBhvr>
                                      <p:to>
                                        <p:strVal val="visible"/>
                                      </p:to>
                                    </p:set>
                                    <p:anim calcmode="lin" valueType="num">
                                      <p:cBhvr additive="base">
                                        <p:cTn dur="500"/>
                                        <p:tgtEl>
                                          <p:spTgt spid="5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6"/>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Example #2</a:t>
            </a:r>
            <a:endParaRPr b="1"/>
          </a:p>
        </p:txBody>
      </p:sp>
      <p:sp>
        <p:nvSpPr>
          <p:cNvPr id="562" name="Google Shape;562;p3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563" name="Google Shape;563;p36"/>
          <p:cNvGrpSpPr/>
          <p:nvPr/>
        </p:nvGrpSpPr>
        <p:grpSpPr>
          <a:xfrm>
            <a:off x="1752600" y="2036044"/>
            <a:ext cx="5387975" cy="2090738"/>
            <a:chOff x="624" y="1563"/>
            <a:chExt cx="3394" cy="1317"/>
          </a:xfrm>
        </p:grpSpPr>
        <p:sp>
          <p:nvSpPr>
            <p:cNvPr id="564" name="Google Shape;564;p36"/>
            <p:cNvSpPr txBox="1"/>
            <p:nvPr/>
          </p:nvSpPr>
          <p:spPr>
            <a:xfrm>
              <a:off x="624" y="2592"/>
              <a:ext cx="5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Start</a:t>
              </a:r>
              <a:endParaRPr/>
            </a:p>
          </p:txBody>
        </p:sp>
        <p:grpSp>
          <p:nvGrpSpPr>
            <p:cNvPr id="565" name="Google Shape;565;p36"/>
            <p:cNvGrpSpPr/>
            <p:nvPr/>
          </p:nvGrpSpPr>
          <p:grpSpPr>
            <a:xfrm>
              <a:off x="960" y="1563"/>
              <a:ext cx="3058" cy="1317"/>
              <a:chOff x="960" y="1563"/>
              <a:chExt cx="3058" cy="1317"/>
            </a:xfrm>
          </p:grpSpPr>
          <p:sp>
            <p:nvSpPr>
              <p:cNvPr id="566" name="Google Shape;566;p36"/>
              <p:cNvSpPr txBox="1"/>
              <p:nvPr/>
            </p:nvSpPr>
            <p:spPr>
              <a:xfrm>
                <a:off x="1824" y="1968"/>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1</a:t>
                </a:r>
                <a:endParaRPr/>
              </a:p>
            </p:txBody>
          </p:sp>
          <p:sp>
            <p:nvSpPr>
              <p:cNvPr id="567" name="Google Shape;567;p36"/>
              <p:cNvSpPr txBox="1"/>
              <p:nvPr/>
            </p:nvSpPr>
            <p:spPr>
              <a:xfrm>
                <a:off x="1872" y="2592"/>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a:t>
                </a:r>
                <a:endParaRPr/>
              </a:p>
            </p:txBody>
          </p:sp>
          <p:grpSp>
            <p:nvGrpSpPr>
              <p:cNvPr id="568" name="Google Shape;568;p36"/>
              <p:cNvGrpSpPr/>
              <p:nvPr/>
            </p:nvGrpSpPr>
            <p:grpSpPr>
              <a:xfrm>
                <a:off x="960" y="1563"/>
                <a:ext cx="3058" cy="1056"/>
                <a:chOff x="960" y="1584"/>
                <a:chExt cx="3058" cy="1056"/>
              </a:xfrm>
            </p:grpSpPr>
            <p:cxnSp>
              <p:nvCxnSpPr>
                <p:cNvPr id="569" name="Google Shape;569;p36"/>
                <p:cNvCxnSpPr/>
                <p:nvPr/>
              </p:nvCxnSpPr>
              <p:spPr>
                <a:xfrm rot="5400000">
                  <a:off x="1431" y="1977"/>
                  <a:ext cx="1" cy="272"/>
                </a:xfrm>
                <a:prstGeom prst="curvedConnector3">
                  <a:avLst>
                    <a:gd fmla="val -40600005" name="adj1"/>
                  </a:avLst>
                </a:prstGeom>
                <a:noFill/>
                <a:ln cap="flat" cmpd="sng" w="9525">
                  <a:solidFill>
                    <a:srgbClr val="000000"/>
                  </a:solidFill>
                  <a:prstDash val="solid"/>
                  <a:round/>
                  <a:headEnd len="med" w="med" type="none"/>
                  <a:tailEnd len="med" w="med" type="triangle"/>
                </a:ln>
              </p:spPr>
            </p:cxnSp>
            <p:grpSp>
              <p:nvGrpSpPr>
                <p:cNvPr id="570" name="Google Shape;570;p36"/>
                <p:cNvGrpSpPr/>
                <p:nvPr/>
              </p:nvGrpSpPr>
              <p:grpSpPr>
                <a:xfrm>
                  <a:off x="960" y="1584"/>
                  <a:ext cx="3058" cy="1056"/>
                  <a:chOff x="974" y="1584"/>
                  <a:chExt cx="3058" cy="1056"/>
                </a:xfrm>
              </p:grpSpPr>
              <p:sp>
                <p:nvSpPr>
                  <p:cNvPr id="571" name="Google Shape;571;p36"/>
                  <p:cNvSpPr/>
                  <p:nvPr/>
                </p:nvSpPr>
                <p:spPr>
                  <a:xfrm>
                    <a:off x="1310"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A</a:t>
                    </a:r>
                    <a:endParaRPr/>
                  </a:p>
                </p:txBody>
              </p:sp>
              <p:sp>
                <p:nvSpPr>
                  <p:cNvPr id="572" name="Google Shape;572;p36"/>
                  <p:cNvSpPr/>
                  <p:nvPr/>
                </p:nvSpPr>
                <p:spPr>
                  <a:xfrm>
                    <a:off x="3462"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C</a:t>
                    </a:r>
                    <a:endParaRPr/>
                  </a:p>
                </p:txBody>
              </p:sp>
              <p:sp>
                <p:nvSpPr>
                  <p:cNvPr id="573" name="Google Shape;573;p36"/>
                  <p:cNvSpPr/>
                  <p:nvPr/>
                </p:nvSpPr>
                <p:spPr>
                  <a:xfrm>
                    <a:off x="2406" y="2112"/>
                    <a:ext cx="288" cy="288"/>
                  </a:xfrm>
                  <a:prstGeom prst="ellipse">
                    <a:avLst/>
                  </a:prstGeom>
                  <a:solidFill>
                    <a:srgbClr val="00CC99">
                      <a:alpha val="49803"/>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B</a:t>
                    </a:r>
                    <a:endParaRPr/>
                  </a:p>
                </p:txBody>
              </p:sp>
              <p:sp>
                <p:nvSpPr>
                  <p:cNvPr id="574" name="Google Shape;574;p36"/>
                  <p:cNvSpPr/>
                  <p:nvPr/>
                </p:nvSpPr>
                <p:spPr>
                  <a:xfrm>
                    <a:off x="1262" y="2064"/>
                    <a:ext cx="384" cy="384"/>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575" name="Google Shape;575;p36"/>
                  <p:cNvSpPr/>
                  <p:nvPr/>
                </p:nvSpPr>
                <p:spPr>
                  <a:xfrm>
                    <a:off x="2358" y="2064"/>
                    <a:ext cx="384" cy="384"/>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cxnSp>
                <p:nvCxnSpPr>
                  <p:cNvPr id="576" name="Google Shape;576;p36"/>
                  <p:cNvCxnSpPr/>
                  <p:nvPr/>
                </p:nvCxnSpPr>
                <p:spPr>
                  <a:xfrm flipH="1" rot="10800000">
                    <a:off x="974" y="2352"/>
                    <a:ext cx="336" cy="288"/>
                  </a:xfrm>
                  <a:prstGeom prst="straightConnector1">
                    <a:avLst/>
                  </a:prstGeom>
                  <a:noFill/>
                  <a:ln cap="flat" cmpd="sng" w="9525">
                    <a:solidFill>
                      <a:srgbClr val="000000"/>
                    </a:solidFill>
                    <a:prstDash val="solid"/>
                    <a:round/>
                    <a:headEnd len="med" w="med" type="none"/>
                    <a:tailEnd len="med" w="med" type="triangle"/>
                  </a:ln>
                </p:spPr>
              </p:cxnSp>
              <p:cxnSp>
                <p:nvCxnSpPr>
                  <p:cNvPr id="577" name="Google Shape;577;p36"/>
                  <p:cNvCxnSpPr/>
                  <p:nvPr/>
                </p:nvCxnSpPr>
                <p:spPr>
                  <a:xfrm>
                    <a:off x="1638" y="2256"/>
                    <a:ext cx="720" cy="0"/>
                  </a:xfrm>
                  <a:prstGeom prst="straightConnector1">
                    <a:avLst/>
                  </a:prstGeom>
                  <a:noFill/>
                  <a:ln cap="flat" cmpd="sng" w="9525">
                    <a:solidFill>
                      <a:srgbClr val="000000"/>
                    </a:solidFill>
                    <a:prstDash val="solid"/>
                    <a:round/>
                    <a:headEnd len="med" w="med" type="none"/>
                    <a:tailEnd len="med" w="med" type="triangle"/>
                  </a:ln>
                </p:spPr>
              </p:cxnSp>
              <p:cxnSp>
                <p:nvCxnSpPr>
                  <p:cNvPr id="578" name="Google Shape;578;p36"/>
                  <p:cNvCxnSpPr/>
                  <p:nvPr/>
                </p:nvCxnSpPr>
                <p:spPr>
                  <a:xfrm>
                    <a:off x="2742" y="2256"/>
                    <a:ext cx="720" cy="0"/>
                  </a:xfrm>
                  <a:prstGeom prst="straightConnector1">
                    <a:avLst/>
                  </a:prstGeom>
                  <a:noFill/>
                  <a:ln cap="flat" cmpd="sng" w="9525">
                    <a:solidFill>
                      <a:srgbClr val="000000"/>
                    </a:solidFill>
                    <a:prstDash val="solid"/>
                    <a:round/>
                    <a:headEnd len="med" w="med" type="none"/>
                    <a:tailEnd len="med" w="med" type="triangle"/>
                  </a:ln>
                </p:spPr>
              </p:cxnSp>
              <p:sp>
                <p:nvSpPr>
                  <p:cNvPr id="579" name="Google Shape;579;p36"/>
                  <p:cNvSpPr txBox="1"/>
                  <p:nvPr/>
                </p:nvSpPr>
                <p:spPr>
                  <a:xfrm>
                    <a:off x="2976" y="1968"/>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1</a:t>
                    </a:r>
                    <a:endParaRPr/>
                  </a:p>
                </p:txBody>
              </p:sp>
              <p:sp>
                <p:nvSpPr>
                  <p:cNvPr id="580" name="Google Shape;580;p36"/>
                  <p:cNvSpPr txBox="1"/>
                  <p:nvPr/>
                </p:nvSpPr>
                <p:spPr>
                  <a:xfrm>
                    <a:off x="1536" y="1584"/>
                    <a:ext cx="22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a:t>
                    </a:r>
                    <a:endParaRPr/>
                  </a:p>
                </p:txBody>
              </p:sp>
              <p:cxnSp>
                <p:nvCxnSpPr>
                  <p:cNvPr id="581" name="Google Shape;581;p36"/>
                  <p:cNvCxnSpPr>
                    <a:stCxn id="575" idx="3"/>
                    <a:endCxn id="574" idx="5"/>
                  </p:cNvCxnSpPr>
                  <p:nvPr/>
                </p:nvCxnSpPr>
                <p:spPr>
                  <a:xfrm>
                    <a:off x="1964" y="1942"/>
                    <a:ext cx="0" cy="900"/>
                  </a:xfrm>
                  <a:prstGeom prst="curvedConnector3">
                    <a:avLst>
                      <a:gd fmla="val 20000000" name="adj1"/>
                    </a:avLst>
                  </a:prstGeom>
                  <a:noFill/>
                  <a:ln cap="flat" cmpd="sng" w="9525">
                    <a:solidFill>
                      <a:srgbClr val="000000"/>
                    </a:solidFill>
                    <a:prstDash val="solid"/>
                    <a:round/>
                    <a:headEnd len="med" w="med" type="none"/>
                    <a:tailEnd len="med" w="med" type="triangle"/>
                  </a:ln>
                </p:spPr>
              </p:cxnSp>
              <p:sp>
                <p:nvSpPr>
                  <p:cNvPr id="582" name="Google Shape;582;p36"/>
                  <p:cNvSpPr txBox="1"/>
                  <p:nvPr/>
                </p:nvSpPr>
                <p:spPr>
                  <a:xfrm>
                    <a:off x="3648" y="1632"/>
                    <a:ext cx="38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0,1</a:t>
                    </a:r>
                    <a:endParaRPr/>
                  </a:p>
                </p:txBody>
              </p:sp>
              <p:cxnSp>
                <p:nvCxnSpPr>
                  <p:cNvPr id="583" name="Google Shape;583;p36"/>
                  <p:cNvCxnSpPr>
                    <a:stCxn id="572" idx="7"/>
                    <a:endCxn id="572" idx="1"/>
                  </p:cNvCxnSpPr>
                  <p:nvPr/>
                </p:nvCxnSpPr>
                <p:spPr>
                  <a:xfrm>
                    <a:off x="3558" y="2004"/>
                    <a:ext cx="0" cy="300"/>
                  </a:xfrm>
                  <a:prstGeom prst="curvedConnector3">
                    <a:avLst>
                      <a:gd fmla="val -18600000" name="adj1"/>
                    </a:avLst>
                  </a:prstGeom>
                  <a:noFill/>
                  <a:ln cap="flat" cmpd="sng" w="9525">
                    <a:solidFill>
                      <a:srgbClr val="000000"/>
                    </a:solidFill>
                    <a:prstDash val="solid"/>
                    <a:round/>
                    <a:headEnd len="med" w="med" type="none"/>
                    <a:tailEnd len="med" w="med" type="triangle"/>
                  </a:ln>
                </p:spPr>
              </p:cxnSp>
            </p:grpSp>
          </p:grpSp>
        </p:grpSp>
      </p:grpSp>
      <p:grpSp>
        <p:nvGrpSpPr>
          <p:cNvPr id="584" name="Google Shape;584;p36"/>
          <p:cNvGrpSpPr/>
          <p:nvPr/>
        </p:nvGrpSpPr>
        <p:grpSpPr>
          <a:xfrm>
            <a:off x="2362200" y="3407644"/>
            <a:ext cx="1522413" cy="2347913"/>
            <a:chOff x="1008" y="2427"/>
            <a:chExt cx="959" cy="1479"/>
          </a:xfrm>
        </p:grpSpPr>
        <p:sp>
          <p:nvSpPr>
            <p:cNvPr id="585" name="Google Shape;585;p36"/>
            <p:cNvSpPr txBox="1"/>
            <p:nvPr/>
          </p:nvSpPr>
          <p:spPr>
            <a:xfrm>
              <a:off x="1008" y="2928"/>
              <a:ext cx="959" cy="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Previous</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string OK,</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does not</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end in 1.</a:t>
              </a:r>
              <a:endParaRPr/>
            </a:p>
          </p:txBody>
        </p:sp>
        <p:cxnSp>
          <p:nvCxnSpPr>
            <p:cNvPr id="586" name="Google Shape;586;p36"/>
            <p:cNvCxnSpPr/>
            <p:nvPr/>
          </p:nvCxnSpPr>
          <p:spPr>
            <a:xfrm rot="10800000">
              <a:off x="1440" y="2427"/>
              <a:ext cx="0" cy="432"/>
            </a:xfrm>
            <a:prstGeom prst="straightConnector1">
              <a:avLst/>
            </a:prstGeom>
            <a:noFill/>
            <a:ln cap="flat" cmpd="sng" w="9525">
              <a:solidFill>
                <a:srgbClr val="FF0000"/>
              </a:solidFill>
              <a:prstDash val="dot"/>
              <a:round/>
              <a:headEnd len="med" w="med" type="none"/>
              <a:tailEnd len="med" w="med" type="triangle"/>
            </a:ln>
          </p:spPr>
        </p:cxnSp>
      </p:grpSp>
      <p:grpSp>
        <p:nvGrpSpPr>
          <p:cNvPr id="587" name="Google Shape;587;p36"/>
          <p:cNvGrpSpPr/>
          <p:nvPr/>
        </p:nvGrpSpPr>
        <p:grpSpPr>
          <a:xfrm>
            <a:off x="4114800" y="3407644"/>
            <a:ext cx="1555750" cy="2347913"/>
            <a:chOff x="1008" y="2427"/>
            <a:chExt cx="980" cy="1479"/>
          </a:xfrm>
        </p:grpSpPr>
        <p:sp>
          <p:nvSpPr>
            <p:cNvPr id="588" name="Google Shape;588;p36"/>
            <p:cNvSpPr txBox="1"/>
            <p:nvPr/>
          </p:nvSpPr>
          <p:spPr>
            <a:xfrm>
              <a:off x="1008" y="2928"/>
              <a:ext cx="980" cy="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Previous</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String OK,</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ends in a </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single 1.</a:t>
              </a:r>
              <a:endParaRPr/>
            </a:p>
          </p:txBody>
        </p:sp>
        <p:cxnSp>
          <p:nvCxnSpPr>
            <p:cNvPr id="589" name="Google Shape;589;p36"/>
            <p:cNvCxnSpPr/>
            <p:nvPr/>
          </p:nvCxnSpPr>
          <p:spPr>
            <a:xfrm rot="10800000">
              <a:off x="1440" y="2427"/>
              <a:ext cx="0" cy="432"/>
            </a:xfrm>
            <a:prstGeom prst="straightConnector1">
              <a:avLst/>
            </a:prstGeom>
            <a:noFill/>
            <a:ln cap="flat" cmpd="sng" w="9525">
              <a:solidFill>
                <a:srgbClr val="FF0000"/>
              </a:solidFill>
              <a:prstDash val="dot"/>
              <a:round/>
              <a:headEnd len="med" w="med" type="none"/>
              <a:tailEnd len="med" w="med" type="triangle"/>
            </a:ln>
          </p:spPr>
        </p:cxnSp>
      </p:grpSp>
      <p:grpSp>
        <p:nvGrpSpPr>
          <p:cNvPr id="590" name="Google Shape;590;p36"/>
          <p:cNvGrpSpPr/>
          <p:nvPr/>
        </p:nvGrpSpPr>
        <p:grpSpPr>
          <a:xfrm>
            <a:off x="5791200" y="3331444"/>
            <a:ext cx="1793875" cy="1982788"/>
            <a:chOff x="1008" y="2427"/>
            <a:chExt cx="1130" cy="1249"/>
          </a:xfrm>
        </p:grpSpPr>
        <p:sp>
          <p:nvSpPr>
            <p:cNvPr id="591" name="Google Shape;591;p36"/>
            <p:cNvSpPr txBox="1"/>
            <p:nvPr/>
          </p:nvSpPr>
          <p:spPr>
            <a:xfrm>
              <a:off x="1008" y="2928"/>
              <a:ext cx="1130" cy="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Consecutive</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1’s have</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been seen.</a:t>
              </a:r>
              <a:endParaRPr/>
            </a:p>
          </p:txBody>
        </p:sp>
        <p:cxnSp>
          <p:nvCxnSpPr>
            <p:cNvPr id="592" name="Google Shape;592;p36"/>
            <p:cNvCxnSpPr/>
            <p:nvPr/>
          </p:nvCxnSpPr>
          <p:spPr>
            <a:xfrm rot="10800000">
              <a:off x="1440" y="2427"/>
              <a:ext cx="0" cy="432"/>
            </a:xfrm>
            <a:prstGeom prst="straightConnector1">
              <a:avLst/>
            </a:prstGeom>
            <a:noFill/>
            <a:ln cap="flat" cmpd="sng" w="9525">
              <a:solidFill>
                <a:srgbClr val="FF0000"/>
              </a:solidFill>
              <a:prstDash val="dot"/>
              <a:round/>
              <a:headEnd len="med" w="med" type="none"/>
              <a:tailEnd len="med" w="med" type="triangle"/>
            </a:ln>
          </p:spPr>
        </p:cxnSp>
      </p:grpSp>
      <p:sp>
        <p:nvSpPr>
          <p:cNvPr id="593" name="Google Shape;593;p36"/>
          <p:cNvSpPr txBox="1"/>
          <p:nvPr/>
        </p:nvSpPr>
        <p:spPr>
          <a:xfrm>
            <a:off x="1219200" y="1414463"/>
            <a:ext cx="65071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9900"/>
                </a:solidFill>
                <a:latin typeface="Tahoma"/>
                <a:ea typeface="Tahoma"/>
                <a:cs typeface="Tahoma"/>
                <a:sym typeface="Tahoma"/>
              </a:rPr>
              <a:t>Accepts all strings without two consecutive 1’s.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7"/>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Transition Table</a:t>
            </a:r>
            <a:endParaRPr b="1"/>
          </a:p>
        </p:txBody>
      </p:sp>
      <p:sp>
        <p:nvSpPr>
          <p:cNvPr id="599" name="Google Shape;599;p3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0" name="Google Shape;600;p37"/>
          <p:cNvSpPr/>
          <p:nvPr/>
        </p:nvSpPr>
        <p:spPr>
          <a:xfrm>
            <a:off x="4020092" y="2362200"/>
            <a:ext cx="1676400" cy="1676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cxnSp>
        <p:nvCxnSpPr>
          <p:cNvPr id="601" name="Google Shape;601;p37"/>
          <p:cNvCxnSpPr/>
          <p:nvPr/>
        </p:nvCxnSpPr>
        <p:spPr>
          <a:xfrm>
            <a:off x="4020092" y="2819400"/>
            <a:ext cx="1676400" cy="0"/>
          </a:xfrm>
          <a:prstGeom prst="straightConnector1">
            <a:avLst/>
          </a:prstGeom>
          <a:noFill/>
          <a:ln cap="flat" cmpd="sng" w="9525">
            <a:solidFill>
              <a:srgbClr val="000000"/>
            </a:solidFill>
            <a:prstDash val="solid"/>
            <a:round/>
            <a:headEnd len="med" w="med" type="none"/>
            <a:tailEnd len="med" w="med" type="none"/>
          </a:ln>
        </p:spPr>
      </p:cxnSp>
      <p:cxnSp>
        <p:nvCxnSpPr>
          <p:cNvPr id="602" name="Google Shape;602;p37"/>
          <p:cNvCxnSpPr/>
          <p:nvPr/>
        </p:nvCxnSpPr>
        <p:spPr>
          <a:xfrm>
            <a:off x="4858292" y="2362200"/>
            <a:ext cx="0" cy="1676400"/>
          </a:xfrm>
          <a:prstGeom prst="straightConnector1">
            <a:avLst/>
          </a:prstGeom>
          <a:noFill/>
          <a:ln cap="flat" cmpd="sng" w="9525">
            <a:solidFill>
              <a:srgbClr val="000000"/>
            </a:solidFill>
            <a:prstDash val="solid"/>
            <a:round/>
            <a:headEnd len="med" w="med" type="none"/>
            <a:tailEnd len="med" w="med" type="none"/>
          </a:ln>
        </p:spPr>
      </p:cxnSp>
      <p:sp>
        <p:nvSpPr>
          <p:cNvPr id="603" name="Google Shape;603;p37"/>
          <p:cNvSpPr txBox="1"/>
          <p:nvPr/>
        </p:nvSpPr>
        <p:spPr>
          <a:xfrm>
            <a:off x="4248692" y="2362200"/>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0</a:t>
            </a:r>
            <a:endParaRPr/>
          </a:p>
        </p:txBody>
      </p:sp>
      <p:sp>
        <p:nvSpPr>
          <p:cNvPr id="604" name="Google Shape;604;p37"/>
          <p:cNvSpPr txBox="1"/>
          <p:nvPr/>
        </p:nvSpPr>
        <p:spPr>
          <a:xfrm>
            <a:off x="5163092" y="2362200"/>
            <a:ext cx="35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1</a:t>
            </a:r>
            <a:endParaRPr/>
          </a:p>
        </p:txBody>
      </p:sp>
      <p:sp>
        <p:nvSpPr>
          <p:cNvPr id="605" name="Google Shape;605;p37"/>
          <p:cNvSpPr txBox="1"/>
          <p:nvPr/>
        </p:nvSpPr>
        <p:spPr>
          <a:xfrm>
            <a:off x="3318417" y="2852738"/>
            <a:ext cx="2195513"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A	A	B</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B	A	C</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C	C	C</a:t>
            </a:r>
            <a:endParaRPr/>
          </a:p>
        </p:txBody>
      </p:sp>
      <p:grpSp>
        <p:nvGrpSpPr>
          <p:cNvPr id="606" name="Google Shape;606;p37"/>
          <p:cNvGrpSpPr/>
          <p:nvPr/>
        </p:nvGrpSpPr>
        <p:grpSpPr>
          <a:xfrm>
            <a:off x="2496092" y="4005263"/>
            <a:ext cx="2111375" cy="871537"/>
            <a:chOff x="1152" y="2667"/>
            <a:chExt cx="1330" cy="549"/>
          </a:xfrm>
        </p:grpSpPr>
        <p:sp>
          <p:nvSpPr>
            <p:cNvPr id="607" name="Google Shape;607;p37"/>
            <p:cNvSpPr txBox="1"/>
            <p:nvPr/>
          </p:nvSpPr>
          <p:spPr>
            <a:xfrm>
              <a:off x="1152" y="2928"/>
              <a:ext cx="133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Rows = states</a:t>
              </a:r>
              <a:endParaRPr/>
            </a:p>
          </p:txBody>
        </p:sp>
        <p:cxnSp>
          <p:nvCxnSpPr>
            <p:cNvPr id="608" name="Google Shape;608;p37"/>
            <p:cNvCxnSpPr/>
            <p:nvPr/>
          </p:nvCxnSpPr>
          <p:spPr>
            <a:xfrm rot="10800000">
              <a:off x="1776" y="2667"/>
              <a:ext cx="0" cy="240"/>
            </a:xfrm>
            <a:prstGeom prst="straightConnector1">
              <a:avLst/>
            </a:prstGeom>
            <a:noFill/>
            <a:ln cap="flat" cmpd="sng" w="9525">
              <a:solidFill>
                <a:srgbClr val="000000"/>
              </a:solidFill>
              <a:prstDash val="solid"/>
              <a:round/>
              <a:headEnd len="med" w="med" type="none"/>
              <a:tailEnd len="med" w="med" type="triangle"/>
            </a:ln>
          </p:spPr>
        </p:cxnSp>
      </p:grpSp>
      <p:grpSp>
        <p:nvGrpSpPr>
          <p:cNvPr id="609" name="Google Shape;609;p37"/>
          <p:cNvGrpSpPr/>
          <p:nvPr/>
        </p:nvGrpSpPr>
        <p:grpSpPr>
          <a:xfrm>
            <a:off x="5772692" y="2133600"/>
            <a:ext cx="2652713" cy="822325"/>
            <a:chOff x="3216" y="1488"/>
            <a:chExt cx="1671" cy="518"/>
          </a:xfrm>
        </p:grpSpPr>
        <p:sp>
          <p:nvSpPr>
            <p:cNvPr id="610" name="Google Shape;610;p37"/>
            <p:cNvSpPr txBox="1"/>
            <p:nvPr/>
          </p:nvSpPr>
          <p:spPr>
            <a:xfrm>
              <a:off x="3600" y="1488"/>
              <a:ext cx="1287"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Columns =</a:t>
              </a:r>
              <a:endParaRPr/>
            </a:p>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input symbols</a:t>
              </a:r>
              <a:endParaRPr/>
            </a:p>
          </p:txBody>
        </p:sp>
        <p:cxnSp>
          <p:nvCxnSpPr>
            <p:cNvPr id="611" name="Google Shape;611;p37"/>
            <p:cNvCxnSpPr/>
            <p:nvPr/>
          </p:nvCxnSpPr>
          <p:spPr>
            <a:xfrm rot="10800000">
              <a:off x="3216" y="1728"/>
              <a:ext cx="336" cy="0"/>
            </a:xfrm>
            <a:prstGeom prst="straightConnector1">
              <a:avLst/>
            </a:prstGeom>
            <a:noFill/>
            <a:ln cap="flat" cmpd="sng" w="9525">
              <a:solidFill>
                <a:srgbClr val="000000"/>
              </a:solidFill>
              <a:prstDash val="solid"/>
              <a:round/>
              <a:headEnd len="med" w="med" type="none"/>
              <a:tailEnd len="med" w="med" type="triangle"/>
            </a:ln>
          </p:spPr>
        </p:cxnSp>
      </p:grpSp>
      <p:grpSp>
        <p:nvGrpSpPr>
          <p:cNvPr id="612" name="Google Shape;612;p37"/>
          <p:cNvGrpSpPr/>
          <p:nvPr/>
        </p:nvGrpSpPr>
        <p:grpSpPr>
          <a:xfrm>
            <a:off x="1886492" y="1905000"/>
            <a:ext cx="1704975" cy="1828800"/>
            <a:chOff x="768" y="1344"/>
            <a:chExt cx="1074" cy="1152"/>
          </a:xfrm>
        </p:grpSpPr>
        <p:sp>
          <p:nvSpPr>
            <p:cNvPr id="613" name="Google Shape;613;p37"/>
            <p:cNvSpPr txBox="1"/>
            <p:nvPr/>
          </p:nvSpPr>
          <p:spPr>
            <a:xfrm>
              <a:off x="768" y="1344"/>
              <a:ext cx="1074" cy="5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Final states</a:t>
              </a:r>
              <a:endParaRPr/>
            </a:p>
            <a:p>
              <a:pPr indent="0" lvl="0" marL="0" marR="0" rtl="0" algn="l">
                <a:spcBef>
                  <a:spcPts val="0"/>
                </a:spcBef>
                <a:spcAft>
                  <a:spcPts val="0"/>
                </a:spcAft>
                <a:buNone/>
              </a:pPr>
              <a:r>
                <a:rPr lang="en-US" sz="2400">
                  <a:solidFill>
                    <a:srgbClr val="000000"/>
                  </a:solidFill>
                  <a:latin typeface="Tahoma"/>
                  <a:ea typeface="Tahoma"/>
                  <a:cs typeface="Tahoma"/>
                  <a:sym typeface="Tahoma"/>
                </a:rPr>
                <a:t>starred</a:t>
              </a:r>
              <a:endParaRPr/>
            </a:p>
          </p:txBody>
        </p:sp>
        <p:sp>
          <p:nvSpPr>
            <p:cNvPr id="614" name="Google Shape;614;p37"/>
            <p:cNvSpPr txBox="1"/>
            <p:nvPr/>
          </p:nvSpPr>
          <p:spPr>
            <a:xfrm>
              <a:off x="1488" y="1968"/>
              <a:ext cx="2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a:t>
              </a:r>
              <a:endParaRPr/>
            </a:p>
          </p:txBody>
        </p:sp>
        <p:sp>
          <p:nvSpPr>
            <p:cNvPr id="615" name="Google Shape;615;p37"/>
            <p:cNvSpPr txBox="1"/>
            <p:nvPr/>
          </p:nvSpPr>
          <p:spPr>
            <a:xfrm>
              <a:off x="1488" y="2208"/>
              <a:ext cx="2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ahoma"/>
                  <a:ea typeface="Tahoma"/>
                  <a:cs typeface="Tahoma"/>
                  <a:sym typeface="Tahoma"/>
                </a:rPr>
                <a:t>*</a:t>
              </a:r>
              <a:endParaRPr/>
            </a:p>
          </p:txBody>
        </p:sp>
      </p:grpSp>
      <p:grpSp>
        <p:nvGrpSpPr>
          <p:cNvPr id="616" name="Google Shape;616;p37"/>
          <p:cNvGrpSpPr/>
          <p:nvPr/>
        </p:nvGrpSpPr>
        <p:grpSpPr>
          <a:xfrm>
            <a:off x="1200692" y="3014663"/>
            <a:ext cx="1828800" cy="1008062"/>
            <a:chOff x="336" y="2043"/>
            <a:chExt cx="1152" cy="635"/>
          </a:xfrm>
        </p:grpSpPr>
        <p:cxnSp>
          <p:nvCxnSpPr>
            <p:cNvPr id="617" name="Google Shape;617;p37"/>
            <p:cNvCxnSpPr/>
            <p:nvPr/>
          </p:nvCxnSpPr>
          <p:spPr>
            <a:xfrm>
              <a:off x="1344" y="2043"/>
              <a:ext cx="144" cy="0"/>
            </a:xfrm>
            <a:prstGeom prst="straightConnector1">
              <a:avLst/>
            </a:prstGeom>
            <a:noFill/>
            <a:ln cap="flat" cmpd="sng" w="9525">
              <a:solidFill>
                <a:srgbClr val="000000"/>
              </a:solidFill>
              <a:prstDash val="solid"/>
              <a:round/>
              <a:headEnd len="med" w="med" type="none"/>
              <a:tailEnd len="med" w="med" type="triangle"/>
            </a:ln>
          </p:spPr>
        </p:cxnSp>
        <p:sp>
          <p:nvSpPr>
            <p:cNvPr id="618" name="Google Shape;618;p37"/>
            <p:cNvSpPr txBox="1"/>
            <p:nvPr/>
          </p:nvSpPr>
          <p:spPr>
            <a:xfrm>
              <a:off x="336" y="2160"/>
              <a:ext cx="976"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Arrow for</a:t>
              </a:r>
              <a:endParaRPr/>
            </a:p>
            <a:p>
              <a:pPr indent="0" lvl="0" marL="0" marR="0" rtl="0" algn="l">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start state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8"/>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b="1" lang="en-US"/>
              <a:t>Example #3</a:t>
            </a:r>
            <a:endParaRPr b="1"/>
          </a:p>
        </p:txBody>
      </p:sp>
      <p:sp>
        <p:nvSpPr>
          <p:cNvPr id="624" name="Google Shape;624;p3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5" name="Google Shape;625;p38"/>
          <p:cNvSpPr txBox="1"/>
          <p:nvPr/>
        </p:nvSpPr>
        <p:spPr>
          <a:xfrm>
            <a:off x="685796" y="1219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3333CC"/>
              </a:buClr>
              <a:buSzPts val="1200"/>
              <a:buFont typeface="Noto Sans Symbols"/>
              <a:buNone/>
            </a:pPr>
            <a:r>
              <a:rPr b="0" i="0" lang="en-US" sz="2000" u="none" cap="none" strike="noStrike">
                <a:solidFill>
                  <a:srgbClr val="000000"/>
                </a:solidFill>
                <a:latin typeface="Arial"/>
                <a:ea typeface="Arial"/>
                <a:cs typeface="Arial"/>
                <a:sym typeface="Arial"/>
              </a:rPr>
              <a:t>Clamping Logic: </a:t>
            </a:r>
            <a:endParaRPr/>
          </a:p>
          <a:p>
            <a:pPr indent="-285750" lvl="1" marL="742950" marR="0" rtl="0" algn="l">
              <a:lnSpc>
                <a:spcPct val="90000"/>
              </a:lnSpc>
              <a:spcBef>
                <a:spcPts val="400"/>
              </a:spcBef>
              <a:spcAft>
                <a:spcPts val="0"/>
              </a:spcAft>
              <a:buClr>
                <a:srgbClr val="FF0000"/>
              </a:buClr>
              <a:buSzPts val="1100"/>
              <a:buFont typeface="Noto Sans Symbols"/>
              <a:buChar char="■"/>
            </a:pPr>
            <a:r>
              <a:rPr b="0" i="0" lang="en-US" sz="2000" u="none" cap="none" strike="noStrike">
                <a:solidFill>
                  <a:srgbClr val="000000"/>
                </a:solidFill>
                <a:latin typeface="Arial"/>
                <a:ea typeface="Arial"/>
                <a:cs typeface="Arial"/>
                <a:sym typeface="Arial"/>
              </a:rPr>
              <a:t>A clamping circuit waits for a ”1” input, and turns on forever. However, to avoid clamping on spurious noise, we’ll design a DFA that waits for </a:t>
            </a:r>
            <a:r>
              <a:rPr b="0" i="1" lang="en-US" sz="2000" u="none" cap="none" strike="noStrike">
                <a:solidFill>
                  <a:srgbClr val="000000"/>
                </a:solidFill>
                <a:latin typeface="Arial"/>
                <a:ea typeface="Arial"/>
                <a:cs typeface="Arial"/>
                <a:sym typeface="Arial"/>
              </a:rPr>
              <a:t>two consecutive 1s</a:t>
            </a:r>
            <a:r>
              <a:rPr b="0" i="0" lang="en-US" sz="2000" u="none" cap="none" strike="noStrike">
                <a:solidFill>
                  <a:srgbClr val="000000"/>
                </a:solidFill>
                <a:latin typeface="Arial"/>
                <a:ea typeface="Arial"/>
                <a:cs typeface="Arial"/>
                <a:sym typeface="Arial"/>
              </a:rPr>
              <a:t> in a row before clamping on.</a:t>
            </a:r>
            <a:endParaRPr/>
          </a:p>
          <a:p>
            <a:pPr indent="-266700" lvl="0" marL="342900" marR="0" rtl="0" algn="l">
              <a:lnSpc>
                <a:spcPct val="90000"/>
              </a:lnSpc>
              <a:spcBef>
                <a:spcPts val="400"/>
              </a:spcBef>
              <a:spcAft>
                <a:spcPts val="0"/>
              </a:spcAft>
              <a:buClr>
                <a:srgbClr val="3333CC"/>
              </a:buClr>
              <a:buSzPts val="1200"/>
              <a:buFont typeface="Noto Sans Symbols"/>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90000"/>
              </a:lnSpc>
              <a:spcBef>
                <a:spcPts val="400"/>
              </a:spcBef>
              <a:spcAft>
                <a:spcPts val="0"/>
              </a:spcAft>
              <a:buClr>
                <a:srgbClr val="3333CC"/>
              </a:buClr>
              <a:buSzPts val="1200"/>
              <a:buFont typeface="Noto Sans Symbols"/>
              <a:buChar char="■"/>
            </a:pPr>
            <a:r>
              <a:rPr b="0" i="0" lang="en-US" sz="2000" u="none" cap="none" strike="noStrike">
                <a:solidFill>
                  <a:srgbClr val="000000"/>
                </a:solidFill>
                <a:latin typeface="Arial"/>
                <a:ea typeface="Arial"/>
                <a:cs typeface="Arial"/>
                <a:sym typeface="Arial"/>
              </a:rPr>
              <a:t>Build a DFA for the following language:</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	</a:t>
            </a:r>
            <a:r>
              <a:rPr b="0" i="0" lang="en-US" sz="2000" u="none" cap="none" strike="noStrike">
                <a:solidFill>
                  <a:srgbClr val="FF0000"/>
                </a:solidFill>
                <a:latin typeface="Arial"/>
                <a:ea typeface="Arial"/>
                <a:cs typeface="Arial"/>
                <a:sym typeface="Arial"/>
              </a:rPr>
              <a:t>L = { w | w is a bit string which contains the substring 11}</a:t>
            </a:r>
            <a:endParaRPr/>
          </a:p>
        </p:txBody>
      </p:sp>
      <p:grpSp>
        <p:nvGrpSpPr>
          <p:cNvPr id="626" name="Google Shape;626;p38"/>
          <p:cNvGrpSpPr/>
          <p:nvPr/>
        </p:nvGrpSpPr>
        <p:grpSpPr>
          <a:xfrm>
            <a:off x="2590800" y="4724400"/>
            <a:ext cx="1371600" cy="609600"/>
            <a:chOff x="624" y="2352"/>
            <a:chExt cx="864" cy="384"/>
          </a:xfrm>
        </p:grpSpPr>
        <p:sp>
          <p:nvSpPr>
            <p:cNvPr id="627" name="Google Shape;627;p38"/>
            <p:cNvSpPr/>
            <p:nvPr/>
          </p:nvSpPr>
          <p:spPr>
            <a:xfrm>
              <a:off x="1200"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0</a:t>
              </a:r>
              <a:endParaRPr/>
            </a:p>
          </p:txBody>
        </p:sp>
        <p:cxnSp>
          <p:nvCxnSpPr>
            <p:cNvPr id="628" name="Google Shape;628;p38"/>
            <p:cNvCxnSpPr/>
            <p:nvPr/>
          </p:nvCxnSpPr>
          <p:spPr>
            <a:xfrm>
              <a:off x="816" y="2592"/>
              <a:ext cx="384" cy="0"/>
            </a:xfrm>
            <a:prstGeom prst="straightConnector1">
              <a:avLst/>
            </a:prstGeom>
            <a:noFill/>
            <a:ln cap="flat" cmpd="sng" w="9525">
              <a:solidFill>
                <a:schemeClr val="dk1"/>
              </a:solidFill>
              <a:prstDash val="solid"/>
              <a:round/>
              <a:headEnd len="med" w="med" type="none"/>
              <a:tailEnd len="med" w="med" type="triangle"/>
            </a:ln>
          </p:spPr>
        </p:cxnSp>
        <p:sp>
          <p:nvSpPr>
            <p:cNvPr id="629" name="Google Shape;629;p38"/>
            <p:cNvSpPr txBox="1"/>
            <p:nvPr/>
          </p:nvSpPr>
          <p:spPr>
            <a:xfrm>
              <a:off x="624" y="2352"/>
              <a:ext cx="48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a:t>
              </a:r>
              <a:endParaRPr/>
            </a:p>
          </p:txBody>
        </p:sp>
      </p:grpSp>
      <p:grpSp>
        <p:nvGrpSpPr>
          <p:cNvPr id="630" name="Google Shape;630;p38"/>
          <p:cNvGrpSpPr/>
          <p:nvPr/>
        </p:nvGrpSpPr>
        <p:grpSpPr>
          <a:xfrm>
            <a:off x="3962400" y="4687888"/>
            <a:ext cx="990600" cy="646112"/>
            <a:chOff x="2016" y="2329"/>
            <a:chExt cx="624" cy="407"/>
          </a:xfrm>
        </p:grpSpPr>
        <p:cxnSp>
          <p:nvCxnSpPr>
            <p:cNvPr id="631" name="Google Shape;631;p38"/>
            <p:cNvCxnSpPr/>
            <p:nvPr/>
          </p:nvCxnSpPr>
          <p:spPr>
            <a:xfrm>
              <a:off x="2016" y="2592"/>
              <a:ext cx="336" cy="0"/>
            </a:xfrm>
            <a:prstGeom prst="straightConnector1">
              <a:avLst/>
            </a:prstGeom>
            <a:noFill/>
            <a:ln cap="flat" cmpd="sng" w="9525">
              <a:solidFill>
                <a:schemeClr val="dk1"/>
              </a:solidFill>
              <a:prstDash val="solid"/>
              <a:round/>
              <a:headEnd len="med" w="med" type="none"/>
              <a:tailEnd len="med" w="med" type="triangle"/>
            </a:ln>
          </p:spPr>
        </p:cxnSp>
        <p:sp>
          <p:nvSpPr>
            <p:cNvPr id="632" name="Google Shape;632;p38"/>
            <p:cNvSpPr/>
            <p:nvPr/>
          </p:nvSpPr>
          <p:spPr>
            <a:xfrm>
              <a:off x="2352"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1</a:t>
              </a:r>
              <a:endParaRPr/>
            </a:p>
          </p:txBody>
        </p:sp>
        <p:sp>
          <p:nvSpPr>
            <p:cNvPr id="633" name="Google Shape;633;p38"/>
            <p:cNvSpPr txBox="1"/>
            <p:nvPr/>
          </p:nvSpPr>
          <p:spPr>
            <a:xfrm>
              <a:off x="2054" y="2329"/>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grpSp>
      <p:grpSp>
        <p:nvGrpSpPr>
          <p:cNvPr id="634" name="Google Shape;634;p38"/>
          <p:cNvGrpSpPr/>
          <p:nvPr/>
        </p:nvGrpSpPr>
        <p:grpSpPr>
          <a:xfrm>
            <a:off x="3479797" y="4154488"/>
            <a:ext cx="425450" cy="722312"/>
            <a:chOff x="1712" y="1993"/>
            <a:chExt cx="268" cy="455"/>
          </a:xfrm>
        </p:grpSpPr>
        <p:sp>
          <p:nvSpPr>
            <p:cNvPr id="635" name="Google Shape;635;p38"/>
            <p:cNvSpPr/>
            <p:nvPr/>
          </p:nvSpPr>
          <p:spPr>
            <a:xfrm>
              <a:off x="1712" y="2248"/>
              <a:ext cx="264" cy="2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6" name="Google Shape;636;p38"/>
            <p:cNvSpPr txBox="1"/>
            <p:nvPr/>
          </p:nvSpPr>
          <p:spPr>
            <a:xfrm>
              <a:off x="1766" y="1993"/>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0</a:t>
              </a:r>
              <a:endParaRPr sz="2400">
                <a:solidFill>
                  <a:schemeClr val="dk1"/>
                </a:solidFill>
                <a:latin typeface="Calibri"/>
                <a:ea typeface="Calibri"/>
                <a:cs typeface="Calibri"/>
                <a:sym typeface="Calibri"/>
              </a:endParaRPr>
            </a:p>
          </p:txBody>
        </p:sp>
      </p:grpSp>
      <p:grpSp>
        <p:nvGrpSpPr>
          <p:cNvPr id="637" name="Google Shape;637;p38"/>
          <p:cNvGrpSpPr/>
          <p:nvPr/>
        </p:nvGrpSpPr>
        <p:grpSpPr>
          <a:xfrm>
            <a:off x="5476875" y="4114800"/>
            <a:ext cx="658813" cy="722313"/>
            <a:chOff x="2970" y="1968"/>
            <a:chExt cx="415" cy="455"/>
          </a:xfrm>
        </p:grpSpPr>
        <p:sp>
          <p:nvSpPr>
            <p:cNvPr id="638" name="Google Shape;638;p38"/>
            <p:cNvSpPr/>
            <p:nvPr/>
          </p:nvSpPr>
          <p:spPr>
            <a:xfrm>
              <a:off x="2970" y="2223"/>
              <a:ext cx="264" cy="2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9" name="Google Shape;639;p38"/>
            <p:cNvSpPr txBox="1"/>
            <p:nvPr/>
          </p:nvSpPr>
          <p:spPr>
            <a:xfrm>
              <a:off x="3024" y="1968"/>
              <a:ext cx="36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0,1</a:t>
              </a:r>
              <a:endParaRPr/>
            </a:p>
          </p:txBody>
        </p:sp>
      </p:grpSp>
      <p:grpSp>
        <p:nvGrpSpPr>
          <p:cNvPr id="640" name="Google Shape;640;p38"/>
          <p:cNvGrpSpPr/>
          <p:nvPr/>
        </p:nvGrpSpPr>
        <p:grpSpPr>
          <a:xfrm>
            <a:off x="4953000" y="4648200"/>
            <a:ext cx="990600" cy="685800"/>
            <a:chOff x="2640" y="2304"/>
            <a:chExt cx="624" cy="432"/>
          </a:xfrm>
        </p:grpSpPr>
        <p:sp>
          <p:nvSpPr>
            <p:cNvPr id="641" name="Google Shape;641;p38"/>
            <p:cNvSpPr txBox="1"/>
            <p:nvPr/>
          </p:nvSpPr>
          <p:spPr>
            <a:xfrm>
              <a:off x="2688" y="2304"/>
              <a:ext cx="21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42" name="Google Shape;642;p38"/>
            <p:cNvSpPr/>
            <p:nvPr/>
          </p:nvSpPr>
          <p:spPr>
            <a:xfrm>
              <a:off x="2976" y="2448"/>
              <a:ext cx="288" cy="2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q</a:t>
              </a:r>
              <a:r>
                <a:rPr baseline="-25000" lang="en-US" sz="2400">
                  <a:solidFill>
                    <a:schemeClr val="dk1"/>
                  </a:solidFill>
                  <a:latin typeface="Calibri"/>
                  <a:ea typeface="Calibri"/>
                  <a:cs typeface="Calibri"/>
                  <a:sym typeface="Calibri"/>
                </a:rPr>
                <a:t>2</a:t>
              </a:r>
              <a:endParaRPr/>
            </a:p>
          </p:txBody>
        </p:sp>
        <p:cxnSp>
          <p:nvCxnSpPr>
            <p:cNvPr id="643" name="Google Shape;643;p38"/>
            <p:cNvCxnSpPr/>
            <p:nvPr/>
          </p:nvCxnSpPr>
          <p:spPr>
            <a:xfrm>
              <a:off x="2640" y="2592"/>
              <a:ext cx="288" cy="0"/>
            </a:xfrm>
            <a:prstGeom prst="straightConnector1">
              <a:avLst/>
            </a:prstGeom>
            <a:noFill/>
            <a:ln cap="flat" cmpd="sng" w="9525">
              <a:solidFill>
                <a:schemeClr val="dk1"/>
              </a:solidFill>
              <a:prstDash val="solid"/>
              <a:round/>
              <a:headEnd len="med" w="med" type="none"/>
              <a:tailEnd len="med" w="med" type="triangle"/>
            </a:ln>
          </p:spPr>
        </p:cxnSp>
      </p:grpSp>
      <p:grpSp>
        <p:nvGrpSpPr>
          <p:cNvPr id="644" name="Google Shape;644;p38"/>
          <p:cNvGrpSpPr/>
          <p:nvPr/>
        </p:nvGrpSpPr>
        <p:grpSpPr>
          <a:xfrm>
            <a:off x="5318131" y="4800601"/>
            <a:ext cx="1416053" cy="1327151"/>
            <a:chOff x="2342" y="2400"/>
            <a:chExt cx="892" cy="836"/>
          </a:xfrm>
        </p:grpSpPr>
        <p:sp>
          <p:nvSpPr>
            <p:cNvPr id="645" name="Google Shape;645;p38"/>
            <p:cNvSpPr/>
            <p:nvPr/>
          </p:nvSpPr>
          <p:spPr>
            <a:xfrm>
              <a:off x="2400" y="2400"/>
              <a:ext cx="384" cy="384"/>
            </a:xfrm>
            <a:prstGeom prst="ellipse">
              <a:avLst/>
            </a:prstGeom>
            <a:solidFill>
              <a:schemeClr val="accent1">
                <a:alpha val="12156"/>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6" name="Google Shape;646;p38"/>
            <p:cNvSpPr txBox="1"/>
            <p:nvPr/>
          </p:nvSpPr>
          <p:spPr>
            <a:xfrm>
              <a:off x="2342" y="2713"/>
              <a:ext cx="892" cy="5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Accepting</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state</a:t>
              </a:r>
              <a:endParaRPr/>
            </a:p>
          </p:txBody>
        </p:sp>
      </p:grpSp>
      <p:sp>
        <p:nvSpPr>
          <p:cNvPr id="647" name="Google Shape;647;p38"/>
          <p:cNvSpPr/>
          <p:nvPr/>
        </p:nvSpPr>
        <p:spPr>
          <a:xfrm flipH="1" rot="-5169902">
            <a:off x="3927577" y="4966629"/>
            <a:ext cx="609598" cy="684212"/>
          </a:xfrm>
          <a:prstGeom prst="arc">
            <a:avLst>
              <a:gd fmla="val 16200000" name="adj1"/>
              <a:gd fmla="val 6010543" name="adj2"/>
            </a:avLst>
          </a:prstGeom>
          <a:noFill/>
          <a:ln cap="flat" cmpd="sng" w="1270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38"/>
          <p:cNvSpPr txBox="1"/>
          <p:nvPr/>
        </p:nvSpPr>
        <p:spPr>
          <a:xfrm>
            <a:off x="4060764" y="529748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xEl>
                                              <p:pRg end="0" st="0"/>
                                            </p:txEl>
                                          </p:spTgt>
                                        </p:tgtEl>
                                        <p:attrNameLst>
                                          <p:attrName>style.visibility</p:attrName>
                                        </p:attrNameLst>
                                      </p:cBhvr>
                                      <p:to>
                                        <p:strVal val="visible"/>
                                      </p:to>
                                    </p:set>
                                    <p:animEffect filter="fade" transition="in">
                                      <p:cBhvr>
                                        <p:cTn dur="500"/>
                                        <p:tgtEl>
                                          <p:spTgt spid="6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xEl>
                                              <p:pRg end="1" st="1"/>
                                            </p:txEl>
                                          </p:spTgt>
                                        </p:tgtEl>
                                        <p:attrNameLst>
                                          <p:attrName>style.visibility</p:attrName>
                                        </p:attrNameLst>
                                      </p:cBhvr>
                                      <p:to>
                                        <p:strVal val="visible"/>
                                      </p:to>
                                    </p:set>
                                    <p:animEffect filter="fade" transition="in">
                                      <p:cBhvr>
                                        <p:cTn dur="500"/>
                                        <p:tgtEl>
                                          <p:spTgt spid="6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xEl>
                                              <p:pRg end="2" st="2"/>
                                            </p:txEl>
                                          </p:spTgt>
                                        </p:tgtEl>
                                        <p:attrNameLst>
                                          <p:attrName>style.visibility</p:attrName>
                                        </p:attrNameLst>
                                      </p:cBhvr>
                                      <p:to>
                                        <p:strVal val="visible"/>
                                      </p:to>
                                    </p:set>
                                    <p:animEffect filter="fade" transition="in">
                                      <p:cBhvr>
                                        <p:cTn dur="500"/>
                                        <p:tgtEl>
                                          <p:spTgt spid="6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xEl>
                                              <p:pRg end="3" st="3"/>
                                            </p:txEl>
                                          </p:spTgt>
                                        </p:tgtEl>
                                        <p:attrNameLst>
                                          <p:attrName>style.visibility</p:attrName>
                                        </p:attrNameLst>
                                      </p:cBhvr>
                                      <p:to>
                                        <p:strVal val="visible"/>
                                      </p:to>
                                    </p:set>
                                    <p:animEffect filter="fade" transition="in">
                                      <p:cBhvr>
                                        <p:cTn dur="500"/>
                                        <p:tgtEl>
                                          <p:spTgt spid="6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9"/>
          <p:cNvSpPr txBox="1"/>
          <p:nvPr>
            <p:ph idx="1" type="body"/>
          </p:nvPr>
        </p:nvSpPr>
        <p:spPr>
          <a:xfrm>
            <a:off x="457200" y="1223151"/>
            <a:ext cx="8229600" cy="2891649"/>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a:t>A </a:t>
            </a:r>
            <a:r>
              <a:rPr i="1" lang="en-US">
                <a:solidFill>
                  <a:srgbClr val="FF0066"/>
                </a:solidFill>
              </a:rPr>
              <a:t>non-deterministic finite automaton</a:t>
            </a:r>
            <a:r>
              <a:rPr lang="en-US"/>
              <a:t>  has the ability to be in several states at once.</a:t>
            </a:r>
            <a:endParaRPr/>
          </a:p>
          <a:p>
            <a:pPr indent="-152400" lvl="0" marL="91440" rtl="0" algn="l">
              <a:lnSpc>
                <a:spcPct val="90000"/>
              </a:lnSpc>
              <a:spcBef>
                <a:spcPts val="1400"/>
              </a:spcBef>
              <a:spcAft>
                <a:spcPts val="0"/>
              </a:spcAft>
              <a:buSzPts val="2400"/>
              <a:buChar char=" "/>
            </a:pPr>
            <a:r>
              <a:rPr lang="en-US"/>
              <a:t>Transitions from a state on an input symbol can be to any set of states.</a:t>
            </a:r>
            <a:endParaRPr/>
          </a:p>
          <a:p>
            <a:pPr indent="-182880" lvl="2" marL="566928" rtl="0" algn="l">
              <a:lnSpc>
                <a:spcPct val="90000"/>
              </a:lnSpc>
              <a:spcBef>
                <a:spcPts val="400"/>
              </a:spcBef>
              <a:spcAft>
                <a:spcPts val="0"/>
              </a:spcAft>
              <a:buSzPts val="2000"/>
              <a:buChar char="•"/>
            </a:pPr>
            <a:r>
              <a:rPr lang="en-US"/>
              <a:t>Implying that the machine can exist in more than one state at the same time</a:t>
            </a:r>
            <a:endParaRPr/>
          </a:p>
          <a:p>
            <a:pPr indent="-182880" lvl="2" marL="566928" rtl="0" algn="l">
              <a:lnSpc>
                <a:spcPct val="90000"/>
              </a:lnSpc>
              <a:spcBef>
                <a:spcPts val="600"/>
              </a:spcBef>
              <a:spcAft>
                <a:spcPts val="0"/>
              </a:spcAft>
              <a:buSzPts val="2000"/>
              <a:buChar char="•"/>
            </a:pPr>
            <a:r>
              <a:rPr lang="en-US"/>
              <a:t>Transitions could be non-deterministic</a:t>
            </a:r>
            <a:endParaRPr/>
          </a:p>
        </p:txBody>
      </p:sp>
      <p:sp>
        <p:nvSpPr>
          <p:cNvPr id="654" name="Google Shape;654;p39"/>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FF0066"/>
              </a:buClr>
              <a:buSzPts val="3200"/>
              <a:buFont typeface="Tahoma"/>
              <a:buNone/>
            </a:pPr>
            <a:r>
              <a:rPr b="1" lang="en-US" sz="3200">
                <a:solidFill>
                  <a:srgbClr val="FF0066"/>
                </a:solidFill>
                <a:latin typeface="Tahoma"/>
                <a:ea typeface="Tahoma"/>
                <a:cs typeface="Tahoma"/>
                <a:sym typeface="Tahoma"/>
              </a:rPr>
              <a:t>Non-deterministic finite automaton (NFA)</a:t>
            </a:r>
            <a:endParaRPr b="1" sz="3200">
              <a:latin typeface="Tahoma"/>
              <a:ea typeface="Tahoma"/>
              <a:cs typeface="Tahoma"/>
              <a:sym typeface="Tahoma"/>
            </a:endParaRPr>
          </a:p>
        </p:txBody>
      </p:sp>
      <p:sp>
        <p:nvSpPr>
          <p:cNvPr id="655" name="Google Shape;655;p3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6" name="Google Shape;656;p39"/>
          <p:cNvSpPr/>
          <p:nvPr/>
        </p:nvSpPr>
        <p:spPr>
          <a:xfrm>
            <a:off x="2225675" y="4608512"/>
            <a:ext cx="457200" cy="457200"/>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i</a:t>
            </a:r>
            <a:endParaRPr/>
          </a:p>
        </p:txBody>
      </p:sp>
      <p:cxnSp>
        <p:nvCxnSpPr>
          <p:cNvPr id="657" name="Google Shape;657;p39"/>
          <p:cNvCxnSpPr/>
          <p:nvPr/>
        </p:nvCxnSpPr>
        <p:spPr>
          <a:xfrm>
            <a:off x="1616075" y="4837112"/>
            <a:ext cx="609600" cy="0"/>
          </a:xfrm>
          <a:prstGeom prst="straightConnector1">
            <a:avLst/>
          </a:prstGeom>
          <a:noFill/>
          <a:ln cap="flat" cmpd="sng" w="9525">
            <a:solidFill>
              <a:srgbClr val="000000"/>
            </a:solidFill>
            <a:prstDash val="solid"/>
            <a:round/>
            <a:headEnd len="med" w="med" type="none"/>
            <a:tailEnd len="med" w="med" type="triangle"/>
          </a:ln>
        </p:spPr>
      </p:cxnSp>
      <p:cxnSp>
        <p:nvCxnSpPr>
          <p:cNvPr id="658" name="Google Shape;658;p39"/>
          <p:cNvCxnSpPr/>
          <p:nvPr/>
        </p:nvCxnSpPr>
        <p:spPr>
          <a:xfrm flipH="1" rot="10800000">
            <a:off x="2682875" y="4608512"/>
            <a:ext cx="990600" cy="228600"/>
          </a:xfrm>
          <a:prstGeom prst="straightConnector1">
            <a:avLst/>
          </a:prstGeom>
          <a:noFill/>
          <a:ln cap="flat" cmpd="sng" w="9525">
            <a:solidFill>
              <a:srgbClr val="000000"/>
            </a:solidFill>
            <a:prstDash val="solid"/>
            <a:round/>
            <a:headEnd len="med" w="med" type="none"/>
            <a:tailEnd len="med" w="med" type="triangle"/>
          </a:ln>
        </p:spPr>
      </p:cxnSp>
      <p:cxnSp>
        <p:nvCxnSpPr>
          <p:cNvPr id="659" name="Google Shape;659;p39"/>
          <p:cNvCxnSpPr/>
          <p:nvPr/>
        </p:nvCxnSpPr>
        <p:spPr>
          <a:xfrm>
            <a:off x="2682875" y="4913312"/>
            <a:ext cx="990600" cy="457200"/>
          </a:xfrm>
          <a:prstGeom prst="straightConnector1">
            <a:avLst/>
          </a:prstGeom>
          <a:noFill/>
          <a:ln cap="flat" cmpd="sng" w="9525">
            <a:solidFill>
              <a:srgbClr val="000000"/>
            </a:solidFill>
            <a:prstDash val="solid"/>
            <a:round/>
            <a:headEnd len="med" w="med" type="none"/>
            <a:tailEnd len="med" w="med" type="triangle"/>
          </a:ln>
        </p:spPr>
      </p:cxnSp>
      <p:sp>
        <p:nvSpPr>
          <p:cNvPr id="660" name="Google Shape;660;p39"/>
          <p:cNvSpPr txBox="1"/>
          <p:nvPr/>
        </p:nvSpPr>
        <p:spPr>
          <a:xfrm>
            <a:off x="2895600" y="4343400"/>
            <a:ext cx="354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1</a:t>
            </a:r>
            <a:endParaRPr/>
          </a:p>
        </p:txBody>
      </p:sp>
      <p:sp>
        <p:nvSpPr>
          <p:cNvPr id="661" name="Google Shape;661;p39"/>
          <p:cNvSpPr txBox="1"/>
          <p:nvPr/>
        </p:nvSpPr>
        <p:spPr>
          <a:xfrm>
            <a:off x="2911475" y="4989512"/>
            <a:ext cx="354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1</a:t>
            </a:r>
            <a:endParaRPr/>
          </a:p>
        </p:txBody>
      </p:sp>
      <p:sp>
        <p:nvSpPr>
          <p:cNvPr id="662" name="Google Shape;662;p39"/>
          <p:cNvSpPr/>
          <p:nvPr/>
        </p:nvSpPr>
        <p:spPr>
          <a:xfrm>
            <a:off x="3673475" y="4379912"/>
            <a:ext cx="457200" cy="457200"/>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j</a:t>
            </a:r>
            <a:endParaRPr/>
          </a:p>
        </p:txBody>
      </p:sp>
      <p:sp>
        <p:nvSpPr>
          <p:cNvPr id="663" name="Google Shape;663;p39"/>
          <p:cNvSpPr/>
          <p:nvPr/>
        </p:nvSpPr>
        <p:spPr>
          <a:xfrm>
            <a:off x="3673475" y="5141912"/>
            <a:ext cx="457200" cy="457200"/>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k</a:t>
            </a:r>
            <a:endParaRPr b="0" baseline="-25000" i="0" sz="2400" u="none" cap="none" strike="noStrike">
              <a:solidFill>
                <a:srgbClr val="000000"/>
              </a:solidFill>
              <a:latin typeface="Arial"/>
              <a:ea typeface="Arial"/>
              <a:cs typeface="Arial"/>
              <a:sym typeface="Arial"/>
            </a:endParaRPr>
          </a:p>
        </p:txBody>
      </p:sp>
      <p:sp>
        <p:nvSpPr>
          <p:cNvPr id="664" name="Google Shape;664;p39"/>
          <p:cNvSpPr txBox="1"/>
          <p:nvPr/>
        </p:nvSpPr>
        <p:spPr>
          <a:xfrm>
            <a:off x="4587875" y="4681537"/>
            <a:ext cx="3744913" cy="641350"/>
          </a:xfrm>
          <a:prstGeom prst="rect">
            <a:avLst/>
          </a:prstGeom>
          <a:solidFill>
            <a:srgbClr val="CCFFCC"/>
          </a:solid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000000"/>
              </a:buClr>
              <a:buSzPts val="1800"/>
              <a:buFont typeface="Arial"/>
              <a:buChar char="•"/>
            </a:pPr>
            <a:r>
              <a:rPr lang="en-US" sz="1800">
                <a:solidFill>
                  <a:srgbClr val="000000"/>
                </a:solidFill>
                <a:latin typeface="Arial"/>
                <a:ea typeface="Arial"/>
                <a:cs typeface="Arial"/>
                <a:sym typeface="Arial"/>
              </a:rPr>
              <a:t> Each transition function therefore </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maps to a </a:t>
            </a:r>
            <a:r>
              <a:rPr lang="en-US" sz="1800" u="sng">
                <a:solidFill>
                  <a:srgbClr val="000000"/>
                </a:solidFill>
                <a:latin typeface="Arial"/>
                <a:ea typeface="Arial"/>
                <a:cs typeface="Arial"/>
                <a:sym typeface="Arial"/>
              </a:rPr>
              <a:t>set</a:t>
            </a:r>
            <a:r>
              <a:rPr lang="en-US" sz="1800">
                <a:solidFill>
                  <a:srgbClr val="000000"/>
                </a:solidFill>
                <a:latin typeface="Arial"/>
                <a:ea typeface="Arial"/>
                <a:cs typeface="Arial"/>
                <a:sym typeface="Arial"/>
              </a:rPr>
              <a:t> of states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0"/>
          <p:cNvSpPr txBox="1"/>
          <p:nvPr>
            <p:ph idx="1" type="body"/>
          </p:nvPr>
        </p:nvSpPr>
        <p:spPr>
          <a:xfrm>
            <a:off x="457200" y="1223151"/>
            <a:ext cx="8229600" cy="4872849"/>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US" sz="2800"/>
              <a:t>A </a:t>
            </a:r>
            <a:r>
              <a:rPr lang="en-US" sz="2800">
                <a:solidFill>
                  <a:srgbClr val="006600"/>
                </a:solidFill>
              </a:rPr>
              <a:t>Non-deterministic </a:t>
            </a:r>
            <a:r>
              <a:rPr lang="en-US" sz="2800">
                <a:solidFill>
                  <a:schemeClr val="dk2"/>
                </a:solidFill>
              </a:rPr>
              <a:t>Finite Automaton (</a:t>
            </a:r>
            <a:r>
              <a:rPr lang="en-US" sz="2800">
                <a:solidFill>
                  <a:srgbClr val="006600"/>
                </a:solidFill>
              </a:rPr>
              <a:t>NFA</a:t>
            </a:r>
            <a:r>
              <a:rPr lang="en-US" sz="2800">
                <a:solidFill>
                  <a:schemeClr val="dk2"/>
                </a:solidFill>
              </a:rPr>
              <a:t>)</a:t>
            </a:r>
            <a:r>
              <a:rPr lang="en-US" sz="2800"/>
              <a:t> consists of:</a:t>
            </a:r>
            <a:endParaRPr/>
          </a:p>
          <a:p>
            <a:pPr indent="-182880" lvl="1" marL="384048" rtl="0" algn="l">
              <a:lnSpc>
                <a:spcPct val="90000"/>
              </a:lnSpc>
              <a:spcBef>
                <a:spcPts val="400"/>
              </a:spcBef>
              <a:spcAft>
                <a:spcPts val="0"/>
              </a:spcAft>
              <a:buSzPts val="2400"/>
              <a:buChar char="▪"/>
            </a:pPr>
            <a:r>
              <a:rPr lang="en-US" sz="2400"/>
              <a:t>Q ==&gt; a finite set of states</a:t>
            </a:r>
            <a:endParaRPr/>
          </a:p>
          <a:p>
            <a:pPr indent="-182880" lvl="1" marL="384048" rtl="0" algn="l">
              <a:lnSpc>
                <a:spcPct val="90000"/>
              </a:lnSpc>
              <a:spcBef>
                <a:spcPts val="600"/>
              </a:spcBef>
              <a:spcAft>
                <a:spcPts val="0"/>
              </a:spcAft>
              <a:buSzPts val="2400"/>
              <a:buChar char="▪"/>
            </a:pPr>
            <a:r>
              <a:rPr lang="en-US" sz="2400"/>
              <a:t>∑ ==&gt; a finite set of input symbols (alphabet)</a:t>
            </a:r>
            <a:endParaRPr/>
          </a:p>
          <a:p>
            <a:pPr indent="-182880" lvl="1" marL="384048" rtl="0" algn="l">
              <a:lnSpc>
                <a:spcPct val="90000"/>
              </a:lnSpc>
              <a:spcBef>
                <a:spcPts val="600"/>
              </a:spcBef>
              <a:spcAft>
                <a:spcPts val="0"/>
              </a:spcAft>
              <a:buSzPts val="2400"/>
              <a:buChar char="▪"/>
            </a:pPr>
            <a:r>
              <a:rPr lang="en-US" sz="2400"/>
              <a:t>q</a:t>
            </a:r>
            <a:r>
              <a:rPr baseline="-25000" lang="en-US" sz="2400"/>
              <a:t>0</a:t>
            </a:r>
            <a:r>
              <a:rPr lang="en-US" sz="2400"/>
              <a:t> ==&gt; a start state</a:t>
            </a:r>
            <a:endParaRPr/>
          </a:p>
          <a:p>
            <a:pPr indent="-182880" lvl="1" marL="384048" rtl="0" algn="l">
              <a:lnSpc>
                <a:spcPct val="90000"/>
              </a:lnSpc>
              <a:spcBef>
                <a:spcPts val="600"/>
              </a:spcBef>
              <a:spcAft>
                <a:spcPts val="0"/>
              </a:spcAft>
              <a:buSzPts val="2400"/>
              <a:buChar char="▪"/>
            </a:pPr>
            <a:r>
              <a:rPr lang="en-US" sz="2400"/>
              <a:t>F ==&gt; set of accepting states </a:t>
            </a:r>
            <a:endParaRPr/>
          </a:p>
          <a:p>
            <a:pPr indent="-182880" lvl="1" marL="384048" rtl="0" algn="l">
              <a:lnSpc>
                <a:spcPct val="90000"/>
              </a:lnSpc>
              <a:spcBef>
                <a:spcPts val="600"/>
              </a:spcBef>
              <a:spcAft>
                <a:spcPts val="0"/>
              </a:spcAft>
              <a:buSzPts val="2400"/>
              <a:buChar char="▪"/>
            </a:pPr>
            <a:r>
              <a:rPr lang="en-US" sz="2400">
                <a:latin typeface="Merriweather Sans"/>
                <a:ea typeface="Merriweather Sans"/>
                <a:cs typeface="Merriweather Sans"/>
                <a:sym typeface="Merriweather Sans"/>
              </a:rPr>
              <a:t>δ </a:t>
            </a:r>
            <a:r>
              <a:rPr lang="en-US" sz="2400"/>
              <a:t>==&gt; a transition function, which is a mapping between Q x ∑ ==&gt; </a:t>
            </a:r>
            <a:r>
              <a:rPr lang="en-US" sz="2400">
                <a:solidFill>
                  <a:schemeClr val="hlink"/>
                </a:solidFill>
              </a:rPr>
              <a:t>subset of</a:t>
            </a:r>
            <a:r>
              <a:rPr lang="en-US" sz="2400"/>
              <a:t> Q</a:t>
            </a:r>
            <a:endParaRPr/>
          </a:p>
          <a:p>
            <a:pPr indent="-177800" lvl="0" marL="91440" rtl="0" algn="l">
              <a:lnSpc>
                <a:spcPct val="90000"/>
              </a:lnSpc>
              <a:spcBef>
                <a:spcPts val="1600"/>
              </a:spcBef>
              <a:spcAft>
                <a:spcPts val="0"/>
              </a:spcAft>
              <a:buSzPts val="2800"/>
              <a:buChar char=" "/>
            </a:pPr>
            <a:r>
              <a:rPr lang="en-US" sz="2800"/>
              <a:t>An NFA is also defined by the 5-tuple: </a:t>
            </a:r>
            <a:endParaRPr/>
          </a:p>
          <a:p>
            <a:pPr indent="-182880" lvl="1" marL="384048" rtl="0" algn="l">
              <a:lnSpc>
                <a:spcPct val="90000"/>
              </a:lnSpc>
              <a:spcBef>
                <a:spcPts val="400"/>
              </a:spcBef>
              <a:spcAft>
                <a:spcPts val="0"/>
              </a:spcAft>
              <a:buSzPts val="2400"/>
              <a:buChar char="▪"/>
            </a:pPr>
            <a:r>
              <a:rPr lang="en-US" sz="2400">
                <a:solidFill>
                  <a:schemeClr val="dk2"/>
                </a:solidFill>
              </a:rPr>
              <a:t>{Q, ∑ , q</a:t>
            </a:r>
            <a:r>
              <a:rPr baseline="-25000" lang="en-US" sz="2400">
                <a:solidFill>
                  <a:schemeClr val="dk2"/>
                </a:solidFill>
              </a:rPr>
              <a:t>0</a:t>
            </a:r>
            <a:r>
              <a:rPr lang="en-US" sz="2400">
                <a:solidFill>
                  <a:schemeClr val="dk2"/>
                </a:solidFill>
              </a:rPr>
              <a:t>,F, </a:t>
            </a:r>
            <a:r>
              <a:rPr lang="en-US" sz="2400">
                <a:solidFill>
                  <a:schemeClr val="folHlink"/>
                </a:solidFill>
                <a:latin typeface="Merriweather Sans"/>
                <a:ea typeface="Merriweather Sans"/>
                <a:cs typeface="Merriweather Sans"/>
                <a:sym typeface="Merriweather Sans"/>
              </a:rPr>
              <a:t>δ</a:t>
            </a:r>
            <a:r>
              <a:rPr lang="en-US" sz="2400">
                <a:solidFill>
                  <a:schemeClr val="dk2"/>
                </a:solidFill>
              </a:rPr>
              <a:t> }</a:t>
            </a:r>
            <a:endParaRPr/>
          </a:p>
          <a:p>
            <a:pPr indent="0" lvl="0" marL="91440" rtl="0" algn="l">
              <a:lnSpc>
                <a:spcPct val="90000"/>
              </a:lnSpc>
              <a:spcBef>
                <a:spcPts val="1600"/>
              </a:spcBef>
              <a:spcAft>
                <a:spcPts val="0"/>
              </a:spcAft>
              <a:buSzPts val="2400"/>
              <a:buNone/>
            </a:pPr>
            <a:r>
              <a:t/>
            </a:r>
            <a:endParaRPr/>
          </a:p>
        </p:txBody>
      </p:sp>
      <p:sp>
        <p:nvSpPr>
          <p:cNvPr id="670" name="Google Shape;670;p40"/>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Calibri"/>
              <a:buNone/>
            </a:pPr>
            <a:r>
              <a:rPr lang="en-US">
                <a:solidFill>
                  <a:schemeClr val="dk1"/>
                </a:solidFill>
              </a:rPr>
              <a:t>NFA</a:t>
            </a:r>
            <a:endParaRPr>
              <a:solidFill>
                <a:schemeClr val="dk1"/>
              </a:solidFill>
            </a:endParaRPr>
          </a:p>
        </p:txBody>
      </p:sp>
      <p:sp>
        <p:nvSpPr>
          <p:cNvPr id="671" name="Google Shape;671;p4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1"/>
          <p:cNvSpPr txBox="1"/>
          <p:nvPr>
            <p:ph idx="1" type="body"/>
          </p:nvPr>
        </p:nvSpPr>
        <p:spPr>
          <a:xfrm>
            <a:off x="533400" y="1397371"/>
            <a:ext cx="8229600" cy="104103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lang="en-US"/>
              <a:t>An NFA accepting all strings that ends in 01.</a:t>
            </a:r>
            <a:endParaRPr/>
          </a:p>
        </p:txBody>
      </p:sp>
      <p:sp>
        <p:nvSpPr>
          <p:cNvPr id="677" name="Google Shape;677;p41"/>
          <p:cNvSpPr txBox="1"/>
          <p:nvPr>
            <p:ph type="title"/>
          </p:nvPr>
        </p:nvSpPr>
        <p:spPr>
          <a:xfrm>
            <a:off x="443753" y="2286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006600"/>
              </a:buClr>
              <a:buSzPts val="4800"/>
              <a:buFont typeface="Calibri"/>
              <a:buNone/>
            </a:pPr>
            <a:r>
              <a:rPr lang="en-US">
                <a:solidFill>
                  <a:srgbClr val="006600"/>
                </a:solidFill>
              </a:rPr>
              <a:t>Example # 4</a:t>
            </a:r>
            <a:endParaRPr/>
          </a:p>
        </p:txBody>
      </p:sp>
      <p:sp>
        <p:nvSpPr>
          <p:cNvPr id="678" name="Google Shape;678;p4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679" name="Google Shape;679;p41"/>
          <p:cNvGrpSpPr/>
          <p:nvPr/>
        </p:nvGrpSpPr>
        <p:grpSpPr>
          <a:xfrm>
            <a:off x="779907" y="3944938"/>
            <a:ext cx="1371600" cy="609600"/>
            <a:chOff x="624" y="2352"/>
            <a:chExt cx="864" cy="384"/>
          </a:xfrm>
        </p:grpSpPr>
        <p:sp>
          <p:nvSpPr>
            <p:cNvPr id="680" name="Google Shape;680;p41"/>
            <p:cNvSpPr/>
            <p:nvPr/>
          </p:nvSpPr>
          <p:spPr>
            <a:xfrm>
              <a:off x="1200" y="2448"/>
              <a:ext cx="288" cy="288"/>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0</a:t>
              </a:r>
              <a:endParaRPr/>
            </a:p>
          </p:txBody>
        </p:sp>
        <p:cxnSp>
          <p:nvCxnSpPr>
            <p:cNvPr id="681" name="Google Shape;681;p41"/>
            <p:cNvCxnSpPr/>
            <p:nvPr/>
          </p:nvCxnSpPr>
          <p:spPr>
            <a:xfrm>
              <a:off x="816" y="2592"/>
              <a:ext cx="384" cy="0"/>
            </a:xfrm>
            <a:prstGeom prst="straightConnector1">
              <a:avLst/>
            </a:prstGeom>
            <a:noFill/>
            <a:ln cap="flat" cmpd="sng" w="9525">
              <a:solidFill>
                <a:srgbClr val="000000"/>
              </a:solidFill>
              <a:prstDash val="solid"/>
              <a:round/>
              <a:headEnd len="med" w="med" type="none"/>
              <a:tailEnd len="med" w="med" type="triangle"/>
            </a:ln>
          </p:spPr>
        </p:cxnSp>
        <p:sp>
          <p:nvSpPr>
            <p:cNvPr id="682" name="Google Shape;682;p41"/>
            <p:cNvSpPr txBox="1"/>
            <p:nvPr/>
          </p:nvSpPr>
          <p:spPr>
            <a:xfrm>
              <a:off x="624" y="2352"/>
              <a:ext cx="489"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start</a:t>
              </a:r>
              <a:endParaRPr/>
            </a:p>
          </p:txBody>
        </p:sp>
      </p:grpSp>
      <p:grpSp>
        <p:nvGrpSpPr>
          <p:cNvPr id="683" name="Google Shape;683;p41"/>
          <p:cNvGrpSpPr/>
          <p:nvPr/>
        </p:nvGrpSpPr>
        <p:grpSpPr>
          <a:xfrm>
            <a:off x="2151507" y="3908426"/>
            <a:ext cx="990600" cy="646112"/>
            <a:chOff x="2016" y="2329"/>
            <a:chExt cx="624" cy="407"/>
          </a:xfrm>
        </p:grpSpPr>
        <p:cxnSp>
          <p:nvCxnSpPr>
            <p:cNvPr id="684" name="Google Shape;684;p41"/>
            <p:cNvCxnSpPr/>
            <p:nvPr/>
          </p:nvCxnSpPr>
          <p:spPr>
            <a:xfrm>
              <a:off x="2016" y="2592"/>
              <a:ext cx="336" cy="0"/>
            </a:xfrm>
            <a:prstGeom prst="straightConnector1">
              <a:avLst/>
            </a:prstGeom>
            <a:noFill/>
            <a:ln cap="flat" cmpd="sng" w="9525">
              <a:solidFill>
                <a:srgbClr val="000000"/>
              </a:solidFill>
              <a:prstDash val="solid"/>
              <a:round/>
              <a:headEnd len="med" w="med" type="none"/>
              <a:tailEnd len="med" w="med" type="triangle"/>
            </a:ln>
          </p:spPr>
        </p:cxnSp>
        <p:sp>
          <p:nvSpPr>
            <p:cNvPr id="685" name="Google Shape;685;p41"/>
            <p:cNvSpPr/>
            <p:nvPr/>
          </p:nvSpPr>
          <p:spPr>
            <a:xfrm>
              <a:off x="2352" y="2448"/>
              <a:ext cx="288" cy="288"/>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1</a:t>
              </a:r>
              <a:endParaRPr/>
            </a:p>
          </p:txBody>
        </p:sp>
        <p:sp>
          <p:nvSpPr>
            <p:cNvPr id="686" name="Google Shape;686;p41"/>
            <p:cNvSpPr txBox="1"/>
            <p:nvPr/>
          </p:nvSpPr>
          <p:spPr>
            <a:xfrm>
              <a:off x="2054" y="2329"/>
              <a:ext cx="223"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0</a:t>
              </a:r>
              <a:endParaRPr/>
            </a:p>
          </p:txBody>
        </p:sp>
      </p:grpSp>
      <p:grpSp>
        <p:nvGrpSpPr>
          <p:cNvPr id="687" name="Google Shape;687;p41"/>
          <p:cNvGrpSpPr/>
          <p:nvPr/>
        </p:nvGrpSpPr>
        <p:grpSpPr>
          <a:xfrm>
            <a:off x="1541907" y="3375026"/>
            <a:ext cx="608013" cy="722312"/>
            <a:chOff x="1752600" y="3163888"/>
            <a:chExt cx="608013" cy="722312"/>
          </a:xfrm>
        </p:grpSpPr>
        <p:sp>
          <p:nvSpPr>
            <p:cNvPr id="688" name="Google Shape;688;p41"/>
            <p:cNvSpPr/>
            <p:nvPr/>
          </p:nvSpPr>
          <p:spPr>
            <a:xfrm>
              <a:off x="1879600" y="3568700"/>
              <a:ext cx="419100" cy="317500"/>
            </a:xfrm>
            <a:custGeom>
              <a:rect b="b" l="l" r="r" t="t"/>
              <a:pathLst>
                <a:path extrusionOk="0" h="200" w="264">
                  <a:moveTo>
                    <a:pt x="64" y="200"/>
                  </a:moveTo>
                  <a:cubicBezTo>
                    <a:pt x="32" y="144"/>
                    <a:pt x="0" y="88"/>
                    <a:pt x="16" y="56"/>
                  </a:cubicBezTo>
                  <a:cubicBezTo>
                    <a:pt x="32" y="24"/>
                    <a:pt x="120" y="0"/>
                    <a:pt x="160" y="8"/>
                  </a:cubicBezTo>
                  <a:cubicBezTo>
                    <a:pt x="200" y="16"/>
                    <a:pt x="248" y="72"/>
                    <a:pt x="256" y="104"/>
                  </a:cubicBezTo>
                  <a:cubicBezTo>
                    <a:pt x="264" y="136"/>
                    <a:pt x="236" y="168"/>
                    <a:pt x="208" y="20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689" name="Google Shape;689;p41"/>
            <p:cNvSpPr txBox="1"/>
            <p:nvPr/>
          </p:nvSpPr>
          <p:spPr>
            <a:xfrm>
              <a:off x="1752600" y="3163888"/>
              <a:ext cx="6080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0</a:t>
              </a:r>
              <a:r>
                <a:rPr b="0" i="0" lang="en-US" sz="2400" u="none" cap="none" strike="noStrike">
                  <a:solidFill>
                    <a:srgbClr val="000000"/>
                  </a:solidFill>
                  <a:latin typeface="Arial"/>
                  <a:ea typeface="Arial"/>
                  <a:cs typeface="Arial"/>
                  <a:sym typeface="Arial"/>
                </a:rPr>
                <a:t>,1</a:t>
              </a:r>
              <a:endParaRPr/>
            </a:p>
          </p:txBody>
        </p:sp>
      </p:grpSp>
      <p:grpSp>
        <p:nvGrpSpPr>
          <p:cNvPr id="690" name="Google Shape;690;p41"/>
          <p:cNvGrpSpPr/>
          <p:nvPr/>
        </p:nvGrpSpPr>
        <p:grpSpPr>
          <a:xfrm>
            <a:off x="3142107" y="3868738"/>
            <a:ext cx="990600" cy="685800"/>
            <a:chOff x="2640" y="2304"/>
            <a:chExt cx="624" cy="432"/>
          </a:xfrm>
        </p:grpSpPr>
        <p:sp>
          <p:nvSpPr>
            <p:cNvPr id="691" name="Google Shape;691;p41"/>
            <p:cNvSpPr txBox="1"/>
            <p:nvPr/>
          </p:nvSpPr>
          <p:spPr>
            <a:xfrm>
              <a:off x="2688" y="2304"/>
              <a:ext cx="223"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a:t>
              </a:r>
              <a:endParaRPr/>
            </a:p>
          </p:txBody>
        </p:sp>
        <p:sp>
          <p:nvSpPr>
            <p:cNvPr id="692" name="Google Shape;692;p41"/>
            <p:cNvSpPr/>
            <p:nvPr/>
          </p:nvSpPr>
          <p:spPr>
            <a:xfrm>
              <a:off x="2976" y="2448"/>
              <a:ext cx="288" cy="288"/>
            </a:xfrm>
            <a:prstGeom prst="ellipse">
              <a:avLst/>
            </a:prstGeom>
            <a:solidFill>
              <a:srgbClr val="00E4A8"/>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q</a:t>
              </a:r>
              <a:r>
                <a:rPr b="0" baseline="-25000" i="0" lang="en-US" sz="2400" u="none" cap="none" strike="noStrike">
                  <a:solidFill>
                    <a:srgbClr val="000000"/>
                  </a:solidFill>
                  <a:latin typeface="Arial"/>
                  <a:ea typeface="Arial"/>
                  <a:cs typeface="Arial"/>
                  <a:sym typeface="Arial"/>
                </a:rPr>
                <a:t>2</a:t>
              </a:r>
              <a:endParaRPr/>
            </a:p>
          </p:txBody>
        </p:sp>
        <p:cxnSp>
          <p:nvCxnSpPr>
            <p:cNvPr id="693" name="Google Shape;693;p41"/>
            <p:cNvCxnSpPr/>
            <p:nvPr/>
          </p:nvCxnSpPr>
          <p:spPr>
            <a:xfrm>
              <a:off x="2640" y="2592"/>
              <a:ext cx="288" cy="0"/>
            </a:xfrm>
            <a:prstGeom prst="straightConnector1">
              <a:avLst/>
            </a:prstGeom>
            <a:noFill/>
            <a:ln cap="flat" cmpd="sng" w="9525">
              <a:solidFill>
                <a:srgbClr val="000000"/>
              </a:solidFill>
              <a:prstDash val="solid"/>
              <a:round/>
              <a:headEnd len="med" w="med" type="none"/>
              <a:tailEnd len="med" w="med" type="triangle"/>
            </a:ln>
          </p:spPr>
        </p:cxnSp>
      </p:grpSp>
      <p:grpSp>
        <p:nvGrpSpPr>
          <p:cNvPr id="694" name="Google Shape;694;p41"/>
          <p:cNvGrpSpPr/>
          <p:nvPr/>
        </p:nvGrpSpPr>
        <p:grpSpPr>
          <a:xfrm>
            <a:off x="3499282" y="4024863"/>
            <a:ext cx="952500" cy="1373188"/>
            <a:chOff x="2342" y="2448"/>
            <a:chExt cx="600" cy="865"/>
          </a:xfrm>
        </p:grpSpPr>
        <p:sp>
          <p:nvSpPr>
            <p:cNvPr id="695" name="Google Shape;695;p41"/>
            <p:cNvSpPr/>
            <p:nvPr/>
          </p:nvSpPr>
          <p:spPr>
            <a:xfrm>
              <a:off x="2416" y="2448"/>
              <a:ext cx="300" cy="300"/>
            </a:xfrm>
            <a:prstGeom prst="ellipse">
              <a:avLst/>
            </a:prstGeom>
            <a:solidFill>
              <a:srgbClr val="00E4A8">
                <a:alpha val="12156"/>
              </a:srgbClr>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696" name="Google Shape;696;p41"/>
            <p:cNvSpPr txBox="1"/>
            <p:nvPr/>
          </p:nvSpPr>
          <p:spPr>
            <a:xfrm>
              <a:off x="2342" y="2713"/>
              <a:ext cx="600" cy="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Final</a:t>
              </a:r>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state</a:t>
              </a:r>
              <a:endParaRPr/>
            </a:p>
          </p:txBody>
        </p:sp>
      </p:grpSp>
      <p:sp>
        <p:nvSpPr>
          <p:cNvPr id="697" name="Google Shape;697;p41"/>
          <p:cNvSpPr txBox="1"/>
          <p:nvPr/>
        </p:nvSpPr>
        <p:spPr>
          <a:xfrm>
            <a:off x="228600" y="2590800"/>
            <a:ext cx="3284538" cy="366713"/>
          </a:xfrm>
          <a:prstGeom prst="rect">
            <a:avLst/>
          </a:prstGeom>
          <a:solidFill>
            <a:srgbClr val="CCFF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Why is this non-deterministic? </a:t>
            </a:r>
            <a:endParaRPr/>
          </a:p>
        </p:txBody>
      </p:sp>
      <p:grpSp>
        <p:nvGrpSpPr>
          <p:cNvPr id="698" name="Google Shape;698;p41"/>
          <p:cNvGrpSpPr/>
          <p:nvPr/>
        </p:nvGrpSpPr>
        <p:grpSpPr>
          <a:xfrm>
            <a:off x="4808982" y="2192338"/>
            <a:ext cx="3733800" cy="3657600"/>
            <a:chOff x="4808982" y="2192338"/>
            <a:chExt cx="3733800" cy="3657600"/>
          </a:xfrm>
        </p:grpSpPr>
        <p:grpSp>
          <p:nvGrpSpPr>
            <p:cNvPr id="699" name="Google Shape;699;p41"/>
            <p:cNvGrpSpPr/>
            <p:nvPr/>
          </p:nvGrpSpPr>
          <p:grpSpPr>
            <a:xfrm>
              <a:off x="4808982" y="2192338"/>
              <a:ext cx="3733800" cy="3657600"/>
              <a:chOff x="2880" y="1680"/>
              <a:chExt cx="2352" cy="2304"/>
            </a:xfrm>
          </p:grpSpPr>
          <p:cxnSp>
            <p:nvCxnSpPr>
              <p:cNvPr id="700" name="Google Shape;700;p41"/>
              <p:cNvCxnSpPr/>
              <p:nvPr/>
            </p:nvCxnSpPr>
            <p:spPr>
              <a:xfrm>
                <a:off x="2880" y="1728"/>
                <a:ext cx="0" cy="2160"/>
              </a:xfrm>
              <a:prstGeom prst="straightConnector1">
                <a:avLst/>
              </a:prstGeom>
              <a:noFill/>
              <a:ln cap="flat" cmpd="sng" w="9525">
                <a:solidFill>
                  <a:srgbClr val="000000"/>
                </a:solidFill>
                <a:prstDash val="solid"/>
                <a:round/>
                <a:headEnd len="med" w="med" type="none"/>
                <a:tailEnd len="med" w="med" type="none"/>
              </a:ln>
            </p:spPr>
          </p:cxnSp>
          <p:sp>
            <p:nvSpPr>
              <p:cNvPr id="701" name="Google Shape;701;p41"/>
              <p:cNvSpPr txBox="1"/>
              <p:nvPr/>
            </p:nvSpPr>
            <p:spPr>
              <a:xfrm>
                <a:off x="3216" y="1680"/>
                <a:ext cx="2016" cy="1328"/>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a:t>
                </a:r>
                <a:r>
                  <a:rPr b="0" i="0" lang="en-US" sz="1800" u="none" cap="none" strike="noStrike">
                    <a:solidFill>
                      <a:srgbClr val="000000"/>
                    </a:solidFill>
                    <a:latin typeface="Arial"/>
                    <a:ea typeface="Arial"/>
                    <a:cs typeface="Arial"/>
                    <a:sym typeface="Arial"/>
                  </a:rPr>
                  <a:t>Q = {q</a:t>
                </a:r>
                <a:r>
                  <a:rPr b="0" baseline="-25000" i="0" lang="en-US" sz="1800" u="none" cap="none" strike="noStrike">
                    <a:solidFill>
                      <a:srgbClr val="000000"/>
                    </a:solidFill>
                    <a:latin typeface="Arial"/>
                    <a:ea typeface="Arial"/>
                    <a:cs typeface="Arial"/>
                    <a:sym typeface="Arial"/>
                  </a:rPr>
                  <a:t>0</a:t>
                </a:r>
                <a:r>
                  <a:rPr b="0" i="0" lang="en-US" sz="1800" u="none" cap="none" strike="noStrike">
                    <a:solidFill>
                      <a:srgbClr val="000000"/>
                    </a:solidFill>
                    <a:latin typeface="Arial"/>
                    <a:ea typeface="Arial"/>
                    <a:cs typeface="Arial"/>
                    <a:sym typeface="Arial"/>
                  </a:rPr>
                  <a:t>,q</a:t>
                </a:r>
                <a:r>
                  <a:rPr b="0" baseline="-25000" i="0" lang="en-US" sz="1800" u="none" cap="none" strike="noStrike">
                    <a:solidFill>
                      <a:srgbClr val="000000"/>
                    </a:solidFill>
                    <a:latin typeface="Arial"/>
                    <a:ea typeface="Arial"/>
                    <a:cs typeface="Arial"/>
                    <a:sym typeface="Arial"/>
                  </a:rPr>
                  <a:t>1</a:t>
                </a:r>
                <a:r>
                  <a:rPr b="0" i="0" lang="en-US" sz="1800" u="none" cap="none" strike="noStrike">
                    <a:solidFill>
                      <a:srgbClr val="000000"/>
                    </a:solidFill>
                    <a:latin typeface="Arial"/>
                    <a:ea typeface="Arial"/>
                    <a:cs typeface="Arial"/>
                    <a:sym typeface="Arial"/>
                  </a:rPr>
                  <a:t>,q</a:t>
                </a:r>
                <a:r>
                  <a:rPr b="0" baseline="-25000" i="0" lang="en-US" sz="1800" u="none" cap="none" strike="noStrike">
                    <a:solidFill>
                      <a:srgbClr val="000000"/>
                    </a:solidFill>
                    <a:latin typeface="Arial"/>
                    <a:ea typeface="Arial"/>
                    <a:cs typeface="Arial"/>
                    <a:sym typeface="Arial"/>
                  </a:rPr>
                  <a:t>2</a:t>
                </a:r>
                <a:r>
                  <a:rPr b="0" i="0" lang="en-US" sz="1800" u="none" cap="none" strike="noStrike">
                    <a:solidFill>
                      <a:srgbClr val="000000"/>
                    </a:solidFill>
                    <a:latin typeface="Arial"/>
                    <a:ea typeface="Arial"/>
                    <a:cs typeface="Arial"/>
                    <a:sym typeface="Arial"/>
                  </a:rPr>
                  <a:t>}</a:t>
                </a:r>
                <a:endParaRPr/>
              </a:p>
              <a:p>
                <a:pPr indent="-114300" lvl="0" marL="0" marR="0" rtl="0" algn="l">
                  <a:lnSpc>
                    <a:spcPct val="100000"/>
                  </a:lnSpc>
                  <a:spcBef>
                    <a:spcPts val="9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Σ = {0,1}</a:t>
                </a:r>
                <a:endParaRPr/>
              </a:p>
              <a:p>
                <a:pPr indent="-114300" lvl="0" marL="0" marR="0" rtl="0" algn="l">
                  <a:lnSpc>
                    <a:spcPct val="100000"/>
                  </a:lnSpc>
                  <a:spcBef>
                    <a:spcPts val="9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start state = q</a:t>
                </a:r>
                <a:r>
                  <a:rPr b="0" baseline="-25000" i="0" lang="en-US" sz="1800" u="none" cap="none" strike="noStrike">
                    <a:solidFill>
                      <a:srgbClr val="000000"/>
                    </a:solidFill>
                    <a:latin typeface="Arial"/>
                    <a:ea typeface="Arial"/>
                    <a:cs typeface="Arial"/>
                    <a:sym typeface="Arial"/>
                  </a:rPr>
                  <a:t>0</a:t>
                </a:r>
                <a:r>
                  <a:rPr b="0" i="0" lang="en-US" sz="1800" u="none" cap="none" strike="noStrike">
                    <a:solidFill>
                      <a:srgbClr val="000000"/>
                    </a:solidFill>
                    <a:latin typeface="Arial"/>
                    <a:ea typeface="Arial"/>
                    <a:cs typeface="Arial"/>
                    <a:sym typeface="Arial"/>
                  </a:rPr>
                  <a:t> </a:t>
                </a:r>
                <a:endParaRPr/>
              </a:p>
              <a:p>
                <a:pPr indent="-114300" lvl="0" marL="0" marR="0" rtl="0" algn="l">
                  <a:lnSpc>
                    <a:spcPct val="100000"/>
                  </a:lnSpc>
                  <a:spcBef>
                    <a:spcPts val="9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F = {q</a:t>
                </a:r>
                <a:r>
                  <a:rPr b="0" baseline="-25000" i="0" lang="en-US" sz="1800" u="none" cap="none" strike="noStrike">
                    <a:solidFill>
                      <a:srgbClr val="000000"/>
                    </a:solidFill>
                    <a:latin typeface="Arial"/>
                    <a:ea typeface="Arial"/>
                    <a:cs typeface="Arial"/>
                    <a:sym typeface="Arial"/>
                  </a:rPr>
                  <a:t>2</a:t>
                </a: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114300" lvl="0" marL="0" marR="0" rtl="0" algn="l">
                  <a:lnSpc>
                    <a:spcPct val="100000"/>
                  </a:lnSpc>
                  <a:spcBef>
                    <a:spcPts val="90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Transition table</a:t>
                </a:r>
                <a:endParaRPr/>
              </a:p>
            </p:txBody>
          </p:sp>
          <p:pic>
            <p:nvPicPr>
              <p:cNvPr descr="delta" id="702" name="Google Shape;702;p41"/>
              <p:cNvPicPr preferRelativeResize="0"/>
              <p:nvPr/>
            </p:nvPicPr>
            <p:blipFill rotWithShape="1">
              <a:blip r:embed="rId3">
                <a:alphaModFix/>
              </a:blip>
              <a:srcRect b="0" l="0" r="0" t="0"/>
              <a:stretch/>
            </p:blipFill>
            <p:spPr>
              <a:xfrm>
                <a:off x="3264" y="3120"/>
                <a:ext cx="213" cy="240"/>
              </a:xfrm>
              <a:prstGeom prst="rect">
                <a:avLst/>
              </a:prstGeom>
              <a:noFill/>
              <a:ln>
                <a:noFill/>
              </a:ln>
            </p:spPr>
          </p:pic>
          <p:sp>
            <p:nvSpPr>
              <p:cNvPr id="703" name="Google Shape;703;p41"/>
              <p:cNvSpPr/>
              <p:nvPr/>
            </p:nvSpPr>
            <p:spPr>
              <a:xfrm>
                <a:off x="4464" y="3773"/>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t/>
                </a:r>
                <a:endParaRPr b="0" baseline="-25000" i="0" sz="1600" u="none" cap="none" strike="noStrike">
                  <a:solidFill>
                    <a:srgbClr val="000000"/>
                  </a:solidFill>
                  <a:latin typeface="Arial"/>
                  <a:ea typeface="Arial"/>
                  <a:cs typeface="Arial"/>
                  <a:sym typeface="Arial"/>
                </a:endParaRPr>
              </a:p>
            </p:txBody>
          </p:sp>
          <p:sp>
            <p:nvSpPr>
              <p:cNvPr id="704" name="Google Shape;704;p41"/>
              <p:cNvSpPr/>
              <p:nvPr/>
            </p:nvSpPr>
            <p:spPr>
              <a:xfrm>
                <a:off x="3840" y="3773"/>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t/>
                </a:r>
                <a:endParaRPr b="0" i="0" sz="1600" u="none" cap="none" strike="noStrike">
                  <a:solidFill>
                    <a:srgbClr val="000000"/>
                  </a:solidFill>
                  <a:latin typeface="Arial"/>
                  <a:ea typeface="Arial"/>
                  <a:cs typeface="Arial"/>
                  <a:sym typeface="Arial"/>
                </a:endParaRPr>
              </a:p>
            </p:txBody>
          </p:sp>
          <p:sp>
            <p:nvSpPr>
              <p:cNvPr id="705" name="Google Shape;705;p41"/>
              <p:cNvSpPr/>
              <p:nvPr/>
            </p:nvSpPr>
            <p:spPr>
              <a:xfrm>
                <a:off x="3216" y="3773"/>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1" i="0" lang="en-US" sz="1600" u="none" cap="none" strike="noStrike">
                    <a:solidFill>
                      <a:srgbClr val="FF0000"/>
                    </a:solidFill>
                    <a:latin typeface="Arial"/>
                    <a:ea typeface="Arial"/>
                    <a:cs typeface="Arial"/>
                    <a:sym typeface="Arial"/>
                  </a:rPr>
                  <a:t>*q</a:t>
                </a:r>
                <a:r>
                  <a:rPr b="1" baseline="-25000" i="0" lang="en-US" sz="1600" u="none" cap="none" strike="noStrike">
                    <a:solidFill>
                      <a:srgbClr val="FF0000"/>
                    </a:solidFill>
                    <a:latin typeface="Arial"/>
                    <a:ea typeface="Arial"/>
                    <a:cs typeface="Arial"/>
                    <a:sym typeface="Arial"/>
                  </a:rPr>
                  <a:t>2</a:t>
                </a:r>
                <a:endParaRPr b="1" i="0" sz="1600" u="none" cap="none" strike="noStrike">
                  <a:solidFill>
                    <a:srgbClr val="FF0000"/>
                  </a:solidFill>
                  <a:latin typeface="Arial"/>
                  <a:ea typeface="Arial"/>
                  <a:cs typeface="Arial"/>
                  <a:sym typeface="Arial"/>
                </a:endParaRPr>
              </a:p>
            </p:txBody>
          </p:sp>
          <p:sp>
            <p:nvSpPr>
              <p:cNvPr id="706" name="Google Shape;706;p41"/>
              <p:cNvSpPr/>
              <p:nvPr/>
            </p:nvSpPr>
            <p:spPr>
              <a:xfrm>
                <a:off x="4464" y="3562"/>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0" i="0" lang="en-US" sz="1600" u="none" cap="none" strike="noStrike">
                    <a:solidFill>
                      <a:srgbClr val="000000"/>
                    </a:solidFill>
                    <a:latin typeface="Arial"/>
                    <a:ea typeface="Arial"/>
                    <a:cs typeface="Arial"/>
                    <a:sym typeface="Arial"/>
                  </a:rPr>
                  <a:t>{q</a:t>
                </a:r>
                <a:r>
                  <a:rPr b="0" baseline="-25000" i="0" lang="en-US" sz="1600" u="none" cap="none" strike="noStrike">
                    <a:solidFill>
                      <a:srgbClr val="000000"/>
                    </a:solidFill>
                    <a:latin typeface="Arial"/>
                    <a:ea typeface="Arial"/>
                    <a:cs typeface="Arial"/>
                    <a:sym typeface="Arial"/>
                  </a:rPr>
                  <a:t>2</a:t>
                </a:r>
                <a:r>
                  <a:rPr b="0" i="0" lang="en-US" sz="1600" u="none" cap="none" strike="noStrike">
                    <a:solidFill>
                      <a:srgbClr val="000000"/>
                    </a:solidFill>
                    <a:latin typeface="Arial"/>
                    <a:ea typeface="Arial"/>
                    <a:cs typeface="Arial"/>
                    <a:sym typeface="Arial"/>
                  </a:rPr>
                  <a:t>}</a:t>
                </a:r>
                <a:endParaRPr b="0" baseline="-25000" i="0" sz="1600" u="none" cap="none" strike="noStrike">
                  <a:solidFill>
                    <a:srgbClr val="000000"/>
                  </a:solidFill>
                  <a:latin typeface="Arial"/>
                  <a:ea typeface="Arial"/>
                  <a:cs typeface="Arial"/>
                  <a:sym typeface="Arial"/>
                </a:endParaRPr>
              </a:p>
            </p:txBody>
          </p:sp>
          <p:sp>
            <p:nvSpPr>
              <p:cNvPr id="707" name="Google Shape;707;p41"/>
              <p:cNvSpPr/>
              <p:nvPr/>
            </p:nvSpPr>
            <p:spPr>
              <a:xfrm>
                <a:off x="3840" y="3562"/>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0" i="0" lang="en-US" sz="1600" u="none" cap="none" strike="noStrike">
                    <a:solidFill>
                      <a:srgbClr val="000000"/>
                    </a:solidFill>
                    <a:latin typeface="Arial"/>
                    <a:ea typeface="Arial"/>
                    <a:cs typeface="Arial"/>
                    <a:sym typeface="Arial"/>
                  </a:rPr>
                  <a:t>Φ</a:t>
                </a:r>
                <a:endParaRPr/>
              </a:p>
            </p:txBody>
          </p:sp>
          <p:sp>
            <p:nvSpPr>
              <p:cNvPr id="708" name="Google Shape;708;p41"/>
              <p:cNvSpPr/>
              <p:nvPr/>
            </p:nvSpPr>
            <p:spPr>
              <a:xfrm>
                <a:off x="3216" y="3562"/>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1" i="0" lang="en-US" sz="1600" u="none" cap="none" strike="noStrike">
                    <a:solidFill>
                      <a:srgbClr val="FF0000"/>
                    </a:solidFill>
                    <a:latin typeface="Arial"/>
                    <a:ea typeface="Arial"/>
                    <a:cs typeface="Arial"/>
                    <a:sym typeface="Arial"/>
                  </a:rPr>
                  <a:t>q</a:t>
                </a:r>
                <a:r>
                  <a:rPr b="1" baseline="-25000" i="0" lang="en-US" sz="1600" u="none" cap="none" strike="noStrike">
                    <a:solidFill>
                      <a:srgbClr val="FF0000"/>
                    </a:solidFill>
                    <a:latin typeface="Arial"/>
                    <a:ea typeface="Arial"/>
                    <a:cs typeface="Arial"/>
                    <a:sym typeface="Arial"/>
                  </a:rPr>
                  <a:t>1</a:t>
                </a:r>
                <a:endParaRPr b="1" i="0" sz="1600" u="none" cap="none" strike="noStrike">
                  <a:solidFill>
                    <a:srgbClr val="FF0000"/>
                  </a:solidFill>
                  <a:latin typeface="Arial"/>
                  <a:ea typeface="Arial"/>
                  <a:cs typeface="Arial"/>
                  <a:sym typeface="Arial"/>
                </a:endParaRPr>
              </a:p>
            </p:txBody>
          </p:sp>
          <p:sp>
            <p:nvSpPr>
              <p:cNvPr id="709" name="Google Shape;709;p41"/>
              <p:cNvSpPr/>
              <p:nvPr/>
            </p:nvSpPr>
            <p:spPr>
              <a:xfrm>
                <a:off x="4464" y="3351"/>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0" i="0" lang="en-US" sz="1600" u="none" cap="none" strike="noStrike">
                    <a:solidFill>
                      <a:srgbClr val="000000"/>
                    </a:solidFill>
                    <a:latin typeface="Arial"/>
                    <a:ea typeface="Arial"/>
                    <a:cs typeface="Arial"/>
                    <a:sym typeface="Arial"/>
                  </a:rPr>
                  <a:t>{q</a:t>
                </a:r>
                <a:r>
                  <a:rPr b="0" baseline="-25000" i="0" lang="en-US" sz="1600" u="none" cap="none" strike="noStrike">
                    <a:solidFill>
                      <a:srgbClr val="000000"/>
                    </a:solidFill>
                    <a:latin typeface="Arial"/>
                    <a:ea typeface="Arial"/>
                    <a:cs typeface="Arial"/>
                    <a:sym typeface="Arial"/>
                  </a:rPr>
                  <a:t>0</a:t>
                </a:r>
                <a:r>
                  <a:rPr b="0" i="0" lang="en-US" sz="1600" u="none" cap="none" strike="noStrike">
                    <a:solidFill>
                      <a:srgbClr val="000000"/>
                    </a:solidFill>
                    <a:latin typeface="Arial"/>
                    <a:ea typeface="Arial"/>
                    <a:cs typeface="Arial"/>
                    <a:sym typeface="Arial"/>
                  </a:rPr>
                  <a:t>}</a:t>
                </a:r>
                <a:endParaRPr/>
              </a:p>
            </p:txBody>
          </p:sp>
          <p:sp>
            <p:nvSpPr>
              <p:cNvPr id="710" name="Google Shape;710;p41"/>
              <p:cNvSpPr/>
              <p:nvPr/>
            </p:nvSpPr>
            <p:spPr>
              <a:xfrm>
                <a:off x="3840" y="3351"/>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0" i="0" lang="en-US" sz="1600" u="none" cap="none" strike="noStrike">
                    <a:solidFill>
                      <a:srgbClr val="000000"/>
                    </a:solidFill>
                    <a:latin typeface="Arial"/>
                    <a:ea typeface="Arial"/>
                    <a:cs typeface="Arial"/>
                    <a:sym typeface="Arial"/>
                  </a:rPr>
                  <a:t>{q</a:t>
                </a:r>
                <a:r>
                  <a:rPr b="0" baseline="-25000" i="0" lang="en-US" sz="1600" u="none" cap="none" strike="noStrike">
                    <a:solidFill>
                      <a:srgbClr val="000000"/>
                    </a:solidFill>
                    <a:latin typeface="Arial"/>
                    <a:ea typeface="Arial"/>
                    <a:cs typeface="Arial"/>
                    <a:sym typeface="Arial"/>
                  </a:rPr>
                  <a:t>0</a:t>
                </a:r>
                <a:r>
                  <a:rPr b="0" i="0" lang="en-US" sz="1600" u="none" cap="none" strike="noStrike">
                    <a:solidFill>
                      <a:srgbClr val="000000"/>
                    </a:solidFill>
                    <a:latin typeface="Arial"/>
                    <a:ea typeface="Arial"/>
                    <a:cs typeface="Arial"/>
                    <a:sym typeface="Arial"/>
                  </a:rPr>
                  <a:t>,q</a:t>
                </a:r>
                <a:r>
                  <a:rPr b="0" baseline="-25000" i="0" lang="en-US" sz="1600" u="none" cap="none" strike="noStrike">
                    <a:solidFill>
                      <a:srgbClr val="000000"/>
                    </a:solidFill>
                    <a:latin typeface="Arial"/>
                    <a:ea typeface="Arial"/>
                    <a:cs typeface="Arial"/>
                    <a:sym typeface="Arial"/>
                  </a:rPr>
                  <a:t>1</a:t>
                </a:r>
                <a:r>
                  <a:rPr b="0" i="0" lang="en-US" sz="1600" u="none" cap="none" strike="noStrike">
                    <a:solidFill>
                      <a:srgbClr val="000000"/>
                    </a:solidFill>
                    <a:latin typeface="Arial"/>
                    <a:ea typeface="Arial"/>
                    <a:cs typeface="Arial"/>
                    <a:sym typeface="Arial"/>
                  </a:rPr>
                  <a:t>}</a:t>
                </a:r>
                <a:endParaRPr/>
              </a:p>
            </p:txBody>
          </p:sp>
          <p:sp>
            <p:nvSpPr>
              <p:cNvPr id="711" name="Google Shape;711;p41"/>
              <p:cNvSpPr/>
              <p:nvPr/>
            </p:nvSpPr>
            <p:spPr>
              <a:xfrm>
                <a:off x="3216" y="3351"/>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1" i="0" lang="en-US" sz="1600" u="none" cap="none" strike="noStrike">
                    <a:solidFill>
                      <a:srgbClr val="FF0000"/>
                    </a:solidFill>
                    <a:latin typeface="Arial"/>
                    <a:ea typeface="Arial"/>
                    <a:cs typeface="Arial"/>
                    <a:sym typeface="Arial"/>
                  </a:rPr>
                  <a:t>q</a:t>
                </a:r>
                <a:r>
                  <a:rPr b="1" baseline="-25000" i="0" lang="en-US" sz="1600" u="none" cap="none" strike="noStrike">
                    <a:solidFill>
                      <a:srgbClr val="FF0000"/>
                    </a:solidFill>
                    <a:latin typeface="Arial"/>
                    <a:ea typeface="Arial"/>
                    <a:cs typeface="Arial"/>
                    <a:sym typeface="Arial"/>
                  </a:rPr>
                  <a:t>0</a:t>
                </a:r>
                <a:endParaRPr/>
              </a:p>
            </p:txBody>
          </p:sp>
          <p:sp>
            <p:nvSpPr>
              <p:cNvPr id="712" name="Google Shape;712;p41"/>
              <p:cNvSpPr/>
              <p:nvPr/>
            </p:nvSpPr>
            <p:spPr>
              <a:xfrm>
                <a:off x="4464" y="3140"/>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1" i="0" lang="en-US" sz="1600" u="none" cap="none" strike="noStrike">
                    <a:solidFill>
                      <a:srgbClr val="FF0000"/>
                    </a:solidFill>
                    <a:latin typeface="Arial"/>
                    <a:ea typeface="Arial"/>
                    <a:cs typeface="Arial"/>
                    <a:sym typeface="Arial"/>
                  </a:rPr>
                  <a:t>1</a:t>
                </a:r>
                <a:endParaRPr/>
              </a:p>
            </p:txBody>
          </p:sp>
          <p:sp>
            <p:nvSpPr>
              <p:cNvPr id="713" name="Google Shape;713;p41"/>
              <p:cNvSpPr/>
              <p:nvPr/>
            </p:nvSpPr>
            <p:spPr>
              <a:xfrm>
                <a:off x="3840" y="3140"/>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rPr b="1" i="0" lang="en-US" sz="1600" u="none" cap="none" strike="noStrike">
                    <a:solidFill>
                      <a:srgbClr val="FF0000"/>
                    </a:solidFill>
                    <a:latin typeface="Arial"/>
                    <a:ea typeface="Arial"/>
                    <a:cs typeface="Arial"/>
                    <a:sym typeface="Arial"/>
                  </a:rPr>
                  <a:t>0</a:t>
                </a:r>
                <a:endParaRPr/>
              </a:p>
            </p:txBody>
          </p:sp>
          <p:sp>
            <p:nvSpPr>
              <p:cNvPr id="714" name="Google Shape;714;p41"/>
              <p:cNvSpPr/>
              <p:nvPr/>
            </p:nvSpPr>
            <p:spPr>
              <a:xfrm>
                <a:off x="3216" y="3140"/>
                <a:ext cx="624" cy="2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960"/>
                  <a:buFont typeface="Noto Sans Symbols"/>
                  <a:buNone/>
                </a:pPr>
                <a:r>
                  <a:t/>
                </a:r>
                <a:endParaRPr b="0" i="0" sz="1600" u="none" cap="none" strike="noStrike">
                  <a:solidFill>
                    <a:srgbClr val="000000"/>
                  </a:solidFill>
                  <a:latin typeface="Arial"/>
                  <a:ea typeface="Arial"/>
                  <a:cs typeface="Arial"/>
                  <a:sym typeface="Arial"/>
                </a:endParaRPr>
              </a:p>
            </p:txBody>
          </p:sp>
          <p:cxnSp>
            <p:nvCxnSpPr>
              <p:cNvPr id="715" name="Google Shape;715;p41"/>
              <p:cNvCxnSpPr/>
              <p:nvPr/>
            </p:nvCxnSpPr>
            <p:spPr>
              <a:xfrm>
                <a:off x="3216" y="3562"/>
                <a:ext cx="1872" cy="0"/>
              </a:xfrm>
              <a:prstGeom prst="straightConnector1">
                <a:avLst/>
              </a:prstGeom>
              <a:noFill/>
              <a:ln cap="flat" cmpd="sng" w="12700">
                <a:solidFill>
                  <a:srgbClr val="000000"/>
                </a:solidFill>
                <a:prstDash val="solid"/>
                <a:round/>
                <a:headEnd len="med" w="med" type="none"/>
                <a:tailEnd len="med" w="med" type="none"/>
              </a:ln>
            </p:spPr>
          </p:cxnSp>
          <p:cxnSp>
            <p:nvCxnSpPr>
              <p:cNvPr id="716" name="Google Shape;716;p41"/>
              <p:cNvCxnSpPr/>
              <p:nvPr/>
            </p:nvCxnSpPr>
            <p:spPr>
              <a:xfrm>
                <a:off x="3216" y="3773"/>
                <a:ext cx="1872" cy="0"/>
              </a:xfrm>
              <a:prstGeom prst="straightConnector1">
                <a:avLst/>
              </a:prstGeom>
              <a:noFill/>
              <a:ln cap="flat" cmpd="sng" w="12700">
                <a:solidFill>
                  <a:srgbClr val="000000"/>
                </a:solidFill>
                <a:prstDash val="solid"/>
                <a:round/>
                <a:headEnd len="med" w="med" type="none"/>
                <a:tailEnd len="med" w="med" type="none"/>
              </a:ln>
            </p:spPr>
          </p:cxnSp>
          <p:cxnSp>
            <p:nvCxnSpPr>
              <p:cNvPr id="717" name="Google Shape;717;p41"/>
              <p:cNvCxnSpPr/>
              <p:nvPr/>
            </p:nvCxnSpPr>
            <p:spPr>
              <a:xfrm>
                <a:off x="3216" y="3984"/>
                <a:ext cx="1872" cy="0"/>
              </a:xfrm>
              <a:prstGeom prst="straightConnector1">
                <a:avLst/>
              </a:prstGeom>
              <a:noFill/>
              <a:ln cap="flat" cmpd="sng" w="28575">
                <a:solidFill>
                  <a:srgbClr val="000000"/>
                </a:solidFill>
                <a:prstDash val="solid"/>
                <a:round/>
                <a:headEnd len="med" w="med" type="none"/>
                <a:tailEnd len="med" w="med" type="none"/>
              </a:ln>
            </p:spPr>
          </p:cxnSp>
          <p:cxnSp>
            <p:nvCxnSpPr>
              <p:cNvPr id="718" name="Google Shape;718;p41"/>
              <p:cNvCxnSpPr/>
              <p:nvPr/>
            </p:nvCxnSpPr>
            <p:spPr>
              <a:xfrm>
                <a:off x="4464" y="3140"/>
                <a:ext cx="0" cy="844"/>
              </a:xfrm>
              <a:prstGeom prst="straightConnector1">
                <a:avLst/>
              </a:prstGeom>
              <a:noFill/>
              <a:ln cap="flat" cmpd="sng" w="12700">
                <a:solidFill>
                  <a:srgbClr val="000000"/>
                </a:solidFill>
                <a:prstDash val="solid"/>
                <a:round/>
                <a:headEnd len="med" w="med" type="none"/>
                <a:tailEnd len="med" w="med" type="none"/>
              </a:ln>
            </p:spPr>
          </p:cxnSp>
          <p:cxnSp>
            <p:nvCxnSpPr>
              <p:cNvPr id="719" name="Google Shape;719;p41"/>
              <p:cNvCxnSpPr/>
              <p:nvPr/>
            </p:nvCxnSpPr>
            <p:spPr>
              <a:xfrm>
                <a:off x="5088" y="3140"/>
                <a:ext cx="0" cy="844"/>
              </a:xfrm>
              <a:prstGeom prst="straightConnector1">
                <a:avLst/>
              </a:prstGeom>
              <a:noFill/>
              <a:ln cap="flat" cmpd="sng" w="28575">
                <a:solidFill>
                  <a:srgbClr val="000000"/>
                </a:solidFill>
                <a:prstDash val="solid"/>
                <a:round/>
                <a:headEnd len="med" w="med" type="none"/>
                <a:tailEnd len="med" w="med" type="none"/>
              </a:ln>
            </p:spPr>
          </p:cxnSp>
          <p:cxnSp>
            <p:nvCxnSpPr>
              <p:cNvPr id="720" name="Google Shape;720;p41"/>
              <p:cNvCxnSpPr/>
              <p:nvPr/>
            </p:nvCxnSpPr>
            <p:spPr>
              <a:xfrm>
                <a:off x="3840" y="3140"/>
                <a:ext cx="0" cy="844"/>
              </a:xfrm>
              <a:prstGeom prst="straightConnector1">
                <a:avLst/>
              </a:prstGeom>
              <a:noFill/>
              <a:ln cap="flat" cmpd="sng" w="12700">
                <a:solidFill>
                  <a:srgbClr val="000000"/>
                </a:solidFill>
                <a:prstDash val="solid"/>
                <a:round/>
                <a:headEnd len="med" w="med" type="none"/>
                <a:tailEnd len="med" w="med" type="none"/>
              </a:ln>
            </p:spPr>
          </p:cxnSp>
          <p:cxnSp>
            <p:nvCxnSpPr>
              <p:cNvPr id="721" name="Google Shape;721;p41"/>
              <p:cNvCxnSpPr/>
              <p:nvPr/>
            </p:nvCxnSpPr>
            <p:spPr>
              <a:xfrm>
                <a:off x="3216" y="3351"/>
                <a:ext cx="1872" cy="0"/>
              </a:xfrm>
              <a:prstGeom prst="straightConnector1">
                <a:avLst/>
              </a:prstGeom>
              <a:noFill/>
              <a:ln cap="flat" cmpd="sng" w="12700">
                <a:solidFill>
                  <a:srgbClr val="000000"/>
                </a:solidFill>
                <a:prstDash val="solid"/>
                <a:round/>
                <a:headEnd len="med" w="med" type="none"/>
                <a:tailEnd len="med" w="med" type="none"/>
              </a:ln>
            </p:spPr>
          </p:cxnSp>
          <p:sp>
            <p:nvSpPr>
              <p:cNvPr id="722" name="Google Shape;722;p41"/>
              <p:cNvSpPr txBox="1"/>
              <p:nvPr/>
            </p:nvSpPr>
            <p:spPr>
              <a:xfrm rot="-5400000">
                <a:off x="2803" y="3572"/>
                <a:ext cx="500"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99"/>
                  </a:buClr>
                  <a:buSzPts val="1800"/>
                  <a:buFont typeface="Arial"/>
                  <a:buNone/>
                </a:pPr>
                <a:r>
                  <a:rPr b="0" i="0" lang="en-US" sz="1800" u="none" cap="none" strike="noStrike">
                    <a:solidFill>
                      <a:srgbClr val="333399"/>
                    </a:solidFill>
                    <a:latin typeface="Arial"/>
                    <a:ea typeface="Arial"/>
                    <a:cs typeface="Arial"/>
                    <a:sym typeface="Arial"/>
                  </a:rPr>
                  <a:t>states</a:t>
                </a:r>
                <a:endParaRPr/>
              </a:p>
            </p:txBody>
          </p:sp>
          <p:sp>
            <p:nvSpPr>
              <p:cNvPr id="723" name="Google Shape;723;p41"/>
              <p:cNvSpPr txBox="1"/>
              <p:nvPr/>
            </p:nvSpPr>
            <p:spPr>
              <a:xfrm>
                <a:off x="4054" y="2926"/>
                <a:ext cx="64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3399"/>
                  </a:buClr>
                  <a:buSzPts val="1800"/>
                  <a:buFont typeface="Arial"/>
                  <a:buNone/>
                </a:pPr>
                <a:r>
                  <a:rPr b="0" i="0" lang="en-US" sz="1800" u="none" cap="none" strike="noStrike">
                    <a:solidFill>
                      <a:srgbClr val="333399"/>
                    </a:solidFill>
                    <a:latin typeface="Arial"/>
                    <a:ea typeface="Arial"/>
                    <a:cs typeface="Arial"/>
                    <a:sym typeface="Arial"/>
                  </a:rPr>
                  <a:t>symbols</a:t>
                </a:r>
                <a:endParaRPr/>
              </a:p>
            </p:txBody>
          </p:sp>
          <p:cxnSp>
            <p:nvCxnSpPr>
              <p:cNvPr id="724" name="Google Shape;724;p41"/>
              <p:cNvCxnSpPr/>
              <p:nvPr/>
            </p:nvCxnSpPr>
            <p:spPr>
              <a:xfrm>
                <a:off x="3072" y="3456"/>
                <a:ext cx="192" cy="0"/>
              </a:xfrm>
              <a:prstGeom prst="straightConnector1">
                <a:avLst/>
              </a:prstGeom>
              <a:noFill/>
              <a:ln cap="flat" cmpd="sng" w="9525">
                <a:solidFill>
                  <a:srgbClr val="339966"/>
                </a:solidFill>
                <a:prstDash val="solid"/>
                <a:round/>
                <a:headEnd len="med" w="med" type="none"/>
                <a:tailEnd len="med" w="med" type="triangle"/>
              </a:ln>
            </p:spPr>
          </p:cxnSp>
        </p:grpSp>
        <p:sp>
          <p:nvSpPr>
            <p:cNvPr id="725" name="Google Shape;725;p41"/>
            <p:cNvSpPr/>
            <p:nvPr/>
          </p:nvSpPr>
          <p:spPr>
            <a:xfrm>
              <a:off x="6381893" y="5466319"/>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Φ</a:t>
              </a:r>
              <a:endParaRPr/>
            </a:p>
          </p:txBody>
        </p:sp>
        <p:sp>
          <p:nvSpPr>
            <p:cNvPr id="726" name="Google Shape;726;p41"/>
            <p:cNvSpPr/>
            <p:nvPr/>
          </p:nvSpPr>
          <p:spPr>
            <a:xfrm>
              <a:off x="7307891" y="5465479"/>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Φ</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42"/>
          <p:cNvSpPr txBox="1"/>
          <p:nvPr>
            <p:ph type="title"/>
          </p:nvPr>
        </p:nvSpPr>
        <p:spPr>
          <a:xfrm>
            <a:off x="685800" y="2743200"/>
            <a:ext cx="8229600" cy="91637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en-US"/>
              <a:t>Thank you ☺</a:t>
            </a:r>
            <a:endParaRPr/>
          </a:p>
        </p:txBody>
      </p:sp>
      <p:sp>
        <p:nvSpPr>
          <p:cNvPr id="732" name="Google Shape;732;p4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Naushin</dc:creator>
</cp:coreProperties>
</file>