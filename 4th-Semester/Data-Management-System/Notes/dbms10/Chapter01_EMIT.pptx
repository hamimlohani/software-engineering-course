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notesSlides/notesSlide1.xml" ContentType="application/vnd.openxmlformats-officedocument.presentationml.notesSlide+xml"/>
  <Override PartName="/ppt/media/image6.jpeg" ContentType="image/jpeg"/>
  <Override PartName="/ppt/media/image7.jpeg" ContentType="image/jpeg"/>
  <Override PartName="/ppt/media/image8.jpeg" ContentType="image/jpeg"/>
  <Override PartName="/ppt/notesSlides/notesSlide2.xml" ContentType="application/vnd.openxmlformats-officedocument.presentationml.notesSlide+xml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Shape 5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people.cs.umass.edu/~phuthipong/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Shape 19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1" name="Shape 19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important points</a:t>
            </a:r>
          </a:p>
          <a:p>
            <a:pPr marL="171450" indent="-171450">
              <a:buSzPct val="100000"/>
              <a:buFont typeface="Arial"/>
              <a:buChar char="•"/>
              <a:defRPr b="1"/>
            </a:pPr>
            <a:r>
              <a:t>distributed</a:t>
            </a:r>
            <a:r>
              <a:rPr b="0"/>
              <a:t> entities, exchanging messages (governed by protocols)</a:t>
            </a:r>
            <a:endParaRPr b="0"/>
          </a:p>
          <a:p>
            <a:pPr marL="171450" indent="-171450">
              <a:buSzPct val="100000"/>
              <a:buFont typeface="Arial"/>
              <a:buChar char="•"/>
            </a:pPr>
            <a:r>
              <a:t>Time going down</a:t>
            </a:r>
          </a:p>
          <a:p>
            <a:pPr marL="171450" indent="-171450">
              <a:buSzPct val="100000"/>
              <a:buFont typeface="Arial"/>
              <a:buChar char="•"/>
            </a:pPr>
            <a:r>
              <a:t>go over definition of protocol (showing format, order of messages sent and received, and actions taken)</a:t>
            </a:r>
          </a:p>
          <a:p>
            <a:pPr/>
            <a:r>
              <a:t>We’ll see these kinds of diagrams a lot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3" name="Shape 100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94" name="Shape 100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Thanks to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Nikko Bovornkeeratiroj</a:t>
            </a:r>
            <a:r>
              <a:t>,  Phuthipong &lt;phuthipong@cs.umass.edu&gt;, for the stacking dolls idea and slides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sz="2400"/>
            </a:lvl1pPr>
            <a:lvl2pPr marL="0" indent="457200" algn="ctr">
              <a:buClrTx/>
              <a:buSzTx/>
              <a:buNone/>
              <a:defRPr sz="2400"/>
            </a:lvl2pPr>
            <a:lvl3pPr marL="0" indent="914400" algn="ctr">
              <a:buClrTx/>
              <a:buSzTx/>
              <a:buNone/>
              <a:defRPr sz="2400"/>
            </a:lvl3pPr>
            <a:lvl4pPr marL="0" indent="1371600" algn="ctr">
              <a:buClrTx/>
              <a:buSzTx/>
              <a:buNone/>
              <a:defRPr sz="2400"/>
            </a:lvl4pPr>
            <a:lvl5pPr marL="0" indent="1828800" algn="ctr">
              <a:buClrTx/>
              <a:buSz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/>
          <p:nvPr>
            <p:ph type="sldNum" sz="quarter" idx="2"/>
          </p:nvPr>
        </p:nvSpPr>
        <p:spPr>
          <a:xfrm>
            <a:off x="9848850" y="6462712"/>
            <a:ext cx="445331" cy="439230"/>
          </a:xfrm>
          <a:prstGeom prst="rect">
            <a:avLst/>
          </a:prstGeom>
        </p:spPr>
        <p:txBody>
          <a:bodyPr lIns="46799" tIns="46799" rIns="46799" bIns="46799" anchor="t"/>
          <a:lstStyle>
            <a:lvl1pPr algn="l" defTabSz="457200"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838200" y="1724026"/>
            <a:ext cx="10515600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838200" y="451821"/>
            <a:ext cx="10515600" cy="894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100">
                <a:solidFill>
                  <a:srgbClr val="80808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A3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52425" marR="0" indent="-2222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▪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33954" marR="0" indent="-270404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A3"/>
        </a:buClr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shariful@iit.du.ac.bd" TargetMode="External"/><Relationship Id="rId3" Type="http://schemas.openxmlformats.org/officeDocument/2006/relationships/hyperlink" Target="mailto:shariful.islam@gmail.com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.jpe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.jpe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4.jpeg"/><Relationship Id="rId15" Type="http://schemas.openxmlformats.org/officeDocument/2006/relationships/image" Target="../media/image5.jpe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14.png"/><Relationship Id="rId11" Type="http://schemas.openxmlformats.org/officeDocument/2006/relationships/image" Target="../media/image16.png"/><Relationship Id="rId12" Type="http://schemas.openxmlformats.org/officeDocument/2006/relationships/image" Target="../media/image11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10.png"/><Relationship Id="rId17" Type="http://schemas.openxmlformats.org/officeDocument/2006/relationships/image" Target="../media/image12.png"/><Relationship Id="rId18" Type="http://schemas.openxmlformats.org/officeDocument/2006/relationships/image" Target="../media/image13.png"/><Relationship Id="rId19" Type="http://schemas.openxmlformats.org/officeDocument/2006/relationships/image" Target="../media/image5.png"/><Relationship Id="rId20" Type="http://schemas.openxmlformats.org/officeDocument/2006/relationships/image" Target="../media/image6.png"/><Relationship Id="rId21" Type="http://schemas.openxmlformats.org/officeDocument/2006/relationships/image" Target="../media/image7.png"/><Relationship Id="rId2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14.png"/><Relationship Id="rId11" Type="http://schemas.openxmlformats.org/officeDocument/2006/relationships/image" Target="../media/image16.png"/><Relationship Id="rId12" Type="http://schemas.openxmlformats.org/officeDocument/2006/relationships/image" Target="../media/image11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10.png"/><Relationship Id="rId17" Type="http://schemas.openxmlformats.org/officeDocument/2006/relationships/image" Target="../media/image12.png"/><Relationship Id="rId18" Type="http://schemas.openxmlformats.org/officeDocument/2006/relationships/image" Target="../media/image13.png"/><Relationship Id="rId19" Type="http://schemas.openxmlformats.org/officeDocument/2006/relationships/image" Target="../media/image5.png"/><Relationship Id="rId20" Type="http://schemas.openxmlformats.org/officeDocument/2006/relationships/image" Target="../media/image6.png"/><Relationship Id="rId21" Type="http://schemas.openxmlformats.org/officeDocument/2006/relationships/image" Target="../media/image7.png"/><Relationship Id="rId2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5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14.png"/><Relationship Id="rId12" Type="http://schemas.openxmlformats.org/officeDocument/2006/relationships/image" Target="../media/image16.png"/><Relationship Id="rId13" Type="http://schemas.openxmlformats.org/officeDocument/2006/relationships/image" Target="../media/image11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10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5.png"/><Relationship Id="rId21" Type="http://schemas.openxmlformats.org/officeDocument/2006/relationships/image" Target="../media/image6.png"/><Relationship Id="rId22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2.png"/><Relationship Id="rId15" Type="http://schemas.openxmlformats.org/officeDocument/2006/relationships/image" Target="../media/image9.png"/><Relationship Id="rId16" Type="http://schemas.openxmlformats.org/officeDocument/2006/relationships/image" Target="../media/image15.png"/><Relationship Id="rId17" Type="http://schemas.openxmlformats.org/officeDocument/2006/relationships/image" Target="../media/image3.png"/><Relationship Id="rId18" Type="http://schemas.openxmlformats.org/officeDocument/2006/relationships/image" Target="../media/image17.png"/><Relationship Id="rId19" Type="http://schemas.openxmlformats.org/officeDocument/2006/relationships/image" Target="../media/image11.png"/><Relationship Id="rId20" Type="http://schemas.openxmlformats.org/officeDocument/2006/relationships/image" Target="../media/image12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2.png"/><Relationship Id="rId15" Type="http://schemas.openxmlformats.org/officeDocument/2006/relationships/image" Target="../media/image9.png"/><Relationship Id="rId16" Type="http://schemas.openxmlformats.org/officeDocument/2006/relationships/image" Target="../media/image15.png"/><Relationship Id="rId17" Type="http://schemas.openxmlformats.org/officeDocument/2006/relationships/image" Target="../media/image3.png"/><Relationship Id="rId18" Type="http://schemas.openxmlformats.org/officeDocument/2006/relationships/image" Target="../media/image17.png"/><Relationship Id="rId19" Type="http://schemas.openxmlformats.org/officeDocument/2006/relationships/image" Target="../media/image11.png"/><Relationship Id="rId20" Type="http://schemas.openxmlformats.org/officeDocument/2006/relationships/image" Target="../media/image12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2.png"/><Relationship Id="rId15" Type="http://schemas.openxmlformats.org/officeDocument/2006/relationships/image" Target="../media/image9.png"/><Relationship Id="rId16" Type="http://schemas.openxmlformats.org/officeDocument/2006/relationships/image" Target="../media/image15.png"/><Relationship Id="rId17" Type="http://schemas.openxmlformats.org/officeDocument/2006/relationships/image" Target="../media/image3.png"/><Relationship Id="rId18" Type="http://schemas.openxmlformats.org/officeDocument/2006/relationships/image" Target="../media/image17.png"/><Relationship Id="rId19" Type="http://schemas.openxmlformats.org/officeDocument/2006/relationships/image" Target="../media/image11.png"/><Relationship Id="rId20" Type="http://schemas.openxmlformats.org/officeDocument/2006/relationships/image" Target="../media/image12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36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2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36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2.png"/><Relationship Id="rId15" Type="http://schemas.openxmlformats.org/officeDocument/2006/relationships/image" Target="../media/image9.png"/><Relationship Id="rId16" Type="http://schemas.openxmlformats.org/officeDocument/2006/relationships/image" Target="../media/image15.png"/><Relationship Id="rId17" Type="http://schemas.openxmlformats.org/officeDocument/2006/relationships/image" Target="../media/image3.png"/><Relationship Id="rId18" Type="http://schemas.openxmlformats.org/officeDocument/2006/relationships/image" Target="../media/image17.png"/><Relationship Id="rId19" Type="http://schemas.openxmlformats.org/officeDocument/2006/relationships/image" Target="../media/image11.png"/><Relationship Id="rId20" Type="http://schemas.openxmlformats.org/officeDocument/2006/relationships/image" Target="../media/image4.png"/><Relationship Id="rId21" Type="http://schemas.openxmlformats.org/officeDocument/2006/relationships/image" Target="../media/image5.png"/><Relationship Id="rId22" Type="http://schemas.openxmlformats.org/officeDocument/2006/relationships/image" Target="../media/image12.png"/><Relationship Id="rId23" Type="http://schemas.openxmlformats.org/officeDocument/2006/relationships/image" Target="../media/image64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2.png"/><Relationship Id="rId15" Type="http://schemas.openxmlformats.org/officeDocument/2006/relationships/image" Target="../media/image9.png"/><Relationship Id="rId16" Type="http://schemas.openxmlformats.org/officeDocument/2006/relationships/image" Target="../media/image15.png"/><Relationship Id="rId17" Type="http://schemas.openxmlformats.org/officeDocument/2006/relationships/image" Target="../media/image3.png"/><Relationship Id="rId18" Type="http://schemas.openxmlformats.org/officeDocument/2006/relationships/image" Target="../media/image17.png"/><Relationship Id="rId19" Type="http://schemas.openxmlformats.org/officeDocument/2006/relationships/image" Target="../media/image11.png"/><Relationship Id="rId20" Type="http://schemas.openxmlformats.org/officeDocument/2006/relationships/image" Target="../media/image12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.png"/><Relationship Id="rId3" Type="http://schemas.openxmlformats.org/officeDocument/2006/relationships/image" Target="../media/image8.jpeg"/><Relationship Id="rId4" Type="http://schemas.openxmlformats.org/officeDocument/2006/relationships/image" Target="../media/image70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66.png"/><Relationship Id="rId6" Type="http://schemas.openxmlformats.org/officeDocument/2006/relationships/image" Target="../media/image36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2.png"/><Relationship Id="rId15" Type="http://schemas.openxmlformats.org/officeDocument/2006/relationships/image" Target="../media/image9.png"/><Relationship Id="rId16" Type="http://schemas.openxmlformats.org/officeDocument/2006/relationships/image" Target="../media/image15.png"/><Relationship Id="rId17" Type="http://schemas.openxmlformats.org/officeDocument/2006/relationships/image" Target="../media/image3.png"/><Relationship Id="rId18" Type="http://schemas.openxmlformats.org/officeDocument/2006/relationships/image" Target="../media/image17.png"/><Relationship Id="rId19" Type="http://schemas.openxmlformats.org/officeDocument/2006/relationships/image" Target="../media/image11.png"/><Relationship Id="rId20" Type="http://schemas.openxmlformats.org/officeDocument/2006/relationships/image" Target="../media/image12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9.png"/><Relationship Id="rId3" Type="http://schemas.openxmlformats.org/officeDocument/2006/relationships/image" Target="../media/image77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2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e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hyperlink" Target="https://dribbble.com/shots/7182188-Babushka-Boi" TargetMode="Externa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3.png"/><Relationship Id="rId3" Type="http://schemas.openxmlformats.org/officeDocument/2006/relationships/image" Target="../media/image36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7.png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8.png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9.png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0.png"/><Relationship Id="rId3" Type="http://schemas.openxmlformats.org/officeDocument/2006/relationships/image" Target="../media/image3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3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ntroduction"/>
          <p:cNvSpPr txBox="1"/>
          <p:nvPr/>
        </p:nvSpPr>
        <p:spPr>
          <a:xfrm>
            <a:off x="6977400" y="6400800"/>
            <a:ext cx="2809200" cy="3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>
            <a:lvl1pPr algn="r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 Introduction</a:t>
            </a:r>
          </a:p>
        </p:txBody>
      </p:sp>
      <p:sp>
        <p:nvSpPr>
          <p:cNvPr id="56" name="Slide Number"/>
          <p:cNvSpPr txBox="1"/>
          <p:nvPr>
            <p:ph type="sldNum" sz="quarter" idx="4294967295"/>
          </p:nvPr>
        </p:nvSpPr>
        <p:spPr>
          <a:xfrm>
            <a:off x="10260074" y="6400800"/>
            <a:ext cx="195201" cy="289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t"/>
          <a:lstStyle>
            <a:lvl1pPr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7" name="MITM303: Advanced Computer Networks and Internetworking"/>
          <p:cNvSpPr txBox="1"/>
          <p:nvPr/>
        </p:nvSpPr>
        <p:spPr>
          <a:xfrm>
            <a:off x="2024399" y="130999"/>
            <a:ext cx="7686001" cy="13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600" u="sng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MITM303: Advanced Computer Networks and Internetworking</a:t>
            </a:r>
          </a:p>
        </p:txBody>
      </p:sp>
      <p:sp>
        <p:nvSpPr>
          <p:cNvPr id="58" name="3 Credits (2 credits theory + 1 credits lab)…"/>
          <p:cNvSpPr txBox="1"/>
          <p:nvPr/>
        </p:nvSpPr>
        <p:spPr>
          <a:xfrm>
            <a:off x="2086312" y="1247775"/>
            <a:ext cx="7162126" cy="325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/>
          <a:p>
            <a:pPr marL="336550" indent="-330200" defTabSz="457200">
              <a:spcBef>
                <a:spcPts val="6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marL="336550" indent="-330200" defTabSz="457200">
              <a:spcBef>
                <a:spcPts val="6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3 Credits (2 credits theory + 1 credits lab)</a:t>
            </a:r>
          </a:p>
          <a:p>
            <a:pPr marL="336550" indent="-330200" defTabSz="457200">
              <a:spcBef>
                <a:spcPts val="6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 u="sng"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marL="336550" indent="-330200" defTabSz="457200">
              <a:spcBef>
                <a:spcPts val="6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Course Instructors:</a:t>
            </a:r>
          </a:p>
          <a:p>
            <a:pPr marL="336550" indent="-330200" defTabSz="457200">
              <a:spcBef>
                <a:spcPts val="6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sz="240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Prof. Dr. Md. Shariful Islam</a:t>
            </a:r>
          </a:p>
          <a:p>
            <a:pPr marL="336550" indent="-330200" defTabSz="457200">
              <a:spcBef>
                <a:spcPts val="4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CCCC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rPr u="sng">
                <a:uFill>
                  <a:solidFill>
                    <a:srgbClr val="CCCCFF"/>
                  </a:solidFill>
                </a:uFill>
                <a:hlinkClick r:id="rId2" invalidUrl="" action="" tgtFrame="" tooltip="" history="1" highlightClick="0" endSnd="0"/>
              </a:rPr>
              <a:t>shariful@iit.du.ac.bd</a:t>
            </a:r>
            <a:r>
              <a:rPr>
                <a:solidFill>
                  <a:srgbClr val="000000"/>
                </a:solidFill>
              </a:rPr>
              <a:t>, </a:t>
            </a:r>
            <a:r>
              <a:rPr u="sng">
                <a:uFill>
                  <a:solidFill>
                    <a:srgbClr val="CCCCFF"/>
                  </a:solidFill>
                </a:uFill>
                <a:hlinkClick r:id="rId3" invalidUrl="" action="" tgtFrame="" tooltip="" history="1" highlightClick="0" endSnd="0"/>
              </a:rPr>
              <a:t>shariful.islam@gmail.com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Introduction"/>
          <p:cNvSpPr txBox="1"/>
          <p:nvPr/>
        </p:nvSpPr>
        <p:spPr>
          <a:xfrm>
            <a:off x="6977400" y="6400800"/>
            <a:ext cx="2809200" cy="3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>
            <a:lvl1pPr algn="r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 Introduction</a:t>
            </a:r>
          </a:p>
        </p:txBody>
      </p:sp>
      <p:sp>
        <p:nvSpPr>
          <p:cNvPr id="61" name="Slide Number"/>
          <p:cNvSpPr txBox="1"/>
          <p:nvPr>
            <p:ph type="sldNum" sz="quarter" idx="4294967295"/>
          </p:nvPr>
        </p:nvSpPr>
        <p:spPr>
          <a:xfrm>
            <a:off x="10260074" y="6400800"/>
            <a:ext cx="195201" cy="2892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t"/>
          <a:lstStyle>
            <a:lvl1pPr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62" name="Syllabus"/>
          <p:cNvSpPr txBox="1"/>
          <p:nvPr/>
        </p:nvSpPr>
        <p:spPr>
          <a:xfrm>
            <a:off x="2024399" y="518350"/>
            <a:ext cx="7686001" cy="58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 u="sng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Syllabus</a:t>
            </a:r>
          </a:p>
        </p:txBody>
      </p:sp>
      <p:sp>
        <p:nvSpPr>
          <p:cNvPr id="63" name="Book: Computer Networking – A Top Down Approach – Featuring the Internet by J. Kurose and K. Ross (7E)…"/>
          <p:cNvSpPr txBox="1"/>
          <p:nvPr/>
        </p:nvSpPr>
        <p:spPr>
          <a:xfrm>
            <a:off x="2122824" y="1247775"/>
            <a:ext cx="7933651" cy="467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/>
          <a:p>
            <a:pPr marL="336550" indent="-330200">
              <a:spcBef>
                <a:spcPts val="4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Book:</a:t>
            </a:r>
            <a:r>
              <a:rPr>
                <a:solidFill>
                  <a:srgbClr val="000000"/>
                </a:solidFill>
              </a:rPr>
              <a:t> Computer Networking – A Top Down Approach – Featuring the Internet by J. Kurose and K. Ross (7E)</a:t>
            </a:r>
          </a:p>
          <a:p>
            <a:pPr marL="336550" indent="-330200">
              <a:spcBef>
                <a:spcPts val="4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u="sng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Reference books:</a:t>
            </a:r>
          </a:p>
          <a:p>
            <a:pPr marL="342900" indent="-336550">
              <a:spcBef>
                <a:spcPts val="400"/>
              </a:spcBef>
              <a:buClr>
                <a:srgbClr val="3333CC"/>
              </a:buClr>
              <a:buSzPct val="85000"/>
              <a:buAutoNum type="arabicPeriod" startAt="1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Data Communications and networking by Forouzan</a:t>
            </a:r>
          </a:p>
          <a:p>
            <a:pPr marL="342900" indent="-336550">
              <a:spcBef>
                <a:spcPts val="400"/>
              </a:spcBef>
              <a:buClr>
                <a:srgbClr val="3333CC"/>
              </a:buClr>
              <a:buSzPct val="85000"/>
              <a:buAutoNum type="arabicPeriod" startAt="1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Resources from Internet</a:t>
            </a:r>
          </a:p>
          <a:p>
            <a:pPr marL="336550" indent="-330200">
              <a:spcBef>
                <a:spcPts val="4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Syllabus:</a:t>
            </a:r>
          </a:p>
          <a:p>
            <a:pPr marL="342900" indent="-336550">
              <a:spcBef>
                <a:spcPts val="400"/>
              </a:spcBef>
              <a:buClr>
                <a:srgbClr val="3333CC"/>
              </a:buClr>
              <a:buSzPct val="85000"/>
              <a:buChar char="❑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Chapter 1 – Introduction to computer networks and the Internet</a:t>
            </a:r>
          </a:p>
          <a:p>
            <a:pPr marL="342900" indent="-336550">
              <a:spcBef>
                <a:spcPts val="400"/>
              </a:spcBef>
              <a:buClr>
                <a:srgbClr val="3333CC"/>
              </a:buClr>
              <a:buSzPct val="85000"/>
              <a:buChar char="❑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Chapter 2 – Application layer: HTTP, SMTP, DNS etc.</a:t>
            </a:r>
          </a:p>
          <a:p>
            <a:pPr marL="342900" indent="-336550">
              <a:spcBef>
                <a:spcPts val="400"/>
              </a:spcBef>
              <a:buClr>
                <a:srgbClr val="3333CC"/>
              </a:buClr>
              <a:buSzPct val="85000"/>
              <a:buChar char="❑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Chapter 3 -Transport Layer Protocols, Congestion Control</a:t>
            </a:r>
          </a:p>
          <a:p>
            <a:pPr marL="342900" indent="-336550">
              <a:spcBef>
                <a:spcPts val="400"/>
              </a:spcBef>
              <a:buClr>
                <a:srgbClr val="3333CC"/>
              </a:buClr>
              <a:buSzPct val="85000"/>
              <a:buChar char="❑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Chapter 4 and 5 – Network Layer (IP Addressing [Forouzan] and Routing protocols </a:t>
            </a:r>
          </a:p>
          <a:p>
            <a:pPr marL="342900" indent="-336550">
              <a:spcBef>
                <a:spcPts val="400"/>
              </a:spcBef>
              <a:buClr>
                <a:srgbClr val="3333CC"/>
              </a:buClr>
              <a:buSzPct val="85000"/>
              <a:buChar char="❑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Chapter 6 -Data Link Layer, WLAN and IEEE 802.11 Medium Access Control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ntroduction"/>
          <p:cNvSpPr txBox="1"/>
          <p:nvPr/>
        </p:nvSpPr>
        <p:spPr>
          <a:xfrm>
            <a:off x="6977400" y="6400800"/>
            <a:ext cx="2809200" cy="33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>
            <a:lvl1pPr algn="r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10058400" algn="l"/>
              </a:tabLst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 Introduction</a:t>
            </a:r>
          </a:p>
        </p:txBody>
      </p:sp>
      <p:sp>
        <p:nvSpPr>
          <p:cNvPr id="66" name="Slide Number"/>
          <p:cNvSpPr txBox="1"/>
          <p:nvPr>
            <p:ph type="sldNum" sz="quarter" idx="4294967295"/>
          </p:nvPr>
        </p:nvSpPr>
        <p:spPr>
          <a:xfrm>
            <a:off x="10250091" y="6400800"/>
            <a:ext cx="205185" cy="2909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t"/>
          <a:lstStyle>
            <a:lvl1pPr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10058400" algn="l"/>
              </a:tabLst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67" name="Course Administration"/>
          <p:cNvSpPr txBox="1"/>
          <p:nvPr/>
        </p:nvSpPr>
        <p:spPr>
          <a:xfrm>
            <a:off x="2024399" y="410399"/>
            <a:ext cx="7686001" cy="8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>
            <a:spAutoFit/>
          </a:bodyPr>
          <a:lstStyle>
            <a:lvl1pPr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10058400" algn="l"/>
              </a:tabLst>
              <a:defRPr sz="4000" u="sng">
                <a:solidFill>
                  <a:srgbClr val="3333CC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Course Administration</a:t>
            </a:r>
          </a:p>
        </p:txBody>
      </p:sp>
      <p:sp>
        <p:nvSpPr>
          <p:cNvPr id="68" name="Continuous – 60  Marks…"/>
          <p:cNvSpPr txBox="1"/>
          <p:nvPr/>
        </p:nvSpPr>
        <p:spPr>
          <a:xfrm>
            <a:off x="2122824" y="1247775"/>
            <a:ext cx="7933651" cy="377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>
            <a:spAutoFit/>
          </a:bodyPr>
          <a:lstStyle/>
          <a:p>
            <a:pPr marL="334962" indent="-327025" defTabSz="457200">
              <a:spcBef>
                <a:spcPts val="5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20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Continuous – 60  Marks</a:t>
            </a:r>
          </a:p>
          <a:p>
            <a:pPr marL="334962" indent="-327025" defTabSz="457200">
              <a:spcBef>
                <a:spcPts val="5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20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Final Exam – 40 Marks</a:t>
            </a:r>
          </a:p>
          <a:p>
            <a:pPr marL="334962" indent="-327025" defTabSz="457200">
              <a:spcBef>
                <a:spcPts val="5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20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marL="334962" indent="-327025" defTabSz="457200">
              <a:spcBef>
                <a:spcPts val="5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2000" u="sng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Continuous Breakdowns:</a:t>
            </a:r>
          </a:p>
          <a:p>
            <a:pPr marL="334962" indent="-327025" defTabSz="457200">
              <a:spcBef>
                <a:spcPts val="5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	Mid-term  exam ( 25 marks)</a:t>
            </a:r>
          </a:p>
          <a:p>
            <a:pPr marL="334962" indent="-327025" defTabSz="457200">
              <a:spcBef>
                <a:spcPts val="5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	Assignments/Quiz (10) </a:t>
            </a:r>
          </a:p>
          <a:p>
            <a:pPr marL="334962" indent="-327025" defTabSz="457200">
              <a:spcBef>
                <a:spcPts val="3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1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	</a:t>
            </a:r>
            <a:r>
              <a:rPr sz="1800"/>
              <a:t>Class </a:t>
            </a:r>
            <a:r>
              <a:rPr sz="2000"/>
              <a:t>Attendance</a:t>
            </a:r>
            <a:r>
              <a:rPr sz="1800"/>
              <a:t> (05 Marks):</a:t>
            </a:r>
            <a:endParaRPr sz="1800"/>
          </a:p>
          <a:p>
            <a:pPr marL="334962" indent="-327025" defTabSz="457200">
              <a:spcBef>
                <a:spcPts val="5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	Lab (20 Marks)</a:t>
            </a:r>
          </a:p>
          <a:p>
            <a:pPr marL="334962" indent="-327025" defTabSz="457200">
              <a:spcBef>
                <a:spcPts val="500"/>
              </a:spcBef>
              <a:tabLst>
                <a:tab pos="330200" algn="l"/>
                <a:tab pos="787400" algn="l"/>
                <a:tab pos="1244600" algn="l"/>
                <a:tab pos="1701800" algn="l"/>
                <a:tab pos="2159000" algn="l"/>
                <a:tab pos="2616200" algn="l"/>
                <a:tab pos="3073400" algn="l"/>
                <a:tab pos="3530600" algn="l"/>
                <a:tab pos="3987800" algn="l"/>
                <a:tab pos="4445000" algn="l"/>
                <a:tab pos="4902200" algn="l"/>
                <a:tab pos="5359400" algn="l"/>
                <a:tab pos="5816600" algn="l"/>
                <a:tab pos="6273800" algn="l"/>
                <a:tab pos="6731000" algn="l"/>
                <a:tab pos="7188200" algn="l"/>
                <a:tab pos="7645400" algn="l"/>
                <a:tab pos="8102600" algn="l"/>
                <a:tab pos="8559800" algn="l"/>
                <a:tab pos="9017000" algn="l"/>
                <a:tab pos="9474200" algn="l"/>
                <a:tab pos="10058400" algn="l"/>
              </a:tabLst>
              <a:defRPr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	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 txBox="1"/>
          <p:nvPr>
            <p:ph type="title"/>
          </p:nvPr>
        </p:nvSpPr>
        <p:spPr>
          <a:xfrm>
            <a:off x="798690" y="289324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Chapter 1: introduction</a:t>
            </a:r>
          </a:p>
        </p:txBody>
      </p:sp>
      <p:sp>
        <p:nvSpPr>
          <p:cNvPr id="71" name="Content Placeholder 3"/>
          <p:cNvSpPr txBox="1"/>
          <p:nvPr>
            <p:ph type="body" sz="half" idx="1"/>
          </p:nvPr>
        </p:nvSpPr>
        <p:spPr>
          <a:xfrm>
            <a:off x="786815" y="1375384"/>
            <a:ext cx="4842090" cy="4351338"/>
          </a:xfrm>
          <a:prstGeom prst="rect">
            <a:avLst/>
          </a:prstGeom>
        </p:spPr>
        <p:txBody>
          <a:bodyPr/>
          <a:lstStyle/>
          <a:p>
            <a:pPr marL="222250" indent="-92075">
              <a:buSzTx/>
              <a:buFont typeface="Wingdings"/>
              <a:buNone/>
              <a:defRPr i="1" sz="3200">
                <a:solidFill>
                  <a:srgbClr val="CC0000"/>
                </a:solidFill>
              </a:defRPr>
            </a:pPr>
            <a:r>
              <a:t>Chapter goal: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marL="342900" indent="-225425">
              <a:spcBef>
                <a:spcPts val="600"/>
              </a:spcBef>
            </a:pPr>
            <a:r>
              <a:t>Get “feel,” “big picture,” introduction to terminology</a:t>
            </a:r>
          </a:p>
          <a:p>
            <a:pPr lvl="1" marL="800100" indent="-225425">
              <a:spcBef>
                <a:spcPts val="600"/>
              </a:spcBef>
              <a:buClr>
                <a:srgbClr val="0000A8"/>
              </a:buClr>
              <a:buFont typeface="Arial"/>
            </a:pPr>
            <a:r>
              <a:t>more depth, detail </a:t>
            </a:r>
            <a:r>
              <a:rPr i="1"/>
              <a:t>later</a:t>
            </a:r>
            <a:r>
              <a:t> in course</a:t>
            </a:r>
          </a:p>
        </p:txBody>
      </p:sp>
      <p:sp>
        <p:nvSpPr>
          <p:cNvPr id="72" name="Rectangle 4"/>
          <p:cNvSpPr txBox="1"/>
          <p:nvPr/>
        </p:nvSpPr>
        <p:spPr>
          <a:xfrm>
            <a:off x="6014136" y="1422888"/>
            <a:ext cx="5902960" cy="4799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2250" indent="-92075">
              <a:lnSpc>
                <a:spcPct val="81000"/>
              </a:lnSpc>
              <a:spcBef>
                <a:spcPts val="1000"/>
              </a:spcBef>
              <a:defRPr i="1" sz="3200">
                <a:solidFill>
                  <a:srgbClr val="CC0000"/>
                </a:solidFill>
              </a:defRPr>
            </a:pPr>
            <a:r>
              <a:t>Overview/roadmap:</a:t>
            </a:r>
            <a:endParaRPr sz="2800"/>
          </a:p>
          <a:p>
            <a:pPr marL="403225" indent="-285750">
              <a:lnSpc>
                <a:spcPct val="81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600"/>
            </a:pPr>
            <a:r>
              <a:t>What </a:t>
            </a:r>
            <a:r>
              <a:rPr i="1"/>
              <a:t>is</a:t>
            </a:r>
            <a:r>
              <a:t> the Internet? What</a:t>
            </a:r>
            <a:r>
              <a:rPr i="1"/>
              <a:t> is </a:t>
            </a:r>
            <a:r>
              <a:t>a protocol?</a:t>
            </a:r>
            <a:endParaRPr sz="2800"/>
          </a:p>
          <a:p>
            <a:pPr marL="403225" indent="-285750">
              <a:lnSpc>
                <a:spcPct val="81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600">
                <a:solidFill>
                  <a:srgbClr val="0000A8"/>
                </a:solidFill>
              </a:defRPr>
            </a:pPr>
            <a:r>
              <a:t>Network edge: </a:t>
            </a:r>
            <a:r>
              <a:rPr>
                <a:solidFill>
                  <a:srgbClr val="000000"/>
                </a:solidFill>
              </a:rPr>
              <a:t>hosts, access network, physical media</a:t>
            </a:r>
            <a:endParaRPr sz="2800"/>
          </a:p>
          <a:p>
            <a:pPr marL="403225" indent="-285750">
              <a:lnSpc>
                <a:spcPct val="81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600">
                <a:solidFill>
                  <a:srgbClr val="0000A8"/>
                </a:solidFill>
              </a:defRPr>
            </a:pPr>
            <a:r>
              <a:t>Network core: </a:t>
            </a:r>
            <a:r>
              <a:rPr>
                <a:solidFill>
                  <a:srgbClr val="000000"/>
                </a:solidFill>
              </a:rPr>
              <a:t>packet/circuit switching, internet structure</a:t>
            </a:r>
            <a:endParaRPr sz="2800"/>
          </a:p>
          <a:p>
            <a:pPr marL="403225" indent="-285750">
              <a:lnSpc>
                <a:spcPct val="81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600">
                <a:solidFill>
                  <a:srgbClr val="0000A8"/>
                </a:solidFill>
              </a:defRPr>
            </a:pPr>
            <a:r>
              <a:t>Performance: </a:t>
            </a:r>
            <a:r>
              <a:rPr>
                <a:solidFill>
                  <a:srgbClr val="000000"/>
                </a:solidFill>
              </a:rPr>
              <a:t>loss, delay, throughput</a:t>
            </a:r>
            <a:endParaRPr sz="2800"/>
          </a:p>
          <a:p>
            <a:pPr marL="403225" indent="-285750">
              <a:lnSpc>
                <a:spcPct val="81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600"/>
            </a:pPr>
            <a:r>
              <a:t>Protocol layers, service models</a:t>
            </a:r>
            <a:endParaRPr sz="2800"/>
          </a:p>
          <a:p>
            <a:pPr marL="403225" indent="-285750">
              <a:lnSpc>
                <a:spcPct val="81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600"/>
            </a:pPr>
            <a:r>
              <a:t>Security</a:t>
            </a:r>
            <a:endParaRPr sz="2800"/>
          </a:p>
          <a:p>
            <a:pPr marL="403225" indent="-285750">
              <a:lnSpc>
                <a:spcPct val="81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600"/>
            </a:pPr>
            <a:r>
              <a:t>History</a:t>
            </a:r>
          </a:p>
        </p:txBody>
      </p:sp>
      <p:sp>
        <p:nvSpPr>
          <p:cNvPr id="73" name="Slide Number Placeholder 2"/>
          <p:cNvSpPr txBox="1"/>
          <p:nvPr>
            <p:ph type="sldNum" sz="quarter" idx="2"/>
          </p:nvPr>
        </p:nvSpPr>
        <p:spPr>
          <a:xfrm>
            <a:off x="11787871" y="6512797"/>
            <a:ext cx="174946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6" name="Group 9"/>
          <p:cNvGrpSpPr/>
          <p:nvPr/>
        </p:nvGrpSpPr>
        <p:grpSpPr>
          <a:xfrm>
            <a:off x="1055075" y="3732974"/>
            <a:ext cx="3313140" cy="2488927"/>
            <a:chOff x="0" y="0"/>
            <a:chExt cx="3313138" cy="2488925"/>
          </a:xfrm>
        </p:grpSpPr>
        <p:pic>
          <p:nvPicPr>
            <p:cNvPr id="74" name="Picture 4" descr="Picture 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48603"/>
              <a:ext cx="3313139" cy="2440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5" name="Rectangle 6"/>
            <p:cNvSpPr/>
            <p:nvPr/>
          </p:nvSpPr>
          <p:spPr>
            <a:xfrm>
              <a:off x="-1" y="-1"/>
              <a:ext cx="3313140" cy="244550"/>
            </a:xfrm>
            <a:prstGeom prst="rect">
              <a:avLst/>
            </a:prstGeom>
            <a:solidFill>
              <a:srgbClr val="559BD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500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7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3"/>
          <p:cNvSpPr txBox="1"/>
          <p:nvPr/>
        </p:nvSpPr>
        <p:spPr>
          <a:xfrm>
            <a:off x="9236158" y="3479610"/>
            <a:ext cx="127442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Internet</a:t>
            </a:r>
          </a:p>
        </p:txBody>
      </p:sp>
      <p:sp>
        <p:nvSpPr>
          <p:cNvPr id="79" name="Rectangle 4"/>
          <p:cNvSpPr/>
          <p:nvPr/>
        </p:nvSpPr>
        <p:spPr>
          <a:xfrm>
            <a:off x="9250302" y="3526526"/>
            <a:ext cx="1558256" cy="5389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" name="Title 1"/>
          <p:cNvSpPr txBox="1"/>
          <p:nvPr>
            <p:ph type="title"/>
          </p:nvPr>
        </p:nvSpPr>
        <p:spPr>
          <a:xfrm>
            <a:off x="798690" y="22903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The Internet: a “nuts and bolts” view</a:t>
            </a:r>
          </a:p>
        </p:txBody>
      </p:sp>
      <p:grpSp>
        <p:nvGrpSpPr>
          <p:cNvPr id="115" name="Group 800"/>
          <p:cNvGrpSpPr/>
          <p:nvPr/>
        </p:nvGrpSpPr>
        <p:grpSpPr>
          <a:xfrm>
            <a:off x="7205349" y="1488460"/>
            <a:ext cx="4450274" cy="4844855"/>
            <a:chOff x="112847" y="0"/>
            <a:chExt cx="4450272" cy="4844852"/>
          </a:xfrm>
        </p:grpSpPr>
        <p:sp>
          <p:nvSpPr>
            <p:cNvPr id="81" name="Freeform 370"/>
            <p:cNvSpPr/>
            <p:nvPr/>
          </p:nvSpPr>
          <p:spPr>
            <a:xfrm>
              <a:off x="1892684" y="1577316"/>
              <a:ext cx="1124809" cy="1337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9" h="20510" fill="norm" stroke="1" extrusionOk="0">
                  <a:moveTo>
                    <a:pt x="4338" y="7022"/>
                  </a:moveTo>
                  <a:cubicBezTo>
                    <a:pt x="2763" y="8848"/>
                    <a:pt x="1382" y="9254"/>
                    <a:pt x="902" y="11320"/>
                  </a:cubicBezTo>
                  <a:cubicBezTo>
                    <a:pt x="422" y="13386"/>
                    <a:pt x="-1132" y="17789"/>
                    <a:pt x="1456" y="19418"/>
                  </a:cubicBezTo>
                  <a:cubicBezTo>
                    <a:pt x="4045" y="21047"/>
                    <a:pt x="14587" y="20622"/>
                    <a:pt x="17527" y="19646"/>
                  </a:cubicBezTo>
                  <a:cubicBezTo>
                    <a:pt x="20468" y="18669"/>
                    <a:pt x="19432" y="15068"/>
                    <a:pt x="19100" y="13560"/>
                  </a:cubicBezTo>
                  <a:cubicBezTo>
                    <a:pt x="18768" y="12052"/>
                    <a:pt x="15646" y="13090"/>
                    <a:pt x="15536" y="10596"/>
                  </a:cubicBezTo>
                  <a:cubicBezTo>
                    <a:pt x="15746" y="7905"/>
                    <a:pt x="18905" y="7477"/>
                    <a:pt x="19045" y="5962"/>
                  </a:cubicBezTo>
                  <a:cubicBezTo>
                    <a:pt x="19184" y="4446"/>
                    <a:pt x="18059" y="3477"/>
                    <a:pt x="16373" y="1502"/>
                  </a:cubicBezTo>
                  <a:cubicBezTo>
                    <a:pt x="15001" y="420"/>
                    <a:pt x="12357" y="-553"/>
                    <a:pt x="10351" y="367"/>
                  </a:cubicBezTo>
                  <a:cubicBezTo>
                    <a:pt x="8345" y="1287"/>
                    <a:pt x="5912" y="5197"/>
                    <a:pt x="4338" y="7022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2" name="Freeform 417"/>
            <p:cNvSpPr/>
            <p:nvPr/>
          </p:nvSpPr>
          <p:spPr>
            <a:xfrm>
              <a:off x="189892" y="342805"/>
              <a:ext cx="1715493" cy="1301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85" name="Group 418"/>
            <p:cNvGrpSpPr/>
            <p:nvPr/>
          </p:nvGrpSpPr>
          <p:grpSpPr>
            <a:xfrm>
              <a:off x="112847" y="1800790"/>
              <a:ext cx="1458913" cy="933450"/>
              <a:chOff x="112847" y="0"/>
              <a:chExt cx="1458911" cy="933449"/>
            </a:xfrm>
          </p:grpSpPr>
          <p:sp>
            <p:nvSpPr>
              <p:cNvPr id="83" name="Rectangle 419"/>
              <p:cNvSpPr/>
              <p:nvPr/>
            </p:nvSpPr>
            <p:spPr>
              <a:xfrm>
                <a:off x="346571" y="263828"/>
                <a:ext cx="986999" cy="669622"/>
              </a:xfrm>
              <a:prstGeom prst="rect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4" name="AutoShape 420"/>
              <p:cNvSpPr/>
              <p:nvPr/>
            </p:nvSpPr>
            <p:spPr>
              <a:xfrm>
                <a:off x="112847" y="0"/>
                <a:ext cx="1458913" cy="317851"/>
              </a:xfrm>
              <a:prstGeom prst="triangl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>
                    <a:solidFill>
                      <a:srgbClr val="00CC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86" name="Freeform 427"/>
            <p:cNvSpPr/>
            <p:nvPr/>
          </p:nvSpPr>
          <p:spPr>
            <a:xfrm>
              <a:off x="635963" y="3206000"/>
              <a:ext cx="3042747" cy="1638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0" h="21257" fill="norm" stroke="1" extrusionOk="0">
                  <a:moveTo>
                    <a:pt x="10487" y="388"/>
                  </a:moveTo>
                  <a:cubicBezTo>
                    <a:pt x="9540" y="780"/>
                    <a:pt x="9151" y="2283"/>
                    <a:pt x="8293" y="2427"/>
                  </a:cubicBezTo>
                  <a:cubicBezTo>
                    <a:pt x="7436" y="2571"/>
                    <a:pt x="6423" y="1336"/>
                    <a:pt x="5320" y="1253"/>
                  </a:cubicBezTo>
                  <a:cubicBezTo>
                    <a:pt x="4218" y="1171"/>
                    <a:pt x="2526" y="841"/>
                    <a:pt x="1646" y="1933"/>
                  </a:cubicBezTo>
                  <a:cubicBezTo>
                    <a:pt x="767" y="3024"/>
                    <a:pt x="199" y="5989"/>
                    <a:pt x="43" y="7863"/>
                  </a:cubicBezTo>
                  <a:cubicBezTo>
                    <a:pt x="-113" y="9737"/>
                    <a:pt x="165" y="12105"/>
                    <a:pt x="678" y="13196"/>
                  </a:cubicBezTo>
                  <a:cubicBezTo>
                    <a:pt x="1190" y="14287"/>
                    <a:pt x="2169" y="13546"/>
                    <a:pt x="3094" y="14390"/>
                  </a:cubicBezTo>
                  <a:cubicBezTo>
                    <a:pt x="4018" y="15235"/>
                    <a:pt x="4897" y="17191"/>
                    <a:pt x="6211" y="18241"/>
                  </a:cubicBezTo>
                  <a:cubicBezTo>
                    <a:pt x="7525" y="19291"/>
                    <a:pt x="9373" y="20259"/>
                    <a:pt x="10976" y="20732"/>
                  </a:cubicBezTo>
                  <a:cubicBezTo>
                    <a:pt x="12580" y="21185"/>
                    <a:pt x="14461" y="21453"/>
                    <a:pt x="15842" y="21082"/>
                  </a:cubicBezTo>
                  <a:cubicBezTo>
                    <a:pt x="17223" y="20691"/>
                    <a:pt x="18336" y="19620"/>
                    <a:pt x="19249" y="18529"/>
                  </a:cubicBezTo>
                  <a:cubicBezTo>
                    <a:pt x="20162" y="17458"/>
                    <a:pt x="21108" y="16820"/>
                    <a:pt x="21298" y="14555"/>
                  </a:cubicBezTo>
                  <a:cubicBezTo>
                    <a:pt x="21487" y="12290"/>
                    <a:pt x="21019" y="7060"/>
                    <a:pt x="20362" y="5021"/>
                  </a:cubicBezTo>
                  <a:cubicBezTo>
                    <a:pt x="19706" y="2962"/>
                    <a:pt x="18392" y="3003"/>
                    <a:pt x="17323" y="2200"/>
                  </a:cubicBezTo>
                  <a:cubicBezTo>
                    <a:pt x="16254" y="1418"/>
                    <a:pt x="15085" y="471"/>
                    <a:pt x="13949" y="162"/>
                  </a:cubicBezTo>
                  <a:cubicBezTo>
                    <a:pt x="12814" y="-147"/>
                    <a:pt x="11433" y="18"/>
                    <a:pt x="10487" y="388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" name="Text Box 580"/>
            <p:cNvSpPr txBox="1"/>
            <p:nvPr/>
          </p:nvSpPr>
          <p:spPr>
            <a:xfrm>
              <a:off x="632491" y="0"/>
              <a:ext cx="1246124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/>
              </a:lvl1pPr>
            </a:lstStyle>
            <a:p>
              <a:pPr/>
              <a:r>
                <a:t>mobile network</a:t>
              </a:r>
            </a:p>
          </p:txBody>
        </p:sp>
        <p:sp>
          <p:nvSpPr>
            <p:cNvPr id="88" name="Text Box 580"/>
            <p:cNvSpPr txBox="1"/>
            <p:nvPr/>
          </p:nvSpPr>
          <p:spPr>
            <a:xfrm>
              <a:off x="284052" y="2703461"/>
              <a:ext cx="1864207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80000"/>
                </a:lnSpc>
                <a:defRPr sz="1400"/>
              </a:lvl1pPr>
            </a:lstStyle>
            <a:p>
              <a:pPr/>
              <a:r>
                <a:t>home network</a:t>
              </a:r>
            </a:p>
          </p:txBody>
        </p:sp>
        <p:sp>
          <p:nvSpPr>
            <p:cNvPr id="89" name="Text Box 580"/>
            <p:cNvSpPr txBox="1"/>
            <p:nvPr/>
          </p:nvSpPr>
          <p:spPr>
            <a:xfrm>
              <a:off x="260125" y="4291314"/>
              <a:ext cx="1108607" cy="4715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80000"/>
                </a:lnSpc>
                <a:defRPr sz="1400"/>
              </a:pPr>
              <a:r>
                <a:t>enterprise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>
                <a:lnSpc>
                  <a:spcPct val="80000"/>
                </a:lnSpc>
                <a:defRPr sz="1400"/>
              </a:pPr>
              <a:r>
                <a:t>          network</a:t>
              </a:r>
            </a:p>
          </p:txBody>
        </p:sp>
        <p:sp>
          <p:nvSpPr>
            <p:cNvPr id="90" name="Freeform 371"/>
            <p:cNvSpPr/>
            <p:nvPr/>
          </p:nvSpPr>
          <p:spPr>
            <a:xfrm>
              <a:off x="3129642" y="1691078"/>
              <a:ext cx="1273169" cy="1935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7" h="20945" fill="norm" stroke="1" extrusionOk="0">
                  <a:moveTo>
                    <a:pt x="518" y="4719"/>
                  </a:moveTo>
                  <a:cubicBezTo>
                    <a:pt x="-13" y="6632"/>
                    <a:pt x="-204" y="10040"/>
                    <a:pt x="271" y="12041"/>
                  </a:cubicBezTo>
                  <a:cubicBezTo>
                    <a:pt x="746" y="14041"/>
                    <a:pt x="685" y="15290"/>
                    <a:pt x="3366" y="16725"/>
                  </a:cubicBezTo>
                  <a:cubicBezTo>
                    <a:pt x="6048" y="18159"/>
                    <a:pt x="13461" y="20187"/>
                    <a:pt x="16360" y="20649"/>
                  </a:cubicBezTo>
                  <a:cubicBezTo>
                    <a:pt x="19260" y="21111"/>
                    <a:pt x="20132" y="21234"/>
                    <a:pt x="20764" y="19498"/>
                  </a:cubicBezTo>
                  <a:cubicBezTo>
                    <a:pt x="21396" y="17761"/>
                    <a:pt x="20190" y="13347"/>
                    <a:pt x="20153" y="10230"/>
                  </a:cubicBezTo>
                  <a:cubicBezTo>
                    <a:pt x="20116" y="7114"/>
                    <a:pt x="21104" y="1964"/>
                    <a:pt x="20540" y="799"/>
                  </a:cubicBezTo>
                  <a:cubicBezTo>
                    <a:pt x="19976" y="-366"/>
                    <a:pt x="6793" y="-88"/>
                    <a:pt x="3456" y="566"/>
                  </a:cubicBezTo>
                  <a:cubicBezTo>
                    <a:pt x="119" y="1219"/>
                    <a:pt x="1048" y="2807"/>
                    <a:pt x="518" y="471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58999">
                  <a:srgbClr val="DEEBF7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99" name="Group 373"/>
            <p:cNvGrpSpPr/>
            <p:nvPr/>
          </p:nvGrpSpPr>
          <p:grpSpPr>
            <a:xfrm>
              <a:off x="3745197" y="2439589"/>
              <a:ext cx="687394" cy="721549"/>
              <a:chOff x="0" y="0"/>
              <a:chExt cx="687392" cy="721548"/>
            </a:xfrm>
          </p:grpSpPr>
          <p:sp>
            <p:nvSpPr>
              <p:cNvPr id="91" name="Freeform 381"/>
              <p:cNvSpPr/>
              <p:nvPr/>
            </p:nvSpPr>
            <p:spPr>
              <a:xfrm>
                <a:off x="267227" y="-1"/>
                <a:ext cx="420166" cy="7212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47" y="21482"/>
                    </a:moveTo>
                    <a:cubicBezTo>
                      <a:pt x="348" y="15108"/>
                      <a:pt x="99" y="9089"/>
                      <a:pt x="0" y="2715"/>
                    </a:cubicBezTo>
                    <a:lnTo>
                      <a:pt x="10279" y="0"/>
                    </a:lnTo>
                    <a:lnTo>
                      <a:pt x="21451" y="2243"/>
                    </a:lnTo>
                    <a:lnTo>
                      <a:pt x="21600" y="21600"/>
                    </a:lnTo>
                    <a:lnTo>
                      <a:pt x="447" y="21482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" name="Freeform 382"/>
              <p:cNvSpPr/>
              <p:nvPr/>
            </p:nvSpPr>
            <p:spPr>
              <a:xfrm>
                <a:off x="0" y="185234"/>
                <a:ext cx="521585" cy="5359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6194"/>
                    </a:lnTo>
                    <a:lnTo>
                      <a:pt x="14040" y="0"/>
                    </a:lnTo>
                    <a:lnTo>
                      <a:pt x="21480" y="2541"/>
                    </a:lnTo>
                    <a:lnTo>
                      <a:pt x="21600" y="21600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3" name="Straight Connector 383"/>
              <p:cNvSpPr/>
              <p:nvPr/>
            </p:nvSpPr>
            <p:spPr>
              <a:xfrm flipV="1">
                <a:off x="54006" y="303213"/>
                <a:ext cx="236450" cy="80027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4" name="Straight Connector 384"/>
              <p:cNvSpPr/>
              <p:nvPr/>
            </p:nvSpPr>
            <p:spPr>
              <a:xfrm flipV="1">
                <a:off x="57914" y="556094"/>
                <a:ext cx="232542" cy="18248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5" name="Straight Connector 385"/>
              <p:cNvSpPr/>
              <p:nvPr/>
            </p:nvSpPr>
            <p:spPr>
              <a:xfrm flipV="1">
                <a:off x="57914" y="436343"/>
                <a:ext cx="232542" cy="52723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6" name="Straight Connector 386"/>
              <p:cNvSpPr/>
              <p:nvPr/>
            </p:nvSpPr>
            <p:spPr>
              <a:xfrm>
                <a:off x="53660" y="656716"/>
                <a:ext cx="236796" cy="1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7" name="Straight Connector 387"/>
              <p:cNvSpPr/>
              <p:nvPr/>
            </p:nvSpPr>
            <p:spPr>
              <a:xfrm flipV="1">
                <a:off x="598356" y="126039"/>
                <a:ext cx="1" cy="506809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ysDash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" name="Straight Connector 388"/>
              <p:cNvSpPr/>
              <p:nvPr/>
            </p:nvSpPr>
            <p:spPr>
              <a:xfrm flipH="1">
                <a:off x="340760" y="202125"/>
                <a:ext cx="1" cy="519424"/>
              </a:xfrm>
              <a:prstGeom prst="line">
                <a:avLst/>
              </a:prstGeom>
              <a:noFill/>
              <a:ln w="15875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8" name="Group 390"/>
            <p:cNvGrpSpPr/>
            <p:nvPr/>
          </p:nvGrpSpPr>
          <p:grpSpPr>
            <a:xfrm>
              <a:off x="3678668" y="1705710"/>
              <a:ext cx="594614" cy="648336"/>
              <a:chOff x="0" y="0"/>
              <a:chExt cx="594612" cy="648335"/>
            </a:xfrm>
          </p:grpSpPr>
          <p:sp>
            <p:nvSpPr>
              <p:cNvPr id="100" name="Freeform 398"/>
              <p:cNvSpPr/>
              <p:nvPr/>
            </p:nvSpPr>
            <p:spPr>
              <a:xfrm>
                <a:off x="231158" y="0"/>
                <a:ext cx="363455" cy="6480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47" y="21482"/>
                    </a:moveTo>
                    <a:cubicBezTo>
                      <a:pt x="348" y="15108"/>
                      <a:pt x="99" y="9089"/>
                      <a:pt x="0" y="2715"/>
                    </a:cubicBezTo>
                    <a:lnTo>
                      <a:pt x="10279" y="0"/>
                    </a:lnTo>
                    <a:lnTo>
                      <a:pt x="21451" y="2243"/>
                    </a:lnTo>
                    <a:lnTo>
                      <a:pt x="21600" y="21600"/>
                    </a:lnTo>
                    <a:lnTo>
                      <a:pt x="447" y="21482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1" name="Freeform 399"/>
              <p:cNvSpPr/>
              <p:nvPr/>
            </p:nvSpPr>
            <p:spPr>
              <a:xfrm>
                <a:off x="-1" y="166439"/>
                <a:ext cx="451186" cy="4816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6194"/>
                    </a:lnTo>
                    <a:lnTo>
                      <a:pt x="14040" y="0"/>
                    </a:lnTo>
                    <a:lnTo>
                      <a:pt x="21480" y="2541"/>
                    </a:lnTo>
                    <a:lnTo>
                      <a:pt x="21600" y="21600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" name="Straight Connector 400"/>
              <p:cNvSpPr/>
              <p:nvPr/>
            </p:nvSpPr>
            <p:spPr>
              <a:xfrm flipV="1">
                <a:off x="46717" y="272447"/>
                <a:ext cx="204536" cy="71907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3" name="Straight Connector 401"/>
              <p:cNvSpPr/>
              <p:nvPr/>
            </p:nvSpPr>
            <p:spPr>
              <a:xfrm flipV="1">
                <a:off x="50097" y="499671"/>
                <a:ext cx="201155" cy="16396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4" name="Straight Connector 402"/>
              <p:cNvSpPr/>
              <p:nvPr/>
            </p:nvSpPr>
            <p:spPr>
              <a:xfrm flipV="1">
                <a:off x="50097" y="392068"/>
                <a:ext cx="201155" cy="47374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5" name="Straight Connector 403"/>
              <p:cNvSpPr/>
              <p:nvPr/>
            </p:nvSpPr>
            <p:spPr>
              <a:xfrm>
                <a:off x="46418" y="590082"/>
                <a:ext cx="204835" cy="1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6" name="Straight Connector 404"/>
              <p:cNvSpPr/>
              <p:nvPr/>
            </p:nvSpPr>
            <p:spPr>
              <a:xfrm flipV="1">
                <a:off x="517593" y="113251"/>
                <a:ext cx="1" cy="455385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ysDash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" name="Straight Connector 405"/>
              <p:cNvSpPr/>
              <p:nvPr/>
            </p:nvSpPr>
            <p:spPr>
              <a:xfrm flipH="1">
                <a:off x="294767" y="181616"/>
                <a:ext cx="1" cy="466720"/>
              </a:xfrm>
              <a:prstGeom prst="line">
                <a:avLst/>
              </a:prstGeom>
              <a:noFill/>
              <a:ln w="15875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109" name="Freeform 561"/>
            <p:cNvSpPr/>
            <p:nvPr/>
          </p:nvSpPr>
          <p:spPr>
            <a:xfrm>
              <a:off x="2448309" y="293581"/>
              <a:ext cx="1497866" cy="1386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83" h="20611" fill="norm" stroke="1" extrusionOk="0">
                  <a:moveTo>
                    <a:pt x="1755" y="1299"/>
                  </a:moveTo>
                  <a:cubicBezTo>
                    <a:pt x="-1661" y="2817"/>
                    <a:pt x="832" y="7519"/>
                    <a:pt x="1567" y="10647"/>
                  </a:cubicBezTo>
                  <a:cubicBezTo>
                    <a:pt x="2301" y="13775"/>
                    <a:pt x="4122" y="18876"/>
                    <a:pt x="6162" y="20070"/>
                  </a:cubicBezTo>
                  <a:cubicBezTo>
                    <a:pt x="8201" y="21264"/>
                    <a:pt x="12080" y="20470"/>
                    <a:pt x="13806" y="17812"/>
                  </a:cubicBezTo>
                  <a:cubicBezTo>
                    <a:pt x="15532" y="15155"/>
                    <a:pt x="18183" y="18900"/>
                    <a:pt x="19061" y="17194"/>
                  </a:cubicBezTo>
                  <a:cubicBezTo>
                    <a:pt x="19939" y="15489"/>
                    <a:pt x="19192" y="10293"/>
                    <a:pt x="19074" y="7579"/>
                  </a:cubicBezTo>
                  <a:cubicBezTo>
                    <a:pt x="18955" y="4865"/>
                    <a:pt x="18817" y="2156"/>
                    <a:pt x="18352" y="910"/>
                  </a:cubicBezTo>
                  <a:cubicBezTo>
                    <a:pt x="17887" y="-336"/>
                    <a:pt x="14336" y="38"/>
                    <a:pt x="11570" y="103"/>
                  </a:cubicBezTo>
                  <a:cubicBezTo>
                    <a:pt x="8804" y="167"/>
                    <a:pt x="5171" y="-218"/>
                    <a:pt x="1755" y="129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57000">
                  <a:srgbClr val="DEEBF7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0" name="TextBox 572"/>
            <p:cNvSpPr txBox="1"/>
            <p:nvPr/>
          </p:nvSpPr>
          <p:spPr>
            <a:xfrm>
              <a:off x="2380418" y="362734"/>
              <a:ext cx="1626901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defRPr sz="1400"/>
              </a:lvl1pPr>
            </a:lstStyle>
            <a:p>
              <a:pPr/>
              <a:r>
                <a:t>national or global ISP</a:t>
              </a:r>
            </a:p>
          </p:txBody>
        </p:sp>
        <p:sp>
          <p:nvSpPr>
            <p:cNvPr id="111" name="Rectangle 654"/>
            <p:cNvSpPr/>
            <p:nvPr/>
          </p:nvSpPr>
          <p:spPr>
            <a:xfrm>
              <a:off x="2186565" y="2189447"/>
              <a:ext cx="305749" cy="197848"/>
            </a:xfrm>
            <a:prstGeom prst="rect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2" name="TextBox 652"/>
            <p:cNvSpPr txBox="1"/>
            <p:nvPr/>
          </p:nvSpPr>
          <p:spPr>
            <a:xfrm>
              <a:off x="1719379" y="1959458"/>
              <a:ext cx="949199" cy="490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defRPr sz="1400"/>
              </a:lvl1pPr>
            </a:lstStyle>
            <a:p>
              <a:pPr/>
              <a:r>
                <a:t>local or regional ISP</a:t>
              </a:r>
            </a:p>
          </p:txBody>
        </p:sp>
        <p:sp>
          <p:nvSpPr>
            <p:cNvPr id="113" name="TextBox 656"/>
            <p:cNvSpPr txBox="1"/>
            <p:nvPr/>
          </p:nvSpPr>
          <p:spPr>
            <a:xfrm>
              <a:off x="3870984" y="3189476"/>
              <a:ext cx="692136" cy="3799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90000"/>
                </a:lnSpc>
                <a:defRPr sz="1000"/>
              </a:pPr>
              <a:r>
                <a:t>datacenter </a:t>
              </a:r>
            </a:p>
            <a:p>
              <a:pPr>
                <a:lnSpc>
                  <a:spcPct val="90000"/>
                </a:lnSpc>
                <a:defRPr sz="1000"/>
              </a:pPr>
              <a:r>
                <a:t>network</a:t>
              </a:r>
            </a:p>
          </p:txBody>
        </p:sp>
        <p:sp>
          <p:nvSpPr>
            <p:cNvPr id="114" name="TextBox 657"/>
            <p:cNvSpPr txBox="1"/>
            <p:nvPr/>
          </p:nvSpPr>
          <p:spPr>
            <a:xfrm>
              <a:off x="3016235" y="2739787"/>
              <a:ext cx="754830" cy="7001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90000"/>
                </a:lnSpc>
                <a:defRPr sz="1400"/>
              </a:pPr>
              <a:r>
                <a:t>content </a:t>
              </a:r>
            </a:p>
            <a:p>
              <a:pPr>
                <a:lnSpc>
                  <a:spcPct val="90000"/>
                </a:lnSpc>
                <a:defRPr sz="1400"/>
              </a:pPr>
              <a:r>
                <a:t>provider </a:t>
              </a:r>
            </a:p>
            <a:p>
              <a:pPr>
                <a:lnSpc>
                  <a:spcPct val="90000"/>
                </a:lnSpc>
                <a:defRPr sz="1400"/>
              </a:pPr>
              <a:r>
                <a:t>network</a:t>
              </a:r>
            </a:p>
          </p:txBody>
        </p:sp>
      </p:grpSp>
      <p:grpSp>
        <p:nvGrpSpPr>
          <p:cNvPr id="138" name="Group 1029"/>
          <p:cNvGrpSpPr/>
          <p:nvPr/>
        </p:nvGrpSpPr>
        <p:grpSpPr>
          <a:xfrm>
            <a:off x="1297913" y="3134990"/>
            <a:ext cx="5577481" cy="1305078"/>
            <a:chOff x="0" y="0"/>
            <a:chExt cx="5577480" cy="1305077"/>
          </a:xfrm>
        </p:grpSpPr>
        <p:sp>
          <p:nvSpPr>
            <p:cNvPr id="116" name="Content Placeholder 2"/>
            <p:cNvSpPr txBox="1"/>
            <p:nvPr/>
          </p:nvSpPr>
          <p:spPr>
            <a:xfrm>
              <a:off x="1890769" y="0"/>
              <a:ext cx="3686712" cy="13050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 indent="6858">
                <a:lnSpc>
                  <a:spcPct val="90000"/>
                </a:lnSpc>
                <a:spcBef>
                  <a:spcPts val="600"/>
                </a:spcBef>
                <a:defRPr i="1" sz="2400">
                  <a:solidFill>
                    <a:srgbClr val="C00000"/>
                  </a:solidFill>
                </a:defRPr>
              </a:pPr>
              <a:r>
                <a:t>Packet switches</a:t>
              </a:r>
              <a:r>
                <a:rPr i="0">
                  <a:solidFill>
                    <a:srgbClr val="000000"/>
                  </a:solidFill>
                </a:rPr>
                <a:t>: forward packets (chunks of data)</a:t>
              </a:r>
              <a:endParaRPr sz="2800">
                <a:latin typeface="Franklin Gothic Book"/>
                <a:ea typeface="Franklin Gothic Book"/>
                <a:cs typeface="Franklin Gothic Book"/>
                <a:sym typeface="Franklin Gothic Book"/>
              </a:endParaRPr>
            </a:p>
            <a:p>
              <a:pPr lvl="1" marL="346075" indent="-231775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SzPct val="100000"/>
                <a:buChar char="▪"/>
                <a:defRPr i="1" sz="2000"/>
              </a:pPr>
              <a:r>
                <a:t>routers</a:t>
              </a:r>
              <a:r>
                <a:rPr i="0"/>
                <a:t>, </a:t>
              </a:r>
              <a:r>
                <a:t>switches</a:t>
              </a:r>
            </a:p>
          </p:txBody>
        </p:sp>
        <p:grpSp>
          <p:nvGrpSpPr>
            <p:cNvPr id="137" name="Group 1028"/>
            <p:cNvGrpSpPr/>
            <p:nvPr/>
          </p:nvGrpSpPr>
          <p:grpSpPr>
            <a:xfrm>
              <a:off x="0" y="143728"/>
              <a:ext cx="1370315" cy="448652"/>
              <a:chOff x="0" y="0"/>
              <a:chExt cx="1370314" cy="448650"/>
            </a:xfrm>
          </p:grpSpPr>
          <p:grpSp>
            <p:nvGrpSpPr>
              <p:cNvPr id="128" name="Group 744"/>
              <p:cNvGrpSpPr/>
              <p:nvPr/>
            </p:nvGrpSpPr>
            <p:grpSpPr>
              <a:xfrm>
                <a:off x="0" y="-1"/>
                <a:ext cx="576221" cy="448652"/>
                <a:chOff x="0" y="0"/>
                <a:chExt cx="576220" cy="448650"/>
              </a:xfrm>
            </p:grpSpPr>
            <p:grpSp>
              <p:nvGrpSpPr>
                <p:cNvPr id="119" name="Freeform 745"/>
                <p:cNvGrpSpPr/>
                <p:nvPr/>
              </p:nvGrpSpPr>
              <p:grpSpPr>
                <a:xfrm>
                  <a:off x="0" y="115563"/>
                  <a:ext cx="576221" cy="333088"/>
                  <a:chOff x="0" y="0"/>
                  <a:chExt cx="576220" cy="333087"/>
                </a:xfrm>
              </p:grpSpPr>
              <p:sp>
                <p:nvSpPr>
                  <p:cNvPr id="117" name="Shape"/>
                  <p:cNvSpPr/>
                  <p:nvPr/>
                </p:nvSpPr>
                <p:spPr>
                  <a:xfrm>
                    <a:off x="0" y="58411"/>
                    <a:ext cx="576221" cy="21626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118" name="Text"/>
                  <p:cNvSpPr txBox="1"/>
                  <p:nvPr/>
                </p:nvSpPr>
                <p:spPr>
                  <a:xfrm>
                    <a:off x="48894" y="0"/>
                    <a:ext cx="478431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122" name="Oval 746"/>
                <p:cNvGrpSpPr/>
                <p:nvPr/>
              </p:nvGrpSpPr>
              <p:grpSpPr>
                <a:xfrm>
                  <a:off x="331" y="-1"/>
                  <a:ext cx="575525" cy="333089"/>
                  <a:chOff x="0" y="0"/>
                  <a:chExt cx="575524" cy="333087"/>
                </a:xfrm>
              </p:grpSpPr>
              <p:sp>
                <p:nvSpPr>
                  <p:cNvPr id="120" name="Oval"/>
                  <p:cNvSpPr/>
                  <p:nvPr/>
                </p:nvSpPr>
                <p:spPr>
                  <a:xfrm>
                    <a:off x="0" y="59486"/>
                    <a:ext cx="575525" cy="214117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121" name="Text"/>
                  <p:cNvSpPr txBox="1"/>
                  <p:nvPr/>
                </p:nvSpPr>
                <p:spPr>
                  <a:xfrm>
                    <a:off x="133178" y="0"/>
                    <a:ext cx="309168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127" name="Group 747"/>
                <p:cNvGrpSpPr/>
                <p:nvPr/>
              </p:nvGrpSpPr>
              <p:grpSpPr>
                <a:xfrm>
                  <a:off x="85458" y="86700"/>
                  <a:ext cx="405197" cy="157330"/>
                  <a:chOff x="0" y="0"/>
                  <a:chExt cx="405196" cy="157329"/>
                </a:xfrm>
              </p:grpSpPr>
              <p:sp>
                <p:nvSpPr>
                  <p:cNvPr id="123" name="Freeform 748"/>
                  <p:cNvSpPr/>
                  <p:nvPr/>
                </p:nvSpPr>
                <p:spPr>
                  <a:xfrm>
                    <a:off x="11207" y="-1"/>
                    <a:ext cx="383309" cy="8807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124" name="Freeform 749"/>
                  <p:cNvSpPr/>
                  <p:nvPr/>
                </p:nvSpPr>
                <p:spPr>
                  <a:xfrm>
                    <a:off x="262084" y="75333"/>
                    <a:ext cx="143113" cy="758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125" name="Freeform 750"/>
                  <p:cNvSpPr/>
                  <p:nvPr/>
                </p:nvSpPr>
                <p:spPr>
                  <a:xfrm>
                    <a:off x="0" y="75333"/>
                    <a:ext cx="140526" cy="7494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126" name="Freeform 751"/>
                  <p:cNvSpPr/>
                  <p:nvPr/>
                </p:nvSpPr>
                <p:spPr>
                  <a:xfrm>
                    <a:off x="48783" y="38303"/>
                    <a:ext cx="305548" cy="11902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136" name="Group 752"/>
              <p:cNvGrpSpPr/>
              <p:nvPr/>
            </p:nvGrpSpPr>
            <p:grpSpPr>
              <a:xfrm>
                <a:off x="901626" y="36151"/>
                <a:ext cx="468689" cy="390630"/>
                <a:chOff x="0" y="0"/>
                <a:chExt cx="468688" cy="390628"/>
              </a:xfrm>
            </p:grpSpPr>
            <p:sp>
              <p:nvSpPr>
                <p:cNvPr id="129" name="Rectangle 753"/>
                <p:cNvSpPr/>
                <p:nvPr/>
              </p:nvSpPr>
              <p:spPr>
                <a:xfrm>
                  <a:off x="0" y="233190"/>
                  <a:ext cx="467004" cy="157439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32538F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30" name="Freeform 754"/>
                <p:cNvSpPr/>
                <p:nvPr/>
              </p:nvSpPr>
              <p:spPr>
                <a:xfrm>
                  <a:off x="1298" y="0"/>
                  <a:ext cx="467391" cy="2389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21429"/>
                      </a:moveTo>
                      <a:lnTo>
                        <a:pt x="1440" y="0"/>
                      </a:lnTo>
                      <a:lnTo>
                        <a:pt x="19500" y="343"/>
                      </a:lnTo>
                      <a:lnTo>
                        <a:pt x="21600" y="21600"/>
                      </a:lnTo>
                      <a:lnTo>
                        <a:pt x="0" y="21429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grpSp>
              <p:nvGrpSpPr>
                <p:cNvPr id="135" name="Group 755"/>
                <p:cNvGrpSpPr/>
                <p:nvPr/>
              </p:nvGrpSpPr>
              <p:grpSpPr>
                <a:xfrm>
                  <a:off x="33755" y="27844"/>
                  <a:ext cx="395541" cy="192347"/>
                  <a:chOff x="0" y="0"/>
                  <a:chExt cx="395539" cy="192345"/>
                </a:xfrm>
              </p:grpSpPr>
              <p:sp>
                <p:nvSpPr>
                  <p:cNvPr id="131" name="Freeform 756"/>
                  <p:cNvSpPr/>
                  <p:nvPr/>
                </p:nvSpPr>
                <p:spPr>
                  <a:xfrm>
                    <a:off x="10940" y="0"/>
                    <a:ext cx="374174" cy="10767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132" name="Freeform 757"/>
                  <p:cNvSpPr/>
                  <p:nvPr/>
                </p:nvSpPr>
                <p:spPr>
                  <a:xfrm>
                    <a:off x="255838" y="92100"/>
                    <a:ext cx="139702" cy="9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133" name="Freeform 758"/>
                  <p:cNvSpPr/>
                  <p:nvPr/>
                </p:nvSpPr>
                <p:spPr>
                  <a:xfrm>
                    <a:off x="-1" y="92100"/>
                    <a:ext cx="137178" cy="916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134" name="Freeform 759"/>
                  <p:cNvSpPr/>
                  <p:nvPr/>
                </p:nvSpPr>
                <p:spPr>
                  <a:xfrm>
                    <a:off x="47620" y="46828"/>
                    <a:ext cx="298267" cy="14551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</p:grpSp>
      </p:grpSp>
      <p:grpSp>
        <p:nvGrpSpPr>
          <p:cNvPr id="165" name="Group 1030"/>
          <p:cNvGrpSpPr/>
          <p:nvPr/>
        </p:nvGrpSpPr>
        <p:grpSpPr>
          <a:xfrm>
            <a:off x="972847" y="3887572"/>
            <a:ext cx="5900539" cy="1994413"/>
            <a:chOff x="0" y="0"/>
            <a:chExt cx="5900537" cy="1994412"/>
          </a:xfrm>
        </p:grpSpPr>
        <p:sp>
          <p:nvSpPr>
            <p:cNvPr id="139" name="Content Placeholder 2"/>
            <p:cNvSpPr txBox="1"/>
            <p:nvPr/>
          </p:nvSpPr>
          <p:spPr>
            <a:xfrm>
              <a:off x="2213826" y="0"/>
              <a:ext cx="3686713" cy="19944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 indent="6858">
                <a:lnSpc>
                  <a:spcPct val="90000"/>
                </a:lnSpc>
                <a:spcBef>
                  <a:spcPts val="600"/>
                </a:spcBef>
                <a:defRPr sz="2800"/>
              </a:pPr>
            </a:p>
            <a:p>
              <a:pPr indent="6858">
                <a:lnSpc>
                  <a:spcPct val="90000"/>
                </a:lnSpc>
                <a:spcBef>
                  <a:spcPts val="600"/>
                </a:spcBef>
                <a:defRPr i="1" sz="2400">
                  <a:solidFill>
                    <a:srgbClr val="C00000"/>
                  </a:solidFill>
                </a:defRPr>
              </a:pPr>
              <a:r>
                <a:t>Communication links</a:t>
              </a:r>
              <a:endParaRPr sz="2800">
                <a:latin typeface="Franklin Gothic Book"/>
                <a:ea typeface="Franklin Gothic Book"/>
                <a:cs typeface="Franklin Gothic Book"/>
                <a:sym typeface="Franklin Gothic Book"/>
              </a:endParaRPr>
            </a:p>
            <a:p>
              <a:pPr lvl="1" marL="346075" indent="-231775">
                <a:lnSpc>
                  <a:spcPct val="90000"/>
                </a:lnSpc>
                <a:spcBef>
                  <a:spcPts val="500"/>
                </a:spcBef>
                <a:buClr>
                  <a:srgbClr val="0000A3"/>
                </a:buClr>
                <a:buSzPct val="100000"/>
                <a:buChar char="▪"/>
                <a:defRPr sz="2000"/>
              </a:pPr>
              <a:r>
                <a:t>fiber, copper, radio, satellite</a:t>
              </a:r>
              <a:endParaRPr sz="2400">
                <a:solidFill>
                  <a:srgbClr val="0070C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endParaRPr>
            </a:p>
            <a:p>
              <a:pPr lvl="1" marL="346075" indent="-231775">
                <a:lnSpc>
                  <a:spcPct val="90000"/>
                </a:lnSpc>
                <a:spcBef>
                  <a:spcPts val="500"/>
                </a:spcBef>
                <a:buClr>
                  <a:srgbClr val="0000A3"/>
                </a:buClr>
                <a:buSzPct val="100000"/>
                <a:buChar char="▪"/>
                <a:defRPr sz="2000"/>
              </a:pPr>
              <a:r>
                <a:t>transmission rate: </a:t>
              </a:r>
              <a:r>
                <a:rPr i="1"/>
                <a:t>bandwidth</a:t>
              </a:r>
              <a:br>
                <a:rPr i="1"/>
              </a:br>
            </a:p>
          </p:txBody>
        </p:sp>
        <p:grpSp>
          <p:nvGrpSpPr>
            <p:cNvPr id="160" name="Group 523"/>
            <p:cNvGrpSpPr/>
            <p:nvPr/>
          </p:nvGrpSpPr>
          <p:grpSpPr>
            <a:xfrm>
              <a:off x="1455381" y="434603"/>
              <a:ext cx="457201" cy="733152"/>
              <a:chOff x="0" y="0"/>
              <a:chExt cx="457200" cy="733150"/>
            </a:xfrm>
          </p:grpSpPr>
          <p:sp>
            <p:nvSpPr>
              <p:cNvPr id="140" name="Line 426"/>
              <p:cNvSpPr/>
              <p:nvPr/>
            </p:nvSpPr>
            <p:spPr>
              <a:xfrm>
                <a:off x="228600" y="558799"/>
                <a:ext cx="227964" cy="17435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59" name="Group 782"/>
              <p:cNvGrpSpPr/>
              <p:nvPr/>
            </p:nvGrpSpPr>
            <p:grpSpPr>
              <a:xfrm>
                <a:off x="0" y="0"/>
                <a:ext cx="457200" cy="631825"/>
                <a:chOff x="0" y="0"/>
                <a:chExt cx="457200" cy="631824"/>
              </a:xfrm>
            </p:grpSpPr>
            <p:grpSp>
              <p:nvGrpSpPr>
                <p:cNvPr id="156" name="Group 783"/>
                <p:cNvGrpSpPr/>
                <p:nvPr/>
              </p:nvGrpSpPr>
              <p:grpSpPr>
                <a:xfrm>
                  <a:off x="71437" y="167817"/>
                  <a:ext cx="298451" cy="464008"/>
                  <a:chOff x="0" y="0"/>
                  <a:chExt cx="298450" cy="464007"/>
                </a:xfrm>
              </p:grpSpPr>
              <p:sp>
                <p:nvSpPr>
                  <p:cNvPr id="141" name="Line 270"/>
                  <p:cNvSpPr/>
                  <p:nvPr/>
                </p:nvSpPr>
                <p:spPr>
                  <a:xfrm flipH="1">
                    <a:off x="-1" y="0"/>
                    <a:ext cx="149226" cy="42023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2" name="Line 271"/>
                  <p:cNvSpPr/>
                  <p:nvPr/>
                </p:nvSpPr>
                <p:spPr>
                  <a:xfrm>
                    <a:off x="149225" y="-1"/>
                    <a:ext cx="149226" cy="418359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3" name="Line 272"/>
                  <p:cNvSpPr/>
                  <p:nvPr/>
                </p:nvSpPr>
                <p:spPr>
                  <a:xfrm>
                    <a:off x="-1" y="418357"/>
                    <a:ext cx="149227" cy="45651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4" name="Line 273"/>
                  <p:cNvSpPr/>
                  <p:nvPr/>
                </p:nvSpPr>
                <p:spPr>
                  <a:xfrm flipH="1">
                    <a:off x="149224" y="418357"/>
                    <a:ext cx="149227" cy="45651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5" name="Line 274"/>
                  <p:cNvSpPr/>
                  <p:nvPr/>
                </p:nvSpPr>
                <p:spPr>
                  <a:xfrm flipH="1">
                    <a:off x="149224" y="9380"/>
                    <a:ext cx="1" cy="454628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6" name="Line 275"/>
                  <p:cNvSpPr/>
                  <p:nvPr/>
                </p:nvSpPr>
                <p:spPr>
                  <a:xfrm flipV="1">
                    <a:off x="-1" y="375208"/>
                    <a:ext cx="149227" cy="45026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7" name="Line 276"/>
                  <p:cNvSpPr/>
                  <p:nvPr/>
                </p:nvSpPr>
                <p:spPr>
                  <a:xfrm flipH="1" flipV="1">
                    <a:off x="149224" y="375209"/>
                    <a:ext cx="149227" cy="43149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8" name="Line 277"/>
                  <p:cNvSpPr/>
                  <p:nvPr/>
                </p:nvSpPr>
                <p:spPr>
                  <a:xfrm>
                    <a:off x="63329" y="237631"/>
                    <a:ext cx="85896" cy="3439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9" name="Line 278"/>
                  <p:cNvSpPr/>
                  <p:nvPr/>
                </p:nvSpPr>
                <p:spPr>
                  <a:xfrm flipV="1">
                    <a:off x="149224" y="237632"/>
                    <a:ext cx="90264" cy="3439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0" name="Line 279"/>
                  <p:cNvSpPr/>
                  <p:nvPr/>
                </p:nvSpPr>
                <p:spPr>
                  <a:xfrm>
                    <a:off x="34940" y="298915"/>
                    <a:ext cx="110645" cy="46902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1" name="Line 280"/>
                  <p:cNvSpPr/>
                  <p:nvPr/>
                </p:nvSpPr>
                <p:spPr>
                  <a:xfrm flipV="1">
                    <a:off x="149224" y="308297"/>
                    <a:ext cx="111374" cy="4127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2" name="Line 281"/>
                  <p:cNvSpPr/>
                  <p:nvPr/>
                </p:nvSpPr>
                <p:spPr>
                  <a:xfrm flipV="1">
                    <a:off x="149224" y="174472"/>
                    <a:ext cx="56780" cy="1688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3" name="Line 282"/>
                  <p:cNvSpPr/>
                  <p:nvPr/>
                </p:nvSpPr>
                <p:spPr>
                  <a:xfrm flipV="1">
                    <a:off x="149225" y="87548"/>
                    <a:ext cx="35669" cy="1313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4" name="Line 283"/>
                  <p:cNvSpPr/>
                  <p:nvPr/>
                </p:nvSpPr>
                <p:spPr>
                  <a:xfrm>
                    <a:off x="85167" y="168843"/>
                    <a:ext cx="69154" cy="2251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5" name="Line 284"/>
                  <p:cNvSpPr/>
                  <p:nvPr/>
                </p:nvSpPr>
                <p:spPr>
                  <a:xfrm>
                    <a:off x="115740" y="83796"/>
                    <a:ext cx="40036" cy="2251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pic>
              <p:nvPicPr>
                <p:cNvPr id="157" name="Picture 799" descr="Picture 799"/>
                <p:cNvPicPr>
                  <a:picLocks noChangeAspect="1"/>
                </p:cNvPicPr>
                <p:nvPr/>
              </p:nvPicPr>
              <p:blipFill>
                <a:blip r:embed="rId2">
                  <a:extLst/>
                </a:blip>
                <a:stretch>
                  <a:fillRect/>
                </a:stretch>
              </p:blipFill>
              <p:spPr>
                <a:xfrm>
                  <a:off x="0" y="-1"/>
                  <a:ext cx="457200" cy="33276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58" name="Oval 800"/>
                <p:cNvSpPr/>
                <p:nvPr/>
              </p:nvSpPr>
              <p:spPr>
                <a:xfrm>
                  <a:off x="193674" y="134827"/>
                  <a:ext cx="52390" cy="49485"/>
                </a:xfrm>
                <a:prstGeom prst="ellipse">
                  <a:avLst/>
                </a:prstGeom>
                <a:solidFill>
                  <a:srgbClr val="44546A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  <p:grpSp>
          <p:nvGrpSpPr>
            <p:cNvPr id="163" name="Group 779"/>
            <p:cNvGrpSpPr/>
            <p:nvPr/>
          </p:nvGrpSpPr>
          <p:grpSpPr>
            <a:xfrm>
              <a:off x="0" y="638393"/>
              <a:ext cx="452015" cy="316354"/>
              <a:chOff x="0" y="0"/>
              <a:chExt cx="452014" cy="316352"/>
            </a:xfrm>
          </p:grpSpPr>
          <p:pic>
            <p:nvPicPr>
              <p:cNvPr id="161" name="Picture 780" descr="Picture 780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25812" y="40999"/>
                <a:ext cx="330408" cy="27535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62" name="Picture 781" descr="Picture 781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0"/>
                <a:ext cx="452015" cy="9515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64" name="Picture 4" descr="Picture 4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83462" y="613217"/>
              <a:ext cx="874496" cy="5133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44" name="Group 1032"/>
          <p:cNvGrpSpPr/>
          <p:nvPr/>
        </p:nvGrpSpPr>
        <p:grpSpPr>
          <a:xfrm>
            <a:off x="413554" y="1318241"/>
            <a:ext cx="6572410" cy="1705462"/>
            <a:chOff x="0" y="0"/>
            <a:chExt cx="6572409" cy="1705461"/>
          </a:xfrm>
        </p:grpSpPr>
        <p:sp>
          <p:nvSpPr>
            <p:cNvPr id="166" name="Content Placeholder 2"/>
            <p:cNvSpPr txBox="1"/>
            <p:nvPr/>
          </p:nvSpPr>
          <p:spPr>
            <a:xfrm>
              <a:off x="2774650" y="0"/>
              <a:ext cx="3797760" cy="1705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defRPr sz="2400"/>
              </a:pPr>
              <a:r>
                <a:t>Billions of connected computing </a:t>
              </a:r>
              <a:r>
                <a:rPr i="1">
                  <a:solidFill>
                    <a:srgbClr val="C00000"/>
                  </a:solidFill>
                </a:rPr>
                <a:t>devices</a:t>
              </a:r>
              <a:r>
                <a:t>: </a:t>
              </a:r>
              <a:endParaRPr sz="2800">
                <a:latin typeface="Franklin Gothic Book"/>
                <a:ea typeface="Franklin Gothic Book"/>
                <a:cs typeface="Franklin Gothic Book"/>
                <a:sym typeface="Franklin Gothic Book"/>
              </a:endParaRPr>
            </a:p>
            <a:p>
              <a:pPr lvl="1" marL="346075" indent="-231775">
                <a:lnSpc>
                  <a:spcPct val="90000"/>
                </a:lnSpc>
                <a:spcBef>
                  <a:spcPts val="300"/>
                </a:spcBef>
                <a:buClr>
                  <a:srgbClr val="0000A3"/>
                </a:buClr>
                <a:buSzPct val="100000"/>
                <a:buChar char="▪"/>
                <a:defRPr i="1" sz="2000">
                  <a:solidFill>
                    <a:srgbClr val="C00000"/>
                  </a:solidFill>
                </a:defRPr>
              </a:pPr>
              <a:r>
                <a:t>hosts</a:t>
              </a:r>
              <a:r>
                <a:rPr>
                  <a:solidFill>
                    <a:srgbClr val="CC0000"/>
                  </a:solidFill>
                </a:rPr>
                <a:t> </a:t>
              </a:r>
              <a:r>
                <a:rPr>
                  <a:solidFill>
                    <a:srgbClr val="000000"/>
                  </a:solidFill>
                </a:rPr>
                <a:t>= end systems </a:t>
              </a:r>
              <a:endParaRPr sz="2400">
                <a:solidFill>
                  <a:srgbClr val="0070C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endParaRPr>
            </a:p>
            <a:p>
              <a:pPr lvl="1" marL="346075" indent="-231775">
                <a:lnSpc>
                  <a:spcPct val="90000"/>
                </a:lnSpc>
                <a:spcBef>
                  <a:spcPts val="500"/>
                </a:spcBef>
                <a:buClr>
                  <a:srgbClr val="0000A3"/>
                </a:buClr>
                <a:buSzPct val="100000"/>
                <a:buChar char="▪"/>
                <a:defRPr sz="2000"/>
              </a:pPr>
              <a:r>
                <a:t>running </a:t>
              </a:r>
              <a:r>
                <a:rPr i="1"/>
                <a:t>network </a:t>
              </a:r>
              <a:r>
                <a:rPr i="1">
                  <a:solidFill>
                    <a:srgbClr val="C00000"/>
                  </a:solidFill>
                </a:rPr>
                <a:t>apps </a:t>
              </a:r>
              <a:r>
                <a:t>at Internet’s “edge”</a:t>
              </a:r>
            </a:p>
          </p:txBody>
        </p:sp>
        <p:grpSp>
          <p:nvGrpSpPr>
            <p:cNvPr id="243" name="Group 1026"/>
            <p:cNvGrpSpPr/>
            <p:nvPr/>
          </p:nvGrpSpPr>
          <p:grpSpPr>
            <a:xfrm>
              <a:off x="-1" y="23959"/>
              <a:ext cx="2520732" cy="1345161"/>
              <a:chOff x="0" y="0"/>
              <a:chExt cx="2520730" cy="1345159"/>
            </a:xfrm>
          </p:grpSpPr>
          <p:grpSp>
            <p:nvGrpSpPr>
              <p:cNvPr id="190" name="Group 1064"/>
              <p:cNvGrpSpPr/>
              <p:nvPr/>
            </p:nvGrpSpPr>
            <p:grpSpPr>
              <a:xfrm>
                <a:off x="1929949" y="57977"/>
                <a:ext cx="590782" cy="573209"/>
                <a:chOff x="0" y="0"/>
                <a:chExt cx="590780" cy="573208"/>
              </a:xfrm>
            </p:grpSpPr>
            <p:pic>
              <p:nvPicPr>
                <p:cNvPr id="167" name="Picture 1065" descr="Picture 1065"/>
                <p:cNvPicPr>
                  <a:picLocks noChangeAspect="1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86050" cy="31020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8" name="Picture 1066" descr="Picture 1066"/>
                <p:cNvPicPr>
                  <a:picLocks noChangeAspect="1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 flipH="1" rot="109063">
                  <a:off x="28388" y="344471"/>
                  <a:ext cx="482820" cy="22113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69" name="Freeform 1067"/>
                <p:cNvSpPr/>
                <p:nvPr/>
              </p:nvSpPr>
              <p:spPr>
                <a:xfrm>
                  <a:off x="188396" y="129886"/>
                  <a:ext cx="388621" cy="2885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911" y="0"/>
                      </a:moveTo>
                      <a:lnTo>
                        <a:pt x="0" y="15338"/>
                      </a:lnTo>
                      <a:lnTo>
                        <a:pt x="17341" y="21600"/>
                      </a:lnTo>
                      <a:lnTo>
                        <a:pt x="21600" y="2813"/>
                      </a:lnTo>
                      <a:lnTo>
                        <a:pt x="391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170" name="Picture 1068" descr="Picture 1068"/>
                <p:cNvPicPr>
                  <a:picLocks noChangeAspect="1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07536" y="137308"/>
                  <a:ext cx="353136" cy="262612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71" name="Freeform 1069"/>
                <p:cNvSpPr/>
                <p:nvPr/>
              </p:nvSpPr>
              <p:spPr>
                <a:xfrm>
                  <a:off x="259152" y="121372"/>
                  <a:ext cx="329263" cy="537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20" y="0"/>
                      </a:moveTo>
                      <a:lnTo>
                        <a:pt x="21600" y="16188"/>
                      </a:lnTo>
                      <a:lnTo>
                        <a:pt x="21190" y="21600"/>
                      </a:lnTo>
                      <a:lnTo>
                        <a:pt x="0" y="4083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2" name="Freeform 1070"/>
                <p:cNvSpPr/>
                <p:nvPr/>
              </p:nvSpPr>
              <p:spPr>
                <a:xfrm>
                  <a:off x="184954" y="120936"/>
                  <a:ext cx="91404" cy="2235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815" y="0"/>
                      </a:moveTo>
                      <a:lnTo>
                        <a:pt x="0" y="21326"/>
                      </a:lnTo>
                      <a:lnTo>
                        <a:pt x="3508" y="21600"/>
                      </a:lnTo>
                      <a:lnTo>
                        <a:pt x="21600" y="582"/>
                      </a:lnTo>
                      <a:lnTo>
                        <a:pt x="17815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" name="Freeform 1071"/>
                <p:cNvSpPr/>
                <p:nvPr/>
              </p:nvSpPr>
              <p:spPr>
                <a:xfrm>
                  <a:off x="487549" y="160884"/>
                  <a:ext cx="98501" cy="2580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3943" y="21600"/>
                      </a:lnTo>
                      <a:lnTo>
                        <a:pt x="0" y="21244"/>
                      </a:lnTo>
                      <a:lnTo>
                        <a:pt x="17314" y="771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4" name="Freeform 1072"/>
                <p:cNvSpPr/>
                <p:nvPr/>
              </p:nvSpPr>
              <p:spPr>
                <a:xfrm>
                  <a:off x="183879" y="333120"/>
                  <a:ext cx="336961" cy="871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44" h="21600" fill="norm" stroke="1" extrusionOk="0">
                      <a:moveTo>
                        <a:pt x="257" y="0"/>
                      </a:moveTo>
                      <a:lnTo>
                        <a:pt x="0" y="2898"/>
                      </a:lnTo>
                      <a:lnTo>
                        <a:pt x="18975" y="21600"/>
                      </a:lnTo>
                      <a:cubicBezTo>
                        <a:pt x="19466" y="14663"/>
                        <a:pt x="21600" y="21278"/>
                        <a:pt x="18484" y="17649"/>
                      </a:cubicBezTo>
                      <a:lnTo>
                        <a:pt x="257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CC"/>
                    </a:gs>
                    <a:gs pos="100000">
                      <a:srgbClr val="FFFF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" name="Freeform 1073"/>
                <p:cNvSpPr/>
                <p:nvPr/>
              </p:nvSpPr>
              <p:spPr>
                <a:xfrm>
                  <a:off x="498518" y="163067"/>
                  <a:ext cx="92263" cy="2591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854" y="0"/>
                      </a:moveTo>
                      <a:lnTo>
                        <a:pt x="21600" y="0"/>
                      </a:lnTo>
                      <a:lnTo>
                        <a:pt x="2306" y="21600"/>
                      </a:lnTo>
                      <a:lnTo>
                        <a:pt x="0" y="21444"/>
                      </a:lnTo>
                      <a:lnTo>
                        <a:pt x="20854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" name="Freeform 1074"/>
                <p:cNvSpPr/>
                <p:nvPr/>
              </p:nvSpPr>
              <p:spPr>
                <a:xfrm>
                  <a:off x="184309" y="344690"/>
                  <a:ext cx="321307" cy="860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8" y="2239"/>
                      </a:lnTo>
                      <a:lnTo>
                        <a:pt x="21093" y="21600"/>
                      </a:lnTo>
                      <a:lnTo>
                        <a:pt x="21600" y="194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183" name="Group 1075"/>
                <p:cNvGrpSpPr/>
                <p:nvPr/>
              </p:nvGrpSpPr>
              <p:grpSpPr>
                <a:xfrm>
                  <a:off x="178933" y="436592"/>
                  <a:ext cx="109038" cy="51083"/>
                  <a:chOff x="0" y="0"/>
                  <a:chExt cx="109037" cy="51081"/>
                </a:xfrm>
              </p:grpSpPr>
              <p:sp>
                <p:nvSpPr>
                  <p:cNvPr id="177" name="Freeform 1076"/>
                  <p:cNvSpPr/>
                  <p:nvPr/>
                </p:nvSpPr>
                <p:spPr>
                  <a:xfrm>
                    <a:off x="-1" y="-1"/>
                    <a:ext cx="109039" cy="5108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416" y="0"/>
                        </a:moveTo>
                        <a:lnTo>
                          <a:pt x="21600" y="8191"/>
                        </a:lnTo>
                        <a:lnTo>
                          <a:pt x="13500" y="21600"/>
                        </a:lnTo>
                        <a:lnTo>
                          <a:pt x="0" y="12088"/>
                        </a:lnTo>
                        <a:lnTo>
                          <a:pt x="841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8" name="Freeform 1077"/>
                  <p:cNvSpPr/>
                  <p:nvPr/>
                </p:nvSpPr>
                <p:spPr>
                  <a:xfrm>
                    <a:off x="2029" y="1093"/>
                    <a:ext cx="105269" cy="4858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390" y="0"/>
                        </a:moveTo>
                        <a:lnTo>
                          <a:pt x="21600" y="8265"/>
                        </a:lnTo>
                        <a:lnTo>
                          <a:pt x="13597" y="21600"/>
                        </a:lnTo>
                        <a:lnTo>
                          <a:pt x="0" y="12015"/>
                        </a:lnTo>
                        <a:lnTo>
                          <a:pt x="839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9" name="Freeform 1078"/>
                  <p:cNvSpPr/>
                  <p:nvPr/>
                </p:nvSpPr>
                <p:spPr>
                  <a:xfrm>
                    <a:off x="9859" y="19995"/>
                    <a:ext cx="37410" cy="156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504"/>
                        </a:moveTo>
                        <a:lnTo>
                          <a:pt x="6279" y="0"/>
                        </a:lnTo>
                        <a:lnTo>
                          <a:pt x="21600" y="10800"/>
                        </a:lnTo>
                        <a:lnTo>
                          <a:pt x="15321" y="21600"/>
                        </a:lnTo>
                        <a:lnTo>
                          <a:pt x="0" y="950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0" name="Freeform 1079"/>
                  <p:cNvSpPr/>
                  <p:nvPr/>
                </p:nvSpPr>
                <p:spPr>
                  <a:xfrm>
                    <a:off x="8554" y="25751"/>
                    <a:ext cx="28131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1" name="Freeform 1080"/>
                  <p:cNvSpPr/>
                  <p:nvPr/>
                </p:nvSpPr>
                <p:spPr>
                  <a:xfrm>
                    <a:off x="40599" y="29992"/>
                    <a:ext cx="37410" cy="1593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741"/>
                        </a:moveTo>
                        <a:lnTo>
                          <a:pt x="5944" y="0"/>
                        </a:lnTo>
                        <a:lnTo>
                          <a:pt x="21600" y="11012"/>
                        </a:lnTo>
                        <a:lnTo>
                          <a:pt x="15321" y="21600"/>
                        </a:lnTo>
                        <a:lnTo>
                          <a:pt x="0" y="974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2" name="Freeform 1081"/>
                  <p:cNvSpPr/>
                  <p:nvPr/>
                </p:nvSpPr>
                <p:spPr>
                  <a:xfrm>
                    <a:off x="39294" y="36061"/>
                    <a:ext cx="28130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84" name="Freeform 1082"/>
                <p:cNvSpPr/>
                <p:nvPr/>
              </p:nvSpPr>
              <p:spPr>
                <a:xfrm>
                  <a:off x="365608" y="444233"/>
                  <a:ext cx="132050" cy="1122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65" y="20127"/>
                      </a:moveTo>
                      <a:lnTo>
                        <a:pt x="21600" y="0"/>
                      </a:lnTo>
                      <a:lnTo>
                        <a:pt x="21535" y="1636"/>
                      </a:lnTo>
                      <a:lnTo>
                        <a:pt x="0" y="21600"/>
                      </a:lnTo>
                      <a:lnTo>
                        <a:pt x="65" y="20127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5" name="Freeform 1083"/>
                <p:cNvSpPr/>
                <p:nvPr/>
              </p:nvSpPr>
              <p:spPr>
                <a:xfrm>
                  <a:off x="28603" y="453183"/>
                  <a:ext cx="337866" cy="1023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6" name="Freeform 1084"/>
                <p:cNvSpPr/>
                <p:nvPr/>
              </p:nvSpPr>
              <p:spPr>
                <a:xfrm>
                  <a:off x="24296" y="434410"/>
                  <a:ext cx="12701" cy="2073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1469"/>
                      </a:moveTo>
                      <a:lnTo>
                        <a:pt x="19108" y="21600"/>
                      </a:lnTo>
                      <a:lnTo>
                        <a:pt x="0" y="21159"/>
                      </a:lnTo>
                      <a:lnTo>
                        <a:pt x="2492" y="0"/>
                      </a:lnTo>
                      <a:lnTo>
                        <a:pt x="21600" y="1469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7" name="Freeform 1085"/>
                <p:cNvSpPr/>
                <p:nvPr/>
              </p:nvSpPr>
              <p:spPr>
                <a:xfrm>
                  <a:off x="29033" y="349929"/>
                  <a:ext cx="156998" cy="857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90" y="0"/>
                      </a:moveTo>
                      <a:lnTo>
                        <a:pt x="0" y="21279"/>
                      </a:lnTo>
                      <a:lnTo>
                        <a:pt x="551" y="21600"/>
                      </a:lnTo>
                      <a:lnTo>
                        <a:pt x="21600" y="642"/>
                      </a:lnTo>
                      <a:lnTo>
                        <a:pt x="2149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8" name="Freeform 1086"/>
                <p:cNvSpPr/>
                <p:nvPr/>
              </p:nvSpPr>
              <p:spPr>
                <a:xfrm>
                  <a:off x="39571" y="438775"/>
                  <a:ext cx="320447" cy="9845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9" name="Freeform 1087"/>
                <p:cNvSpPr/>
                <p:nvPr/>
              </p:nvSpPr>
              <p:spPr>
                <a:xfrm flipH="1" rot="10800000">
                  <a:off x="359586" y="431790"/>
                  <a:ext cx="130760" cy="1019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193" name="Group 652"/>
              <p:cNvGrpSpPr/>
              <p:nvPr/>
            </p:nvGrpSpPr>
            <p:grpSpPr>
              <a:xfrm>
                <a:off x="950407" y="169728"/>
                <a:ext cx="481330" cy="388265"/>
                <a:chOff x="0" y="0"/>
                <a:chExt cx="481328" cy="388264"/>
              </a:xfrm>
            </p:grpSpPr>
            <p:pic>
              <p:nvPicPr>
                <p:cNvPr id="191" name="Picture 653" descr="Picture 653"/>
                <p:cNvPicPr>
                  <a:picLocks noChangeAspect="1"/>
                </p:cNvPicPr>
                <p:nvPr/>
              </p:nvPicPr>
              <p:blipFill>
                <a:blip r:embed="rId9">
                  <a:extLst/>
                </a:blip>
                <a:stretch>
                  <a:fillRect/>
                </a:stretch>
              </p:blipFill>
              <p:spPr>
                <a:xfrm>
                  <a:off x="184405" y="57671"/>
                  <a:ext cx="158360" cy="33059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2" name="Picture 654" descr="Picture 654"/>
                <p:cNvPicPr>
                  <a:picLocks noChangeAspect="1"/>
                </p:cNvPicPr>
                <p:nvPr/>
              </p:nvPicPr>
              <p:blipFill>
                <a:blip r:embed="rId10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481329" cy="8935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196" name="Group 694"/>
              <p:cNvGrpSpPr/>
              <p:nvPr/>
            </p:nvGrpSpPr>
            <p:grpSpPr>
              <a:xfrm>
                <a:off x="1099768" y="632756"/>
                <a:ext cx="545699" cy="712404"/>
                <a:chOff x="0" y="0"/>
                <a:chExt cx="545698" cy="712402"/>
              </a:xfrm>
            </p:grpSpPr>
            <p:pic>
              <p:nvPicPr>
                <p:cNvPr id="194" name="Picture 571" descr="Picture 571"/>
                <p:cNvPicPr>
                  <a:picLocks noChangeAspect="1"/>
                </p:cNvPicPr>
                <p:nvPr/>
              </p:nvPicPr>
              <p:blipFill>
                <a:blip r:embed="rId11">
                  <a:extLst/>
                </a:blip>
                <a:stretch>
                  <a:fillRect/>
                </a:stretch>
              </p:blipFill>
              <p:spPr>
                <a:xfrm>
                  <a:off x="156441" y="107040"/>
                  <a:ext cx="297280" cy="60536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5" name="Picture 1115" descr="Picture 1115"/>
                <p:cNvPicPr>
                  <a:picLocks noChangeAspect="1"/>
                </p:cNvPicPr>
                <p:nvPr/>
              </p:nvPicPr>
              <p:blipFill>
                <a:blip r:embed="rId12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45699" cy="30096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229" name="Group 950"/>
              <p:cNvGrpSpPr/>
              <p:nvPr/>
            </p:nvGrpSpPr>
            <p:grpSpPr>
              <a:xfrm>
                <a:off x="790903" y="912874"/>
                <a:ext cx="217554" cy="403921"/>
                <a:chOff x="0" y="0"/>
                <a:chExt cx="217552" cy="403920"/>
              </a:xfrm>
            </p:grpSpPr>
            <p:sp>
              <p:nvSpPr>
                <p:cNvPr id="197" name="Freeform 951"/>
                <p:cNvSpPr/>
                <p:nvPr/>
              </p:nvSpPr>
              <p:spPr>
                <a:xfrm>
                  <a:off x="170169" y="674"/>
                  <a:ext cx="42694" cy="385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844" y="0"/>
                      </a:moveTo>
                      <a:lnTo>
                        <a:pt x="21600" y="2670"/>
                      </a:lnTo>
                      <a:lnTo>
                        <a:pt x="21112" y="20670"/>
                      </a:lnTo>
                      <a:lnTo>
                        <a:pt x="0" y="21600"/>
                      </a:lnTo>
                      <a:lnTo>
                        <a:pt x="3844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" name="Rectangle 952"/>
                <p:cNvSpPr/>
                <p:nvPr/>
              </p:nvSpPr>
              <p:spPr>
                <a:xfrm>
                  <a:off x="10560" y="0"/>
                  <a:ext cx="157799" cy="38520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99" name="Freeform 953"/>
                <p:cNvSpPr/>
                <p:nvPr/>
              </p:nvSpPr>
              <p:spPr>
                <a:xfrm>
                  <a:off x="179010" y="23769"/>
                  <a:ext cx="24650" cy="3515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83" h="21300" fill="norm" stroke="1" extrusionOk="0">
                      <a:moveTo>
                        <a:pt x="0" y="0"/>
                      </a:moveTo>
                      <a:cubicBezTo>
                        <a:pt x="0" y="0"/>
                        <a:pt x="5118" y="238"/>
                        <a:pt x="20883" y="1856"/>
                      </a:cubicBezTo>
                      <a:cubicBezTo>
                        <a:pt x="-717" y="10464"/>
                        <a:pt x="3480" y="21600"/>
                        <a:pt x="0" y="212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" name="Freeform 954"/>
                <p:cNvSpPr/>
                <p:nvPr/>
              </p:nvSpPr>
              <p:spPr>
                <a:xfrm>
                  <a:off x="172582" y="204151"/>
                  <a:ext cx="39677" cy="318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" name="Rectangle 955"/>
                <p:cNvSpPr/>
                <p:nvPr/>
              </p:nvSpPr>
              <p:spPr>
                <a:xfrm>
                  <a:off x="10560" y="41611"/>
                  <a:ext cx="90214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04" name="Group 956"/>
                <p:cNvGrpSpPr/>
                <p:nvPr/>
              </p:nvGrpSpPr>
              <p:grpSpPr>
                <a:xfrm>
                  <a:off x="91752" y="39939"/>
                  <a:ext cx="87166" cy="25324"/>
                  <a:chOff x="0" y="0"/>
                  <a:chExt cx="87165" cy="25323"/>
                </a:xfrm>
              </p:grpSpPr>
              <p:sp>
                <p:nvSpPr>
                  <p:cNvPr id="202" name="AutoShape 957"/>
                  <p:cNvSpPr/>
                  <p:nvPr/>
                </p:nvSpPr>
                <p:spPr>
                  <a:xfrm>
                    <a:off x="0" y="0"/>
                    <a:ext cx="87166" cy="253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03" name="AutoShape 958"/>
                  <p:cNvSpPr/>
                  <p:nvPr/>
                </p:nvSpPr>
                <p:spPr>
                  <a:xfrm>
                    <a:off x="1450" y="2637"/>
                    <a:ext cx="84144" cy="20049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05" name="Rectangle 959"/>
                <p:cNvSpPr/>
                <p:nvPr/>
              </p:nvSpPr>
              <p:spPr>
                <a:xfrm>
                  <a:off x="12068" y="97580"/>
                  <a:ext cx="90214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08" name="Group 960"/>
                <p:cNvGrpSpPr/>
                <p:nvPr/>
              </p:nvGrpSpPr>
              <p:grpSpPr>
                <a:xfrm>
                  <a:off x="91692" y="94598"/>
                  <a:ext cx="87167" cy="22591"/>
                  <a:chOff x="0" y="0"/>
                  <a:chExt cx="87165" cy="22589"/>
                </a:xfrm>
              </p:grpSpPr>
              <p:sp>
                <p:nvSpPr>
                  <p:cNvPr id="206" name="AutoShape 961"/>
                  <p:cNvSpPr/>
                  <p:nvPr/>
                </p:nvSpPr>
                <p:spPr>
                  <a:xfrm>
                    <a:off x="0" y="0"/>
                    <a:ext cx="87166" cy="2259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07" name="AutoShape 962"/>
                  <p:cNvSpPr/>
                  <p:nvPr/>
                </p:nvSpPr>
                <p:spPr>
                  <a:xfrm>
                    <a:off x="1571" y="2762"/>
                    <a:ext cx="84144" cy="1739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09" name="Rectangle 963"/>
                <p:cNvSpPr/>
                <p:nvPr/>
              </p:nvSpPr>
              <p:spPr>
                <a:xfrm>
                  <a:off x="12068" y="153548"/>
                  <a:ext cx="90214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10" name="Rectangle 964"/>
                <p:cNvSpPr/>
                <p:nvPr/>
              </p:nvSpPr>
              <p:spPr>
                <a:xfrm>
                  <a:off x="13577" y="204291"/>
                  <a:ext cx="90214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13" name="Group 965"/>
                <p:cNvGrpSpPr/>
                <p:nvPr/>
              </p:nvGrpSpPr>
              <p:grpSpPr>
                <a:xfrm>
                  <a:off x="90245" y="205256"/>
                  <a:ext cx="87196" cy="22710"/>
                  <a:chOff x="0" y="0"/>
                  <a:chExt cx="87194" cy="22708"/>
                </a:xfrm>
              </p:grpSpPr>
              <p:sp>
                <p:nvSpPr>
                  <p:cNvPr id="211" name="AutoShape 966"/>
                  <p:cNvSpPr/>
                  <p:nvPr/>
                </p:nvSpPr>
                <p:spPr>
                  <a:xfrm>
                    <a:off x="0" y="0"/>
                    <a:ext cx="87195" cy="2270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12" name="AutoShape 967"/>
                  <p:cNvSpPr/>
                  <p:nvPr/>
                </p:nvSpPr>
                <p:spPr>
                  <a:xfrm>
                    <a:off x="1453" y="0"/>
                    <a:ext cx="84168" cy="19962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14" name="Freeform 968"/>
                <p:cNvSpPr/>
                <p:nvPr/>
              </p:nvSpPr>
              <p:spPr>
                <a:xfrm>
                  <a:off x="173186" y="155937"/>
                  <a:ext cx="39677" cy="316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17" name="Group 969"/>
                <p:cNvGrpSpPr/>
                <p:nvPr/>
              </p:nvGrpSpPr>
              <p:grpSpPr>
                <a:xfrm>
                  <a:off x="90243" y="151891"/>
                  <a:ext cx="88649" cy="22591"/>
                  <a:chOff x="0" y="0"/>
                  <a:chExt cx="88647" cy="22589"/>
                </a:xfrm>
              </p:grpSpPr>
              <p:sp>
                <p:nvSpPr>
                  <p:cNvPr id="215" name="AutoShape 970"/>
                  <p:cNvSpPr/>
                  <p:nvPr/>
                </p:nvSpPr>
                <p:spPr>
                  <a:xfrm>
                    <a:off x="0" y="0"/>
                    <a:ext cx="88648" cy="2259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16" name="AutoShape 971"/>
                  <p:cNvSpPr/>
                  <p:nvPr/>
                </p:nvSpPr>
                <p:spPr>
                  <a:xfrm>
                    <a:off x="1453" y="2697"/>
                    <a:ext cx="87195" cy="1736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18" name="Rectangle 972"/>
                <p:cNvSpPr/>
                <p:nvPr/>
              </p:nvSpPr>
              <p:spPr>
                <a:xfrm>
                  <a:off x="165780" y="0"/>
                  <a:ext cx="12701" cy="38520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19" name="Freeform 973"/>
                <p:cNvSpPr/>
                <p:nvPr/>
              </p:nvSpPr>
              <p:spPr>
                <a:xfrm>
                  <a:off x="176807" y="97439"/>
                  <a:ext cx="35754" cy="359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92" y="0"/>
                      </a:moveTo>
                      <a:cubicBezTo>
                        <a:pt x="4014" y="844"/>
                        <a:pt x="10508" y="5738"/>
                        <a:pt x="21308" y="12150"/>
                      </a:cubicBezTo>
                      <a:cubicBezTo>
                        <a:pt x="21162" y="15019"/>
                        <a:pt x="21600" y="15862"/>
                        <a:pt x="21600" y="21600"/>
                      </a:cubicBezTo>
                      <a:cubicBezTo>
                        <a:pt x="21600" y="21600"/>
                        <a:pt x="11676" y="14850"/>
                        <a:pt x="0" y="8438"/>
                      </a:cubicBezTo>
                      <a:cubicBezTo>
                        <a:pt x="0" y="4050"/>
                        <a:pt x="292" y="1434"/>
                        <a:pt x="292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0" name="Freeform 974"/>
                <p:cNvSpPr/>
                <p:nvPr/>
              </p:nvSpPr>
              <p:spPr>
                <a:xfrm>
                  <a:off x="177259" y="42313"/>
                  <a:ext cx="36811" cy="404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cubicBezTo>
                        <a:pt x="3624" y="750"/>
                        <a:pt x="10516" y="5700"/>
                        <a:pt x="21600" y="12300"/>
                      </a:cubicBezTo>
                      <a:cubicBezTo>
                        <a:pt x="21458" y="14850"/>
                        <a:pt x="20179" y="16500"/>
                        <a:pt x="20179" y="21600"/>
                      </a:cubicBezTo>
                      <a:cubicBezTo>
                        <a:pt x="20179" y="21600"/>
                        <a:pt x="11582" y="13425"/>
                        <a:pt x="568" y="9300"/>
                      </a:cubicBezTo>
                      <a:cubicBezTo>
                        <a:pt x="568" y="5400"/>
                        <a:pt x="0" y="1275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1" name="Oval 975"/>
                <p:cNvSpPr/>
                <p:nvPr/>
              </p:nvSpPr>
              <p:spPr>
                <a:xfrm>
                  <a:off x="204852" y="367843"/>
                  <a:ext cx="12701" cy="16017"/>
                </a:xfrm>
                <a:prstGeom prst="ellipse">
                  <a:avLst/>
                </a:pr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22" name="Freeform 976"/>
                <p:cNvSpPr/>
                <p:nvPr/>
              </p:nvSpPr>
              <p:spPr>
                <a:xfrm>
                  <a:off x="175298" y="368349"/>
                  <a:ext cx="36961" cy="337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40"/>
                      </a:moveTo>
                      <a:lnTo>
                        <a:pt x="141" y="21600"/>
                      </a:lnTo>
                      <a:lnTo>
                        <a:pt x="21600" y="9900"/>
                      </a:lnTo>
                      <a:lnTo>
                        <a:pt x="21176" y="0"/>
                      </a:lnTo>
                      <a:lnTo>
                        <a:pt x="0" y="954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3" name="AutoShape 977"/>
                <p:cNvSpPr/>
                <p:nvPr/>
              </p:nvSpPr>
              <p:spPr>
                <a:xfrm>
                  <a:off x="0" y="378633"/>
                  <a:ext cx="180428" cy="2528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24" name="AutoShape 978"/>
                <p:cNvSpPr/>
                <p:nvPr/>
              </p:nvSpPr>
              <p:spPr>
                <a:xfrm>
                  <a:off x="10560" y="385207"/>
                  <a:ext cx="160817" cy="13319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25" name="Oval 979"/>
                <p:cNvSpPr/>
                <p:nvPr/>
              </p:nvSpPr>
              <p:spPr>
                <a:xfrm>
                  <a:off x="25495" y="329238"/>
                  <a:ext cx="23987" cy="23939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26" name="Oval 980"/>
                <p:cNvSpPr/>
                <p:nvPr/>
              </p:nvSpPr>
              <p:spPr>
                <a:xfrm>
                  <a:off x="52649" y="329238"/>
                  <a:ext cx="23987" cy="23939"/>
                </a:xfrm>
                <a:prstGeom prst="ellipse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27" name="Oval 981"/>
                <p:cNvSpPr/>
                <p:nvPr/>
              </p:nvSpPr>
              <p:spPr>
                <a:xfrm>
                  <a:off x="78145" y="329238"/>
                  <a:ext cx="23987" cy="23939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28" name="Rectangle 982"/>
                <p:cNvSpPr/>
                <p:nvPr/>
              </p:nvSpPr>
              <p:spPr>
                <a:xfrm>
                  <a:off x="139530" y="237362"/>
                  <a:ext cx="12701" cy="127954"/>
                </a:xfrm>
                <a:prstGeom prst="rect">
                  <a:avLst/>
                </a:prstGeom>
                <a:solidFill>
                  <a:srgbClr val="29292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233" name="Group 732"/>
              <p:cNvGrpSpPr/>
              <p:nvPr/>
            </p:nvGrpSpPr>
            <p:grpSpPr>
              <a:xfrm>
                <a:off x="1765017" y="756425"/>
                <a:ext cx="632793" cy="571457"/>
                <a:chOff x="0" y="0"/>
                <a:chExt cx="632791" cy="571455"/>
              </a:xfrm>
            </p:grpSpPr>
            <p:pic>
              <p:nvPicPr>
                <p:cNvPr id="230" name="Picture 733" descr="Picture 733"/>
                <p:cNvPicPr>
                  <a:picLocks noChangeAspect="1"/>
                </p:cNvPicPr>
                <p:nvPr/>
              </p:nvPicPr>
              <p:blipFill>
                <a:blip r:embed="rId13">
                  <a:extLst/>
                </a:blip>
                <a:stretch>
                  <a:fillRect/>
                </a:stretch>
              </p:blipFill>
              <p:spPr>
                <a:xfrm>
                  <a:off x="365972" y="83609"/>
                  <a:ext cx="266820" cy="44159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31" name="Picture 734" descr="Picture 734"/>
                <p:cNvPicPr>
                  <a:picLocks noChangeAspect="1"/>
                </p:cNvPicPr>
                <p:nvPr/>
              </p:nvPicPr>
              <p:blipFill>
                <a:blip r:embed="rId13">
                  <a:extLst/>
                </a:blip>
                <a:stretch>
                  <a:fillRect/>
                </a:stretch>
              </p:blipFill>
              <p:spPr>
                <a:xfrm>
                  <a:off x="0" y="74049"/>
                  <a:ext cx="266820" cy="44159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32" name="Picture 735" descr="Picture 735"/>
                <p:cNvPicPr>
                  <a:picLocks noChangeAspect="1"/>
                </p:cNvPicPr>
                <p:nvPr/>
              </p:nvPicPr>
              <p:blipFill>
                <a:blip r:embed="rId13">
                  <a:extLst/>
                </a:blip>
                <a:stretch>
                  <a:fillRect/>
                </a:stretch>
              </p:blipFill>
              <p:spPr>
                <a:xfrm>
                  <a:off x="154052" y="0"/>
                  <a:ext cx="345285" cy="57145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236" name="Group 590"/>
              <p:cNvGrpSpPr/>
              <p:nvPr/>
            </p:nvGrpSpPr>
            <p:grpSpPr>
              <a:xfrm>
                <a:off x="414519" y="155073"/>
                <a:ext cx="486793" cy="466462"/>
                <a:chOff x="0" y="0"/>
                <a:chExt cx="486791" cy="466460"/>
              </a:xfrm>
            </p:grpSpPr>
            <p:pic>
              <p:nvPicPr>
                <p:cNvPr id="234" name="Picture 591" descr="Picture 591"/>
                <p:cNvPicPr>
                  <a:picLocks noChangeAspect="1"/>
                </p:cNvPicPr>
                <p:nvPr/>
              </p:nvPicPr>
              <p:blipFill>
                <a:blip r:embed="rId14">
                  <a:extLst/>
                </a:blip>
                <a:stretch>
                  <a:fillRect/>
                </a:stretch>
              </p:blipFill>
              <p:spPr>
                <a:xfrm flipH="1">
                  <a:off x="0" y="0"/>
                  <a:ext cx="486792" cy="466461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35" name="Freeform 592"/>
                <p:cNvSpPr/>
                <p:nvPr/>
              </p:nvSpPr>
              <p:spPr>
                <a:xfrm flipH="1">
                  <a:off x="207611" y="44729"/>
                  <a:ext cx="229535" cy="2137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18202" y="822"/>
                      </a:lnTo>
                      <a:lnTo>
                        <a:pt x="21600" y="17257"/>
                      </a:lnTo>
                      <a:lnTo>
                        <a:pt x="4733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239" name="Group 740"/>
              <p:cNvGrpSpPr/>
              <p:nvPr/>
            </p:nvGrpSpPr>
            <p:grpSpPr>
              <a:xfrm>
                <a:off x="1347202" y="-1"/>
                <a:ext cx="704293" cy="659425"/>
                <a:chOff x="0" y="0"/>
                <a:chExt cx="704292" cy="659423"/>
              </a:xfrm>
            </p:grpSpPr>
            <p:pic>
              <p:nvPicPr>
                <p:cNvPr id="237" name="Picture 568" descr="Picture 568"/>
                <p:cNvPicPr>
                  <a:picLocks noChangeAspect="1"/>
                </p:cNvPicPr>
                <p:nvPr/>
              </p:nvPicPr>
              <p:blipFill>
                <a:blip r:embed="rId15">
                  <a:extLst/>
                </a:blip>
                <a:stretch>
                  <a:fillRect/>
                </a:stretch>
              </p:blipFill>
              <p:spPr>
                <a:xfrm flipH="1">
                  <a:off x="257305" y="100100"/>
                  <a:ext cx="123118" cy="55932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38" name="Picture 1017" descr="Picture 1017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0" y="-1"/>
                  <a:ext cx="704293" cy="30867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242" name="Group 788"/>
              <p:cNvGrpSpPr/>
              <p:nvPr/>
            </p:nvGrpSpPr>
            <p:grpSpPr>
              <a:xfrm>
                <a:off x="-1" y="606008"/>
                <a:ext cx="799068" cy="209303"/>
                <a:chOff x="0" y="0"/>
                <a:chExt cx="799066" cy="209302"/>
              </a:xfrm>
            </p:grpSpPr>
            <p:pic>
              <p:nvPicPr>
                <p:cNvPr id="240" name="Picture 603" descr="Picture 603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0" y="53535"/>
                  <a:ext cx="799067" cy="15576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41" name="Picture 1017" descr="Picture 1017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198968" y="-1"/>
                  <a:ext cx="499307" cy="20712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</p:grpSp>
      <p:grpSp>
        <p:nvGrpSpPr>
          <p:cNvPr id="286" name="Group 1024"/>
          <p:cNvGrpSpPr/>
          <p:nvPr/>
        </p:nvGrpSpPr>
        <p:grpSpPr>
          <a:xfrm>
            <a:off x="7562237" y="2127325"/>
            <a:ext cx="3578868" cy="3640284"/>
            <a:chOff x="0" y="0"/>
            <a:chExt cx="3578866" cy="3640283"/>
          </a:xfrm>
        </p:grpSpPr>
        <p:sp>
          <p:nvSpPr>
            <p:cNvPr id="245" name="Straight Connector 829"/>
            <p:cNvSpPr/>
            <p:nvPr/>
          </p:nvSpPr>
          <p:spPr>
            <a:xfrm flipH="1" flipV="1">
              <a:off x="2997681" y="1452800"/>
              <a:ext cx="412965" cy="63712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6" name="Straight Connector 826"/>
            <p:cNvSpPr/>
            <p:nvPr/>
          </p:nvSpPr>
          <p:spPr>
            <a:xfrm flipH="1" flipV="1">
              <a:off x="3098597" y="1513359"/>
              <a:ext cx="345866" cy="738975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7" name="Straight Connector 824"/>
            <p:cNvSpPr/>
            <p:nvPr/>
          </p:nvSpPr>
          <p:spPr>
            <a:xfrm flipV="1">
              <a:off x="3074658" y="1506096"/>
              <a:ext cx="335987" cy="39534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8" name="Straight Connector 822"/>
            <p:cNvSpPr/>
            <p:nvPr/>
          </p:nvSpPr>
          <p:spPr>
            <a:xfrm flipV="1">
              <a:off x="3009806" y="1467571"/>
              <a:ext cx="1" cy="4857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9" name="Straight Connector 818"/>
            <p:cNvSpPr/>
            <p:nvPr/>
          </p:nvSpPr>
          <p:spPr>
            <a:xfrm flipH="1" flipV="1">
              <a:off x="2988382" y="1944316"/>
              <a:ext cx="508543" cy="3486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0" name="Straight Connector 817"/>
            <p:cNvSpPr/>
            <p:nvPr/>
          </p:nvSpPr>
          <p:spPr>
            <a:xfrm flipH="1">
              <a:off x="2332957" y="1960416"/>
              <a:ext cx="65542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1" name="Straight Connector 815"/>
            <p:cNvSpPr/>
            <p:nvPr/>
          </p:nvSpPr>
          <p:spPr>
            <a:xfrm flipH="1">
              <a:off x="1657378" y="1960416"/>
              <a:ext cx="65542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2" name="Straight Connector 812"/>
            <p:cNvSpPr/>
            <p:nvPr/>
          </p:nvSpPr>
          <p:spPr>
            <a:xfrm flipH="1">
              <a:off x="1714630" y="1380346"/>
              <a:ext cx="382424" cy="51705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3" name="Straight Connector 810"/>
            <p:cNvSpPr/>
            <p:nvPr/>
          </p:nvSpPr>
          <p:spPr>
            <a:xfrm>
              <a:off x="2170830" y="1380346"/>
              <a:ext cx="1" cy="540294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4" name="Straight Connector 807"/>
            <p:cNvSpPr/>
            <p:nvPr/>
          </p:nvSpPr>
          <p:spPr>
            <a:xfrm>
              <a:off x="2575429" y="627367"/>
              <a:ext cx="488174" cy="83933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5" name="Straight Connector 562"/>
            <p:cNvSpPr/>
            <p:nvPr/>
          </p:nvSpPr>
          <p:spPr>
            <a:xfrm flipH="1">
              <a:off x="2236481" y="567688"/>
              <a:ext cx="380432" cy="69480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85" name="Group 802"/>
            <p:cNvGrpSpPr/>
            <p:nvPr/>
          </p:nvGrpSpPr>
          <p:grpSpPr>
            <a:xfrm>
              <a:off x="0" y="0"/>
              <a:ext cx="3578867" cy="3640284"/>
              <a:chOff x="0" y="0"/>
              <a:chExt cx="3578866" cy="3640283"/>
            </a:xfrm>
          </p:grpSpPr>
          <p:grpSp>
            <p:nvGrpSpPr>
              <p:cNvPr id="280" name="Group 799"/>
              <p:cNvGrpSpPr/>
              <p:nvPr/>
            </p:nvGrpSpPr>
            <p:grpSpPr>
              <a:xfrm>
                <a:off x="295014" y="0"/>
                <a:ext cx="3283853" cy="3640284"/>
                <a:chOff x="0" y="0"/>
                <a:chExt cx="3283851" cy="3640283"/>
              </a:xfrm>
            </p:grpSpPr>
            <p:sp>
              <p:nvSpPr>
                <p:cNvPr id="256" name="Line 428"/>
                <p:cNvSpPr/>
                <p:nvPr/>
              </p:nvSpPr>
              <p:spPr>
                <a:xfrm flipH="1" flipV="1">
                  <a:off x="2122607" y="2934163"/>
                  <a:ext cx="7560" cy="38806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57" name="Line 430"/>
                <p:cNvSpPr/>
                <p:nvPr/>
              </p:nvSpPr>
              <p:spPr>
                <a:xfrm>
                  <a:off x="2296157" y="3335745"/>
                  <a:ext cx="11430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58" name="Line 431"/>
                <p:cNvSpPr/>
                <p:nvPr/>
              </p:nvSpPr>
              <p:spPr>
                <a:xfrm>
                  <a:off x="1575705" y="2711191"/>
                  <a:ext cx="524483" cy="26153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59" name="Line 432"/>
                <p:cNvSpPr/>
                <p:nvPr/>
              </p:nvSpPr>
              <p:spPr>
                <a:xfrm flipV="1">
                  <a:off x="992812" y="2711192"/>
                  <a:ext cx="569256" cy="246266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0" name="Line 433"/>
                <p:cNvSpPr/>
                <p:nvPr/>
              </p:nvSpPr>
              <p:spPr>
                <a:xfrm>
                  <a:off x="964490" y="2982820"/>
                  <a:ext cx="1030502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1" name="Line 435"/>
                <p:cNvSpPr/>
                <p:nvPr/>
              </p:nvSpPr>
              <p:spPr>
                <a:xfrm>
                  <a:off x="352954" y="2990008"/>
                  <a:ext cx="226800" cy="1270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2" name="Line 436"/>
                <p:cNvSpPr/>
                <p:nvPr/>
              </p:nvSpPr>
              <p:spPr>
                <a:xfrm flipV="1">
                  <a:off x="91114" y="3163145"/>
                  <a:ext cx="412750" cy="1270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" name="Line 439"/>
                <p:cNvSpPr/>
                <p:nvPr/>
              </p:nvSpPr>
              <p:spPr>
                <a:xfrm flipH="1">
                  <a:off x="516565" y="3154926"/>
                  <a:ext cx="68080" cy="29396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" name="Line 440"/>
                <p:cNvSpPr/>
                <p:nvPr/>
              </p:nvSpPr>
              <p:spPr>
                <a:xfrm flipH="1" flipV="1">
                  <a:off x="631478" y="3180606"/>
                  <a:ext cx="280374" cy="269876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" name="Line 441"/>
                <p:cNvSpPr/>
                <p:nvPr/>
              </p:nvSpPr>
              <p:spPr>
                <a:xfrm>
                  <a:off x="631477" y="3130722"/>
                  <a:ext cx="914185" cy="46862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6" name="Line 443"/>
                <p:cNvSpPr/>
                <p:nvPr/>
              </p:nvSpPr>
              <p:spPr>
                <a:xfrm flipH="1">
                  <a:off x="390525" y="1702644"/>
                  <a:ext cx="1" cy="13176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" name="Line 449"/>
                <p:cNvSpPr/>
                <p:nvPr/>
              </p:nvSpPr>
              <p:spPr>
                <a:xfrm flipV="1">
                  <a:off x="0" y="1913782"/>
                  <a:ext cx="168275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8" name="Line 428"/>
                <p:cNvSpPr/>
                <p:nvPr/>
              </p:nvSpPr>
              <p:spPr>
                <a:xfrm flipH="1" flipV="1">
                  <a:off x="2210948" y="3273491"/>
                  <a:ext cx="1482" cy="36679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9" name="Line 440"/>
                <p:cNvSpPr/>
                <p:nvPr/>
              </p:nvSpPr>
              <p:spPr>
                <a:xfrm flipV="1">
                  <a:off x="602172" y="2909237"/>
                  <a:ext cx="404236" cy="20777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0" name="Straight Connector 563"/>
                <p:cNvSpPr/>
                <p:nvPr/>
              </p:nvSpPr>
              <p:spPr>
                <a:xfrm flipH="1">
                  <a:off x="2243382" y="42107"/>
                  <a:ext cx="761467" cy="5773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1" name="Straight Connector 564"/>
                <p:cNvSpPr/>
                <p:nvPr/>
              </p:nvSpPr>
              <p:spPr>
                <a:xfrm flipH="1">
                  <a:off x="2243382" y="140988"/>
                  <a:ext cx="3970" cy="51846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2" name="Straight Connector 565"/>
                <p:cNvSpPr/>
                <p:nvPr/>
              </p:nvSpPr>
              <p:spPr>
                <a:xfrm flipH="1">
                  <a:off x="2814882" y="73181"/>
                  <a:ext cx="149360" cy="51846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3" name="Straight Connector 566"/>
                <p:cNvSpPr/>
                <p:nvPr/>
              </p:nvSpPr>
              <p:spPr>
                <a:xfrm flipH="1">
                  <a:off x="2284912" y="591642"/>
                  <a:ext cx="574284" cy="2782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4" name="Straight Connector 567"/>
                <p:cNvSpPr/>
                <p:nvPr/>
              </p:nvSpPr>
              <p:spPr>
                <a:xfrm flipH="1">
                  <a:off x="2212289" y="42107"/>
                  <a:ext cx="788589" cy="9888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5" name="Straight Connector 568"/>
                <p:cNvSpPr/>
                <p:nvPr/>
              </p:nvSpPr>
              <p:spPr>
                <a:xfrm flipH="1">
                  <a:off x="3004849" y="0"/>
                  <a:ext cx="279003" cy="4210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6" name="Straight Connector 569"/>
                <p:cNvSpPr/>
                <p:nvPr/>
              </p:nvSpPr>
              <p:spPr>
                <a:xfrm flipH="1" flipV="1">
                  <a:off x="2824741" y="591643"/>
                  <a:ext cx="353541" cy="6780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7" name="Straight Connector 573"/>
                <p:cNvSpPr/>
                <p:nvPr/>
              </p:nvSpPr>
              <p:spPr>
                <a:xfrm flipH="1">
                  <a:off x="911970" y="140988"/>
                  <a:ext cx="1300319" cy="60662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8" name="Line 541"/>
                <p:cNvSpPr/>
                <p:nvPr/>
              </p:nvSpPr>
              <p:spPr>
                <a:xfrm flipV="1">
                  <a:off x="1521451" y="1986054"/>
                  <a:ext cx="429325" cy="70560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79" name="Line 424"/>
                <p:cNvSpPr/>
                <p:nvPr/>
              </p:nvSpPr>
              <p:spPr>
                <a:xfrm flipV="1">
                  <a:off x="387301" y="1920131"/>
                  <a:ext cx="969051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pic>
            <p:nvPicPr>
              <p:cNvPr id="281" name="Picture 778" descr="Picture 778"/>
              <p:cNvPicPr>
                <a:picLocks noChangeAspect="1"/>
              </p:cNvPicPr>
              <p:nvPr/>
            </p:nvPicPr>
            <p:blipFill>
              <a:blip r:embed="rId18">
                <a:extLst/>
              </a:blip>
              <a:stretch>
                <a:fillRect/>
              </a:stretch>
            </p:blipFill>
            <p:spPr>
              <a:xfrm>
                <a:off x="0" y="1686604"/>
                <a:ext cx="506413" cy="10601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2" name="Picture 781" descr="Picture 781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1679834" y="3353612"/>
                <a:ext cx="452015" cy="9516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3" name="Picture 799" descr="Picture 799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418628" y="30842"/>
                <a:ext cx="457200" cy="3327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84" name="Oval 800"/>
              <p:cNvSpPr/>
              <p:nvPr/>
            </p:nvSpPr>
            <p:spPr>
              <a:xfrm>
                <a:off x="612303" y="165670"/>
                <a:ext cx="52389" cy="49485"/>
              </a:xfrm>
              <a:prstGeom prst="ellipse">
                <a:avLst/>
              </a:prstGeom>
              <a:solidFill>
                <a:srgbClr val="44546A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  <p:grpSp>
        <p:nvGrpSpPr>
          <p:cNvPr id="493" name="Group 796"/>
          <p:cNvGrpSpPr/>
          <p:nvPr/>
        </p:nvGrpSpPr>
        <p:grpSpPr>
          <a:xfrm>
            <a:off x="7414072" y="1891912"/>
            <a:ext cx="4144322" cy="4304883"/>
            <a:chOff x="0" y="0"/>
            <a:chExt cx="4144321" cy="4304882"/>
          </a:xfrm>
        </p:grpSpPr>
        <p:grpSp>
          <p:nvGrpSpPr>
            <p:cNvPr id="320" name="Group 786"/>
            <p:cNvGrpSpPr/>
            <p:nvPr/>
          </p:nvGrpSpPr>
          <p:grpSpPr>
            <a:xfrm>
              <a:off x="-1" y="0"/>
              <a:ext cx="1909779" cy="938012"/>
              <a:chOff x="0" y="0"/>
              <a:chExt cx="1909777" cy="938011"/>
            </a:xfrm>
          </p:grpSpPr>
          <p:grpSp>
            <p:nvGrpSpPr>
              <p:cNvPr id="289" name="Group 652"/>
              <p:cNvGrpSpPr/>
              <p:nvPr/>
            </p:nvGrpSpPr>
            <p:grpSpPr>
              <a:xfrm>
                <a:off x="311150" y="-1"/>
                <a:ext cx="415926" cy="385765"/>
                <a:chOff x="0" y="0"/>
                <a:chExt cx="415925" cy="385763"/>
              </a:xfrm>
            </p:grpSpPr>
            <p:pic>
              <p:nvPicPr>
                <p:cNvPr id="287" name="Picture 653" descr="Picture 653"/>
                <p:cNvPicPr>
                  <a:picLocks noChangeAspect="1"/>
                </p:cNvPicPr>
                <p:nvPr/>
              </p:nvPicPr>
              <p:blipFill>
                <a:blip r:embed="rId9">
                  <a:extLst/>
                </a:blip>
                <a:stretch>
                  <a:fillRect/>
                </a:stretch>
              </p:blipFill>
              <p:spPr>
                <a:xfrm>
                  <a:off x="159347" y="57299"/>
                  <a:ext cx="136843" cy="3284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88" name="Picture 654" descr="Picture 654"/>
                <p:cNvPicPr>
                  <a:picLocks noChangeAspect="1"/>
                </p:cNvPicPr>
                <p:nvPr/>
              </p:nvPicPr>
              <p:blipFill>
                <a:blip r:embed="rId10">
                  <a:extLst/>
                </a:blip>
                <a:stretch>
                  <a:fillRect/>
                </a:stretch>
              </p:blipFill>
              <p:spPr>
                <a:xfrm>
                  <a:off x="0" y="-1"/>
                  <a:ext cx="415925" cy="8877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313" name="Group 784"/>
              <p:cNvGrpSpPr/>
              <p:nvPr/>
            </p:nvGrpSpPr>
            <p:grpSpPr>
              <a:xfrm>
                <a:off x="-1" y="496888"/>
                <a:ext cx="534989" cy="414883"/>
                <a:chOff x="0" y="0"/>
                <a:chExt cx="534987" cy="414882"/>
              </a:xfrm>
            </p:grpSpPr>
            <p:pic>
              <p:nvPicPr>
                <p:cNvPr id="290" name="Picture 1017" descr="Picture 1017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30703" cy="2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91" name="Picture 1018" descr="Picture 1018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 flipH="1" rot="109063">
                  <a:off x="25707" y="248477"/>
                  <a:ext cx="437221" cy="159512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92" name="Freeform 1019"/>
                <p:cNvSpPr/>
                <p:nvPr/>
              </p:nvSpPr>
              <p:spPr>
                <a:xfrm>
                  <a:off x="170604" y="93691"/>
                  <a:ext cx="351920" cy="20816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911" y="0"/>
                      </a:moveTo>
                      <a:lnTo>
                        <a:pt x="0" y="15338"/>
                      </a:lnTo>
                      <a:lnTo>
                        <a:pt x="17341" y="21600"/>
                      </a:lnTo>
                      <a:lnTo>
                        <a:pt x="21600" y="2813"/>
                      </a:lnTo>
                      <a:lnTo>
                        <a:pt x="391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293" name="Picture 1020" descr="Picture 1020"/>
                <p:cNvPicPr>
                  <a:picLocks noChangeAspect="1"/>
                </p:cNvPicPr>
                <p:nvPr/>
              </p:nvPicPr>
              <p:blipFill>
                <a:blip r:embed="rId20">
                  <a:extLst/>
                </a:blip>
                <a:stretch>
                  <a:fillRect/>
                </a:stretch>
              </p:blipFill>
              <p:spPr>
                <a:xfrm>
                  <a:off x="187936" y="99045"/>
                  <a:ext cx="319787" cy="18943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94" name="Freeform 1021"/>
                <p:cNvSpPr/>
                <p:nvPr/>
              </p:nvSpPr>
              <p:spPr>
                <a:xfrm>
                  <a:off x="234678" y="87550"/>
                  <a:ext cx="298168" cy="387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20" y="0"/>
                      </a:moveTo>
                      <a:lnTo>
                        <a:pt x="21600" y="16188"/>
                      </a:lnTo>
                      <a:lnTo>
                        <a:pt x="21190" y="21600"/>
                      </a:lnTo>
                      <a:lnTo>
                        <a:pt x="0" y="4083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5" name="Freeform 1022"/>
                <p:cNvSpPr/>
                <p:nvPr/>
              </p:nvSpPr>
              <p:spPr>
                <a:xfrm>
                  <a:off x="167487" y="87235"/>
                  <a:ext cx="82772" cy="16124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815" y="0"/>
                      </a:moveTo>
                      <a:lnTo>
                        <a:pt x="0" y="21326"/>
                      </a:lnTo>
                      <a:lnTo>
                        <a:pt x="3508" y="21600"/>
                      </a:lnTo>
                      <a:lnTo>
                        <a:pt x="21600" y="582"/>
                      </a:lnTo>
                      <a:lnTo>
                        <a:pt x="17815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6" name="Freeform 1023"/>
                <p:cNvSpPr/>
                <p:nvPr/>
              </p:nvSpPr>
              <p:spPr>
                <a:xfrm>
                  <a:off x="441505" y="116051"/>
                  <a:ext cx="89198" cy="1861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3943" y="21600"/>
                      </a:lnTo>
                      <a:lnTo>
                        <a:pt x="0" y="21244"/>
                      </a:lnTo>
                      <a:lnTo>
                        <a:pt x="17314" y="771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7" name="Freeform 1024"/>
                <p:cNvSpPr/>
                <p:nvPr/>
              </p:nvSpPr>
              <p:spPr>
                <a:xfrm>
                  <a:off x="166513" y="240289"/>
                  <a:ext cx="305138" cy="628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44" h="21600" fill="norm" stroke="1" extrusionOk="0">
                      <a:moveTo>
                        <a:pt x="257" y="0"/>
                      </a:moveTo>
                      <a:lnTo>
                        <a:pt x="0" y="2898"/>
                      </a:lnTo>
                      <a:lnTo>
                        <a:pt x="18975" y="21600"/>
                      </a:lnTo>
                      <a:cubicBezTo>
                        <a:pt x="19466" y="14663"/>
                        <a:pt x="21600" y="21278"/>
                        <a:pt x="18484" y="17649"/>
                      </a:cubicBezTo>
                      <a:lnTo>
                        <a:pt x="257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CC"/>
                    </a:gs>
                    <a:gs pos="100000">
                      <a:srgbClr val="FFFF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8" name="Freeform 1025"/>
                <p:cNvSpPr/>
                <p:nvPr/>
              </p:nvSpPr>
              <p:spPr>
                <a:xfrm>
                  <a:off x="451438" y="117625"/>
                  <a:ext cx="83550" cy="1869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854" y="0"/>
                      </a:moveTo>
                      <a:lnTo>
                        <a:pt x="21600" y="0"/>
                      </a:lnTo>
                      <a:lnTo>
                        <a:pt x="2306" y="21600"/>
                      </a:lnTo>
                      <a:lnTo>
                        <a:pt x="0" y="21444"/>
                      </a:lnTo>
                      <a:lnTo>
                        <a:pt x="20854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9" name="Freeform 1026"/>
                <p:cNvSpPr/>
                <p:nvPr/>
              </p:nvSpPr>
              <p:spPr>
                <a:xfrm>
                  <a:off x="166903" y="248635"/>
                  <a:ext cx="290962" cy="6204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8" y="2239"/>
                      </a:lnTo>
                      <a:lnTo>
                        <a:pt x="21093" y="21600"/>
                      </a:lnTo>
                      <a:lnTo>
                        <a:pt x="21600" y="194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06" name="Group 1027"/>
                <p:cNvGrpSpPr/>
                <p:nvPr/>
              </p:nvGrpSpPr>
              <p:grpSpPr>
                <a:xfrm>
                  <a:off x="162035" y="314927"/>
                  <a:ext cx="98740" cy="36943"/>
                  <a:chOff x="0" y="0"/>
                  <a:chExt cx="98739" cy="36942"/>
                </a:xfrm>
              </p:grpSpPr>
              <p:sp>
                <p:nvSpPr>
                  <p:cNvPr id="300" name="Freeform 1028"/>
                  <p:cNvSpPr/>
                  <p:nvPr/>
                </p:nvSpPr>
                <p:spPr>
                  <a:xfrm>
                    <a:off x="0" y="-1"/>
                    <a:ext cx="98740" cy="3684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416" y="0"/>
                        </a:moveTo>
                        <a:lnTo>
                          <a:pt x="21600" y="8191"/>
                        </a:lnTo>
                        <a:lnTo>
                          <a:pt x="13500" y="21600"/>
                        </a:lnTo>
                        <a:lnTo>
                          <a:pt x="0" y="12088"/>
                        </a:lnTo>
                        <a:lnTo>
                          <a:pt x="841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01" name="Freeform 1029"/>
                  <p:cNvSpPr/>
                  <p:nvPr/>
                </p:nvSpPr>
                <p:spPr>
                  <a:xfrm>
                    <a:off x="1838" y="788"/>
                    <a:ext cx="95327" cy="3504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390" y="0"/>
                        </a:moveTo>
                        <a:lnTo>
                          <a:pt x="21600" y="8265"/>
                        </a:lnTo>
                        <a:lnTo>
                          <a:pt x="13597" y="21600"/>
                        </a:lnTo>
                        <a:lnTo>
                          <a:pt x="0" y="12015"/>
                        </a:lnTo>
                        <a:lnTo>
                          <a:pt x="839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02" name="Freeform 1030"/>
                  <p:cNvSpPr/>
                  <p:nvPr/>
                </p:nvSpPr>
                <p:spPr>
                  <a:xfrm>
                    <a:off x="8928" y="13706"/>
                    <a:ext cx="33877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504"/>
                        </a:moveTo>
                        <a:lnTo>
                          <a:pt x="6279" y="0"/>
                        </a:lnTo>
                        <a:lnTo>
                          <a:pt x="21600" y="10800"/>
                        </a:lnTo>
                        <a:lnTo>
                          <a:pt x="15321" y="21600"/>
                        </a:lnTo>
                        <a:lnTo>
                          <a:pt x="0" y="950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03" name="Freeform 1031"/>
                  <p:cNvSpPr/>
                  <p:nvPr/>
                </p:nvSpPr>
                <p:spPr>
                  <a:xfrm>
                    <a:off x="7746" y="16805"/>
                    <a:ext cx="25474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04" name="Freeform 1032"/>
                  <p:cNvSpPr/>
                  <p:nvPr/>
                </p:nvSpPr>
                <p:spPr>
                  <a:xfrm>
                    <a:off x="36764" y="21030"/>
                    <a:ext cx="33878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741"/>
                        </a:moveTo>
                        <a:lnTo>
                          <a:pt x="5944" y="0"/>
                        </a:lnTo>
                        <a:lnTo>
                          <a:pt x="21600" y="11012"/>
                        </a:lnTo>
                        <a:lnTo>
                          <a:pt x="15321" y="21600"/>
                        </a:lnTo>
                        <a:lnTo>
                          <a:pt x="0" y="974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05" name="Freeform 1033"/>
                  <p:cNvSpPr/>
                  <p:nvPr/>
                </p:nvSpPr>
                <p:spPr>
                  <a:xfrm>
                    <a:off x="35583" y="24242"/>
                    <a:ext cx="25473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307" name="Freeform 1034"/>
                <p:cNvSpPr/>
                <p:nvPr/>
              </p:nvSpPr>
              <p:spPr>
                <a:xfrm>
                  <a:off x="331080" y="320438"/>
                  <a:ext cx="119579" cy="809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65" y="20127"/>
                      </a:moveTo>
                      <a:lnTo>
                        <a:pt x="21600" y="0"/>
                      </a:lnTo>
                      <a:lnTo>
                        <a:pt x="21535" y="1636"/>
                      </a:lnTo>
                      <a:lnTo>
                        <a:pt x="0" y="21600"/>
                      </a:lnTo>
                      <a:lnTo>
                        <a:pt x="65" y="20127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8" name="Freeform 1035"/>
                <p:cNvSpPr/>
                <p:nvPr/>
              </p:nvSpPr>
              <p:spPr>
                <a:xfrm>
                  <a:off x="25901" y="326894"/>
                  <a:ext cx="305959" cy="738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9" name="Freeform 1036"/>
                <p:cNvSpPr/>
                <p:nvPr/>
              </p:nvSpPr>
              <p:spPr>
                <a:xfrm>
                  <a:off x="21402" y="313352"/>
                  <a:ext cx="12701" cy="149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1469"/>
                      </a:moveTo>
                      <a:lnTo>
                        <a:pt x="19108" y="21600"/>
                      </a:lnTo>
                      <a:lnTo>
                        <a:pt x="0" y="21159"/>
                      </a:lnTo>
                      <a:lnTo>
                        <a:pt x="2492" y="0"/>
                      </a:lnTo>
                      <a:lnTo>
                        <a:pt x="21600" y="1469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0" name="Freeform 1037"/>
                <p:cNvSpPr/>
                <p:nvPr/>
              </p:nvSpPr>
              <p:spPr>
                <a:xfrm>
                  <a:off x="26291" y="252414"/>
                  <a:ext cx="142172" cy="6188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90" y="0"/>
                      </a:moveTo>
                      <a:lnTo>
                        <a:pt x="0" y="21279"/>
                      </a:lnTo>
                      <a:lnTo>
                        <a:pt x="551" y="21600"/>
                      </a:lnTo>
                      <a:lnTo>
                        <a:pt x="21600" y="642"/>
                      </a:lnTo>
                      <a:lnTo>
                        <a:pt x="2149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1" name="Freeform 1038"/>
                <p:cNvSpPr/>
                <p:nvPr/>
              </p:nvSpPr>
              <p:spPr>
                <a:xfrm>
                  <a:off x="35835" y="316502"/>
                  <a:ext cx="290182" cy="71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2" name="Freeform 1039"/>
                <p:cNvSpPr/>
                <p:nvPr/>
              </p:nvSpPr>
              <p:spPr>
                <a:xfrm flipH="1" rot="10800000">
                  <a:off x="325627" y="311463"/>
                  <a:ext cx="118410" cy="735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16" name="Group 739"/>
              <p:cNvGrpSpPr/>
              <p:nvPr/>
            </p:nvGrpSpPr>
            <p:grpSpPr>
              <a:xfrm>
                <a:off x="1198707" y="460002"/>
                <a:ext cx="530703" cy="478010"/>
                <a:chOff x="0" y="0"/>
                <a:chExt cx="530702" cy="478009"/>
              </a:xfrm>
            </p:grpSpPr>
            <p:pic>
              <p:nvPicPr>
                <p:cNvPr id="314" name="Picture 568" descr="Picture 568"/>
                <p:cNvPicPr>
                  <a:picLocks noChangeAspect="1"/>
                </p:cNvPicPr>
                <p:nvPr/>
              </p:nvPicPr>
              <p:blipFill>
                <a:blip r:embed="rId15">
                  <a:extLst/>
                </a:blip>
                <a:stretch>
                  <a:fillRect/>
                </a:stretch>
              </p:blipFill>
              <p:spPr>
                <a:xfrm flipH="1">
                  <a:off x="193886" y="72562"/>
                  <a:ext cx="92773" cy="40544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15" name="Picture 1017" descr="Picture 1017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30703" cy="2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319" name="Group 785"/>
              <p:cNvGrpSpPr/>
              <p:nvPr/>
            </p:nvGrpSpPr>
            <p:grpSpPr>
              <a:xfrm>
                <a:off x="1060465" y="199399"/>
                <a:ext cx="849313" cy="226110"/>
                <a:chOff x="0" y="0"/>
                <a:chExt cx="849312" cy="226109"/>
              </a:xfrm>
            </p:grpSpPr>
            <p:pic>
              <p:nvPicPr>
                <p:cNvPr id="317" name="Picture 603" descr="Picture 603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0" y="57834"/>
                  <a:ext cx="849313" cy="16827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18" name="Picture 1017" descr="Picture 1017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211480" y="0"/>
                  <a:ext cx="530703" cy="2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351" name="Group 792"/>
            <p:cNvGrpSpPr/>
            <p:nvPr/>
          </p:nvGrpSpPr>
          <p:grpSpPr>
            <a:xfrm>
              <a:off x="54443" y="1465699"/>
              <a:ext cx="857741" cy="583765"/>
              <a:chOff x="0" y="0"/>
              <a:chExt cx="857739" cy="583764"/>
            </a:xfrm>
          </p:grpSpPr>
          <p:grpSp>
            <p:nvGrpSpPr>
              <p:cNvPr id="344" name="Group 791"/>
              <p:cNvGrpSpPr/>
              <p:nvPr/>
            </p:nvGrpSpPr>
            <p:grpSpPr>
              <a:xfrm>
                <a:off x="0" y="93716"/>
                <a:ext cx="350808" cy="310034"/>
                <a:chOff x="0" y="0"/>
                <a:chExt cx="350807" cy="310033"/>
              </a:xfrm>
            </p:grpSpPr>
            <p:pic>
              <p:nvPicPr>
                <p:cNvPr id="321" name="Picture 1115" descr="Picture 1115"/>
                <p:cNvPicPr>
                  <a:picLocks noChangeAspect="1"/>
                </p:cNvPicPr>
                <p:nvPr/>
              </p:nvPicPr>
              <p:blipFill>
                <a:blip r:embed="rId12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347997" cy="16755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22" name="Picture 1116" descr="Picture 1116"/>
                <p:cNvPicPr>
                  <a:picLocks noChangeAspect="1"/>
                </p:cNvPicPr>
                <p:nvPr/>
              </p:nvPicPr>
              <p:blipFill>
                <a:blip r:embed="rId21">
                  <a:extLst/>
                </a:blip>
                <a:stretch>
                  <a:fillRect/>
                </a:stretch>
              </p:blipFill>
              <p:spPr>
                <a:xfrm flipH="1" rot="109063">
                  <a:off x="16857" y="186069"/>
                  <a:ext cx="286699" cy="11944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323" name="Freeform 1117"/>
                <p:cNvSpPr/>
                <p:nvPr/>
              </p:nvSpPr>
              <p:spPr>
                <a:xfrm>
                  <a:off x="111869" y="70159"/>
                  <a:ext cx="230766" cy="15588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911" y="0"/>
                      </a:moveTo>
                      <a:lnTo>
                        <a:pt x="0" y="15338"/>
                      </a:lnTo>
                      <a:lnTo>
                        <a:pt x="17341" y="21600"/>
                      </a:lnTo>
                      <a:lnTo>
                        <a:pt x="21600" y="2813"/>
                      </a:lnTo>
                      <a:lnTo>
                        <a:pt x="391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324" name="Picture 1118" descr="Picture 1118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23236" y="74168"/>
                  <a:ext cx="209692" cy="141852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325" name="Freeform 1119"/>
                <p:cNvSpPr/>
                <p:nvPr/>
              </p:nvSpPr>
              <p:spPr>
                <a:xfrm>
                  <a:off x="153884" y="65561"/>
                  <a:ext cx="195518" cy="290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20" y="0"/>
                      </a:moveTo>
                      <a:lnTo>
                        <a:pt x="21600" y="16188"/>
                      </a:lnTo>
                      <a:lnTo>
                        <a:pt x="21190" y="21600"/>
                      </a:lnTo>
                      <a:lnTo>
                        <a:pt x="0" y="4083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6" name="Freeform 1120"/>
                <p:cNvSpPr/>
                <p:nvPr/>
              </p:nvSpPr>
              <p:spPr>
                <a:xfrm>
                  <a:off x="109826" y="65325"/>
                  <a:ext cx="54277" cy="1207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815" y="0"/>
                      </a:moveTo>
                      <a:lnTo>
                        <a:pt x="0" y="21326"/>
                      </a:lnTo>
                      <a:lnTo>
                        <a:pt x="3508" y="21600"/>
                      </a:lnTo>
                      <a:lnTo>
                        <a:pt x="21600" y="582"/>
                      </a:lnTo>
                      <a:lnTo>
                        <a:pt x="17815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7" name="Freeform 1121"/>
                <p:cNvSpPr/>
                <p:nvPr/>
              </p:nvSpPr>
              <p:spPr>
                <a:xfrm>
                  <a:off x="289508" y="86903"/>
                  <a:ext cx="58490" cy="1393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3943" y="21600"/>
                      </a:lnTo>
                      <a:lnTo>
                        <a:pt x="0" y="21244"/>
                      </a:lnTo>
                      <a:lnTo>
                        <a:pt x="17314" y="771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8" name="Freeform 1122"/>
                <p:cNvSpPr/>
                <p:nvPr/>
              </p:nvSpPr>
              <p:spPr>
                <a:xfrm>
                  <a:off x="109188" y="179938"/>
                  <a:ext cx="200088" cy="470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44" h="21600" fill="norm" stroke="1" extrusionOk="0">
                      <a:moveTo>
                        <a:pt x="257" y="0"/>
                      </a:moveTo>
                      <a:lnTo>
                        <a:pt x="0" y="2898"/>
                      </a:lnTo>
                      <a:lnTo>
                        <a:pt x="18975" y="21600"/>
                      </a:lnTo>
                      <a:cubicBezTo>
                        <a:pt x="19466" y="14663"/>
                        <a:pt x="21600" y="21278"/>
                        <a:pt x="18484" y="17649"/>
                      </a:cubicBezTo>
                      <a:lnTo>
                        <a:pt x="257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CC"/>
                    </a:gs>
                    <a:gs pos="100000">
                      <a:srgbClr val="FFFF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9" name="Freeform 1123"/>
                <p:cNvSpPr/>
                <p:nvPr/>
              </p:nvSpPr>
              <p:spPr>
                <a:xfrm>
                  <a:off x="296021" y="88082"/>
                  <a:ext cx="54787" cy="1399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854" y="0"/>
                      </a:moveTo>
                      <a:lnTo>
                        <a:pt x="21600" y="0"/>
                      </a:lnTo>
                      <a:lnTo>
                        <a:pt x="2306" y="21600"/>
                      </a:lnTo>
                      <a:lnTo>
                        <a:pt x="0" y="21444"/>
                      </a:lnTo>
                      <a:lnTo>
                        <a:pt x="20854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0" name="Freeform 1124"/>
                <p:cNvSpPr/>
                <p:nvPr/>
              </p:nvSpPr>
              <p:spPr>
                <a:xfrm>
                  <a:off x="109444" y="186187"/>
                  <a:ext cx="190793" cy="464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8" y="2239"/>
                      </a:lnTo>
                      <a:lnTo>
                        <a:pt x="21093" y="21600"/>
                      </a:lnTo>
                      <a:lnTo>
                        <a:pt x="21600" y="194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37" name="Group 1125"/>
                <p:cNvGrpSpPr/>
                <p:nvPr/>
              </p:nvGrpSpPr>
              <p:grpSpPr>
                <a:xfrm>
                  <a:off x="106250" y="235829"/>
                  <a:ext cx="64748" cy="29259"/>
                  <a:chOff x="0" y="0"/>
                  <a:chExt cx="64746" cy="29258"/>
                </a:xfrm>
              </p:grpSpPr>
              <p:sp>
                <p:nvSpPr>
                  <p:cNvPr id="331" name="Freeform 1126"/>
                  <p:cNvSpPr/>
                  <p:nvPr/>
                </p:nvSpPr>
                <p:spPr>
                  <a:xfrm>
                    <a:off x="0" y="0"/>
                    <a:ext cx="64747" cy="2759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416" y="0"/>
                        </a:moveTo>
                        <a:lnTo>
                          <a:pt x="21600" y="8191"/>
                        </a:lnTo>
                        <a:lnTo>
                          <a:pt x="13500" y="21600"/>
                        </a:lnTo>
                        <a:lnTo>
                          <a:pt x="0" y="12088"/>
                        </a:lnTo>
                        <a:lnTo>
                          <a:pt x="841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32" name="Freeform 1127"/>
                  <p:cNvSpPr/>
                  <p:nvPr/>
                </p:nvSpPr>
                <p:spPr>
                  <a:xfrm>
                    <a:off x="1205" y="590"/>
                    <a:ext cx="62509" cy="2624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390" y="0"/>
                        </a:moveTo>
                        <a:lnTo>
                          <a:pt x="21600" y="8265"/>
                        </a:lnTo>
                        <a:lnTo>
                          <a:pt x="13597" y="21600"/>
                        </a:lnTo>
                        <a:lnTo>
                          <a:pt x="0" y="12015"/>
                        </a:lnTo>
                        <a:lnTo>
                          <a:pt x="839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33" name="Freeform 1128"/>
                  <p:cNvSpPr/>
                  <p:nvPr/>
                </p:nvSpPr>
                <p:spPr>
                  <a:xfrm>
                    <a:off x="5854" y="8669"/>
                    <a:ext cx="22215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504"/>
                        </a:moveTo>
                        <a:lnTo>
                          <a:pt x="6279" y="0"/>
                        </a:lnTo>
                        <a:lnTo>
                          <a:pt x="21600" y="10800"/>
                        </a:lnTo>
                        <a:lnTo>
                          <a:pt x="15321" y="21600"/>
                        </a:lnTo>
                        <a:lnTo>
                          <a:pt x="0" y="950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34" name="Freeform 1129"/>
                  <p:cNvSpPr/>
                  <p:nvPr/>
                </p:nvSpPr>
                <p:spPr>
                  <a:xfrm>
                    <a:off x="5079" y="10989"/>
                    <a:ext cx="16705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35" name="Freeform 1130"/>
                  <p:cNvSpPr/>
                  <p:nvPr/>
                </p:nvSpPr>
                <p:spPr>
                  <a:xfrm>
                    <a:off x="24107" y="14154"/>
                    <a:ext cx="22215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741"/>
                        </a:moveTo>
                        <a:lnTo>
                          <a:pt x="5944" y="0"/>
                        </a:lnTo>
                        <a:lnTo>
                          <a:pt x="21600" y="11012"/>
                        </a:lnTo>
                        <a:lnTo>
                          <a:pt x="15321" y="21600"/>
                        </a:lnTo>
                        <a:lnTo>
                          <a:pt x="0" y="974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336" name="Freeform 1131"/>
                  <p:cNvSpPr/>
                  <p:nvPr/>
                </p:nvSpPr>
                <p:spPr>
                  <a:xfrm>
                    <a:off x="23333" y="16558"/>
                    <a:ext cx="16704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338" name="Freeform 1132"/>
                <p:cNvSpPr/>
                <p:nvPr/>
              </p:nvSpPr>
              <p:spPr>
                <a:xfrm>
                  <a:off x="217099" y="239956"/>
                  <a:ext cx="78412" cy="606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65" y="20127"/>
                      </a:moveTo>
                      <a:lnTo>
                        <a:pt x="21600" y="0"/>
                      </a:lnTo>
                      <a:lnTo>
                        <a:pt x="21535" y="1636"/>
                      </a:lnTo>
                      <a:lnTo>
                        <a:pt x="0" y="21600"/>
                      </a:lnTo>
                      <a:lnTo>
                        <a:pt x="65" y="20127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9" name="Freeform 1133"/>
                <p:cNvSpPr/>
                <p:nvPr/>
              </p:nvSpPr>
              <p:spPr>
                <a:xfrm>
                  <a:off x="16985" y="244791"/>
                  <a:ext cx="200625" cy="553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0" name="Freeform 1134"/>
                <p:cNvSpPr/>
                <p:nvPr/>
              </p:nvSpPr>
              <p:spPr>
                <a:xfrm>
                  <a:off x="11848" y="233901"/>
                  <a:ext cx="12701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1469"/>
                      </a:moveTo>
                      <a:lnTo>
                        <a:pt x="19108" y="21600"/>
                      </a:lnTo>
                      <a:lnTo>
                        <a:pt x="0" y="21159"/>
                      </a:lnTo>
                      <a:lnTo>
                        <a:pt x="2492" y="0"/>
                      </a:lnTo>
                      <a:lnTo>
                        <a:pt x="21600" y="1469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" name="Freeform 1135"/>
                <p:cNvSpPr/>
                <p:nvPr/>
              </p:nvSpPr>
              <p:spPr>
                <a:xfrm>
                  <a:off x="17239" y="189017"/>
                  <a:ext cx="93227" cy="463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90" y="0"/>
                      </a:moveTo>
                      <a:lnTo>
                        <a:pt x="0" y="21279"/>
                      </a:lnTo>
                      <a:lnTo>
                        <a:pt x="551" y="21600"/>
                      </a:lnTo>
                      <a:lnTo>
                        <a:pt x="21600" y="642"/>
                      </a:lnTo>
                      <a:lnTo>
                        <a:pt x="2149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2" name="Freeform 1136"/>
                <p:cNvSpPr/>
                <p:nvPr/>
              </p:nvSpPr>
              <p:spPr>
                <a:xfrm>
                  <a:off x="23498" y="237009"/>
                  <a:ext cx="190282" cy="531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3" name="Freeform 1137"/>
                <p:cNvSpPr/>
                <p:nvPr/>
              </p:nvSpPr>
              <p:spPr>
                <a:xfrm flipH="1" rot="10800000">
                  <a:off x="213524" y="233235"/>
                  <a:ext cx="77646" cy="550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47" name="Group 1139"/>
              <p:cNvGrpSpPr/>
              <p:nvPr/>
            </p:nvGrpSpPr>
            <p:grpSpPr>
              <a:xfrm>
                <a:off x="498478" y="241718"/>
                <a:ext cx="359262" cy="342047"/>
                <a:chOff x="0" y="0"/>
                <a:chExt cx="359260" cy="342045"/>
              </a:xfrm>
            </p:grpSpPr>
            <p:pic>
              <p:nvPicPr>
                <p:cNvPr id="345" name="Picture 1140" descr="Picture 1140"/>
                <p:cNvPicPr>
                  <a:picLocks noChangeAspect="1"/>
                </p:cNvPicPr>
                <p:nvPr/>
              </p:nvPicPr>
              <p:blipFill>
                <a:blip r:embed="rId23">
                  <a:extLst/>
                </a:blip>
                <a:stretch>
                  <a:fillRect/>
                </a:stretch>
              </p:blipFill>
              <p:spPr>
                <a:xfrm flipH="1">
                  <a:off x="0" y="0"/>
                  <a:ext cx="359261" cy="34204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346" name="Freeform 1141"/>
                <p:cNvSpPr/>
                <p:nvPr/>
              </p:nvSpPr>
              <p:spPr>
                <a:xfrm flipH="1">
                  <a:off x="153221" y="32798"/>
                  <a:ext cx="169401" cy="1567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18202" y="822"/>
                      </a:lnTo>
                      <a:lnTo>
                        <a:pt x="21600" y="17257"/>
                      </a:lnTo>
                      <a:lnTo>
                        <a:pt x="4733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50" name="Group 693"/>
              <p:cNvGrpSpPr/>
              <p:nvPr/>
            </p:nvGrpSpPr>
            <p:grpSpPr>
              <a:xfrm>
                <a:off x="309917" y="0"/>
                <a:ext cx="347998" cy="396621"/>
                <a:chOff x="0" y="0"/>
                <a:chExt cx="347996" cy="396620"/>
              </a:xfrm>
            </p:grpSpPr>
            <p:pic>
              <p:nvPicPr>
                <p:cNvPr id="348" name="Picture 571" descr="Picture 571"/>
                <p:cNvPicPr>
                  <a:picLocks noChangeAspect="1"/>
                </p:cNvPicPr>
                <p:nvPr/>
              </p:nvPicPr>
              <p:blipFill>
                <a:blip r:embed="rId11">
                  <a:extLst/>
                </a:blip>
                <a:stretch>
                  <a:fillRect/>
                </a:stretch>
              </p:blipFill>
              <p:spPr>
                <a:xfrm>
                  <a:off x="99764" y="59592"/>
                  <a:ext cx="189579" cy="3370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49" name="Picture 1115" descr="Picture 1115"/>
                <p:cNvPicPr>
                  <a:picLocks noChangeAspect="1"/>
                </p:cNvPicPr>
                <p:nvPr/>
              </p:nvPicPr>
              <p:blipFill>
                <a:blip r:embed="rId12">
                  <a:extLst/>
                </a:blip>
                <a:stretch>
                  <a:fillRect/>
                </a:stretch>
              </p:blipFill>
              <p:spPr>
                <a:xfrm>
                  <a:off x="0" y="-1"/>
                  <a:ext cx="347997" cy="1675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364" name="Group 794"/>
            <p:cNvGrpSpPr/>
            <p:nvPr/>
          </p:nvGrpSpPr>
          <p:grpSpPr>
            <a:xfrm>
              <a:off x="3625873" y="1568760"/>
              <a:ext cx="518449" cy="1212243"/>
              <a:chOff x="0" y="0"/>
              <a:chExt cx="518447" cy="1212242"/>
            </a:xfrm>
          </p:grpSpPr>
          <p:grpSp>
            <p:nvGrpSpPr>
              <p:cNvPr id="357" name="Group 374"/>
              <p:cNvGrpSpPr/>
              <p:nvPr/>
            </p:nvGrpSpPr>
            <p:grpSpPr>
              <a:xfrm>
                <a:off x="28609" y="760425"/>
                <a:ext cx="489840" cy="451818"/>
                <a:chOff x="0" y="0"/>
                <a:chExt cx="489839" cy="451816"/>
              </a:xfrm>
            </p:grpSpPr>
            <p:sp>
              <p:nvSpPr>
                <p:cNvPr id="352" name="Straight Connector 375"/>
                <p:cNvSpPr/>
                <p:nvPr/>
              </p:nvSpPr>
              <p:spPr>
                <a:xfrm>
                  <a:off x="-1" y="240564"/>
                  <a:ext cx="186245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56" name="Group 377"/>
                <p:cNvGrpSpPr/>
                <p:nvPr/>
              </p:nvGrpSpPr>
              <p:grpSpPr>
                <a:xfrm>
                  <a:off x="137494" y="0"/>
                  <a:ext cx="352346" cy="451817"/>
                  <a:chOff x="0" y="0"/>
                  <a:chExt cx="352344" cy="451816"/>
                </a:xfrm>
              </p:grpSpPr>
              <p:pic>
                <p:nvPicPr>
                  <p:cNvPr id="353" name="Picture 378" descr="Picture 378"/>
                  <p:cNvPicPr>
                    <a:picLocks noChangeAspect="1"/>
                  </p:cNvPicPr>
                  <p:nvPr/>
                </p:nvPicPr>
                <p:blipFill>
                  <a:blip r:embed="rId13">
                    <a:extLst/>
                  </a:blip>
                  <a:stretch>
                    <a:fillRect/>
                  </a:stretch>
                </p:blipFill>
                <p:spPr>
                  <a:xfrm>
                    <a:off x="203776" y="66104"/>
                    <a:ext cx="148569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54" name="Picture 379" descr="Picture 379"/>
                  <p:cNvPicPr>
                    <a:picLocks noChangeAspect="1"/>
                  </p:cNvPicPr>
                  <p:nvPr/>
                </p:nvPicPr>
                <p:blipFill>
                  <a:blip r:embed="rId13">
                    <a:extLst/>
                  </a:blip>
                  <a:stretch>
                    <a:fillRect/>
                  </a:stretch>
                </p:blipFill>
                <p:spPr>
                  <a:xfrm>
                    <a:off x="0" y="58546"/>
                    <a:ext cx="148568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55" name="Picture 380" descr="Picture 380"/>
                  <p:cNvPicPr>
                    <a:picLocks noChangeAspect="1"/>
                  </p:cNvPicPr>
                  <p:nvPr/>
                </p:nvPicPr>
                <p:blipFill>
                  <a:blip r:embed="rId13">
                    <a:extLst/>
                  </a:blip>
                  <a:stretch>
                    <a:fillRect/>
                  </a:stretch>
                </p:blipFill>
                <p:spPr>
                  <a:xfrm>
                    <a:off x="85777" y="0"/>
                    <a:ext cx="192259" cy="451817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  <p:grpSp>
            <p:nvGrpSpPr>
              <p:cNvPr id="363" name="Group 391"/>
              <p:cNvGrpSpPr/>
              <p:nvPr/>
            </p:nvGrpSpPr>
            <p:grpSpPr>
              <a:xfrm>
                <a:off x="0" y="-1"/>
                <a:ext cx="423724" cy="405974"/>
                <a:chOff x="0" y="0"/>
                <a:chExt cx="423723" cy="405973"/>
              </a:xfrm>
            </p:grpSpPr>
            <p:sp>
              <p:nvSpPr>
                <p:cNvPr id="358" name="Straight Connector 392"/>
                <p:cNvSpPr/>
                <p:nvPr/>
              </p:nvSpPr>
              <p:spPr>
                <a:xfrm>
                  <a:off x="0" y="216155"/>
                  <a:ext cx="16110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62" name="Group 394"/>
                <p:cNvGrpSpPr/>
                <p:nvPr/>
              </p:nvGrpSpPr>
              <p:grpSpPr>
                <a:xfrm>
                  <a:off x="118936" y="0"/>
                  <a:ext cx="304788" cy="405974"/>
                  <a:chOff x="0" y="0"/>
                  <a:chExt cx="304787" cy="405973"/>
                </a:xfrm>
              </p:grpSpPr>
              <p:pic>
                <p:nvPicPr>
                  <p:cNvPr id="359" name="Picture 395" descr="Picture 395"/>
                  <p:cNvPicPr>
                    <a:picLocks noChangeAspect="1"/>
                  </p:cNvPicPr>
                  <p:nvPr/>
                </p:nvPicPr>
                <p:blipFill>
                  <a:blip r:embed="rId13">
                    <a:extLst/>
                  </a:blip>
                  <a:stretch>
                    <a:fillRect/>
                  </a:stretch>
                </p:blipFill>
                <p:spPr>
                  <a:xfrm>
                    <a:off x="176272" y="59397"/>
                    <a:ext cx="128516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60" name="Picture 396" descr="Picture 396"/>
                  <p:cNvPicPr>
                    <a:picLocks noChangeAspect="1"/>
                  </p:cNvPicPr>
                  <p:nvPr/>
                </p:nvPicPr>
                <p:blipFill>
                  <a:blip r:embed="rId13">
                    <a:extLst/>
                  </a:blip>
                  <a:stretch>
                    <a:fillRect/>
                  </a:stretch>
                </p:blipFill>
                <p:spPr>
                  <a:xfrm>
                    <a:off x="-1" y="52605"/>
                    <a:ext cx="128517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61" name="Picture 397" descr="Picture 397"/>
                  <p:cNvPicPr>
                    <a:picLocks noChangeAspect="1"/>
                  </p:cNvPicPr>
                  <p:nvPr/>
                </p:nvPicPr>
                <p:blipFill>
                  <a:blip r:embed="rId13">
                    <a:extLst/>
                  </a:blip>
                  <a:stretch>
                    <a:fillRect/>
                  </a:stretch>
                </p:blipFill>
                <p:spPr>
                  <a:xfrm>
                    <a:off x="74200" y="0"/>
                    <a:ext cx="166308" cy="40597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</p:grpSp>
        <p:grpSp>
          <p:nvGrpSpPr>
            <p:cNvPr id="492" name="Group 795"/>
            <p:cNvGrpSpPr/>
            <p:nvPr/>
          </p:nvGrpSpPr>
          <p:grpSpPr>
            <a:xfrm>
              <a:off x="334906" y="3040436"/>
              <a:ext cx="2695369" cy="1264447"/>
              <a:chOff x="0" y="0"/>
              <a:chExt cx="2695367" cy="1264446"/>
            </a:xfrm>
          </p:grpSpPr>
          <p:grpSp>
            <p:nvGrpSpPr>
              <p:cNvPr id="397" name="Group 950"/>
              <p:cNvGrpSpPr/>
              <p:nvPr/>
            </p:nvGrpSpPr>
            <p:grpSpPr>
              <a:xfrm>
                <a:off x="2514934" y="373790"/>
                <a:ext cx="180434" cy="330834"/>
                <a:chOff x="0" y="0"/>
                <a:chExt cx="180433" cy="330833"/>
              </a:xfrm>
            </p:grpSpPr>
            <p:sp>
              <p:nvSpPr>
                <p:cNvPr id="365" name="Freeform 951"/>
                <p:cNvSpPr/>
                <p:nvPr/>
              </p:nvSpPr>
              <p:spPr>
                <a:xfrm>
                  <a:off x="140261" y="552"/>
                  <a:ext cx="35191" cy="3156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844" y="0"/>
                      </a:moveTo>
                      <a:lnTo>
                        <a:pt x="21600" y="2670"/>
                      </a:lnTo>
                      <a:lnTo>
                        <a:pt x="21112" y="20670"/>
                      </a:lnTo>
                      <a:lnTo>
                        <a:pt x="0" y="21600"/>
                      </a:lnTo>
                      <a:lnTo>
                        <a:pt x="3844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6" name="Rectangle 952"/>
                <p:cNvSpPr/>
                <p:nvPr/>
              </p:nvSpPr>
              <p:spPr>
                <a:xfrm>
                  <a:off x="8704" y="0"/>
                  <a:ext cx="130066" cy="31550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67" name="Freeform 953"/>
                <p:cNvSpPr/>
                <p:nvPr/>
              </p:nvSpPr>
              <p:spPr>
                <a:xfrm>
                  <a:off x="147548" y="19468"/>
                  <a:ext cx="20319" cy="28797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83" h="21300" fill="norm" stroke="1" extrusionOk="0">
                      <a:moveTo>
                        <a:pt x="0" y="0"/>
                      </a:moveTo>
                      <a:cubicBezTo>
                        <a:pt x="0" y="0"/>
                        <a:pt x="5118" y="238"/>
                        <a:pt x="20883" y="1856"/>
                      </a:cubicBezTo>
                      <a:cubicBezTo>
                        <a:pt x="-717" y="10464"/>
                        <a:pt x="3480" y="21600"/>
                        <a:pt x="0" y="212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8" name="Freeform 954"/>
                <p:cNvSpPr/>
                <p:nvPr/>
              </p:nvSpPr>
              <p:spPr>
                <a:xfrm>
                  <a:off x="142250" y="167211"/>
                  <a:ext cx="32704" cy="26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9" name="Rectangle 955"/>
                <p:cNvSpPr/>
                <p:nvPr/>
              </p:nvSpPr>
              <p:spPr>
                <a:xfrm>
                  <a:off x="8704" y="32932"/>
                  <a:ext cx="7435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372" name="Group 956"/>
                <p:cNvGrpSpPr/>
                <p:nvPr/>
              </p:nvGrpSpPr>
              <p:grpSpPr>
                <a:xfrm>
                  <a:off x="75626" y="32712"/>
                  <a:ext cx="71847" cy="20742"/>
                  <a:chOff x="0" y="0"/>
                  <a:chExt cx="71846" cy="20741"/>
                </a:xfrm>
              </p:grpSpPr>
              <p:sp>
                <p:nvSpPr>
                  <p:cNvPr id="370" name="AutoShape 957"/>
                  <p:cNvSpPr/>
                  <p:nvPr/>
                </p:nvSpPr>
                <p:spPr>
                  <a:xfrm>
                    <a:off x="0" y="0"/>
                    <a:ext cx="71847" cy="2074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371" name="AutoShape 958"/>
                  <p:cNvSpPr/>
                  <p:nvPr/>
                </p:nvSpPr>
                <p:spPr>
                  <a:xfrm>
                    <a:off x="1195" y="2160"/>
                    <a:ext cx="69356" cy="1642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373" name="Rectangle 959"/>
                <p:cNvSpPr/>
                <p:nvPr/>
              </p:nvSpPr>
              <p:spPr>
                <a:xfrm>
                  <a:off x="9947" y="78774"/>
                  <a:ext cx="7435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376" name="Group 960"/>
                <p:cNvGrpSpPr/>
                <p:nvPr/>
              </p:nvGrpSpPr>
              <p:grpSpPr>
                <a:xfrm>
                  <a:off x="75577" y="77481"/>
                  <a:ext cx="71847" cy="18503"/>
                  <a:chOff x="0" y="0"/>
                  <a:chExt cx="71846" cy="18502"/>
                </a:xfrm>
              </p:grpSpPr>
              <p:sp>
                <p:nvSpPr>
                  <p:cNvPr id="374" name="AutoShape 961"/>
                  <p:cNvSpPr/>
                  <p:nvPr/>
                </p:nvSpPr>
                <p:spPr>
                  <a:xfrm>
                    <a:off x="0" y="0"/>
                    <a:ext cx="71847" cy="1850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375" name="AutoShape 962"/>
                  <p:cNvSpPr/>
                  <p:nvPr/>
                </p:nvSpPr>
                <p:spPr>
                  <a:xfrm>
                    <a:off x="1295" y="2262"/>
                    <a:ext cx="69356" cy="14244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377" name="Rectangle 963"/>
                <p:cNvSpPr/>
                <p:nvPr/>
              </p:nvSpPr>
              <p:spPr>
                <a:xfrm>
                  <a:off x="9947" y="124615"/>
                  <a:ext cx="7435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78" name="Rectangle 964"/>
                <p:cNvSpPr/>
                <p:nvPr/>
              </p:nvSpPr>
              <p:spPr>
                <a:xfrm>
                  <a:off x="11191" y="166177"/>
                  <a:ext cx="7435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381" name="Group 965"/>
                <p:cNvGrpSpPr/>
                <p:nvPr/>
              </p:nvGrpSpPr>
              <p:grpSpPr>
                <a:xfrm>
                  <a:off x="74384" y="168116"/>
                  <a:ext cx="71871" cy="18601"/>
                  <a:chOff x="0" y="0"/>
                  <a:chExt cx="71869" cy="18599"/>
                </a:xfrm>
              </p:grpSpPr>
              <p:sp>
                <p:nvSpPr>
                  <p:cNvPr id="379" name="AutoShape 966"/>
                  <p:cNvSpPr/>
                  <p:nvPr/>
                </p:nvSpPr>
                <p:spPr>
                  <a:xfrm>
                    <a:off x="0" y="0"/>
                    <a:ext cx="71870" cy="186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380" name="AutoShape 967"/>
                  <p:cNvSpPr/>
                  <p:nvPr/>
                </p:nvSpPr>
                <p:spPr>
                  <a:xfrm>
                    <a:off x="1197" y="0"/>
                    <a:ext cx="69376" cy="16350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382" name="Freeform 968"/>
                <p:cNvSpPr/>
                <p:nvPr/>
              </p:nvSpPr>
              <p:spPr>
                <a:xfrm>
                  <a:off x="142748" y="127721"/>
                  <a:ext cx="32704" cy="259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85" name="Group 969"/>
                <p:cNvGrpSpPr/>
                <p:nvPr/>
              </p:nvGrpSpPr>
              <p:grpSpPr>
                <a:xfrm>
                  <a:off x="74382" y="124407"/>
                  <a:ext cx="73069" cy="18503"/>
                  <a:chOff x="0" y="0"/>
                  <a:chExt cx="73067" cy="18502"/>
                </a:xfrm>
              </p:grpSpPr>
              <p:sp>
                <p:nvSpPr>
                  <p:cNvPr id="383" name="AutoShape 970"/>
                  <p:cNvSpPr/>
                  <p:nvPr/>
                </p:nvSpPr>
                <p:spPr>
                  <a:xfrm>
                    <a:off x="0" y="0"/>
                    <a:ext cx="73068" cy="1850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384" name="AutoShape 971"/>
                  <p:cNvSpPr/>
                  <p:nvPr/>
                </p:nvSpPr>
                <p:spPr>
                  <a:xfrm>
                    <a:off x="1197" y="2209"/>
                    <a:ext cx="71871" cy="14223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386" name="Rectangle 972"/>
                <p:cNvSpPr/>
                <p:nvPr/>
              </p:nvSpPr>
              <p:spPr>
                <a:xfrm>
                  <a:off x="135527" y="0"/>
                  <a:ext cx="12701" cy="31550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87" name="Freeform 973"/>
                <p:cNvSpPr/>
                <p:nvPr/>
              </p:nvSpPr>
              <p:spPr>
                <a:xfrm>
                  <a:off x="145732" y="79808"/>
                  <a:ext cx="29471" cy="2941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92" y="0"/>
                      </a:moveTo>
                      <a:cubicBezTo>
                        <a:pt x="4014" y="844"/>
                        <a:pt x="10508" y="5737"/>
                        <a:pt x="21308" y="12150"/>
                      </a:cubicBezTo>
                      <a:cubicBezTo>
                        <a:pt x="21162" y="15019"/>
                        <a:pt x="21600" y="15863"/>
                        <a:pt x="21600" y="21600"/>
                      </a:cubicBezTo>
                      <a:cubicBezTo>
                        <a:pt x="21600" y="21600"/>
                        <a:pt x="11676" y="14850"/>
                        <a:pt x="0" y="8437"/>
                      </a:cubicBezTo>
                      <a:cubicBezTo>
                        <a:pt x="0" y="4050"/>
                        <a:pt x="292" y="1434"/>
                        <a:pt x="292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8" name="Freeform 974"/>
                <p:cNvSpPr/>
                <p:nvPr/>
              </p:nvSpPr>
              <p:spPr>
                <a:xfrm>
                  <a:off x="146105" y="34657"/>
                  <a:ext cx="30341" cy="3313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cubicBezTo>
                        <a:pt x="3624" y="750"/>
                        <a:pt x="10516" y="5700"/>
                        <a:pt x="21600" y="12300"/>
                      </a:cubicBezTo>
                      <a:cubicBezTo>
                        <a:pt x="21458" y="14850"/>
                        <a:pt x="20179" y="16500"/>
                        <a:pt x="20179" y="21600"/>
                      </a:cubicBezTo>
                      <a:cubicBezTo>
                        <a:pt x="20179" y="21600"/>
                        <a:pt x="11582" y="13425"/>
                        <a:pt x="568" y="9300"/>
                      </a:cubicBezTo>
                      <a:cubicBezTo>
                        <a:pt x="568" y="5400"/>
                        <a:pt x="0" y="1275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9" name="Oval 975"/>
                <p:cNvSpPr/>
                <p:nvPr/>
              </p:nvSpPr>
              <p:spPr>
                <a:xfrm>
                  <a:off x="167733" y="301284"/>
                  <a:ext cx="12701" cy="13119"/>
                </a:xfrm>
                <a:prstGeom prst="ellipse">
                  <a:avLst/>
                </a:pr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90" name="Freeform 976"/>
                <p:cNvSpPr/>
                <p:nvPr/>
              </p:nvSpPr>
              <p:spPr>
                <a:xfrm>
                  <a:off x="144489" y="301698"/>
                  <a:ext cx="30465" cy="276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40"/>
                      </a:moveTo>
                      <a:lnTo>
                        <a:pt x="141" y="21600"/>
                      </a:lnTo>
                      <a:lnTo>
                        <a:pt x="21600" y="9900"/>
                      </a:lnTo>
                      <a:lnTo>
                        <a:pt x="21176" y="0"/>
                      </a:lnTo>
                      <a:lnTo>
                        <a:pt x="0" y="954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1" name="AutoShape 977"/>
                <p:cNvSpPr/>
                <p:nvPr/>
              </p:nvSpPr>
              <p:spPr>
                <a:xfrm>
                  <a:off x="0" y="310121"/>
                  <a:ext cx="148717" cy="2071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92" name="AutoShape 978"/>
                <p:cNvSpPr/>
                <p:nvPr/>
              </p:nvSpPr>
              <p:spPr>
                <a:xfrm>
                  <a:off x="8704" y="314610"/>
                  <a:ext cx="132553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398" y="0"/>
                        <a:pt x="889" y="0"/>
                      </a:cubicBezTo>
                      <a:lnTo>
                        <a:pt x="20711" y="0"/>
                      </a:lnTo>
                      <a:cubicBezTo>
                        <a:pt x="21202" y="0"/>
                        <a:pt x="21600" y="4835"/>
                        <a:pt x="21600" y="10800"/>
                      </a:cubicBezTo>
                      <a:cubicBezTo>
                        <a:pt x="21600" y="16765"/>
                        <a:pt x="21202" y="21600"/>
                        <a:pt x="20711" y="21600"/>
                      </a:cubicBezTo>
                      <a:lnTo>
                        <a:pt x="889" y="21600"/>
                      </a:lnTo>
                      <a:cubicBezTo>
                        <a:pt x="398" y="21600"/>
                        <a:pt x="0" y="16765"/>
                        <a:pt x="0" y="1080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93" name="Oval 979"/>
                <p:cNvSpPr/>
                <p:nvPr/>
              </p:nvSpPr>
              <p:spPr>
                <a:xfrm>
                  <a:off x="21014" y="269664"/>
                  <a:ext cx="19771" cy="19607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94" name="Oval 980"/>
                <p:cNvSpPr/>
                <p:nvPr/>
              </p:nvSpPr>
              <p:spPr>
                <a:xfrm>
                  <a:off x="43396" y="269664"/>
                  <a:ext cx="19771" cy="19607"/>
                </a:xfrm>
                <a:prstGeom prst="ellipse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95" name="Oval 981"/>
                <p:cNvSpPr/>
                <p:nvPr/>
              </p:nvSpPr>
              <p:spPr>
                <a:xfrm>
                  <a:off x="64410" y="269664"/>
                  <a:ext cx="19771" cy="19607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396" name="Rectangle 982"/>
                <p:cNvSpPr/>
                <p:nvPr/>
              </p:nvSpPr>
              <p:spPr>
                <a:xfrm>
                  <a:off x="113891" y="194412"/>
                  <a:ext cx="12701" cy="104801"/>
                </a:xfrm>
                <a:prstGeom prst="rect">
                  <a:avLst/>
                </a:prstGeom>
                <a:solidFill>
                  <a:srgbClr val="29292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458" name="Group 793"/>
              <p:cNvGrpSpPr/>
              <p:nvPr/>
            </p:nvGrpSpPr>
            <p:grpSpPr>
              <a:xfrm>
                <a:off x="-1" y="-1"/>
                <a:ext cx="2080031" cy="1264448"/>
                <a:chOff x="0" y="0"/>
                <a:chExt cx="2080029" cy="1264446"/>
              </a:xfrm>
            </p:grpSpPr>
            <p:grpSp>
              <p:nvGrpSpPr>
                <p:cNvPr id="400" name="Group 590"/>
                <p:cNvGrpSpPr/>
                <p:nvPr/>
              </p:nvGrpSpPr>
              <p:grpSpPr>
                <a:xfrm>
                  <a:off x="206874" y="0"/>
                  <a:ext cx="345630" cy="320303"/>
                  <a:chOff x="0" y="0"/>
                  <a:chExt cx="345629" cy="320302"/>
                </a:xfrm>
              </p:grpSpPr>
              <p:pic>
                <p:nvPicPr>
                  <p:cNvPr id="398" name="Picture 591" descr="Picture 591"/>
                  <p:cNvPicPr>
                    <a:picLocks noChangeAspect="1"/>
                  </p:cNvPicPr>
                  <p:nvPr/>
                </p:nvPicPr>
                <p:blipFill>
                  <a:blip r:embed="rId14">
                    <a:extLst/>
                  </a:blip>
                  <a:stretch>
                    <a:fillRect/>
                  </a:stretch>
                </p:blipFill>
                <p:spPr>
                  <a:xfrm flipH="1">
                    <a:off x="0" y="0"/>
                    <a:ext cx="345630" cy="3203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399" name="Freeform 592"/>
                  <p:cNvSpPr/>
                  <p:nvPr/>
                </p:nvSpPr>
                <p:spPr>
                  <a:xfrm flipH="1">
                    <a:off x="147407" y="30713"/>
                    <a:ext cx="162974" cy="1467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18202" y="822"/>
                        </a:lnTo>
                        <a:lnTo>
                          <a:pt x="21600" y="17257"/>
                        </a:lnTo>
                        <a:lnTo>
                          <a:pt x="4733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424" name="Group 1064"/>
                <p:cNvGrpSpPr/>
                <p:nvPr/>
              </p:nvGrpSpPr>
              <p:grpSpPr>
                <a:xfrm>
                  <a:off x="1427700" y="952648"/>
                  <a:ext cx="310187" cy="311799"/>
                  <a:chOff x="0" y="0"/>
                  <a:chExt cx="310186" cy="311798"/>
                </a:xfrm>
              </p:grpSpPr>
              <p:pic>
                <p:nvPicPr>
                  <p:cNvPr id="401" name="Picture 1065" descr="Picture 1065"/>
                  <p:cNvPicPr>
                    <a:picLocks noChangeAspect="1"/>
                  </p:cNvPicPr>
                  <p:nvPr/>
                </p:nvPicPr>
                <p:blipFill>
                  <a:blip r:embed="rId6">
                    <a:extLst/>
                  </a:blip>
                  <a:stretch>
                    <a:fillRect/>
                  </a:stretch>
                </p:blipFill>
                <p:spPr>
                  <a:xfrm>
                    <a:off x="0" y="0"/>
                    <a:ext cx="307702" cy="16881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402" name="Picture 1066" descr="Picture 1066"/>
                  <p:cNvPicPr>
                    <a:picLocks noChangeAspect="1"/>
                  </p:cNvPicPr>
                  <p:nvPr/>
                </p:nvPicPr>
                <p:blipFill>
                  <a:blip r:embed="rId7">
                    <a:extLst/>
                  </a:blip>
                  <a:stretch>
                    <a:fillRect/>
                  </a:stretch>
                </p:blipFill>
                <p:spPr>
                  <a:xfrm flipH="1" rot="109063">
                    <a:off x="14905" y="187464"/>
                    <a:ext cx="253502" cy="120345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403" name="Freeform 1067"/>
                  <p:cNvSpPr/>
                  <p:nvPr/>
                </p:nvSpPr>
                <p:spPr>
                  <a:xfrm>
                    <a:off x="98916" y="70685"/>
                    <a:ext cx="204044" cy="15705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911" y="0"/>
                        </a:moveTo>
                        <a:lnTo>
                          <a:pt x="0" y="15338"/>
                        </a:lnTo>
                        <a:lnTo>
                          <a:pt x="17341" y="21600"/>
                        </a:lnTo>
                        <a:lnTo>
                          <a:pt x="21600" y="2813"/>
                        </a:lnTo>
                        <a:lnTo>
                          <a:pt x="3911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pic>
                <p:nvPicPr>
                  <p:cNvPr id="404" name="Picture 1068" descr="Picture 1068"/>
                  <p:cNvPicPr>
                    <a:picLocks noChangeAspect="1"/>
                  </p:cNvPicPr>
                  <p:nvPr/>
                </p:nvPicPr>
                <p:blipFill>
                  <a:blip r:embed="rId8">
                    <a:extLst/>
                  </a:blip>
                  <a:stretch>
                    <a:fillRect/>
                  </a:stretch>
                </p:blipFill>
                <p:spPr>
                  <a:xfrm>
                    <a:off x="108965" y="74724"/>
                    <a:ext cx="185413" cy="142916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405" name="Freeform 1069"/>
                  <p:cNvSpPr/>
                  <p:nvPr/>
                </p:nvSpPr>
                <p:spPr>
                  <a:xfrm>
                    <a:off x="136066" y="66052"/>
                    <a:ext cx="172878" cy="292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0" y="0"/>
                        </a:moveTo>
                        <a:lnTo>
                          <a:pt x="21600" y="16188"/>
                        </a:lnTo>
                        <a:lnTo>
                          <a:pt x="21190" y="21600"/>
                        </a:lnTo>
                        <a:lnTo>
                          <a:pt x="0" y="4083"/>
                        </a:lnTo>
                        <a:lnTo>
                          <a:pt x="12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06" name="Freeform 1070"/>
                  <p:cNvSpPr/>
                  <p:nvPr/>
                </p:nvSpPr>
                <p:spPr>
                  <a:xfrm>
                    <a:off x="97109" y="65814"/>
                    <a:ext cx="47991" cy="12165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815" y="0"/>
                        </a:moveTo>
                        <a:lnTo>
                          <a:pt x="0" y="21326"/>
                        </a:lnTo>
                        <a:lnTo>
                          <a:pt x="3508" y="21600"/>
                        </a:lnTo>
                        <a:lnTo>
                          <a:pt x="21600" y="582"/>
                        </a:lnTo>
                        <a:lnTo>
                          <a:pt x="17815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07" name="Freeform 1071"/>
                  <p:cNvSpPr/>
                  <p:nvPr/>
                </p:nvSpPr>
                <p:spPr>
                  <a:xfrm>
                    <a:off x="255985" y="87554"/>
                    <a:ext cx="51717" cy="1404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600" y="0"/>
                        </a:moveTo>
                        <a:lnTo>
                          <a:pt x="3943" y="21600"/>
                        </a:lnTo>
                        <a:lnTo>
                          <a:pt x="0" y="21244"/>
                        </a:lnTo>
                        <a:lnTo>
                          <a:pt x="17314" y="771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DDDDDD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08" name="Freeform 1072"/>
                  <p:cNvSpPr/>
                  <p:nvPr/>
                </p:nvSpPr>
                <p:spPr>
                  <a:xfrm>
                    <a:off x="96544" y="181287"/>
                    <a:ext cx="176920" cy="474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144" h="21600" fill="norm" stroke="1" extrusionOk="0">
                        <a:moveTo>
                          <a:pt x="257" y="0"/>
                        </a:moveTo>
                        <a:lnTo>
                          <a:pt x="0" y="2898"/>
                        </a:lnTo>
                        <a:lnTo>
                          <a:pt x="18975" y="21600"/>
                        </a:lnTo>
                        <a:cubicBezTo>
                          <a:pt x="19466" y="14663"/>
                          <a:pt x="21600" y="21278"/>
                          <a:pt x="18484" y="17649"/>
                        </a:cubicBezTo>
                        <a:lnTo>
                          <a:pt x="257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CC"/>
                      </a:gs>
                      <a:gs pos="100000">
                        <a:srgbClr val="FFFF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09" name="Freeform 1073"/>
                  <p:cNvSpPr/>
                  <p:nvPr/>
                </p:nvSpPr>
                <p:spPr>
                  <a:xfrm>
                    <a:off x="261744" y="88742"/>
                    <a:ext cx="48443" cy="14101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0854" y="0"/>
                        </a:moveTo>
                        <a:lnTo>
                          <a:pt x="21600" y="0"/>
                        </a:lnTo>
                        <a:lnTo>
                          <a:pt x="2306" y="21600"/>
                        </a:lnTo>
                        <a:lnTo>
                          <a:pt x="0" y="21444"/>
                        </a:lnTo>
                        <a:lnTo>
                          <a:pt x="20854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10" name="Freeform 1074"/>
                  <p:cNvSpPr/>
                  <p:nvPr/>
                </p:nvSpPr>
                <p:spPr>
                  <a:xfrm>
                    <a:off x="96770" y="187583"/>
                    <a:ext cx="168701" cy="4680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88" y="2239"/>
                        </a:lnTo>
                        <a:lnTo>
                          <a:pt x="21093" y="21600"/>
                        </a:lnTo>
                        <a:lnTo>
                          <a:pt x="21600" y="1947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grpSp>
                <p:nvGrpSpPr>
                  <p:cNvPr id="417" name="Group 1075"/>
                  <p:cNvGrpSpPr/>
                  <p:nvPr/>
                </p:nvGrpSpPr>
                <p:grpSpPr>
                  <a:xfrm>
                    <a:off x="93947" y="237597"/>
                    <a:ext cx="57251" cy="29432"/>
                    <a:chOff x="0" y="0"/>
                    <a:chExt cx="57249" cy="29430"/>
                  </a:xfrm>
                </p:grpSpPr>
                <p:sp>
                  <p:nvSpPr>
                    <p:cNvPr id="411" name="Freeform 1076"/>
                    <p:cNvSpPr/>
                    <p:nvPr/>
                  </p:nvSpPr>
                  <p:spPr>
                    <a:xfrm>
                      <a:off x="0" y="0"/>
                      <a:ext cx="57250" cy="2779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8416" y="0"/>
                          </a:moveTo>
                          <a:lnTo>
                            <a:pt x="21600" y="8191"/>
                          </a:lnTo>
                          <a:lnTo>
                            <a:pt x="13500" y="21600"/>
                          </a:lnTo>
                          <a:lnTo>
                            <a:pt x="0" y="12088"/>
                          </a:lnTo>
                          <a:lnTo>
                            <a:pt x="841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12" name="Freeform 1077"/>
                    <p:cNvSpPr/>
                    <p:nvPr/>
                  </p:nvSpPr>
                  <p:spPr>
                    <a:xfrm>
                      <a:off x="1065" y="595"/>
                      <a:ext cx="55271" cy="2643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8390" y="0"/>
                          </a:moveTo>
                          <a:lnTo>
                            <a:pt x="21600" y="8265"/>
                          </a:lnTo>
                          <a:lnTo>
                            <a:pt x="13597" y="21600"/>
                          </a:lnTo>
                          <a:lnTo>
                            <a:pt x="0" y="12015"/>
                          </a:lnTo>
                          <a:lnTo>
                            <a:pt x="839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13" name="Freeform 1078"/>
                    <p:cNvSpPr/>
                    <p:nvPr/>
                  </p:nvSpPr>
                  <p:spPr>
                    <a:xfrm>
                      <a:off x="5176" y="8782"/>
                      <a:ext cx="19643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9504"/>
                          </a:moveTo>
                          <a:lnTo>
                            <a:pt x="6279" y="0"/>
                          </a:lnTo>
                          <a:lnTo>
                            <a:pt x="21600" y="10800"/>
                          </a:lnTo>
                          <a:lnTo>
                            <a:pt x="15321" y="21600"/>
                          </a:lnTo>
                          <a:lnTo>
                            <a:pt x="0" y="950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14" name="Freeform 1079"/>
                    <p:cNvSpPr/>
                    <p:nvPr/>
                  </p:nvSpPr>
                  <p:spPr>
                    <a:xfrm>
                      <a:off x="4491" y="11119"/>
                      <a:ext cx="14770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336" y="0"/>
                          </a:moveTo>
                          <a:lnTo>
                            <a:pt x="21600" y="18171"/>
                          </a:lnTo>
                          <a:lnTo>
                            <a:pt x="20041" y="21600"/>
                          </a:lnTo>
                          <a:lnTo>
                            <a:pt x="0" y="3086"/>
                          </a:lnTo>
                          <a:lnTo>
                            <a:pt x="133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15" name="Freeform 1080"/>
                    <p:cNvSpPr/>
                    <p:nvPr/>
                  </p:nvSpPr>
                  <p:spPr>
                    <a:xfrm>
                      <a:off x="21316" y="14307"/>
                      <a:ext cx="19642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9741"/>
                          </a:moveTo>
                          <a:lnTo>
                            <a:pt x="5944" y="0"/>
                          </a:lnTo>
                          <a:lnTo>
                            <a:pt x="21600" y="11012"/>
                          </a:lnTo>
                          <a:lnTo>
                            <a:pt x="15321" y="21600"/>
                          </a:lnTo>
                          <a:lnTo>
                            <a:pt x="0" y="9741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16" name="Freeform 1081"/>
                    <p:cNvSpPr/>
                    <p:nvPr/>
                  </p:nvSpPr>
                  <p:spPr>
                    <a:xfrm>
                      <a:off x="20631" y="16730"/>
                      <a:ext cx="14770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336" y="0"/>
                          </a:moveTo>
                          <a:lnTo>
                            <a:pt x="21600" y="18171"/>
                          </a:lnTo>
                          <a:lnTo>
                            <a:pt x="20041" y="21600"/>
                          </a:lnTo>
                          <a:lnTo>
                            <a:pt x="0" y="3086"/>
                          </a:lnTo>
                          <a:lnTo>
                            <a:pt x="133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418" name="Freeform 1082"/>
                  <p:cNvSpPr/>
                  <p:nvPr/>
                </p:nvSpPr>
                <p:spPr>
                  <a:xfrm>
                    <a:off x="191960" y="241755"/>
                    <a:ext cx="69333" cy="6106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5" y="20127"/>
                        </a:moveTo>
                        <a:lnTo>
                          <a:pt x="21600" y="0"/>
                        </a:lnTo>
                        <a:lnTo>
                          <a:pt x="21535" y="1636"/>
                        </a:lnTo>
                        <a:lnTo>
                          <a:pt x="0" y="21600"/>
                        </a:lnTo>
                        <a:lnTo>
                          <a:pt x="65" y="20127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19" name="Freeform 1083"/>
                  <p:cNvSpPr/>
                  <p:nvPr/>
                </p:nvSpPr>
                <p:spPr>
                  <a:xfrm>
                    <a:off x="15018" y="246626"/>
                    <a:ext cx="177395" cy="5571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20" name="Freeform 1084"/>
                  <p:cNvSpPr/>
                  <p:nvPr/>
                </p:nvSpPr>
                <p:spPr>
                  <a:xfrm>
                    <a:off x="9740" y="235702"/>
                    <a:ext cx="12701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600" y="1469"/>
                        </a:moveTo>
                        <a:lnTo>
                          <a:pt x="19108" y="21600"/>
                        </a:lnTo>
                        <a:lnTo>
                          <a:pt x="0" y="21159"/>
                        </a:lnTo>
                        <a:lnTo>
                          <a:pt x="2492" y="0"/>
                        </a:lnTo>
                        <a:lnTo>
                          <a:pt x="21600" y="1469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21" name="Freeform 1085"/>
                  <p:cNvSpPr/>
                  <p:nvPr/>
                </p:nvSpPr>
                <p:spPr>
                  <a:xfrm>
                    <a:off x="15243" y="190434"/>
                    <a:ext cx="82432" cy="4668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90" y="0"/>
                        </a:moveTo>
                        <a:lnTo>
                          <a:pt x="0" y="21279"/>
                        </a:lnTo>
                        <a:lnTo>
                          <a:pt x="551" y="21600"/>
                        </a:lnTo>
                        <a:lnTo>
                          <a:pt x="21600" y="642"/>
                        </a:ln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22" name="Freeform 1086"/>
                  <p:cNvSpPr/>
                  <p:nvPr/>
                </p:nvSpPr>
                <p:spPr>
                  <a:xfrm>
                    <a:off x="20776" y="238785"/>
                    <a:ext cx="168249" cy="535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23" name="Freeform 1087"/>
                  <p:cNvSpPr/>
                  <p:nvPr/>
                </p:nvSpPr>
                <p:spPr>
                  <a:xfrm flipH="1" rot="10800000">
                    <a:off x="188799" y="234984"/>
                    <a:ext cx="68655" cy="554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427" name="Group 590"/>
                <p:cNvGrpSpPr/>
                <p:nvPr/>
              </p:nvGrpSpPr>
              <p:grpSpPr>
                <a:xfrm>
                  <a:off x="0" y="380899"/>
                  <a:ext cx="345630" cy="320303"/>
                  <a:chOff x="0" y="0"/>
                  <a:chExt cx="345629" cy="320302"/>
                </a:xfrm>
              </p:grpSpPr>
              <p:pic>
                <p:nvPicPr>
                  <p:cNvPr id="425" name="Picture 591" descr="Picture 591"/>
                  <p:cNvPicPr>
                    <a:picLocks noChangeAspect="1"/>
                  </p:cNvPicPr>
                  <p:nvPr/>
                </p:nvPicPr>
                <p:blipFill>
                  <a:blip r:embed="rId14">
                    <a:extLst/>
                  </a:blip>
                  <a:stretch>
                    <a:fillRect/>
                  </a:stretch>
                </p:blipFill>
                <p:spPr>
                  <a:xfrm flipH="1">
                    <a:off x="0" y="0"/>
                    <a:ext cx="345630" cy="3203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426" name="Freeform 592"/>
                  <p:cNvSpPr/>
                  <p:nvPr/>
                </p:nvSpPr>
                <p:spPr>
                  <a:xfrm flipH="1">
                    <a:off x="147407" y="30713"/>
                    <a:ext cx="162974" cy="1467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18202" y="822"/>
                        </a:lnTo>
                        <a:lnTo>
                          <a:pt x="21600" y="17257"/>
                        </a:lnTo>
                        <a:lnTo>
                          <a:pt x="4733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430" name="Group 590"/>
                <p:cNvGrpSpPr/>
                <p:nvPr/>
              </p:nvGrpSpPr>
              <p:grpSpPr>
                <a:xfrm>
                  <a:off x="379928" y="604496"/>
                  <a:ext cx="345630" cy="320303"/>
                  <a:chOff x="0" y="0"/>
                  <a:chExt cx="345629" cy="320302"/>
                </a:xfrm>
              </p:grpSpPr>
              <p:pic>
                <p:nvPicPr>
                  <p:cNvPr id="428" name="Picture 591" descr="Picture 591"/>
                  <p:cNvPicPr>
                    <a:picLocks noChangeAspect="1"/>
                  </p:cNvPicPr>
                  <p:nvPr/>
                </p:nvPicPr>
                <p:blipFill>
                  <a:blip r:embed="rId14">
                    <a:extLst/>
                  </a:blip>
                  <a:stretch>
                    <a:fillRect/>
                  </a:stretch>
                </p:blipFill>
                <p:spPr>
                  <a:xfrm flipH="1">
                    <a:off x="0" y="0"/>
                    <a:ext cx="345630" cy="3203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429" name="Freeform 592"/>
                  <p:cNvSpPr/>
                  <p:nvPr/>
                </p:nvSpPr>
                <p:spPr>
                  <a:xfrm flipH="1">
                    <a:off x="147407" y="30713"/>
                    <a:ext cx="162974" cy="1467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18202" y="822"/>
                        </a:lnTo>
                        <a:lnTo>
                          <a:pt x="21600" y="17257"/>
                        </a:lnTo>
                        <a:lnTo>
                          <a:pt x="4733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433" name="Group 590"/>
                <p:cNvGrpSpPr/>
                <p:nvPr/>
              </p:nvGrpSpPr>
              <p:grpSpPr>
                <a:xfrm>
                  <a:off x="778153" y="625969"/>
                  <a:ext cx="345631" cy="320303"/>
                  <a:chOff x="0" y="0"/>
                  <a:chExt cx="345629" cy="320302"/>
                </a:xfrm>
              </p:grpSpPr>
              <p:pic>
                <p:nvPicPr>
                  <p:cNvPr id="431" name="Picture 591" descr="Picture 591"/>
                  <p:cNvPicPr>
                    <a:picLocks noChangeAspect="1"/>
                  </p:cNvPicPr>
                  <p:nvPr/>
                </p:nvPicPr>
                <p:blipFill>
                  <a:blip r:embed="rId14">
                    <a:extLst/>
                  </a:blip>
                  <a:stretch>
                    <a:fillRect/>
                  </a:stretch>
                </p:blipFill>
                <p:spPr>
                  <a:xfrm flipH="1">
                    <a:off x="0" y="0"/>
                    <a:ext cx="345630" cy="3203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432" name="Freeform 592"/>
                  <p:cNvSpPr/>
                  <p:nvPr/>
                </p:nvSpPr>
                <p:spPr>
                  <a:xfrm flipH="1">
                    <a:off x="147407" y="30713"/>
                    <a:ext cx="162974" cy="1467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18202" y="822"/>
                        </a:lnTo>
                        <a:lnTo>
                          <a:pt x="21600" y="17257"/>
                        </a:lnTo>
                        <a:lnTo>
                          <a:pt x="4733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457" name="Group 1064"/>
                <p:cNvGrpSpPr/>
                <p:nvPr/>
              </p:nvGrpSpPr>
              <p:grpSpPr>
                <a:xfrm>
                  <a:off x="1760765" y="894977"/>
                  <a:ext cx="319265" cy="257493"/>
                  <a:chOff x="0" y="0"/>
                  <a:chExt cx="319264" cy="257492"/>
                </a:xfrm>
              </p:grpSpPr>
              <p:pic>
                <p:nvPicPr>
                  <p:cNvPr id="434" name="Picture 1065" descr="Picture 1065"/>
                  <p:cNvPicPr>
                    <a:picLocks noChangeAspect="1"/>
                  </p:cNvPicPr>
                  <p:nvPr/>
                </p:nvPicPr>
                <p:blipFill>
                  <a:blip r:embed="rId6">
                    <a:extLst/>
                  </a:blip>
                  <a:stretch>
                    <a:fillRect/>
                  </a:stretch>
                </p:blipFill>
                <p:spPr>
                  <a:xfrm>
                    <a:off x="0" y="0"/>
                    <a:ext cx="316708" cy="13896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435" name="Picture 1066" descr="Picture 1066"/>
                  <p:cNvPicPr>
                    <a:picLocks noChangeAspect="1"/>
                  </p:cNvPicPr>
                  <p:nvPr/>
                </p:nvPicPr>
                <p:blipFill>
                  <a:blip r:embed="rId7">
                    <a:extLst/>
                  </a:blip>
                  <a:stretch>
                    <a:fillRect/>
                  </a:stretch>
                </p:blipFill>
                <p:spPr>
                  <a:xfrm flipH="1" rot="109063">
                    <a:off x="15341" y="154315"/>
                    <a:ext cx="260921" cy="99065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436" name="Freeform 1067"/>
                  <p:cNvSpPr/>
                  <p:nvPr/>
                </p:nvSpPr>
                <p:spPr>
                  <a:xfrm>
                    <a:off x="101811" y="58186"/>
                    <a:ext cx="210015" cy="1292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911" y="0"/>
                        </a:moveTo>
                        <a:lnTo>
                          <a:pt x="0" y="15338"/>
                        </a:lnTo>
                        <a:lnTo>
                          <a:pt x="17341" y="21600"/>
                        </a:lnTo>
                        <a:lnTo>
                          <a:pt x="21600" y="2813"/>
                        </a:lnTo>
                        <a:lnTo>
                          <a:pt x="3911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pic>
                <p:nvPicPr>
                  <p:cNvPr id="437" name="Picture 1068" descr="Picture 1068"/>
                  <p:cNvPicPr>
                    <a:picLocks noChangeAspect="1"/>
                  </p:cNvPicPr>
                  <p:nvPr/>
                </p:nvPicPr>
                <p:blipFill>
                  <a:blip r:embed="rId8">
                    <a:extLst/>
                  </a:blip>
                  <a:stretch>
                    <a:fillRect/>
                  </a:stretch>
                </p:blipFill>
                <p:spPr>
                  <a:xfrm>
                    <a:off x="112154" y="61511"/>
                    <a:ext cx="190839" cy="1176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438" name="Freeform 1069"/>
                  <p:cNvSpPr/>
                  <p:nvPr/>
                </p:nvSpPr>
                <p:spPr>
                  <a:xfrm>
                    <a:off x="140048" y="54372"/>
                    <a:ext cx="177938" cy="2405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0" y="0"/>
                        </a:moveTo>
                        <a:lnTo>
                          <a:pt x="21600" y="16188"/>
                        </a:lnTo>
                        <a:lnTo>
                          <a:pt x="21190" y="21600"/>
                        </a:lnTo>
                        <a:lnTo>
                          <a:pt x="0" y="4083"/>
                        </a:lnTo>
                        <a:lnTo>
                          <a:pt x="12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39" name="Freeform 1070"/>
                  <p:cNvSpPr/>
                  <p:nvPr/>
                </p:nvSpPr>
                <p:spPr>
                  <a:xfrm>
                    <a:off x="99951" y="54176"/>
                    <a:ext cx="49396" cy="10014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815" y="0"/>
                        </a:moveTo>
                        <a:lnTo>
                          <a:pt x="0" y="21326"/>
                        </a:lnTo>
                        <a:lnTo>
                          <a:pt x="3508" y="21600"/>
                        </a:lnTo>
                        <a:lnTo>
                          <a:pt x="21600" y="582"/>
                        </a:lnTo>
                        <a:lnTo>
                          <a:pt x="17815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40" name="Freeform 1071"/>
                  <p:cNvSpPr/>
                  <p:nvPr/>
                </p:nvSpPr>
                <p:spPr>
                  <a:xfrm>
                    <a:off x="263477" y="72072"/>
                    <a:ext cx="53231" cy="11559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600" y="0"/>
                        </a:moveTo>
                        <a:lnTo>
                          <a:pt x="3943" y="21600"/>
                        </a:lnTo>
                        <a:lnTo>
                          <a:pt x="0" y="21244"/>
                        </a:lnTo>
                        <a:lnTo>
                          <a:pt x="17314" y="771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DDDDDD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41" name="Freeform 1072"/>
                  <p:cNvSpPr/>
                  <p:nvPr/>
                </p:nvSpPr>
                <p:spPr>
                  <a:xfrm>
                    <a:off x="99370" y="149230"/>
                    <a:ext cx="182098" cy="3902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144" h="21600" fill="norm" stroke="1" extrusionOk="0">
                        <a:moveTo>
                          <a:pt x="257" y="0"/>
                        </a:moveTo>
                        <a:lnTo>
                          <a:pt x="0" y="2898"/>
                        </a:lnTo>
                        <a:lnTo>
                          <a:pt x="18975" y="21600"/>
                        </a:lnTo>
                        <a:cubicBezTo>
                          <a:pt x="19466" y="14663"/>
                          <a:pt x="21600" y="21278"/>
                          <a:pt x="18484" y="17649"/>
                        </a:cubicBezTo>
                        <a:lnTo>
                          <a:pt x="257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CC"/>
                      </a:gs>
                      <a:gs pos="100000">
                        <a:srgbClr val="FFFF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42" name="Freeform 1073"/>
                  <p:cNvSpPr/>
                  <p:nvPr/>
                </p:nvSpPr>
                <p:spPr>
                  <a:xfrm>
                    <a:off x="269404" y="73050"/>
                    <a:ext cx="49861" cy="1160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0854" y="0"/>
                        </a:moveTo>
                        <a:lnTo>
                          <a:pt x="21600" y="0"/>
                        </a:lnTo>
                        <a:lnTo>
                          <a:pt x="2306" y="21600"/>
                        </a:lnTo>
                        <a:lnTo>
                          <a:pt x="0" y="21444"/>
                        </a:lnTo>
                        <a:lnTo>
                          <a:pt x="20854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43" name="Freeform 1074"/>
                  <p:cNvSpPr/>
                  <p:nvPr/>
                </p:nvSpPr>
                <p:spPr>
                  <a:xfrm>
                    <a:off x="99602" y="154413"/>
                    <a:ext cx="173638" cy="3853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88" y="2239"/>
                        </a:lnTo>
                        <a:lnTo>
                          <a:pt x="21093" y="21600"/>
                        </a:lnTo>
                        <a:lnTo>
                          <a:pt x="21600" y="1947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grpSp>
                <p:nvGrpSpPr>
                  <p:cNvPr id="450" name="Group 1075"/>
                  <p:cNvGrpSpPr/>
                  <p:nvPr/>
                </p:nvGrpSpPr>
                <p:grpSpPr>
                  <a:xfrm>
                    <a:off x="96697" y="195583"/>
                    <a:ext cx="58926" cy="25351"/>
                    <a:chOff x="0" y="0"/>
                    <a:chExt cx="58924" cy="25349"/>
                  </a:xfrm>
                </p:grpSpPr>
                <p:sp>
                  <p:nvSpPr>
                    <p:cNvPr id="444" name="Freeform 1076"/>
                    <p:cNvSpPr/>
                    <p:nvPr/>
                  </p:nvSpPr>
                  <p:spPr>
                    <a:xfrm>
                      <a:off x="0" y="0"/>
                      <a:ext cx="58925" cy="22884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8416" y="0"/>
                          </a:moveTo>
                          <a:lnTo>
                            <a:pt x="21600" y="8191"/>
                          </a:lnTo>
                          <a:lnTo>
                            <a:pt x="13500" y="21600"/>
                          </a:lnTo>
                          <a:lnTo>
                            <a:pt x="0" y="12088"/>
                          </a:lnTo>
                          <a:lnTo>
                            <a:pt x="841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45" name="Freeform 1077"/>
                    <p:cNvSpPr/>
                    <p:nvPr/>
                  </p:nvSpPr>
                  <p:spPr>
                    <a:xfrm>
                      <a:off x="1097" y="489"/>
                      <a:ext cx="56888" cy="2176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8390" y="0"/>
                          </a:moveTo>
                          <a:lnTo>
                            <a:pt x="21600" y="8265"/>
                          </a:lnTo>
                          <a:lnTo>
                            <a:pt x="13597" y="21600"/>
                          </a:lnTo>
                          <a:lnTo>
                            <a:pt x="0" y="12015"/>
                          </a:lnTo>
                          <a:lnTo>
                            <a:pt x="839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46" name="Freeform 1078"/>
                    <p:cNvSpPr/>
                    <p:nvPr/>
                  </p:nvSpPr>
                  <p:spPr>
                    <a:xfrm>
                      <a:off x="5328" y="6106"/>
                      <a:ext cx="20217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9504"/>
                          </a:moveTo>
                          <a:lnTo>
                            <a:pt x="6279" y="0"/>
                          </a:lnTo>
                          <a:lnTo>
                            <a:pt x="21600" y="10800"/>
                          </a:lnTo>
                          <a:lnTo>
                            <a:pt x="15321" y="21600"/>
                          </a:lnTo>
                          <a:lnTo>
                            <a:pt x="0" y="950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47" name="Freeform 1079"/>
                    <p:cNvSpPr/>
                    <p:nvPr/>
                  </p:nvSpPr>
                  <p:spPr>
                    <a:xfrm>
                      <a:off x="4623" y="8030"/>
                      <a:ext cx="15202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336" y="0"/>
                          </a:moveTo>
                          <a:lnTo>
                            <a:pt x="21600" y="18171"/>
                          </a:lnTo>
                          <a:lnTo>
                            <a:pt x="20041" y="21600"/>
                          </a:lnTo>
                          <a:lnTo>
                            <a:pt x="0" y="3086"/>
                          </a:lnTo>
                          <a:lnTo>
                            <a:pt x="133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48" name="Freeform 1080"/>
                    <p:cNvSpPr/>
                    <p:nvPr/>
                  </p:nvSpPr>
                  <p:spPr>
                    <a:xfrm>
                      <a:off x="21940" y="10655"/>
                      <a:ext cx="20217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9741"/>
                          </a:moveTo>
                          <a:lnTo>
                            <a:pt x="5944" y="0"/>
                          </a:lnTo>
                          <a:lnTo>
                            <a:pt x="21600" y="11012"/>
                          </a:lnTo>
                          <a:lnTo>
                            <a:pt x="15321" y="21600"/>
                          </a:lnTo>
                          <a:lnTo>
                            <a:pt x="0" y="9741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449" name="Freeform 1081"/>
                    <p:cNvSpPr/>
                    <p:nvPr/>
                  </p:nvSpPr>
                  <p:spPr>
                    <a:xfrm>
                      <a:off x="21234" y="12649"/>
                      <a:ext cx="15203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336" y="0"/>
                          </a:moveTo>
                          <a:lnTo>
                            <a:pt x="21600" y="18171"/>
                          </a:lnTo>
                          <a:lnTo>
                            <a:pt x="20041" y="21600"/>
                          </a:lnTo>
                          <a:lnTo>
                            <a:pt x="0" y="3086"/>
                          </a:lnTo>
                          <a:lnTo>
                            <a:pt x="133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451" name="Freeform 1082"/>
                  <p:cNvSpPr/>
                  <p:nvPr/>
                </p:nvSpPr>
                <p:spPr>
                  <a:xfrm>
                    <a:off x="197578" y="199006"/>
                    <a:ext cx="71362" cy="5026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5" y="20127"/>
                        </a:moveTo>
                        <a:lnTo>
                          <a:pt x="21600" y="0"/>
                        </a:lnTo>
                        <a:lnTo>
                          <a:pt x="21535" y="1636"/>
                        </a:lnTo>
                        <a:lnTo>
                          <a:pt x="0" y="21600"/>
                        </a:lnTo>
                        <a:lnTo>
                          <a:pt x="65" y="20127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52" name="Freeform 1083"/>
                  <p:cNvSpPr/>
                  <p:nvPr/>
                </p:nvSpPr>
                <p:spPr>
                  <a:xfrm>
                    <a:off x="15457" y="203016"/>
                    <a:ext cx="182587" cy="458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53" name="Freeform 1084"/>
                  <p:cNvSpPr/>
                  <p:nvPr/>
                </p:nvSpPr>
                <p:spPr>
                  <a:xfrm>
                    <a:off x="10211" y="192901"/>
                    <a:ext cx="12701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600" y="1469"/>
                        </a:moveTo>
                        <a:lnTo>
                          <a:pt x="19108" y="21600"/>
                        </a:lnTo>
                        <a:lnTo>
                          <a:pt x="0" y="21159"/>
                        </a:lnTo>
                        <a:lnTo>
                          <a:pt x="2492" y="0"/>
                        </a:lnTo>
                        <a:lnTo>
                          <a:pt x="21600" y="1469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54" name="Freeform 1085"/>
                  <p:cNvSpPr/>
                  <p:nvPr/>
                </p:nvSpPr>
                <p:spPr>
                  <a:xfrm>
                    <a:off x="15690" y="156760"/>
                    <a:ext cx="84843" cy="3843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90" y="0"/>
                        </a:moveTo>
                        <a:lnTo>
                          <a:pt x="0" y="21279"/>
                        </a:lnTo>
                        <a:lnTo>
                          <a:pt x="551" y="21600"/>
                        </a:lnTo>
                        <a:lnTo>
                          <a:pt x="21600" y="642"/>
                        </a:ln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55" name="Freeform 1086"/>
                  <p:cNvSpPr/>
                  <p:nvPr/>
                </p:nvSpPr>
                <p:spPr>
                  <a:xfrm>
                    <a:off x="21385" y="196561"/>
                    <a:ext cx="173172" cy="4410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456" name="Freeform 1087"/>
                  <p:cNvSpPr/>
                  <p:nvPr/>
                </p:nvSpPr>
                <p:spPr>
                  <a:xfrm flipH="1" rot="10800000">
                    <a:off x="194324" y="193432"/>
                    <a:ext cx="70664" cy="4567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</p:grpSp>
          <p:grpSp>
            <p:nvGrpSpPr>
              <p:cNvPr id="491" name="Group 983"/>
              <p:cNvGrpSpPr/>
              <p:nvPr/>
            </p:nvGrpSpPr>
            <p:grpSpPr>
              <a:xfrm>
                <a:off x="2243896" y="736227"/>
                <a:ext cx="174793" cy="348945"/>
                <a:chOff x="0" y="0"/>
                <a:chExt cx="174792" cy="348944"/>
              </a:xfrm>
            </p:grpSpPr>
            <p:sp>
              <p:nvSpPr>
                <p:cNvPr id="459" name="Freeform 984"/>
                <p:cNvSpPr/>
                <p:nvPr/>
              </p:nvSpPr>
              <p:spPr>
                <a:xfrm>
                  <a:off x="135716" y="582"/>
                  <a:ext cx="34050" cy="3329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844" y="0"/>
                      </a:moveTo>
                      <a:lnTo>
                        <a:pt x="21600" y="2670"/>
                      </a:lnTo>
                      <a:lnTo>
                        <a:pt x="21112" y="20670"/>
                      </a:lnTo>
                      <a:lnTo>
                        <a:pt x="0" y="21600"/>
                      </a:lnTo>
                      <a:lnTo>
                        <a:pt x="3844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60" name="Rectangle 985"/>
                <p:cNvSpPr/>
                <p:nvPr/>
              </p:nvSpPr>
              <p:spPr>
                <a:xfrm>
                  <a:off x="8422" y="0"/>
                  <a:ext cx="125851" cy="332779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61" name="Freeform 986"/>
                <p:cNvSpPr/>
                <p:nvPr/>
              </p:nvSpPr>
              <p:spPr>
                <a:xfrm>
                  <a:off x="142767" y="20534"/>
                  <a:ext cx="19660" cy="30373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83" h="21300" fill="norm" stroke="1" extrusionOk="0">
                      <a:moveTo>
                        <a:pt x="0" y="0"/>
                      </a:moveTo>
                      <a:cubicBezTo>
                        <a:pt x="0" y="0"/>
                        <a:pt x="5118" y="238"/>
                        <a:pt x="20883" y="1856"/>
                      </a:cubicBezTo>
                      <a:cubicBezTo>
                        <a:pt x="-717" y="10464"/>
                        <a:pt x="3480" y="21600"/>
                        <a:pt x="0" y="212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62" name="Freeform 987"/>
                <p:cNvSpPr/>
                <p:nvPr/>
              </p:nvSpPr>
              <p:spPr>
                <a:xfrm>
                  <a:off x="137641" y="176365"/>
                  <a:ext cx="31644" cy="275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63" name="Rectangle 988"/>
                <p:cNvSpPr/>
                <p:nvPr/>
              </p:nvSpPr>
              <p:spPr>
                <a:xfrm>
                  <a:off x="8422" y="35083"/>
                  <a:ext cx="7194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466" name="Group 989"/>
                <p:cNvGrpSpPr/>
                <p:nvPr/>
              </p:nvGrpSpPr>
              <p:grpSpPr>
                <a:xfrm>
                  <a:off x="73175" y="34503"/>
                  <a:ext cx="69519" cy="21878"/>
                  <a:chOff x="0" y="0"/>
                  <a:chExt cx="69517" cy="21876"/>
                </a:xfrm>
              </p:grpSpPr>
              <p:sp>
                <p:nvSpPr>
                  <p:cNvPr id="464" name="AutoShape 990"/>
                  <p:cNvSpPr/>
                  <p:nvPr/>
                </p:nvSpPr>
                <p:spPr>
                  <a:xfrm>
                    <a:off x="0" y="0"/>
                    <a:ext cx="69518" cy="2187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465" name="AutoShape 991"/>
                  <p:cNvSpPr/>
                  <p:nvPr/>
                </p:nvSpPr>
                <p:spPr>
                  <a:xfrm>
                    <a:off x="1157" y="2278"/>
                    <a:ext cx="67108" cy="1732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467" name="Rectangle 992"/>
                <p:cNvSpPr/>
                <p:nvPr/>
              </p:nvSpPr>
              <p:spPr>
                <a:xfrm>
                  <a:off x="9625" y="83434"/>
                  <a:ext cx="7194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470" name="Group 993"/>
                <p:cNvGrpSpPr/>
                <p:nvPr/>
              </p:nvGrpSpPr>
              <p:grpSpPr>
                <a:xfrm>
                  <a:off x="73128" y="81722"/>
                  <a:ext cx="69518" cy="19517"/>
                  <a:chOff x="0" y="0"/>
                  <a:chExt cx="69517" cy="19515"/>
                </a:xfrm>
              </p:grpSpPr>
              <p:sp>
                <p:nvSpPr>
                  <p:cNvPr id="468" name="AutoShape 994"/>
                  <p:cNvSpPr/>
                  <p:nvPr/>
                </p:nvSpPr>
                <p:spPr>
                  <a:xfrm>
                    <a:off x="0" y="0"/>
                    <a:ext cx="69518" cy="195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469" name="AutoShape 995"/>
                  <p:cNvSpPr/>
                  <p:nvPr/>
                </p:nvSpPr>
                <p:spPr>
                  <a:xfrm>
                    <a:off x="1253" y="2386"/>
                    <a:ext cx="67108" cy="15024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471" name="Rectangle 996"/>
                <p:cNvSpPr/>
                <p:nvPr/>
              </p:nvSpPr>
              <p:spPr>
                <a:xfrm>
                  <a:off x="9625" y="131785"/>
                  <a:ext cx="7194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72" name="Rectangle 997"/>
                <p:cNvSpPr/>
                <p:nvPr/>
              </p:nvSpPr>
              <p:spPr>
                <a:xfrm>
                  <a:off x="10828" y="175621"/>
                  <a:ext cx="7194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475" name="Group 998"/>
                <p:cNvGrpSpPr/>
                <p:nvPr/>
              </p:nvGrpSpPr>
              <p:grpSpPr>
                <a:xfrm>
                  <a:off x="71974" y="177319"/>
                  <a:ext cx="69542" cy="19619"/>
                  <a:chOff x="0" y="0"/>
                  <a:chExt cx="69540" cy="19617"/>
                </a:xfrm>
              </p:grpSpPr>
              <p:sp>
                <p:nvSpPr>
                  <p:cNvPr id="473" name="AutoShape 999"/>
                  <p:cNvSpPr/>
                  <p:nvPr/>
                </p:nvSpPr>
                <p:spPr>
                  <a:xfrm>
                    <a:off x="0" y="0"/>
                    <a:ext cx="69541" cy="1961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474" name="AutoShape 1000"/>
                  <p:cNvSpPr/>
                  <p:nvPr/>
                </p:nvSpPr>
                <p:spPr>
                  <a:xfrm>
                    <a:off x="1159" y="0"/>
                    <a:ext cx="67127" cy="1724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476" name="Freeform 1001"/>
                <p:cNvSpPr/>
                <p:nvPr/>
              </p:nvSpPr>
              <p:spPr>
                <a:xfrm>
                  <a:off x="138122" y="134713"/>
                  <a:ext cx="31644" cy="2738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479" name="Group 1002"/>
                <p:cNvGrpSpPr/>
                <p:nvPr/>
              </p:nvGrpSpPr>
              <p:grpSpPr>
                <a:xfrm>
                  <a:off x="71972" y="131218"/>
                  <a:ext cx="70701" cy="19516"/>
                  <a:chOff x="0" y="0"/>
                  <a:chExt cx="70699" cy="19515"/>
                </a:xfrm>
              </p:grpSpPr>
              <p:sp>
                <p:nvSpPr>
                  <p:cNvPr id="477" name="AutoShape 1003"/>
                  <p:cNvSpPr/>
                  <p:nvPr/>
                </p:nvSpPr>
                <p:spPr>
                  <a:xfrm>
                    <a:off x="0" y="0"/>
                    <a:ext cx="70700" cy="195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478" name="AutoShape 1004"/>
                  <p:cNvSpPr/>
                  <p:nvPr/>
                </p:nvSpPr>
                <p:spPr>
                  <a:xfrm>
                    <a:off x="1159" y="2330"/>
                    <a:ext cx="69541" cy="1500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480" name="Rectangle 1005"/>
                <p:cNvSpPr/>
                <p:nvPr/>
              </p:nvSpPr>
              <p:spPr>
                <a:xfrm>
                  <a:off x="130930" y="0"/>
                  <a:ext cx="12701" cy="332779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81" name="Freeform 1006"/>
                <p:cNvSpPr/>
                <p:nvPr/>
              </p:nvSpPr>
              <p:spPr>
                <a:xfrm>
                  <a:off x="141010" y="84177"/>
                  <a:ext cx="28515" cy="310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92" y="0"/>
                      </a:moveTo>
                      <a:cubicBezTo>
                        <a:pt x="4014" y="844"/>
                        <a:pt x="10508" y="5738"/>
                        <a:pt x="21308" y="12150"/>
                      </a:cubicBezTo>
                      <a:cubicBezTo>
                        <a:pt x="21162" y="15019"/>
                        <a:pt x="21600" y="15862"/>
                        <a:pt x="21600" y="21600"/>
                      </a:cubicBezTo>
                      <a:cubicBezTo>
                        <a:pt x="21600" y="21600"/>
                        <a:pt x="11676" y="14850"/>
                        <a:pt x="0" y="8438"/>
                      </a:cubicBezTo>
                      <a:cubicBezTo>
                        <a:pt x="0" y="4050"/>
                        <a:pt x="292" y="1434"/>
                        <a:pt x="292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82" name="Freeform 1007"/>
                <p:cNvSpPr/>
                <p:nvPr/>
              </p:nvSpPr>
              <p:spPr>
                <a:xfrm>
                  <a:off x="141371" y="36554"/>
                  <a:ext cx="29358" cy="349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cubicBezTo>
                        <a:pt x="3624" y="750"/>
                        <a:pt x="10516" y="5700"/>
                        <a:pt x="21600" y="12300"/>
                      </a:cubicBezTo>
                      <a:cubicBezTo>
                        <a:pt x="21458" y="14850"/>
                        <a:pt x="20179" y="16500"/>
                        <a:pt x="20179" y="21600"/>
                      </a:cubicBezTo>
                      <a:cubicBezTo>
                        <a:pt x="20179" y="21600"/>
                        <a:pt x="11582" y="13425"/>
                        <a:pt x="568" y="9300"/>
                      </a:cubicBezTo>
                      <a:cubicBezTo>
                        <a:pt x="568" y="5400"/>
                        <a:pt x="0" y="1275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83" name="Oval 1008"/>
                <p:cNvSpPr/>
                <p:nvPr/>
              </p:nvSpPr>
              <p:spPr>
                <a:xfrm>
                  <a:off x="162092" y="317777"/>
                  <a:ext cx="12701" cy="13837"/>
                </a:xfrm>
                <a:prstGeom prst="ellipse">
                  <a:avLst/>
                </a:pr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84" name="Freeform 1009"/>
                <p:cNvSpPr/>
                <p:nvPr/>
              </p:nvSpPr>
              <p:spPr>
                <a:xfrm>
                  <a:off x="139806" y="318214"/>
                  <a:ext cx="29479" cy="291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40"/>
                      </a:moveTo>
                      <a:lnTo>
                        <a:pt x="141" y="21600"/>
                      </a:lnTo>
                      <a:lnTo>
                        <a:pt x="21600" y="9900"/>
                      </a:lnTo>
                      <a:lnTo>
                        <a:pt x="21176" y="0"/>
                      </a:lnTo>
                      <a:lnTo>
                        <a:pt x="0" y="954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85" name="AutoShape 1010"/>
                <p:cNvSpPr/>
                <p:nvPr/>
              </p:nvSpPr>
              <p:spPr>
                <a:xfrm>
                  <a:off x="0" y="327098"/>
                  <a:ext cx="143898" cy="2184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86" name="AutoShape 1011"/>
                <p:cNvSpPr/>
                <p:nvPr/>
              </p:nvSpPr>
              <p:spPr>
                <a:xfrm>
                  <a:off x="8422" y="332181"/>
                  <a:ext cx="128258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434" y="0"/>
                        <a:pt x="969" y="0"/>
                      </a:cubicBezTo>
                      <a:lnTo>
                        <a:pt x="20631" y="0"/>
                      </a:lnTo>
                      <a:cubicBezTo>
                        <a:pt x="21166" y="0"/>
                        <a:pt x="21600" y="4835"/>
                        <a:pt x="21600" y="10800"/>
                      </a:cubicBezTo>
                      <a:lnTo>
                        <a:pt x="21600" y="10800"/>
                      </a:lnTo>
                      <a:cubicBezTo>
                        <a:pt x="21600" y="16765"/>
                        <a:pt x="21166" y="21600"/>
                        <a:pt x="20631" y="21600"/>
                      </a:cubicBezTo>
                      <a:lnTo>
                        <a:pt x="969" y="21598"/>
                      </a:lnTo>
                      <a:cubicBezTo>
                        <a:pt x="434" y="21598"/>
                        <a:pt x="0" y="16763"/>
                        <a:pt x="0" y="107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87" name="Oval 1012"/>
                <p:cNvSpPr/>
                <p:nvPr/>
              </p:nvSpPr>
              <p:spPr>
                <a:xfrm>
                  <a:off x="20333" y="284427"/>
                  <a:ext cx="19131" cy="20681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88" name="Oval 1013"/>
                <p:cNvSpPr/>
                <p:nvPr/>
              </p:nvSpPr>
              <p:spPr>
                <a:xfrm>
                  <a:off x="41990" y="284427"/>
                  <a:ext cx="19131" cy="20681"/>
                </a:xfrm>
                <a:prstGeom prst="ellipse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89" name="Oval 1014"/>
                <p:cNvSpPr/>
                <p:nvPr/>
              </p:nvSpPr>
              <p:spPr>
                <a:xfrm>
                  <a:off x="62323" y="284427"/>
                  <a:ext cx="19131" cy="20681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90" name="Rectangle 1015"/>
                <p:cNvSpPr/>
                <p:nvPr/>
              </p:nvSpPr>
              <p:spPr>
                <a:xfrm>
                  <a:off x="109995" y="205055"/>
                  <a:ext cx="12701" cy="110538"/>
                </a:xfrm>
                <a:prstGeom prst="rect">
                  <a:avLst/>
                </a:prstGeom>
                <a:solidFill>
                  <a:srgbClr val="29292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</p:grpSp>
      <p:grpSp>
        <p:nvGrpSpPr>
          <p:cNvPr id="721" name="Group 1023"/>
          <p:cNvGrpSpPr/>
          <p:nvPr/>
        </p:nvGrpSpPr>
        <p:grpSpPr>
          <a:xfrm>
            <a:off x="7613881" y="2005618"/>
            <a:ext cx="3540396" cy="3836078"/>
            <a:chOff x="0" y="0"/>
            <a:chExt cx="3540395" cy="3836077"/>
          </a:xfrm>
        </p:grpSpPr>
        <p:sp>
          <p:nvSpPr>
            <p:cNvPr id="494" name="Line 426"/>
            <p:cNvSpPr/>
            <p:nvPr/>
          </p:nvSpPr>
          <p:spPr>
            <a:xfrm>
              <a:off x="593978" y="694740"/>
              <a:ext cx="227964" cy="1743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510" name="Group 783"/>
            <p:cNvGrpSpPr/>
            <p:nvPr/>
          </p:nvGrpSpPr>
          <p:grpSpPr>
            <a:xfrm>
              <a:off x="436816" y="303757"/>
              <a:ext cx="298451" cy="464008"/>
              <a:chOff x="0" y="0"/>
              <a:chExt cx="298450" cy="464007"/>
            </a:xfrm>
          </p:grpSpPr>
          <p:sp>
            <p:nvSpPr>
              <p:cNvPr id="495" name="Line 270"/>
              <p:cNvSpPr/>
              <p:nvPr/>
            </p:nvSpPr>
            <p:spPr>
              <a:xfrm flipH="1">
                <a:off x="-1" y="0"/>
                <a:ext cx="149226" cy="42023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96" name="Line 271"/>
              <p:cNvSpPr/>
              <p:nvPr/>
            </p:nvSpPr>
            <p:spPr>
              <a:xfrm>
                <a:off x="149225" y="0"/>
                <a:ext cx="149226" cy="41835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97" name="Line 272"/>
              <p:cNvSpPr/>
              <p:nvPr/>
            </p:nvSpPr>
            <p:spPr>
              <a:xfrm>
                <a:off x="-1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98" name="Line 273"/>
              <p:cNvSpPr/>
              <p:nvPr/>
            </p:nvSpPr>
            <p:spPr>
              <a:xfrm flipH="1">
                <a:off x="149224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99" name="Line 274"/>
              <p:cNvSpPr/>
              <p:nvPr/>
            </p:nvSpPr>
            <p:spPr>
              <a:xfrm flipH="1">
                <a:off x="149224" y="9380"/>
                <a:ext cx="1" cy="45462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0" name="Line 275"/>
              <p:cNvSpPr/>
              <p:nvPr/>
            </p:nvSpPr>
            <p:spPr>
              <a:xfrm flipV="1">
                <a:off x="-1" y="375208"/>
                <a:ext cx="149227" cy="45026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1" name="Line 276"/>
              <p:cNvSpPr/>
              <p:nvPr/>
            </p:nvSpPr>
            <p:spPr>
              <a:xfrm flipH="1" flipV="1">
                <a:off x="149224" y="375209"/>
                <a:ext cx="149227" cy="4314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2" name="Line 277"/>
              <p:cNvSpPr/>
              <p:nvPr/>
            </p:nvSpPr>
            <p:spPr>
              <a:xfrm>
                <a:off x="63329" y="237632"/>
                <a:ext cx="85896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3" name="Line 278"/>
              <p:cNvSpPr/>
              <p:nvPr/>
            </p:nvSpPr>
            <p:spPr>
              <a:xfrm flipV="1">
                <a:off x="149224" y="237632"/>
                <a:ext cx="90264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4" name="Line 279"/>
              <p:cNvSpPr/>
              <p:nvPr/>
            </p:nvSpPr>
            <p:spPr>
              <a:xfrm>
                <a:off x="34940" y="298916"/>
                <a:ext cx="110645" cy="469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5" name="Line 280"/>
              <p:cNvSpPr/>
              <p:nvPr/>
            </p:nvSpPr>
            <p:spPr>
              <a:xfrm flipV="1">
                <a:off x="149224" y="308297"/>
                <a:ext cx="111374" cy="4127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6" name="Line 281"/>
              <p:cNvSpPr/>
              <p:nvPr/>
            </p:nvSpPr>
            <p:spPr>
              <a:xfrm flipV="1">
                <a:off x="149224" y="174472"/>
                <a:ext cx="56780" cy="1688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7" name="Line 282"/>
              <p:cNvSpPr/>
              <p:nvPr/>
            </p:nvSpPr>
            <p:spPr>
              <a:xfrm flipV="1">
                <a:off x="149225" y="87548"/>
                <a:ext cx="35669" cy="1313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8" name="Line 283"/>
              <p:cNvSpPr/>
              <p:nvPr/>
            </p:nvSpPr>
            <p:spPr>
              <a:xfrm>
                <a:off x="85167" y="168843"/>
                <a:ext cx="69154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09" name="Line 284"/>
              <p:cNvSpPr/>
              <p:nvPr/>
            </p:nvSpPr>
            <p:spPr>
              <a:xfrm>
                <a:off x="115740" y="83796"/>
                <a:ext cx="40036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pic>
          <p:nvPicPr>
            <p:cNvPr id="511" name="Picture 777" descr="Picture 77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856280"/>
              <a:ext cx="370169" cy="3067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2" name="Picture 780" descr="Picture 78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676728" y="3518613"/>
              <a:ext cx="380936" cy="3174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24" name="Group 470"/>
            <p:cNvGrpSpPr/>
            <p:nvPr/>
          </p:nvGrpSpPr>
          <p:grpSpPr>
            <a:xfrm>
              <a:off x="2169676" y="2888569"/>
              <a:ext cx="393761" cy="409458"/>
              <a:chOff x="0" y="0"/>
              <a:chExt cx="393760" cy="409456"/>
            </a:xfrm>
          </p:grpSpPr>
          <p:grpSp>
            <p:nvGrpSpPr>
              <p:cNvPr id="515" name="Freeform 471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513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14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518" name="Oval 472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516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17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523" name="Group 473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519" name="Freeform 474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20" name="Freeform 475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21" name="Freeform 476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22" name="Freeform 477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532" name="Group 519"/>
            <p:cNvGrpSpPr/>
            <p:nvPr/>
          </p:nvGrpSpPr>
          <p:grpSpPr>
            <a:xfrm>
              <a:off x="2235483" y="3333418"/>
              <a:ext cx="309741" cy="190839"/>
              <a:chOff x="0" y="0"/>
              <a:chExt cx="309739" cy="190837"/>
            </a:xfrm>
          </p:grpSpPr>
          <p:sp>
            <p:nvSpPr>
              <p:cNvPr id="525" name="Rectangle 520"/>
              <p:cNvSpPr/>
              <p:nvPr/>
            </p:nvSpPr>
            <p:spPr>
              <a:xfrm>
                <a:off x="0" y="113922"/>
                <a:ext cx="308626" cy="76916"/>
              </a:xfrm>
              <a:prstGeom prst="rect">
                <a:avLst/>
              </a:pr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26" name="Freeform 521"/>
              <p:cNvSpPr/>
              <p:nvPr/>
            </p:nvSpPr>
            <p:spPr>
              <a:xfrm>
                <a:off x="857" y="-1"/>
                <a:ext cx="308883" cy="116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29"/>
                    </a:moveTo>
                    <a:lnTo>
                      <a:pt x="1440" y="0"/>
                    </a:lnTo>
                    <a:lnTo>
                      <a:pt x="19500" y="343"/>
                    </a:lnTo>
                    <a:lnTo>
                      <a:pt x="21600" y="21600"/>
                    </a:lnTo>
                    <a:lnTo>
                      <a:pt x="0" y="21429"/>
                    </a:lnTo>
                    <a:close/>
                  </a:path>
                </a:pathLst>
              </a:cu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531" name="Group 522"/>
              <p:cNvGrpSpPr/>
              <p:nvPr/>
            </p:nvGrpSpPr>
            <p:grpSpPr>
              <a:xfrm>
                <a:off x="22308" y="13603"/>
                <a:ext cx="261399" cy="93969"/>
                <a:chOff x="0" y="0"/>
                <a:chExt cx="261398" cy="93968"/>
              </a:xfrm>
            </p:grpSpPr>
            <p:sp>
              <p:nvSpPr>
                <p:cNvPr id="527" name="Freeform 523"/>
                <p:cNvSpPr/>
                <p:nvPr/>
              </p:nvSpPr>
              <p:spPr>
                <a:xfrm>
                  <a:off x="7230" y="-1"/>
                  <a:ext cx="247278" cy="52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28" name="Freeform 524"/>
                <p:cNvSpPr/>
                <p:nvPr/>
              </p:nvSpPr>
              <p:spPr>
                <a:xfrm>
                  <a:off x="169074" y="44994"/>
                  <a:ext cx="92325" cy="45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29" name="Freeform 525"/>
                <p:cNvSpPr/>
                <p:nvPr/>
              </p:nvSpPr>
              <p:spPr>
                <a:xfrm>
                  <a:off x="-1" y="44994"/>
                  <a:ext cx="90657" cy="447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30" name="Freeform 526"/>
                <p:cNvSpPr/>
                <p:nvPr/>
              </p:nvSpPr>
              <p:spPr>
                <a:xfrm>
                  <a:off x="31470" y="22877"/>
                  <a:ext cx="197115" cy="71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544" name="Group 478"/>
            <p:cNvGrpSpPr/>
            <p:nvPr/>
          </p:nvGrpSpPr>
          <p:grpSpPr>
            <a:xfrm>
              <a:off x="1062737" y="2866006"/>
              <a:ext cx="393761" cy="409458"/>
              <a:chOff x="0" y="0"/>
              <a:chExt cx="393760" cy="409456"/>
            </a:xfrm>
          </p:grpSpPr>
          <p:grpSp>
            <p:nvGrpSpPr>
              <p:cNvPr id="535" name="Freeform 479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533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34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538" name="Oval 480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536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37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543" name="Group 481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539" name="Freeform 482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40" name="Freeform 483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41" name="Freeform 484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42" name="Freeform 485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552" name="Group 528"/>
            <p:cNvGrpSpPr/>
            <p:nvPr/>
          </p:nvGrpSpPr>
          <p:grpSpPr>
            <a:xfrm>
              <a:off x="697638" y="3188814"/>
              <a:ext cx="309740" cy="190839"/>
              <a:chOff x="0" y="0"/>
              <a:chExt cx="309739" cy="190837"/>
            </a:xfrm>
          </p:grpSpPr>
          <p:sp>
            <p:nvSpPr>
              <p:cNvPr id="545" name="Rectangle 529"/>
              <p:cNvSpPr/>
              <p:nvPr/>
            </p:nvSpPr>
            <p:spPr>
              <a:xfrm>
                <a:off x="0" y="113922"/>
                <a:ext cx="308626" cy="76916"/>
              </a:xfrm>
              <a:prstGeom prst="rect">
                <a:avLst/>
              </a:pr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46" name="Freeform 530"/>
              <p:cNvSpPr/>
              <p:nvPr/>
            </p:nvSpPr>
            <p:spPr>
              <a:xfrm>
                <a:off x="857" y="-1"/>
                <a:ext cx="308883" cy="116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29"/>
                    </a:moveTo>
                    <a:lnTo>
                      <a:pt x="1440" y="0"/>
                    </a:lnTo>
                    <a:lnTo>
                      <a:pt x="19500" y="343"/>
                    </a:lnTo>
                    <a:lnTo>
                      <a:pt x="21600" y="21600"/>
                    </a:lnTo>
                    <a:lnTo>
                      <a:pt x="0" y="21429"/>
                    </a:lnTo>
                    <a:close/>
                  </a:path>
                </a:pathLst>
              </a:cu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551" name="Group 531"/>
              <p:cNvGrpSpPr/>
              <p:nvPr/>
            </p:nvGrpSpPr>
            <p:grpSpPr>
              <a:xfrm>
                <a:off x="22308" y="13603"/>
                <a:ext cx="261399" cy="93969"/>
                <a:chOff x="0" y="0"/>
                <a:chExt cx="261398" cy="93968"/>
              </a:xfrm>
            </p:grpSpPr>
            <p:sp>
              <p:nvSpPr>
                <p:cNvPr id="547" name="Freeform 532"/>
                <p:cNvSpPr/>
                <p:nvPr/>
              </p:nvSpPr>
              <p:spPr>
                <a:xfrm>
                  <a:off x="7230" y="-1"/>
                  <a:ext cx="247278" cy="52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48" name="Freeform 533"/>
                <p:cNvSpPr/>
                <p:nvPr/>
              </p:nvSpPr>
              <p:spPr>
                <a:xfrm>
                  <a:off x="169074" y="44994"/>
                  <a:ext cx="92325" cy="45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49" name="Freeform 534"/>
                <p:cNvSpPr/>
                <p:nvPr/>
              </p:nvSpPr>
              <p:spPr>
                <a:xfrm>
                  <a:off x="-1" y="44994"/>
                  <a:ext cx="90657" cy="447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50" name="Freeform 535"/>
                <p:cNvSpPr/>
                <p:nvPr/>
              </p:nvSpPr>
              <p:spPr>
                <a:xfrm>
                  <a:off x="31470" y="22877"/>
                  <a:ext cx="197115" cy="71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564" name="Group 406"/>
            <p:cNvGrpSpPr/>
            <p:nvPr/>
          </p:nvGrpSpPr>
          <p:grpSpPr>
            <a:xfrm>
              <a:off x="825945" y="694613"/>
              <a:ext cx="353678" cy="391882"/>
              <a:chOff x="0" y="0"/>
              <a:chExt cx="353677" cy="391881"/>
            </a:xfrm>
          </p:grpSpPr>
          <p:grpSp>
            <p:nvGrpSpPr>
              <p:cNvPr id="555" name="Freeform 407"/>
              <p:cNvGrpSpPr/>
              <p:nvPr/>
            </p:nvGrpSpPr>
            <p:grpSpPr>
              <a:xfrm>
                <a:off x="-1" y="58793"/>
                <a:ext cx="353679" cy="333089"/>
                <a:chOff x="0" y="0"/>
                <a:chExt cx="353677" cy="333087"/>
              </a:xfrm>
            </p:grpSpPr>
            <p:sp>
              <p:nvSpPr>
                <p:cNvPr id="553" name="Shape"/>
                <p:cNvSpPr/>
                <p:nvPr/>
              </p:nvSpPr>
              <p:spPr>
                <a:xfrm>
                  <a:off x="0" y="111530"/>
                  <a:ext cx="353678" cy="110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54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558" name="Oval 408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556" name="Oval"/>
                <p:cNvSpPr/>
                <p:nvPr/>
              </p:nvSpPr>
              <p:spPr>
                <a:xfrm>
                  <a:off x="0" y="112076"/>
                  <a:ext cx="353250" cy="108935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57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563" name="Group 409"/>
              <p:cNvGrpSpPr/>
              <p:nvPr/>
            </p:nvGrpSpPr>
            <p:grpSpPr>
              <a:xfrm>
                <a:off x="52453" y="125922"/>
                <a:ext cx="248706" cy="80044"/>
                <a:chOff x="0" y="0"/>
                <a:chExt cx="248704" cy="80043"/>
              </a:xfrm>
            </p:grpSpPr>
            <p:sp>
              <p:nvSpPr>
                <p:cNvPr id="559" name="Freeform 410"/>
                <p:cNvSpPr/>
                <p:nvPr/>
              </p:nvSpPr>
              <p:spPr>
                <a:xfrm>
                  <a:off x="6879" y="0"/>
                  <a:ext cx="235271" cy="448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60" name="Freeform 411"/>
                <p:cNvSpPr/>
                <p:nvPr/>
              </p:nvSpPr>
              <p:spPr>
                <a:xfrm>
                  <a:off x="160864" y="38326"/>
                  <a:ext cx="87841" cy="385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61" name="Freeform 412"/>
                <p:cNvSpPr/>
                <p:nvPr/>
              </p:nvSpPr>
              <p:spPr>
                <a:xfrm>
                  <a:off x="0" y="38326"/>
                  <a:ext cx="86253" cy="381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62" name="Freeform 413"/>
                <p:cNvSpPr/>
                <p:nvPr/>
              </p:nvSpPr>
              <p:spPr>
                <a:xfrm>
                  <a:off x="29942" y="19487"/>
                  <a:ext cx="187543" cy="605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576" name="Group 414"/>
            <p:cNvGrpSpPr/>
            <p:nvPr/>
          </p:nvGrpSpPr>
          <p:grpSpPr>
            <a:xfrm>
              <a:off x="436188" y="1850691"/>
              <a:ext cx="354987" cy="394465"/>
              <a:chOff x="0" y="0"/>
              <a:chExt cx="354986" cy="394464"/>
            </a:xfrm>
          </p:grpSpPr>
          <p:grpSp>
            <p:nvGrpSpPr>
              <p:cNvPr id="567" name="Freeform 415"/>
              <p:cNvGrpSpPr/>
              <p:nvPr/>
            </p:nvGrpSpPr>
            <p:grpSpPr>
              <a:xfrm>
                <a:off x="0" y="61377"/>
                <a:ext cx="354987" cy="333088"/>
                <a:chOff x="0" y="0"/>
                <a:chExt cx="354986" cy="333087"/>
              </a:xfrm>
            </p:grpSpPr>
            <p:sp>
              <p:nvSpPr>
                <p:cNvPr id="565" name="Shape"/>
                <p:cNvSpPr/>
                <p:nvPr/>
              </p:nvSpPr>
              <p:spPr>
                <a:xfrm>
                  <a:off x="0" y="109113"/>
                  <a:ext cx="354987" cy="1148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66" name="Text"/>
                <p:cNvSpPr txBox="1"/>
                <p:nvPr/>
              </p:nvSpPr>
              <p:spPr>
                <a:xfrm>
                  <a:off x="48894" y="0"/>
                  <a:ext cx="257197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570" name="Oval 416"/>
              <p:cNvGrpSpPr/>
              <p:nvPr/>
            </p:nvGrpSpPr>
            <p:grpSpPr>
              <a:xfrm>
                <a:off x="204" y="-1"/>
                <a:ext cx="354557" cy="333089"/>
                <a:chOff x="0" y="0"/>
                <a:chExt cx="354555" cy="333087"/>
              </a:xfrm>
            </p:grpSpPr>
            <p:sp>
              <p:nvSpPr>
                <p:cNvPr id="568" name="Oval"/>
                <p:cNvSpPr/>
                <p:nvPr/>
              </p:nvSpPr>
              <p:spPr>
                <a:xfrm>
                  <a:off x="0" y="109684"/>
                  <a:ext cx="354556" cy="11372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69" name="Text"/>
                <p:cNvSpPr txBox="1"/>
                <p:nvPr/>
              </p:nvSpPr>
              <p:spPr>
                <a:xfrm>
                  <a:off x="100818" y="0"/>
                  <a:ext cx="152920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575" name="Group 417"/>
              <p:cNvGrpSpPr/>
              <p:nvPr/>
            </p:nvGrpSpPr>
            <p:grpSpPr>
              <a:xfrm>
                <a:off x="52647" y="124137"/>
                <a:ext cx="249626" cy="83561"/>
                <a:chOff x="0" y="0"/>
                <a:chExt cx="249624" cy="83559"/>
              </a:xfrm>
            </p:grpSpPr>
            <p:sp>
              <p:nvSpPr>
                <p:cNvPr id="571" name="Freeform 418"/>
                <p:cNvSpPr/>
                <p:nvPr/>
              </p:nvSpPr>
              <p:spPr>
                <a:xfrm>
                  <a:off x="6904" y="-1"/>
                  <a:ext cx="236141" cy="467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72" name="Freeform 419"/>
                <p:cNvSpPr/>
                <p:nvPr/>
              </p:nvSpPr>
              <p:spPr>
                <a:xfrm>
                  <a:off x="161459" y="40010"/>
                  <a:ext cx="88166" cy="40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73" name="Freeform 420"/>
                <p:cNvSpPr/>
                <p:nvPr/>
              </p:nvSpPr>
              <p:spPr>
                <a:xfrm>
                  <a:off x="-1" y="40010"/>
                  <a:ext cx="86573" cy="398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74" name="Freeform 421"/>
                <p:cNvSpPr/>
                <p:nvPr/>
              </p:nvSpPr>
              <p:spPr>
                <a:xfrm>
                  <a:off x="30053" y="20343"/>
                  <a:ext cx="188236" cy="632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588" name="Group 454"/>
            <p:cNvGrpSpPr/>
            <p:nvPr/>
          </p:nvGrpSpPr>
          <p:grpSpPr>
            <a:xfrm>
              <a:off x="3270203" y="1563659"/>
              <a:ext cx="170990" cy="160911"/>
              <a:chOff x="0" y="0"/>
              <a:chExt cx="170988" cy="160909"/>
            </a:xfrm>
          </p:grpSpPr>
          <p:grpSp>
            <p:nvGrpSpPr>
              <p:cNvPr id="579" name="Freeform 455"/>
              <p:cNvGrpSpPr/>
              <p:nvPr/>
            </p:nvGrpSpPr>
            <p:grpSpPr>
              <a:xfrm>
                <a:off x="0" y="33909"/>
                <a:ext cx="170989" cy="127001"/>
                <a:chOff x="0" y="0"/>
                <a:chExt cx="170988" cy="127000"/>
              </a:xfrm>
            </p:grpSpPr>
            <p:sp>
              <p:nvSpPr>
                <p:cNvPr id="577" name="Shape"/>
                <p:cNvSpPr/>
                <p:nvPr/>
              </p:nvSpPr>
              <p:spPr>
                <a:xfrm>
                  <a:off x="0" y="31770"/>
                  <a:ext cx="170989" cy="634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78" name="Text"/>
                <p:cNvSpPr txBox="1"/>
                <p:nvPr/>
              </p:nvSpPr>
              <p:spPr>
                <a:xfrm>
                  <a:off x="47307" y="0"/>
                  <a:ext cx="76375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582" name="Oval 456"/>
              <p:cNvGrpSpPr/>
              <p:nvPr/>
            </p:nvGrpSpPr>
            <p:grpSpPr>
              <a:xfrm>
                <a:off x="98" y="0"/>
                <a:ext cx="170783" cy="127000"/>
                <a:chOff x="0" y="0"/>
                <a:chExt cx="170782" cy="127000"/>
              </a:xfrm>
            </p:grpSpPr>
            <p:sp>
              <p:nvSpPr>
                <p:cNvPr id="580" name="Oval"/>
                <p:cNvSpPr/>
                <p:nvPr/>
              </p:nvSpPr>
              <p:spPr>
                <a:xfrm>
                  <a:off x="0" y="32086"/>
                  <a:ext cx="170783" cy="62829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81" name="Text"/>
                <p:cNvSpPr txBox="1"/>
                <p:nvPr/>
              </p:nvSpPr>
              <p:spPr>
                <a:xfrm>
                  <a:off x="72317" y="0"/>
                  <a:ext cx="26147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587" name="Group 457"/>
              <p:cNvGrpSpPr/>
              <p:nvPr/>
            </p:nvGrpSpPr>
            <p:grpSpPr>
              <a:xfrm>
                <a:off x="25359" y="40071"/>
                <a:ext cx="120239" cy="46166"/>
                <a:chOff x="0" y="0"/>
                <a:chExt cx="120238" cy="46164"/>
              </a:xfrm>
            </p:grpSpPr>
            <p:sp>
              <p:nvSpPr>
                <p:cNvPr id="583" name="Freeform 458"/>
                <p:cNvSpPr/>
                <p:nvPr/>
              </p:nvSpPr>
              <p:spPr>
                <a:xfrm>
                  <a:off x="3325" y="-1"/>
                  <a:ext cx="113745" cy="258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84" name="Freeform 459"/>
                <p:cNvSpPr/>
                <p:nvPr/>
              </p:nvSpPr>
              <p:spPr>
                <a:xfrm>
                  <a:off x="77771" y="22104"/>
                  <a:ext cx="42468" cy="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85" name="Freeform 460"/>
                <p:cNvSpPr/>
                <p:nvPr/>
              </p:nvSpPr>
              <p:spPr>
                <a:xfrm>
                  <a:off x="0" y="22104"/>
                  <a:ext cx="41700" cy="219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86" name="Freeform 461"/>
                <p:cNvSpPr/>
                <p:nvPr/>
              </p:nvSpPr>
              <p:spPr>
                <a:xfrm>
                  <a:off x="14476" y="11239"/>
                  <a:ext cx="90669" cy="34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00" name="Group 614"/>
            <p:cNvGrpSpPr/>
            <p:nvPr/>
          </p:nvGrpSpPr>
          <p:grpSpPr>
            <a:xfrm>
              <a:off x="2796727" y="1388175"/>
              <a:ext cx="353679" cy="402388"/>
              <a:chOff x="0" y="0"/>
              <a:chExt cx="353677" cy="402387"/>
            </a:xfrm>
          </p:grpSpPr>
          <p:grpSp>
            <p:nvGrpSpPr>
              <p:cNvPr id="591" name="Freeform 615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589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90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594" name="Oval 61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592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93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599" name="Group 617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595" name="Freeform 618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96" name="Freeform 619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97" name="Freeform 620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98" name="Freeform 621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12" name="Group 576"/>
            <p:cNvGrpSpPr/>
            <p:nvPr/>
          </p:nvGrpSpPr>
          <p:grpSpPr>
            <a:xfrm>
              <a:off x="2334842" y="94328"/>
              <a:ext cx="353679" cy="402389"/>
              <a:chOff x="0" y="0"/>
              <a:chExt cx="353677" cy="402387"/>
            </a:xfrm>
          </p:grpSpPr>
          <p:grpSp>
            <p:nvGrpSpPr>
              <p:cNvPr id="603" name="Freeform 577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01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02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06" name="Oval 578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04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05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11" name="Group 579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07" name="Freeform 580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08" name="Freeform 581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09" name="Freeform 582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10" name="Freeform 583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24" name="Group 592"/>
            <p:cNvGrpSpPr/>
            <p:nvPr/>
          </p:nvGrpSpPr>
          <p:grpSpPr>
            <a:xfrm>
              <a:off x="2913332" y="505403"/>
              <a:ext cx="353679" cy="402389"/>
              <a:chOff x="0" y="0"/>
              <a:chExt cx="353677" cy="402387"/>
            </a:xfrm>
          </p:grpSpPr>
          <p:grpSp>
            <p:nvGrpSpPr>
              <p:cNvPr id="615" name="Freeform 593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13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14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18" name="Oval 594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16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17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23" name="Group 595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19" name="Freeform 596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0" name="Freeform 597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1" name="Freeform 598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2" name="Freeform 599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6" name="Group 600"/>
            <p:cNvGrpSpPr/>
            <p:nvPr/>
          </p:nvGrpSpPr>
          <p:grpSpPr>
            <a:xfrm>
              <a:off x="3029943" y="-1"/>
              <a:ext cx="353679" cy="402389"/>
              <a:chOff x="0" y="0"/>
              <a:chExt cx="353677" cy="402387"/>
            </a:xfrm>
          </p:grpSpPr>
          <p:grpSp>
            <p:nvGrpSpPr>
              <p:cNvPr id="627" name="Freeform 601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25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6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0" name="Oval 602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28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9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5" name="Group 603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31" name="Freeform 604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2" name="Freeform 605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3" name="Freeform 606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4" name="Freeform 607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48" name="Group 553"/>
            <p:cNvGrpSpPr/>
            <p:nvPr/>
          </p:nvGrpSpPr>
          <p:grpSpPr>
            <a:xfrm>
              <a:off x="1484906" y="1862242"/>
              <a:ext cx="367225" cy="417049"/>
              <a:chOff x="0" y="0"/>
              <a:chExt cx="367223" cy="417048"/>
            </a:xfrm>
          </p:grpSpPr>
          <p:grpSp>
            <p:nvGrpSpPr>
              <p:cNvPr id="639" name="Freeform 554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637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8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42" name="Oval 555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640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41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47" name="Group 556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643" name="Freeform 557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44" name="Freeform 558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45" name="Freeform 559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46" name="Freeform 560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60" name="Group 584"/>
            <p:cNvGrpSpPr/>
            <p:nvPr/>
          </p:nvGrpSpPr>
          <p:grpSpPr>
            <a:xfrm>
              <a:off x="2366244" y="553601"/>
              <a:ext cx="353679" cy="402389"/>
              <a:chOff x="0" y="0"/>
              <a:chExt cx="353677" cy="402387"/>
            </a:xfrm>
          </p:grpSpPr>
          <p:grpSp>
            <p:nvGrpSpPr>
              <p:cNvPr id="651" name="Freeform 585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49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50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54" name="Oval 58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52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53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59" name="Group 587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55" name="Freeform 588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56" name="Freeform 589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57" name="Freeform 590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58" name="Freeform 591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72" name="Group 537"/>
            <p:cNvGrpSpPr/>
            <p:nvPr/>
          </p:nvGrpSpPr>
          <p:grpSpPr>
            <a:xfrm>
              <a:off x="1883256" y="1299650"/>
              <a:ext cx="367225" cy="417049"/>
              <a:chOff x="0" y="0"/>
              <a:chExt cx="367223" cy="417048"/>
            </a:xfrm>
          </p:grpSpPr>
          <p:grpSp>
            <p:nvGrpSpPr>
              <p:cNvPr id="663" name="Freeform 538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661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62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66" name="Oval 539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664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65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71" name="Group 540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667" name="Freeform 541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68" name="Freeform 542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69" name="Freeform 543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70" name="Freeform 544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84" name="Group 545"/>
            <p:cNvGrpSpPr/>
            <p:nvPr/>
          </p:nvGrpSpPr>
          <p:grpSpPr>
            <a:xfrm>
              <a:off x="1987672" y="1905381"/>
              <a:ext cx="367225" cy="417049"/>
              <a:chOff x="0" y="0"/>
              <a:chExt cx="367223" cy="417048"/>
            </a:xfrm>
          </p:grpSpPr>
          <p:grpSp>
            <p:nvGrpSpPr>
              <p:cNvPr id="675" name="Freeform 546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673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74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78" name="Oval 547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676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77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83" name="Group 548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679" name="Freeform 549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80" name="Freeform 550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81" name="Freeform 551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82" name="Freeform 552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96" name="Group 622"/>
            <p:cNvGrpSpPr/>
            <p:nvPr/>
          </p:nvGrpSpPr>
          <p:grpSpPr>
            <a:xfrm>
              <a:off x="2761377" y="1884362"/>
              <a:ext cx="353679" cy="402388"/>
              <a:chOff x="0" y="0"/>
              <a:chExt cx="353677" cy="402387"/>
            </a:xfrm>
          </p:grpSpPr>
          <p:grpSp>
            <p:nvGrpSpPr>
              <p:cNvPr id="687" name="Freeform 623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85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86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0" name="Oval 624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88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89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5" name="Group 625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91" name="Freeform 626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2" name="Freeform 627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3" name="Freeform 628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4" name="Freeform 629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708" name="Group 462"/>
            <p:cNvGrpSpPr/>
            <p:nvPr/>
          </p:nvGrpSpPr>
          <p:grpSpPr>
            <a:xfrm>
              <a:off x="1634011" y="2674272"/>
              <a:ext cx="393761" cy="409458"/>
              <a:chOff x="0" y="0"/>
              <a:chExt cx="393760" cy="409456"/>
            </a:xfrm>
          </p:grpSpPr>
          <p:grpSp>
            <p:nvGrpSpPr>
              <p:cNvPr id="699" name="Freeform 463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697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8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702" name="Oval 464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700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01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707" name="Group 465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703" name="Freeform 466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04" name="Freeform 467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05" name="Freeform 468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06" name="Freeform 469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720" name="Group 446"/>
            <p:cNvGrpSpPr/>
            <p:nvPr/>
          </p:nvGrpSpPr>
          <p:grpSpPr>
            <a:xfrm>
              <a:off x="3312100" y="2278000"/>
              <a:ext cx="228296" cy="333088"/>
              <a:chOff x="0" y="0"/>
              <a:chExt cx="228295" cy="333087"/>
            </a:xfrm>
          </p:grpSpPr>
          <p:grpSp>
            <p:nvGrpSpPr>
              <p:cNvPr id="711" name="Freeform 447"/>
              <p:cNvGrpSpPr/>
              <p:nvPr/>
            </p:nvGrpSpPr>
            <p:grpSpPr>
              <a:xfrm>
                <a:off x="0" y="-1"/>
                <a:ext cx="228296" cy="333089"/>
                <a:chOff x="0" y="0"/>
                <a:chExt cx="228295" cy="333087"/>
              </a:xfrm>
            </p:grpSpPr>
            <p:sp>
              <p:nvSpPr>
                <p:cNvPr id="709" name="Shape"/>
                <p:cNvSpPr/>
                <p:nvPr/>
              </p:nvSpPr>
              <p:spPr>
                <a:xfrm>
                  <a:off x="0" y="127181"/>
                  <a:ext cx="228296" cy="787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10" name="Text"/>
                <p:cNvSpPr txBox="1"/>
                <p:nvPr/>
              </p:nvSpPr>
              <p:spPr>
                <a:xfrm>
                  <a:off x="47307" y="0"/>
                  <a:ext cx="13368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714" name="Oval 448"/>
              <p:cNvGrpSpPr/>
              <p:nvPr/>
            </p:nvGrpSpPr>
            <p:grpSpPr>
              <a:xfrm>
                <a:off x="131" y="60976"/>
                <a:ext cx="228019" cy="127001"/>
                <a:chOff x="0" y="0"/>
                <a:chExt cx="228018" cy="127000"/>
              </a:xfrm>
            </p:grpSpPr>
            <p:sp>
              <p:nvSpPr>
                <p:cNvPr id="712" name="Oval"/>
                <p:cNvSpPr/>
                <p:nvPr/>
              </p:nvSpPr>
              <p:spPr>
                <a:xfrm>
                  <a:off x="0" y="24529"/>
                  <a:ext cx="228019" cy="77943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13" name="Text"/>
                <p:cNvSpPr txBox="1"/>
                <p:nvPr/>
              </p:nvSpPr>
              <p:spPr>
                <a:xfrm>
                  <a:off x="80699" y="0"/>
                  <a:ext cx="66620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719" name="Group 449"/>
              <p:cNvGrpSpPr/>
              <p:nvPr/>
            </p:nvGrpSpPr>
            <p:grpSpPr>
              <a:xfrm>
                <a:off x="33858" y="95412"/>
                <a:ext cx="160537" cy="57271"/>
                <a:chOff x="0" y="0"/>
                <a:chExt cx="160536" cy="57270"/>
              </a:xfrm>
            </p:grpSpPr>
            <p:sp>
              <p:nvSpPr>
                <p:cNvPr id="715" name="Freeform 450"/>
                <p:cNvSpPr/>
                <p:nvPr/>
              </p:nvSpPr>
              <p:spPr>
                <a:xfrm>
                  <a:off x="4440" y="-1"/>
                  <a:ext cx="151865" cy="32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16" name="Freeform 451"/>
                <p:cNvSpPr/>
                <p:nvPr/>
              </p:nvSpPr>
              <p:spPr>
                <a:xfrm>
                  <a:off x="103836" y="27422"/>
                  <a:ext cx="56701" cy="276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17" name="Freeform 452"/>
                <p:cNvSpPr/>
                <p:nvPr/>
              </p:nvSpPr>
              <p:spPr>
                <a:xfrm>
                  <a:off x="-1" y="27422"/>
                  <a:ext cx="55677" cy="272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18" name="Freeform 453"/>
                <p:cNvSpPr/>
                <p:nvPr/>
              </p:nvSpPr>
              <p:spPr>
                <a:xfrm>
                  <a:off x="19327" y="13943"/>
                  <a:ext cx="121057" cy="43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grpSp>
        <p:nvGrpSpPr>
          <p:cNvPr id="724" name="Group 1031"/>
          <p:cNvGrpSpPr/>
          <p:nvPr/>
        </p:nvGrpSpPr>
        <p:grpSpPr>
          <a:xfrm>
            <a:off x="1734350" y="5539149"/>
            <a:ext cx="5395196" cy="1149446"/>
            <a:chOff x="0" y="0"/>
            <a:chExt cx="5395195" cy="1149444"/>
          </a:xfrm>
        </p:grpSpPr>
        <p:sp>
          <p:nvSpPr>
            <p:cNvPr id="722" name="Freeform 417"/>
            <p:cNvSpPr/>
            <p:nvPr/>
          </p:nvSpPr>
          <p:spPr>
            <a:xfrm>
              <a:off x="0" y="123696"/>
              <a:ext cx="1129535" cy="671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3" name="Content Placeholder 2"/>
            <p:cNvSpPr txBox="1"/>
            <p:nvPr/>
          </p:nvSpPr>
          <p:spPr>
            <a:xfrm>
              <a:off x="1454082" y="0"/>
              <a:ext cx="3941114" cy="1149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>
              <a:lvl1pPr indent="6858">
                <a:lnSpc>
                  <a:spcPct val="90000"/>
                </a:lnSpc>
                <a:spcBef>
                  <a:spcPts val="600"/>
                </a:spcBef>
                <a:defRPr i="1" sz="2400">
                  <a:solidFill>
                    <a:srgbClr val="C00000"/>
                  </a:solidFill>
                </a:defRPr>
              </a:lvl1pPr>
              <a:lvl2pPr marL="346075" indent="-231775">
                <a:lnSpc>
                  <a:spcPct val="90000"/>
                </a:lnSpc>
                <a:spcBef>
                  <a:spcPts val="500"/>
                </a:spcBef>
                <a:buClr>
                  <a:srgbClr val="0000A3"/>
                </a:buClr>
                <a:buSzPct val="100000"/>
                <a:buChar char="▪"/>
                <a:defRPr sz="2000"/>
              </a:lvl2pPr>
            </a:lstStyle>
            <a:p>
              <a:pPr/>
              <a:r>
                <a:t>Networks</a:t>
              </a:r>
              <a:endParaRPr sz="2800">
                <a:latin typeface="Franklin Gothic Book"/>
                <a:ea typeface="Franklin Gothic Book"/>
                <a:cs typeface="Franklin Gothic Book"/>
                <a:sym typeface="Franklin Gothic Book"/>
              </a:endParaRPr>
            </a:p>
            <a:p>
              <a:pPr lvl="1"/>
              <a:r>
                <a:t>collection of devices, routers, links: managed by an organization</a:t>
              </a:r>
            </a:p>
          </p:txBody>
        </p:sp>
      </p:grpSp>
      <p:sp>
        <p:nvSpPr>
          <p:cNvPr id="725" name="Freeform 2"/>
          <p:cNvSpPr/>
          <p:nvPr/>
        </p:nvSpPr>
        <p:spPr>
          <a:xfrm>
            <a:off x="7189290" y="1641975"/>
            <a:ext cx="4101063" cy="42543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49" h="21264" fill="norm" stroke="1" extrusionOk="0">
                <a:moveTo>
                  <a:pt x="10053" y="6450"/>
                </a:moveTo>
                <a:cubicBezTo>
                  <a:pt x="9612" y="6503"/>
                  <a:pt x="9136" y="6468"/>
                  <a:pt x="8624" y="6083"/>
                </a:cubicBezTo>
                <a:cubicBezTo>
                  <a:pt x="8113" y="5697"/>
                  <a:pt x="7469" y="4743"/>
                  <a:pt x="6984" y="4139"/>
                </a:cubicBezTo>
                <a:cubicBezTo>
                  <a:pt x="6499" y="3535"/>
                  <a:pt x="6172" y="2502"/>
                  <a:pt x="5714" y="2458"/>
                </a:cubicBezTo>
                <a:cubicBezTo>
                  <a:pt x="5255" y="2414"/>
                  <a:pt x="4594" y="3219"/>
                  <a:pt x="4232" y="3876"/>
                </a:cubicBezTo>
                <a:cubicBezTo>
                  <a:pt x="3870" y="4533"/>
                  <a:pt x="3209" y="5478"/>
                  <a:pt x="3544" y="6398"/>
                </a:cubicBezTo>
                <a:cubicBezTo>
                  <a:pt x="3879" y="7317"/>
                  <a:pt x="5740" y="8543"/>
                  <a:pt x="6243" y="9392"/>
                </a:cubicBezTo>
                <a:cubicBezTo>
                  <a:pt x="6746" y="10241"/>
                  <a:pt x="7416" y="11205"/>
                  <a:pt x="6561" y="11493"/>
                </a:cubicBezTo>
                <a:cubicBezTo>
                  <a:pt x="5705" y="11782"/>
                  <a:pt x="2133" y="10653"/>
                  <a:pt x="1110" y="11126"/>
                </a:cubicBezTo>
                <a:cubicBezTo>
                  <a:pt x="87" y="11599"/>
                  <a:pt x="-416" y="13534"/>
                  <a:pt x="422" y="14330"/>
                </a:cubicBezTo>
                <a:cubicBezTo>
                  <a:pt x="1260" y="15127"/>
                  <a:pt x="5264" y="15320"/>
                  <a:pt x="6137" y="15906"/>
                </a:cubicBezTo>
                <a:cubicBezTo>
                  <a:pt x="7010" y="16493"/>
                  <a:pt x="5908" y="17430"/>
                  <a:pt x="5661" y="17850"/>
                </a:cubicBezTo>
                <a:cubicBezTo>
                  <a:pt x="5414" y="18270"/>
                  <a:pt x="4488" y="18165"/>
                  <a:pt x="4655" y="18428"/>
                </a:cubicBezTo>
                <a:cubicBezTo>
                  <a:pt x="4823" y="18691"/>
                  <a:pt x="6120" y="19312"/>
                  <a:pt x="6666" y="19426"/>
                </a:cubicBezTo>
                <a:cubicBezTo>
                  <a:pt x="7213" y="19540"/>
                  <a:pt x="7522" y="19050"/>
                  <a:pt x="7936" y="19111"/>
                </a:cubicBezTo>
                <a:cubicBezTo>
                  <a:pt x="8351" y="19172"/>
                  <a:pt x="8801" y="19461"/>
                  <a:pt x="9154" y="19794"/>
                </a:cubicBezTo>
                <a:cubicBezTo>
                  <a:pt x="9506" y="20126"/>
                  <a:pt x="9524" y="20888"/>
                  <a:pt x="10053" y="21107"/>
                </a:cubicBezTo>
                <a:cubicBezTo>
                  <a:pt x="10582" y="21326"/>
                  <a:pt x="11685" y="21308"/>
                  <a:pt x="12329" y="21107"/>
                </a:cubicBezTo>
                <a:cubicBezTo>
                  <a:pt x="12973" y="20906"/>
                  <a:pt x="13458" y="20126"/>
                  <a:pt x="13916" y="19899"/>
                </a:cubicBezTo>
                <a:cubicBezTo>
                  <a:pt x="14375" y="19671"/>
                  <a:pt x="14869" y="20013"/>
                  <a:pt x="15081" y="19741"/>
                </a:cubicBezTo>
                <a:cubicBezTo>
                  <a:pt x="15292" y="19470"/>
                  <a:pt x="15019" y="18874"/>
                  <a:pt x="15186" y="18270"/>
                </a:cubicBezTo>
                <a:cubicBezTo>
                  <a:pt x="15354" y="17666"/>
                  <a:pt x="15283" y="16624"/>
                  <a:pt x="16086" y="16116"/>
                </a:cubicBezTo>
                <a:cubicBezTo>
                  <a:pt x="16889" y="15609"/>
                  <a:pt x="19402" y="16458"/>
                  <a:pt x="20002" y="15223"/>
                </a:cubicBezTo>
                <a:cubicBezTo>
                  <a:pt x="20602" y="13989"/>
                  <a:pt x="19623" y="10557"/>
                  <a:pt x="19685" y="8709"/>
                </a:cubicBezTo>
                <a:cubicBezTo>
                  <a:pt x="19746" y="6862"/>
                  <a:pt x="20328" y="5531"/>
                  <a:pt x="20373" y="4139"/>
                </a:cubicBezTo>
                <a:cubicBezTo>
                  <a:pt x="20417" y="2747"/>
                  <a:pt x="21184" y="987"/>
                  <a:pt x="19949" y="356"/>
                </a:cubicBezTo>
                <a:cubicBezTo>
                  <a:pt x="18714" y="-274"/>
                  <a:pt x="14384" y="67"/>
                  <a:pt x="12964" y="356"/>
                </a:cubicBezTo>
                <a:cubicBezTo>
                  <a:pt x="11544" y="645"/>
                  <a:pt x="11632" y="1118"/>
                  <a:pt x="11429" y="2090"/>
                </a:cubicBezTo>
                <a:cubicBezTo>
                  <a:pt x="11226" y="3062"/>
                  <a:pt x="11500" y="5041"/>
                  <a:pt x="11270" y="5767"/>
                </a:cubicBezTo>
                <a:cubicBezTo>
                  <a:pt x="11041" y="6494"/>
                  <a:pt x="10494" y="6398"/>
                  <a:pt x="10053" y="6450"/>
                </a:cubicBezTo>
                <a:close/>
              </a:path>
            </a:pathLst>
          </a:custGeom>
          <a:ln w="12700">
            <a:solidFill>
              <a:srgbClr val="32538F">
                <a:alpha val="58000"/>
              </a:srgbClr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Slide Number Placeholder 2"/>
          <p:cNvSpPr txBox="1"/>
          <p:nvPr>
            <p:ph type="sldNum" sz="quarter" idx="2"/>
          </p:nvPr>
        </p:nvSpPr>
        <p:spPr>
          <a:xfrm>
            <a:off x="11787871" y="6512797"/>
            <a:ext cx="174946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Class="exit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Class="exit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9" dur="500" fill="hold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Class="entr" nodeType="after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4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8" grpId="6"/>
      <p:bldP build="whole" bldLvl="1" animBg="1" rev="0" advAuto="0" spid="725" grpId="3"/>
      <p:bldP build="whole" bldLvl="1" animBg="1" rev="0" advAuto="0" spid="721" grpId="5"/>
      <p:bldP build="whole" bldLvl="1" animBg="1" rev="0" advAuto="0" spid="79" grpId="4"/>
      <p:bldP build="whole" bldLvl="1" animBg="1" rev="0" advAuto="0" spid="725" grpId="11"/>
      <p:bldP build="whole" bldLvl="1" animBg="1" rev="0" advAuto="0" spid="79" grpId="7"/>
      <p:bldP build="whole" bldLvl="1" animBg="1" rev="0" advAuto="0" spid="115" grpId="10"/>
      <p:bldP build="whole" bldLvl="1" animBg="1" rev="0" advAuto="0" spid="724" grpId="12"/>
      <p:bldP build="whole" bldLvl="1" animBg="1" rev="0" advAuto="0" spid="165" grpId="9"/>
      <p:bldP build="whole" bldLvl="1" animBg="1" rev="0" advAuto="0" spid="244" grpId="2"/>
      <p:bldP build="whole" bldLvl="1" animBg="1" rev="0" advAuto="0" spid="493" grpId="1"/>
      <p:bldP build="whole" bldLvl="1" animBg="1" rev="0" advAuto="0" spid="286" grpId="8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Title 1"/>
          <p:cNvSpPr txBox="1"/>
          <p:nvPr>
            <p:ph type="title"/>
          </p:nvPr>
        </p:nvSpPr>
        <p:spPr>
          <a:xfrm>
            <a:off x="787400" y="335988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“Fun” Internet-connected devices</a:t>
            </a:r>
          </a:p>
        </p:txBody>
      </p:sp>
      <p:pic>
        <p:nvPicPr>
          <p:cNvPr id="7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54234" y="2861110"/>
            <a:ext cx="1675417" cy="1970640"/>
          </a:xfrm>
          <a:prstGeom prst="rect">
            <a:avLst/>
          </a:prstGeom>
          <a:ln w="12700">
            <a:miter lim="400000"/>
          </a:ln>
        </p:spPr>
      </p:pic>
      <p:sp>
        <p:nvSpPr>
          <p:cNvPr id="730" name="Text Box 8"/>
          <p:cNvSpPr txBox="1"/>
          <p:nvPr/>
        </p:nvSpPr>
        <p:spPr>
          <a:xfrm>
            <a:off x="7138721" y="3040515"/>
            <a:ext cx="1992670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/>
            </a:pPr>
            <a:r>
              <a:t>Web-enabled toaster +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defRPr sz="1600"/>
            </a:pPr>
            <a:r>
              <a:t>weather forecaster</a:t>
            </a:r>
          </a:p>
        </p:txBody>
      </p:sp>
      <p:grpSp>
        <p:nvGrpSpPr>
          <p:cNvPr id="737" name="Group 43"/>
          <p:cNvGrpSpPr/>
          <p:nvPr/>
        </p:nvGrpSpPr>
        <p:grpSpPr>
          <a:xfrm>
            <a:off x="723207" y="3591302"/>
            <a:ext cx="4897767" cy="2907511"/>
            <a:chOff x="0" y="0"/>
            <a:chExt cx="4897766" cy="2907509"/>
          </a:xfrm>
        </p:grpSpPr>
        <p:grpSp>
          <p:nvGrpSpPr>
            <p:cNvPr id="733" name="Group 38"/>
            <p:cNvGrpSpPr/>
            <p:nvPr/>
          </p:nvGrpSpPr>
          <p:grpSpPr>
            <a:xfrm>
              <a:off x="0" y="1333372"/>
              <a:ext cx="1768380" cy="1574138"/>
              <a:chOff x="0" y="0"/>
              <a:chExt cx="1768379" cy="1574136"/>
            </a:xfrm>
          </p:grpSpPr>
          <p:pic>
            <p:nvPicPr>
              <p:cNvPr id="731" name="Picture 9" descr="Picture 9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1768380" cy="141681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32" name="Text Box 10"/>
              <p:cNvSpPr txBox="1"/>
              <p:nvPr/>
            </p:nvSpPr>
            <p:spPr>
              <a:xfrm>
                <a:off x="275013" y="1273543"/>
                <a:ext cx="1426826" cy="3005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pPr/>
                <a:r>
                  <a:t>Internet phones</a:t>
                </a:r>
              </a:p>
            </p:txBody>
          </p:sp>
        </p:grpSp>
        <p:grpSp>
          <p:nvGrpSpPr>
            <p:cNvPr id="736" name="Group 39"/>
            <p:cNvGrpSpPr/>
            <p:nvPr/>
          </p:nvGrpSpPr>
          <p:grpSpPr>
            <a:xfrm>
              <a:off x="3185699" y="0"/>
              <a:ext cx="1712068" cy="1135619"/>
              <a:chOff x="0" y="0"/>
              <a:chExt cx="1712066" cy="1135618"/>
            </a:xfrm>
          </p:grpSpPr>
          <p:pic>
            <p:nvPicPr>
              <p:cNvPr id="734" name="Picture 16" descr="Picture 16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159492" y="0"/>
                <a:ext cx="1552576" cy="74295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35" name="Text Box 8"/>
              <p:cNvSpPr txBox="1"/>
              <p:nvPr/>
            </p:nvSpPr>
            <p:spPr>
              <a:xfrm>
                <a:off x="0" y="581024"/>
                <a:ext cx="1497172" cy="5545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600"/>
                </a:pPr>
                <a:r>
                  <a:t>Slingbox: remote</a:t>
                </a:r>
                <a:endParaRPr sz="2800">
                  <a:latin typeface="Gill Sans MT"/>
                  <a:ea typeface="Gill Sans MT"/>
                  <a:cs typeface="Gill Sans MT"/>
                  <a:sym typeface="Gill Sans MT"/>
                </a:endParaRPr>
              </a:p>
              <a:p>
                <a:pPr>
                  <a:defRPr sz="1600"/>
                </a:pPr>
                <a:r>
                  <a:t>control cable TV</a:t>
                </a:r>
              </a:p>
            </p:txBody>
          </p:sp>
        </p:grpSp>
      </p:grpSp>
      <p:grpSp>
        <p:nvGrpSpPr>
          <p:cNvPr id="740" name="Group 19"/>
          <p:cNvGrpSpPr/>
          <p:nvPr/>
        </p:nvGrpSpPr>
        <p:grpSpPr>
          <a:xfrm>
            <a:off x="814227" y="3747548"/>
            <a:ext cx="2630175" cy="1150153"/>
            <a:chOff x="0" y="0"/>
            <a:chExt cx="2630174" cy="1150152"/>
          </a:xfrm>
        </p:grpSpPr>
        <p:sp>
          <p:nvSpPr>
            <p:cNvPr id="738" name="Text Box 8"/>
            <p:cNvSpPr txBox="1"/>
            <p:nvPr/>
          </p:nvSpPr>
          <p:spPr>
            <a:xfrm>
              <a:off x="1182315" y="849558"/>
              <a:ext cx="1447860" cy="3005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/>
              </a:lvl1pPr>
            </a:lstStyle>
            <a:p>
              <a:pPr/>
              <a:r>
                <a:t>Security Camera</a:t>
              </a:r>
            </a:p>
          </p:txBody>
        </p:sp>
        <p:pic>
          <p:nvPicPr>
            <p:cNvPr id="739" name="Picture 21" descr="Picture 21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1124188" cy="11363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54" name="Group 44"/>
          <p:cNvGrpSpPr/>
          <p:nvPr/>
        </p:nvGrpSpPr>
        <p:grpSpPr>
          <a:xfrm>
            <a:off x="769071" y="1143651"/>
            <a:ext cx="10350462" cy="5458394"/>
            <a:chOff x="0" y="0"/>
            <a:chExt cx="10350460" cy="5458394"/>
          </a:xfrm>
        </p:grpSpPr>
        <p:grpSp>
          <p:nvGrpSpPr>
            <p:cNvPr id="743" name="Group 37"/>
            <p:cNvGrpSpPr/>
            <p:nvPr/>
          </p:nvGrpSpPr>
          <p:grpSpPr>
            <a:xfrm>
              <a:off x="2644839" y="573709"/>
              <a:ext cx="1895476" cy="1700843"/>
              <a:chOff x="0" y="0"/>
              <a:chExt cx="1895475" cy="1700842"/>
            </a:xfrm>
          </p:grpSpPr>
          <p:pic>
            <p:nvPicPr>
              <p:cNvPr id="741" name="Picture 4" descr="Picture 4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0" y="0"/>
                <a:ext cx="1895475" cy="156051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42" name="Text Box 7"/>
              <p:cNvSpPr txBox="1"/>
              <p:nvPr/>
            </p:nvSpPr>
            <p:spPr>
              <a:xfrm>
                <a:off x="200675" y="1400249"/>
                <a:ext cx="1425041" cy="3005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600"/>
                </a:lvl1pPr>
              </a:lstStyle>
              <a:p>
                <a:pPr/>
                <a:r>
                  <a:t>IP picture frame</a:t>
                </a:r>
              </a:p>
            </p:txBody>
          </p:sp>
        </p:grpSp>
        <p:sp>
          <p:nvSpPr>
            <p:cNvPr id="744" name="Text Box 8"/>
            <p:cNvSpPr txBox="1"/>
            <p:nvPr/>
          </p:nvSpPr>
          <p:spPr>
            <a:xfrm>
              <a:off x="1400779" y="2447652"/>
              <a:ext cx="1052375" cy="554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600"/>
              </a:pPr>
              <a:r>
                <a:t>Internet 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defRPr sz="1600"/>
              </a:pPr>
              <a:r>
                <a:t>refrigerator</a:t>
              </a:r>
            </a:p>
          </p:txBody>
        </p:sp>
        <p:grpSp>
          <p:nvGrpSpPr>
            <p:cNvPr id="747" name="Group 14"/>
            <p:cNvGrpSpPr/>
            <p:nvPr/>
          </p:nvGrpSpPr>
          <p:grpSpPr>
            <a:xfrm>
              <a:off x="7867229" y="-1"/>
              <a:ext cx="2483232" cy="1141977"/>
              <a:chOff x="0" y="0"/>
              <a:chExt cx="2483231" cy="1141975"/>
            </a:xfrm>
          </p:grpSpPr>
          <p:pic>
            <p:nvPicPr>
              <p:cNvPr id="745" name="Picture 23" descr="Picture 23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45013"/>
                <a:ext cx="695325" cy="109696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>
                <a:outerShdw sx="100000" sy="100000" kx="0" ky="0" algn="b" rotWithShape="0" blurRad="50800" dist="38100" dir="810000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746" name="Text Box 10"/>
              <p:cNvSpPr txBox="1"/>
              <p:nvPr/>
            </p:nvSpPr>
            <p:spPr>
              <a:xfrm>
                <a:off x="768274" y="0"/>
                <a:ext cx="1714958" cy="5545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600"/>
                </a:pPr>
                <a:r>
                  <a:t>Tweet-a-watt: </a:t>
                </a:r>
                <a:endParaRPr sz="2800">
                  <a:latin typeface="Gill Sans MT"/>
                  <a:ea typeface="Gill Sans MT"/>
                  <a:cs typeface="Gill Sans MT"/>
                  <a:sym typeface="Gill Sans MT"/>
                </a:endParaRPr>
              </a:p>
              <a:p>
                <a:pPr>
                  <a:defRPr sz="1600"/>
                </a:pPr>
                <a:r>
                  <a:t>monitor energy use</a:t>
                </a:r>
              </a:p>
            </p:txBody>
          </p:sp>
        </p:grpSp>
        <p:grpSp>
          <p:nvGrpSpPr>
            <p:cNvPr id="750" name="Group 40"/>
            <p:cNvGrpSpPr/>
            <p:nvPr/>
          </p:nvGrpSpPr>
          <p:grpSpPr>
            <a:xfrm>
              <a:off x="4294678" y="3905640"/>
              <a:ext cx="2389923" cy="1552755"/>
              <a:chOff x="0" y="0"/>
              <a:chExt cx="2389921" cy="1552753"/>
            </a:xfrm>
          </p:grpSpPr>
          <p:pic>
            <p:nvPicPr>
              <p:cNvPr id="748" name="Picture 1" descr="Picture 1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0" y="8115"/>
                <a:ext cx="1289050" cy="154463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49" name="Text Box 8"/>
              <p:cNvSpPr txBox="1"/>
              <p:nvPr/>
            </p:nvSpPr>
            <p:spPr>
              <a:xfrm>
                <a:off x="1360071" y="0"/>
                <a:ext cx="1029851" cy="8085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600"/>
                </a:pPr>
                <a:r>
                  <a:t>sensorized,</a:t>
                </a:r>
                <a:endParaRPr sz="2800">
                  <a:latin typeface="Gill Sans MT"/>
                  <a:ea typeface="Gill Sans MT"/>
                  <a:cs typeface="Gill Sans MT"/>
                  <a:sym typeface="Gill Sans MT"/>
                </a:endParaRPr>
              </a:p>
              <a:p>
                <a:pPr>
                  <a:defRPr sz="1600"/>
                </a:pPr>
                <a:r>
                  <a:t>bed</a:t>
                </a:r>
                <a:endParaRPr sz="2800">
                  <a:latin typeface="Gill Sans MT"/>
                  <a:ea typeface="Gill Sans MT"/>
                  <a:cs typeface="Gill Sans MT"/>
                  <a:sym typeface="Gill Sans MT"/>
                </a:endParaRPr>
              </a:p>
              <a:p>
                <a:pPr>
                  <a:defRPr sz="1600"/>
                </a:pPr>
                <a:r>
                  <a:t>mattress</a:t>
                </a:r>
              </a:p>
            </p:txBody>
          </p:sp>
        </p:grpSp>
        <p:grpSp>
          <p:nvGrpSpPr>
            <p:cNvPr id="753" name="Group 22"/>
            <p:cNvGrpSpPr/>
            <p:nvPr/>
          </p:nvGrpSpPr>
          <p:grpSpPr>
            <a:xfrm>
              <a:off x="0" y="662468"/>
              <a:ext cx="1213307" cy="1458338"/>
              <a:chOff x="0" y="0"/>
              <a:chExt cx="1213306" cy="1458337"/>
            </a:xfrm>
          </p:grpSpPr>
          <p:pic>
            <p:nvPicPr>
              <p:cNvPr id="751" name="Picture 23" descr="Picture 23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56315" y="0"/>
                <a:ext cx="550339" cy="11497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52" name="Text Box 8"/>
              <p:cNvSpPr txBox="1"/>
              <p:nvPr/>
            </p:nvSpPr>
            <p:spPr>
              <a:xfrm>
                <a:off x="0" y="1157744"/>
                <a:ext cx="1213307" cy="3005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600"/>
                </a:lvl1pPr>
              </a:lstStyle>
              <a:p>
                <a:pPr/>
                <a:r>
                  <a:t>Amazon Echo</a:t>
                </a:r>
              </a:p>
            </p:txBody>
          </p:sp>
        </p:grpSp>
      </p:grpSp>
      <p:sp>
        <p:nvSpPr>
          <p:cNvPr id="755" name="TextBox 30"/>
          <p:cNvSpPr txBox="1"/>
          <p:nvPr/>
        </p:nvSpPr>
        <p:spPr>
          <a:xfrm>
            <a:off x="9752945" y="5533964"/>
            <a:ext cx="1717686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4000">
                <a:solidFill>
                  <a:srgbClr val="0000A8"/>
                </a:solidFill>
              </a:defRPr>
            </a:lvl1pPr>
          </a:lstStyle>
          <a:p>
            <a:pPr/>
            <a:r>
              <a:t>Others?</a:t>
            </a:r>
          </a:p>
        </p:txBody>
      </p:sp>
      <p:grpSp>
        <p:nvGrpSpPr>
          <p:cNvPr id="758" name="Group 51"/>
          <p:cNvGrpSpPr/>
          <p:nvPr/>
        </p:nvGrpSpPr>
        <p:grpSpPr>
          <a:xfrm>
            <a:off x="3149599" y="5058059"/>
            <a:ext cx="1519768" cy="1203069"/>
            <a:chOff x="0" y="0"/>
            <a:chExt cx="1519767" cy="1203068"/>
          </a:xfrm>
        </p:grpSpPr>
        <p:pic>
          <p:nvPicPr>
            <p:cNvPr id="756" name="Picture 47" descr="Picture 47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0"/>
              <a:ext cx="1519768" cy="972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57" name="TextBox 48"/>
            <p:cNvSpPr txBox="1"/>
            <p:nvPr/>
          </p:nvSpPr>
          <p:spPr>
            <a:xfrm>
              <a:off x="45721" y="902475"/>
              <a:ext cx="1398748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pPr/>
              <a:r>
                <a:t>Gaming devices</a:t>
              </a:r>
            </a:p>
          </p:txBody>
        </p:sp>
      </p:grpSp>
      <p:grpSp>
        <p:nvGrpSpPr>
          <p:cNvPr id="765" name="Group 56"/>
          <p:cNvGrpSpPr/>
          <p:nvPr/>
        </p:nvGrpSpPr>
        <p:grpSpPr>
          <a:xfrm>
            <a:off x="9643122" y="1811866"/>
            <a:ext cx="2328745" cy="3534862"/>
            <a:chOff x="0" y="0"/>
            <a:chExt cx="2328743" cy="3534860"/>
          </a:xfrm>
        </p:grpSpPr>
        <p:pic>
          <p:nvPicPr>
            <p:cNvPr id="759" name="Picture 53" descr="Picture 53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1092610" y="325425"/>
              <a:ext cx="1147233" cy="10355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0" name="Picture 52" descr="Picture 52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1539341" y="1794933"/>
              <a:ext cx="789403" cy="14837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1" name="Picture 46" descr="Picture 46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0" y="1202266"/>
              <a:ext cx="1723655" cy="11747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62" name="TextBox 49"/>
            <p:cNvSpPr txBox="1"/>
            <p:nvPr/>
          </p:nvSpPr>
          <p:spPr>
            <a:xfrm>
              <a:off x="579531" y="2302934"/>
              <a:ext cx="432555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pPr/>
              <a:r>
                <a:t>cars</a:t>
              </a:r>
            </a:p>
          </p:txBody>
        </p:sp>
        <p:sp>
          <p:nvSpPr>
            <p:cNvPr id="763" name="TextBox 54"/>
            <p:cNvSpPr txBox="1"/>
            <p:nvPr/>
          </p:nvSpPr>
          <p:spPr>
            <a:xfrm>
              <a:off x="1476998" y="3234267"/>
              <a:ext cx="795993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pPr/>
              <a:r>
                <a:t>scooters</a:t>
              </a:r>
            </a:p>
          </p:txBody>
        </p:sp>
        <p:sp>
          <p:nvSpPr>
            <p:cNvPr id="764" name="TextBox 55"/>
            <p:cNvSpPr txBox="1"/>
            <p:nvPr/>
          </p:nvSpPr>
          <p:spPr>
            <a:xfrm>
              <a:off x="1426198" y="0"/>
              <a:ext cx="523935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pPr/>
              <a:r>
                <a:t>bikes</a:t>
              </a:r>
            </a:p>
          </p:txBody>
        </p:sp>
      </p:grpSp>
      <p:sp>
        <p:nvSpPr>
          <p:cNvPr id="766" name="Slide Number Placeholder 2"/>
          <p:cNvSpPr txBox="1"/>
          <p:nvPr>
            <p:ph type="sldNum" sz="quarter" idx="2"/>
          </p:nvPr>
        </p:nvSpPr>
        <p:spPr>
          <a:xfrm>
            <a:off x="11787871" y="6512797"/>
            <a:ext cx="174946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82" name="Group 58"/>
          <p:cNvGrpSpPr/>
          <p:nvPr/>
        </p:nvGrpSpPr>
        <p:grpSpPr>
          <a:xfrm>
            <a:off x="5244181" y="1499728"/>
            <a:ext cx="4175679" cy="5120551"/>
            <a:chOff x="0" y="0"/>
            <a:chExt cx="4175678" cy="5120549"/>
          </a:xfrm>
        </p:grpSpPr>
        <p:grpSp>
          <p:nvGrpSpPr>
            <p:cNvPr id="778" name="Group 45"/>
            <p:cNvGrpSpPr/>
            <p:nvPr/>
          </p:nvGrpSpPr>
          <p:grpSpPr>
            <a:xfrm>
              <a:off x="0" y="0"/>
              <a:ext cx="4175679" cy="4294286"/>
              <a:chOff x="0" y="0"/>
              <a:chExt cx="4175677" cy="4294285"/>
            </a:xfrm>
          </p:grpSpPr>
          <p:grpSp>
            <p:nvGrpSpPr>
              <p:cNvPr id="771" name="Group 25"/>
              <p:cNvGrpSpPr/>
              <p:nvPr/>
            </p:nvGrpSpPr>
            <p:grpSpPr>
              <a:xfrm>
                <a:off x="0" y="-1"/>
                <a:ext cx="2735863" cy="1052878"/>
                <a:chOff x="0" y="0"/>
                <a:chExt cx="2735862" cy="1052876"/>
              </a:xfrm>
            </p:grpSpPr>
            <p:grpSp>
              <p:nvGrpSpPr>
                <p:cNvPr id="769" name="Group 26"/>
                <p:cNvGrpSpPr/>
                <p:nvPr/>
              </p:nvGrpSpPr>
              <p:grpSpPr>
                <a:xfrm>
                  <a:off x="0" y="0"/>
                  <a:ext cx="2735863" cy="741603"/>
                  <a:chOff x="0" y="0"/>
                  <a:chExt cx="2735862" cy="741602"/>
                </a:xfrm>
              </p:grpSpPr>
              <p:pic>
                <p:nvPicPr>
                  <p:cNvPr id="767" name="Picture 28" descr="Picture 28"/>
                  <p:cNvPicPr>
                    <a:picLocks noChangeAspect="1"/>
                  </p:cNvPicPr>
                  <p:nvPr/>
                </p:nvPicPr>
                <p:blipFill>
                  <a:blip r:embed="rId14">
                    <a:extLst/>
                  </a:blip>
                  <a:stretch>
                    <a:fillRect/>
                  </a:stretch>
                </p:blipFill>
                <p:spPr>
                  <a:xfrm>
                    <a:off x="0" y="0"/>
                    <a:ext cx="1763999" cy="7416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768" name="Picture 29" descr="Picture 29"/>
                  <p:cNvPicPr>
                    <a:picLocks noChangeAspect="1"/>
                  </p:cNvPicPr>
                  <p:nvPr/>
                </p:nvPicPr>
                <p:blipFill>
                  <a:blip r:embed="rId15">
                    <a:extLst/>
                  </a:blip>
                  <a:srcRect l="44905" t="0" r="0" b="0"/>
                  <a:stretch>
                    <a:fillRect/>
                  </a:stretch>
                </p:blipFill>
                <p:spPr>
                  <a:xfrm>
                    <a:off x="1763997" y="0"/>
                    <a:ext cx="971866" cy="7416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  <p:sp>
              <p:nvSpPr>
                <p:cNvPr id="770" name="Text Box 8"/>
                <p:cNvSpPr txBox="1"/>
                <p:nvPr/>
              </p:nvSpPr>
              <p:spPr>
                <a:xfrm>
                  <a:off x="388272" y="752283"/>
                  <a:ext cx="1915379" cy="3005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t">
                  <a:spAutoFit/>
                </a:bodyPr>
                <a:lstStyle>
                  <a:lvl1pPr>
                    <a:defRPr sz="1600"/>
                  </a:lvl1pPr>
                </a:lstStyle>
                <a:p>
                  <a:pPr/>
                  <a:r>
                    <a:t>Pacemaker &amp; Monitor</a:t>
                  </a:r>
                </a:p>
              </p:txBody>
            </p:sp>
          </p:grpSp>
          <p:grpSp>
            <p:nvGrpSpPr>
              <p:cNvPr id="774" name="Group 41"/>
              <p:cNvGrpSpPr/>
              <p:nvPr/>
            </p:nvGrpSpPr>
            <p:grpSpPr>
              <a:xfrm>
                <a:off x="2624056" y="2603620"/>
                <a:ext cx="1551622" cy="904825"/>
                <a:chOff x="0" y="0"/>
                <a:chExt cx="1551620" cy="904823"/>
              </a:xfrm>
            </p:grpSpPr>
            <p:pic>
              <p:nvPicPr>
                <p:cNvPr id="772" name="Picture 33" descr="Picture 33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1551621" cy="66383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773" name="Text Box 10"/>
                <p:cNvSpPr txBox="1"/>
                <p:nvPr/>
              </p:nvSpPr>
              <p:spPr>
                <a:xfrm>
                  <a:off x="484064" y="604230"/>
                  <a:ext cx="989767" cy="3005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t">
                  <a:spAutoFit/>
                </a:bodyPr>
                <a:lstStyle>
                  <a:lvl1pPr>
                    <a:defRPr sz="1600"/>
                  </a:lvl1pPr>
                </a:lstStyle>
                <a:p>
                  <a:pPr/>
                  <a:r>
                    <a:t>AR devices</a:t>
                  </a:r>
                </a:p>
              </p:txBody>
            </p:sp>
          </p:grpSp>
          <p:grpSp>
            <p:nvGrpSpPr>
              <p:cNvPr id="777" name="Group 42"/>
              <p:cNvGrpSpPr/>
              <p:nvPr/>
            </p:nvGrpSpPr>
            <p:grpSpPr>
              <a:xfrm>
                <a:off x="2133496" y="3148551"/>
                <a:ext cx="875313" cy="1145735"/>
                <a:chOff x="0" y="0"/>
                <a:chExt cx="875311" cy="1145734"/>
              </a:xfrm>
            </p:grpSpPr>
            <p:pic>
              <p:nvPicPr>
                <p:cNvPr id="775" name="Picture 31" descr="Picture 31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875312" cy="86467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776" name="Text Box 10"/>
                <p:cNvSpPr txBox="1"/>
                <p:nvPr/>
              </p:nvSpPr>
              <p:spPr>
                <a:xfrm>
                  <a:off x="192455" y="845141"/>
                  <a:ext cx="533659" cy="3005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t">
                  <a:spAutoFit/>
                </a:bodyPr>
                <a:lstStyle>
                  <a:lvl1pPr>
                    <a:defRPr sz="1600"/>
                  </a:lvl1pPr>
                </a:lstStyle>
                <a:p>
                  <a:pPr/>
                  <a:r>
                    <a:t>Fitbit</a:t>
                  </a:r>
                </a:p>
              </p:txBody>
            </p:sp>
          </p:grpSp>
        </p:grpSp>
        <p:grpSp>
          <p:nvGrpSpPr>
            <p:cNvPr id="781" name="Group 50"/>
            <p:cNvGrpSpPr/>
            <p:nvPr/>
          </p:nvGrpSpPr>
          <p:grpSpPr>
            <a:xfrm>
              <a:off x="2665529" y="3477825"/>
              <a:ext cx="1502637" cy="1642725"/>
              <a:chOff x="0" y="0"/>
              <a:chExt cx="1502636" cy="1642723"/>
            </a:xfrm>
          </p:grpSpPr>
          <p:pic>
            <p:nvPicPr>
              <p:cNvPr id="779" name="Picture 35" descr="Picture 35"/>
              <p:cNvPicPr>
                <a:picLocks noChangeAspect="1"/>
              </p:cNvPicPr>
              <p:nvPr/>
            </p:nvPicPr>
            <p:blipFill>
              <a:blip r:embed="rId18">
                <a:extLst/>
              </a:blip>
              <a:stretch>
                <a:fillRect/>
              </a:stretch>
            </p:blipFill>
            <p:spPr>
              <a:xfrm>
                <a:off x="458691" y="0"/>
                <a:ext cx="1043946" cy="164272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80" name="TextBox 36"/>
              <p:cNvSpPr txBox="1"/>
              <p:nvPr/>
            </p:nvSpPr>
            <p:spPr>
              <a:xfrm>
                <a:off x="0" y="1264296"/>
                <a:ext cx="709573" cy="3005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pPr/>
                <a:r>
                  <a:t>diapers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37" grpId="1"/>
      <p:bldP build="whole" bldLvl="1" animBg="1" rev="0" advAuto="0" spid="765" grpId="5"/>
      <p:bldP build="whole" bldLvl="1" animBg="1" rev="0" advAuto="0" spid="730" grpId="8"/>
      <p:bldP build="whole" bldLvl="1" animBg="1" rev="0" advAuto="0" spid="782" grpId="6"/>
      <p:bldP build="whole" bldLvl="1" animBg="1" rev="0" advAuto="0" spid="758" grpId="2"/>
      <p:bldP build="whole" bldLvl="1" animBg="1" rev="0" advAuto="0" spid="740" grpId="4"/>
      <p:bldP build="whole" bldLvl="1" animBg="1" rev="0" advAuto="0" spid="729" grpId="7"/>
      <p:bldP build="whole" bldLvl="1" animBg="1" rev="0" advAuto="0" spid="755" grpId="9"/>
      <p:bldP build="whole" bldLvl="1" animBg="1" rev="0" advAuto="0" spid="754" grpId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Content Placeholder 2"/>
          <p:cNvSpPr txBox="1"/>
          <p:nvPr>
            <p:ph type="body" sz="quarter" idx="1"/>
          </p:nvPr>
        </p:nvSpPr>
        <p:spPr>
          <a:xfrm>
            <a:off x="713957" y="1708455"/>
            <a:ext cx="5394573" cy="957997"/>
          </a:xfrm>
          <a:prstGeom prst="rect">
            <a:avLst/>
          </a:prstGeom>
        </p:spPr>
        <p:txBody>
          <a:bodyPr/>
          <a:lstStyle/>
          <a:p>
            <a:pPr>
              <a:buSzPct val="75000"/>
              <a:defRPr i="1">
                <a:solidFill>
                  <a:srgbClr val="CC0000"/>
                </a:solidFill>
              </a:defRPr>
            </a:pPr>
            <a:r>
              <a:t>Internet: “</a:t>
            </a:r>
            <a:r>
              <a:rPr i="0"/>
              <a:t>network of networks”</a:t>
            </a:r>
            <a:endParaRPr i="0"/>
          </a:p>
          <a:p>
            <a:pPr lvl="1" marL="695325" indent="-231775">
              <a:spcBef>
                <a:spcPts val="500"/>
              </a:spcBef>
              <a:buClr>
                <a:srgbClr val="0000A8"/>
              </a:buClr>
              <a:buFont typeface="Arial"/>
              <a:defRPr sz="2400"/>
            </a:pPr>
            <a:r>
              <a:t>Interconnected ISPs</a:t>
            </a:r>
          </a:p>
        </p:txBody>
      </p:sp>
      <p:sp>
        <p:nvSpPr>
          <p:cNvPr id="785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The Internet: a “nuts and bolts” view</a:t>
            </a:r>
          </a:p>
        </p:txBody>
      </p:sp>
      <p:sp>
        <p:nvSpPr>
          <p:cNvPr id="786" name="Freeform 370"/>
          <p:cNvSpPr/>
          <p:nvPr/>
        </p:nvSpPr>
        <p:spPr>
          <a:xfrm>
            <a:off x="8985187" y="3065777"/>
            <a:ext cx="1124809" cy="1337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49" h="20510" fill="norm" stroke="1" extrusionOk="0">
                <a:moveTo>
                  <a:pt x="4338" y="7022"/>
                </a:moveTo>
                <a:cubicBezTo>
                  <a:pt x="2763" y="8848"/>
                  <a:pt x="1382" y="9254"/>
                  <a:pt x="902" y="11320"/>
                </a:cubicBezTo>
                <a:cubicBezTo>
                  <a:pt x="422" y="13386"/>
                  <a:pt x="-1132" y="17789"/>
                  <a:pt x="1456" y="19418"/>
                </a:cubicBezTo>
                <a:cubicBezTo>
                  <a:pt x="4045" y="21047"/>
                  <a:pt x="14587" y="20622"/>
                  <a:pt x="17527" y="19646"/>
                </a:cubicBezTo>
                <a:cubicBezTo>
                  <a:pt x="20468" y="18669"/>
                  <a:pt x="19432" y="15068"/>
                  <a:pt x="19100" y="13560"/>
                </a:cubicBezTo>
                <a:cubicBezTo>
                  <a:pt x="18768" y="12052"/>
                  <a:pt x="15646" y="13090"/>
                  <a:pt x="15536" y="10596"/>
                </a:cubicBezTo>
                <a:cubicBezTo>
                  <a:pt x="15746" y="7905"/>
                  <a:pt x="18905" y="7477"/>
                  <a:pt x="19045" y="5962"/>
                </a:cubicBezTo>
                <a:cubicBezTo>
                  <a:pt x="19184" y="4446"/>
                  <a:pt x="18059" y="3477"/>
                  <a:pt x="16373" y="1502"/>
                </a:cubicBezTo>
                <a:cubicBezTo>
                  <a:pt x="15001" y="420"/>
                  <a:pt x="12357" y="-553"/>
                  <a:pt x="10351" y="367"/>
                </a:cubicBezTo>
                <a:cubicBezTo>
                  <a:pt x="8345" y="1287"/>
                  <a:pt x="5912" y="5197"/>
                  <a:pt x="4338" y="7022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7" name="Freeform 417"/>
          <p:cNvSpPr/>
          <p:nvPr/>
        </p:nvSpPr>
        <p:spPr>
          <a:xfrm>
            <a:off x="7282395" y="1831266"/>
            <a:ext cx="1715493" cy="130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6" h="21326" fill="norm" stroke="1" extrusionOk="0">
                <a:moveTo>
                  <a:pt x="13407" y="266"/>
                </a:moveTo>
                <a:cubicBezTo>
                  <a:pt x="12073" y="522"/>
                  <a:pt x="9571" y="970"/>
                  <a:pt x="8028" y="1610"/>
                </a:cubicBezTo>
                <a:cubicBezTo>
                  <a:pt x="6485" y="2250"/>
                  <a:pt x="5026" y="3114"/>
                  <a:pt x="4192" y="4042"/>
                </a:cubicBezTo>
                <a:cubicBezTo>
                  <a:pt x="3358" y="4970"/>
                  <a:pt x="3712" y="6346"/>
                  <a:pt x="3066" y="7242"/>
                </a:cubicBezTo>
                <a:cubicBezTo>
                  <a:pt x="2420" y="8138"/>
                  <a:pt x="814" y="8202"/>
                  <a:pt x="356" y="9418"/>
                </a:cubicBezTo>
                <a:cubicBezTo>
                  <a:pt x="-103" y="10634"/>
                  <a:pt x="-103" y="13578"/>
                  <a:pt x="272" y="14602"/>
                </a:cubicBezTo>
                <a:cubicBezTo>
                  <a:pt x="648" y="15626"/>
                  <a:pt x="1127" y="15402"/>
                  <a:pt x="2649" y="15562"/>
                </a:cubicBezTo>
                <a:cubicBezTo>
                  <a:pt x="4171" y="15722"/>
                  <a:pt x="7820" y="15210"/>
                  <a:pt x="9446" y="15562"/>
                </a:cubicBezTo>
                <a:cubicBezTo>
                  <a:pt x="11072" y="15914"/>
                  <a:pt x="11343" y="16778"/>
                  <a:pt x="12365" y="17674"/>
                </a:cubicBezTo>
                <a:cubicBezTo>
                  <a:pt x="13387" y="18570"/>
                  <a:pt x="14638" y="20362"/>
                  <a:pt x="15576" y="20938"/>
                </a:cubicBezTo>
                <a:cubicBezTo>
                  <a:pt x="16514" y="21514"/>
                  <a:pt x="17348" y="21354"/>
                  <a:pt x="18036" y="21066"/>
                </a:cubicBezTo>
                <a:cubicBezTo>
                  <a:pt x="18724" y="20778"/>
                  <a:pt x="19329" y="20362"/>
                  <a:pt x="19746" y="19210"/>
                </a:cubicBezTo>
                <a:cubicBezTo>
                  <a:pt x="20163" y="18058"/>
                  <a:pt x="20350" y="15818"/>
                  <a:pt x="20580" y="14154"/>
                </a:cubicBezTo>
                <a:cubicBezTo>
                  <a:pt x="20809" y="12490"/>
                  <a:pt x="21017" y="11018"/>
                  <a:pt x="21122" y="9226"/>
                </a:cubicBezTo>
                <a:cubicBezTo>
                  <a:pt x="21226" y="7434"/>
                  <a:pt x="21497" y="4810"/>
                  <a:pt x="21205" y="3338"/>
                </a:cubicBezTo>
                <a:cubicBezTo>
                  <a:pt x="20913" y="1866"/>
                  <a:pt x="20225" y="1002"/>
                  <a:pt x="19370" y="458"/>
                </a:cubicBezTo>
                <a:cubicBezTo>
                  <a:pt x="18516" y="-86"/>
                  <a:pt x="17077" y="42"/>
                  <a:pt x="16076" y="10"/>
                </a:cubicBezTo>
                <a:cubicBezTo>
                  <a:pt x="15075" y="-22"/>
                  <a:pt x="14742" y="10"/>
                  <a:pt x="13407" y="266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790" name="Group 418"/>
          <p:cNvGrpSpPr/>
          <p:nvPr/>
        </p:nvGrpSpPr>
        <p:grpSpPr>
          <a:xfrm>
            <a:off x="7205349" y="3289251"/>
            <a:ext cx="1458913" cy="933450"/>
            <a:chOff x="112847" y="0"/>
            <a:chExt cx="1458911" cy="933449"/>
          </a:xfrm>
        </p:grpSpPr>
        <p:sp>
          <p:nvSpPr>
            <p:cNvPr id="788" name="Rectangle 419"/>
            <p:cNvSpPr/>
            <p:nvPr/>
          </p:nvSpPr>
          <p:spPr>
            <a:xfrm>
              <a:off x="346571" y="263828"/>
              <a:ext cx="986999" cy="669622"/>
            </a:xfrm>
            <a:prstGeom prst="rect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89" name="AutoShape 420"/>
            <p:cNvSpPr/>
            <p:nvPr/>
          </p:nvSpPr>
          <p:spPr>
            <a:xfrm>
              <a:off x="112847" y="0"/>
              <a:ext cx="1458913" cy="317851"/>
            </a:xfrm>
            <a:prstGeom prst="triangle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791" name="Freeform 427"/>
          <p:cNvSpPr/>
          <p:nvPr/>
        </p:nvSpPr>
        <p:spPr>
          <a:xfrm>
            <a:off x="7728466" y="4694461"/>
            <a:ext cx="3042747" cy="163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257" fill="norm" stroke="1" extrusionOk="0">
                <a:moveTo>
                  <a:pt x="10487" y="388"/>
                </a:moveTo>
                <a:cubicBezTo>
                  <a:pt x="9540" y="780"/>
                  <a:pt x="9151" y="2283"/>
                  <a:pt x="8293" y="2427"/>
                </a:cubicBezTo>
                <a:cubicBezTo>
                  <a:pt x="7436" y="2571"/>
                  <a:pt x="6423" y="1336"/>
                  <a:pt x="5320" y="1253"/>
                </a:cubicBezTo>
                <a:cubicBezTo>
                  <a:pt x="4218" y="1171"/>
                  <a:pt x="2526" y="841"/>
                  <a:pt x="1646" y="1933"/>
                </a:cubicBezTo>
                <a:cubicBezTo>
                  <a:pt x="767" y="3024"/>
                  <a:pt x="199" y="5989"/>
                  <a:pt x="43" y="7863"/>
                </a:cubicBezTo>
                <a:cubicBezTo>
                  <a:pt x="-113" y="9737"/>
                  <a:pt x="165" y="12105"/>
                  <a:pt x="678" y="13196"/>
                </a:cubicBezTo>
                <a:cubicBezTo>
                  <a:pt x="1190" y="14287"/>
                  <a:pt x="2169" y="13546"/>
                  <a:pt x="3094" y="14390"/>
                </a:cubicBezTo>
                <a:cubicBezTo>
                  <a:pt x="4018" y="15235"/>
                  <a:pt x="4897" y="17191"/>
                  <a:pt x="6211" y="18241"/>
                </a:cubicBezTo>
                <a:cubicBezTo>
                  <a:pt x="7525" y="19291"/>
                  <a:pt x="9373" y="20259"/>
                  <a:pt x="10976" y="20732"/>
                </a:cubicBezTo>
                <a:cubicBezTo>
                  <a:pt x="12580" y="21185"/>
                  <a:pt x="14461" y="21453"/>
                  <a:pt x="15842" y="21082"/>
                </a:cubicBezTo>
                <a:cubicBezTo>
                  <a:pt x="17223" y="20691"/>
                  <a:pt x="18336" y="19620"/>
                  <a:pt x="19249" y="18529"/>
                </a:cubicBezTo>
                <a:cubicBezTo>
                  <a:pt x="20162" y="17458"/>
                  <a:pt x="21108" y="16820"/>
                  <a:pt x="21298" y="14555"/>
                </a:cubicBezTo>
                <a:cubicBezTo>
                  <a:pt x="21487" y="12290"/>
                  <a:pt x="21019" y="7060"/>
                  <a:pt x="20362" y="5021"/>
                </a:cubicBezTo>
                <a:cubicBezTo>
                  <a:pt x="19706" y="2962"/>
                  <a:pt x="18392" y="3003"/>
                  <a:pt x="17323" y="2200"/>
                </a:cubicBezTo>
                <a:cubicBezTo>
                  <a:pt x="16254" y="1418"/>
                  <a:pt x="15085" y="471"/>
                  <a:pt x="13949" y="162"/>
                </a:cubicBezTo>
                <a:cubicBezTo>
                  <a:pt x="12814" y="-147"/>
                  <a:pt x="11433" y="18"/>
                  <a:pt x="10487" y="388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2" name="Text Box 580"/>
          <p:cNvSpPr txBox="1"/>
          <p:nvPr/>
        </p:nvSpPr>
        <p:spPr>
          <a:xfrm>
            <a:off x="7724993" y="1488460"/>
            <a:ext cx="12461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mobile network</a:t>
            </a:r>
          </a:p>
        </p:txBody>
      </p:sp>
      <p:sp>
        <p:nvSpPr>
          <p:cNvPr id="793" name="Text Box 580"/>
          <p:cNvSpPr txBox="1"/>
          <p:nvPr/>
        </p:nvSpPr>
        <p:spPr>
          <a:xfrm>
            <a:off x="7376554" y="4191922"/>
            <a:ext cx="186420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0000"/>
              </a:lnSpc>
              <a:defRPr sz="1400"/>
            </a:lvl1pPr>
          </a:lstStyle>
          <a:p>
            <a:pPr/>
            <a:r>
              <a:t>home network</a:t>
            </a:r>
          </a:p>
        </p:txBody>
      </p:sp>
      <p:sp>
        <p:nvSpPr>
          <p:cNvPr id="794" name="Text Box 580"/>
          <p:cNvSpPr txBox="1"/>
          <p:nvPr/>
        </p:nvSpPr>
        <p:spPr>
          <a:xfrm>
            <a:off x="7352628" y="5779775"/>
            <a:ext cx="1108607" cy="47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80000"/>
              </a:lnSpc>
              <a:defRPr sz="1400"/>
            </a:pPr>
            <a:r>
              <a:t>enterprise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lnSpc>
                <a:spcPct val="80000"/>
              </a:lnSpc>
              <a:defRPr sz="1400"/>
            </a:pPr>
            <a:r>
              <a:t>          network</a:t>
            </a:r>
          </a:p>
        </p:txBody>
      </p:sp>
      <p:sp>
        <p:nvSpPr>
          <p:cNvPr id="795" name="Freeform 371"/>
          <p:cNvSpPr/>
          <p:nvPr/>
        </p:nvSpPr>
        <p:spPr>
          <a:xfrm>
            <a:off x="10222145" y="3179539"/>
            <a:ext cx="1273169" cy="1935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7" h="20945" fill="norm" stroke="1" extrusionOk="0">
                <a:moveTo>
                  <a:pt x="518" y="4719"/>
                </a:moveTo>
                <a:cubicBezTo>
                  <a:pt x="-13" y="6632"/>
                  <a:pt x="-204" y="10040"/>
                  <a:pt x="271" y="12041"/>
                </a:cubicBezTo>
                <a:cubicBezTo>
                  <a:pt x="746" y="14041"/>
                  <a:pt x="685" y="15290"/>
                  <a:pt x="3366" y="16725"/>
                </a:cubicBezTo>
                <a:cubicBezTo>
                  <a:pt x="6048" y="18159"/>
                  <a:pt x="13461" y="20187"/>
                  <a:pt x="16360" y="20649"/>
                </a:cubicBezTo>
                <a:cubicBezTo>
                  <a:pt x="19260" y="21111"/>
                  <a:pt x="20132" y="21234"/>
                  <a:pt x="20764" y="19498"/>
                </a:cubicBezTo>
                <a:cubicBezTo>
                  <a:pt x="21396" y="17761"/>
                  <a:pt x="20190" y="13347"/>
                  <a:pt x="20153" y="10230"/>
                </a:cubicBezTo>
                <a:cubicBezTo>
                  <a:pt x="20116" y="7114"/>
                  <a:pt x="21104" y="1964"/>
                  <a:pt x="20540" y="799"/>
                </a:cubicBezTo>
                <a:cubicBezTo>
                  <a:pt x="19976" y="-366"/>
                  <a:pt x="6793" y="-88"/>
                  <a:pt x="3456" y="566"/>
                </a:cubicBezTo>
                <a:cubicBezTo>
                  <a:pt x="119" y="1219"/>
                  <a:pt x="1048" y="2807"/>
                  <a:pt x="518" y="471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04" name="Group 373"/>
          <p:cNvGrpSpPr/>
          <p:nvPr/>
        </p:nvGrpSpPr>
        <p:grpSpPr>
          <a:xfrm>
            <a:off x="10837699" y="3928050"/>
            <a:ext cx="687394" cy="721549"/>
            <a:chOff x="0" y="0"/>
            <a:chExt cx="687392" cy="721548"/>
          </a:xfrm>
        </p:grpSpPr>
        <p:sp>
          <p:nvSpPr>
            <p:cNvPr id="796" name="Freeform 381"/>
            <p:cNvSpPr/>
            <p:nvPr/>
          </p:nvSpPr>
          <p:spPr>
            <a:xfrm>
              <a:off x="267227" y="-1"/>
              <a:ext cx="420166" cy="72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97" name="Freeform 382"/>
            <p:cNvSpPr/>
            <p:nvPr/>
          </p:nvSpPr>
          <p:spPr>
            <a:xfrm>
              <a:off x="0" y="185234"/>
              <a:ext cx="521585" cy="5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98" name="Straight Connector 383"/>
            <p:cNvSpPr/>
            <p:nvPr/>
          </p:nvSpPr>
          <p:spPr>
            <a:xfrm flipV="1">
              <a:off x="54006" y="303213"/>
              <a:ext cx="236450" cy="8002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9" name="Straight Connector 384"/>
            <p:cNvSpPr/>
            <p:nvPr/>
          </p:nvSpPr>
          <p:spPr>
            <a:xfrm flipV="1">
              <a:off x="57914" y="556094"/>
              <a:ext cx="232542" cy="18248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0" name="Straight Connector 385"/>
            <p:cNvSpPr/>
            <p:nvPr/>
          </p:nvSpPr>
          <p:spPr>
            <a:xfrm flipV="1">
              <a:off x="57914" y="436343"/>
              <a:ext cx="232542" cy="52723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1" name="Straight Connector 386"/>
            <p:cNvSpPr/>
            <p:nvPr/>
          </p:nvSpPr>
          <p:spPr>
            <a:xfrm>
              <a:off x="53660" y="656716"/>
              <a:ext cx="236796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2" name="Straight Connector 387"/>
            <p:cNvSpPr/>
            <p:nvPr/>
          </p:nvSpPr>
          <p:spPr>
            <a:xfrm flipV="1">
              <a:off x="598356" y="126039"/>
              <a:ext cx="1" cy="506809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3" name="Straight Connector 388"/>
            <p:cNvSpPr/>
            <p:nvPr/>
          </p:nvSpPr>
          <p:spPr>
            <a:xfrm flipH="1">
              <a:off x="340761" y="202125"/>
              <a:ext cx="1" cy="519424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13" name="Group 390"/>
          <p:cNvGrpSpPr/>
          <p:nvPr/>
        </p:nvGrpSpPr>
        <p:grpSpPr>
          <a:xfrm>
            <a:off x="10771171" y="3194170"/>
            <a:ext cx="594614" cy="648337"/>
            <a:chOff x="0" y="0"/>
            <a:chExt cx="594613" cy="648335"/>
          </a:xfrm>
        </p:grpSpPr>
        <p:sp>
          <p:nvSpPr>
            <p:cNvPr id="805" name="Freeform 398"/>
            <p:cNvSpPr/>
            <p:nvPr/>
          </p:nvSpPr>
          <p:spPr>
            <a:xfrm>
              <a:off x="231158" y="0"/>
              <a:ext cx="363455" cy="64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06" name="Freeform 399"/>
            <p:cNvSpPr/>
            <p:nvPr/>
          </p:nvSpPr>
          <p:spPr>
            <a:xfrm>
              <a:off x="-1" y="166439"/>
              <a:ext cx="451186" cy="48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07" name="Straight Connector 400"/>
            <p:cNvSpPr/>
            <p:nvPr/>
          </p:nvSpPr>
          <p:spPr>
            <a:xfrm flipV="1">
              <a:off x="46717" y="272447"/>
              <a:ext cx="204536" cy="7190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8" name="Straight Connector 401"/>
            <p:cNvSpPr/>
            <p:nvPr/>
          </p:nvSpPr>
          <p:spPr>
            <a:xfrm flipV="1">
              <a:off x="50097" y="499671"/>
              <a:ext cx="201155" cy="16396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9" name="Straight Connector 402"/>
            <p:cNvSpPr/>
            <p:nvPr/>
          </p:nvSpPr>
          <p:spPr>
            <a:xfrm flipV="1">
              <a:off x="50097" y="392068"/>
              <a:ext cx="201155" cy="47374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0" name="Straight Connector 403"/>
            <p:cNvSpPr/>
            <p:nvPr/>
          </p:nvSpPr>
          <p:spPr>
            <a:xfrm>
              <a:off x="46418" y="590082"/>
              <a:ext cx="204835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1" name="Straight Connector 404"/>
            <p:cNvSpPr/>
            <p:nvPr/>
          </p:nvSpPr>
          <p:spPr>
            <a:xfrm flipV="1">
              <a:off x="517593" y="113251"/>
              <a:ext cx="1" cy="455385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2" name="Straight Connector 405"/>
            <p:cNvSpPr/>
            <p:nvPr/>
          </p:nvSpPr>
          <p:spPr>
            <a:xfrm flipH="1">
              <a:off x="294767" y="181616"/>
              <a:ext cx="1" cy="466720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14" name="Freeform 561"/>
          <p:cNvSpPr/>
          <p:nvPr/>
        </p:nvSpPr>
        <p:spPr>
          <a:xfrm>
            <a:off x="9540812" y="1782042"/>
            <a:ext cx="1497866" cy="1386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83" h="20611" fill="norm" stroke="1" extrusionOk="0">
                <a:moveTo>
                  <a:pt x="1755" y="1299"/>
                </a:moveTo>
                <a:cubicBezTo>
                  <a:pt x="-1661" y="2817"/>
                  <a:pt x="832" y="7519"/>
                  <a:pt x="1567" y="10647"/>
                </a:cubicBezTo>
                <a:cubicBezTo>
                  <a:pt x="2301" y="13775"/>
                  <a:pt x="4122" y="18876"/>
                  <a:pt x="6162" y="20070"/>
                </a:cubicBezTo>
                <a:cubicBezTo>
                  <a:pt x="8201" y="21264"/>
                  <a:pt x="12080" y="20470"/>
                  <a:pt x="13806" y="17812"/>
                </a:cubicBezTo>
                <a:cubicBezTo>
                  <a:pt x="15532" y="15155"/>
                  <a:pt x="18183" y="18900"/>
                  <a:pt x="19061" y="17194"/>
                </a:cubicBezTo>
                <a:cubicBezTo>
                  <a:pt x="19939" y="15489"/>
                  <a:pt x="19192" y="10293"/>
                  <a:pt x="19074" y="7579"/>
                </a:cubicBezTo>
                <a:cubicBezTo>
                  <a:pt x="18955" y="4865"/>
                  <a:pt x="18817" y="2156"/>
                  <a:pt x="18352" y="910"/>
                </a:cubicBezTo>
                <a:cubicBezTo>
                  <a:pt x="17887" y="-336"/>
                  <a:pt x="14336" y="38"/>
                  <a:pt x="11570" y="103"/>
                </a:cubicBezTo>
                <a:cubicBezTo>
                  <a:pt x="8804" y="167"/>
                  <a:pt x="5171" y="-218"/>
                  <a:pt x="1755" y="129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5" name="TextBox 572"/>
          <p:cNvSpPr txBox="1"/>
          <p:nvPr/>
        </p:nvSpPr>
        <p:spPr>
          <a:xfrm>
            <a:off x="9472921" y="1851194"/>
            <a:ext cx="16269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national or global ISP</a:t>
            </a:r>
          </a:p>
        </p:txBody>
      </p:sp>
      <p:sp>
        <p:nvSpPr>
          <p:cNvPr id="816" name="Rectangle 654"/>
          <p:cNvSpPr/>
          <p:nvPr/>
        </p:nvSpPr>
        <p:spPr>
          <a:xfrm>
            <a:off x="9279067" y="3677908"/>
            <a:ext cx="305750" cy="197848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7" name="TextBox 652"/>
          <p:cNvSpPr txBox="1"/>
          <p:nvPr/>
        </p:nvSpPr>
        <p:spPr>
          <a:xfrm>
            <a:off x="8811881" y="3447918"/>
            <a:ext cx="949200" cy="490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local or regional ISP</a:t>
            </a:r>
          </a:p>
        </p:txBody>
      </p:sp>
      <p:sp>
        <p:nvSpPr>
          <p:cNvPr id="818" name="TextBox 656"/>
          <p:cNvSpPr txBox="1"/>
          <p:nvPr/>
        </p:nvSpPr>
        <p:spPr>
          <a:xfrm>
            <a:off x="10963486" y="4677936"/>
            <a:ext cx="692137" cy="37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000"/>
            </a:pPr>
            <a:r>
              <a:t>datacenter </a:t>
            </a:r>
          </a:p>
          <a:p>
            <a:pPr>
              <a:lnSpc>
                <a:spcPct val="90000"/>
              </a:lnSpc>
              <a:defRPr sz="1000"/>
            </a:pPr>
            <a:r>
              <a:t>network</a:t>
            </a:r>
          </a:p>
        </p:txBody>
      </p:sp>
      <p:sp>
        <p:nvSpPr>
          <p:cNvPr id="819" name="TextBox 657"/>
          <p:cNvSpPr txBox="1"/>
          <p:nvPr/>
        </p:nvSpPr>
        <p:spPr>
          <a:xfrm>
            <a:off x="10108738" y="4228248"/>
            <a:ext cx="754830" cy="700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400"/>
            </a:pPr>
            <a:r>
              <a:t>content </a:t>
            </a:r>
          </a:p>
          <a:p>
            <a:pPr>
              <a:lnSpc>
                <a:spcPct val="90000"/>
              </a:lnSpc>
              <a:defRPr sz="1400"/>
            </a:pPr>
            <a:r>
              <a:t>provider </a:t>
            </a:r>
          </a:p>
          <a:p>
            <a:pPr>
              <a:lnSpc>
                <a:spcPct val="90000"/>
              </a:lnSpc>
              <a:defRPr sz="1400"/>
            </a:pPr>
            <a:r>
              <a:t>network</a:t>
            </a:r>
          </a:p>
        </p:txBody>
      </p:sp>
      <p:grpSp>
        <p:nvGrpSpPr>
          <p:cNvPr id="861" name="Group 1024"/>
          <p:cNvGrpSpPr/>
          <p:nvPr/>
        </p:nvGrpSpPr>
        <p:grpSpPr>
          <a:xfrm>
            <a:off x="7562237" y="2127325"/>
            <a:ext cx="3578868" cy="3640284"/>
            <a:chOff x="0" y="0"/>
            <a:chExt cx="3578866" cy="3640283"/>
          </a:xfrm>
        </p:grpSpPr>
        <p:sp>
          <p:nvSpPr>
            <p:cNvPr id="820" name="Straight Connector 829"/>
            <p:cNvSpPr/>
            <p:nvPr/>
          </p:nvSpPr>
          <p:spPr>
            <a:xfrm flipH="1" flipV="1">
              <a:off x="2997681" y="1452800"/>
              <a:ext cx="412965" cy="63712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1" name="Straight Connector 826"/>
            <p:cNvSpPr/>
            <p:nvPr/>
          </p:nvSpPr>
          <p:spPr>
            <a:xfrm flipH="1" flipV="1">
              <a:off x="3098597" y="1513359"/>
              <a:ext cx="345866" cy="738975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2" name="Straight Connector 824"/>
            <p:cNvSpPr/>
            <p:nvPr/>
          </p:nvSpPr>
          <p:spPr>
            <a:xfrm flipV="1">
              <a:off x="3074658" y="1506096"/>
              <a:ext cx="335987" cy="39534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3" name="Straight Connector 822"/>
            <p:cNvSpPr/>
            <p:nvPr/>
          </p:nvSpPr>
          <p:spPr>
            <a:xfrm flipV="1">
              <a:off x="3009806" y="1467571"/>
              <a:ext cx="1" cy="4857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4" name="Straight Connector 818"/>
            <p:cNvSpPr/>
            <p:nvPr/>
          </p:nvSpPr>
          <p:spPr>
            <a:xfrm flipH="1" flipV="1">
              <a:off x="2988382" y="1944316"/>
              <a:ext cx="508543" cy="3486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5" name="Straight Connector 817"/>
            <p:cNvSpPr/>
            <p:nvPr/>
          </p:nvSpPr>
          <p:spPr>
            <a:xfrm flipH="1">
              <a:off x="2332957" y="1960416"/>
              <a:ext cx="65542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6" name="Straight Connector 815"/>
            <p:cNvSpPr/>
            <p:nvPr/>
          </p:nvSpPr>
          <p:spPr>
            <a:xfrm flipH="1">
              <a:off x="1657378" y="1960416"/>
              <a:ext cx="65542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7" name="Straight Connector 812"/>
            <p:cNvSpPr/>
            <p:nvPr/>
          </p:nvSpPr>
          <p:spPr>
            <a:xfrm flipH="1">
              <a:off x="1714630" y="1380346"/>
              <a:ext cx="382424" cy="51705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8" name="Straight Connector 810"/>
            <p:cNvSpPr/>
            <p:nvPr/>
          </p:nvSpPr>
          <p:spPr>
            <a:xfrm>
              <a:off x="2170830" y="1380346"/>
              <a:ext cx="1" cy="540294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9" name="Straight Connector 807"/>
            <p:cNvSpPr/>
            <p:nvPr/>
          </p:nvSpPr>
          <p:spPr>
            <a:xfrm>
              <a:off x="2575429" y="627367"/>
              <a:ext cx="488174" cy="83933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30" name="Straight Connector 562"/>
            <p:cNvSpPr/>
            <p:nvPr/>
          </p:nvSpPr>
          <p:spPr>
            <a:xfrm flipH="1">
              <a:off x="2236481" y="567688"/>
              <a:ext cx="380432" cy="69480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860" name="Group 802"/>
            <p:cNvGrpSpPr/>
            <p:nvPr/>
          </p:nvGrpSpPr>
          <p:grpSpPr>
            <a:xfrm>
              <a:off x="0" y="0"/>
              <a:ext cx="3578867" cy="3640284"/>
              <a:chOff x="0" y="0"/>
              <a:chExt cx="3578866" cy="3640283"/>
            </a:xfrm>
          </p:grpSpPr>
          <p:grpSp>
            <p:nvGrpSpPr>
              <p:cNvPr id="855" name="Group 799"/>
              <p:cNvGrpSpPr/>
              <p:nvPr/>
            </p:nvGrpSpPr>
            <p:grpSpPr>
              <a:xfrm>
                <a:off x="295014" y="0"/>
                <a:ext cx="3283853" cy="3640284"/>
                <a:chOff x="0" y="0"/>
                <a:chExt cx="3283851" cy="3640283"/>
              </a:xfrm>
            </p:grpSpPr>
            <p:sp>
              <p:nvSpPr>
                <p:cNvPr id="831" name="Line 428"/>
                <p:cNvSpPr/>
                <p:nvPr/>
              </p:nvSpPr>
              <p:spPr>
                <a:xfrm flipH="1" flipV="1">
                  <a:off x="2122607" y="2934163"/>
                  <a:ext cx="7560" cy="38806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2" name="Line 430"/>
                <p:cNvSpPr/>
                <p:nvPr/>
              </p:nvSpPr>
              <p:spPr>
                <a:xfrm>
                  <a:off x="2296157" y="3335745"/>
                  <a:ext cx="11430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3" name="Line 431"/>
                <p:cNvSpPr/>
                <p:nvPr/>
              </p:nvSpPr>
              <p:spPr>
                <a:xfrm>
                  <a:off x="1575705" y="2711191"/>
                  <a:ext cx="524483" cy="26153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4" name="Line 432"/>
                <p:cNvSpPr/>
                <p:nvPr/>
              </p:nvSpPr>
              <p:spPr>
                <a:xfrm flipV="1">
                  <a:off x="992812" y="2711192"/>
                  <a:ext cx="569256" cy="246266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5" name="Line 433"/>
                <p:cNvSpPr/>
                <p:nvPr/>
              </p:nvSpPr>
              <p:spPr>
                <a:xfrm>
                  <a:off x="964490" y="2982820"/>
                  <a:ext cx="1030502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6" name="Line 435"/>
                <p:cNvSpPr/>
                <p:nvPr/>
              </p:nvSpPr>
              <p:spPr>
                <a:xfrm>
                  <a:off x="352954" y="2990008"/>
                  <a:ext cx="226800" cy="1270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7" name="Line 436"/>
                <p:cNvSpPr/>
                <p:nvPr/>
              </p:nvSpPr>
              <p:spPr>
                <a:xfrm flipV="1">
                  <a:off x="91114" y="3163145"/>
                  <a:ext cx="412750" cy="1270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8" name="Line 439"/>
                <p:cNvSpPr/>
                <p:nvPr/>
              </p:nvSpPr>
              <p:spPr>
                <a:xfrm flipH="1">
                  <a:off x="516565" y="3154926"/>
                  <a:ext cx="68080" cy="29396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9" name="Line 440"/>
                <p:cNvSpPr/>
                <p:nvPr/>
              </p:nvSpPr>
              <p:spPr>
                <a:xfrm flipH="1" flipV="1">
                  <a:off x="631478" y="3180606"/>
                  <a:ext cx="280374" cy="269876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0" name="Line 441"/>
                <p:cNvSpPr/>
                <p:nvPr/>
              </p:nvSpPr>
              <p:spPr>
                <a:xfrm>
                  <a:off x="631477" y="3130722"/>
                  <a:ext cx="914185" cy="46862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1" name="Line 443"/>
                <p:cNvSpPr/>
                <p:nvPr/>
              </p:nvSpPr>
              <p:spPr>
                <a:xfrm flipH="1">
                  <a:off x="390525" y="1702644"/>
                  <a:ext cx="1" cy="13176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2" name="Line 449"/>
                <p:cNvSpPr/>
                <p:nvPr/>
              </p:nvSpPr>
              <p:spPr>
                <a:xfrm flipV="1">
                  <a:off x="0" y="1913782"/>
                  <a:ext cx="168275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3" name="Line 428"/>
                <p:cNvSpPr/>
                <p:nvPr/>
              </p:nvSpPr>
              <p:spPr>
                <a:xfrm flipH="1" flipV="1">
                  <a:off x="2210948" y="3273491"/>
                  <a:ext cx="1482" cy="36679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4" name="Line 440"/>
                <p:cNvSpPr/>
                <p:nvPr/>
              </p:nvSpPr>
              <p:spPr>
                <a:xfrm flipV="1">
                  <a:off x="602172" y="2909237"/>
                  <a:ext cx="404236" cy="20777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5" name="Straight Connector 563"/>
                <p:cNvSpPr/>
                <p:nvPr/>
              </p:nvSpPr>
              <p:spPr>
                <a:xfrm flipH="1">
                  <a:off x="2243382" y="42107"/>
                  <a:ext cx="761467" cy="5773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6" name="Straight Connector 564"/>
                <p:cNvSpPr/>
                <p:nvPr/>
              </p:nvSpPr>
              <p:spPr>
                <a:xfrm flipH="1">
                  <a:off x="2243382" y="140988"/>
                  <a:ext cx="3970" cy="51846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7" name="Straight Connector 565"/>
                <p:cNvSpPr/>
                <p:nvPr/>
              </p:nvSpPr>
              <p:spPr>
                <a:xfrm flipH="1">
                  <a:off x="2814882" y="73181"/>
                  <a:ext cx="149360" cy="51846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8" name="Straight Connector 566"/>
                <p:cNvSpPr/>
                <p:nvPr/>
              </p:nvSpPr>
              <p:spPr>
                <a:xfrm flipH="1">
                  <a:off x="2284912" y="591642"/>
                  <a:ext cx="574284" cy="2782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9" name="Straight Connector 567"/>
                <p:cNvSpPr/>
                <p:nvPr/>
              </p:nvSpPr>
              <p:spPr>
                <a:xfrm flipH="1">
                  <a:off x="2212289" y="42107"/>
                  <a:ext cx="788589" cy="9888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0" name="Straight Connector 568"/>
                <p:cNvSpPr/>
                <p:nvPr/>
              </p:nvSpPr>
              <p:spPr>
                <a:xfrm flipH="1">
                  <a:off x="3004849" y="0"/>
                  <a:ext cx="279003" cy="4210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1" name="Straight Connector 569"/>
                <p:cNvSpPr/>
                <p:nvPr/>
              </p:nvSpPr>
              <p:spPr>
                <a:xfrm flipH="1" flipV="1">
                  <a:off x="2824741" y="591643"/>
                  <a:ext cx="353541" cy="6780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2" name="Straight Connector 573"/>
                <p:cNvSpPr/>
                <p:nvPr/>
              </p:nvSpPr>
              <p:spPr>
                <a:xfrm flipH="1">
                  <a:off x="911970" y="140988"/>
                  <a:ext cx="1300319" cy="60662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3" name="Line 541"/>
                <p:cNvSpPr/>
                <p:nvPr/>
              </p:nvSpPr>
              <p:spPr>
                <a:xfrm flipV="1">
                  <a:off x="1521451" y="1986054"/>
                  <a:ext cx="429325" cy="70560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4" name="Line 424"/>
                <p:cNvSpPr/>
                <p:nvPr/>
              </p:nvSpPr>
              <p:spPr>
                <a:xfrm flipV="1">
                  <a:off x="387301" y="1920131"/>
                  <a:ext cx="969051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pic>
            <p:nvPicPr>
              <p:cNvPr id="856" name="Picture 778" descr="Picture 778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1686604"/>
                <a:ext cx="506413" cy="10601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57" name="Picture 781" descr="Picture 781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1679834" y="3353612"/>
                <a:ext cx="452015" cy="9516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58" name="Picture 799" descr="Picture 799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418628" y="30842"/>
                <a:ext cx="457200" cy="3327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859" name="Oval 800"/>
              <p:cNvSpPr/>
              <p:nvPr/>
            </p:nvSpPr>
            <p:spPr>
              <a:xfrm>
                <a:off x="612303" y="165670"/>
                <a:ext cx="52389" cy="49485"/>
              </a:xfrm>
              <a:prstGeom prst="ellipse">
                <a:avLst/>
              </a:prstGeom>
              <a:solidFill>
                <a:srgbClr val="44546A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  <p:grpSp>
        <p:nvGrpSpPr>
          <p:cNvPr id="895" name="Group 786"/>
          <p:cNvGrpSpPr/>
          <p:nvPr/>
        </p:nvGrpSpPr>
        <p:grpSpPr>
          <a:xfrm>
            <a:off x="7414072" y="1891912"/>
            <a:ext cx="1909778" cy="938011"/>
            <a:chOff x="0" y="0"/>
            <a:chExt cx="1909777" cy="938010"/>
          </a:xfrm>
        </p:grpSpPr>
        <p:grpSp>
          <p:nvGrpSpPr>
            <p:cNvPr id="864" name="Group 652"/>
            <p:cNvGrpSpPr/>
            <p:nvPr/>
          </p:nvGrpSpPr>
          <p:grpSpPr>
            <a:xfrm>
              <a:off x="311150" y="0"/>
              <a:ext cx="415926" cy="385763"/>
              <a:chOff x="0" y="0"/>
              <a:chExt cx="415925" cy="385762"/>
            </a:xfrm>
          </p:grpSpPr>
          <p:pic>
            <p:nvPicPr>
              <p:cNvPr id="862" name="Picture 653" descr="Picture 653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159347" y="57299"/>
                <a:ext cx="136843" cy="3284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63" name="Picture 654" descr="Picture 654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0" y="0"/>
                <a:ext cx="415925" cy="8877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888" name="Group 784"/>
            <p:cNvGrpSpPr/>
            <p:nvPr/>
          </p:nvGrpSpPr>
          <p:grpSpPr>
            <a:xfrm>
              <a:off x="-1" y="496887"/>
              <a:ext cx="534989" cy="414884"/>
              <a:chOff x="0" y="0"/>
              <a:chExt cx="534987" cy="414882"/>
            </a:xfrm>
          </p:grpSpPr>
          <p:pic>
            <p:nvPicPr>
              <p:cNvPr id="865" name="Picture 1017" descr="Picture 1017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0"/>
                <a:ext cx="530703" cy="22375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66" name="Picture 1018" descr="Picture 1018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 flipH="1" rot="109063">
                <a:off x="25707" y="248476"/>
                <a:ext cx="437221" cy="15951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867" name="Freeform 1019"/>
              <p:cNvSpPr/>
              <p:nvPr/>
            </p:nvSpPr>
            <p:spPr>
              <a:xfrm>
                <a:off x="170604" y="93690"/>
                <a:ext cx="351920" cy="2081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911" y="0"/>
                    </a:moveTo>
                    <a:lnTo>
                      <a:pt x="0" y="15338"/>
                    </a:lnTo>
                    <a:lnTo>
                      <a:pt x="17341" y="21600"/>
                    </a:lnTo>
                    <a:lnTo>
                      <a:pt x="21600" y="2813"/>
                    </a:lnTo>
                    <a:lnTo>
                      <a:pt x="39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868" name="Picture 1020" descr="Picture 1020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187936" y="99044"/>
                <a:ext cx="319787" cy="18943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869" name="Freeform 1021"/>
              <p:cNvSpPr/>
              <p:nvPr/>
            </p:nvSpPr>
            <p:spPr>
              <a:xfrm>
                <a:off x="234678" y="87549"/>
                <a:ext cx="298168" cy="387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0"/>
                    </a:moveTo>
                    <a:lnTo>
                      <a:pt x="21600" y="16188"/>
                    </a:lnTo>
                    <a:lnTo>
                      <a:pt x="21190" y="21600"/>
                    </a:lnTo>
                    <a:lnTo>
                      <a:pt x="0" y="4083"/>
                    </a:lnTo>
                    <a:lnTo>
                      <a:pt x="12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70" name="Freeform 1022"/>
              <p:cNvSpPr/>
              <p:nvPr/>
            </p:nvSpPr>
            <p:spPr>
              <a:xfrm>
                <a:off x="167487" y="87234"/>
                <a:ext cx="82772" cy="1612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15" y="0"/>
                    </a:moveTo>
                    <a:lnTo>
                      <a:pt x="0" y="21326"/>
                    </a:lnTo>
                    <a:lnTo>
                      <a:pt x="3508" y="21600"/>
                    </a:lnTo>
                    <a:lnTo>
                      <a:pt x="21600" y="582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71" name="Freeform 1023"/>
              <p:cNvSpPr/>
              <p:nvPr/>
            </p:nvSpPr>
            <p:spPr>
              <a:xfrm>
                <a:off x="441505" y="116050"/>
                <a:ext cx="89198" cy="1861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3943" y="21600"/>
                    </a:lnTo>
                    <a:lnTo>
                      <a:pt x="0" y="21244"/>
                    </a:lnTo>
                    <a:lnTo>
                      <a:pt x="17314" y="771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72" name="Freeform 1024"/>
              <p:cNvSpPr/>
              <p:nvPr/>
            </p:nvSpPr>
            <p:spPr>
              <a:xfrm>
                <a:off x="166513" y="240288"/>
                <a:ext cx="305138" cy="62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44" h="21600" fill="norm" stroke="1" extrusionOk="0">
                    <a:moveTo>
                      <a:pt x="257" y="0"/>
                    </a:moveTo>
                    <a:lnTo>
                      <a:pt x="0" y="2898"/>
                    </a:lnTo>
                    <a:lnTo>
                      <a:pt x="18975" y="21600"/>
                    </a:lnTo>
                    <a:cubicBezTo>
                      <a:pt x="19466" y="14663"/>
                      <a:pt x="21600" y="21278"/>
                      <a:pt x="18484" y="17649"/>
                    </a:cubicBezTo>
                    <a:lnTo>
                      <a:pt x="257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73" name="Freeform 1025"/>
              <p:cNvSpPr/>
              <p:nvPr/>
            </p:nvSpPr>
            <p:spPr>
              <a:xfrm>
                <a:off x="451438" y="117624"/>
                <a:ext cx="83550" cy="186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854" y="0"/>
                    </a:moveTo>
                    <a:lnTo>
                      <a:pt x="21600" y="0"/>
                    </a:lnTo>
                    <a:lnTo>
                      <a:pt x="2306" y="21600"/>
                    </a:lnTo>
                    <a:lnTo>
                      <a:pt x="0" y="21444"/>
                    </a:lnTo>
                    <a:lnTo>
                      <a:pt x="20854" y="0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74" name="Freeform 1026"/>
              <p:cNvSpPr/>
              <p:nvPr/>
            </p:nvSpPr>
            <p:spPr>
              <a:xfrm>
                <a:off x="166903" y="248634"/>
                <a:ext cx="290962" cy="62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88" y="2239"/>
                    </a:lnTo>
                    <a:lnTo>
                      <a:pt x="21093" y="21600"/>
                    </a:lnTo>
                    <a:lnTo>
                      <a:pt x="21600" y="19479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881" name="Group 1027"/>
              <p:cNvGrpSpPr/>
              <p:nvPr/>
            </p:nvGrpSpPr>
            <p:grpSpPr>
              <a:xfrm>
                <a:off x="162035" y="314926"/>
                <a:ext cx="98740" cy="36944"/>
                <a:chOff x="0" y="0"/>
                <a:chExt cx="98739" cy="36942"/>
              </a:xfrm>
            </p:grpSpPr>
            <p:sp>
              <p:nvSpPr>
                <p:cNvPr id="875" name="Freeform 1028"/>
                <p:cNvSpPr/>
                <p:nvPr/>
              </p:nvSpPr>
              <p:spPr>
                <a:xfrm>
                  <a:off x="0" y="-1"/>
                  <a:ext cx="98740" cy="368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416" y="0"/>
                      </a:moveTo>
                      <a:lnTo>
                        <a:pt x="21600" y="8191"/>
                      </a:lnTo>
                      <a:lnTo>
                        <a:pt x="13500" y="21600"/>
                      </a:lnTo>
                      <a:lnTo>
                        <a:pt x="0" y="12088"/>
                      </a:lnTo>
                      <a:lnTo>
                        <a:pt x="841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6" name="Freeform 1029"/>
                <p:cNvSpPr/>
                <p:nvPr/>
              </p:nvSpPr>
              <p:spPr>
                <a:xfrm>
                  <a:off x="1838" y="788"/>
                  <a:ext cx="95327" cy="3504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390" y="0"/>
                      </a:moveTo>
                      <a:lnTo>
                        <a:pt x="21600" y="8265"/>
                      </a:lnTo>
                      <a:lnTo>
                        <a:pt x="13597" y="21600"/>
                      </a:lnTo>
                      <a:lnTo>
                        <a:pt x="0" y="12015"/>
                      </a:lnTo>
                      <a:lnTo>
                        <a:pt x="839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7" name="Freeform 1030"/>
                <p:cNvSpPr/>
                <p:nvPr/>
              </p:nvSpPr>
              <p:spPr>
                <a:xfrm>
                  <a:off x="8928" y="13706"/>
                  <a:ext cx="33877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04"/>
                      </a:moveTo>
                      <a:lnTo>
                        <a:pt x="6279" y="0"/>
                      </a:lnTo>
                      <a:lnTo>
                        <a:pt x="21600" y="10800"/>
                      </a:lnTo>
                      <a:lnTo>
                        <a:pt x="15321" y="21600"/>
                      </a:lnTo>
                      <a:lnTo>
                        <a:pt x="0" y="950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8" name="Freeform 1031"/>
                <p:cNvSpPr/>
                <p:nvPr/>
              </p:nvSpPr>
              <p:spPr>
                <a:xfrm>
                  <a:off x="7746" y="16805"/>
                  <a:ext cx="25474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9" name="Freeform 1032"/>
                <p:cNvSpPr/>
                <p:nvPr/>
              </p:nvSpPr>
              <p:spPr>
                <a:xfrm>
                  <a:off x="36764" y="21030"/>
                  <a:ext cx="33878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741"/>
                      </a:moveTo>
                      <a:lnTo>
                        <a:pt x="5944" y="0"/>
                      </a:lnTo>
                      <a:lnTo>
                        <a:pt x="21600" y="11012"/>
                      </a:lnTo>
                      <a:lnTo>
                        <a:pt x="15321" y="21600"/>
                      </a:lnTo>
                      <a:lnTo>
                        <a:pt x="0" y="97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80" name="Freeform 1033"/>
                <p:cNvSpPr/>
                <p:nvPr/>
              </p:nvSpPr>
              <p:spPr>
                <a:xfrm>
                  <a:off x="35583" y="24242"/>
                  <a:ext cx="25473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82" name="Freeform 1034"/>
              <p:cNvSpPr/>
              <p:nvPr/>
            </p:nvSpPr>
            <p:spPr>
              <a:xfrm>
                <a:off x="331080" y="320437"/>
                <a:ext cx="119579" cy="809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5" y="20127"/>
                    </a:moveTo>
                    <a:lnTo>
                      <a:pt x="21600" y="0"/>
                    </a:lnTo>
                    <a:lnTo>
                      <a:pt x="21535" y="1636"/>
                    </a:lnTo>
                    <a:lnTo>
                      <a:pt x="0" y="21600"/>
                    </a:lnTo>
                    <a:lnTo>
                      <a:pt x="65" y="20127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3" name="Freeform 1035"/>
              <p:cNvSpPr/>
              <p:nvPr/>
            </p:nvSpPr>
            <p:spPr>
              <a:xfrm>
                <a:off x="25901" y="326893"/>
                <a:ext cx="305959" cy="73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4" name="Freeform 1036"/>
              <p:cNvSpPr/>
              <p:nvPr/>
            </p:nvSpPr>
            <p:spPr>
              <a:xfrm>
                <a:off x="21402" y="313351"/>
                <a:ext cx="12701" cy="149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469"/>
                    </a:moveTo>
                    <a:lnTo>
                      <a:pt x="19108" y="21600"/>
                    </a:lnTo>
                    <a:lnTo>
                      <a:pt x="0" y="21159"/>
                    </a:lnTo>
                    <a:lnTo>
                      <a:pt x="2492" y="0"/>
                    </a:lnTo>
                    <a:lnTo>
                      <a:pt x="21600" y="1469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5" name="Freeform 1037"/>
              <p:cNvSpPr/>
              <p:nvPr/>
            </p:nvSpPr>
            <p:spPr>
              <a:xfrm>
                <a:off x="26291" y="252413"/>
                <a:ext cx="142172" cy="618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0" y="0"/>
                    </a:moveTo>
                    <a:lnTo>
                      <a:pt x="0" y="21279"/>
                    </a:lnTo>
                    <a:lnTo>
                      <a:pt x="551" y="21600"/>
                    </a:lnTo>
                    <a:lnTo>
                      <a:pt x="21600" y="642"/>
                    </a:lnTo>
                    <a:lnTo>
                      <a:pt x="21490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6" name="Freeform 1038"/>
              <p:cNvSpPr/>
              <p:nvPr/>
            </p:nvSpPr>
            <p:spPr>
              <a:xfrm>
                <a:off x="35835" y="316501"/>
                <a:ext cx="290182" cy="71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7" name="Freeform 1039"/>
              <p:cNvSpPr/>
              <p:nvPr/>
            </p:nvSpPr>
            <p:spPr>
              <a:xfrm flipH="1" rot="10800000">
                <a:off x="325627" y="311462"/>
                <a:ext cx="118410" cy="735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91" name="Group 739"/>
            <p:cNvGrpSpPr/>
            <p:nvPr/>
          </p:nvGrpSpPr>
          <p:grpSpPr>
            <a:xfrm>
              <a:off x="1198707" y="460001"/>
              <a:ext cx="530703" cy="478010"/>
              <a:chOff x="0" y="0"/>
              <a:chExt cx="530702" cy="478008"/>
            </a:xfrm>
          </p:grpSpPr>
          <p:pic>
            <p:nvPicPr>
              <p:cNvPr id="889" name="Picture 568" descr="Picture 568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 flipH="1">
                <a:off x="193886" y="72561"/>
                <a:ext cx="92773" cy="4054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90" name="Picture 1017" descr="Picture 1017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-1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894" name="Group 785"/>
            <p:cNvGrpSpPr/>
            <p:nvPr/>
          </p:nvGrpSpPr>
          <p:grpSpPr>
            <a:xfrm>
              <a:off x="1060465" y="199398"/>
              <a:ext cx="849313" cy="226110"/>
              <a:chOff x="0" y="0"/>
              <a:chExt cx="849312" cy="226109"/>
            </a:xfrm>
          </p:grpSpPr>
          <p:pic>
            <p:nvPicPr>
              <p:cNvPr id="892" name="Picture 603" descr="Picture 603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0" y="57833"/>
                <a:ext cx="849313" cy="16827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93" name="Picture 1017" descr="Picture 1017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211480" y="-1"/>
                <a:ext cx="530703" cy="22375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926" name="Group 792"/>
          <p:cNvGrpSpPr/>
          <p:nvPr/>
        </p:nvGrpSpPr>
        <p:grpSpPr>
          <a:xfrm>
            <a:off x="7468516" y="3357610"/>
            <a:ext cx="857740" cy="583765"/>
            <a:chOff x="0" y="0"/>
            <a:chExt cx="857739" cy="583763"/>
          </a:xfrm>
        </p:grpSpPr>
        <p:grpSp>
          <p:nvGrpSpPr>
            <p:cNvPr id="919" name="Group 791"/>
            <p:cNvGrpSpPr/>
            <p:nvPr/>
          </p:nvGrpSpPr>
          <p:grpSpPr>
            <a:xfrm>
              <a:off x="0" y="93716"/>
              <a:ext cx="350808" cy="310034"/>
              <a:chOff x="0" y="0"/>
              <a:chExt cx="350807" cy="310033"/>
            </a:xfrm>
          </p:grpSpPr>
          <p:pic>
            <p:nvPicPr>
              <p:cNvPr id="896" name="Picture 1115" descr="Picture 1115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0" y="0"/>
                <a:ext cx="347997" cy="1675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897" name="Picture 1116" descr="Picture 1116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 flipH="1" rot="109063">
                <a:off x="16857" y="186068"/>
                <a:ext cx="286699" cy="11944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898" name="Freeform 1117"/>
              <p:cNvSpPr/>
              <p:nvPr/>
            </p:nvSpPr>
            <p:spPr>
              <a:xfrm>
                <a:off x="111869" y="70158"/>
                <a:ext cx="230766" cy="1558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911" y="0"/>
                    </a:moveTo>
                    <a:lnTo>
                      <a:pt x="0" y="15338"/>
                    </a:lnTo>
                    <a:lnTo>
                      <a:pt x="17341" y="21600"/>
                    </a:lnTo>
                    <a:lnTo>
                      <a:pt x="21600" y="2813"/>
                    </a:lnTo>
                    <a:lnTo>
                      <a:pt x="39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899" name="Picture 1118" descr="Picture 1118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>
                <a:off x="123236" y="74167"/>
                <a:ext cx="209692" cy="1418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00" name="Freeform 1119"/>
              <p:cNvSpPr/>
              <p:nvPr/>
            </p:nvSpPr>
            <p:spPr>
              <a:xfrm>
                <a:off x="153884" y="65560"/>
                <a:ext cx="195518" cy="290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0"/>
                    </a:moveTo>
                    <a:lnTo>
                      <a:pt x="21600" y="16188"/>
                    </a:lnTo>
                    <a:lnTo>
                      <a:pt x="21190" y="21600"/>
                    </a:lnTo>
                    <a:lnTo>
                      <a:pt x="0" y="4083"/>
                    </a:lnTo>
                    <a:lnTo>
                      <a:pt x="12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01" name="Freeform 1120"/>
              <p:cNvSpPr/>
              <p:nvPr/>
            </p:nvSpPr>
            <p:spPr>
              <a:xfrm>
                <a:off x="109826" y="65324"/>
                <a:ext cx="54277" cy="120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15" y="0"/>
                    </a:moveTo>
                    <a:lnTo>
                      <a:pt x="0" y="21326"/>
                    </a:lnTo>
                    <a:lnTo>
                      <a:pt x="3508" y="21600"/>
                    </a:lnTo>
                    <a:lnTo>
                      <a:pt x="21600" y="582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02" name="Freeform 1121"/>
              <p:cNvSpPr/>
              <p:nvPr/>
            </p:nvSpPr>
            <p:spPr>
              <a:xfrm>
                <a:off x="289508" y="86902"/>
                <a:ext cx="58490" cy="139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3943" y="21600"/>
                    </a:lnTo>
                    <a:lnTo>
                      <a:pt x="0" y="21244"/>
                    </a:lnTo>
                    <a:lnTo>
                      <a:pt x="17314" y="771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03" name="Freeform 1122"/>
              <p:cNvSpPr/>
              <p:nvPr/>
            </p:nvSpPr>
            <p:spPr>
              <a:xfrm>
                <a:off x="109188" y="179937"/>
                <a:ext cx="200088" cy="470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44" h="21600" fill="norm" stroke="1" extrusionOk="0">
                    <a:moveTo>
                      <a:pt x="257" y="0"/>
                    </a:moveTo>
                    <a:lnTo>
                      <a:pt x="0" y="2898"/>
                    </a:lnTo>
                    <a:lnTo>
                      <a:pt x="18975" y="21600"/>
                    </a:lnTo>
                    <a:cubicBezTo>
                      <a:pt x="19466" y="14663"/>
                      <a:pt x="21600" y="21278"/>
                      <a:pt x="18484" y="17649"/>
                    </a:cubicBezTo>
                    <a:lnTo>
                      <a:pt x="257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04" name="Freeform 1123"/>
              <p:cNvSpPr/>
              <p:nvPr/>
            </p:nvSpPr>
            <p:spPr>
              <a:xfrm>
                <a:off x="296021" y="88081"/>
                <a:ext cx="54787" cy="139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854" y="0"/>
                    </a:moveTo>
                    <a:lnTo>
                      <a:pt x="21600" y="0"/>
                    </a:lnTo>
                    <a:lnTo>
                      <a:pt x="2306" y="21600"/>
                    </a:lnTo>
                    <a:lnTo>
                      <a:pt x="0" y="21444"/>
                    </a:lnTo>
                    <a:lnTo>
                      <a:pt x="20854" y="0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05" name="Freeform 1124"/>
              <p:cNvSpPr/>
              <p:nvPr/>
            </p:nvSpPr>
            <p:spPr>
              <a:xfrm>
                <a:off x="109444" y="186186"/>
                <a:ext cx="190793" cy="464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88" y="2239"/>
                    </a:lnTo>
                    <a:lnTo>
                      <a:pt x="21093" y="21600"/>
                    </a:lnTo>
                    <a:lnTo>
                      <a:pt x="21600" y="19479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912" name="Group 1125"/>
              <p:cNvGrpSpPr/>
              <p:nvPr/>
            </p:nvGrpSpPr>
            <p:grpSpPr>
              <a:xfrm>
                <a:off x="106250" y="235828"/>
                <a:ext cx="64748" cy="29260"/>
                <a:chOff x="0" y="0"/>
                <a:chExt cx="64746" cy="29258"/>
              </a:xfrm>
            </p:grpSpPr>
            <p:sp>
              <p:nvSpPr>
                <p:cNvPr id="906" name="Freeform 1126"/>
                <p:cNvSpPr/>
                <p:nvPr/>
              </p:nvSpPr>
              <p:spPr>
                <a:xfrm>
                  <a:off x="0" y="0"/>
                  <a:ext cx="64747" cy="275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416" y="0"/>
                      </a:moveTo>
                      <a:lnTo>
                        <a:pt x="21600" y="8191"/>
                      </a:lnTo>
                      <a:lnTo>
                        <a:pt x="13500" y="21600"/>
                      </a:lnTo>
                      <a:lnTo>
                        <a:pt x="0" y="12088"/>
                      </a:lnTo>
                      <a:lnTo>
                        <a:pt x="841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7" name="Freeform 1127"/>
                <p:cNvSpPr/>
                <p:nvPr/>
              </p:nvSpPr>
              <p:spPr>
                <a:xfrm>
                  <a:off x="1205" y="590"/>
                  <a:ext cx="62509" cy="262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390" y="0"/>
                      </a:moveTo>
                      <a:lnTo>
                        <a:pt x="21600" y="8265"/>
                      </a:lnTo>
                      <a:lnTo>
                        <a:pt x="13597" y="21600"/>
                      </a:lnTo>
                      <a:lnTo>
                        <a:pt x="0" y="12015"/>
                      </a:lnTo>
                      <a:lnTo>
                        <a:pt x="839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8" name="Freeform 1128"/>
                <p:cNvSpPr/>
                <p:nvPr/>
              </p:nvSpPr>
              <p:spPr>
                <a:xfrm>
                  <a:off x="5854" y="8669"/>
                  <a:ext cx="22215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04"/>
                      </a:moveTo>
                      <a:lnTo>
                        <a:pt x="6279" y="0"/>
                      </a:lnTo>
                      <a:lnTo>
                        <a:pt x="21600" y="10800"/>
                      </a:lnTo>
                      <a:lnTo>
                        <a:pt x="15321" y="21600"/>
                      </a:lnTo>
                      <a:lnTo>
                        <a:pt x="0" y="950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9" name="Freeform 1129"/>
                <p:cNvSpPr/>
                <p:nvPr/>
              </p:nvSpPr>
              <p:spPr>
                <a:xfrm>
                  <a:off x="5079" y="10989"/>
                  <a:ext cx="16705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10" name="Freeform 1130"/>
                <p:cNvSpPr/>
                <p:nvPr/>
              </p:nvSpPr>
              <p:spPr>
                <a:xfrm>
                  <a:off x="24107" y="14154"/>
                  <a:ext cx="22215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741"/>
                      </a:moveTo>
                      <a:lnTo>
                        <a:pt x="5944" y="0"/>
                      </a:lnTo>
                      <a:lnTo>
                        <a:pt x="21600" y="11012"/>
                      </a:lnTo>
                      <a:lnTo>
                        <a:pt x="15321" y="21600"/>
                      </a:lnTo>
                      <a:lnTo>
                        <a:pt x="0" y="97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11" name="Freeform 1131"/>
                <p:cNvSpPr/>
                <p:nvPr/>
              </p:nvSpPr>
              <p:spPr>
                <a:xfrm>
                  <a:off x="23333" y="16558"/>
                  <a:ext cx="16704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13" name="Freeform 1132"/>
              <p:cNvSpPr/>
              <p:nvPr/>
            </p:nvSpPr>
            <p:spPr>
              <a:xfrm>
                <a:off x="217099" y="239955"/>
                <a:ext cx="78412" cy="606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5" y="20127"/>
                    </a:moveTo>
                    <a:lnTo>
                      <a:pt x="21600" y="0"/>
                    </a:lnTo>
                    <a:lnTo>
                      <a:pt x="21535" y="1636"/>
                    </a:lnTo>
                    <a:lnTo>
                      <a:pt x="0" y="21600"/>
                    </a:lnTo>
                    <a:lnTo>
                      <a:pt x="65" y="20127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4" name="Freeform 1133"/>
              <p:cNvSpPr/>
              <p:nvPr/>
            </p:nvSpPr>
            <p:spPr>
              <a:xfrm>
                <a:off x="16985" y="244790"/>
                <a:ext cx="200625" cy="553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5" name="Freeform 1134"/>
              <p:cNvSpPr/>
              <p:nvPr/>
            </p:nvSpPr>
            <p:spPr>
              <a:xfrm>
                <a:off x="11848" y="233900"/>
                <a:ext cx="12701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469"/>
                    </a:moveTo>
                    <a:lnTo>
                      <a:pt x="19108" y="21600"/>
                    </a:lnTo>
                    <a:lnTo>
                      <a:pt x="0" y="21159"/>
                    </a:lnTo>
                    <a:lnTo>
                      <a:pt x="2492" y="0"/>
                    </a:lnTo>
                    <a:lnTo>
                      <a:pt x="21600" y="1469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6" name="Freeform 1135"/>
              <p:cNvSpPr/>
              <p:nvPr/>
            </p:nvSpPr>
            <p:spPr>
              <a:xfrm>
                <a:off x="17239" y="189016"/>
                <a:ext cx="93227" cy="463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0" y="0"/>
                    </a:moveTo>
                    <a:lnTo>
                      <a:pt x="0" y="21279"/>
                    </a:lnTo>
                    <a:lnTo>
                      <a:pt x="551" y="21600"/>
                    </a:lnTo>
                    <a:lnTo>
                      <a:pt x="21600" y="642"/>
                    </a:lnTo>
                    <a:lnTo>
                      <a:pt x="21490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7" name="Freeform 1136"/>
              <p:cNvSpPr/>
              <p:nvPr/>
            </p:nvSpPr>
            <p:spPr>
              <a:xfrm>
                <a:off x="23498" y="237008"/>
                <a:ext cx="190282" cy="531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8" name="Freeform 1137"/>
              <p:cNvSpPr/>
              <p:nvPr/>
            </p:nvSpPr>
            <p:spPr>
              <a:xfrm flipH="1" rot="10800000">
                <a:off x="213524" y="233234"/>
                <a:ext cx="77646" cy="550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22" name="Group 1139"/>
            <p:cNvGrpSpPr/>
            <p:nvPr/>
          </p:nvGrpSpPr>
          <p:grpSpPr>
            <a:xfrm>
              <a:off x="498478" y="241719"/>
              <a:ext cx="359262" cy="342045"/>
              <a:chOff x="0" y="0"/>
              <a:chExt cx="359260" cy="342044"/>
            </a:xfrm>
          </p:grpSpPr>
          <p:pic>
            <p:nvPicPr>
              <p:cNvPr id="920" name="Picture 1140" descr="Picture 1140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359261" cy="34204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21" name="Freeform 1141"/>
              <p:cNvSpPr/>
              <p:nvPr/>
            </p:nvSpPr>
            <p:spPr>
              <a:xfrm flipH="1">
                <a:off x="153221" y="32798"/>
                <a:ext cx="169401" cy="1567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25" name="Group 693"/>
            <p:cNvGrpSpPr/>
            <p:nvPr/>
          </p:nvGrpSpPr>
          <p:grpSpPr>
            <a:xfrm>
              <a:off x="309917" y="0"/>
              <a:ext cx="347998" cy="396620"/>
              <a:chOff x="0" y="0"/>
              <a:chExt cx="347996" cy="396619"/>
            </a:xfrm>
          </p:grpSpPr>
          <p:pic>
            <p:nvPicPr>
              <p:cNvPr id="923" name="Picture 571" descr="Picture 571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99764" y="59592"/>
                <a:ext cx="189579" cy="33702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24" name="Picture 1115" descr="Picture 1115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0" y="0"/>
                <a:ext cx="347997" cy="1675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939" name="Group 794"/>
          <p:cNvGrpSpPr/>
          <p:nvPr/>
        </p:nvGrpSpPr>
        <p:grpSpPr>
          <a:xfrm>
            <a:off x="11039944" y="3460672"/>
            <a:ext cx="518449" cy="1212243"/>
            <a:chOff x="0" y="0"/>
            <a:chExt cx="518447" cy="1212242"/>
          </a:xfrm>
        </p:grpSpPr>
        <p:grpSp>
          <p:nvGrpSpPr>
            <p:cNvPr id="932" name="Group 374"/>
            <p:cNvGrpSpPr/>
            <p:nvPr/>
          </p:nvGrpSpPr>
          <p:grpSpPr>
            <a:xfrm>
              <a:off x="28609" y="760425"/>
              <a:ext cx="489840" cy="451818"/>
              <a:chOff x="0" y="0"/>
              <a:chExt cx="489839" cy="451816"/>
            </a:xfrm>
          </p:grpSpPr>
          <p:sp>
            <p:nvSpPr>
              <p:cNvPr id="927" name="Straight Connector 375"/>
              <p:cNvSpPr/>
              <p:nvPr/>
            </p:nvSpPr>
            <p:spPr>
              <a:xfrm>
                <a:off x="-1" y="240564"/>
                <a:ext cx="186245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931" name="Group 377"/>
              <p:cNvGrpSpPr/>
              <p:nvPr/>
            </p:nvGrpSpPr>
            <p:grpSpPr>
              <a:xfrm>
                <a:off x="137494" y="0"/>
                <a:ext cx="352346" cy="451817"/>
                <a:chOff x="0" y="0"/>
                <a:chExt cx="352344" cy="451816"/>
              </a:xfrm>
            </p:grpSpPr>
            <p:pic>
              <p:nvPicPr>
                <p:cNvPr id="928" name="Picture 378" descr="Picture 378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203776" y="66104"/>
                  <a:ext cx="148569" cy="34914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929" name="Picture 379" descr="Picture 379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0" y="58546"/>
                  <a:ext cx="148568" cy="34914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930" name="Picture 380" descr="Picture 380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85777" y="0"/>
                  <a:ext cx="192259" cy="45181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938" name="Group 391"/>
            <p:cNvGrpSpPr/>
            <p:nvPr/>
          </p:nvGrpSpPr>
          <p:grpSpPr>
            <a:xfrm>
              <a:off x="0" y="-1"/>
              <a:ext cx="423724" cy="405974"/>
              <a:chOff x="0" y="0"/>
              <a:chExt cx="423723" cy="405973"/>
            </a:xfrm>
          </p:grpSpPr>
          <p:sp>
            <p:nvSpPr>
              <p:cNvPr id="933" name="Straight Connector 392"/>
              <p:cNvSpPr/>
              <p:nvPr/>
            </p:nvSpPr>
            <p:spPr>
              <a:xfrm>
                <a:off x="0" y="216155"/>
                <a:ext cx="16110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937" name="Group 394"/>
              <p:cNvGrpSpPr/>
              <p:nvPr/>
            </p:nvGrpSpPr>
            <p:grpSpPr>
              <a:xfrm>
                <a:off x="118936" y="0"/>
                <a:ext cx="304788" cy="405974"/>
                <a:chOff x="0" y="0"/>
                <a:chExt cx="304787" cy="405973"/>
              </a:xfrm>
            </p:grpSpPr>
            <p:pic>
              <p:nvPicPr>
                <p:cNvPr id="934" name="Picture 395" descr="Picture 395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176272" y="59397"/>
                  <a:ext cx="128516" cy="3137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935" name="Picture 396" descr="Picture 396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-1" y="52605"/>
                  <a:ext cx="128517" cy="3137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936" name="Picture 397" descr="Picture 397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74200" y="0"/>
                  <a:ext cx="166308" cy="40597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</p:grpSp>
      <p:grpSp>
        <p:nvGrpSpPr>
          <p:cNvPr id="972" name="Group 950"/>
          <p:cNvGrpSpPr/>
          <p:nvPr/>
        </p:nvGrpSpPr>
        <p:grpSpPr>
          <a:xfrm>
            <a:off x="10263913" y="5306138"/>
            <a:ext cx="180434" cy="330834"/>
            <a:chOff x="0" y="0"/>
            <a:chExt cx="180433" cy="330833"/>
          </a:xfrm>
        </p:grpSpPr>
        <p:sp>
          <p:nvSpPr>
            <p:cNvPr id="940" name="Freeform 951"/>
            <p:cNvSpPr/>
            <p:nvPr/>
          </p:nvSpPr>
          <p:spPr>
            <a:xfrm>
              <a:off x="140261" y="552"/>
              <a:ext cx="35191" cy="31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1" name="Rectangle 952"/>
            <p:cNvSpPr/>
            <p:nvPr/>
          </p:nvSpPr>
          <p:spPr>
            <a:xfrm>
              <a:off x="8704" y="0"/>
              <a:ext cx="130066" cy="315507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42" name="Freeform 953"/>
            <p:cNvSpPr/>
            <p:nvPr/>
          </p:nvSpPr>
          <p:spPr>
            <a:xfrm>
              <a:off x="147548" y="19468"/>
              <a:ext cx="20319" cy="287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3" name="Freeform 954"/>
            <p:cNvSpPr/>
            <p:nvPr/>
          </p:nvSpPr>
          <p:spPr>
            <a:xfrm>
              <a:off x="142250" y="167211"/>
              <a:ext cx="32704" cy="26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4" name="Rectangle 955"/>
            <p:cNvSpPr/>
            <p:nvPr/>
          </p:nvSpPr>
          <p:spPr>
            <a:xfrm>
              <a:off x="8704" y="32932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47" name="Group 956"/>
            <p:cNvGrpSpPr/>
            <p:nvPr/>
          </p:nvGrpSpPr>
          <p:grpSpPr>
            <a:xfrm>
              <a:off x="75626" y="32712"/>
              <a:ext cx="71847" cy="20742"/>
              <a:chOff x="0" y="0"/>
              <a:chExt cx="71846" cy="20741"/>
            </a:xfrm>
          </p:grpSpPr>
          <p:sp>
            <p:nvSpPr>
              <p:cNvPr id="945" name="AutoShape 957"/>
              <p:cNvSpPr/>
              <p:nvPr/>
            </p:nvSpPr>
            <p:spPr>
              <a:xfrm>
                <a:off x="0" y="0"/>
                <a:ext cx="71847" cy="207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46" name="AutoShape 958"/>
              <p:cNvSpPr/>
              <p:nvPr/>
            </p:nvSpPr>
            <p:spPr>
              <a:xfrm>
                <a:off x="1195" y="2160"/>
                <a:ext cx="69356" cy="164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48" name="Rectangle 959"/>
            <p:cNvSpPr/>
            <p:nvPr/>
          </p:nvSpPr>
          <p:spPr>
            <a:xfrm>
              <a:off x="9947" y="78774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51" name="Group 960"/>
            <p:cNvGrpSpPr/>
            <p:nvPr/>
          </p:nvGrpSpPr>
          <p:grpSpPr>
            <a:xfrm>
              <a:off x="75577" y="77481"/>
              <a:ext cx="71847" cy="18503"/>
              <a:chOff x="0" y="0"/>
              <a:chExt cx="71846" cy="18502"/>
            </a:xfrm>
          </p:grpSpPr>
          <p:sp>
            <p:nvSpPr>
              <p:cNvPr id="949" name="AutoShape 961"/>
              <p:cNvSpPr/>
              <p:nvPr/>
            </p:nvSpPr>
            <p:spPr>
              <a:xfrm>
                <a:off x="0" y="0"/>
                <a:ext cx="71847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50" name="AutoShape 962"/>
              <p:cNvSpPr/>
              <p:nvPr/>
            </p:nvSpPr>
            <p:spPr>
              <a:xfrm>
                <a:off x="1295" y="2262"/>
                <a:ext cx="69356" cy="1424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52" name="Rectangle 963"/>
            <p:cNvSpPr/>
            <p:nvPr/>
          </p:nvSpPr>
          <p:spPr>
            <a:xfrm>
              <a:off x="9947" y="124615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53" name="Rectangle 964"/>
            <p:cNvSpPr/>
            <p:nvPr/>
          </p:nvSpPr>
          <p:spPr>
            <a:xfrm>
              <a:off x="11191" y="166177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56" name="Group 965"/>
            <p:cNvGrpSpPr/>
            <p:nvPr/>
          </p:nvGrpSpPr>
          <p:grpSpPr>
            <a:xfrm>
              <a:off x="74384" y="168116"/>
              <a:ext cx="71871" cy="18601"/>
              <a:chOff x="0" y="0"/>
              <a:chExt cx="71869" cy="18599"/>
            </a:xfrm>
          </p:grpSpPr>
          <p:sp>
            <p:nvSpPr>
              <p:cNvPr id="954" name="AutoShape 966"/>
              <p:cNvSpPr/>
              <p:nvPr/>
            </p:nvSpPr>
            <p:spPr>
              <a:xfrm>
                <a:off x="0" y="0"/>
                <a:ext cx="71870" cy="186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55" name="AutoShape 967"/>
              <p:cNvSpPr/>
              <p:nvPr/>
            </p:nvSpPr>
            <p:spPr>
              <a:xfrm>
                <a:off x="1197" y="0"/>
                <a:ext cx="69376" cy="1635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57" name="Freeform 968"/>
            <p:cNvSpPr/>
            <p:nvPr/>
          </p:nvSpPr>
          <p:spPr>
            <a:xfrm>
              <a:off x="142748" y="127721"/>
              <a:ext cx="32704" cy="25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60" name="Group 969"/>
            <p:cNvGrpSpPr/>
            <p:nvPr/>
          </p:nvGrpSpPr>
          <p:grpSpPr>
            <a:xfrm>
              <a:off x="74382" y="124407"/>
              <a:ext cx="73069" cy="18503"/>
              <a:chOff x="0" y="0"/>
              <a:chExt cx="73067" cy="18502"/>
            </a:xfrm>
          </p:grpSpPr>
          <p:sp>
            <p:nvSpPr>
              <p:cNvPr id="958" name="AutoShape 970"/>
              <p:cNvSpPr/>
              <p:nvPr/>
            </p:nvSpPr>
            <p:spPr>
              <a:xfrm>
                <a:off x="0" y="0"/>
                <a:ext cx="73068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59" name="AutoShape 971"/>
              <p:cNvSpPr/>
              <p:nvPr/>
            </p:nvSpPr>
            <p:spPr>
              <a:xfrm>
                <a:off x="1197" y="2209"/>
                <a:ext cx="71871" cy="1422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61" name="Rectangle 972"/>
            <p:cNvSpPr/>
            <p:nvPr/>
          </p:nvSpPr>
          <p:spPr>
            <a:xfrm>
              <a:off x="135527" y="0"/>
              <a:ext cx="12701" cy="31550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62" name="Freeform 973"/>
            <p:cNvSpPr/>
            <p:nvPr/>
          </p:nvSpPr>
          <p:spPr>
            <a:xfrm>
              <a:off x="145732" y="79808"/>
              <a:ext cx="29471" cy="29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7"/>
                    <a:pt x="21308" y="12150"/>
                  </a:cubicBezTo>
                  <a:cubicBezTo>
                    <a:pt x="21162" y="15019"/>
                    <a:pt x="21600" y="15863"/>
                    <a:pt x="21600" y="21600"/>
                  </a:cubicBezTo>
                  <a:cubicBezTo>
                    <a:pt x="21600" y="21600"/>
                    <a:pt x="11676" y="14850"/>
                    <a:pt x="0" y="8437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63" name="Freeform 974"/>
            <p:cNvSpPr/>
            <p:nvPr/>
          </p:nvSpPr>
          <p:spPr>
            <a:xfrm>
              <a:off x="146105" y="34657"/>
              <a:ext cx="30341" cy="33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64" name="Oval 975"/>
            <p:cNvSpPr/>
            <p:nvPr/>
          </p:nvSpPr>
          <p:spPr>
            <a:xfrm>
              <a:off x="167733" y="301284"/>
              <a:ext cx="12701" cy="13119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65" name="Freeform 976"/>
            <p:cNvSpPr/>
            <p:nvPr/>
          </p:nvSpPr>
          <p:spPr>
            <a:xfrm>
              <a:off x="144489" y="301698"/>
              <a:ext cx="30465" cy="2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66" name="AutoShape 977"/>
            <p:cNvSpPr/>
            <p:nvPr/>
          </p:nvSpPr>
          <p:spPr>
            <a:xfrm>
              <a:off x="0" y="310121"/>
              <a:ext cx="148717" cy="2071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67" name="AutoShape 978"/>
            <p:cNvSpPr/>
            <p:nvPr/>
          </p:nvSpPr>
          <p:spPr>
            <a:xfrm>
              <a:off x="8704" y="314610"/>
              <a:ext cx="13255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398" y="0"/>
                    <a:pt x="889" y="0"/>
                  </a:cubicBezTo>
                  <a:lnTo>
                    <a:pt x="20711" y="0"/>
                  </a:lnTo>
                  <a:cubicBezTo>
                    <a:pt x="21202" y="0"/>
                    <a:pt x="21600" y="4835"/>
                    <a:pt x="21600" y="10800"/>
                  </a:cubicBezTo>
                  <a:cubicBezTo>
                    <a:pt x="21600" y="16765"/>
                    <a:pt x="21202" y="21600"/>
                    <a:pt x="20711" y="21600"/>
                  </a:cubicBezTo>
                  <a:lnTo>
                    <a:pt x="889" y="21600"/>
                  </a:lnTo>
                  <a:cubicBezTo>
                    <a:pt x="398" y="21600"/>
                    <a:pt x="0" y="16765"/>
                    <a:pt x="0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68" name="Oval 979"/>
            <p:cNvSpPr/>
            <p:nvPr/>
          </p:nvSpPr>
          <p:spPr>
            <a:xfrm>
              <a:off x="21014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69" name="Oval 980"/>
            <p:cNvSpPr/>
            <p:nvPr/>
          </p:nvSpPr>
          <p:spPr>
            <a:xfrm>
              <a:off x="43396" y="269664"/>
              <a:ext cx="19771" cy="19607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70" name="Oval 981"/>
            <p:cNvSpPr/>
            <p:nvPr/>
          </p:nvSpPr>
          <p:spPr>
            <a:xfrm>
              <a:off x="64410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71" name="Rectangle 982"/>
            <p:cNvSpPr/>
            <p:nvPr/>
          </p:nvSpPr>
          <p:spPr>
            <a:xfrm>
              <a:off x="113891" y="194412"/>
              <a:ext cx="12701" cy="104801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975" name="Group 590"/>
          <p:cNvGrpSpPr/>
          <p:nvPr/>
        </p:nvGrpSpPr>
        <p:grpSpPr>
          <a:xfrm>
            <a:off x="7955853" y="4932348"/>
            <a:ext cx="345631" cy="320303"/>
            <a:chOff x="0" y="0"/>
            <a:chExt cx="345629" cy="320302"/>
          </a:xfrm>
        </p:grpSpPr>
        <p:pic>
          <p:nvPicPr>
            <p:cNvPr id="973" name="Picture 591" descr="Picture 591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74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99" name="Group 1064"/>
          <p:cNvGrpSpPr/>
          <p:nvPr/>
        </p:nvGrpSpPr>
        <p:grpSpPr>
          <a:xfrm>
            <a:off x="9010801" y="5861358"/>
            <a:ext cx="310187" cy="311799"/>
            <a:chOff x="0" y="0"/>
            <a:chExt cx="310186" cy="311798"/>
          </a:xfrm>
        </p:grpSpPr>
        <p:pic>
          <p:nvPicPr>
            <p:cNvPr id="976" name="Picture 1065" descr="Picture 1065"/>
            <p:cNvPicPr>
              <a:picLocks noChangeAspect="1"/>
            </p:cNvPicPr>
            <p:nvPr/>
          </p:nvPicPr>
          <p:blipFill>
            <a:blip r:embed="rId19">
              <a:extLst/>
            </a:blip>
            <a:stretch>
              <a:fillRect/>
            </a:stretch>
          </p:blipFill>
          <p:spPr>
            <a:xfrm>
              <a:off x="0" y="0"/>
              <a:ext cx="307702" cy="168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7" name="Picture 1066" descr="Picture 1066"/>
            <p:cNvPicPr>
              <a:picLocks noChangeAspect="1"/>
            </p:cNvPicPr>
            <p:nvPr/>
          </p:nvPicPr>
          <p:blipFill>
            <a:blip r:embed="rId20">
              <a:extLst/>
            </a:blip>
            <a:stretch>
              <a:fillRect/>
            </a:stretch>
          </p:blipFill>
          <p:spPr>
            <a:xfrm flipH="1" rot="109063">
              <a:off x="14905" y="187464"/>
              <a:ext cx="253502" cy="1203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78" name="Freeform 1067"/>
            <p:cNvSpPr/>
            <p:nvPr/>
          </p:nvSpPr>
          <p:spPr>
            <a:xfrm>
              <a:off x="98916" y="70685"/>
              <a:ext cx="204044" cy="157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979" name="Picture 1068" descr="Picture 1068"/>
            <p:cNvPicPr>
              <a:picLocks noChangeAspect="1"/>
            </p:cNvPicPr>
            <p:nvPr/>
          </p:nvPicPr>
          <p:blipFill>
            <a:blip r:embed="rId21">
              <a:extLst/>
            </a:blip>
            <a:stretch>
              <a:fillRect/>
            </a:stretch>
          </p:blipFill>
          <p:spPr>
            <a:xfrm>
              <a:off x="108965" y="74724"/>
              <a:ext cx="185413" cy="1429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80" name="Freeform 1069"/>
            <p:cNvSpPr/>
            <p:nvPr/>
          </p:nvSpPr>
          <p:spPr>
            <a:xfrm>
              <a:off x="136066" y="66052"/>
              <a:ext cx="172878" cy="29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1" name="Freeform 1070"/>
            <p:cNvSpPr/>
            <p:nvPr/>
          </p:nvSpPr>
          <p:spPr>
            <a:xfrm>
              <a:off x="97109" y="65814"/>
              <a:ext cx="47991" cy="121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2" name="Freeform 1071"/>
            <p:cNvSpPr/>
            <p:nvPr/>
          </p:nvSpPr>
          <p:spPr>
            <a:xfrm>
              <a:off x="255985" y="87554"/>
              <a:ext cx="51717" cy="1404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3" name="Freeform 1072"/>
            <p:cNvSpPr/>
            <p:nvPr/>
          </p:nvSpPr>
          <p:spPr>
            <a:xfrm>
              <a:off x="96544" y="181287"/>
              <a:ext cx="176920" cy="47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4" name="Freeform 1073"/>
            <p:cNvSpPr/>
            <p:nvPr/>
          </p:nvSpPr>
          <p:spPr>
            <a:xfrm>
              <a:off x="261744" y="88742"/>
              <a:ext cx="48443" cy="141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5" name="Freeform 1074"/>
            <p:cNvSpPr/>
            <p:nvPr/>
          </p:nvSpPr>
          <p:spPr>
            <a:xfrm>
              <a:off x="96770" y="187583"/>
              <a:ext cx="168701" cy="46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92" name="Group 1075"/>
            <p:cNvGrpSpPr/>
            <p:nvPr/>
          </p:nvGrpSpPr>
          <p:grpSpPr>
            <a:xfrm>
              <a:off x="93947" y="237597"/>
              <a:ext cx="57251" cy="29432"/>
              <a:chOff x="0" y="0"/>
              <a:chExt cx="57249" cy="29430"/>
            </a:xfrm>
          </p:grpSpPr>
          <p:sp>
            <p:nvSpPr>
              <p:cNvPr id="986" name="Freeform 1076"/>
              <p:cNvSpPr/>
              <p:nvPr/>
            </p:nvSpPr>
            <p:spPr>
              <a:xfrm>
                <a:off x="0" y="0"/>
                <a:ext cx="57250" cy="27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7" name="Freeform 1077"/>
              <p:cNvSpPr/>
              <p:nvPr/>
            </p:nvSpPr>
            <p:spPr>
              <a:xfrm>
                <a:off x="1065" y="595"/>
                <a:ext cx="55271" cy="264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8" name="Freeform 1078"/>
              <p:cNvSpPr/>
              <p:nvPr/>
            </p:nvSpPr>
            <p:spPr>
              <a:xfrm>
                <a:off x="5176" y="8782"/>
                <a:ext cx="19643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9" name="Freeform 1079"/>
              <p:cNvSpPr/>
              <p:nvPr/>
            </p:nvSpPr>
            <p:spPr>
              <a:xfrm>
                <a:off x="4491" y="11119"/>
                <a:ext cx="14770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90" name="Freeform 1080"/>
              <p:cNvSpPr/>
              <p:nvPr/>
            </p:nvSpPr>
            <p:spPr>
              <a:xfrm>
                <a:off x="21316" y="14307"/>
                <a:ext cx="19642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91" name="Freeform 1081"/>
              <p:cNvSpPr/>
              <p:nvPr/>
            </p:nvSpPr>
            <p:spPr>
              <a:xfrm>
                <a:off x="20631" y="16730"/>
                <a:ext cx="14770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993" name="Freeform 1082"/>
            <p:cNvSpPr/>
            <p:nvPr/>
          </p:nvSpPr>
          <p:spPr>
            <a:xfrm>
              <a:off x="191960" y="241755"/>
              <a:ext cx="69333" cy="610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4" name="Freeform 1083"/>
            <p:cNvSpPr/>
            <p:nvPr/>
          </p:nvSpPr>
          <p:spPr>
            <a:xfrm>
              <a:off x="15018" y="246626"/>
              <a:ext cx="177395" cy="55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5" name="Freeform 1084"/>
            <p:cNvSpPr/>
            <p:nvPr/>
          </p:nvSpPr>
          <p:spPr>
            <a:xfrm>
              <a:off x="9740" y="235702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6" name="Freeform 1085"/>
            <p:cNvSpPr/>
            <p:nvPr/>
          </p:nvSpPr>
          <p:spPr>
            <a:xfrm>
              <a:off x="15243" y="190434"/>
              <a:ext cx="82432" cy="46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7" name="Freeform 1086"/>
            <p:cNvSpPr/>
            <p:nvPr/>
          </p:nvSpPr>
          <p:spPr>
            <a:xfrm>
              <a:off x="20776" y="238785"/>
              <a:ext cx="168249" cy="53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8" name="Freeform 1087"/>
            <p:cNvSpPr/>
            <p:nvPr/>
          </p:nvSpPr>
          <p:spPr>
            <a:xfrm flipH="1" rot="10800000">
              <a:off x="188799" y="234984"/>
              <a:ext cx="68655" cy="554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02" name="Group 590"/>
          <p:cNvGrpSpPr/>
          <p:nvPr/>
        </p:nvGrpSpPr>
        <p:grpSpPr>
          <a:xfrm>
            <a:off x="7748978" y="5313247"/>
            <a:ext cx="345631" cy="320303"/>
            <a:chOff x="0" y="0"/>
            <a:chExt cx="345629" cy="320302"/>
          </a:xfrm>
        </p:grpSpPr>
        <p:pic>
          <p:nvPicPr>
            <p:cNvPr id="1000" name="Picture 591" descr="Picture 591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01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05" name="Group 590"/>
          <p:cNvGrpSpPr/>
          <p:nvPr/>
        </p:nvGrpSpPr>
        <p:grpSpPr>
          <a:xfrm>
            <a:off x="8128906" y="5536843"/>
            <a:ext cx="345631" cy="320303"/>
            <a:chOff x="0" y="0"/>
            <a:chExt cx="345629" cy="320302"/>
          </a:xfrm>
        </p:grpSpPr>
        <p:pic>
          <p:nvPicPr>
            <p:cNvPr id="1003" name="Picture 591" descr="Picture 591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04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08" name="Group 590"/>
          <p:cNvGrpSpPr/>
          <p:nvPr/>
        </p:nvGrpSpPr>
        <p:grpSpPr>
          <a:xfrm>
            <a:off x="8527132" y="5558316"/>
            <a:ext cx="345631" cy="320303"/>
            <a:chOff x="0" y="0"/>
            <a:chExt cx="345629" cy="320302"/>
          </a:xfrm>
        </p:grpSpPr>
        <p:pic>
          <p:nvPicPr>
            <p:cNvPr id="1006" name="Picture 591" descr="Picture 591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07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32" name="Group 1064"/>
          <p:cNvGrpSpPr/>
          <p:nvPr/>
        </p:nvGrpSpPr>
        <p:grpSpPr>
          <a:xfrm>
            <a:off x="9647169" y="6015687"/>
            <a:ext cx="319265" cy="257493"/>
            <a:chOff x="0" y="0"/>
            <a:chExt cx="319263" cy="257492"/>
          </a:xfrm>
        </p:grpSpPr>
        <p:pic>
          <p:nvPicPr>
            <p:cNvPr id="1009" name="Picture 1065" descr="Picture 1065"/>
            <p:cNvPicPr>
              <a:picLocks noChangeAspect="1"/>
            </p:cNvPicPr>
            <p:nvPr/>
          </p:nvPicPr>
          <p:blipFill>
            <a:blip r:embed="rId19">
              <a:extLst/>
            </a:blip>
            <a:stretch>
              <a:fillRect/>
            </a:stretch>
          </p:blipFill>
          <p:spPr>
            <a:xfrm>
              <a:off x="0" y="0"/>
              <a:ext cx="316708" cy="1389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0" name="Picture 1066" descr="Picture 1066"/>
            <p:cNvPicPr>
              <a:picLocks noChangeAspect="1"/>
            </p:cNvPicPr>
            <p:nvPr/>
          </p:nvPicPr>
          <p:blipFill>
            <a:blip r:embed="rId20">
              <a:extLst/>
            </a:blip>
            <a:stretch>
              <a:fillRect/>
            </a:stretch>
          </p:blipFill>
          <p:spPr>
            <a:xfrm flipH="1" rot="109063">
              <a:off x="15341" y="154315"/>
              <a:ext cx="260921" cy="99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11" name="Freeform 1067"/>
            <p:cNvSpPr/>
            <p:nvPr/>
          </p:nvSpPr>
          <p:spPr>
            <a:xfrm>
              <a:off x="101811" y="58186"/>
              <a:ext cx="210015" cy="129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012" name="Picture 1068" descr="Picture 1068"/>
            <p:cNvPicPr>
              <a:picLocks noChangeAspect="1"/>
            </p:cNvPicPr>
            <p:nvPr/>
          </p:nvPicPr>
          <p:blipFill>
            <a:blip r:embed="rId21">
              <a:extLst/>
            </a:blip>
            <a:stretch>
              <a:fillRect/>
            </a:stretch>
          </p:blipFill>
          <p:spPr>
            <a:xfrm>
              <a:off x="112154" y="61511"/>
              <a:ext cx="190839" cy="1176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13" name="Freeform 1069"/>
            <p:cNvSpPr/>
            <p:nvPr/>
          </p:nvSpPr>
          <p:spPr>
            <a:xfrm>
              <a:off x="140048" y="54372"/>
              <a:ext cx="177938" cy="240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4" name="Freeform 1070"/>
            <p:cNvSpPr/>
            <p:nvPr/>
          </p:nvSpPr>
          <p:spPr>
            <a:xfrm>
              <a:off x="99951" y="54176"/>
              <a:ext cx="49396" cy="10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5" name="Freeform 1071"/>
            <p:cNvSpPr/>
            <p:nvPr/>
          </p:nvSpPr>
          <p:spPr>
            <a:xfrm>
              <a:off x="263477" y="72072"/>
              <a:ext cx="53231" cy="11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6" name="Freeform 1072"/>
            <p:cNvSpPr/>
            <p:nvPr/>
          </p:nvSpPr>
          <p:spPr>
            <a:xfrm>
              <a:off x="99370" y="149230"/>
              <a:ext cx="182097" cy="39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7" name="Freeform 1073"/>
            <p:cNvSpPr/>
            <p:nvPr/>
          </p:nvSpPr>
          <p:spPr>
            <a:xfrm>
              <a:off x="269404" y="73050"/>
              <a:ext cx="49860" cy="11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8" name="Freeform 1074"/>
            <p:cNvSpPr/>
            <p:nvPr/>
          </p:nvSpPr>
          <p:spPr>
            <a:xfrm>
              <a:off x="99602" y="154413"/>
              <a:ext cx="173638" cy="385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25" name="Group 1075"/>
            <p:cNvGrpSpPr/>
            <p:nvPr/>
          </p:nvGrpSpPr>
          <p:grpSpPr>
            <a:xfrm>
              <a:off x="96697" y="195583"/>
              <a:ext cx="58926" cy="25351"/>
              <a:chOff x="0" y="0"/>
              <a:chExt cx="58924" cy="25349"/>
            </a:xfrm>
          </p:grpSpPr>
          <p:sp>
            <p:nvSpPr>
              <p:cNvPr id="1019" name="Freeform 1076"/>
              <p:cNvSpPr/>
              <p:nvPr/>
            </p:nvSpPr>
            <p:spPr>
              <a:xfrm>
                <a:off x="0" y="0"/>
                <a:ext cx="58925" cy="228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0" name="Freeform 1077"/>
              <p:cNvSpPr/>
              <p:nvPr/>
            </p:nvSpPr>
            <p:spPr>
              <a:xfrm>
                <a:off x="1097" y="489"/>
                <a:ext cx="56888" cy="2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1" name="Freeform 1078"/>
              <p:cNvSpPr/>
              <p:nvPr/>
            </p:nvSpPr>
            <p:spPr>
              <a:xfrm>
                <a:off x="5328" y="6106"/>
                <a:ext cx="20217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2" name="Freeform 1079"/>
              <p:cNvSpPr/>
              <p:nvPr/>
            </p:nvSpPr>
            <p:spPr>
              <a:xfrm>
                <a:off x="4623" y="8030"/>
                <a:ext cx="15202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3" name="Freeform 1080"/>
              <p:cNvSpPr/>
              <p:nvPr/>
            </p:nvSpPr>
            <p:spPr>
              <a:xfrm>
                <a:off x="21940" y="10655"/>
                <a:ext cx="20217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4" name="Freeform 1081"/>
              <p:cNvSpPr/>
              <p:nvPr/>
            </p:nvSpPr>
            <p:spPr>
              <a:xfrm>
                <a:off x="21234" y="12649"/>
                <a:ext cx="15203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1026" name="Freeform 1082"/>
            <p:cNvSpPr/>
            <p:nvPr/>
          </p:nvSpPr>
          <p:spPr>
            <a:xfrm>
              <a:off x="197578" y="199006"/>
              <a:ext cx="71362" cy="50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27" name="Freeform 1083"/>
            <p:cNvSpPr/>
            <p:nvPr/>
          </p:nvSpPr>
          <p:spPr>
            <a:xfrm>
              <a:off x="15457" y="203016"/>
              <a:ext cx="182587" cy="45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28" name="Freeform 1084"/>
            <p:cNvSpPr/>
            <p:nvPr/>
          </p:nvSpPr>
          <p:spPr>
            <a:xfrm>
              <a:off x="10211" y="192901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29" name="Freeform 1085"/>
            <p:cNvSpPr/>
            <p:nvPr/>
          </p:nvSpPr>
          <p:spPr>
            <a:xfrm>
              <a:off x="15690" y="156760"/>
              <a:ext cx="84843" cy="38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0" name="Freeform 1086"/>
            <p:cNvSpPr/>
            <p:nvPr/>
          </p:nvSpPr>
          <p:spPr>
            <a:xfrm>
              <a:off x="21384" y="196561"/>
              <a:ext cx="173173" cy="44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1" name="Freeform 1087"/>
            <p:cNvSpPr/>
            <p:nvPr/>
          </p:nvSpPr>
          <p:spPr>
            <a:xfrm flipH="1" rot="10800000">
              <a:off x="194324" y="193432"/>
              <a:ext cx="70664" cy="45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65" name="Group 983"/>
          <p:cNvGrpSpPr/>
          <p:nvPr/>
        </p:nvGrpSpPr>
        <p:grpSpPr>
          <a:xfrm>
            <a:off x="9992875" y="5668574"/>
            <a:ext cx="174793" cy="348945"/>
            <a:chOff x="0" y="0"/>
            <a:chExt cx="174792" cy="348944"/>
          </a:xfrm>
        </p:grpSpPr>
        <p:sp>
          <p:nvSpPr>
            <p:cNvPr id="1033" name="Freeform 984"/>
            <p:cNvSpPr/>
            <p:nvPr/>
          </p:nvSpPr>
          <p:spPr>
            <a:xfrm>
              <a:off x="135716" y="582"/>
              <a:ext cx="34050" cy="332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4" name="Rectangle 985"/>
            <p:cNvSpPr/>
            <p:nvPr/>
          </p:nvSpPr>
          <p:spPr>
            <a:xfrm>
              <a:off x="8422" y="0"/>
              <a:ext cx="125851" cy="332779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5" name="Freeform 986"/>
            <p:cNvSpPr/>
            <p:nvPr/>
          </p:nvSpPr>
          <p:spPr>
            <a:xfrm>
              <a:off x="142767" y="20534"/>
              <a:ext cx="19660" cy="303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6" name="Freeform 987"/>
            <p:cNvSpPr/>
            <p:nvPr/>
          </p:nvSpPr>
          <p:spPr>
            <a:xfrm>
              <a:off x="137641" y="176365"/>
              <a:ext cx="31644" cy="27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7" name="Rectangle 988"/>
            <p:cNvSpPr/>
            <p:nvPr/>
          </p:nvSpPr>
          <p:spPr>
            <a:xfrm>
              <a:off x="8422" y="35083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40" name="Group 989"/>
            <p:cNvGrpSpPr/>
            <p:nvPr/>
          </p:nvGrpSpPr>
          <p:grpSpPr>
            <a:xfrm>
              <a:off x="73175" y="34503"/>
              <a:ext cx="69519" cy="21878"/>
              <a:chOff x="0" y="0"/>
              <a:chExt cx="69517" cy="21876"/>
            </a:xfrm>
          </p:grpSpPr>
          <p:sp>
            <p:nvSpPr>
              <p:cNvPr id="1038" name="AutoShape 990"/>
              <p:cNvSpPr/>
              <p:nvPr/>
            </p:nvSpPr>
            <p:spPr>
              <a:xfrm>
                <a:off x="0" y="0"/>
                <a:ext cx="69518" cy="2187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39" name="AutoShape 991"/>
              <p:cNvSpPr/>
              <p:nvPr/>
            </p:nvSpPr>
            <p:spPr>
              <a:xfrm>
                <a:off x="1157" y="2278"/>
                <a:ext cx="67108" cy="173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41" name="Rectangle 992"/>
            <p:cNvSpPr/>
            <p:nvPr/>
          </p:nvSpPr>
          <p:spPr>
            <a:xfrm>
              <a:off x="9625" y="83434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44" name="Group 993"/>
            <p:cNvGrpSpPr/>
            <p:nvPr/>
          </p:nvGrpSpPr>
          <p:grpSpPr>
            <a:xfrm>
              <a:off x="73128" y="81722"/>
              <a:ext cx="69518" cy="19517"/>
              <a:chOff x="0" y="0"/>
              <a:chExt cx="69517" cy="19515"/>
            </a:xfrm>
          </p:grpSpPr>
          <p:sp>
            <p:nvSpPr>
              <p:cNvPr id="1042" name="AutoShape 994"/>
              <p:cNvSpPr/>
              <p:nvPr/>
            </p:nvSpPr>
            <p:spPr>
              <a:xfrm>
                <a:off x="0" y="0"/>
                <a:ext cx="69518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43" name="AutoShape 995"/>
              <p:cNvSpPr/>
              <p:nvPr/>
            </p:nvSpPr>
            <p:spPr>
              <a:xfrm>
                <a:off x="1253" y="2386"/>
                <a:ext cx="67108" cy="1502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45" name="Rectangle 996"/>
            <p:cNvSpPr/>
            <p:nvPr/>
          </p:nvSpPr>
          <p:spPr>
            <a:xfrm>
              <a:off x="9625" y="131785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6" name="Rectangle 997"/>
            <p:cNvSpPr/>
            <p:nvPr/>
          </p:nvSpPr>
          <p:spPr>
            <a:xfrm>
              <a:off x="10828" y="175621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49" name="Group 998"/>
            <p:cNvGrpSpPr/>
            <p:nvPr/>
          </p:nvGrpSpPr>
          <p:grpSpPr>
            <a:xfrm>
              <a:off x="71974" y="177319"/>
              <a:ext cx="69542" cy="19619"/>
              <a:chOff x="0" y="0"/>
              <a:chExt cx="69540" cy="19617"/>
            </a:xfrm>
          </p:grpSpPr>
          <p:sp>
            <p:nvSpPr>
              <p:cNvPr id="1047" name="AutoShape 999"/>
              <p:cNvSpPr/>
              <p:nvPr/>
            </p:nvSpPr>
            <p:spPr>
              <a:xfrm>
                <a:off x="0" y="0"/>
                <a:ext cx="69541" cy="1961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48" name="AutoShape 1000"/>
              <p:cNvSpPr/>
              <p:nvPr/>
            </p:nvSpPr>
            <p:spPr>
              <a:xfrm>
                <a:off x="1159" y="0"/>
                <a:ext cx="67127" cy="172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50" name="Freeform 1001"/>
            <p:cNvSpPr/>
            <p:nvPr/>
          </p:nvSpPr>
          <p:spPr>
            <a:xfrm>
              <a:off x="138122" y="134713"/>
              <a:ext cx="31644" cy="27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53" name="Group 1002"/>
            <p:cNvGrpSpPr/>
            <p:nvPr/>
          </p:nvGrpSpPr>
          <p:grpSpPr>
            <a:xfrm>
              <a:off x="71972" y="131218"/>
              <a:ext cx="70701" cy="19516"/>
              <a:chOff x="0" y="0"/>
              <a:chExt cx="70699" cy="19515"/>
            </a:xfrm>
          </p:grpSpPr>
          <p:sp>
            <p:nvSpPr>
              <p:cNvPr id="1051" name="AutoShape 1003"/>
              <p:cNvSpPr/>
              <p:nvPr/>
            </p:nvSpPr>
            <p:spPr>
              <a:xfrm>
                <a:off x="0" y="0"/>
                <a:ext cx="70700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52" name="AutoShape 1004"/>
              <p:cNvSpPr/>
              <p:nvPr/>
            </p:nvSpPr>
            <p:spPr>
              <a:xfrm>
                <a:off x="1159" y="2330"/>
                <a:ext cx="69541" cy="1500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54" name="Rectangle 1005"/>
            <p:cNvSpPr/>
            <p:nvPr/>
          </p:nvSpPr>
          <p:spPr>
            <a:xfrm>
              <a:off x="130930" y="0"/>
              <a:ext cx="12701" cy="332779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55" name="Freeform 1006"/>
            <p:cNvSpPr/>
            <p:nvPr/>
          </p:nvSpPr>
          <p:spPr>
            <a:xfrm>
              <a:off x="141010" y="84177"/>
              <a:ext cx="28515" cy="31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6" name="Freeform 1007"/>
            <p:cNvSpPr/>
            <p:nvPr/>
          </p:nvSpPr>
          <p:spPr>
            <a:xfrm>
              <a:off x="141371" y="36554"/>
              <a:ext cx="29358" cy="34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7" name="Oval 1008"/>
            <p:cNvSpPr/>
            <p:nvPr/>
          </p:nvSpPr>
          <p:spPr>
            <a:xfrm>
              <a:off x="162092" y="317777"/>
              <a:ext cx="12701" cy="1383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58" name="Freeform 1009"/>
            <p:cNvSpPr/>
            <p:nvPr/>
          </p:nvSpPr>
          <p:spPr>
            <a:xfrm>
              <a:off x="139806" y="318214"/>
              <a:ext cx="29479" cy="29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9" name="AutoShape 1010"/>
            <p:cNvSpPr/>
            <p:nvPr/>
          </p:nvSpPr>
          <p:spPr>
            <a:xfrm>
              <a:off x="0" y="327098"/>
              <a:ext cx="143898" cy="218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60" name="AutoShape 1011"/>
            <p:cNvSpPr/>
            <p:nvPr/>
          </p:nvSpPr>
          <p:spPr>
            <a:xfrm>
              <a:off x="8422" y="332181"/>
              <a:ext cx="1282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434" y="0"/>
                    <a:pt x="969" y="0"/>
                  </a:cubicBezTo>
                  <a:lnTo>
                    <a:pt x="20631" y="0"/>
                  </a:lnTo>
                  <a:cubicBezTo>
                    <a:pt x="21166" y="0"/>
                    <a:pt x="21600" y="4835"/>
                    <a:pt x="21600" y="10800"/>
                  </a:cubicBezTo>
                  <a:lnTo>
                    <a:pt x="21600" y="10800"/>
                  </a:lnTo>
                  <a:cubicBezTo>
                    <a:pt x="21600" y="16765"/>
                    <a:pt x="21166" y="21600"/>
                    <a:pt x="20631" y="21600"/>
                  </a:cubicBezTo>
                  <a:lnTo>
                    <a:pt x="969" y="21598"/>
                  </a:lnTo>
                  <a:cubicBezTo>
                    <a:pt x="434" y="21598"/>
                    <a:pt x="0" y="16763"/>
                    <a:pt x="0" y="10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61" name="Oval 1012"/>
            <p:cNvSpPr/>
            <p:nvPr/>
          </p:nvSpPr>
          <p:spPr>
            <a:xfrm>
              <a:off x="2033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62" name="Oval 1013"/>
            <p:cNvSpPr/>
            <p:nvPr/>
          </p:nvSpPr>
          <p:spPr>
            <a:xfrm>
              <a:off x="41990" y="284427"/>
              <a:ext cx="19131" cy="2068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63" name="Oval 1014"/>
            <p:cNvSpPr/>
            <p:nvPr/>
          </p:nvSpPr>
          <p:spPr>
            <a:xfrm>
              <a:off x="6232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64" name="Rectangle 1015"/>
            <p:cNvSpPr/>
            <p:nvPr/>
          </p:nvSpPr>
          <p:spPr>
            <a:xfrm>
              <a:off x="109995" y="205055"/>
              <a:ext cx="12701" cy="110538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1293" name="Group 1023"/>
          <p:cNvGrpSpPr/>
          <p:nvPr/>
        </p:nvGrpSpPr>
        <p:grpSpPr>
          <a:xfrm>
            <a:off x="7613881" y="2005618"/>
            <a:ext cx="3540396" cy="3836078"/>
            <a:chOff x="0" y="0"/>
            <a:chExt cx="3540395" cy="3836077"/>
          </a:xfrm>
        </p:grpSpPr>
        <p:sp>
          <p:nvSpPr>
            <p:cNvPr id="1066" name="Line 426"/>
            <p:cNvSpPr/>
            <p:nvPr/>
          </p:nvSpPr>
          <p:spPr>
            <a:xfrm>
              <a:off x="593978" y="694740"/>
              <a:ext cx="227964" cy="1743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82" name="Group 783"/>
            <p:cNvGrpSpPr/>
            <p:nvPr/>
          </p:nvGrpSpPr>
          <p:grpSpPr>
            <a:xfrm>
              <a:off x="436816" y="303757"/>
              <a:ext cx="298451" cy="464008"/>
              <a:chOff x="0" y="0"/>
              <a:chExt cx="298450" cy="464007"/>
            </a:xfrm>
          </p:grpSpPr>
          <p:sp>
            <p:nvSpPr>
              <p:cNvPr id="1067" name="Line 270"/>
              <p:cNvSpPr/>
              <p:nvPr/>
            </p:nvSpPr>
            <p:spPr>
              <a:xfrm flipH="1">
                <a:off x="-1" y="0"/>
                <a:ext cx="149226" cy="42023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68" name="Line 271"/>
              <p:cNvSpPr/>
              <p:nvPr/>
            </p:nvSpPr>
            <p:spPr>
              <a:xfrm>
                <a:off x="149225" y="0"/>
                <a:ext cx="149226" cy="41835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69" name="Line 272"/>
              <p:cNvSpPr/>
              <p:nvPr/>
            </p:nvSpPr>
            <p:spPr>
              <a:xfrm>
                <a:off x="-1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0" name="Line 273"/>
              <p:cNvSpPr/>
              <p:nvPr/>
            </p:nvSpPr>
            <p:spPr>
              <a:xfrm flipH="1">
                <a:off x="149224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1" name="Line 274"/>
              <p:cNvSpPr/>
              <p:nvPr/>
            </p:nvSpPr>
            <p:spPr>
              <a:xfrm flipH="1">
                <a:off x="149224" y="9380"/>
                <a:ext cx="1" cy="45462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2" name="Line 275"/>
              <p:cNvSpPr/>
              <p:nvPr/>
            </p:nvSpPr>
            <p:spPr>
              <a:xfrm flipV="1">
                <a:off x="-1" y="375208"/>
                <a:ext cx="149227" cy="45026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3" name="Line 276"/>
              <p:cNvSpPr/>
              <p:nvPr/>
            </p:nvSpPr>
            <p:spPr>
              <a:xfrm flipH="1" flipV="1">
                <a:off x="149224" y="375209"/>
                <a:ext cx="149227" cy="4314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4" name="Line 277"/>
              <p:cNvSpPr/>
              <p:nvPr/>
            </p:nvSpPr>
            <p:spPr>
              <a:xfrm>
                <a:off x="63329" y="237632"/>
                <a:ext cx="85896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5" name="Line 278"/>
              <p:cNvSpPr/>
              <p:nvPr/>
            </p:nvSpPr>
            <p:spPr>
              <a:xfrm flipV="1">
                <a:off x="149224" y="237632"/>
                <a:ext cx="90264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6" name="Line 279"/>
              <p:cNvSpPr/>
              <p:nvPr/>
            </p:nvSpPr>
            <p:spPr>
              <a:xfrm>
                <a:off x="34940" y="298916"/>
                <a:ext cx="110645" cy="469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7" name="Line 280"/>
              <p:cNvSpPr/>
              <p:nvPr/>
            </p:nvSpPr>
            <p:spPr>
              <a:xfrm flipV="1">
                <a:off x="149224" y="308297"/>
                <a:ext cx="111374" cy="4127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8" name="Line 281"/>
              <p:cNvSpPr/>
              <p:nvPr/>
            </p:nvSpPr>
            <p:spPr>
              <a:xfrm flipV="1">
                <a:off x="149224" y="174472"/>
                <a:ext cx="56780" cy="1688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79" name="Line 282"/>
              <p:cNvSpPr/>
              <p:nvPr/>
            </p:nvSpPr>
            <p:spPr>
              <a:xfrm flipV="1">
                <a:off x="149225" y="87548"/>
                <a:ext cx="35669" cy="1313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80" name="Line 283"/>
              <p:cNvSpPr/>
              <p:nvPr/>
            </p:nvSpPr>
            <p:spPr>
              <a:xfrm>
                <a:off x="85167" y="168843"/>
                <a:ext cx="69154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81" name="Line 284"/>
              <p:cNvSpPr/>
              <p:nvPr/>
            </p:nvSpPr>
            <p:spPr>
              <a:xfrm>
                <a:off x="115740" y="83796"/>
                <a:ext cx="40036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pic>
          <p:nvPicPr>
            <p:cNvPr id="1083" name="Picture 777" descr="Picture 777"/>
            <p:cNvPicPr>
              <a:picLocks noChangeAspect="1"/>
            </p:cNvPicPr>
            <p:nvPr/>
          </p:nvPicPr>
          <p:blipFill>
            <a:blip r:embed="rId22">
              <a:extLst/>
            </a:blip>
            <a:stretch>
              <a:fillRect/>
            </a:stretch>
          </p:blipFill>
          <p:spPr>
            <a:xfrm>
              <a:off x="0" y="1856280"/>
              <a:ext cx="370169" cy="3067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4" name="Picture 780" descr="Picture 780"/>
            <p:cNvPicPr>
              <a:picLocks noChangeAspect="1"/>
            </p:cNvPicPr>
            <p:nvPr/>
          </p:nvPicPr>
          <p:blipFill>
            <a:blip r:embed="rId22">
              <a:extLst/>
            </a:blip>
            <a:stretch>
              <a:fillRect/>
            </a:stretch>
          </p:blipFill>
          <p:spPr>
            <a:xfrm>
              <a:off x="1676728" y="3518613"/>
              <a:ext cx="380936" cy="3174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096" name="Group 470"/>
            <p:cNvGrpSpPr/>
            <p:nvPr/>
          </p:nvGrpSpPr>
          <p:grpSpPr>
            <a:xfrm>
              <a:off x="2169676" y="2888569"/>
              <a:ext cx="393761" cy="409458"/>
              <a:chOff x="0" y="0"/>
              <a:chExt cx="393760" cy="409456"/>
            </a:xfrm>
          </p:grpSpPr>
          <p:grpSp>
            <p:nvGrpSpPr>
              <p:cNvPr id="1087" name="Freeform 471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1085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86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090" name="Oval 472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1088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89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095" name="Group 473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1091" name="Freeform 474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92" name="Freeform 475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93" name="Freeform 476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94" name="Freeform 477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04" name="Group 519"/>
            <p:cNvGrpSpPr/>
            <p:nvPr/>
          </p:nvGrpSpPr>
          <p:grpSpPr>
            <a:xfrm>
              <a:off x="2235483" y="3333418"/>
              <a:ext cx="309741" cy="190839"/>
              <a:chOff x="0" y="0"/>
              <a:chExt cx="309739" cy="190837"/>
            </a:xfrm>
          </p:grpSpPr>
          <p:sp>
            <p:nvSpPr>
              <p:cNvPr id="1097" name="Rectangle 520"/>
              <p:cNvSpPr/>
              <p:nvPr/>
            </p:nvSpPr>
            <p:spPr>
              <a:xfrm>
                <a:off x="0" y="113922"/>
                <a:ext cx="308626" cy="76916"/>
              </a:xfrm>
              <a:prstGeom prst="rect">
                <a:avLst/>
              </a:pr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98" name="Freeform 521"/>
              <p:cNvSpPr/>
              <p:nvPr/>
            </p:nvSpPr>
            <p:spPr>
              <a:xfrm>
                <a:off x="857" y="-1"/>
                <a:ext cx="308883" cy="116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29"/>
                    </a:moveTo>
                    <a:lnTo>
                      <a:pt x="1440" y="0"/>
                    </a:lnTo>
                    <a:lnTo>
                      <a:pt x="19500" y="343"/>
                    </a:lnTo>
                    <a:lnTo>
                      <a:pt x="21600" y="21600"/>
                    </a:lnTo>
                    <a:lnTo>
                      <a:pt x="0" y="21429"/>
                    </a:lnTo>
                    <a:close/>
                  </a:path>
                </a:pathLst>
              </a:cu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1103" name="Group 522"/>
              <p:cNvGrpSpPr/>
              <p:nvPr/>
            </p:nvGrpSpPr>
            <p:grpSpPr>
              <a:xfrm>
                <a:off x="22308" y="13603"/>
                <a:ext cx="261399" cy="93969"/>
                <a:chOff x="0" y="0"/>
                <a:chExt cx="261398" cy="93968"/>
              </a:xfrm>
            </p:grpSpPr>
            <p:sp>
              <p:nvSpPr>
                <p:cNvPr id="1099" name="Freeform 523"/>
                <p:cNvSpPr/>
                <p:nvPr/>
              </p:nvSpPr>
              <p:spPr>
                <a:xfrm>
                  <a:off x="7230" y="-1"/>
                  <a:ext cx="247278" cy="52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00" name="Freeform 524"/>
                <p:cNvSpPr/>
                <p:nvPr/>
              </p:nvSpPr>
              <p:spPr>
                <a:xfrm>
                  <a:off x="169074" y="44994"/>
                  <a:ext cx="92325" cy="45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01" name="Freeform 525"/>
                <p:cNvSpPr/>
                <p:nvPr/>
              </p:nvSpPr>
              <p:spPr>
                <a:xfrm>
                  <a:off x="-1" y="44994"/>
                  <a:ext cx="90657" cy="447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02" name="Freeform 526"/>
                <p:cNvSpPr/>
                <p:nvPr/>
              </p:nvSpPr>
              <p:spPr>
                <a:xfrm>
                  <a:off x="31470" y="22877"/>
                  <a:ext cx="197115" cy="71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16" name="Group 478"/>
            <p:cNvGrpSpPr/>
            <p:nvPr/>
          </p:nvGrpSpPr>
          <p:grpSpPr>
            <a:xfrm>
              <a:off x="1062737" y="2866006"/>
              <a:ext cx="393761" cy="409458"/>
              <a:chOff x="0" y="0"/>
              <a:chExt cx="393760" cy="409456"/>
            </a:xfrm>
          </p:grpSpPr>
          <p:grpSp>
            <p:nvGrpSpPr>
              <p:cNvPr id="1107" name="Freeform 479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1105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06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110" name="Oval 480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1108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09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115" name="Group 481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1111" name="Freeform 482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12" name="Freeform 483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13" name="Freeform 484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14" name="Freeform 485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24" name="Group 528"/>
            <p:cNvGrpSpPr/>
            <p:nvPr/>
          </p:nvGrpSpPr>
          <p:grpSpPr>
            <a:xfrm>
              <a:off x="697638" y="3188814"/>
              <a:ext cx="309740" cy="190839"/>
              <a:chOff x="0" y="0"/>
              <a:chExt cx="309739" cy="190837"/>
            </a:xfrm>
          </p:grpSpPr>
          <p:sp>
            <p:nvSpPr>
              <p:cNvPr id="1117" name="Rectangle 529"/>
              <p:cNvSpPr/>
              <p:nvPr/>
            </p:nvSpPr>
            <p:spPr>
              <a:xfrm>
                <a:off x="0" y="113922"/>
                <a:ext cx="308626" cy="76916"/>
              </a:xfrm>
              <a:prstGeom prst="rect">
                <a:avLst/>
              </a:pr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18" name="Freeform 530"/>
              <p:cNvSpPr/>
              <p:nvPr/>
            </p:nvSpPr>
            <p:spPr>
              <a:xfrm>
                <a:off x="857" y="-1"/>
                <a:ext cx="308883" cy="116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29"/>
                    </a:moveTo>
                    <a:lnTo>
                      <a:pt x="1440" y="0"/>
                    </a:lnTo>
                    <a:lnTo>
                      <a:pt x="19500" y="343"/>
                    </a:lnTo>
                    <a:lnTo>
                      <a:pt x="21600" y="21600"/>
                    </a:lnTo>
                    <a:lnTo>
                      <a:pt x="0" y="21429"/>
                    </a:lnTo>
                    <a:close/>
                  </a:path>
                </a:pathLst>
              </a:cu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1123" name="Group 531"/>
              <p:cNvGrpSpPr/>
              <p:nvPr/>
            </p:nvGrpSpPr>
            <p:grpSpPr>
              <a:xfrm>
                <a:off x="22308" y="13603"/>
                <a:ext cx="261399" cy="93969"/>
                <a:chOff x="0" y="0"/>
                <a:chExt cx="261398" cy="93968"/>
              </a:xfrm>
            </p:grpSpPr>
            <p:sp>
              <p:nvSpPr>
                <p:cNvPr id="1119" name="Freeform 532"/>
                <p:cNvSpPr/>
                <p:nvPr/>
              </p:nvSpPr>
              <p:spPr>
                <a:xfrm>
                  <a:off x="7230" y="-1"/>
                  <a:ext cx="247278" cy="52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20" name="Freeform 533"/>
                <p:cNvSpPr/>
                <p:nvPr/>
              </p:nvSpPr>
              <p:spPr>
                <a:xfrm>
                  <a:off x="169074" y="44994"/>
                  <a:ext cx="92325" cy="45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21" name="Freeform 534"/>
                <p:cNvSpPr/>
                <p:nvPr/>
              </p:nvSpPr>
              <p:spPr>
                <a:xfrm>
                  <a:off x="-1" y="44994"/>
                  <a:ext cx="90657" cy="447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22" name="Freeform 535"/>
                <p:cNvSpPr/>
                <p:nvPr/>
              </p:nvSpPr>
              <p:spPr>
                <a:xfrm>
                  <a:off x="31470" y="22877"/>
                  <a:ext cx="197115" cy="71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36" name="Group 406"/>
            <p:cNvGrpSpPr/>
            <p:nvPr/>
          </p:nvGrpSpPr>
          <p:grpSpPr>
            <a:xfrm>
              <a:off x="825945" y="694613"/>
              <a:ext cx="353678" cy="391882"/>
              <a:chOff x="0" y="0"/>
              <a:chExt cx="353677" cy="391881"/>
            </a:xfrm>
          </p:grpSpPr>
          <p:grpSp>
            <p:nvGrpSpPr>
              <p:cNvPr id="1127" name="Freeform 407"/>
              <p:cNvGrpSpPr/>
              <p:nvPr/>
            </p:nvGrpSpPr>
            <p:grpSpPr>
              <a:xfrm>
                <a:off x="-1" y="58793"/>
                <a:ext cx="353679" cy="333089"/>
                <a:chOff x="0" y="0"/>
                <a:chExt cx="353677" cy="333087"/>
              </a:xfrm>
            </p:grpSpPr>
            <p:sp>
              <p:nvSpPr>
                <p:cNvPr id="1125" name="Shape"/>
                <p:cNvSpPr/>
                <p:nvPr/>
              </p:nvSpPr>
              <p:spPr>
                <a:xfrm>
                  <a:off x="0" y="111530"/>
                  <a:ext cx="353678" cy="110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26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130" name="Oval 408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128" name="Oval"/>
                <p:cNvSpPr/>
                <p:nvPr/>
              </p:nvSpPr>
              <p:spPr>
                <a:xfrm>
                  <a:off x="0" y="112076"/>
                  <a:ext cx="353250" cy="108935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29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135" name="Group 409"/>
              <p:cNvGrpSpPr/>
              <p:nvPr/>
            </p:nvGrpSpPr>
            <p:grpSpPr>
              <a:xfrm>
                <a:off x="52453" y="125922"/>
                <a:ext cx="248706" cy="80044"/>
                <a:chOff x="0" y="0"/>
                <a:chExt cx="248704" cy="80043"/>
              </a:xfrm>
            </p:grpSpPr>
            <p:sp>
              <p:nvSpPr>
                <p:cNvPr id="1131" name="Freeform 410"/>
                <p:cNvSpPr/>
                <p:nvPr/>
              </p:nvSpPr>
              <p:spPr>
                <a:xfrm>
                  <a:off x="6879" y="0"/>
                  <a:ext cx="235271" cy="448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32" name="Freeform 411"/>
                <p:cNvSpPr/>
                <p:nvPr/>
              </p:nvSpPr>
              <p:spPr>
                <a:xfrm>
                  <a:off x="160864" y="38326"/>
                  <a:ext cx="87841" cy="385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33" name="Freeform 412"/>
                <p:cNvSpPr/>
                <p:nvPr/>
              </p:nvSpPr>
              <p:spPr>
                <a:xfrm>
                  <a:off x="0" y="38326"/>
                  <a:ext cx="86253" cy="381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34" name="Freeform 413"/>
                <p:cNvSpPr/>
                <p:nvPr/>
              </p:nvSpPr>
              <p:spPr>
                <a:xfrm>
                  <a:off x="29942" y="19487"/>
                  <a:ext cx="187543" cy="605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48" name="Group 414"/>
            <p:cNvGrpSpPr/>
            <p:nvPr/>
          </p:nvGrpSpPr>
          <p:grpSpPr>
            <a:xfrm>
              <a:off x="436188" y="1850691"/>
              <a:ext cx="354987" cy="394465"/>
              <a:chOff x="0" y="0"/>
              <a:chExt cx="354986" cy="394464"/>
            </a:xfrm>
          </p:grpSpPr>
          <p:grpSp>
            <p:nvGrpSpPr>
              <p:cNvPr id="1139" name="Freeform 415"/>
              <p:cNvGrpSpPr/>
              <p:nvPr/>
            </p:nvGrpSpPr>
            <p:grpSpPr>
              <a:xfrm>
                <a:off x="0" y="61377"/>
                <a:ext cx="354987" cy="333088"/>
                <a:chOff x="0" y="0"/>
                <a:chExt cx="354986" cy="333087"/>
              </a:xfrm>
            </p:grpSpPr>
            <p:sp>
              <p:nvSpPr>
                <p:cNvPr id="1137" name="Shape"/>
                <p:cNvSpPr/>
                <p:nvPr/>
              </p:nvSpPr>
              <p:spPr>
                <a:xfrm>
                  <a:off x="0" y="109113"/>
                  <a:ext cx="354987" cy="1148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38" name="Text"/>
                <p:cNvSpPr txBox="1"/>
                <p:nvPr/>
              </p:nvSpPr>
              <p:spPr>
                <a:xfrm>
                  <a:off x="48894" y="0"/>
                  <a:ext cx="257197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142" name="Oval 416"/>
              <p:cNvGrpSpPr/>
              <p:nvPr/>
            </p:nvGrpSpPr>
            <p:grpSpPr>
              <a:xfrm>
                <a:off x="204" y="-1"/>
                <a:ext cx="354557" cy="333089"/>
                <a:chOff x="0" y="0"/>
                <a:chExt cx="354555" cy="333087"/>
              </a:xfrm>
            </p:grpSpPr>
            <p:sp>
              <p:nvSpPr>
                <p:cNvPr id="1140" name="Oval"/>
                <p:cNvSpPr/>
                <p:nvPr/>
              </p:nvSpPr>
              <p:spPr>
                <a:xfrm>
                  <a:off x="0" y="109684"/>
                  <a:ext cx="354556" cy="11372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41" name="Text"/>
                <p:cNvSpPr txBox="1"/>
                <p:nvPr/>
              </p:nvSpPr>
              <p:spPr>
                <a:xfrm>
                  <a:off x="100818" y="0"/>
                  <a:ext cx="152920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147" name="Group 417"/>
              <p:cNvGrpSpPr/>
              <p:nvPr/>
            </p:nvGrpSpPr>
            <p:grpSpPr>
              <a:xfrm>
                <a:off x="52647" y="124137"/>
                <a:ext cx="249626" cy="83561"/>
                <a:chOff x="0" y="0"/>
                <a:chExt cx="249624" cy="83559"/>
              </a:xfrm>
            </p:grpSpPr>
            <p:sp>
              <p:nvSpPr>
                <p:cNvPr id="1143" name="Freeform 418"/>
                <p:cNvSpPr/>
                <p:nvPr/>
              </p:nvSpPr>
              <p:spPr>
                <a:xfrm>
                  <a:off x="6904" y="-1"/>
                  <a:ext cx="236141" cy="467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44" name="Freeform 419"/>
                <p:cNvSpPr/>
                <p:nvPr/>
              </p:nvSpPr>
              <p:spPr>
                <a:xfrm>
                  <a:off x="161459" y="40010"/>
                  <a:ext cx="88166" cy="40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45" name="Freeform 420"/>
                <p:cNvSpPr/>
                <p:nvPr/>
              </p:nvSpPr>
              <p:spPr>
                <a:xfrm>
                  <a:off x="-1" y="40010"/>
                  <a:ext cx="86573" cy="398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46" name="Freeform 421"/>
                <p:cNvSpPr/>
                <p:nvPr/>
              </p:nvSpPr>
              <p:spPr>
                <a:xfrm>
                  <a:off x="30053" y="20343"/>
                  <a:ext cx="188236" cy="632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60" name="Group 454"/>
            <p:cNvGrpSpPr/>
            <p:nvPr/>
          </p:nvGrpSpPr>
          <p:grpSpPr>
            <a:xfrm>
              <a:off x="3270203" y="1563659"/>
              <a:ext cx="170990" cy="160911"/>
              <a:chOff x="0" y="0"/>
              <a:chExt cx="170988" cy="160909"/>
            </a:xfrm>
          </p:grpSpPr>
          <p:grpSp>
            <p:nvGrpSpPr>
              <p:cNvPr id="1151" name="Freeform 455"/>
              <p:cNvGrpSpPr/>
              <p:nvPr/>
            </p:nvGrpSpPr>
            <p:grpSpPr>
              <a:xfrm>
                <a:off x="0" y="33909"/>
                <a:ext cx="170989" cy="127001"/>
                <a:chOff x="0" y="0"/>
                <a:chExt cx="170988" cy="127000"/>
              </a:xfrm>
            </p:grpSpPr>
            <p:sp>
              <p:nvSpPr>
                <p:cNvPr id="1149" name="Shape"/>
                <p:cNvSpPr/>
                <p:nvPr/>
              </p:nvSpPr>
              <p:spPr>
                <a:xfrm>
                  <a:off x="0" y="31770"/>
                  <a:ext cx="170989" cy="634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50" name="Text"/>
                <p:cNvSpPr txBox="1"/>
                <p:nvPr/>
              </p:nvSpPr>
              <p:spPr>
                <a:xfrm>
                  <a:off x="47307" y="0"/>
                  <a:ext cx="76375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154" name="Oval 456"/>
              <p:cNvGrpSpPr/>
              <p:nvPr/>
            </p:nvGrpSpPr>
            <p:grpSpPr>
              <a:xfrm>
                <a:off x="98" y="0"/>
                <a:ext cx="170783" cy="127000"/>
                <a:chOff x="0" y="0"/>
                <a:chExt cx="170782" cy="127000"/>
              </a:xfrm>
            </p:grpSpPr>
            <p:sp>
              <p:nvSpPr>
                <p:cNvPr id="1152" name="Oval"/>
                <p:cNvSpPr/>
                <p:nvPr/>
              </p:nvSpPr>
              <p:spPr>
                <a:xfrm>
                  <a:off x="0" y="32086"/>
                  <a:ext cx="170783" cy="62829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53" name="Text"/>
                <p:cNvSpPr txBox="1"/>
                <p:nvPr/>
              </p:nvSpPr>
              <p:spPr>
                <a:xfrm>
                  <a:off x="72317" y="0"/>
                  <a:ext cx="26147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159" name="Group 457"/>
              <p:cNvGrpSpPr/>
              <p:nvPr/>
            </p:nvGrpSpPr>
            <p:grpSpPr>
              <a:xfrm>
                <a:off x="25359" y="40071"/>
                <a:ext cx="120239" cy="46166"/>
                <a:chOff x="0" y="0"/>
                <a:chExt cx="120238" cy="46164"/>
              </a:xfrm>
            </p:grpSpPr>
            <p:sp>
              <p:nvSpPr>
                <p:cNvPr id="1155" name="Freeform 458"/>
                <p:cNvSpPr/>
                <p:nvPr/>
              </p:nvSpPr>
              <p:spPr>
                <a:xfrm>
                  <a:off x="3325" y="-1"/>
                  <a:ext cx="113745" cy="258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56" name="Freeform 459"/>
                <p:cNvSpPr/>
                <p:nvPr/>
              </p:nvSpPr>
              <p:spPr>
                <a:xfrm>
                  <a:off x="77771" y="22104"/>
                  <a:ext cx="42468" cy="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57" name="Freeform 460"/>
                <p:cNvSpPr/>
                <p:nvPr/>
              </p:nvSpPr>
              <p:spPr>
                <a:xfrm>
                  <a:off x="0" y="22104"/>
                  <a:ext cx="41700" cy="219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58" name="Freeform 461"/>
                <p:cNvSpPr/>
                <p:nvPr/>
              </p:nvSpPr>
              <p:spPr>
                <a:xfrm>
                  <a:off x="14476" y="11239"/>
                  <a:ext cx="90669" cy="34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72" name="Group 614"/>
            <p:cNvGrpSpPr/>
            <p:nvPr/>
          </p:nvGrpSpPr>
          <p:grpSpPr>
            <a:xfrm>
              <a:off x="2796727" y="1388175"/>
              <a:ext cx="353679" cy="402388"/>
              <a:chOff x="0" y="0"/>
              <a:chExt cx="353677" cy="402387"/>
            </a:xfrm>
          </p:grpSpPr>
          <p:grpSp>
            <p:nvGrpSpPr>
              <p:cNvPr id="1163" name="Freeform 615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161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62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166" name="Oval 61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164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65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171" name="Group 617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167" name="Freeform 618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68" name="Freeform 619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69" name="Freeform 620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70" name="Freeform 621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84" name="Group 576"/>
            <p:cNvGrpSpPr/>
            <p:nvPr/>
          </p:nvGrpSpPr>
          <p:grpSpPr>
            <a:xfrm>
              <a:off x="2334842" y="94328"/>
              <a:ext cx="353679" cy="402389"/>
              <a:chOff x="0" y="0"/>
              <a:chExt cx="353677" cy="402387"/>
            </a:xfrm>
          </p:grpSpPr>
          <p:grpSp>
            <p:nvGrpSpPr>
              <p:cNvPr id="1175" name="Freeform 577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173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74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178" name="Oval 578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176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77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183" name="Group 579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179" name="Freeform 580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80" name="Freeform 581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81" name="Freeform 582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82" name="Freeform 583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196" name="Group 592"/>
            <p:cNvGrpSpPr/>
            <p:nvPr/>
          </p:nvGrpSpPr>
          <p:grpSpPr>
            <a:xfrm>
              <a:off x="2913332" y="505403"/>
              <a:ext cx="353679" cy="402389"/>
              <a:chOff x="0" y="0"/>
              <a:chExt cx="353677" cy="402387"/>
            </a:xfrm>
          </p:grpSpPr>
          <p:grpSp>
            <p:nvGrpSpPr>
              <p:cNvPr id="1187" name="Freeform 593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185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86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190" name="Oval 594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188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89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195" name="Group 595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191" name="Freeform 596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92" name="Freeform 597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93" name="Freeform 598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94" name="Freeform 599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208" name="Group 600"/>
            <p:cNvGrpSpPr/>
            <p:nvPr/>
          </p:nvGrpSpPr>
          <p:grpSpPr>
            <a:xfrm>
              <a:off x="3029943" y="-1"/>
              <a:ext cx="353679" cy="402389"/>
              <a:chOff x="0" y="0"/>
              <a:chExt cx="353677" cy="402387"/>
            </a:xfrm>
          </p:grpSpPr>
          <p:grpSp>
            <p:nvGrpSpPr>
              <p:cNvPr id="1199" name="Freeform 601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197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198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202" name="Oval 602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200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01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207" name="Group 603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203" name="Freeform 604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04" name="Freeform 605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05" name="Freeform 606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06" name="Freeform 607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220" name="Group 553"/>
            <p:cNvGrpSpPr/>
            <p:nvPr/>
          </p:nvGrpSpPr>
          <p:grpSpPr>
            <a:xfrm>
              <a:off x="1484906" y="1862242"/>
              <a:ext cx="367225" cy="417049"/>
              <a:chOff x="0" y="0"/>
              <a:chExt cx="367223" cy="417048"/>
            </a:xfrm>
          </p:grpSpPr>
          <p:grpSp>
            <p:nvGrpSpPr>
              <p:cNvPr id="1211" name="Freeform 554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1209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10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214" name="Oval 555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1212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13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219" name="Group 556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1215" name="Freeform 557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16" name="Freeform 558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17" name="Freeform 559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18" name="Freeform 560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232" name="Group 584"/>
            <p:cNvGrpSpPr/>
            <p:nvPr/>
          </p:nvGrpSpPr>
          <p:grpSpPr>
            <a:xfrm>
              <a:off x="2366244" y="553601"/>
              <a:ext cx="353679" cy="402389"/>
              <a:chOff x="0" y="0"/>
              <a:chExt cx="353677" cy="402387"/>
            </a:xfrm>
          </p:grpSpPr>
          <p:grpSp>
            <p:nvGrpSpPr>
              <p:cNvPr id="1223" name="Freeform 585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221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22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226" name="Oval 58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224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25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231" name="Group 587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227" name="Freeform 588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28" name="Freeform 589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29" name="Freeform 590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30" name="Freeform 591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244" name="Group 537"/>
            <p:cNvGrpSpPr/>
            <p:nvPr/>
          </p:nvGrpSpPr>
          <p:grpSpPr>
            <a:xfrm>
              <a:off x="1883256" y="1299650"/>
              <a:ext cx="367225" cy="417049"/>
              <a:chOff x="0" y="0"/>
              <a:chExt cx="367223" cy="417048"/>
            </a:xfrm>
          </p:grpSpPr>
          <p:grpSp>
            <p:nvGrpSpPr>
              <p:cNvPr id="1235" name="Freeform 538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1233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34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238" name="Oval 539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1236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37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243" name="Group 540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1239" name="Freeform 541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40" name="Freeform 542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41" name="Freeform 543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42" name="Freeform 544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256" name="Group 545"/>
            <p:cNvGrpSpPr/>
            <p:nvPr/>
          </p:nvGrpSpPr>
          <p:grpSpPr>
            <a:xfrm>
              <a:off x="1987672" y="1905381"/>
              <a:ext cx="367225" cy="417049"/>
              <a:chOff x="0" y="0"/>
              <a:chExt cx="367223" cy="417048"/>
            </a:xfrm>
          </p:grpSpPr>
          <p:grpSp>
            <p:nvGrpSpPr>
              <p:cNvPr id="1247" name="Freeform 546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1245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46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250" name="Oval 547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1248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49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255" name="Group 548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1251" name="Freeform 549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52" name="Freeform 550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53" name="Freeform 551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54" name="Freeform 552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268" name="Group 622"/>
            <p:cNvGrpSpPr/>
            <p:nvPr/>
          </p:nvGrpSpPr>
          <p:grpSpPr>
            <a:xfrm>
              <a:off x="2761377" y="1884362"/>
              <a:ext cx="353679" cy="402388"/>
              <a:chOff x="0" y="0"/>
              <a:chExt cx="353677" cy="402387"/>
            </a:xfrm>
          </p:grpSpPr>
          <p:grpSp>
            <p:nvGrpSpPr>
              <p:cNvPr id="1259" name="Freeform 623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257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58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262" name="Oval 624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260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61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267" name="Group 625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263" name="Freeform 626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64" name="Freeform 627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65" name="Freeform 628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66" name="Freeform 629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280" name="Group 462"/>
            <p:cNvGrpSpPr/>
            <p:nvPr/>
          </p:nvGrpSpPr>
          <p:grpSpPr>
            <a:xfrm>
              <a:off x="1634011" y="2674272"/>
              <a:ext cx="393761" cy="409458"/>
              <a:chOff x="0" y="0"/>
              <a:chExt cx="393760" cy="409456"/>
            </a:xfrm>
          </p:grpSpPr>
          <p:grpSp>
            <p:nvGrpSpPr>
              <p:cNvPr id="1271" name="Freeform 463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1269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70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274" name="Oval 464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1272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73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279" name="Group 465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1275" name="Freeform 466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76" name="Freeform 467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77" name="Freeform 468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78" name="Freeform 469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292" name="Group 446"/>
            <p:cNvGrpSpPr/>
            <p:nvPr/>
          </p:nvGrpSpPr>
          <p:grpSpPr>
            <a:xfrm>
              <a:off x="3312100" y="2278000"/>
              <a:ext cx="228296" cy="333088"/>
              <a:chOff x="0" y="0"/>
              <a:chExt cx="228295" cy="333087"/>
            </a:xfrm>
          </p:grpSpPr>
          <p:grpSp>
            <p:nvGrpSpPr>
              <p:cNvPr id="1283" name="Freeform 447"/>
              <p:cNvGrpSpPr/>
              <p:nvPr/>
            </p:nvGrpSpPr>
            <p:grpSpPr>
              <a:xfrm>
                <a:off x="0" y="-1"/>
                <a:ext cx="228296" cy="333089"/>
                <a:chOff x="0" y="0"/>
                <a:chExt cx="228295" cy="333087"/>
              </a:xfrm>
            </p:grpSpPr>
            <p:sp>
              <p:nvSpPr>
                <p:cNvPr id="1281" name="Shape"/>
                <p:cNvSpPr/>
                <p:nvPr/>
              </p:nvSpPr>
              <p:spPr>
                <a:xfrm>
                  <a:off x="0" y="127181"/>
                  <a:ext cx="228296" cy="787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82" name="Text"/>
                <p:cNvSpPr txBox="1"/>
                <p:nvPr/>
              </p:nvSpPr>
              <p:spPr>
                <a:xfrm>
                  <a:off x="47307" y="0"/>
                  <a:ext cx="13368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286" name="Oval 448"/>
              <p:cNvGrpSpPr/>
              <p:nvPr/>
            </p:nvGrpSpPr>
            <p:grpSpPr>
              <a:xfrm>
                <a:off x="131" y="60976"/>
                <a:ext cx="228019" cy="127001"/>
                <a:chOff x="0" y="0"/>
                <a:chExt cx="228018" cy="127000"/>
              </a:xfrm>
            </p:grpSpPr>
            <p:sp>
              <p:nvSpPr>
                <p:cNvPr id="1284" name="Oval"/>
                <p:cNvSpPr/>
                <p:nvPr/>
              </p:nvSpPr>
              <p:spPr>
                <a:xfrm>
                  <a:off x="0" y="24529"/>
                  <a:ext cx="228019" cy="77943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85" name="Text"/>
                <p:cNvSpPr txBox="1"/>
                <p:nvPr/>
              </p:nvSpPr>
              <p:spPr>
                <a:xfrm>
                  <a:off x="80699" y="0"/>
                  <a:ext cx="66620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291" name="Group 449"/>
              <p:cNvGrpSpPr/>
              <p:nvPr/>
            </p:nvGrpSpPr>
            <p:grpSpPr>
              <a:xfrm>
                <a:off x="33858" y="95412"/>
                <a:ext cx="160537" cy="57271"/>
                <a:chOff x="0" y="0"/>
                <a:chExt cx="160536" cy="57270"/>
              </a:xfrm>
            </p:grpSpPr>
            <p:sp>
              <p:nvSpPr>
                <p:cNvPr id="1287" name="Freeform 450"/>
                <p:cNvSpPr/>
                <p:nvPr/>
              </p:nvSpPr>
              <p:spPr>
                <a:xfrm>
                  <a:off x="4440" y="-1"/>
                  <a:ext cx="151865" cy="32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88" name="Freeform 451"/>
                <p:cNvSpPr/>
                <p:nvPr/>
              </p:nvSpPr>
              <p:spPr>
                <a:xfrm>
                  <a:off x="103836" y="27422"/>
                  <a:ext cx="56701" cy="276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89" name="Freeform 452"/>
                <p:cNvSpPr/>
                <p:nvPr/>
              </p:nvSpPr>
              <p:spPr>
                <a:xfrm>
                  <a:off x="-1" y="27422"/>
                  <a:ext cx="55677" cy="272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290" name="Freeform 453"/>
                <p:cNvSpPr/>
                <p:nvPr/>
              </p:nvSpPr>
              <p:spPr>
                <a:xfrm>
                  <a:off x="19327" y="13943"/>
                  <a:ext cx="121057" cy="43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sp>
        <p:nvSpPr>
          <p:cNvPr id="1294" name="Content Placeholder 2"/>
          <p:cNvSpPr txBox="1"/>
          <p:nvPr/>
        </p:nvSpPr>
        <p:spPr>
          <a:xfrm>
            <a:off x="885320" y="2732121"/>
            <a:ext cx="5303133" cy="1824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08026" indent="-208026" defTabSz="832104">
              <a:lnSpc>
                <a:spcPct val="81000"/>
              </a:lnSpc>
              <a:spcBef>
                <a:spcPts val="900"/>
              </a:spcBef>
              <a:buClr>
                <a:srgbClr val="0000A3"/>
              </a:buClr>
              <a:buSzPct val="75000"/>
              <a:buChar char="▪"/>
              <a:defRPr i="1" sz="2548">
                <a:solidFill>
                  <a:srgbClr val="CC0000"/>
                </a:solidFill>
              </a:defRPr>
            </a:pPr>
            <a:r>
              <a:t>protocols</a:t>
            </a:r>
            <a:r>
              <a:rPr i="0">
                <a:solidFill>
                  <a:srgbClr val="FF0000"/>
                </a:solidFill>
              </a:rPr>
              <a:t> </a:t>
            </a:r>
            <a:r>
              <a:rPr i="0">
                <a:solidFill>
                  <a:srgbClr val="000000"/>
                </a:solidFill>
              </a:rPr>
              <a:t>are </a:t>
            </a:r>
            <a:r>
              <a:rPr>
                <a:solidFill>
                  <a:srgbClr val="000000"/>
                </a:solidFill>
              </a:rPr>
              <a:t>everywhere</a:t>
            </a:r>
          </a:p>
          <a:p>
            <a:pPr lvl="1" marL="624078" indent="-208026" defTabSz="832104">
              <a:lnSpc>
                <a:spcPct val="81000"/>
              </a:lnSpc>
              <a:spcBef>
                <a:spcPts val="400"/>
              </a:spcBef>
              <a:buClr>
                <a:srgbClr val="0000A8"/>
              </a:buClr>
              <a:buSzPct val="75000"/>
              <a:buFont typeface="Arial"/>
              <a:buChar char="•"/>
              <a:defRPr sz="2184"/>
            </a:pPr>
            <a:r>
              <a:t>control sending, receiving of messages</a:t>
            </a:r>
          </a:p>
          <a:p>
            <a:pPr lvl="1" marL="624078" indent="-208026" defTabSz="832104">
              <a:lnSpc>
                <a:spcPct val="81000"/>
              </a:lnSpc>
              <a:spcBef>
                <a:spcPts val="400"/>
              </a:spcBef>
              <a:buClr>
                <a:srgbClr val="0000A8"/>
              </a:buClr>
              <a:buSzPct val="100000"/>
              <a:buFont typeface="Arial"/>
              <a:buChar char="•"/>
              <a:defRPr sz="2184"/>
            </a:pPr>
            <a:r>
              <a:t>e.g., HTTP (Web), streaming video, Zoom, TCP, IP, WiFi, 4/5G, Ethernet</a:t>
            </a:r>
            <a:endParaRPr sz="2548"/>
          </a:p>
        </p:txBody>
      </p:sp>
      <p:grpSp>
        <p:nvGrpSpPr>
          <p:cNvPr id="1298" name="Group 14"/>
          <p:cNvGrpSpPr/>
          <p:nvPr/>
        </p:nvGrpSpPr>
        <p:grpSpPr>
          <a:xfrm>
            <a:off x="6906043" y="4962204"/>
            <a:ext cx="1501939" cy="518735"/>
            <a:chOff x="0" y="0"/>
            <a:chExt cx="1501938" cy="518734"/>
          </a:xfrm>
        </p:grpSpPr>
        <p:sp>
          <p:nvSpPr>
            <p:cNvPr id="1295" name="Straight Connector 4"/>
            <p:cNvSpPr/>
            <p:nvPr/>
          </p:nvSpPr>
          <p:spPr>
            <a:xfrm flipH="1">
              <a:off x="1062675" y="365569"/>
              <a:ext cx="439264" cy="153165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96" name="TextBox 8"/>
            <p:cNvSpPr txBox="1"/>
            <p:nvPr/>
          </p:nvSpPr>
          <p:spPr>
            <a:xfrm>
              <a:off x="0" y="0"/>
              <a:ext cx="808395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Ethernet</a:t>
              </a:r>
            </a:p>
          </p:txBody>
        </p:sp>
        <p:sp>
          <p:nvSpPr>
            <p:cNvPr id="1297" name="Straight Connector 10"/>
            <p:cNvSpPr/>
            <p:nvPr/>
          </p:nvSpPr>
          <p:spPr>
            <a:xfrm>
              <a:off x="798094" y="182219"/>
              <a:ext cx="470404" cy="216746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02" name="Group 17"/>
          <p:cNvGrpSpPr/>
          <p:nvPr/>
        </p:nvGrpSpPr>
        <p:grpSpPr>
          <a:xfrm>
            <a:off x="7608439" y="3698397"/>
            <a:ext cx="3543850" cy="1371858"/>
            <a:chOff x="0" y="0"/>
            <a:chExt cx="3543848" cy="1371857"/>
          </a:xfrm>
        </p:grpSpPr>
        <p:sp>
          <p:nvSpPr>
            <p:cNvPr id="1299" name="Straight Connector 611"/>
            <p:cNvSpPr/>
            <p:nvPr/>
          </p:nvSpPr>
          <p:spPr>
            <a:xfrm flipH="1">
              <a:off x="676860" y="0"/>
              <a:ext cx="2866989" cy="1371858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00" name="TextBox 612"/>
            <p:cNvSpPr txBox="1"/>
            <p:nvPr/>
          </p:nvSpPr>
          <p:spPr>
            <a:xfrm>
              <a:off x="0" y="871208"/>
              <a:ext cx="536635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HTTP</a:t>
              </a:r>
            </a:p>
          </p:txBody>
        </p:sp>
        <p:sp>
          <p:nvSpPr>
            <p:cNvPr id="1301" name="Straight Connector 613"/>
            <p:cNvSpPr/>
            <p:nvPr/>
          </p:nvSpPr>
          <p:spPr>
            <a:xfrm>
              <a:off x="491384" y="1055269"/>
              <a:ext cx="402218" cy="115862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06" name="Group 34"/>
          <p:cNvGrpSpPr/>
          <p:nvPr/>
        </p:nvGrpSpPr>
        <p:grpSpPr>
          <a:xfrm>
            <a:off x="6416938" y="2787535"/>
            <a:ext cx="1225577" cy="663793"/>
            <a:chOff x="0" y="0"/>
            <a:chExt cx="1225576" cy="663791"/>
          </a:xfrm>
        </p:grpSpPr>
        <p:sp>
          <p:nvSpPr>
            <p:cNvPr id="1303" name="Straight Connector 631"/>
            <p:cNvSpPr/>
            <p:nvPr/>
          </p:nvSpPr>
          <p:spPr>
            <a:xfrm>
              <a:off x="1214081" y="0"/>
              <a:ext cx="11496" cy="663793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04" name="TextBox 632"/>
            <p:cNvSpPr txBox="1"/>
            <p:nvPr/>
          </p:nvSpPr>
          <p:spPr>
            <a:xfrm>
              <a:off x="0" y="157143"/>
              <a:ext cx="580787" cy="3005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Skype</a:t>
              </a:r>
            </a:p>
          </p:txBody>
        </p:sp>
        <p:sp>
          <p:nvSpPr>
            <p:cNvPr id="1305" name="Straight Connector 633"/>
            <p:cNvSpPr/>
            <p:nvPr/>
          </p:nvSpPr>
          <p:spPr>
            <a:xfrm>
              <a:off x="556472" y="331895"/>
              <a:ext cx="559044" cy="1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10" name="Group 634"/>
          <p:cNvGrpSpPr/>
          <p:nvPr/>
        </p:nvGrpSpPr>
        <p:grpSpPr>
          <a:xfrm>
            <a:off x="9381298" y="2816376"/>
            <a:ext cx="630268" cy="552258"/>
            <a:chOff x="0" y="0"/>
            <a:chExt cx="630266" cy="552256"/>
          </a:xfrm>
        </p:grpSpPr>
        <p:sp>
          <p:nvSpPr>
            <p:cNvPr id="1307" name="Straight Connector 635"/>
            <p:cNvSpPr/>
            <p:nvPr/>
          </p:nvSpPr>
          <p:spPr>
            <a:xfrm flipH="1">
              <a:off x="328075" y="43524"/>
              <a:ext cx="302192" cy="508733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08" name="TextBox 636"/>
            <p:cNvSpPr txBox="1"/>
            <p:nvPr/>
          </p:nvSpPr>
          <p:spPr>
            <a:xfrm>
              <a:off x="0" y="0"/>
              <a:ext cx="260311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IP</a:t>
              </a:r>
            </a:p>
          </p:txBody>
        </p:sp>
        <p:sp>
          <p:nvSpPr>
            <p:cNvPr id="1309" name="Straight Connector 637"/>
            <p:cNvSpPr/>
            <p:nvPr/>
          </p:nvSpPr>
          <p:spPr>
            <a:xfrm>
              <a:off x="216930" y="184837"/>
              <a:ext cx="262241" cy="1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14" name="Group 638"/>
          <p:cNvGrpSpPr/>
          <p:nvPr/>
        </p:nvGrpSpPr>
        <p:grpSpPr>
          <a:xfrm>
            <a:off x="9110690" y="5697821"/>
            <a:ext cx="471647" cy="889870"/>
            <a:chOff x="0" y="0"/>
            <a:chExt cx="471646" cy="889868"/>
          </a:xfrm>
        </p:grpSpPr>
        <p:sp>
          <p:nvSpPr>
            <p:cNvPr id="1311" name="Straight Connector 639"/>
            <p:cNvSpPr/>
            <p:nvPr/>
          </p:nvSpPr>
          <p:spPr>
            <a:xfrm flipH="1">
              <a:off x="111660" y="0"/>
              <a:ext cx="204851" cy="289980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2" name="TextBox 640"/>
            <p:cNvSpPr txBox="1"/>
            <p:nvPr/>
          </p:nvSpPr>
          <p:spPr>
            <a:xfrm>
              <a:off x="0" y="589275"/>
              <a:ext cx="471647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WiFi</a:t>
              </a:r>
            </a:p>
          </p:txBody>
        </p:sp>
        <p:sp>
          <p:nvSpPr>
            <p:cNvPr id="1313" name="Straight Connector 641"/>
            <p:cNvSpPr/>
            <p:nvPr/>
          </p:nvSpPr>
          <p:spPr>
            <a:xfrm flipV="1">
              <a:off x="251023" y="199816"/>
              <a:ext cx="2" cy="450785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18" name="Group 642"/>
          <p:cNvGrpSpPr/>
          <p:nvPr/>
        </p:nvGrpSpPr>
        <p:grpSpPr>
          <a:xfrm>
            <a:off x="8229599" y="1604463"/>
            <a:ext cx="1012483" cy="671368"/>
            <a:chOff x="0" y="0"/>
            <a:chExt cx="1012481" cy="671367"/>
          </a:xfrm>
        </p:grpSpPr>
        <p:sp>
          <p:nvSpPr>
            <p:cNvPr id="1315" name="Straight Connector 643"/>
            <p:cNvSpPr/>
            <p:nvPr/>
          </p:nvSpPr>
          <p:spPr>
            <a:xfrm flipV="1">
              <a:off x="-1" y="538364"/>
              <a:ext cx="628293" cy="133004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6" name="TextBox 644"/>
            <p:cNvSpPr txBox="1"/>
            <p:nvPr/>
          </p:nvSpPr>
          <p:spPr>
            <a:xfrm>
              <a:off x="677162" y="0"/>
              <a:ext cx="335320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4G</a:t>
              </a:r>
            </a:p>
          </p:txBody>
        </p:sp>
        <p:sp>
          <p:nvSpPr>
            <p:cNvPr id="1317" name="Straight Connector 645"/>
            <p:cNvSpPr/>
            <p:nvPr/>
          </p:nvSpPr>
          <p:spPr>
            <a:xfrm flipV="1">
              <a:off x="244937" y="179856"/>
              <a:ext cx="430427" cy="448965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22" name="Group 646"/>
          <p:cNvGrpSpPr/>
          <p:nvPr/>
        </p:nvGrpSpPr>
        <p:grpSpPr>
          <a:xfrm>
            <a:off x="10484542" y="4543614"/>
            <a:ext cx="1000757" cy="1224699"/>
            <a:chOff x="0" y="0"/>
            <a:chExt cx="1000755" cy="1224697"/>
          </a:xfrm>
        </p:grpSpPr>
        <p:sp>
          <p:nvSpPr>
            <p:cNvPr id="1319" name="Straight Connector 647"/>
            <p:cNvSpPr/>
            <p:nvPr/>
          </p:nvSpPr>
          <p:spPr>
            <a:xfrm flipH="1">
              <a:off x="0" y="0"/>
              <a:ext cx="736417" cy="894405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20" name="TextBox 648"/>
            <p:cNvSpPr txBox="1"/>
            <p:nvPr/>
          </p:nvSpPr>
          <p:spPr>
            <a:xfrm>
              <a:off x="590129" y="924104"/>
              <a:ext cx="410627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TCP</a:t>
              </a:r>
            </a:p>
          </p:txBody>
        </p:sp>
        <p:sp>
          <p:nvSpPr>
            <p:cNvPr id="1321" name="Straight Connector 649"/>
            <p:cNvSpPr/>
            <p:nvPr/>
          </p:nvSpPr>
          <p:spPr>
            <a:xfrm flipH="1" flipV="1">
              <a:off x="369828" y="532313"/>
              <a:ext cx="297919" cy="450785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26" name="Group 63"/>
          <p:cNvGrpSpPr/>
          <p:nvPr/>
        </p:nvGrpSpPr>
        <p:grpSpPr>
          <a:xfrm>
            <a:off x="9218787" y="2327786"/>
            <a:ext cx="2550713" cy="1025466"/>
            <a:chOff x="0" y="0"/>
            <a:chExt cx="2550712" cy="1025465"/>
          </a:xfrm>
        </p:grpSpPr>
        <p:sp>
          <p:nvSpPr>
            <p:cNvPr id="1323" name="Straight Connector 651"/>
            <p:cNvSpPr/>
            <p:nvPr/>
          </p:nvSpPr>
          <p:spPr>
            <a:xfrm>
              <a:off x="0" y="-1"/>
              <a:ext cx="1698980" cy="1025467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24" name="TextBox 653"/>
            <p:cNvSpPr txBox="1"/>
            <p:nvPr/>
          </p:nvSpPr>
          <p:spPr>
            <a:xfrm>
              <a:off x="1599145" y="356510"/>
              <a:ext cx="951568" cy="554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i="1" sz="1600">
                  <a:solidFill>
                    <a:srgbClr val="C00000"/>
                  </a:solidFill>
                </a:defRPr>
              </a:pPr>
              <a:r>
                <a:t>Streaming</a:t>
              </a:r>
            </a:p>
            <a:p>
              <a:pPr>
                <a:defRPr i="1" sz="1600">
                  <a:solidFill>
                    <a:srgbClr val="C00000"/>
                  </a:solidFill>
                </a:defRPr>
              </a:pPr>
              <a:r>
                <a:t>video</a:t>
              </a:r>
            </a:p>
          </p:txBody>
        </p:sp>
        <p:sp>
          <p:nvSpPr>
            <p:cNvPr id="1325" name="Straight Connector 655"/>
            <p:cNvSpPr/>
            <p:nvPr/>
          </p:nvSpPr>
          <p:spPr>
            <a:xfrm flipV="1">
              <a:off x="1350764" y="609512"/>
              <a:ext cx="405323" cy="147575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327" name="Content Placeholder 2"/>
          <p:cNvSpPr txBox="1"/>
          <p:nvPr/>
        </p:nvSpPr>
        <p:spPr>
          <a:xfrm>
            <a:off x="898130" y="4676299"/>
            <a:ext cx="5303133" cy="1868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6313" indent="-226313" defTabSz="905255">
              <a:lnSpc>
                <a:spcPct val="90000"/>
              </a:lnSpc>
              <a:spcBef>
                <a:spcPts val="900"/>
              </a:spcBef>
              <a:buClr>
                <a:srgbClr val="0000A3"/>
              </a:buClr>
              <a:buSzPct val="75000"/>
              <a:buChar char="▪"/>
              <a:defRPr i="1" sz="2772">
                <a:solidFill>
                  <a:srgbClr val="C00000"/>
                </a:solidFill>
              </a:defRPr>
            </a:pPr>
            <a:r>
              <a:t>Internet  standards</a:t>
            </a:r>
          </a:p>
          <a:p>
            <a:pPr lvl="1" marL="678941" indent="-226313" defTabSz="905255">
              <a:lnSpc>
                <a:spcPct val="90000"/>
              </a:lnSpc>
              <a:spcBef>
                <a:spcPts val="400"/>
              </a:spcBef>
              <a:buClr>
                <a:srgbClr val="0000A8"/>
              </a:buClr>
              <a:buSzPct val="100000"/>
              <a:buFont typeface="Arial"/>
              <a:buChar char="•"/>
              <a:defRPr sz="2376"/>
            </a:pPr>
            <a:r>
              <a:t>RFC: Request for Comments</a:t>
            </a:r>
          </a:p>
          <a:p>
            <a:pPr lvl="1" marL="678941" indent="-226313" defTabSz="905255">
              <a:lnSpc>
                <a:spcPct val="90000"/>
              </a:lnSpc>
              <a:spcBef>
                <a:spcPts val="400"/>
              </a:spcBef>
              <a:buClr>
                <a:srgbClr val="0000A8"/>
              </a:buClr>
              <a:buSzPct val="100000"/>
              <a:buFont typeface="Arial"/>
              <a:buChar char="•"/>
              <a:defRPr sz="2376"/>
            </a:pPr>
            <a:r>
              <a:t>IETF: Internet Engineering Task Force</a:t>
            </a:r>
          </a:p>
        </p:txBody>
      </p:sp>
      <p:sp>
        <p:nvSpPr>
          <p:cNvPr id="1328" name="Slide Number Placeholder 2"/>
          <p:cNvSpPr txBox="1"/>
          <p:nvPr>
            <p:ph type="sldNum" sz="quarter" idx="2"/>
          </p:nvPr>
        </p:nvSpPr>
        <p:spPr>
          <a:xfrm>
            <a:off x="11787871" y="6512797"/>
            <a:ext cx="174946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Class="entr" nodeType="afterEffect" presetID="10" grpId="6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Class="entr" nodeType="afterEffect" presetID="10" grpId="8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Class="entr" nodeType="afterEffect" presetID="10" grpId="9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5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27" grpId="10"/>
      <p:bldP build="whole" bldLvl="1" animBg="1" rev="0" advAuto="0" spid="1314" grpId="7"/>
      <p:bldP build="whole" bldLvl="1" animBg="1" rev="0" advAuto="0" spid="1322" grpId="5"/>
      <p:bldP build="whole" bldLvl="1" animBg="1" rev="0" advAuto="0" spid="1310" grpId="6"/>
      <p:bldP build="whole" bldLvl="1" animBg="1" rev="0" advAuto="0" spid="1306" grpId="3"/>
      <p:bldP build="whole" bldLvl="1" animBg="1" rev="0" advAuto="0" spid="1294" grpId="1"/>
      <p:bldP build="whole" bldLvl="1" animBg="1" rev="0" advAuto="0" spid="1302" grpId="2"/>
      <p:bldP build="whole" bldLvl="1" animBg="1" rev="0" advAuto="0" spid="1298" grpId="9"/>
      <p:bldP build="whole" bldLvl="1" animBg="1" rev="0" advAuto="0" spid="1318" grpId="8"/>
      <p:bldP build="whole" bldLvl="1" animBg="1" rev="0" advAuto="0" spid="1326" grpId="4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Content Placeholder 2"/>
          <p:cNvSpPr txBox="1"/>
          <p:nvPr>
            <p:ph type="body" sz="quarter" idx="1"/>
          </p:nvPr>
        </p:nvSpPr>
        <p:spPr>
          <a:xfrm>
            <a:off x="868662" y="1426342"/>
            <a:ext cx="5394573" cy="2251567"/>
          </a:xfrm>
          <a:prstGeom prst="rect">
            <a:avLst/>
          </a:prstGeom>
        </p:spPr>
        <p:txBody>
          <a:bodyPr/>
          <a:lstStyle/>
          <a:p>
            <a:pPr marL="341852" indent="-215582" defTabSz="886968">
              <a:spcBef>
                <a:spcPts val="900"/>
              </a:spcBef>
              <a:buSzPct val="75000"/>
              <a:defRPr i="1" sz="2716">
                <a:solidFill>
                  <a:srgbClr val="CC0000"/>
                </a:solidFill>
              </a:defRPr>
            </a:pPr>
            <a:r>
              <a:t>Infrastructure </a:t>
            </a:r>
            <a:r>
              <a:rPr i="0">
                <a:solidFill>
                  <a:srgbClr val="000000"/>
                </a:solidFill>
              </a:rPr>
              <a:t>that provides services to applications:</a:t>
            </a:r>
            <a:endParaRPr sz="2328"/>
          </a:p>
          <a:p>
            <a:pPr lvl="1" marL="674465" indent="-224821" defTabSz="886968">
              <a:spcBef>
                <a:spcPts val="400"/>
              </a:spcBef>
              <a:buClr>
                <a:srgbClr val="0000A8"/>
              </a:buClr>
              <a:buFont typeface="Arial"/>
              <a:defRPr sz="2328"/>
            </a:pPr>
            <a:r>
              <a:t>Web, streaming video, multimedia teleconferencing, email, games, e-commerce, social media, inter-connected appliances, …</a:t>
            </a:r>
          </a:p>
        </p:txBody>
      </p:sp>
      <p:sp>
        <p:nvSpPr>
          <p:cNvPr id="1331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The Internet: a “services” view</a:t>
            </a:r>
          </a:p>
        </p:txBody>
      </p:sp>
      <p:sp>
        <p:nvSpPr>
          <p:cNvPr id="1332" name="Freeform 370"/>
          <p:cNvSpPr/>
          <p:nvPr/>
        </p:nvSpPr>
        <p:spPr>
          <a:xfrm>
            <a:off x="8985187" y="3065777"/>
            <a:ext cx="1124809" cy="1337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49" h="20510" fill="norm" stroke="1" extrusionOk="0">
                <a:moveTo>
                  <a:pt x="4338" y="7022"/>
                </a:moveTo>
                <a:cubicBezTo>
                  <a:pt x="2763" y="8848"/>
                  <a:pt x="1382" y="9254"/>
                  <a:pt x="902" y="11320"/>
                </a:cubicBezTo>
                <a:cubicBezTo>
                  <a:pt x="422" y="13386"/>
                  <a:pt x="-1132" y="17789"/>
                  <a:pt x="1456" y="19418"/>
                </a:cubicBezTo>
                <a:cubicBezTo>
                  <a:pt x="4045" y="21047"/>
                  <a:pt x="14587" y="20622"/>
                  <a:pt x="17527" y="19646"/>
                </a:cubicBezTo>
                <a:cubicBezTo>
                  <a:pt x="20468" y="18669"/>
                  <a:pt x="19432" y="15068"/>
                  <a:pt x="19100" y="13560"/>
                </a:cubicBezTo>
                <a:cubicBezTo>
                  <a:pt x="18768" y="12052"/>
                  <a:pt x="15646" y="13090"/>
                  <a:pt x="15536" y="10596"/>
                </a:cubicBezTo>
                <a:cubicBezTo>
                  <a:pt x="15746" y="7905"/>
                  <a:pt x="18905" y="7477"/>
                  <a:pt x="19045" y="5962"/>
                </a:cubicBezTo>
                <a:cubicBezTo>
                  <a:pt x="19184" y="4446"/>
                  <a:pt x="18059" y="3477"/>
                  <a:pt x="16373" y="1502"/>
                </a:cubicBezTo>
                <a:cubicBezTo>
                  <a:pt x="15001" y="420"/>
                  <a:pt x="12357" y="-553"/>
                  <a:pt x="10351" y="367"/>
                </a:cubicBezTo>
                <a:cubicBezTo>
                  <a:pt x="8345" y="1287"/>
                  <a:pt x="5912" y="5197"/>
                  <a:pt x="4338" y="7022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3" name="Freeform 417"/>
          <p:cNvSpPr/>
          <p:nvPr/>
        </p:nvSpPr>
        <p:spPr>
          <a:xfrm>
            <a:off x="7282395" y="1831266"/>
            <a:ext cx="1715493" cy="130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6" h="21326" fill="norm" stroke="1" extrusionOk="0">
                <a:moveTo>
                  <a:pt x="13407" y="266"/>
                </a:moveTo>
                <a:cubicBezTo>
                  <a:pt x="12073" y="522"/>
                  <a:pt x="9571" y="970"/>
                  <a:pt x="8028" y="1610"/>
                </a:cubicBezTo>
                <a:cubicBezTo>
                  <a:pt x="6485" y="2250"/>
                  <a:pt x="5026" y="3114"/>
                  <a:pt x="4192" y="4042"/>
                </a:cubicBezTo>
                <a:cubicBezTo>
                  <a:pt x="3358" y="4970"/>
                  <a:pt x="3712" y="6346"/>
                  <a:pt x="3066" y="7242"/>
                </a:cubicBezTo>
                <a:cubicBezTo>
                  <a:pt x="2420" y="8138"/>
                  <a:pt x="814" y="8202"/>
                  <a:pt x="356" y="9418"/>
                </a:cubicBezTo>
                <a:cubicBezTo>
                  <a:pt x="-103" y="10634"/>
                  <a:pt x="-103" y="13578"/>
                  <a:pt x="272" y="14602"/>
                </a:cubicBezTo>
                <a:cubicBezTo>
                  <a:pt x="648" y="15626"/>
                  <a:pt x="1127" y="15402"/>
                  <a:pt x="2649" y="15562"/>
                </a:cubicBezTo>
                <a:cubicBezTo>
                  <a:pt x="4171" y="15722"/>
                  <a:pt x="7820" y="15210"/>
                  <a:pt x="9446" y="15562"/>
                </a:cubicBezTo>
                <a:cubicBezTo>
                  <a:pt x="11072" y="15914"/>
                  <a:pt x="11343" y="16778"/>
                  <a:pt x="12365" y="17674"/>
                </a:cubicBezTo>
                <a:cubicBezTo>
                  <a:pt x="13387" y="18570"/>
                  <a:pt x="14638" y="20362"/>
                  <a:pt x="15576" y="20938"/>
                </a:cubicBezTo>
                <a:cubicBezTo>
                  <a:pt x="16514" y="21514"/>
                  <a:pt x="17348" y="21354"/>
                  <a:pt x="18036" y="21066"/>
                </a:cubicBezTo>
                <a:cubicBezTo>
                  <a:pt x="18724" y="20778"/>
                  <a:pt x="19329" y="20362"/>
                  <a:pt x="19746" y="19210"/>
                </a:cubicBezTo>
                <a:cubicBezTo>
                  <a:pt x="20163" y="18058"/>
                  <a:pt x="20350" y="15818"/>
                  <a:pt x="20580" y="14154"/>
                </a:cubicBezTo>
                <a:cubicBezTo>
                  <a:pt x="20809" y="12490"/>
                  <a:pt x="21017" y="11018"/>
                  <a:pt x="21122" y="9226"/>
                </a:cubicBezTo>
                <a:cubicBezTo>
                  <a:pt x="21226" y="7434"/>
                  <a:pt x="21497" y="4810"/>
                  <a:pt x="21205" y="3338"/>
                </a:cubicBezTo>
                <a:cubicBezTo>
                  <a:pt x="20913" y="1866"/>
                  <a:pt x="20225" y="1002"/>
                  <a:pt x="19370" y="458"/>
                </a:cubicBezTo>
                <a:cubicBezTo>
                  <a:pt x="18516" y="-86"/>
                  <a:pt x="17077" y="42"/>
                  <a:pt x="16076" y="10"/>
                </a:cubicBezTo>
                <a:cubicBezTo>
                  <a:pt x="15075" y="-22"/>
                  <a:pt x="14742" y="10"/>
                  <a:pt x="13407" y="266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36" name="Group 418"/>
          <p:cNvGrpSpPr/>
          <p:nvPr/>
        </p:nvGrpSpPr>
        <p:grpSpPr>
          <a:xfrm>
            <a:off x="7205349" y="3289251"/>
            <a:ext cx="1458913" cy="933450"/>
            <a:chOff x="112847" y="0"/>
            <a:chExt cx="1458911" cy="933449"/>
          </a:xfrm>
        </p:grpSpPr>
        <p:sp>
          <p:nvSpPr>
            <p:cNvPr id="1334" name="Rectangle 419"/>
            <p:cNvSpPr/>
            <p:nvPr/>
          </p:nvSpPr>
          <p:spPr>
            <a:xfrm>
              <a:off x="346571" y="263828"/>
              <a:ext cx="986999" cy="669622"/>
            </a:xfrm>
            <a:prstGeom prst="rect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35" name="AutoShape 420"/>
            <p:cNvSpPr/>
            <p:nvPr/>
          </p:nvSpPr>
          <p:spPr>
            <a:xfrm>
              <a:off x="112847" y="0"/>
              <a:ext cx="1458913" cy="317851"/>
            </a:xfrm>
            <a:prstGeom prst="triangle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1337" name="Freeform 427"/>
          <p:cNvSpPr/>
          <p:nvPr/>
        </p:nvSpPr>
        <p:spPr>
          <a:xfrm>
            <a:off x="7728466" y="4694461"/>
            <a:ext cx="3042747" cy="163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257" fill="norm" stroke="1" extrusionOk="0">
                <a:moveTo>
                  <a:pt x="10487" y="388"/>
                </a:moveTo>
                <a:cubicBezTo>
                  <a:pt x="9540" y="780"/>
                  <a:pt x="9151" y="2283"/>
                  <a:pt x="8293" y="2427"/>
                </a:cubicBezTo>
                <a:cubicBezTo>
                  <a:pt x="7436" y="2571"/>
                  <a:pt x="6423" y="1336"/>
                  <a:pt x="5320" y="1253"/>
                </a:cubicBezTo>
                <a:cubicBezTo>
                  <a:pt x="4218" y="1171"/>
                  <a:pt x="2526" y="841"/>
                  <a:pt x="1646" y="1933"/>
                </a:cubicBezTo>
                <a:cubicBezTo>
                  <a:pt x="767" y="3024"/>
                  <a:pt x="199" y="5989"/>
                  <a:pt x="43" y="7863"/>
                </a:cubicBezTo>
                <a:cubicBezTo>
                  <a:pt x="-113" y="9737"/>
                  <a:pt x="165" y="12105"/>
                  <a:pt x="678" y="13196"/>
                </a:cubicBezTo>
                <a:cubicBezTo>
                  <a:pt x="1190" y="14287"/>
                  <a:pt x="2169" y="13546"/>
                  <a:pt x="3094" y="14390"/>
                </a:cubicBezTo>
                <a:cubicBezTo>
                  <a:pt x="4018" y="15235"/>
                  <a:pt x="4897" y="17191"/>
                  <a:pt x="6211" y="18241"/>
                </a:cubicBezTo>
                <a:cubicBezTo>
                  <a:pt x="7525" y="19291"/>
                  <a:pt x="9373" y="20259"/>
                  <a:pt x="10976" y="20732"/>
                </a:cubicBezTo>
                <a:cubicBezTo>
                  <a:pt x="12580" y="21185"/>
                  <a:pt x="14461" y="21453"/>
                  <a:pt x="15842" y="21082"/>
                </a:cubicBezTo>
                <a:cubicBezTo>
                  <a:pt x="17223" y="20691"/>
                  <a:pt x="18336" y="19620"/>
                  <a:pt x="19249" y="18529"/>
                </a:cubicBezTo>
                <a:cubicBezTo>
                  <a:pt x="20162" y="17458"/>
                  <a:pt x="21108" y="16820"/>
                  <a:pt x="21298" y="14555"/>
                </a:cubicBezTo>
                <a:cubicBezTo>
                  <a:pt x="21487" y="12290"/>
                  <a:pt x="21019" y="7060"/>
                  <a:pt x="20362" y="5021"/>
                </a:cubicBezTo>
                <a:cubicBezTo>
                  <a:pt x="19706" y="2962"/>
                  <a:pt x="18392" y="3003"/>
                  <a:pt x="17323" y="2200"/>
                </a:cubicBezTo>
                <a:cubicBezTo>
                  <a:pt x="16254" y="1418"/>
                  <a:pt x="15085" y="471"/>
                  <a:pt x="13949" y="162"/>
                </a:cubicBezTo>
                <a:cubicBezTo>
                  <a:pt x="12814" y="-147"/>
                  <a:pt x="11433" y="18"/>
                  <a:pt x="10487" y="388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8" name="Text Box 580"/>
          <p:cNvSpPr txBox="1"/>
          <p:nvPr/>
        </p:nvSpPr>
        <p:spPr>
          <a:xfrm>
            <a:off x="7724993" y="1488460"/>
            <a:ext cx="12461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mobile network</a:t>
            </a:r>
          </a:p>
        </p:txBody>
      </p:sp>
      <p:sp>
        <p:nvSpPr>
          <p:cNvPr id="1339" name="Text Box 580"/>
          <p:cNvSpPr txBox="1"/>
          <p:nvPr/>
        </p:nvSpPr>
        <p:spPr>
          <a:xfrm>
            <a:off x="7376554" y="4191922"/>
            <a:ext cx="186420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0000"/>
              </a:lnSpc>
              <a:defRPr sz="1400"/>
            </a:lvl1pPr>
          </a:lstStyle>
          <a:p>
            <a:pPr/>
            <a:r>
              <a:t>home network</a:t>
            </a:r>
          </a:p>
        </p:txBody>
      </p:sp>
      <p:sp>
        <p:nvSpPr>
          <p:cNvPr id="1340" name="Text Box 580"/>
          <p:cNvSpPr txBox="1"/>
          <p:nvPr/>
        </p:nvSpPr>
        <p:spPr>
          <a:xfrm>
            <a:off x="7352628" y="5779775"/>
            <a:ext cx="1108607" cy="47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80000"/>
              </a:lnSpc>
              <a:defRPr sz="1400"/>
            </a:pPr>
            <a:r>
              <a:t>enterprise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lnSpc>
                <a:spcPct val="80000"/>
              </a:lnSpc>
              <a:defRPr sz="1400"/>
            </a:pPr>
            <a:r>
              <a:t>          network</a:t>
            </a:r>
          </a:p>
        </p:txBody>
      </p:sp>
      <p:sp>
        <p:nvSpPr>
          <p:cNvPr id="1341" name="Freeform 371"/>
          <p:cNvSpPr/>
          <p:nvPr/>
        </p:nvSpPr>
        <p:spPr>
          <a:xfrm>
            <a:off x="10222145" y="3179539"/>
            <a:ext cx="1273169" cy="1935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7" h="20945" fill="norm" stroke="1" extrusionOk="0">
                <a:moveTo>
                  <a:pt x="518" y="4719"/>
                </a:moveTo>
                <a:cubicBezTo>
                  <a:pt x="-13" y="6632"/>
                  <a:pt x="-204" y="10040"/>
                  <a:pt x="271" y="12041"/>
                </a:cubicBezTo>
                <a:cubicBezTo>
                  <a:pt x="746" y="14041"/>
                  <a:pt x="685" y="15290"/>
                  <a:pt x="3366" y="16725"/>
                </a:cubicBezTo>
                <a:cubicBezTo>
                  <a:pt x="6048" y="18159"/>
                  <a:pt x="13461" y="20187"/>
                  <a:pt x="16360" y="20649"/>
                </a:cubicBezTo>
                <a:cubicBezTo>
                  <a:pt x="19260" y="21111"/>
                  <a:pt x="20132" y="21234"/>
                  <a:pt x="20764" y="19498"/>
                </a:cubicBezTo>
                <a:cubicBezTo>
                  <a:pt x="21396" y="17761"/>
                  <a:pt x="20190" y="13347"/>
                  <a:pt x="20153" y="10230"/>
                </a:cubicBezTo>
                <a:cubicBezTo>
                  <a:pt x="20116" y="7114"/>
                  <a:pt x="21104" y="1964"/>
                  <a:pt x="20540" y="799"/>
                </a:cubicBezTo>
                <a:cubicBezTo>
                  <a:pt x="19976" y="-366"/>
                  <a:pt x="6793" y="-88"/>
                  <a:pt x="3456" y="566"/>
                </a:cubicBezTo>
                <a:cubicBezTo>
                  <a:pt x="119" y="1219"/>
                  <a:pt x="1048" y="2807"/>
                  <a:pt x="518" y="471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350" name="Group 373"/>
          <p:cNvGrpSpPr/>
          <p:nvPr/>
        </p:nvGrpSpPr>
        <p:grpSpPr>
          <a:xfrm>
            <a:off x="10837699" y="3928050"/>
            <a:ext cx="687394" cy="721549"/>
            <a:chOff x="0" y="0"/>
            <a:chExt cx="687392" cy="721548"/>
          </a:xfrm>
        </p:grpSpPr>
        <p:sp>
          <p:nvSpPr>
            <p:cNvPr id="1342" name="Freeform 381"/>
            <p:cNvSpPr/>
            <p:nvPr/>
          </p:nvSpPr>
          <p:spPr>
            <a:xfrm>
              <a:off x="267227" y="-1"/>
              <a:ext cx="420166" cy="72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3" name="Freeform 382"/>
            <p:cNvSpPr/>
            <p:nvPr/>
          </p:nvSpPr>
          <p:spPr>
            <a:xfrm>
              <a:off x="0" y="185234"/>
              <a:ext cx="521585" cy="5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4" name="Straight Connector 383"/>
            <p:cNvSpPr/>
            <p:nvPr/>
          </p:nvSpPr>
          <p:spPr>
            <a:xfrm flipV="1">
              <a:off x="54006" y="303213"/>
              <a:ext cx="236450" cy="8002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5" name="Straight Connector 384"/>
            <p:cNvSpPr/>
            <p:nvPr/>
          </p:nvSpPr>
          <p:spPr>
            <a:xfrm flipV="1">
              <a:off x="57914" y="556094"/>
              <a:ext cx="232542" cy="18248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6" name="Straight Connector 385"/>
            <p:cNvSpPr/>
            <p:nvPr/>
          </p:nvSpPr>
          <p:spPr>
            <a:xfrm flipV="1">
              <a:off x="57914" y="436343"/>
              <a:ext cx="232542" cy="52723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7" name="Straight Connector 386"/>
            <p:cNvSpPr/>
            <p:nvPr/>
          </p:nvSpPr>
          <p:spPr>
            <a:xfrm>
              <a:off x="53660" y="656716"/>
              <a:ext cx="236796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8" name="Straight Connector 387"/>
            <p:cNvSpPr/>
            <p:nvPr/>
          </p:nvSpPr>
          <p:spPr>
            <a:xfrm flipV="1">
              <a:off x="598356" y="126039"/>
              <a:ext cx="1" cy="506809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9" name="Straight Connector 388"/>
            <p:cNvSpPr/>
            <p:nvPr/>
          </p:nvSpPr>
          <p:spPr>
            <a:xfrm flipH="1">
              <a:off x="340761" y="202125"/>
              <a:ext cx="1" cy="519424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59" name="Group 390"/>
          <p:cNvGrpSpPr/>
          <p:nvPr/>
        </p:nvGrpSpPr>
        <p:grpSpPr>
          <a:xfrm>
            <a:off x="10771171" y="3194170"/>
            <a:ext cx="594614" cy="648337"/>
            <a:chOff x="0" y="0"/>
            <a:chExt cx="594613" cy="648335"/>
          </a:xfrm>
        </p:grpSpPr>
        <p:sp>
          <p:nvSpPr>
            <p:cNvPr id="1351" name="Freeform 398"/>
            <p:cNvSpPr/>
            <p:nvPr/>
          </p:nvSpPr>
          <p:spPr>
            <a:xfrm>
              <a:off x="231158" y="0"/>
              <a:ext cx="363455" cy="64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52" name="Freeform 399"/>
            <p:cNvSpPr/>
            <p:nvPr/>
          </p:nvSpPr>
          <p:spPr>
            <a:xfrm>
              <a:off x="-1" y="166439"/>
              <a:ext cx="451186" cy="48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53" name="Straight Connector 400"/>
            <p:cNvSpPr/>
            <p:nvPr/>
          </p:nvSpPr>
          <p:spPr>
            <a:xfrm flipV="1">
              <a:off x="46717" y="272447"/>
              <a:ext cx="204536" cy="7190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54" name="Straight Connector 401"/>
            <p:cNvSpPr/>
            <p:nvPr/>
          </p:nvSpPr>
          <p:spPr>
            <a:xfrm flipV="1">
              <a:off x="50097" y="499671"/>
              <a:ext cx="201155" cy="16396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55" name="Straight Connector 402"/>
            <p:cNvSpPr/>
            <p:nvPr/>
          </p:nvSpPr>
          <p:spPr>
            <a:xfrm flipV="1">
              <a:off x="50097" y="392068"/>
              <a:ext cx="201155" cy="47374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56" name="Straight Connector 403"/>
            <p:cNvSpPr/>
            <p:nvPr/>
          </p:nvSpPr>
          <p:spPr>
            <a:xfrm>
              <a:off x="46418" y="590082"/>
              <a:ext cx="204835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57" name="Straight Connector 404"/>
            <p:cNvSpPr/>
            <p:nvPr/>
          </p:nvSpPr>
          <p:spPr>
            <a:xfrm flipV="1">
              <a:off x="517593" y="113251"/>
              <a:ext cx="1" cy="455385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58" name="Straight Connector 405"/>
            <p:cNvSpPr/>
            <p:nvPr/>
          </p:nvSpPr>
          <p:spPr>
            <a:xfrm flipH="1">
              <a:off x="294767" y="181616"/>
              <a:ext cx="1" cy="466720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360" name="Freeform 561"/>
          <p:cNvSpPr/>
          <p:nvPr/>
        </p:nvSpPr>
        <p:spPr>
          <a:xfrm>
            <a:off x="9540812" y="1782042"/>
            <a:ext cx="1497866" cy="1386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83" h="20611" fill="norm" stroke="1" extrusionOk="0">
                <a:moveTo>
                  <a:pt x="1755" y="1299"/>
                </a:moveTo>
                <a:cubicBezTo>
                  <a:pt x="-1661" y="2817"/>
                  <a:pt x="832" y="7519"/>
                  <a:pt x="1567" y="10647"/>
                </a:cubicBezTo>
                <a:cubicBezTo>
                  <a:pt x="2301" y="13775"/>
                  <a:pt x="4122" y="18876"/>
                  <a:pt x="6162" y="20070"/>
                </a:cubicBezTo>
                <a:cubicBezTo>
                  <a:pt x="8201" y="21264"/>
                  <a:pt x="12080" y="20470"/>
                  <a:pt x="13806" y="17812"/>
                </a:cubicBezTo>
                <a:cubicBezTo>
                  <a:pt x="15532" y="15155"/>
                  <a:pt x="18183" y="18900"/>
                  <a:pt x="19061" y="17194"/>
                </a:cubicBezTo>
                <a:cubicBezTo>
                  <a:pt x="19939" y="15489"/>
                  <a:pt x="19192" y="10293"/>
                  <a:pt x="19074" y="7579"/>
                </a:cubicBezTo>
                <a:cubicBezTo>
                  <a:pt x="18955" y="4865"/>
                  <a:pt x="18817" y="2156"/>
                  <a:pt x="18352" y="910"/>
                </a:cubicBezTo>
                <a:cubicBezTo>
                  <a:pt x="17887" y="-336"/>
                  <a:pt x="14336" y="38"/>
                  <a:pt x="11570" y="103"/>
                </a:cubicBezTo>
                <a:cubicBezTo>
                  <a:pt x="8804" y="167"/>
                  <a:pt x="5171" y="-218"/>
                  <a:pt x="1755" y="129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1" name="TextBox 572"/>
          <p:cNvSpPr txBox="1"/>
          <p:nvPr/>
        </p:nvSpPr>
        <p:spPr>
          <a:xfrm>
            <a:off x="9472921" y="1851194"/>
            <a:ext cx="16269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national or global ISP</a:t>
            </a:r>
          </a:p>
        </p:txBody>
      </p:sp>
      <p:sp>
        <p:nvSpPr>
          <p:cNvPr id="1362" name="Rectangle 654"/>
          <p:cNvSpPr/>
          <p:nvPr/>
        </p:nvSpPr>
        <p:spPr>
          <a:xfrm>
            <a:off x="9279067" y="3677908"/>
            <a:ext cx="305750" cy="197848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3" name="TextBox 652"/>
          <p:cNvSpPr txBox="1"/>
          <p:nvPr/>
        </p:nvSpPr>
        <p:spPr>
          <a:xfrm>
            <a:off x="8811881" y="3447918"/>
            <a:ext cx="949200" cy="490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local or regional ISP</a:t>
            </a:r>
          </a:p>
        </p:txBody>
      </p:sp>
      <p:sp>
        <p:nvSpPr>
          <p:cNvPr id="1364" name="TextBox 656"/>
          <p:cNvSpPr txBox="1"/>
          <p:nvPr/>
        </p:nvSpPr>
        <p:spPr>
          <a:xfrm>
            <a:off x="10963486" y="4677936"/>
            <a:ext cx="692137" cy="37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000"/>
            </a:pPr>
            <a:r>
              <a:t>datacenter </a:t>
            </a:r>
          </a:p>
          <a:p>
            <a:pPr>
              <a:lnSpc>
                <a:spcPct val="90000"/>
              </a:lnSpc>
              <a:defRPr sz="1000"/>
            </a:pPr>
            <a:r>
              <a:t>network</a:t>
            </a:r>
          </a:p>
        </p:txBody>
      </p:sp>
      <p:sp>
        <p:nvSpPr>
          <p:cNvPr id="1365" name="TextBox 657"/>
          <p:cNvSpPr txBox="1"/>
          <p:nvPr/>
        </p:nvSpPr>
        <p:spPr>
          <a:xfrm>
            <a:off x="10108738" y="4228248"/>
            <a:ext cx="754830" cy="700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400"/>
            </a:pPr>
            <a:r>
              <a:t>content </a:t>
            </a:r>
          </a:p>
          <a:p>
            <a:pPr>
              <a:lnSpc>
                <a:spcPct val="90000"/>
              </a:lnSpc>
              <a:defRPr sz="1400"/>
            </a:pPr>
            <a:r>
              <a:t>provider </a:t>
            </a:r>
          </a:p>
          <a:p>
            <a:pPr>
              <a:lnSpc>
                <a:spcPct val="90000"/>
              </a:lnSpc>
              <a:defRPr sz="1400"/>
            </a:pPr>
            <a:r>
              <a:t>network</a:t>
            </a:r>
          </a:p>
        </p:txBody>
      </p:sp>
      <p:grpSp>
        <p:nvGrpSpPr>
          <p:cNvPr id="1407" name="Group 1024"/>
          <p:cNvGrpSpPr/>
          <p:nvPr/>
        </p:nvGrpSpPr>
        <p:grpSpPr>
          <a:xfrm>
            <a:off x="7562237" y="2127325"/>
            <a:ext cx="3578868" cy="3640284"/>
            <a:chOff x="0" y="0"/>
            <a:chExt cx="3578866" cy="3640283"/>
          </a:xfrm>
        </p:grpSpPr>
        <p:sp>
          <p:nvSpPr>
            <p:cNvPr id="1366" name="Straight Connector 829"/>
            <p:cNvSpPr/>
            <p:nvPr/>
          </p:nvSpPr>
          <p:spPr>
            <a:xfrm flipH="1" flipV="1">
              <a:off x="2997681" y="1452800"/>
              <a:ext cx="412965" cy="63712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67" name="Straight Connector 826"/>
            <p:cNvSpPr/>
            <p:nvPr/>
          </p:nvSpPr>
          <p:spPr>
            <a:xfrm flipH="1" flipV="1">
              <a:off x="3098597" y="1513359"/>
              <a:ext cx="345866" cy="738975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68" name="Straight Connector 824"/>
            <p:cNvSpPr/>
            <p:nvPr/>
          </p:nvSpPr>
          <p:spPr>
            <a:xfrm flipV="1">
              <a:off x="3074658" y="1506096"/>
              <a:ext cx="335987" cy="39534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69" name="Straight Connector 822"/>
            <p:cNvSpPr/>
            <p:nvPr/>
          </p:nvSpPr>
          <p:spPr>
            <a:xfrm flipV="1">
              <a:off x="3009806" y="1467571"/>
              <a:ext cx="1" cy="4857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0" name="Straight Connector 818"/>
            <p:cNvSpPr/>
            <p:nvPr/>
          </p:nvSpPr>
          <p:spPr>
            <a:xfrm flipH="1" flipV="1">
              <a:off x="2988382" y="1944316"/>
              <a:ext cx="508543" cy="3486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1" name="Straight Connector 817"/>
            <p:cNvSpPr/>
            <p:nvPr/>
          </p:nvSpPr>
          <p:spPr>
            <a:xfrm flipH="1">
              <a:off x="2332957" y="1960416"/>
              <a:ext cx="65542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2" name="Straight Connector 815"/>
            <p:cNvSpPr/>
            <p:nvPr/>
          </p:nvSpPr>
          <p:spPr>
            <a:xfrm flipH="1">
              <a:off x="1657378" y="1960416"/>
              <a:ext cx="65542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3" name="Straight Connector 812"/>
            <p:cNvSpPr/>
            <p:nvPr/>
          </p:nvSpPr>
          <p:spPr>
            <a:xfrm flipH="1">
              <a:off x="1714630" y="1380346"/>
              <a:ext cx="382424" cy="51705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4" name="Straight Connector 810"/>
            <p:cNvSpPr/>
            <p:nvPr/>
          </p:nvSpPr>
          <p:spPr>
            <a:xfrm>
              <a:off x="2170830" y="1380346"/>
              <a:ext cx="1" cy="540294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5" name="Straight Connector 807"/>
            <p:cNvSpPr/>
            <p:nvPr/>
          </p:nvSpPr>
          <p:spPr>
            <a:xfrm>
              <a:off x="2575429" y="627367"/>
              <a:ext cx="488174" cy="83933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6" name="Straight Connector 562"/>
            <p:cNvSpPr/>
            <p:nvPr/>
          </p:nvSpPr>
          <p:spPr>
            <a:xfrm flipH="1">
              <a:off x="2236481" y="567688"/>
              <a:ext cx="380432" cy="69480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406" name="Group 802"/>
            <p:cNvGrpSpPr/>
            <p:nvPr/>
          </p:nvGrpSpPr>
          <p:grpSpPr>
            <a:xfrm>
              <a:off x="0" y="0"/>
              <a:ext cx="3578867" cy="3640284"/>
              <a:chOff x="0" y="0"/>
              <a:chExt cx="3578866" cy="3640283"/>
            </a:xfrm>
          </p:grpSpPr>
          <p:grpSp>
            <p:nvGrpSpPr>
              <p:cNvPr id="1401" name="Group 799"/>
              <p:cNvGrpSpPr/>
              <p:nvPr/>
            </p:nvGrpSpPr>
            <p:grpSpPr>
              <a:xfrm>
                <a:off x="295014" y="0"/>
                <a:ext cx="3283853" cy="3640284"/>
                <a:chOff x="0" y="0"/>
                <a:chExt cx="3283851" cy="3640283"/>
              </a:xfrm>
            </p:grpSpPr>
            <p:sp>
              <p:nvSpPr>
                <p:cNvPr id="1377" name="Line 428"/>
                <p:cNvSpPr/>
                <p:nvPr/>
              </p:nvSpPr>
              <p:spPr>
                <a:xfrm flipH="1" flipV="1">
                  <a:off x="2122607" y="2934163"/>
                  <a:ext cx="7560" cy="38806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8" name="Line 430"/>
                <p:cNvSpPr/>
                <p:nvPr/>
              </p:nvSpPr>
              <p:spPr>
                <a:xfrm>
                  <a:off x="2296157" y="3335745"/>
                  <a:ext cx="11430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9" name="Line 431"/>
                <p:cNvSpPr/>
                <p:nvPr/>
              </p:nvSpPr>
              <p:spPr>
                <a:xfrm>
                  <a:off x="1575705" y="2711191"/>
                  <a:ext cx="524483" cy="26153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0" name="Line 432"/>
                <p:cNvSpPr/>
                <p:nvPr/>
              </p:nvSpPr>
              <p:spPr>
                <a:xfrm flipV="1">
                  <a:off x="992812" y="2711192"/>
                  <a:ext cx="569256" cy="246266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1" name="Line 433"/>
                <p:cNvSpPr/>
                <p:nvPr/>
              </p:nvSpPr>
              <p:spPr>
                <a:xfrm>
                  <a:off x="964490" y="2982820"/>
                  <a:ext cx="1030502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2" name="Line 435"/>
                <p:cNvSpPr/>
                <p:nvPr/>
              </p:nvSpPr>
              <p:spPr>
                <a:xfrm>
                  <a:off x="352954" y="2990008"/>
                  <a:ext cx="226800" cy="1270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3" name="Line 436"/>
                <p:cNvSpPr/>
                <p:nvPr/>
              </p:nvSpPr>
              <p:spPr>
                <a:xfrm flipV="1">
                  <a:off x="91114" y="3163145"/>
                  <a:ext cx="412750" cy="1270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4" name="Line 439"/>
                <p:cNvSpPr/>
                <p:nvPr/>
              </p:nvSpPr>
              <p:spPr>
                <a:xfrm flipH="1">
                  <a:off x="516565" y="3154926"/>
                  <a:ext cx="68080" cy="29396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5" name="Line 440"/>
                <p:cNvSpPr/>
                <p:nvPr/>
              </p:nvSpPr>
              <p:spPr>
                <a:xfrm flipH="1" flipV="1">
                  <a:off x="631478" y="3180606"/>
                  <a:ext cx="280374" cy="269876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6" name="Line 441"/>
                <p:cNvSpPr/>
                <p:nvPr/>
              </p:nvSpPr>
              <p:spPr>
                <a:xfrm>
                  <a:off x="631477" y="3130722"/>
                  <a:ext cx="914185" cy="46862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7" name="Line 443"/>
                <p:cNvSpPr/>
                <p:nvPr/>
              </p:nvSpPr>
              <p:spPr>
                <a:xfrm flipH="1">
                  <a:off x="390525" y="1702644"/>
                  <a:ext cx="1" cy="13176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8" name="Line 449"/>
                <p:cNvSpPr/>
                <p:nvPr/>
              </p:nvSpPr>
              <p:spPr>
                <a:xfrm flipV="1">
                  <a:off x="0" y="1913782"/>
                  <a:ext cx="168275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9" name="Line 428"/>
                <p:cNvSpPr/>
                <p:nvPr/>
              </p:nvSpPr>
              <p:spPr>
                <a:xfrm flipH="1" flipV="1">
                  <a:off x="2210948" y="3273491"/>
                  <a:ext cx="1482" cy="36679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0" name="Line 440"/>
                <p:cNvSpPr/>
                <p:nvPr/>
              </p:nvSpPr>
              <p:spPr>
                <a:xfrm flipV="1">
                  <a:off x="602172" y="2909237"/>
                  <a:ext cx="404236" cy="20777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1" name="Straight Connector 563"/>
                <p:cNvSpPr/>
                <p:nvPr/>
              </p:nvSpPr>
              <p:spPr>
                <a:xfrm flipH="1">
                  <a:off x="2243382" y="42107"/>
                  <a:ext cx="761467" cy="5773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2" name="Straight Connector 564"/>
                <p:cNvSpPr/>
                <p:nvPr/>
              </p:nvSpPr>
              <p:spPr>
                <a:xfrm flipH="1">
                  <a:off x="2243382" y="140988"/>
                  <a:ext cx="3970" cy="51846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3" name="Straight Connector 565"/>
                <p:cNvSpPr/>
                <p:nvPr/>
              </p:nvSpPr>
              <p:spPr>
                <a:xfrm flipH="1">
                  <a:off x="2814882" y="73181"/>
                  <a:ext cx="149360" cy="51846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4" name="Straight Connector 566"/>
                <p:cNvSpPr/>
                <p:nvPr/>
              </p:nvSpPr>
              <p:spPr>
                <a:xfrm flipH="1">
                  <a:off x="2284912" y="591642"/>
                  <a:ext cx="574284" cy="2782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5" name="Straight Connector 567"/>
                <p:cNvSpPr/>
                <p:nvPr/>
              </p:nvSpPr>
              <p:spPr>
                <a:xfrm flipH="1">
                  <a:off x="2212289" y="42107"/>
                  <a:ext cx="788589" cy="9888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6" name="Straight Connector 568"/>
                <p:cNvSpPr/>
                <p:nvPr/>
              </p:nvSpPr>
              <p:spPr>
                <a:xfrm flipH="1">
                  <a:off x="3004849" y="0"/>
                  <a:ext cx="279003" cy="4210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7" name="Straight Connector 569"/>
                <p:cNvSpPr/>
                <p:nvPr/>
              </p:nvSpPr>
              <p:spPr>
                <a:xfrm flipH="1" flipV="1">
                  <a:off x="2824741" y="591643"/>
                  <a:ext cx="353541" cy="6780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8" name="Straight Connector 573"/>
                <p:cNvSpPr/>
                <p:nvPr/>
              </p:nvSpPr>
              <p:spPr>
                <a:xfrm flipH="1">
                  <a:off x="911970" y="140988"/>
                  <a:ext cx="1300319" cy="60662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9" name="Line 541"/>
                <p:cNvSpPr/>
                <p:nvPr/>
              </p:nvSpPr>
              <p:spPr>
                <a:xfrm flipV="1">
                  <a:off x="1521451" y="1986054"/>
                  <a:ext cx="429325" cy="70560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0" name="Line 424"/>
                <p:cNvSpPr/>
                <p:nvPr/>
              </p:nvSpPr>
              <p:spPr>
                <a:xfrm flipV="1">
                  <a:off x="387301" y="1920131"/>
                  <a:ext cx="969051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pic>
            <p:nvPicPr>
              <p:cNvPr id="1402" name="Picture 778" descr="Picture 778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1686604"/>
                <a:ext cx="506413" cy="10601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03" name="Picture 781" descr="Picture 781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1679834" y="3353612"/>
                <a:ext cx="452015" cy="9516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04" name="Picture 799" descr="Picture 799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418628" y="30842"/>
                <a:ext cx="457200" cy="3327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405" name="Oval 800"/>
              <p:cNvSpPr/>
              <p:nvPr/>
            </p:nvSpPr>
            <p:spPr>
              <a:xfrm>
                <a:off x="612303" y="165670"/>
                <a:ext cx="52389" cy="49485"/>
              </a:xfrm>
              <a:prstGeom prst="ellipse">
                <a:avLst/>
              </a:prstGeom>
              <a:solidFill>
                <a:srgbClr val="44546A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  <p:grpSp>
        <p:nvGrpSpPr>
          <p:cNvPr id="1441" name="Group 786"/>
          <p:cNvGrpSpPr/>
          <p:nvPr/>
        </p:nvGrpSpPr>
        <p:grpSpPr>
          <a:xfrm>
            <a:off x="7414072" y="1891912"/>
            <a:ext cx="1909778" cy="938011"/>
            <a:chOff x="0" y="0"/>
            <a:chExt cx="1909777" cy="938010"/>
          </a:xfrm>
        </p:grpSpPr>
        <p:grpSp>
          <p:nvGrpSpPr>
            <p:cNvPr id="1410" name="Group 652"/>
            <p:cNvGrpSpPr/>
            <p:nvPr/>
          </p:nvGrpSpPr>
          <p:grpSpPr>
            <a:xfrm>
              <a:off x="311150" y="0"/>
              <a:ext cx="415926" cy="385763"/>
              <a:chOff x="0" y="0"/>
              <a:chExt cx="415925" cy="385762"/>
            </a:xfrm>
          </p:grpSpPr>
          <p:pic>
            <p:nvPicPr>
              <p:cNvPr id="1408" name="Picture 653" descr="Picture 653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159347" y="57299"/>
                <a:ext cx="136843" cy="3284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09" name="Picture 654" descr="Picture 654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0" y="0"/>
                <a:ext cx="415925" cy="8877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434" name="Group 784"/>
            <p:cNvGrpSpPr/>
            <p:nvPr/>
          </p:nvGrpSpPr>
          <p:grpSpPr>
            <a:xfrm>
              <a:off x="-1" y="496887"/>
              <a:ext cx="534989" cy="414884"/>
              <a:chOff x="0" y="0"/>
              <a:chExt cx="534987" cy="414882"/>
            </a:xfrm>
          </p:grpSpPr>
          <p:pic>
            <p:nvPicPr>
              <p:cNvPr id="1411" name="Picture 1017" descr="Picture 1017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0"/>
                <a:ext cx="530703" cy="22375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12" name="Picture 1018" descr="Picture 1018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 flipH="1" rot="109063">
                <a:off x="25707" y="248476"/>
                <a:ext cx="437221" cy="15951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413" name="Freeform 1019"/>
              <p:cNvSpPr/>
              <p:nvPr/>
            </p:nvSpPr>
            <p:spPr>
              <a:xfrm>
                <a:off x="170604" y="93690"/>
                <a:ext cx="351920" cy="2081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911" y="0"/>
                    </a:moveTo>
                    <a:lnTo>
                      <a:pt x="0" y="15338"/>
                    </a:lnTo>
                    <a:lnTo>
                      <a:pt x="17341" y="21600"/>
                    </a:lnTo>
                    <a:lnTo>
                      <a:pt x="21600" y="2813"/>
                    </a:lnTo>
                    <a:lnTo>
                      <a:pt x="39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1414" name="Picture 1020" descr="Picture 1020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187936" y="99044"/>
                <a:ext cx="319787" cy="18943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415" name="Freeform 1021"/>
              <p:cNvSpPr/>
              <p:nvPr/>
            </p:nvSpPr>
            <p:spPr>
              <a:xfrm>
                <a:off x="234678" y="87549"/>
                <a:ext cx="298168" cy="387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0"/>
                    </a:moveTo>
                    <a:lnTo>
                      <a:pt x="21600" y="16188"/>
                    </a:lnTo>
                    <a:lnTo>
                      <a:pt x="21190" y="21600"/>
                    </a:lnTo>
                    <a:lnTo>
                      <a:pt x="0" y="4083"/>
                    </a:lnTo>
                    <a:lnTo>
                      <a:pt x="12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16" name="Freeform 1022"/>
              <p:cNvSpPr/>
              <p:nvPr/>
            </p:nvSpPr>
            <p:spPr>
              <a:xfrm>
                <a:off x="167487" y="87234"/>
                <a:ext cx="82772" cy="1612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15" y="0"/>
                    </a:moveTo>
                    <a:lnTo>
                      <a:pt x="0" y="21326"/>
                    </a:lnTo>
                    <a:lnTo>
                      <a:pt x="3508" y="21600"/>
                    </a:lnTo>
                    <a:lnTo>
                      <a:pt x="21600" y="582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17" name="Freeform 1023"/>
              <p:cNvSpPr/>
              <p:nvPr/>
            </p:nvSpPr>
            <p:spPr>
              <a:xfrm>
                <a:off x="441505" y="116050"/>
                <a:ext cx="89198" cy="1861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3943" y="21600"/>
                    </a:lnTo>
                    <a:lnTo>
                      <a:pt x="0" y="21244"/>
                    </a:lnTo>
                    <a:lnTo>
                      <a:pt x="17314" y="771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18" name="Freeform 1024"/>
              <p:cNvSpPr/>
              <p:nvPr/>
            </p:nvSpPr>
            <p:spPr>
              <a:xfrm>
                <a:off x="166513" y="240288"/>
                <a:ext cx="305138" cy="62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44" h="21600" fill="norm" stroke="1" extrusionOk="0">
                    <a:moveTo>
                      <a:pt x="257" y="0"/>
                    </a:moveTo>
                    <a:lnTo>
                      <a:pt x="0" y="2898"/>
                    </a:lnTo>
                    <a:lnTo>
                      <a:pt x="18975" y="21600"/>
                    </a:lnTo>
                    <a:cubicBezTo>
                      <a:pt x="19466" y="14663"/>
                      <a:pt x="21600" y="21278"/>
                      <a:pt x="18484" y="17649"/>
                    </a:cubicBezTo>
                    <a:lnTo>
                      <a:pt x="257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19" name="Freeform 1025"/>
              <p:cNvSpPr/>
              <p:nvPr/>
            </p:nvSpPr>
            <p:spPr>
              <a:xfrm>
                <a:off x="451438" y="117624"/>
                <a:ext cx="83550" cy="186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854" y="0"/>
                    </a:moveTo>
                    <a:lnTo>
                      <a:pt x="21600" y="0"/>
                    </a:lnTo>
                    <a:lnTo>
                      <a:pt x="2306" y="21600"/>
                    </a:lnTo>
                    <a:lnTo>
                      <a:pt x="0" y="21444"/>
                    </a:lnTo>
                    <a:lnTo>
                      <a:pt x="20854" y="0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20" name="Freeform 1026"/>
              <p:cNvSpPr/>
              <p:nvPr/>
            </p:nvSpPr>
            <p:spPr>
              <a:xfrm>
                <a:off x="166903" y="248634"/>
                <a:ext cx="290962" cy="620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88" y="2239"/>
                    </a:lnTo>
                    <a:lnTo>
                      <a:pt x="21093" y="21600"/>
                    </a:lnTo>
                    <a:lnTo>
                      <a:pt x="21600" y="19479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427" name="Group 1027"/>
              <p:cNvGrpSpPr/>
              <p:nvPr/>
            </p:nvGrpSpPr>
            <p:grpSpPr>
              <a:xfrm>
                <a:off x="162035" y="314926"/>
                <a:ext cx="98740" cy="36944"/>
                <a:chOff x="0" y="0"/>
                <a:chExt cx="98739" cy="36942"/>
              </a:xfrm>
            </p:grpSpPr>
            <p:sp>
              <p:nvSpPr>
                <p:cNvPr id="1421" name="Freeform 1028"/>
                <p:cNvSpPr/>
                <p:nvPr/>
              </p:nvSpPr>
              <p:spPr>
                <a:xfrm>
                  <a:off x="0" y="-1"/>
                  <a:ext cx="98740" cy="368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416" y="0"/>
                      </a:moveTo>
                      <a:lnTo>
                        <a:pt x="21600" y="8191"/>
                      </a:lnTo>
                      <a:lnTo>
                        <a:pt x="13500" y="21600"/>
                      </a:lnTo>
                      <a:lnTo>
                        <a:pt x="0" y="12088"/>
                      </a:lnTo>
                      <a:lnTo>
                        <a:pt x="841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2" name="Freeform 1029"/>
                <p:cNvSpPr/>
                <p:nvPr/>
              </p:nvSpPr>
              <p:spPr>
                <a:xfrm>
                  <a:off x="1838" y="788"/>
                  <a:ext cx="95327" cy="3504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390" y="0"/>
                      </a:moveTo>
                      <a:lnTo>
                        <a:pt x="21600" y="8265"/>
                      </a:lnTo>
                      <a:lnTo>
                        <a:pt x="13597" y="21600"/>
                      </a:lnTo>
                      <a:lnTo>
                        <a:pt x="0" y="12015"/>
                      </a:lnTo>
                      <a:lnTo>
                        <a:pt x="839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3" name="Freeform 1030"/>
                <p:cNvSpPr/>
                <p:nvPr/>
              </p:nvSpPr>
              <p:spPr>
                <a:xfrm>
                  <a:off x="8928" y="13706"/>
                  <a:ext cx="33877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04"/>
                      </a:moveTo>
                      <a:lnTo>
                        <a:pt x="6279" y="0"/>
                      </a:lnTo>
                      <a:lnTo>
                        <a:pt x="21600" y="10800"/>
                      </a:lnTo>
                      <a:lnTo>
                        <a:pt x="15321" y="21600"/>
                      </a:lnTo>
                      <a:lnTo>
                        <a:pt x="0" y="950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4" name="Freeform 1031"/>
                <p:cNvSpPr/>
                <p:nvPr/>
              </p:nvSpPr>
              <p:spPr>
                <a:xfrm>
                  <a:off x="7746" y="16805"/>
                  <a:ext cx="25474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5" name="Freeform 1032"/>
                <p:cNvSpPr/>
                <p:nvPr/>
              </p:nvSpPr>
              <p:spPr>
                <a:xfrm>
                  <a:off x="36764" y="21030"/>
                  <a:ext cx="33878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741"/>
                      </a:moveTo>
                      <a:lnTo>
                        <a:pt x="5944" y="0"/>
                      </a:lnTo>
                      <a:lnTo>
                        <a:pt x="21600" y="11012"/>
                      </a:lnTo>
                      <a:lnTo>
                        <a:pt x="15321" y="21600"/>
                      </a:lnTo>
                      <a:lnTo>
                        <a:pt x="0" y="97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6" name="Freeform 1033"/>
                <p:cNvSpPr/>
                <p:nvPr/>
              </p:nvSpPr>
              <p:spPr>
                <a:xfrm>
                  <a:off x="35583" y="24242"/>
                  <a:ext cx="25473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428" name="Freeform 1034"/>
              <p:cNvSpPr/>
              <p:nvPr/>
            </p:nvSpPr>
            <p:spPr>
              <a:xfrm>
                <a:off x="331080" y="320437"/>
                <a:ext cx="119579" cy="809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5" y="20127"/>
                    </a:moveTo>
                    <a:lnTo>
                      <a:pt x="21600" y="0"/>
                    </a:lnTo>
                    <a:lnTo>
                      <a:pt x="21535" y="1636"/>
                    </a:lnTo>
                    <a:lnTo>
                      <a:pt x="0" y="21600"/>
                    </a:lnTo>
                    <a:lnTo>
                      <a:pt x="65" y="20127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29" name="Freeform 1035"/>
              <p:cNvSpPr/>
              <p:nvPr/>
            </p:nvSpPr>
            <p:spPr>
              <a:xfrm>
                <a:off x="25901" y="326893"/>
                <a:ext cx="305959" cy="73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30" name="Freeform 1036"/>
              <p:cNvSpPr/>
              <p:nvPr/>
            </p:nvSpPr>
            <p:spPr>
              <a:xfrm>
                <a:off x="21402" y="313351"/>
                <a:ext cx="12701" cy="149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469"/>
                    </a:moveTo>
                    <a:lnTo>
                      <a:pt x="19108" y="21600"/>
                    </a:lnTo>
                    <a:lnTo>
                      <a:pt x="0" y="21159"/>
                    </a:lnTo>
                    <a:lnTo>
                      <a:pt x="2492" y="0"/>
                    </a:lnTo>
                    <a:lnTo>
                      <a:pt x="21600" y="1469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31" name="Freeform 1037"/>
              <p:cNvSpPr/>
              <p:nvPr/>
            </p:nvSpPr>
            <p:spPr>
              <a:xfrm>
                <a:off x="26291" y="252413"/>
                <a:ext cx="142172" cy="618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0" y="0"/>
                    </a:moveTo>
                    <a:lnTo>
                      <a:pt x="0" y="21279"/>
                    </a:lnTo>
                    <a:lnTo>
                      <a:pt x="551" y="21600"/>
                    </a:lnTo>
                    <a:lnTo>
                      <a:pt x="21600" y="642"/>
                    </a:lnTo>
                    <a:lnTo>
                      <a:pt x="21490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32" name="Freeform 1038"/>
              <p:cNvSpPr/>
              <p:nvPr/>
            </p:nvSpPr>
            <p:spPr>
              <a:xfrm>
                <a:off x="35835" y="316501"/>
                <a:ext cx="290182" cy="71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33" name="Freeform 1039"/>
              <p:cNvSpPr/>
              <p:nvPr/>
            </p:nvSpPr>
            <p:spPr>
              <a:xfrm flipH="1" rot="10800000">
                <a:off x="325627" y="311462"/>
                <a:ext cx="118410" cy="735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437" name="Group 739"/>
            <p:cNvGrpSpPr/>
            <p:nvPr/>
          </p:nvGrpSpPr>
          <p:grpSpPr>
            <a:xfrm>
              <a:off x="1198707" y="460001"/>
              <a:ext cx="530703" cy="478010"/>
              <a:chOff x="0" y="0"/>
              <a:chExt cx="530702" cy="478008"/>
            </a:xfrm>
          </p:grpSpPr>
          <p:pic>
            <p:nvPicPr>
              <p:cNvPr id="1435" name="Picture 568" descr="Picture 568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 flipH="1">
                <a:off x="193886" y="72561"/>
                <a:ext cx="92773" cy="4054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36" name="Picture 1017" descr="Picture 1017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-1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1440" name="Group 785"/>
            <p:cNvGrpSpPr/>
            <p:nvPr/>
          </p:nvGrpSpPr>
          <p:grpSpPr>
            <a:xfrm>
              <a:off x="1060465" y="199398"/>
              <a:ext cx="849313" cy="226110"/>
              <a:chOff x="0" y="0"/>
              <a:chExt cx="849312" cy="226109"/>
            </a:xfrm>
          </p:grpSpPr>
          <p:pic>
            <p:nvPicPr>
              <p:cNvPr id="1438" name="Picture 603" descr="Picture 603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0" y="57833"/>
                <a:ext cx="849313" cy="16827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39" name="Picture 1017" descr="Picture 1017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211480" y="-1"/>
                <a:ext cx="530703" cy="22375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1472" name="Group 792"/>
          <p:cNvGrpSpPr/>
          <p:nvPr/>
        </p:nvGrpSpPr>
        <p:grpSpPr>
          <a:xfrm>
            <a:off x="7468516" y="3357610"/>
            <a:ext cx="857740" cy="583765"/>
            <a:chOff x="0" y="0"/>
            <a:chExt cx="857739" cy="583763"/>
          </a:xfrm>
        </p:grpSpPr>
        <p:grpSp>
          <p:nvGrpSpPr>
            <p:cNvPr id="1465" name="Group 791"/>
            <p:cNvGrpSpPr/>
            <p:nvPr/>
          </p:nvGrpSpPr>
          <p:grpSpPr>
            <a:xfrm>
              <a:off x="0" y="93716"/>
              <a:ext cx="350808" cy="310034"/>
              <a:chOff x="0" y="0"/>
              <a:chExt cx="350807" cy="310033"/>
            </a:xfrm>
          </p:grpSpPr>
          <p:pic>
            <p:nvPicPr>
              <p:cNvPr id="1442" name="Picture 1115" descr="Picture 1115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0" y="0"/>
                <a:ext cx="347997" cy="1675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43" name="Picture 1116" descr="Picture 1116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 flipH="1" rot="109063">
                <a:off x="16857" y="186068"/>
                <a:ext cx="286699" cy="11944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444" name="Freeform 1117"/>
              <p:cNvSpPr/>
              <p:nvPr/>
            </p:nvSpPr>
            <p:spPr>
              <a:xfrm>
                <a:off x="111869" y="70158"/>
                <a:ext cx="230766" cy="1558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911" y="0"/>
                    </a:moveTo>
                    <a:lnTo>
                      <a:pt x="0" y="15338"/>
                    </a:lnTo>
                    <a:lnTo>
                      <a:pt x="17341" y="21600"/>
                    </a:lnTo>
                    <a:lnTo>
                      <a:pt x="21600" y="2813"/>
                    </a:lnTo>
                    <a:lnTo>
                      <a:pt x="39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1445" name="Picture 1118" descr="Picture 1118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>
                <a:off x="123236" y="74167"/>
                <a:ext cx="209692" cy="1418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446" name="Freeform 1119"/>
              <p:cNvSpPr/>
              <p:nvPr/>
            </p:nvSpPr>
            <p:spPr>
              <a:xfrm>
                <a:off x="153884" y="65560"/>
                <a:ext cx="195518" cy="290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0"/>
                    </a:moveTo>
                    <a:lnTo>
                      <a:pt x="21600" y="16188"/>
                    </a:lnTo>
                    <a:lnTo>
                      <a:pt x="21190" y="21600"/>
                    </a:lnTo>
                    <a:lnTo>
                      <a:pt x="0" y="4083"/>
                    </a:lnTo>
                    <a:lnTo>
                      <a:pt x="12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47" name="Freeform 1120"/>
              <p:cNvSpPr/>
              <p:nvPr/>
            </p:nvSpPr>
            <p:spPr>
              <a:xfrm>
                <a:off x="109826" y="65324"/>
                <a:ext cx="54277" cy="1207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15" y="0"/>
                    </a:moveTo>
                    <a:lnTo>
                      <a:pt x="0" y="21326"/>
                    </a:lnTo>
                    <a:lnTo>
                      <a:pt x="3508" y="21600"/>
                    </a:lnTo>
                    <a:lnTo>
                      <a:pt x="21600" y="582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48" name="Freeform 1121"/>
              <p:cNvSpPr/>
              <p:nvPr/>
            </p:nvSpPr>
            <p:spPr>
              <a:xfrm>
                <a:off x="289508" y="86902"/>
                <a:ext cx="58490" cy="139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3943" y="21600"/>
                    </a:lnTo>
                    <a:lnTo>
                      <a:pt x="0" y="21244"/>
                    </a:lnTo>
                    <a:lnTo>
                      <a:pt x="17314" y="771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49" name="Freeform 1122"/>
              <p:cNvSpPr/>
              <p:nvPr/>
            </p:nvSpPr>
            <p:spPr>
              <a:xfrm>
                <a:off x="109188" y="179937"/>
                <a:ext cx="200088" cy="470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44" h="21600" fill="norm" stroke="1" extrusionOk="0">
                    <a:moveTo>
                      <a:pt x="257" y="0"/>
                    </a:moveTo>
                    <a:lnTo>
                      <a:pt x="0" y="2898"/>
                    </a:lnTo>
                    <a:lnTo>
                      <a:pt x="18975" y="21600"/>
                    </a:lnTo>
                    <a:cubicBezTo>
                      <a:pt x="19466" y="14663"/>
                      <a:pt x="21600" y="21278"/>
                      <a:pt x="18484" y="17649"/>
                    </a:cubicBezTo>
                    <a:lnTo>
                      <a:pt x="257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50" name="Freeform 1123"/>
              <p:cNvSpPr/>
              <p:nvPr/>
            </p:nvSpPr>
            <p:spPr>
              <a:xfrm>
                <a:off x="296021" y="88081"/>
                <a:ext cx="54787" cy="139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854" y="0"/>
                    </a:moveTo>
                    <a:lnTo>
                      <a:pt x="21600" y="0"/>
                    </a:lnTo>
                    <a:lnTo>
                      <a:pt x="2306" y="21600"/>
                    </a:lnTo>
                    <a:lnTo>
                      <a:pt x="0" y="21444"/>
                    </a:lnTo>
                    <a:lnTo>
                      <a:pt x="20854" y="0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51" name="Freeform 1124"/>
              <p:cNvSpPr/>
              <p:nvPr/>
            </p:nvSpPr>
            <p:spPr>
              <a:xfrm>
                <a:off x="109444" y="186186"/>
                <a:ext cx="190793" cy="464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88" y="2239"/>
                    </a:lnTo>
                    <a:lnTo>
                      <a:pt x="21093" y="21600"/>
                    </a:lnTo>
                    <a:lnTo>
                      <a:pt x="21600" y="19479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458" name="Group 1125"/>
              <p:cNvGrpSpPr/>
              <p:nvPr/>
            </p:nvGrpSpPr>
            <p:grpSpPr>
              <a:xfrm>
                <a:off x="106250" y="235828"/>
                <a:ext cx="64748" cy="29260"/>
                <a:chOff x="0" y="0"/>
                <a:chExt cx="64746" cy="29258"/>
              </a:xfrm>
            </p:grpSpPr>
            <p:sp>
              <p:nvSpPr>
                <p:cNvPr id="1452" name="Freeform 1126"/>
                <p:cNvSpPr/>
                <p:nvPr/>
              </p:nvSpPr>
              <p:spPr>
                <a:xfrm>
                  <a:off x="0" y="0"/>
                  <a:ext cx="64747" cy="275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416" y="0"/>
                      </a:moveTo>
                      <a:lnTo>
                        <a:pt x="21600" y="8191"/>
                      </a:lnTo>
                      <a:lnTo>
                        <a:pt x="13500" y="21600"/>
                      </a:lnTo>
                      <a:lnTo>
                        <a:pt x="0" y="12088"/>
                      </a:lnTo>
                      <a:lnTo>
                        <a:pt x="841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3" name="Freeform 1127"/>
                <p:cNvSpPr/>
                <p:nvPr/>
              </p:nvSpPr>
              <p:spPr>
                <a:xfrm>
                  <a:off x="1205" y="590"/>
                  <a:ext cx="62509" cy="262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390" y="0"/>
                      </a:moveTo>
                      <a:lnTo>
                        <a:pt x="21600" y="8265"/>
                      </a:lnTo>
                      <a:lnTo>
                        <a:pt x="13597" y="21600"/>
                      </a:lnTo>
                      <a:lnTo>
                        <a:pt x="0" y="12015"/>
                      </a:lnTo>
                      <a:lnTo>
                        <a:pt x="839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4" name="Freeform 1128"/>
                <p:cNvSpPr/>
                <p:nvPr/>
              </p:nvSpPr>
              <p:spPr>
                <a:xfrm>
                  <a:off x="5854" y="8669"/>
                  <a:ext cx="22215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04"/>
                      </a:moveTo>
                      <a:lnTo>
                        <a:pt x="6279" y="0"/>
                      </a:lnTo>
                      <a:lnTo>
                        <a:pt x="21600" y="10800"/>
                      </a:lnTo>
                      <a:lnTo>
                        <a:pt x="15321" y="21600"/>
                      </a:lnTo>
                      <a:lnTo>
                        <a:pt x="0" y="950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5" name="Freeform 1129"/>
                <p:cNvSpPr/>
                <p:nvPr/>
              </p:nvSpPr>
              <p:spPr>
                <a:xfrm>
                  <a:off x="5079" y="10989"/>
                  <a:ext cx="16705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6" name="Freeform 1130"/>
                <p:cNvSpPr/>
                <p:nvPr/>
              </p:nvSpPr>
              <p:spPr>
                <a:xfrm>
                  <a:off x="24107" y="14154"/>
                  <a:ext cx="22215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741"/>
                      </a:moveTo>
                      <a:lnTo>
                        <a:pt x="5944" y="0"/>
                      </a:lnTo>
                      <a:lnTo>
                        <a:pt x="21600" y="11012"/>
                      </a:lnTo>
                      <a:lnTo>
                        <a:pt x="15321" y="21600"/>
                      </a:lnTo>
                      <a:lnTo>
                        <a:pt x="0" y="97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7" name="Freeform 1131"/>
                <p:cNvSpPr/>
                <p:nvPr/>
              </p:nvSpPr>
              <p:spPr>
                <a:xfrm>
                  <a:off x="23333" y="16558"/>
                  <a:ext cx="16704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459" name="Freeform 1132"/>
              <p:cNvSpPr/>
              <p:nvPr/>
            </p:nvSpPr>
            <p:spPr>
              <a:xfrm>
                <a:off x="217099" y="239955"/>
                <a:ext cx="78412" cy="606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5" y="20127"/>
                    </a:moveTo>
                    <a:lnTo>
                      <a:pt x="21600" y="0"/>
                    </a:lnTo>
                    <a:lnTo>
                      <a:pt x="21535" y="1636"/>
                    </a:lnTo>
                    <a:lnTo>
                      <a:pt x="0" y="21600"/>
                    </a:lnTo>
                    <a:lnTo>
                      <a:pt x="65" y="20127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60" name="Freeform 1133"/>
              <p:cNvSpPr/>
              <p:nvPr/>
            </p:nvSpPr>
            <p:spPr>
              <a:xfrm>
                <a:off x="16985" y="244790"/>
                <a:ext cx="200625" cy="553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61" name="Freeform 1134"/>
              <p:cNvSpPr/>
              <p:nvPr/>
            </p:nvSpPr>
            <p:spPr>
              <a:xfrm>
                <a:off x="11848" y="233900"/>
                <a:ext cx="12701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469"/>
                    </a:moveTo>
                    <a:lnTo>
                      <a:pt x="19108" y="21600"/>
                    </a:lnTo>
                    <a:lnTo>
                      <a:pt x="0" y="21159"/>
                    </a:lnTo>
                    <a:lnTo>
                      <a:pt x="2492" y="0"/>
                    </a:lnTo>
                    <a:lnTo>
                      <a:pt x="21600" y="1469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62" name="Freeform 1135"/>
              <p:cNvSpPr/>
              <p:nvPr/>
            </p:nvSpPr>
            <p:spPr>
              <a:xfrm>
                <a:off x="17239" y="189016"/>
                <a:ext cx="93227" cy="463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0" y="0"/>
                    </a:moveTo>
                    <a:lnTo>
                      <a:pt x="0" y="21279"/>
                    </a:lnTo>
                    <a:lnTo>
                      <a:pt x="551" y="21600"/>
                    </a:lnTo>
                    <a:lnTo>
                      <a:pt x="21600" y="642"/>
                    </a:lnTo>
                    <a:lnTo>
                      <a:pt x="21490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63" name="Freeform 1136"/>
              <p:cNvSpPr/>
              <p:nvPr/>
            </p:nvSpPr>
            <p:spPr>
              <a:xfrm>
                <a:off x="23498" y="237008"/>
                <a:ext cx="190282" cy="531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64" name="Freeform 1137"/>
              <p:cNvSpPr/>
              <p:nvPr/>
            </p:nvSpPr>
            <p:spPr>
              <a:xfrm flipH="1" rot="10800000">
                <a:off x="213524" y="233234"/>
                <a:ext cx="77646" cy="550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468" name="Group 1139"/>
            <p:cNvGrpSpPr/>
            <p:nvPr/>
          </p:nvGrpSpPr>
          <p:grpSpPr>
            <a:xfrm>
              <a:off x="498478" y="241719"/>
              <a:ext cx="359262" cy="342045"/>
              <a:chOff x="0" y="0"/>
              <a:chExt cx="359260" cy="342044"/>
            </a:xfrm>
          </p:grpSpPr>
          <p:pic>
            <p:nvPicPr>
              <p:cNvPr id="1466" name="Picture 1140" descr="Picture 1140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359261" cy="34204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467" name="Freeform 1141"/>
              <p:cNvSpPr/>
              <p:nvPr/>
            </p:nvSpPr>
            <p:spPr>
              <a:xfrm flipH="1">
                <a:off x="153221" y="32798"/>
                <a:ext cx="169401" cy="1567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471" name="Group 693"/>
            <p:cNvGrpSpPr/>
            <p:nvPr/>
          </p:nvGrpSpPr>
          <p:grpSpPr>
            <a:xfrm>
              <a:off x="309917" y="0"/>
              <a:ext cx="347998" cy="396620"/>
              <a:chOff x="0" y="0"/>
              <a:chExt cx="347996" cy="396619"/>
            </a:xfrm>
          </p:grpSpPr>
          <p:pic>
            <p:nvPicPr>
              <p:cNvPr id="1469" name="Picture 571" descr="Picture 571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99764" y="59592"/>
                <a:ext cx="189579" cy="33702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70" name="Picture 1115" descr="Picture 1115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0" y="0"/>
                <a:ext cx="347997" cy="1675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1485" name="Group 794"/>
          <p:cNvGrpSpPr/>
          <p:nvPr/>
        </p:nvGrpSpPr>
        <p:grpSpPr>
          <a:xfrm>
            <a:off x="11039944" y="3460672"/>
            <a:ext cx="518449" cy="1212243"/>
            <a:chOff x="0" y="0"/>
            <a:chExt cx="518447" cy="1212242"/>
          </a:xfrm>
        </p:grpSpPr>
        <p:grpSp>
          <p:nvGrpSpPr>
            <p:cNvPr id="1478" name="Group 374"/>
            <p:cNvGrpSpPr/>
            <p:nvPr/>
          </p:nvGrpSpPr>
          <p:grpSpPr>
            <a:xfrm>
              <a:off x="28609" y="760425"/>
              <a:ext cx="489840" cy="451818"/>
              <a:chOff x="0" y="0"/>
              <a:chExt cx="489839" cy="451816"/>
            </a:xfrm>
          </p:grpSpPr>
          <p:sp>
            <p:nvSpPr>
              <p:cNvPr id="1473" name="Straight Connector 375"/>
              <p:cNvSpPr/>
              <p:nvPr/>
            </p:nvSpPr>
            <p:spPr>
              <a:xfrm>
                <a:off x="-1" y="240564"/>
                <a:ext cx="186245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477" name="Group 377"/>
              <p:cNvGrpSpPr/>
              <p:nvPr/>
            </p:nvGrpSpPr>
            <p:grpSpPr>
              <a:xfrm>
                <a:off x="137494" y="0"/>
                <a:ext cx="352346" cy="451817"/>
                <a:chOff x="0" y="0"/>
                <a:chExt cx="352344" cy="451816"/>
              </a:xfrm>
            </p:grpSpPr>
            <p:pic>
              <p:nvPicPr>
                <p:cNvPr id="1474" name="Picture 378" descr="Picture 378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203776" y="66104"/>
                  <a:ext cx="148569" cy="34914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75" name="Picture 379" descr="Picture 379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0" y="58546"/>
                  <a:ext cx="148568" cy="34914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76" name="Picture 380" descr="Picture 380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85777" y="0"/>
                  <a:ext cx="192259" cy="45181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1484" name="Group 391"/>
            <p:cNvGrpSpPr/>
            <p:nvPr/>
          </p:nvGrpSpPr>
          <p:grpSpPr>
            <a:xfrm>
              <a:off x="0" y="-1"/>
              <a:ext cx="423724" cy="405974"/>
              <a:chOff x="0" y="0"/>
              <a:chExt cx="423723" cy="405973"/>
            </a:xfrm>
          </p:grpSpPr>
          <p:sp>
            <p:nvSpPr>
              <p:cNvPr id="1479" name="Straight Connector 392"/>
              <p:cNvSpPr/>
              <p:nvPr/>
            </p:nvSpPr>
            <p:spPr>
              <a:xfrm>
                <a:off x="0" y="216155"/>
                <a:ext cx="16110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1483" name="Group 394"/>
              <p:cNvGrpSpPr/>
              <p:nvPr/>
            </p:nvGrpSpPr>
            <p:grpSpPr>
              <a:xfrm>
                <a:off x="118936" y="0"/>
                <a:ext cx="304788" cy="405974"/>
                <a:chOff x="0" y="0"/>
                <a:chExt cx="304787" cy="405973"/>
              </a:xfrm>
            </p:grpSpPr>
            <p:pic>
              <p:nvPicPr>
                <p:cNvPr id="1480" name="Picture 395" descr="Picture 395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176272" y="59397"/>
                  <a:ext cx="128516" cy="3137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81" name="Picture 396" descr="Picture 396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-1" y="52605"/>
                  <a:ext cx="128517" cy="3137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82" name="Picture 397" descr="Picture 397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74200" y="0"/>
                  <a:ext cx="166308" cy="40597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</p:grpSp>
      <p:grpSp>
        <p:nvGrpSpPr>
          <p:cNvPr id="1518" name="Group 950"/>
          <p:cNvGrpSpPr/>
          <p:nvPr/>
        </p:nvGrpSpPr>
        <p:grpSpPr>
          <a:xfrm>
            <a:off x="10263913" y="5306138"/>
            <a:ext cx="180434" cy="330834"/>
            <a:chOff x="0" y="0"/>
            <a:chExt cx="180433" cy="330833"/>
          </a:xfrm>
        </p:grpSpPr>
        <p:sp>
          <p:nvSpPr>
            <p:cNvPr id="1486" name="Freeform 951"/>
            <p:cNvSpPr/>
            <p:nvPr/>
          </p:nvSpPr>
          <p:spPr>
            <a:xfrm>
              <a:off x="140261" y="552"/>
              <a:ext cx="35191" cy="31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87" name="Rectangle 952"/>
            <p:cNvSpPr/>
            <p:nvPr/>
          </p:nvSpPr>
          <p:spPr>
            <a:xfrm>
              <a:off x="8704" y="0"/>
              <a:ext cx="130066" cy="315507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88" name="Freeform 953"/>
            <p:cNvSpPr/>
            <p:nvPr/>
          </p:nvSpPr>
          <p:spPr>
            <a:xfrm>
              <a:off x="147548" y="19468"/>
              <a:ext cx="20319" cy="287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89" name="Freeform 954"/>
            <p:cNvSpPr/>
            <p:nvPr/>
          </p:nvSpPr>
          <p:spPr>
            <a:xfrm>
              <a:off x="142250" y="167211"/>
              <a:ext cx="32704" cy="26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90" name="Rectangle 955"/>
            <p:cNvSpPr/>
            <p:nvPr/>
          </p:nvSpPr>
          <p:spPr>
            <a:xfrm>
              <a:off x="8704" y="32932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493" name="Group 956"/>
            <p:cNvGrpSpPr/>
            <p:nvPr/>
          </p:nvGrpSpPr>
          <p:grpSpPr>
            <a:xfrm>
              <a:off x="75626" y="32712"/>
              <a:ext cx="71847" cy="20742"/>
              <a:chOff x="0" y="0"/>
              <a:chExt cx="71846" cy="20741"/>
            </a:xfrm>
          </p:grpSpPr>
          <p:sp>
            <p:nvSpPr>
              <p:cNvPr id="1491" name="AutoShape 957"/>
              <p:cNvSpPr/>
              <p:nvPr/>
            </p:nvSpPr>
            <p:spPr>
              <a:xfrm>
                <a:off x="0" y="0"/>
                <a:ext cx="71847" cy="207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492" name="AutoShape 958"/>
              <p:cNvSpPr/>
              <p:nvPr/>
            </p:nvSpPr>
            <p:spPr>
              <a:xfrm>
                <a:off x="1195" y="2160"/>
                <a:ext cx="69356" cy="164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494" name="Rectangle 959"/>
            <p:cNvSpPr/>
            <p:nvPr/>
          </p:nvSpPr>
          <p:spPr>
            <a:xfrm>
              <a:off x="9947" y="78774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497" name="Group 960"/>
            <p:cNvGrpSpPr/>
            <p:nvPr/>
          </p:nvGrpSpPr>
          <p:grpSpPr>
            <a:xfrm>
              <a:off x="75577" y="77481"/>
              <a:ext cx="71847" cy="18503"/>
              <a:chOff x="0" y="0"/>
              <a:chExt cx="71846" cy="18502"/>
            </a:xfrm>
          </p:grpSpPr>
          <p:sp>
            <p:nvSpPr>
              <p:cNvPr id="1495" name="AutoShape 961"/>
              <p:cNvSpPr/>
              <p:nvPr/>
            </p:nvSpPr>
            <p:spPr>
              <a:xfrm>
                <a:off x="0" y="0"/>
                <a:ext cx="71847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496" name="AutoShape 962"/>
              <p:cNvSpPr/>
              <p:nvPr/>
            </p:nvSpPr>
            <p:spPr>
              <a:xfrm>
                <a:off x="1295" y="2262"/>
                <a:ext cx="69356" cy="1424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498" name="Rectangle 963"/>
            <p:cNvSpPr/>
            <p:nvPr/>
          </p:nvSpPr>
          <p:spPr>
            <a:xfrm>
              <a:off x="9947" y="124615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99" name="Rectangle 964"/>
            <p:cNvSpPr/>
            <p:nvPr/>
          </p:nvSpPr>
          <p:spPr>
            <a:xfrm>
              <a:off x="11191" y="166177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502" name="Group 965"/>
            <p:cNvGrpSpPr/>
            <p:nvPr/>
          </p:nvGrpSpPr>
          <p:grpSpPr>
            <a:xfrm>
              <a:off x="74384" y="168116"/>
              <a:ext cx="71871" cy="18601"/>
              <a:chOff x="0" y="0"/>
              <a:chExt cx="71869" cy="18599"/>
            </a:xfrm>
          </p:grpSpPr>
          <p:sp>
            <p:nvSpPr>
              <p:cNvPr id="1500" name="AutoShape 966"/>
              <p:cNvSpPr/>
              <p:nvPr/>
            </p:nvSpPr>
            <p:spPr>
              <a:xfrm>
                <a:off x="0" y="0"/>
                <a:ext cx="71870" cy="186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501" name="AutoShape 967"/>
              <p:cNvSpPr/>
              <p:nvPr/>
            </p:nvSpPr>
            <p:spPr>
              <a:xfrm>
                <a:off x="1197" y="0"/>
                <a:ext cx="69376" cy="1635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503" name="Freeform 968"/>
            <p:cNvSpPr/>
            <p:nvPr/>
          </p:nvSpPr>
          <p:spPr>
            <a:xfrm>
              <a:off x="142748" y="127721"/>
              <a:ext cx="32704" cy="25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506" name="Group 969"/>
            <p:cNvGrpSpPr/>
            <p:nvPr/>
          </p:nvGrpSpPr>
          <p:grpSpPr>
            <a:xfrm>
              <a:off x="74382" y="124407"/>
              <a:ext cx="73069" cy="18503"/>
              <a:chOff x="0" y="0"/>
              <a:chExt cx="73067" cy="18502"/>
            </a:xfrm>
          </p:grpSpPr>
          <p:sp>
            <p:nvSpPr>
              <p:cNvPr id="1504" name="AutoShape 970"/>
              <p:cNvSpPr/>
              <p:nvPr/>
            </p:nvSpPr>
            <p:spPr>
              <a:xfrm>
                <a:off x="0" y="0"/>
                <a:ext cx="73068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505" name="AutoShape 971"/>
              <p:cNvSpPr/>
              <p:nvPr/>
            </p:nvSpPr>
            <p:spPr>
              <a:xfrm>
                <a:off x="1197" y="2209"/>
                <a:ext cx="71871" cy="1422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507" name="Rectangle 972"/>
            <p:cNvSpPr/>
            <p:nvPr/>
          </p:nvSpPr>
          <p:spPr>
            <a:xfrm>
              <a:off x="135527" y="0"/>
              <a:ext cx="12701" cy="31550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08" name="Freeform 973"/>
            <p:cNvSpPr/>
            <p:nvPr/>
          </p:nvSpPr>
          <p:spPr>
            <a:xfrm>
              <a:off x="145732" y="79808"/>
              <a:ext cx="29471" cy="29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7"/>
                    <a:pt x="21308" y="12150"/>
                  </a:cubicBezTo>
                  <a:cubicBezTo>
                    <a:pt x="21162" y="15019"/>
                    <a:pt x="21600" y="15863"/>
                    <a:pt x="21600" y="21600"/>
                  </a:cubicBezTo>
                  <a:cubicBezTo>
                    <a:pt x="21600" y="21600"/>
                    <a:pt x="11676" y="14850"/>
                    <a:pt x="0" y="8437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09" name="Freeform 974"/>
            <p:cNvSpPr/>
            <p:nvPr/>
          </p:nvSpPr>
          <p:spPr>
            <a:xfrm>
              <a:off x="146105" y="34657"/>
              <a:ext cx="30341" cy="33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10" name="Oval 975"/>
            <p:cNvSpPr/>
            <p:nvPr/>
          </p:nvSpPr>
          <p:spPr>
            <a:xfrm>
              <a:off x="167733" y="301284"/>
              <a:ext cx="12701" cy="13119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11" name="Freeform 976"/>
            <p:cNvSpPr/>
            <p:nvPr/>
          </p:nvSpPr>
          <p:spPr>
            <a:xfrm>
              <a:off x="144489" y="301698"/>
              <a:ext cx="30465" cy="2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12" name="AutoShape 977"/>
            <p:cNvSpPr/>
            <p:nvPr/>
          </p:nvSpPr>
          <p:spPr>
            <a:xfrm>
              <a:off x="0" y="310121"/>
              <a:ext cx="148717" cy="2071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13" name="AutoShape 978"/>
            <p:cNvSpPr/>
            <p:nvPr/>
          </p:nvSpPr>
          <p:spPr>
            <a:xfrm>
              <a:off x="8704" y="314610"/>
              <a:ext cx="13255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398" y="0"/>
                    <a:pt x="889" y="0"/>
                  </a:cubicBezTo>
                  <a:lnTo>
                    <a:pt x="20711" y="0"/>
                  </a:lnTo>
                  <a:cubicBezTo>
                    <a:pt x="21202" y="0"/>
                    <a:pt x="21600" y="4835"/>
                    <a:pt x="21600" y="10800"/>
                  </a:cubicBezTo>
                  <a:cubicBezTo>
                    <a:pt x="21600" y="16765"/>
                    <a:pt x="21202" y="21600"/>
                    <a:pt x="20711" y="21600"/>
                  </a:cubicBezTo>
                  <a:lnTo>
                    <a:pt x="889" y="21600"/>
                  </a:lnTo>
                  <a:cubicBezTo>
                    <a:pt x="398" y="21600"/>
                    <a:pt x="0" y="16765"/>
                    <a:pt x="0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14" name="Oval 979"/>
            <p:cNvSpPr/>
            <p:nvPr/>
          </p:nvSpPr>
          <p:spPr>
            <a:xfrm>
              <a:off x="21014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15" name="Oval 980"/>
            <p:cNvSpPr/>
            <p:nvPr/>
          </p:nvSpPr>
          <p:spPr>
            <a:xfrm>
              <a:off x="43396" y="269664"/>
              <a:ext cx="19771" cy="19607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16" name="Oval 981"/>
            <p:cNvSpPr/>
            <p:nvPr/>
          </p:nvSpPr>
          <p:spPr>
            <a:xfrm>
              <a:off x="64410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17" name="Rectangle 982"/>
            <p:cNvSpPr/>
            <p:nvPr/>
          </p:nvSpPr>
          <p:spPr>
            <a:xfrm>
              <a:off x="113891" y="194412"/>
              <a:ext cx="12701" cy="104801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1521" name="Group 590"/>
          <p:cNvGrpSpPr/>
          <p:nvPr/>
        </p:nvGrpSpPr>
        <p:grpSpPr>
          <a:xfrm>
            <a:off x="7955853" y="4932348"/>
            <a:ext cx="345631" cy="320303"/>
            <a:chOff x="0" y="0"/>
            <a:chExt cx="345629" cy="320302"/>
          </a:xfrm>
        </p:grpSpPr>
        <p:pic>
          <p:nvPicPr>
            <p:cNvPr id="1519" name="Picture 591" descr="Picture 591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20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545" name="Group 1064"/>
          <p:cNvGrpSpPr/>
          <p:nvPr/>
        </p:nvGrpSpPr>
        <p:grpSpPr>
          <a:xfrm>
            <a:off x="9010801" y="5861358"/>
            <a:ext cx="310187" cy="311799"/>
            <a:chOff x="0" y="0"/>
            <a:chExt cx="310186" cy="311798"/>
          </a:xfrm>
        </p:grpSpPr>
        <p:pic>
          <p:nvPicPr>
            <p:cNvPr id="1522" name="Picture 1065" descr="Picture 1065"/>
            <p:cNvPicPr>
              <a:picLocks noChangeAspect="1"/>
            </p:cNvPicPr>
            <p:nvPr/>
          </p:nvPicPr>
          <p:blipFill>
            <a:blip r:embed="rId19">
              <a:extLst/>
            </a:blip>
            <a:stretch>
              <a:fillRect/>
            </a:stretch>
          </p:blipFill>
          <p:spPr>
            <a:xfrm>
              <a:off x="0" y="0"/>
              <a:ext cx="307702" cy="1688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23" name="Picture 1066" descr="Picture 1066"/>
            <p:cNvPicPr>
              <a:picLocks noChangeAspect="1"/>
            </p:cNvPicPr>
            <p:nvPr/>
          </p:nvPicPr>
          <p:blipFill>
            <a:blip r:embed="rId20">
              <a:extLst/>
            </a:blip>
            <a:stretch>
              <a:fillRect/>
            </a:stretch>
          </p:blipFill>
          <p:spPr>
            <a:xfrm flipH="1" rot="109063">
              <a:off x="14905" y="187464"/>
              <a:ext cx="253502" cy="1203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24" name="Freeform 1067"/>
            <p:cNvSpPr/>
            <p:nvPr/>
          </p:nvSpPr>
          <p:spPr>
            <a:xfrm>
              <a:off x="98916" y="70685"/>
              <a:ext cx="204044" cy="157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525" name="Picture 1068" descr="Picture 1068"/>
            <p:cNvPicPr>
              <a:picLocks noChangeAspect="1"/>
            </p:cNvPicPr>
            <p:nvPr/>
          </p:nvPicPr>
          <p:blipFill>
            <a:blip r:embed="rId21">
              <a:extLst/>
            </a:blip>
            <a:stretch>
              <a:fillRect/>
            </a:stretch>
          </p:blipFill>
          <p:spPr>
            <a:xfrm>
              <a:off x="108965" y="74724"/>
              <a:ext cx="185413" cy="1429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26" name="Freeform 1069"/>
            <p:cNvSpPr/>
            <p:nvPr/>
          </p:nvSpPr>
          <p:spPr>
            <a:xfrm>
              <a:off x="136066" y="66052"/>
              <a:ext cx="172878" cy="29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27" name="Freeform 1070"/>
            <p:cNvSpPr/>
            <p:nvPr/>
          </p:nvSpPr>
          <p:spPr>
            <a:xfrm>
              <a:off x="97109" y="65814"/>
              <a:ext cx="47991" cy="121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28" name="Freeform 1071"/>
            <p:cNvSpPr/>
            <p:nvPr/>
          </p:nvSpPr>
          <p:spPr>
            <a:xfrm>
              <a:off x="255985" y="87554"/>
              <a:ext cx="51717" cy="1404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29" name="Freeform 1072"/>
            <p:cNvSpPr/>
            <p:nvPr/>
          </p:nvSpPr>
          <p:spPr>
            <a:xfrm>
              <a:off x="96544" y="181287"/>
              <a:ext cx="176920" cy="47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30" name="Freeform 1073"/>
            <p:cNvSpPr/>
            <p:nvPr/>
          </p:nvSpPr>
          <p:spPr>
            <a:xfrm>
              <a:off x="261744" y="88742"/>
              <a:ext cx="48443" cy="141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31" name="Freeform 1074"/>
            <p:cNvSpPr/>
            <p:nvPr/>
          </p:nvSpPr>
          <p:spPr>
            <a:xfrm>
              <a:off x="96770" y="187583"/>
              <a:ext cx="168701" cy="46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538" name="Group 1075"/>
            <p:cNvGrpSpPr/>
            <p:nvPr/>
          </p:nvGrpSpPr>
          <p:grpSpPr>
            <a:xfrm>
              <a:off x="93947" y="237597"/>
              <a:ext cx="57251" cy="29432"/>
              <a:chOff x="0" y="0"/>
              <a:chExt cx="57249" cy="29430"/>
            </a:xfrm>
          </p:grpSpPr>
          <p:sp>
            <p:nvSpPr>
              <p:cNvPr id="1532" name="Freeform 1076"/>
              <p:cNvSpPr/>
              <p:nvPr/>
            </p:nvSpPr>
            <p:spPr>
              <a:xfrm>
                <a:off x="0" y="0"/>
                <a:ext cx="57250" cy="27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33" name="Freeform 1077"/>
              <p:cNvSpPr/>
              <p:nvPr/>
            </p:nvSpPr>
            <p:spPr>
              <a:xfrm>
                <a:off x="1065" y="595"/>
                <a:ext cx="55271" cy="264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34" name="Freeform 1078"/>
              <p:cNvSpPr/>
              <p:nvPr/>
            </p:nvSpPr>
            <p:spPr>
              <a:xfrm>
                <a:off x="5176" y="8782"/>
                <a:ext cx="19643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35" name="Freeform 1079"/>
              <p:cNvSpPr/>
              <p:nvPr/>
            </p:nvSpPr>
            <p:spPr>
              <a:xfrm>
                <a:off x="4491" y="11119"/>
                <a:ext cx="14770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36" name="Freeform 1080"/>
              <p:cNvSpPr/>
              <p:nvPr/>
            </p:nvSpPr>
            <p:spPr>
              <a:xfrm>
                <a:off x="21316" y="14307"/>
                <a:ext cx="19642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37" name="Freeform 1081"/>
              <p:cNvSpPr/>
              <p:nvPr/>
            </p:nvSpPr>
            <p:spPr>
              <a:xfrm>
                <a:off x="20631" y="16730"/>
                <a:ext cx="14770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1539" name="Freeform 1082"/>
            <p:cNvSpPr/>
            <p:nvPr/>
          </p:nvSpPr>
          <p:spPr>
            <a:xfrm>
              <a:off x="191960" y="241755"/>
              <a:ext cx="69333" cy="610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0" name="Freeform 1083"/>
            <p:cNvSpPr/>
            <p:nvPr/>
          </p:nvSpPr>
          <p:spPr>
            <a:xfrm>
              <a:off x="15018" y="246626"/>
              <a:ext cx="177395" cy="55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1" name="Freeform 1084"/>
            <p:cNvSpPr/>
            <p:nvPr/>
          </p:nvSpPr>
          <p:spPr>
            <a:xfrm>
              <a:off x="9740" y="235702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2" name="Freeform 1085"/>
            <p:cNvSpPr/>
            <p:nvPr/>
          </p:nvSpPr>
          <p:spPr>
            <a:xfrm>
              <a:off x="15243" y="190434"/>
              <a:ext cx="82432" cy="46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3" name="Freeform 1086"/>
            <p:cNvSpPr/>
            <p:nvPr/>
          </p:nvSpPr>
          <p:spPr>
            <a:xfrm>
              <a:off x="20776" y="238785"/>
              <a:ext cx="168249" cy="53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4" name="Freeform 1087"/>
            <p:cNvSpPr/>
            <p:nvPr/>
          </p:nvSpPr>
          <p:spPr>
            <a:xfrm flipH="1" rot="10800000">
              <a:off x="188799" y="234984"/>
              <a:ext cx="68655" cy="554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548" name="Group 590"/>
          <p:cNvGrpSpPr/>
          <p:nvPr/>
        </p:nvGrpSpPr>
        <p:grpSpPr>
          <a:xfrm>
            <a:off x="7748978" y="5313247"/>
            <a:ext cx="345631" cy="320303"/>
            <a:chOff x="0" y="0"/>
            <a:chExt cx="345629" cy="320302"/>
          </a:xfrm>
        </p:grpSpPr>
        <p:pic>
          <p:nvPicPr>
            <p:cNvPr id="1546" name="Picture 591" descr="Picture 591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47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551" name="Group 590"/>
          <p:cNvGrpSpPr/>
          <p:nvPr/>
        </p:nvGrpSpPr>
        <p:grpSpPr>
          <a:xfrm>
            <a:off x="8128906" y="5536843"/>
            <a:ext cx="345631" cy="320303"/>
            <a:chOff x="0" y="0"/>
            <a:chExt cx="345629" cy="320302"/>
          </a:xfrm>
        </p:grpSpPr>
        <p:pic>
          <p:nvPicPr>
            <p:cNvPr id="1549" name="Picture 591" descr="Picture 591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50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554" name="Group 590"/>
          <p:cNvGrpSpPr/>
          <p:nvPr/>
        </p:nvGrpSpPr>
        <p:grpSpPr>
          <a:xfrm>
            <a:off x="8527132" y="5558316"/>
            <a:ext cx="345631" cy="320303"/>
            <a:chOff x="0" y="0"/>
            <a:chExt cx="345629" cy="320302"/>
          </a:xfrm>
        </p:grpSpPr>
        <p:pic>
          <p:nvPicPr>
            <p:cNvPr id="1552" name="Picture 591" descr="Picture 591"/>
            <p:cNvPicPr>
              <a:picLocks noChangeAspect="1"/>
            </p:cNvPicPr>
            <p:nvPr/>
          </p:nvPicPr>
          <p:blipFill>
            <a:blip r:embed="rId18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53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578" name="Group 1064"/>
          <p:cNvGrpSpPr/>
          <p:nvPr/>
        </p:nvGrpSpPr>
        <p:grpSpPr>
          <a:xfrm>
            <a:off x="9647169" y="6015687"/>
            <a:ext cx="319265" cy="257493"/>
            <a:chOff x="0" y="0"/>
            <a:chExt cx="319263" cy="257492"/>
          </a:xfrm>
        </p:grpSpPr>
        <p:pic>
          <p:nvPicPr>
            <p:cNvPr id="1555" name="Picture 1065" descr="Picture 1065"/>
            <p:cNvPicPr>
              <a:picLocks noChangeAspect="1"/>
            </p:cNvPicPr>
            <p:nvPr/>
          </p:nvPicPr>
          <p:blipFill>
            <a:blip r:embed="rId19">
              <a:extLst/>
            </a:blip>
            <a:stretch>
              <a:fillRect/>
            </a:stretch>
          </p:blipFill>
          <p:spPr>
            <a:xfrm>
              <a:off x="0" y="0"/>
              <a:ext cx="316708" cy="1389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56" name="Picture 1066" descr="Picture 1066"/>
            <p:cNvPicPr>
              <a:picLocks noChangeAspect="1"/>
            </p:cNvPicPr>
            <p:nvPr/>
          </p:nvPicPr>
          <p:blipFill>
            <a:blip r:embed="rId20">
              <a:extLst/>
            </a:blip>
            <a:stretch>
              <a:fillRect/>
            </a:stretch>
          </p:blipFill>
          <p:spPr>
            <a:xfrm flipH="1" rot="109063">
              <a:off x="15341" y="154315"/>
              <a:ext cx="260921" cy="990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57" name="Freeform 1067"/>
            <p:cNvSpPr/>
            <p:nvPr/>
          </p:nvSpPr>
          <p:spPr>
            <a:xfrm>
              <a:off x="101811" y="58186"/>
              <a:ext cx="210015" cy="129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558" name="Picture 1068" descr="Picture 1068"/>
            <p:cNvPicPr>
              <a:picLocks noChangeAspect="1"/>
            </p:cNvPicPr>
            <p:nvPr/>
          </p:nvPicPr>
          <p:blipFill>
            <a:blip r:embed="rId21">
              <a:extLst/>
            </a:blip>
            <a:stretch>
              <a:fillRect/>
            </a:stretch>
          </p:blipFill>
          <p:spPr>
            <a:xfrm>
              <a:off x="112154" y="61511"/>
              <a:ext cx="190839" cy="1176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59" name="Freeform 1069"/>
            <p:cNvSpPr/>
            <p:nvPr/>
          </p:nvSpPr>
          <p:spPr>
            <a:xfrm>
              <a:off x="140048" y="54372"/>
              <a:ext cx="177938" cy="240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0" name="Freeform 1070"/>
            <p:cNvSpPr/>
            <p:nvPr/>
          </p:nvSpPr>
          <p:spPr>
            <a:xfrm>
              <a:off x="99951" y="54176"/>
              <a:ext cx="49396" cy="10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1" name="Freeform 1071"/>
            <p:cNvSpPr/>
            <p:nvPr/>
          </p:nvSpPr>
          <p:spPr>
            <a:xfrm>
              <a:off x="263477" y="72072"/>
              <a:ext cx="53231" cy="11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2" name="Freeform 1072"/>
            <p:cNvSpPr/>
            <p:nvPr/>
          </p:nvSpPr>
          <p:spPr>
            <a:xfrm>
              <a:off x="99370" y="149230"/>
              <a:ext cx="182097" cy="39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3" name="Freeform 1073"/>
            <p:cNvSpPr/>
            <p:nvPr/>
          </p:nvSpPr>
          <p:spPr>
            <a:xfrm>
              <a:off x="269404" y="73050"/>
              <a:ext cx="49860" cy="11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4" name="Freeform 1074"/>
            <p:cNvSpPr/>
            <p:nvPr/>
          </p:nvSpPr>
          <p:spPr>
            <a:xfrm>
              <a:off x="99602" y="154413"/>
              <a:ext cx="173638" cy="385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571" name="Group 1075"/>
            <p:cNvGrpSpPr/>
            <p:nvPr/>
          </p:nvGrpSpPr>
          <p:grpSpPr>
            <a:xfrm>
              <a:off x="96697" y="195583"/>
              <a:ext cx="58926" cy="25351"/>
              <a:chOff x="0" y="0"/>
              <a:chExt cx="58924" cy="25349"/>
            </a:xfrm>
          </p:grpSpPr>
          <p:sp>
            <p:nvSpPr>
              <p:cNvPr id="1565" name="Freeform 1076"/>
              <p:cNvSpPr/>
              <p:nvPr/>
            </p:nvSpPr>
            <p:spPr>
              <a:xfrm>
                <a:off x="0" y="0"/>
                <a:ext cx="58925" cy="228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66" name="Freeform 1077"/>
              <p:cNvSpPr/>
              <p:nvPr/>
            </p:nvSpPr>
            <p:spPr>
              <a:xfrm>
                <a:off x="1097" y="489"/>
                <a:ext cx="56888" cy="2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67" name="Freeform 1078"/>
              <p:cNvSpPr/>
              <p:nvPr/>
            </p:nvSpPr>
            <p:spPr>
              <a:xfrm>
                <a:off x="5328" y="6106"/>
                <a:ext cx="20217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68" name="Freeform 1079"/>
              <p:cNvSpPr/>
              <p:nvPr/>
            </p:nvSpPr>
            <p:spPr>
              <a:xfrm>
                <a:off x="4623" y="8030"/>
                <a:ext cx="15202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69" name="Freeform 1080"/>
              <p:cNvSpPr/>
              <p:nvPr/>
            </p:nvSpPr>
            <p:spPr>
              <a:xfrm>
                <a:off x="21940" y="10655"/>
                <a:ext cx="20217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570" name="Freeform 1081"/>
              <p:cNvSpPr/>
              <p:nvPr/>
            </p:nvSpPr>
            <p:spPr>
              <a:xfrm>
                <a:off x="21234" y="12649"/>
                <a:ext cx="15203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1572" name="Freeform 1082"/>
            <p:cNvSpPr/>
            <p:nvPr/>
          </p:nvSpPr>
          <p:spPr>
            <a:xfrm>
              <a:off x="197578" y="199006"/>
              <a:ext cx="71362" cy="50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73" name="Freeform 1083"/>
            <p:cNvSpPr/>
            <p:nvPr/>
          </p:nvSpPr>
          <p:spPr>
            <a:xfrm>
              <a:off x="15457" y="203016"/>
              <a:ext cx="182587" cy="45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74" name="Freeform 1084"/>
            <p:cNvSpPr/>
            <p:nvPr/>
          </p:nvSpPr>
          <p:spPr>
            <a:xfrm>
              <a:off x="10211" y="192901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75" name="Freeform 1085"/>
            <p:cNvSpPr/>
            <p:nvPr/>
          </p:nvSpPr>
          <p:spPr>
            <a:xfrm>
              <a:off x="15690" y="156760"/>
              <a:ext cx="84843" cy="38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76" name="Freeform 1086"/>
            <p:cNvSpPr/>
            <p:nvPr/>
          </p:nvSpPr>
          <p:spPr>
            <a:xfrm>
              <a:off x="21384" y="196561"/>
              <a:ext cx="173173" cy="44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77" name="Freeform 1087"/>
            <p:cNvSpPr/>
            <p:nvPr/>
          </p:nvSpPr>
          <p:spPr>
            <a:xfrm flipH="1" rot="10800000">
              <a:off x="194324" y="193432"/>
              <a:ext cx="70664" cy="45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611" name="Group 983"/>
          <p:cNvGrpSpPr/>
          <p:nvPr/>
        </p:nvGrpSpPr>
        <p:grpSpPr>
          <a:xfrm>
            <a:off x="9992875" y="5668574"/>
            <a:ext cx="174793" cy="348945"/>
            <a:chOff x="0" y="0"/>
            <a:chExt cx="174792" cy="348944"/>
          </a:xfrm>
        </p:grpSpPr>
        <p:sp>
          <p:nvSpPr>
            <p:cNvPr id="1579" name="Freeform 984"/>
            <p:cNvSpPr/>
            <p:nvPr/>
          </p:nvSpPr>
          <p:spPr>
            <a:xfrm>
              <a:off x="135716" y="582"/>
              <a:ext cx="34050" cy="332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80" name="Rectangle 985"/>
            <p:cNvSpPr/>
            <p:nvPr/>
          </p:nvSpPr>
          <p:spPr>
            <a:xfrm>
              <a:off x="8422" y="0"/>
              <a:ext cx="125851" cy="332779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81" name="Freeform 986"/>
            <p:cNvSpPr/>
            <p:nvPr/>
          </p:nvSpPr>
          <p:spPr>
            <a:xfrm>
              <a:off x="142767" y="20534"/>
              <a:ext cx="19660" cy="303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82" name="Freeform 987"/>
            <p:cNvSpPr/>
            <p:nvPr/>
          </p:nvSpPr>
          <p:spPr>
            <a:xfrm>
              <a:off x="137641" y="176365"/>
              <a:ext cx="31644" cy="27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83" name="Rectangle 988"/>
            <p:cNvSpPr/>
            <p:nvPr/>
          </p:nvSpPr>
          <p:spPr>
            <a:xfrm>
              <a:off x="8422" y="35083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586" name="Group 989"/>
            <p:cNvGrpSpPr/>
            <p:nvPr/>
          </p:nvGrpSpPr>
          <p:grpSpPr>
            <a:xfrm>
              <a:off x="73175" y="34503"/>
              <a:ext cx="69519" cy="21878"/>
              <a:chOff x="0" y="0"/>
              <a:chExt cx="69517" cy="21876"/>
            </a:xfrm>
          </p:grpSpPr>
          <p:sp>
            <p:nvSpPr>
              <p:cNvPr id="1584" name="AutoShape 990"/>
              <p:cNvSpPr/>
              <p:nvPr/>
            </p:nvSpPr>
            <p:spPr>
              <a:xfrm>
                <a:off x="0" y="0"/>
                <a:ext cx="69518" cy="2187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585" name="AutoShape 991"/>
              <p:cNvSpPr/>
              <p:nvPr/>
            </p:nvSpPr>
            <p:spPr>
              <a:xfrm>
                <a:off x="1157" y="2278"/>
                <a:ext cx="67108" cy="173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587" name="Rectangle 992"/>
            <p:cNvSpPr/>
            <p:nvPr/>
          </p:nvSpPr>
          <p:spPr>
            <a:xfrm>
              <a:off x="9625" y="83434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590" name="Group 993"/>
            <p:cNvGrpSpPr/>
            <p:nvPr/>
          </p:nvGrpSpPr>
          <p:grpSpPr>
            <a:xfrm>
              <a:off x="73128" y="81722"/>
              <a:ext cx="69518" cy="19517"/>
              <a:chOff x="0" y="0"/>
              <a:chExt cx="69517" cy="19515"/>
            </a:xfrm>
          </p:grpSpPr>
          <p:sp>
            <p:nvSpPr>
              <p:cNvPr id="1588" name="AutoShape 994"/>
              <p:cNvSpPr/>
              <p:nvPr/>
            </p:nvSpPr>
            <p:spPr>
              <a:xfrm>
                <a:off x="0" y="0"/>
                <a:ext cx="69518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589" name="AutoShape 995"/>
              <p:cNvSpPr/>
              <p:nvPr/>
            </p:nvSpPr>
            <p:spPr>
              <a:xfrm>
                <a:off x="1253" y="2386"/>
                <a:ext cx="67108" cy="1502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591" name="Rectangle 996"/>
            <p:cNvSpPr/>
            <p:nvPr/>
          </p:nvSpPr>
          <p:spPr>
            <a:xfrm>
              <a:off x="9625" y="131785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92" name="Rectangle 997"/>
            <p:cNvSpPr/>
            <p:nvPr/>
          </p:nvSpPr>
          <p:spPr>
            <a:xfrm>
              <a:off x="10828" y="175621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595" name="Group 998"/>
            <p:cNvGrpSpPr/>
            <p:nvPr/>
          </p:nvGrpSpPr>
          <p:grpSpPr>
            <a:xfrm>
              <a:off x="71974" y="177319"/>
              <a:ext cx="69542" cy="19619"/>
              <a:chOff x="0" y="0"/>
              <a:chExt cx="69540" cy="19617"/>
            </a:xfrm>
          </p:grpSpPr>
          <p:sp>
            <p:nvSpPr>
              <p:cNvPr id="1593" name="AutoShape 999"/>
              <p:cNvSpPr/>
              <p:nvPr/>
            </p:nvSpPr>
            <p:spPr>
              <a:xfrm>
                <a:off x="0" y="0"/>
                <a:ext cx="69541" cy="1961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594" name="AutoShape 1000"/>
              <p:cNvSpPr/>
              <p:nvPr/>
            </p:nvSpPr>
            <p:spPr>
              <a:xfrm>
                <a:off x="1159" y="0"/>
                <a:ext cx="67127" cy="172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596" name="Freeform 1001"/>
            <p:cNvSpPr/>
            <p:nvPr/>
          </p:nvSpPr>
          <p:spPr>
            <a:xfrm>
              <a:off x="138122" y="134713"/>
              <a:ext cx="31644" cy="27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599" name="Group 1002"/>
            <p:cNvGrpSpPr/>
            <p:nvPr/>
          </p:nvGrpSpPr>
          <p:grpSpPr>
            <a:xfrm>
              <a:off x="71972" y="131218"/>
              <a:ext cx="70701" cy="19516"/>
              <a:chOff x="0" y="0"/>
              <a:chExt cx="70699" cy="19515"/>
            </a:xfrm>
          </p:grpSpPr>
          <p:sp>
            <p:nvSpPr>
              <p:cNvPr id="1597" name="AutoShape 1003"/>
              <p:cNvSpPr/>
              <p:nvPr/>
            </p:nvSpPr>
            <p:spPr>
              <a:xfrm>
                <a:off x="0" y="0"/>
                <a:ext cx="70700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598" name="AutoShape 1004"/>
              <p:cNvSpPr/>
              <p:nvPr/>
            </p:nvSpPr>
            <p:spPr>
              <a:xfrm>
                <a:off x="1159" y="2330"/>
                <a:ext cx="69541" cy="1500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600" name="Rectangle 1005"/>
            <p:cNvSpPr/>
            <p:nvPr/>
          </p:nvSpPr>
          <p:spPr>
            <a:xfrm>
              <a:off x="130930" y="0"/>
              <a:ext cx="12701" cy="332779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01" name="Freeform 1006"/>
            <p:cNvSpPr/>
            <p:nvPr/>
          </p:nvSpPr>
          <p:spPr>
            <a:xfrm>
              <a:off x="141010" y="84177"/>
              <a:ext cx="28515" cy="31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02" name="Freeform 1007"/>
            <p:cNvSpPr/>
            <p:nvPr/>
          </p:nvSpPr>
          <p:spPr>
            <a:xfrm>
              <a:off x="141371" y="36554"/>
              <a:ext cx="29358" cy="34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03" name="Oval 1008"/>
            <p:cNvSpPr/>
            <p:nvPr/>
          </p:nvSpPr>
          <p:spPr>
            <a:xfrm>
              <a:off x="162092" y="317777"/>
              <a:ext cx="12701" cy="1383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04" name="Freeform 1009"/>
            <p:cNvSpPr/>
            <p:nvPr/>
          </p:nvSpPr>
          <p:spPr>
            <a:xfrm>
              <a:off x="139806" y="318214"/>
              <a:ext cx="29479" cy="29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05" name="AutoShape 1010"/>
            <p:cNvSpPr/>
            <p:nvPr/>
          </p:nvSpPr>
          <p:spPr>
            <a:xfrm>
              <a:off x="0" y="327098"/>
              <a:ext cx="143898" cy="218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06" name="AutoShape 1011"/>
            <p:cNvSpPr/>
            <p:nvPr/>
          </p:nvSpPr>
          <p:spPr>
            <a:xfrm>
              <a:off x="8422" y="332181"/>
              <a:ext cx="1282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434" y="0"/>
                    <a:pt x="969" y="0"/>
                  </a:cubicBezTo>
                  <a:lnTo>
                    <a:pt x="20631" y="0"/>
                  </a:lnTo>
                  <a:cubicBezTo>
                    <a:pt x="21166" y="0"/>
                    <a:pt x="21600" y="4835"/>
                    <a:pt x="21600" y="10800"/>
                  </a:cubicBezTo>
                  <a:lnTo>
                    <a:pt x="21600" y="10800"/>
                  </a:lnTo>
                  <a:cubicBezTo>
                    <a:pt x="21600" y="16765"/>
                    <a:pt x="21166" y="21600"/>
                    <a:pt x="20631" y="21600"/>
                  </a:cubicBezTo>
                  <a:lnTo>
                    <a:pt x="969" y="21598"/>
                  </a:lnTo>
                  <a:cubicBezTo>
                    <a:pt x="434" y="21598"/>
                    <a:pt x="0" y="16763"/>
                    <a:pt x="0" y="10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07" name="Oval 1012"/>
            <p:cNvSpPr/>
            <p:nvPr/>
          </p:nvSpPr>
          <p:spPr>
            <a:xfrm>
              <a:off x="2033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08" name="Oval 1013"/>
            <p:cNvSpPr/>
            <p:nvPr/>
          </p:nvSpPr>
          <p:spPr>
            <a:xfrm>
              <a:off x="41990" y="284427"/>
              <a:ext cx="19131" cy="2068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09" name="Oval 1014"/>
            <p:cNvSpPr/>
            <p:nvPr/>
          </p:nvSpPr>
          <p:spPr>
            <a:xfrm>
              <a:off x="6232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10" name="Rectangle 1015"/>
            <p:cNvSpPr/>
            <p:nvPr/>
          </p:nvSpPr>
          <p:spPr>
            <a:xfrm>
              <a:off x="109995" y="205055"/>
              <a:ext cx="12701" cy="110538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1839" name="Group 1023"/>
          <p:cNvGrpSpPr/>
          <p:nvPr/>
        </p:nvGrpSpPr>
        <p:grpSpPr>
          <a:xfrm>
            <a:off x="7613881" y="2005618"/>
            <a:ext cx="3540396" cy="3836078"/>
            <a:chOff x="0" y="0"/>
            <a:chExt cx="3540395" cy="3836077"/>
          </a:xfrm>
        </p:grpSpPr>
        <p:sp>
          <p:nvSpPr>
            <p:cNvPr id="1612" name="Line 426"/>
            <p:cNvSpPr/>
            <p:nvPr/>
          </p:nvSpPr>
          <p:spPr>
            <a:xfrm>
              <a:off x="593978" y="694740"/>
              <a:ext cx="227964" cy="1743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628" name="Group 783"/>
            <p:cNvGrpSpPr/>
            <p:nvPr/>
          </p:nvGrpSpPr>
          <p:grpSpPr>
            <a:xfrm>
              <a:off x="436816" y="303757"/>
              <a:ext cx="298451" cy="464008"/>
              <a:chOff x="0" y="0"/>
              <a:chExt cx="298450" cy="464007"/>
            </a:xfrm>
          </p:grpSpPr>
          <p:sp>
            <p:nvSpPr>
              <p:cNvPr id="1613" name="Line 270"/>
              <p:cNvSpPr/>
              <p:nvPr/>
            </p:nvSpPr>
            <p:spPr>
              <a:xfrm flipH="1">
                <a:off x="-1" y="0"/>
                <a:ext cx="149226" cy="42023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14" name="Line 271"/>
              <p:cNvSpPr/>
              <p:nvPr/>
            </p:nvSpPr>
            <p:spPr>
              <a:xfrm>
                <a:off x="149225" y="0"/>
                <a:ext cx="149226" cy="41835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15" name="Line 272"/>
              <p:cNvSpPr/>
              <p:nvPr/>
            </p:nvSpPr>
            <p:spPr>
              <a:xfrm>
                <a:off x="-1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16" name="Line 273"/>
              <p:cNvSpPr/>
              <p:nvPr/>
            </p:nvSpPr>
            <p:spPr>
              <a:xfrm flipH="1">
                <a:off x="149224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17" name="Line 274"/>
              <p:cNvSpPr/>
              <p:nvPr/>
            </p:nvSpPr>
            <p:spPr>
              <a:xfrm flipH="1">
                <a:off x="149224" y="9380"/>
                <a:ext cx="1" cy="45462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18" name="Line 275"/>
              <p:cNvSpPr/>
              <p:nvPr/>
            </p:nvSpPr>
            <p:spPr>
              <a:xfrm flipV="1">
                <a:off x="-1" y="375208"/>
                <a:ext cx="149227" cy="45026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19" name="Line 276"/>
              <p:cNvSpPr/>
              <p:nvPr/>
            </p:nvSpPr>
            <p:spPr>
              <a:xfrm flipH="1" flipV="1">
                <a:off x="149224" y="375209"/>
                <a:ext cx="149227" cy="4314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0" name="Line 277"/>
              <p:cNvSpPr/>
              <p:nvPr/>
            </p:nvSpPr>
            <p:spPr>
              <a:xfrm>
                <a:off x="63329" y="237632"/>
                <a:ext cx="85896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1" name="Line 278"/>
              <p:cNvSpPr/>
              <p:nvPr/>
            </p:nvSpPr>
            <p:spPr>
              <a:xfrm flipV="1">
                <a:off x="149224" y="237632"/>
                <a:ext cx="90264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2" name="Line 279"/>
              <p:cNvSpPr/>
              <p:nvPr/>
            </p:nvSpPr>
            <p:spPr>
              <a:xfrm>
                <a:off x="34940" y="298916"/>
                <a:ext cx="110645" cy="469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3" name="Line 280"/>
              <p:cNvSpPr/>
              <p:nvPr/>
            </p:nvSpPr>
            <p:spPr>
              <a:xfrm flipV="1">
                <a:off x="149224" y="308297"/>
                <a:ext cx="111374" cy="4127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4" name="Line 281"/>
              <p:cNvSpPr/>
              <p:nvPr/>
            </p:nvSpPr>
            <p:spPr>
              <a:xfrm flipV="1">
                <a:off x="149224" y="174472"/>
                <a:ext cx="56780" cy="1688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5" name="Line 282"/>
              <p:cNvSpPr/>
              <p:nvPr/>
            </p:nvSpPr>
            <p:spPr>
              <a:xfrm flipV="1">
                <a:off x="149225" y="87548"/>
                <a:ext cx="35669" cy="1313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6" name="Line 283"/>
              <p:cNvSpPr/>
              <p:nvPr/>
            </p:nvSpPr>
            <p:spPr>
              <a:xfrm>
                <a:off x="85167" y="168843"/>
                <a:ext cx="69154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627" name="Line 284"/>
              <p:cNvSpPr/>
              <p:nvPr/>
            </p:nvSpPr>
            <p:spPr>
              <a:xfrm>
                <a:off x="115740" y="83796"/>
                <a:ext cx="40036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pic>
          <p:nvPicPr>
            <p:cNvPr id="1629" name="Picture 777" descr="Picture 777"/>
            <p:cNvPicPr>
              <a:picLocks noChangeAspect="1"/>
            </p:cNvPicPr>
            <p:nvPr/>
          </p:nvPicPr>
          <p:blipFill>
            <a:blip r:embed="rId22">
              <a:extLst/>
            </a:blip>
            <a:stretch>
              <a:fillRect/>
            </a:stretch>
          </p:blipFill>
          <p:spPr>
            <a:xfrm>
              <a:off x="0" y="1856280"/>
              <a:ext cx="370169" cy="3067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30" name="Picture 780" descr="Picture 780"/>
            <p:cNvPicPr>
              <a:picLocks noChangeAspect="1"/>
            </p:cNvPicPr>
            <p:nvPr/>
          </p:nvPicPr>
          <p:blipFill>
            <a:blip r:embed="rId22">
              <a:extLst/>
            </a:blip>
            <a:stretch>
              <a:fillRect/>
            </a:stretch>
          </p:blipFill>
          <p:spPr>
            <a:xfrm>
              <a:off x="1676728" y="3518613"/>
              <a:ext cx="380936" cy="3174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642" name="Group 470"/>
            <p:cNvGrpSpPr/>
            <p:nvPr/>
          </p:nvGrpSpPr>
          <p:grpSpPr>
            <a:xfrm>
              <a:off x="2169676" y="2888569"/>
              <a:ext cx="393761" cy="409458"/>
              <a:chOff x="0" y="0"/>
              <a:chExt cx="393760" cy="409456"/>
            </a:xfrm>
          </p:grpSpPr>
          <p:grpSp>
            <p:nvGrpSpPr>
              <p:cNvPr id="1633" name="Freeform 471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1631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32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636" name="Oval 472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1634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35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641" name="Group 473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1637" name="Freeform 474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38" name="Freeform 475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39" name="Freeform 476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40" name="Freeform 477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650" name="Group 519"/>
            <p:cNvGrpSpPr/>
            <p:nvPr/>
          </p:nvGrpSpPr>
          <p:grpSpPr>
            <a:xfrm>
              <a:off x="2235483" y="3333418"/>
              <a:ext cx="309741" cy="190839"/>
              <a:chOff x="0" y="0"/>
              <a:chExt cx="309739" cy="190837"/>
            </a:xfrm>
          </p:grpSpPr>
          <p:sp>
            <p:nvSpPr>
              <p:cNvPr id="1643" name="Rectangle 520"/>
              <p:cNvSpPr/>
              <p:nvPr/>
            </p:nvSpPr>
            <p:spPr>
              <a:xfrm>
                <a:off x="0" y="113922"/>
                <a:ext cx="308626" cy="76916"/>
              </a:xfrm>
              <a:prstGeom prst="rect">
                <a:avLst/>
              </a:pr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44" name="Freeform 521"/>
              <p:cNvSpPr/>
              <p:nvPr/>
            </p:nvSpPr>
            <p:spPr>
              <a:xfrm>
                <a:off x="857" y="-1"/>
                <a:ext cx="308883" cy="116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29"/>
                    </a:moveTo>
                    <a:lnTo>
                      <a:pt x="1440" y="0"/>
                    </a:lnTo>
                    <a:lnTo>
                      <a:pt x="19500" y="343"/>
                    </a:lnTo>
                    <a:lnTo>
                      <a:pt x="21600" y="21600"/>
                    </a:lnTo>
                    <a:lnTo>
                      <a:pt x="0" y="21429"/>
                    </a:lnTo>
                    <a:close/>
                  </a:path>
                </a:pathLst>
              </a:cu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1649" name="Group 522"/>
              <p:cNvGrpSpPr/>
              <p:nvPr/>
            </p:nvGrpSpPr>
            <p:grpSpPr>
              <a:xfrm>
                <a:off x="22308" y="13603"/>
                <a:ext cx="261399" cy="93969"/>
                <a:chOff x="0" y="0"/>
                <a:chExt cx="261398" cy="93968"/>
              </a:xfrm>
            </p:grpSpPr>
            <p:sp>
              <p:nvSpPr>
                <p:cNvPr id="1645" name="Freeform 523"/>
                <p:cNvSpPr/>
                <p:nvPr/>
              </p:nvSpPr>
              <p:spPr>
                <a:xfrm>
                  <a:off x="7230" y="-1"/>
                  <a:ext cx="247278" cy="52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46" name="Freeform 524"/>
                <p:cNvSpPr/>
                <p:nvPr/>
              </p:nvSpPr>
              <p:spPr>
                <a:xfrm>
                  <a:off x="169074" y="44994"/>
                  <a:ext cx="92325" cy="45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47" name="Freeform 525"/>
                <p:cNvSpPr/>
                <p:nvPr/>
              </p:nvSpPr>
              <p:spPr>
                <a:xfrm>
                  <a:off x="-1" y="44994"/>
                  <a:ext cx="90657" cy="447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48" name="Freeform 526"/>
                <p:cNvSpPr/>
                <p:nvPr/>
              </p:nvSpPr>
              <p:spPr>
                <a:xfrm>
                  <a:off x="31470" y="22877"/>
                  <a:ext cx="197115" cy="71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662" name="Group 478"/>
            <p:cNvGrpSpPr/>
            <p:nvPr/>
          </p:nvGrpSpPr>
          <p:grpSpPr>
            <a:xfrm>
              <a:off x="1062737" y="2866006"/>
              <a:ext cx="393761" cy="409458"/>
              <a:chOff x="0" y="0"/>
              <a:chExt cx="393760" cy="409456"/>
            </a:xfrm>
          </p:grpSpPr>
          <p:grpSp>
            <p:nvGrpSpPr>
              <p:cNvPr id="1653" name="Freeform 479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1651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52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656" name="Oval 480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1654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55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661" name="Group 481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1657" name="Freeform 482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58" name="Freeform 483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59" name="Freeform 484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60" name="Freeform 485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670" name="Group 528"/>
            <p:cNvGrpSpPr/>
            <p:nvPr/>
          </p:nvGrpSpPr>
          <p:grpSpPr>
            <a:xfrm>
              <a:off x="697638" y="3188814"/>
              <a:ext cx="309740" cy="190839"/>
              <a:chOff x="0" y="0"/>
              <a:chExt cx="309739" cy="190837"/>
            </a:xfrm>
          </p:grpSpPr>
          <p:sp>
            <p:nvSpPr>
              <p:cNvPr id="1663" name="Rectangle 529"/>
              <p:cNvSpPr/>
              <p:nvPr/>
            </p:nvSpPr>
            <p:spPr>
              <a:xfrm>
                <a:off x="0" y="113922"/>
                <a:ext cx="308626" cy="76916"/>
              </a:xfrm>
              <a:prstGeom prst="rect">
                <a:avLst/>
              </a:pr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64" name="Freeform 530"/>
              <p:cNvSpPr/>
              <p:nvPr/>
            </p:nvSpPr>
            <p:spPr>
              <a:xfrm>
                <a:off x="857" y="-1"/>
                <a:ext cx="308883" cy="116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29"/>
                    </a:moveTo>
                    <a:lnTo>
                      <a:pt x="1440" y="0"/>
                    </a:lnTo>
                    <a:lnTo>
                      <a:pt x="19500" y="343"/>
                    </a:lnTo>
                    <a:lnTo>
                      <a:pt x="21600" y="21600"/>
                    </a:lnTo>
                    <a:lnTo>
                      <a:pt x="0" y="21429"/>
                    </a:lnTo>
                    <a:close/>
                  </a:path>
                </a:pathLst>
              </a:cu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1669" name="Group 531"/>
              <p:cNvGrpSpPr/>
              <p:nvPr/>
            </p:nvGrpSpPr>
            <p:grpSpPr>
              <a:xfrm>
                <a:off x="22308" y="13603"/>
                <a:ext cx="261399" cy="93969"/>
                <a:chOff x="0" y="0"/>
                <a:chExt cx="261398" cy="93968"/>
              </a:xfrm>
            </p:grpSpPr>
            <p:sp>
              <p:nvSpPr>
                <p:cNvPr id="1665" name="Freeform 532"/>
                <p:cNvSpPr/>
                <p:nvPr/>
              </p:nvSpPr>
              <p:spPr>
                <a:xfrm>
                  <a:off x="7230" y="-1"/>
                  <a:ext cx="247278" cy="52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66" name="Freeform 533"/>
                <p:cNvSpPr/>
                <p:nvPr/>
              </p:nvSpPr>
              <p:spPr>
                <a:xfrm>
                  <a:off x="169074" y="44994"/>
                  <a:ext cx="92325" cy="45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67" name="Freeform 534"/>
                <p:cNvSpPr/>
                <p:nvPr/>
              </p:nvSpPr>
              <p:spPr>
                <a:xfrm>
                  <a:off x="-1" y="44994"/>
                  <a:ext cx="90657" cy="447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68" name="Freeform 535"/>
                <p:cNvSpPr/>
                <p:nvPr/>
              </p:nvSpPr>
              <p:spPr>
                <a:xfrm>
                  <a:off x="31470" y="22877"/>
                  <a:ext cx="197115" cy="71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682" name="Group 406"/>
            <p:cNvGrpSpPr/>
            <p:nvPr/>
          </p:nvGrpSpPr>
          <p:grpSpPr>
            <a:xfrm>
              <a:off x="825945" y="694613"/>
              <a:ext cx="353678" cy="391882"/>
              <a:chOff x="0" y="0"/>
              <a:chExt cx="353677" cy="391881"/>
            </a:xfrm>
          </p:grpSpPr>
          <p:grpSp>
            <p:nvGrpSpPr>
              <p:cNvPr id="1673" name="Freeform 407"/>
              <p:cNvGrpSpPr/>
              <p:nvPr/>
            </p:nvGrpSpPr>
            <p:grpSpPr>
              <a:xfrm>
                <a:off x="-1" y="58793"/>
                <a:ext cx="353679" cy="333089"/>
                <a:chOff x="0" y="0"/>
                <a:chExt cx="353677" cy="333087"/>
              </a:xfrm>
            </p:grpSpPr>
            <p:sp>
              <p:nvSpPr>
                <p:cNvPr id="1671" name="Shape"/>
                <p:cNvSpPr/>
                <p:nvPr/>
              </p:nvSpPr>
              <p:spPr>
                <a:xfrm>
                  <a:off x="0" y="111530"/>
                  <a:ext cx="353678" cy="110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72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676" name="Oval 408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674" name="Oval"/>
                <p:cNvSpPr/>
                <p:nvPr/>
              </p:nvSpPr>
              <p:spPr>
                <a:xfrm>
                  <a:off x="0" y="112076"/>
                  <a:ext cx="353250" cy="108935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75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681" name="Group 409"/>
              <p:cNvGrpSpPr/>
              <p:nvPr/>
            </p:nvGrpSpPr>
            <p:grpSpPr>
              <a:xfrm>
                <a:off x="52453" y="125922"/>
                <a:ext cx="248706" cy="80044"/>
                <a:chOff x="0" y="0"/>
                <a:chExt cx="248704" cy="80043"/>
              </a:xfrm>
            </p:grpSpPr>
            <p:sp>
              <p:nvSpPr>
                <p:cNvPr id="1677" name="Freeform 410"/>
                <p:cNvSpPr/>
                <p:nvPr/>
              </p:nvSpPr>
              <p:spPr>
                <a:xfrm>
                  <a:off x="6879" y="0"/>
                  <a:ext cx="235271" cy="448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78" name="Freeform 411"/>
                <p:cNvSpPr/>
                <p:nvPr/>
              </p:nvSpPr>
              <p:spPr>
                <a:xfrm>
                  <a:off x="160864" y="38326"/>
                  <a:ext cx="87841" cy="385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79" name="Freeform 412"/>
                <p:cNvSpPr/>
                <p:nvPr/>
              </p:nvSpPr>
              <p:spPr>
                <a:xfrm>
                  <a:off x="0" y="38326"/>
                  <a:ext cx="86253" cy="381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80" name="Freeform 413"/>
                <p:cNvSpPr/>
                <p:nvPr/>
              </p:nvSpPr>
              <p:spPr>
                <a:xfrm>
                  <a:off x="29942" y="19487"/>
                  <a:ext cx="187543" cy="605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694" name="Group 414"/>
            <p:cNvGrpSpPr/>
            <p:nvPr/>
          </p:nvGrpSpPr>
          <p:grpSpPr>
            <a:xfrm>
              <a:off x="436188" y="1850691"/>
              <a:ext cx="354987" cy="394465"/>
              <a:chOff x="0" y="0"/>
              <a:chExt cx="354986" cy="394464"/>
            </a:xfrm>
          </p:grpSpPr>
          <p:grpSp>
            <p:nvGrpSpPr>
              <p:cNvPr id="1685" name="Freeform 415"/>
              <p:cNvGrpSpPr/>
              <p:nvPr/>
            </p:nvGrpSpPr>
            <p:grpSpPr>
              <a:xfrm>
                <a:off x="0" y="61377"/>
                <a:ext cx="354987" cy="333088"/>
                <a:chOff x="0" y="0"/>
                <a:chExt cx="354986" cy="333087"/>
              </a:xfrm>
            </p:grpSpPr>
            <p:sp>
              <p:nvSpPr>
                <p:cNvPr id="1683" name="Shape"/>
                <p:cNvSpPr/>
                <p:nvPr/>
              </p:nvSpPr>
              <p:spPr>
                <a:xfrm>
                  <a:off x="0" y="109113"/>
                  <a:ext cx="354987" cy="1148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84" name="Text"/>
                <p:cNvSpPr txBox="1"/>
                <p:nvPr/>
              </p:nvSpPr>
              <p:spPr>
                <a:xfrm>
                  <a:off x="48894" y="0"/>
                  <a:ext cx="257197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688" name="Oval 416"/>
              <p:cNvGrpSpPr/>
              <p:nvPr/>
            </p:nvGrpSpPr>
            <p:grpSpPr>
              <a:xfrm>
                <a:off x="204" y="-1"/>
                <a:ext cx="354557" cy="333089"/>
                <a:chOff x="0" y="0"/>
                <a:chExt cx="354555" cy="333087"/>
              </a:xfrm>
            </p:grpSpPr>
            <p:sp>
              <p:nvSpPr>
                <p:cNvPr id="1686" name="Oval"/>
                <p:cNvSpPr/>
                <p:nvPr/>
              </p:nvSpPr>
              <p:spPr>
                <a:xfrm>
                  <a:off x="0" y="109684"/>
                  <a:ext cx="354556" cy="11372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87" name="Text"/>
                <p:cNvSpPr txBox="1"/>
                <p:nvPr/>
              </p:nvSpPr>
              <p:spPr>
                <a:xfrm>
                  <a:off x="100818" y="0"/>
                  <a:ext cx="152920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693" name="Group 417"/>
              <p:cNvGrpSpPr/>
              <p:nvPr/>
            </p:nvGrpSpPr>
            <p:grpSpPr>
              <a:xfrm>
                <a:off x="52647" y="124137"/>
                <a:ext cx="249626" cy="83561"/>
                <a:chOff x="0" y="0"/>
                <a:chExt cx="249624" cy="83559"/>
              </a:xfrm>
            </p:grpSpPr>
            <p:sp>
              <p:nvSpPr>
                <p:cNvPr id="1689" name="Freeform 418"/>
                <p:cNvSpPr/>
                <p:nvPr/>
              </p:nvSpPr>
              <p:spPr>
                <a:xfrm>
                  <a:off x="6904" y="-1"/>
                  <a:ext cx="236141" cy="467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90" name="Freeform 419"/>
                <p:cNvSpPr/>
                <p:nvPr/>
              </p:nvSpPr>
              <p:spPr>
                <a:xfrm>
                  <a:off x="161459" y="40010"/>
                  <a:ext cx="88166" cy="40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91" name="Freeform 420"/>
                <p:cNvSpPr/>
                <p:nvPr/>
              </p:nvSpPr>
              <p:spPr>
                <a:xfrm>
                  <a:off x="-1" y="40010"/>
                  <a:ext cx="86573" cy="398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92" name="Freeform 421"/>
                <p:cNvSpPr/>
                <p:nvPr/>
              </p:nvSpPr>
              <p:spPr>
                <a:xfrm>
                  <a:off x="30053" y="20343"/>
                  <a:ext cx="188236" cy="632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706" name="Group 454"/>
            <p:cNvGrpSpPr/>
            <p:nvPr/>
          </p:nvGrpSpPr>
          <p:grpSpPr>
            <a:xfrm>
              <a:off x="3270203" y="1563659"/>
              <a:ext cx="170990" cy="160911"/>
              <a:chOff x="0" y="0"/>
              <a:chExt cx="170988" cy="160909"/>
            </a:xfrm>
          </p:grpSpPr>
          <p:grpSp>
            <p:nvGrpSpPr>
              <p:cNvPr id="1697" name="Freeform 455"/>
              <p:cNvGrpSpPr/>
              <p:nvPr/>
            </p:nvGrpSpPr>
            <p:grpSpPr>
              <a:xfrm>
                <a:off x="0" y="33909"/>
                <a:ext cx="170989" cy="127001"/>
                <a:chOff x="0" y="0"/>
                <a:chExt cx="170988" cy="127000"/>
              </a:xfrm>
            </p:grpSpPr>
            <p:sp>
              <p:nvSpPr>
                <p:cNvPr id="1695" name="Shape"/>
                <p:cNvSpPr/>
                <p:nvPr/>
              </p:nvSpPr>
              <p:spPr>
                <a:xfrm>
                  <a:off x="0" y="31770"/>
                  <a:ext cx="170989" cy="634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96" name="Text"/>
                <p:cNvSpPr txBox="1"/>
                <p:nvPr/>
              </p:nvSpPr>
              <p:spPr>
                <a:xfrm>
                  <a:off x="47307" y="0"/>
                  <a:ext cx="76375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00" name="Oval 456"/>
              <p:cNvGrpSpPr/>
              <p:nvPr/>
            </p:nvGrpSpPr>
            <p:grpSpPr>
              <a:xfrm>
                <a:off x="98" y="0"/>
                <a:ext cx="170783" cy="127000"/>
                <a:chOff x="0" y="0"/>
                <a:chExt cx="170782" cy="127000"/>
              </a:xfrm>
            </p:grpSpPr>
            <p:sp>
              <p:nvSpPr>
                <p:cNvPr id="1698" name="Oval"/>
                <p:cNvSpPr/>
                <p:nvPr/>
              </p:nvSpPr>
              <p:spPr>
                <a:xfrm>
                  <a:off x="0" y="32086"/>
                  <a:ext cx="170783" cy="62829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699" name="Text"/>
                <p:cNvSpPr txBox="1"/>
                <p:nvPr/>
              </p:nvSpPr>
              <p:spPr>
                <a:xfrm>
                  <a:off x="72317" y="0"/>
                  <a:ext cx="26147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705" name="Group 457"/>
              <p:cNvGrpSpPr/>
              <p:nvPr/>
            </p:nvGrpSpPr>
            <p:grpSpPr>
              <a:xfrm>
                <a:off x="25359" y="40071"/>
                <a:ext cx="120239" cy="46166"/>
                <a:chOff x="0" y="0"/>
                <a:chExt cx="120238" cy="46164"/>
              </a:xfrm>
            </p:grpSpPr>
            <p:sp>
              <p:nvSpPr>
                <p:cNvPr id="1701" name="Freeform 458"/>
                <p:cNvSpPr/>
                <p:nvPr/>
              </p:nvSpPr>
              <p:spPr>
                <a:xfrm>
                  <a:off x="3325" y="-1"/>
                  <a:ext cx="113745" cy="258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02" name="Freeform 459"/>
                <p:cNvSpPr/>
                <p:nvPr/>
              </p:nvSpPr>
              <p:spPr>
                <a:xfrm>
                  <a:off x="77771" y="22104"/>
                  <a:ext cx="42468" cy="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03" name="Freeform 460"/>
                <p:cNvSpPr/>
                <p:nvPr/>
              </p:nvSpPr>
              <p:spPr>
                <a:xfrm>
                  <a:off x="0" y="22104"/>
                  <a:ext cx="41700" cy="219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04" name="Freeform 461"/>
                <p:cNvSpPr/>
                <p:nvPr/>
              </p:nvSpPr>
              <p:spPr>
                <a:xfrm>
                  <a:off x="14476" y="11239"/>
                  <a:ext cx="90669" cy="34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718" name="Group 614"/>
            <p:cNvGrpSpPr/>
            <p:nvPr/>
          </p:nvGrpSpPr>
          <p:grpSpPr>
            <a:xfrm>
              <a:off x="2796727" y="1388175"/>
              <a:ext cx="353679" cy="402388"/>
              <a:chOff x="0" y="0"/>
              <a:chExt cx="353677" cy="402387"/>
            </a:xfrm>
          </p:grpSpPr>
          <p:grpSp>
            <p:nvGrpSpPr>
              <p:cNvPr id="1709" name="Freeform 615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707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08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12" name="Oval 61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710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11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717" name="Group 617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713" name="Freeform 618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14" name="Freeform 619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15" name="Freeform 620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16" name="Freeform 621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730" name="Group 576"/>
            <p:cNvGrpSpPr/>
            <p:nvPr/>
          </p:nvGrpSpPr>
          <p:grpSpPr>
            <a:xfrm>
              <a:off x="2334842" y="94328"/>
              <a:ext cx="353679" cy="402389"/>
              <a:chOff x="0" y="0"/>
              <a:chExt cx="353677" cy="402387"/>
            </a:xfrm>
          </p:grpSpPr>
          <p:grpSp>
            <p:nvGrpSpPr>
              <p:cNvPr id="1721" name="Freeform 577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719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20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24" name="Oval 578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722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23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729" name="Group 579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725" name="Freeform 580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26" name="Freeform 581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27" name="Freeform 582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28" name="Freeform 583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742" name="Group 592"/>
            <p:cNvGrpSpPr/>
            <p:nvPr/>
          </p:nvGrpSpPr>
          <p:grpSpPr>
            <a:xfrm>
              <a:off x="2913332" y="505403"/>
              <a:ext cx="353679" cy="402389"/>
              <a:chOff x="0" y="0"/>
              <a:chExt cx="353677" cy="402387"/>
            </a:xfrm>
          </p:grpSpPr>
          <p:grpSp>
            <p:nvGrpSpPr>
              <p:cNvPr id="1733" name="Freeform 593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731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32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36" name="Oval 594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734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35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741" name="Group 595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737" name="Freeform 596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38" name="Freeform 597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39" name="Freeform 598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40" name="Freeform 599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754" name="Group 600"/>
            <p:cNvGrpSpPr/>
            <p:nvPr/>
          </p:nvGrpSpPr>
          <p:grpSpPr>
            <a:xfrm>
              <a:off x="3029943" y="-1"/>
              <a:ext cx="353679" cy="402389"/>
              <a:chOff x="0" y="0"/>
              <a:chExt cx="353677" cy="402387"/>
            </a:xfrm>
          </p:grpSpPr>
          <p:grpSp>
            <p:nvGrpSpPr>
              <p:cNvPr id="1745" name="Freeform 601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743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44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48" name="Oval 602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746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47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753" name="Group 603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749" name="Freeform 604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50" name="Freeform 605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51" name="Freeform 606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52" name="Freeform 607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766" name="Group 553"/>
            <p:cNvGrpSpPr/>
            <p:nvPr/>
          </p:nvGrpSpPr>
          <p:grpSpPr>
            <a:xfrm>
              <a:off x="1484906" y="1862242"/>
              <a:ext cx="367225" cy="417049"/>
              <a:chOff x="0" y="0"/>
              <a:chExt cx="367223" cy="417048"/>
            </a:xfrm>
          </p:grpSpPr>
          <p:grpSp>
            <p:nvGrpSpPr>
              <p:cNvPr id="1757" name="Freeform 554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1755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56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60" name="Oval 555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1758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59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765" name="Group 556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1761" name="Freeform 557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62" name="Freeform 558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63" name="Freeform 559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64" name="Freeform 560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778" name="Group 584"/>
            <p:cNvGrpSpPr/>
            <p:nvPr/>
          </p:nvGrpSpPr>
          <p:grpSpPr>
            <a:xfrm>
              <a:off x="2366244" y="553601"/>
              <a:ext cx="353679" cy="402389"/>
              <a:chOff x="0" y="0"/>
              <a:chExt cx="353677" cy="402387"/>
            </a:xfrm>
          </p:grpSpPr>
          <p:grpSp>
            <p:nvGrpSpPr>
              <p:cNvPr id="1769" name="Freeform 585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767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68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72" name="Oval 58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770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71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777" name="Group 587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773" name="Freeform 588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74" name="Freeform 589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75" name="Freeform 590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76" name="Freeform 591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790" name="Group 537"/>
            <p:cNvGrpSpPr/>
            <p:nvPr/>
          </p:nvGrpSpPr>
          <p:grpSpPr>
            <a:xfrm>
              <a:off x="1883256" y="1299650"/>
              <a:ext cx="367225" cy="417049"/>
              <a:chOff x="0" y="0"/>
              <a:chExt cx="367223" cy="417048"/>
            </a:xfrm>
          </p:grpSpPr>
          <p:grpSp>
            <p:nvGrpSpPr>
              <p:cNvPr id="1781" name="Freeform 538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1779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80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84" name="Oval 539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1782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83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789" name="Group 540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1785" name="Freeform 541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86" name="Freeform 542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87" name="Freeform 543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88" name="Freeform 544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802" name="Group 545"/>
            <p:cNvGrpSpPr/>
            <p:nvPr/>
          </p:nvGrpSpPr>
          <p:grpSpPr>
            <a:xfrm>
              <a:off x="1987672" y="1905381"/>
              <a:ext cx="367225" cy="417049"/>
              <a:chOff x="0" y="0"/>
              <a:chExt cx="367223" cy="417048"/>
            </a:xfrm>
          </p:grpSpPr>
          <p:grpSp>
            <p:nvGrpSpPr>
              <p:cNvPr id="1793" name="Freeform 546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1791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92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796" name="Oval 547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1794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95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801" name="Group 548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1797" name="Freeform 549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98" name="Freeform 550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799" name="Freeform 551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00" name="Freeform 552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814" name="Group 622"/>
            <p:cNvGrpSpPr/>
            <p:nvPr/>
          </p:nvGrpSpPr>
          <p:grpSpPr>
            <a:xfrm>
              <a:off x="2761377" y="1884362"/>
              <a:ext cx="353679" cy="402388"/>
              <a:chOff x="0" y="0"/>
              <a:chExt cx="353677" cy="402387"/>
            </a:xfrm>
          </p:grpSpPr>
          <p:grpSp>
            <p:nvGrpSpPr>
              <p:cNvPr id="1805" name="Freeform 623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1803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04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808" name="Oval 624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1806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07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813" name="Group 625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1809" name="Freeform 626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10" name="Freeform 627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11" name="Freeform 628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12" name="Freeform 629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826" name="Group 462"/>
            <p:cNvGrpSpPr/>
            <p:nvPr/>
          </p:nvGrpSpPr>
          <p:grpSpPr>
            <a:xfrm>
              <a:off x="1634011" y="2674272"/>
              <a:ext cx="393761" cy="409458"/>
              <a:chOff x="0" y="0"/>
              <a:chExt cx="393760" cy="409456"/>
            </a:xfrm>
          </p:grpSpPr>
          <p:grpSp>
            <p:nvGrpSpPr>
              <p:cNvPr id="1817" name="Freeform 463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1815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16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820" name="Oval 464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1818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19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825" name="Group 465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1821" name="Freeform 466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22" name="Freeform 467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23" name="Freeform 468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24" name="Freeform 469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1838" name="Group 446"/>
            <p:cNvGrpSpPr/>
            <p:nvPr/>
          </p:nvGrpSpPr>
          <p:grpSpPr>
            <a:xfrm>
              <a:off x="3312100" y="2278000"/>
              <a:ext cx="228296" cy="333088"/>
              <a:chOff x="0" y="0"/>
              <a:chExt cx="228295" cy="333087"/>
            </a:xfrm>
          </p:grpSpPr>
          <p:grpSp>
            <p:nvGrpSpPr>
              <p:cNvPr id="1829" name="Freeform 447"/>
              <p:cNvGrpSpPr/>
              <p:nvPr/>
            </p:nvGrpSpPr>
            <p:grpSpPr>
              <a:xfrm>
                <a:off x="0" y="-1"/>
                <a:ext cx="228296" cy="333089"/>
                <a:chOff x="0" y="0"/>
                <a:chExt cx="228295" cy="333087"/>
              </a:xfrm>
            </p:grpSpPr>
            <p:sp>
              <p:nvSpPr>
                <p:cNvPr id="1827" name="Shape"/>
                <p:cNvSpPr/>
                <p:nvPr/>
              </p:nvSpPr>
              <p:spPr>
                <a:xfrm>
                  <a:off x="0" y="127181"/>
                  <a:ext cx="228296" cy="787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28" name="Text"/>
                <p:cNvSpPr txBox="1"/>
                <p:nvPr/>
              </p:nvSpPr>
              <p:spPr>
                <a:xfrm>
                  <a:off x="47307" y="0"/>
                  <a:ext cx="13368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1832" name="Oval 448"/>
              <p:cNvGrpSpPr/>
              <p:nvPr/>
            </p:nvGrpSpPr>
            <p:grpSpPr>
              <a:xfrm>
                <a:off x="131" y="60976"/>
                <a:ext cx="228019" cy="127001"/>
                <a:chOff x="0" y="0"/>
                <a:chExt cx="228018" cy="127000"/>
              </a:xfrm>
            </p:grpSpPr>
            <p:sp>
              <p:nvSpPr>
                <p:cNvPr id="1830" name="Oval"/>
                <p:cNvSpPr/>
                <p:nvPr/>
              </p:nvSpPr>
              <p:spPr>
                <a:xfrm>
                  <a:off x="0" y="24529"/>
                  <a:ext cx="228019" cy="77943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31" name="Text"/>
                <p:cNvSpPr txBox="1"/>
                <p:nvPr/>
              </p:nvSpPr>
              <p:spPr>
                <a:xfrm>
                  <a:off x="80699" y="0"/>
                  <a:ext cx="66620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1837" name="Group 449"/>
              <p:cNvGrpSpPr/>
              <p:nvPr/>
            </p:nvGrpSpPr>
            <p:grpSpPr>
              <a:xfrm>
                <a:off x="33858" y="95412"/>
                <a:ext cx="160537" cy="57271"/>
                <a:chOff x="0" y="0"/>
                <a:chExt cx="160536" cy="57270"/>
              </a:xfrm>
            </p:grpSpPr>
            <p:sp>
              <p:nvSpPr>
                <p:cNvPr id="1833" name="Freeform 450"/>
                <p:cNvSpPr/>
                <p:nvPr/>
              </p:nvSpPr>
              <p:spPr>
                <a:xfrm>
                  <a:off x="4440" y="-1"/>
                  <a:ext cx="151865" cy="32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34" name="Freeform 451"/>
                <p:cNvSpPr/>
                <p:nvPr/>
              </p:nvSpPr>
              <p:spPr>
                <a:xfrm>
                  <a:off x="103836" y="27422"/>
                  <a:ext cx="56701" cy="276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35" name="Freeform 452"/>
                <p:cNvSpPr/>
                <p:nvPr/>
              </p:nvSpPr>
              <p:spPr>
                <a:xfrm>
                  <a:off x="-1" y="27422"/>
                  <a:ext cx="55677" cy="272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836" name="Freeform 453"/>
                <p:cNvSpPr/>
                <p:nvPr/>
              </p:nvSpPr>
              <p:spPr>
                <a:xfrm>
                  <a:off x="19327" y="13943"/>
                  <a:ext cx="121057" cy="43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grpSp>
        <p:nvGrpSpPr>
          <p:cNvPr id="1843" name="Group 570"/>
          <p:cNvGrpSpPr/>
          <p:nvPr/>
        </p:nvGrpSpPr>
        <p:grpSpPr>
          <a:xfrm>
            <a:off x="7608439" y="3698397"/>
            <a:ext cx="3543850" cy="1371858"/>
            <a:chOff x="0" y="0"/>
            <a:chExt cx="3543848" cy="1371857"/>
          </a:xfrm>
        </p:grpSpPr>
        <p:sp>
          <p:nvSpPr>
            <p:cNvPr id="1840" name="Straight Connector 571"/>
            <p:cNvSpPr/>
            <p:nvPr/>
          </p:nvSpPr>
          <p:spPr>
            <a:xfrm flipH="1">
              <a:off x="676860" y="0"/>
              <a:ext cx="2866989" cy="1371858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1" name="TextBox 574"/>
            <p:cNvSpPr txBox="1"/>
            <p:nvPr/>
          </p:nvSpPr>
          <p:spPr>
            <a:xfrm>
              <a:off x="0" y="871208"/>
              <a:ext cx="536635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HTTP</a:t>
              </a:r>
            </a:p>
          </p:txBody>
        </p:sp>
        <p:sp>
          <p:nvSpPr>
            <p:cNvPr id="1842" name="Straight Connector 575"/>
            <p:cNvSpPr/>
            <p:nvPr/>
          </p:nvSpPr>
          <p:spPr>
            <a:xfrm>
              <a:off x="491384" y="1055269"/>
              <a:ext cx="402218" cy="115862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847" name="Group 610"/>
          <p:cNvGrpSpPr/>
          <p:nvPr/>
        </p:nvGrpSpPr>
        <p:grpSpPr>
          <a:xfrm>
            <a:off x="6416938" y="2787535"/>
            <a:ext cx="1225577" cy="663793"/>
            <a:chOff x="0" y="0"/>
            <a:chExt cx="1225576" cy="663791"/>
          </a:xfrm>
        </p:grpSpPr>
        <p:sp>
          <p:nvSpPr>
            <p:cNvPr id="1844" name="Straight Connector 630"/>
            <p:cNvSpPr/>
            <p:nvPr/>
          </p:nvSpPr>
          <p:spPr>
            <a:xfrm>
              <a:off x="1214081" y="0"/>
              <a:ext cx="11496" cy="663793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5" name="TextBox 650"/>
            <p:cNvSpPr txBox="1"/>
            <p:nvPr/>
          </p:nvSpPr>
          <p:spPr>
            <a:xfrm>
              <a:off x="0" y="157143"/>
              <a:ext cx="580787" cy="3005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1600">
                  <a:solidFill>
                    <a:srgbClr val="C00000"/>
                  </a:solidFill>
                </a:defRPr>
              </a:lvl1pPr>
            </a:lstStyle>
            <a:p>
              <a:pPr/>
              <a:r>
                <a:t>Skype</a:t>
              </a:r>
            </a:p>
          </p:txBody>
        </p:sp>
        <p:sp>
          <p:nvSpPr>
            <p:cNvPr id="1846" name="Straight Connector 651"/>
            <p:cNvSpPr/>
            <p:nvPr/>
          </p:nvSpPr>
          <p:spPr>
            <a:xfrm>
              <a:off x="556472" y="331895"/>
              <a:ext cx="559044" cy="1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851" name="Group 653"/>
          <p:cNvGrpSpPr/>
          <p:nvPr/>
        </p:nvGrpSpPr>
        <p:grpSpPr>
          <a:xfrm>
            <a:off x="9218787" y="2327786"/>
            <a:ext cx="2550713" cy="1025466"/>
            <a:chOff x="0" y="0"/>
            <a:chExt cx="2550712" cy="1025465"/>
          </a:xfrm>
        </p:grpSpPr>
        <p:sp>
          <p:nvSpPr>
            <p:cNvPr id="1848" name="Straight Connector 655"/>
            <p:cNvSpPr/>
            <p:nvPr/>
          </p:nvSpPr>
          <p:spPr>
            <a:xfrm>
              <a:off x="0" y="-1"/>
              <a:ext cx="1698980" cy="1025467"/>
            </a:xfrm>
            <a:prstGeom prst="line">
              <a:avLst/>
            </a:prstGeom>
            <a:noFill/>
            <a:ln w="31750" cap="flat">
              <a:solidFill>
                <a:srgbClr val="C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9" name="TextBox 658"/>
            <p:cNvSpPr txBox="1"/>
            <p:nvPr/>
          </p:nvSpPr>
          <p:spPr>
            <a:xfrm>
              <a:off x="1599145" y="356510"/>
              <a:ext cx="951568" cy="554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i="1" sz="1600">
                  <a:solidFill>
                    <a:srgbClr val="C00000"/>
                  </a:solidFill>
                </a:defRPr>
              </a:pPr>
              <a:r>
                <a:t>Streaming</a:t>
              </a:r>
            </a:p>
            <a:p>
              <a:pPr>
                <a:defRPr i="1" sz="1600">
                  <a:solidFill>
                    <a:srgbClr val="C00000"/>
                  </a:solidFill>
                </a:defRPr>
              </a:pPr>
              <a:r>
                <a:t>video</a:t>
              </a:r>
            </a:p>
          </p:txBody>
        </p:sp>
        <p:sp>
          <p:nvSpPr>
            <p:cNvPr id="1850" name="Straight Connector 659"/>
            <p:cNvSpPr/>
            <p:nvPr/>
          </p:nvSpPr>
          <p:spPr>
            <a:xfrm flipV="1">
              <a:off x="1350764" y="609512"/>
              <a:ext cx="405323" cy="147575"/>
            </a:xfrm>
            <a:prstGeom prst="line">
              <a:avLst/>
            </a:prstGeom>
            <a:noFill/>
            <a:ln w="635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852" name="Content Placeholder 2"/>
          <p:cNvSpPr txBox="1"/>
          <p:nvPr/>
        </p:nvSpPr>
        <p:spPr>
          <a:xfrm>
            <a:off x="914382" y="3677908"/>
            <a:ext cx="5303133" cy="370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75000"/>
              <a:buChar char="▪"/>
              <a:defRPr sz="2800"/>
            </a:pPr>
            <a:r>
              <a:t>provides </a:t>
            </a:r>
            <a:r>
              <a:rPr i="1">
                <a:solidFill>
                  <a:srgbClr val="C00000"/>
                </a:solidFill>
              </a:rPr>
              <a:t>programming interface </a:t>
            </a:r>
            <a:r>
              <a:t>to distributed applications:</a:t>
            </a:r>
          </a:p>
          <a:p>
            <a:pPr lvl="1" marL="695325" indent="-23177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“hooks” allowing sending/receiving  apps to </a:t>
            </a:r>
            <a:r>
              <a:t>“</a:t>
            </a:r>
            <a:r>
              <a:t>connect</a:t>
            </a:r>
            <a:r>
              <a:t>”</a:t>
            </a:r>
            <a:r>
              <a:t> to, use  Internet transport service</a:t>
            </a:r>
          </a:p>
          <a:p>
            <a:pPr lvl="1" marL="695325" indent="-23177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provides service options, analogous to postal service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</a:p>
        </p:txBody>
      </p:sp>
      <p:sp>
        <p:nvSpPr>
          <p:cNvPr id="1853" name="Slide Number Placeholder 2"/>
          <p:cNvSpPr txBox="1"/>
          <p:nvPr>
            <p:ph type="sldNum" sz="quarter" idx="2"/>
          </p:nvPr>
        </p:nvSpPr>
        <p:spPr>
          <a:xfrm>
            <a:off x="11787871" y="6512797"/>
            <a:ext cx="174946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5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What’s a protocol?</a:t>
            </a:r>
          </a:p>
        </p:txBody>
      </p:sp>
      <p:sp>
        <p:nvSpPr>
          <p:cNvPr id="1856" name="Rectangle 3"/>
          <p:cNvSpPr txBox="1"/>
          <p:nvPr/>
        </p:nvSpPr>
        <p:spPr>
          <a:xfrm>
            <a:off x="889921" y="1490088"/>
            <a:ext cx="3489961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defRPr i="1" sz="3200">
                <a:solidFill>
                  <a:srgbClr val="CC0000"/>
                </a:solidFill>
              </a:defRPr>
            </a:pPr>
            <a:r>
              <a:t>Human protocols:</a:t>
            </a:r>
            <a:endParaRPr sz="2800"/>
          </a:p>
          <a:p>
            <a:pPr marL="349250" indent="-220663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75000"/>
              <a:buChar char="▪"/>
              <a:defRPr sz="2400"/>
            </a:pPr>
            <a:r>
              <a:t>“what’s the time?”</a:t>
            </a:r>
            <a:endParaRPr sz="2800"/>
          </a:p>
          <a:p>
            <a:pPr marL="349250" indent="-220663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75000"/>
              <a:buChar char="▪"/>
              <a:defRPr sz="2400"/>
            </a:pPr>
            <a:r>
              <a:t>“I have a question”</a:t>
            </a:r>
            <a:endParaRPr sz="2800"/>
          </a:p>
          <a:p>
            <a:pPr marL="349250" indent="-220663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75000"/>
              <a:buChar char="▪"/>
              <a:defRPr sz="2400"/>
            </a:pPr>
            <a:r>
              <a:t>introductions</a:t>
            </a:r>
          </a:p>
        </p:txBody>
      </p:sp>
      <p:sp>
        <p:nvSpPr>
          <p:cNvPr id="1857" name="Rectangle 4"/>
          <p:cNvSpPr txBox="1"/>
          <p:nvPr/>
        </p:nvSpPr>
        <p:spPr>
          <a:xfrm>
            <a:off x="5227892" y="1500137"/>
            <a:ext cx="5689000" cy="259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defRPr i="1" sz="3200">
                <a:solidFill>
                  <a:srgbClr val="CC0000"/>
                </a:solidFill>
              </a:defRPr>
            </a:pPr>
            <a:r>
              <a:t>Network protocols:</a:t>
            </a:r>
            <a:endParaRPr sz="2800"/>
          </a:p>
          <a:p>
            <a:pPr marL="349250" indent="-220663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75000"/>
              <a:buChar char="▪"/>
              <a:defRPr sz="2400"/>
            </a:pPr>
            <a:r>
              <a:t>computers (devices) rather than humans</a:t>
            </a:r>
            <a:endParaRPr sz="2800"/>
          </a:p>
          <a:p>
            <a:pPr marL="349250" indent="-220663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75000"/>
              <a:buChar char="▪"/>
              <a:defRPr sz="2400"/>
            </a:pPr>
            <a:r>
              <a:t>all communication activity in Internet governed by protocols</a:t>
            </a:r>
          </a:p>
        </p:txBody>
      </p:sp>
      <p:grpSp>
        <p:nvGrpSpPr>
          <p:cNvPr id="1860" name="Group 6"/>
          <p:cNvGrpSpPr/>
          <p:nvPr/>
        </p:nvGrpSpPr>
        <p:grpSpPr>
          <a:xfrm>
            <a:off x="5237940" y="3708643"/>
            <a:ext cx="5815105" cy="2362201"/>
            <a:chOff x="0" y="0"/>
            <a:chExt cx="5815103" cy="2362200"/>
          </a:xfrm>
        </p:grpSpPr>
        <p:sp>
          <p:nvSpPr>
            <p:cNvPr id="1858" name="Rectangle 5"/>
            <p:cNvSpPr txBox="1"/>
            <p:nvPr/>
          </p:nvSpPr>
          <p:spPr>
            <a:xfrm>
              <a:off x="0" y="206387"/>
              <a:ext cx="5628712" cy="17401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indent="-342900" algn="ctr">
                <a:spcBef>
                  <a:spcPts val="600"/>
                </a:spcBef>
                <a:defRPr i="1" sz="2800">
                  <a:solidFill>
                    <a:srgbClr val="CC0000"/>
                  </a:solidFill>
                </a:defRPr>
              </a:pPr>
              <a:r>
                <a:t>Protocols</a:t>
              </a:r>
              <a:r>
                <a:rPr>
                  <a:solidFill>
                    <a:srgbClr val="000000"/>
                  </a:solidFill>
                </a:rPr>
                <a:t> define the </a:t>
              </a:r>
              <a:r>
                <a:t>format</a:t>
              </a:r>
              <a:r>
                <a:rPr>
                  <a:solidFill>
                    <a:srgbClr val="000000"/>
                  </a:solidFill>
                </a:rPr>
                <a:t>, </a:t>
              </a:r>
              <a:r>
                <a:t>order</a:t>
              </a:r>
              <a:r>
                <a:rPr>
                  <a:solidFill>
                    <a:srgbClr val="000000"/>
                  </a:solidFill>
                </a:rPr>
                <a:t> of </a:t>
              </a:r>
              <a:r>
                <a:t>messages sent and received</a:t>
              </a:r>
              <a:r>
                <a:rPr>
                  <a:solidFill>
                    <a:srgbClr val="000000"/>
                  </a:solidFill>
                </a:rPr>
                <a:t> among network entities, and </a:t>
              </a:r>
              <a:r>
                <a:t>actions taken</a:t>
              </a:r>
              <a:r>
                <a:rPr>
                  <a:solidFill>
                    <a:srgbClr val="000000"/>
                  </a:solidFill>
                </a:rPr>
                <a:t> on message transmission, receipt</a:t>
              </a:r>
              <a:r>
                <a:rPr sz="2400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1859" name="Rectangle 6"/>
            <p:cNvSpPr/>
            <p:nvPr/>
          </p:nvSpPr>
          <p:spPr>
            <a:xfrm>
              <a:off x="34664" y="0"/>
              <a:ext cx="5780440" cy="2362200"/>
            </a:xfrm>
            <a:prstGeom prst="rect">
              <a:avLst/>
            </a:prstGeom>
            <a:noFill/>
            <a:ln w="19050" cap="flat">
              <a:solidFill>
                <a:srgbClr val="00009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1861" name="Rectangle 3"/>
          <p:cNvSpPr txBox="1"/>
          <p:nvPr/>
        </p:nvSpPr>
        <p:spPr>
          <a:xfrm>
            <a:off x="998219" y="3843823"/>
            <a:ext cx="3489962" cy="206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defRPr sz="2400"/>
            </a:pPr>
            <a:r>
              <a:t>Rules for:</a:t>
            </a:r>
            <a:endParaRPr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defRPr sz="2400"/>
            </a:pPr>
            <a:r>
              <a:t>… specific messages sent</a:t>
            </a:r>
            <a:endParaRPr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defRPr sz="2400"/>
            </a:pPr>
            <a:r>
              <a:t>… specific actions taken when message received, or other events</a:t>
            </a:r>
          </a:p>
        </p:txBody>
      </p:sp>
      <p:sp>
        <p:nvSpPr>
          <p:cNvPr id="1862" name="Slide Number Placeholder 2"/>
          <p:cNvSpPr txBox="1"/>
          <p:nvPr>
            <p:ph type="sldNum" sz="quarter" idx="2"/>
          </p:nvPr>
        </p:nvSpPr>
        <p:spPr>
          <a:xfrm>
            <a:off x="11787871" y="6512797"/>
            <a:ext cx="174946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57" grpId="2"/>
      <p:bldP build="whole" bldLvl="1" animBg="1" rev="0" advAuto="0" spid="1860" grpId="3"/>
      <p:bldP build="whole" bldLvl="1" animBg="1" rev="0" advAuto="0" spid="186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What’s a protocol?</a:t>
            </a:r>
          </a:p>
        </p:txBody>
      </p:sp>
      <p:sp>
        <p:nvSpPr>
          <p:cNvPr id="1865" name="Rectangle 3"/>
          <p:cNvSpPr txBox="1"/>
          <p:nvPr/>
        </p:nvSpPr>
        <p:spPr>
          <a:xfrm>
            <a:off x="930815" y="1371600"/>
            <a:ext cx="8061961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157734" indent="-157734" defTabSz="630936">
              <a:lnSpc>
                <a:spcPct val="90000"/>
              </a:lnSpc>
              <a:spcBef>
                <a:spcPts val="600"/>
              </a:spcBef>
              <a:defRPr sz="1932"/>
            </a:lvl1pPr>
          </a:lstStyle>
          <a:p>
            <a:pPr/>
            <a:r>
              <a:t>A human protocol and a computer network protocol:</a:t>
            </a:r>
          </a:p>
        </p:txBody>
      </p:sp>
      <p:sp>
        <p:nvSpPr>
          <p:cNvPr id="1866" name="Rectangle 8"/>
          <p:cNvSpPr txBox="1"/>
          <p:nvPr/>
        </p:nvSpPr>
        <p:spPr>
          <a:xfrm>
            <a:off x="1026063" y="5862637"/>
            <a:ext cx="542045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700"/>
              </a:spcBef>
              <a:defRPr i="1" sz="3200">
                <a:solidFill>
                  <a:srgbClr val="CC0000"/>
                </a:solidFill>
              </a:defRPr>
            </a:pPr>
            <a:r>
              <a:t>Q:</a:t>
            </a:r>
            <a:r>
              <a:rPr i="0">
                <a:solidFill>
                  <a:srgbClr val="000000"/>
                </a:solidFill>
              </a:rPr>
              <a:t> other human protocols? </a:t>
            </a:r>
          </a:p>
        </p:txBody>
      </p:sp>
      <p:grpSp>
        <p:nvGrpSpPr>
          <p:cNvPr id="1869" name="Group 8"/>
          <p:cNvGrpSpPr/>
          <p:nvPr/>
        </p:nvGrpSpPr>
        <p:grpSpPr>
          <a:xfrm>
            <a:off x="2925329" y="2422525"/>
            <a:ext cx="1762126" cy="563563"/>
            <a:chOff x="0" y="0"/>
            <a:chExt cx="1762125" cy="563562"/>
          </a:xfrm>
        </p:grpSpPr>
        <p:sp>
          <p:nvSpPr>
            <p:cNvPr id="1867" name="Line 10"/>
            <p:cNvSpPr/>
            <p:nvPr/>
          </p:nvSpPr>
          <p:spPr>
            <a:xfrm>
              <a:off x="0" y="287337"/>
              <a:ext cx="1762126" cy="276226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68" name="Text Box 64"/>
            <p:cNvSpPr txBox="1"/>
            <p:nvPr/>
          </p:nvSpPr>
          <p:spPr>
            <a:xfrm>
              <a:off x="487044" y="0"/>
              <a:ext cx="363995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Hi</a:t>
              </a:r>
            </a:p>
          </p:txBody>
        </p:sp>
      </p:grpSp>
      <p:grpSp>
        <p:nvGrpSpPr>
          <p:cNvPr id="1872" name="Group 78"/>
          <p:cNvGrpSpPr/>
          <p:nvPr/>
        </p:nvGrpSpPr>
        <p:grpSpPr>
          <a:xfrm>
            <a:off x="2617354" y="3046413"/>
            <a:ext cx="2085976" cy="584201"/>
            <a:chOff x="0" y="0"/>
            <a:chExt cx="2085975" cy="584199"/>
          </a:xfrm>
        </p:grpSpPr>
        <p:sp>
          <p:nvSpPr>
            <p:cNvPr id="1870" name="Line 66"/>
            <p:cNvSpPr/>
            <p:nvPr/>
          </p:nvSpPr>
          <p:spPr>
            <a:xfrm flipV="1">
              <a:off x="-1" y="222249"/>
              <a:ext cx="2085977" cy="361952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71" name="Text Box 67"/>
            <p:cNvSpPr txBox="1"/>
            <p:nvPr/>
          </p:nvSpPr>
          <p:spPr>
            <a:xfrm>
              <a:off x="785494" y="0"/>
              <a:ext cx="363995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Hi</a:t>
              </a:r>
            </a:p>
          </p:txBody>
        </p:sp>
      </p:grpSp>
      <p:grpSp>
        <p:nvGrpSpPr>
          <p:cNvPr id="1875" name="Group 79"/>
          <p:cNvGrpSpPr/>
          <p:nvPr/>
        </p:nvGrpSpPr>
        <p:grpSpPr>
          <a:xfrm>
            <a:off x="2601479" y="3632201"/>
            <a:ext cx="2162176" cy="644982"/>
            <a:chOff x="0" y="0"/>
            <a:chExt cx="2162175" cy="644981"/>
          </a:xfrm>
        </p:grpSpPr>
        <p:sp>
          <p:nvSpPr>
            <p:cNvPr id="1873" name="Line 70"/>
            <p:cNvSpPr/>
            <p:nvPr/>
          </p:nvSpPr>
          <p:spPr>
            <a:xfrm>
              <a:off x="0" y="68261"/>
              <a:ext cx="2162176" cy="438152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74" name="Text Box 69"/>
            <p:cNvSpPr txBox="1"/>
            <p:nvPr/>
          </p:nvSpPr>
          <p:spPr>
            <a:xfrm>
              <a:off x="601708" y="0"/>
              <a:ext cx="885737" cy="64498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2000"/>
              </a:pPr>
              <a:r>
                <a:t>Got the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defRPr sz="2000"/>
              </a:pPr>
              <a:r>
                <a:t>time?</a:t>
              </a:r>
            </a:p>
          </p:txBody>
        </p:sp>
      </p:grpSp>
      <p:grpSp>
        <p:nvGrpSpPr>
          <p:cNvPr id="1880" name="Group 80"/>
          <p:cNvGrpSpPr/>
          <p:nvPr/>
        </p:nvGrpSpPr>
        <p:grpSpPr>
          <a:xfrm>
            <a:off x="2763404" y="4271962"/>
            <a:ext cx="1952626" cy="397239"/>
            <a:chOff x="0" y="0"/>
            <a:chExt cx="1952625" cy="397237"/>
          </a:xfrm>
        </p:grpSpPr>
        <p:sp>
          <p:nvSpPr>
            <p:cNvPr id="1876" name="Line 73"/>
            <p:cNvSpPr/>
            <p:nvPr/>
          </p:nvSpPr>
          <p:spPr>
            <a:xfrm flipV="1">
              <a:off x="-1" y="0"/>
              <a:ext cx="1952627" cy="333376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879" name="Group 76"/>
            <p:cNvGrpSpPr/>
            <p:nvPr/>
          </p:nvGrpSpPr>
          <p:grpSpPr>
            <a:xfrm>
              <a:off x="515619" y="4768"/>
              <a:ext cx="751207" cy="392470"/>
              <a:chOff x="0" y="0"/>
              <a:chExt cx="751205" cy="392469"/>
            </a:xfrm>
          </p:grpSpPr>
          <p:sp>
            <p:nvSpPr>
              <p:cNvPr id="1877" name="Rectangle 75"/>
              <p:cNvSpPr/>
              <p:nvPr/>
            </p:nvSpPr>
            <p:spPr>
              <a:xfrm>
                <a:off x="46355" y="77787"/>
                <a:ext cx="704851" cy="29527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878" name="Text Box 74"/>
              <p:cNvSpPr txBox="1"/>
              <p:nvPr/>
            </p:nvSpPr>
            <p:spPr>
              <a:xfrm>
                <a:off x="0" y="0"/>
                <a:ext cx="649149" cy="392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2400"/>
                </a:lvl1pPr>
              </a:lstStyle>
              <a:p>
                <a:pPr/>
                <a:r>
                  <a:t>2:00</a:t>
                </a:r>
              </a:p>
            </p:txBody>
          </p:sp>
        </p:grpSp>
      </p:grpSp>
      <p:sp>
        <p:nvSpPr>
          <p:cNvPr id="1881" name="Line 101"/>
          <p:cNvSpPr/>
          <p:nvPr/>
        </p:nvSpPr>
        <p:spPr>
          <a:xfrm flipH="1">
            <a:off x="5730144" y="2115344"/>
            <a:ext cx="1" cy="3573463"/>
          </a:xfrm>
          <a:prstGeom prst="line">
            <a:avLst/>
          </a:prstGeom>
          <a:ln w="19050">
            <a:solidFill>
              <a:srgbClr val="BFBFBF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84" name="Group 105"/>
          <p:cNvGrpSpPr/>
          <p:nvPr/>
        </p:nvGrpSpPr>
        <p:grpSpPr>
          <a:xfrm>
            <a:off x="5449137" y="4910137"/>
            <a:ext cx="675006" cy="354014"/>
            <a:chOff x="0" y="0"/>
            <a:chExt cx="675005" cy="354012"/>
          </a:xfrm>
        </p:grpSpPr>
        <p:sp>
          <p:nvSpPr>
            <p:cNvPr id="1882" name="Rectangle 104"/>
            <p:cNvSpPr/>
            <p:nvPr/>
          </p:nvSpPr>
          <p:spPr>
            <a:xfrm>
              <a:off x="27305" y="96837"/>
              <a:ext cx="647701" cy="25717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83" name="Text Box 102"/>
            <p:cNvSpPr txBox="1"/>
            <p:nvPr/>
          </p:nvSpPr>
          <p:spPr>
            <a:xfrm>
              <a:off x="0" y="0"/>
              <a:ext cx="576794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time</a:t>
              </a:r>
            </a:p>
          </p:txBody>
        </p:sp>
      </p:grpSp>
      <p:grpSp>
        <p:nvGrpSpPr>
          <p:cNvPr id="1888" name="Group 82"/>
          <p:cNvGrpSpPr/>
          <p:nvPr/>
        </p:nvGrpSpPr>
        <p:grpSpPr>
          <a:xfrm>
            <a:off x="6786129" y="3255962"/>
            <a:ext cx="2216151" cy="612755"/>
            <a:chOff x="0" y="0"/>
            <a:chExt cx="2216150" cy="612753"/>
          </a:xfrm>
        </p:grpSpPr>
        <p:sp>
          <p:nvSpPr>
            <p:cNvPr id="1885" name="Line 90"/>
            <p:cNvSpPr/>
            <p:nvPr/>
          </p:nvSpPr>
          <p:spPr>
            <a:xfrm flipV="1">
              <a:off x="0" y="0"/>
              <a:ext cx="2216151" cy="398464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86" name="Rectangle 92"/>
            <p:cNvSpPr/>
            <p:nvPr/>
          </p:nvSpPr>
          <p:spPr>
            <a:xfrm>
              <a:off x="434975" y="22224"/>
              <a:ext cx="1438276" cy="3937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87" name="Text Box 91"/>
            <p:cNvSpPr txBox="1"/>
            <p:nvPr/>
          </p:nvSpPr>
          <p:spPr>
            <a:xfrm>
              <a:off x="388219" y="23813"/>
              <a:ext cx="1538137" cy="58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t>TCP connection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</a:pPr>
              <a:r>
                <a:t>response</a:t>
              </a:r>
            </a:p>
          </p:txBody>
        </p:sp>
      </p:grpSp>
      <p:grpSp>
        <p:nvGrpSpPr>
          <p:cNvPr id="1892" name="Group 84"/>
          <p:cNvGrpSpPr/>
          <p:nvPr/>
        </p:nvGrpSpPr>
        <p:grpSpPr>
          <a:xfrm>
            <a:off x="6833754" y="4448176"/>
            <a:ext cx="2343151" cy="444501"/>
            <a:chOff x="0" y="0"/>
            <a:chExt cx="2343150" cy="444499"/>
          </a:xfrm>
        </p:grpSpPr>
        <p:sp>
          <p:nvSpPr>
            <p:cNvPr id="1889" name="Line 85"/>
            <p:cNvSpPr/>
            <p:nvPr/>
          </p:nvSpPr>
          <p:spPr>
            <a:xfrm flipV="1">
              <a:off x="-1" y="15874"/>
              <a:ext cx="2343152" cy="428626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90" name="Rectangle 99"/>
            <p:cNvSpPr/>
            <p:nvPr/>
          </p:nvSpPr>
          <p:spPr>
            <a:xfrm>
              <a:off x="768350" y="114299"/>
              <a:ext cx="919164" cy="29527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91" name="Text Box 100"/>
            <p:cNvSpPr txBox="1"/>
            <p:nvPr/>
          </p:nvSpPr>
          <p:spPr>
            <a:xfrm>
              <a:off x="780732" y="0"/>
              <a:ext cx="792323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&lt;file&gt;</a:t>
              </a:r>
            </a:p>
          </p:txBody>
        </p:sp>
      </p:grpSp>
      <p:grpSp>
        <p:nvGrpSpPr>
          <p:cNvPr id="1896" name="Group 81"/>
          <p:cNvGrpSpPr/>
          <p:nvPr/>
        </p:nvGrpSpPr>
        <p:grpSpPr>
          <a:xfrm>
            <a:off x="6848041" y="2620963"/>
            <a:ext cx="2176463" cy="588941"/>
            <a:chOff x="0" y="0"/>
            <a:chExt cx="2176461" cy="588940"/>
          </a:xfrm>
        </p:grpSpPr>
        <p:sp>
          <p:nvSpPr>
            <p:cNvPr id="1893" name="Line 89"/>
            <p:cNvSpPr/>
            <p:nvPr/>
          </p:nvSpPr>
          <p:spPr>
            <a:xfrm>
              <a:off x="0" y="128587"/>
              <a:ext cx="2176462" cy="347663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94" name="Rectangle 52"/>
            <p:cNvSpPr/>
            <p:nvPr/>
          </p:nvSpPr>
          <p:spPr>
            <a:xfrm>
              <a:off x="285749" y="68262"/>
              <a:ext cx="1365250" cy="43973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95" name="Text Box 91"/>
            <p:cNvSpPr txBox="1"/>
            <p:nvPr/>
          </p:nvSpPr>
          <p:spPr>
            <a:xfrm>
              <a:off x="370756" y="0"/>
              <a:ext cx="1538137" cy="58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t>TCP connection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</a:pPr>
              <a:r>
                <a:t>request</a:t>
              </a:r>
            </a:p>
          </p:txBody>
        </p:sp>
      </p:grpSp>
      <p:grpSp>
        <p:nvGrpSpPr>
          <p:cNvPr id="1929" name="Group 57"/>
          <p:cNvGrpSpPr/>
          <p:nvPr/>
        </p:nvGrpSpPr>
        <p:grpSpPr>
          <a:xfrm>
            <a:off x="9080066" y="2720975"/>
            <a:ext cx="357646" cy="755651"/>
            <a:chOff x="0" y="0"/>
            <a:chExt cx="357645" cy="755650"/>
          </a:xfrm>
        </p:grpSpPr>
        <p:sp>
          <p:nvSpPr>
            <p:cNvPr id="1897" name="Freeform 58"/>
            <p:cNvSpPr/>
            <p:nvPr/>
          </p:nvSpPr>
          <p:spPr>
            <a:xfrm>
              <a:off x="282740" y="1261"/>
              <a:ext cx="70937" cy="720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98" name="Rectangle 59"/>
            <p:cNvSpPr/>
            <p:nvPr/>
          </p:nvSpPr>
          <p:spPr>
            <a:xfrm>
              <a:off x="17044" y="0"/>
              <a:ext cx="261436" cy="720643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899" name="Freeform 60"/>
            <p:cNvSpPr/>
            <p:nvPr/>
          </p:nvSpPr>
          <p:spPr>
            <a:xfrm>
              <a:off x="297431" y="44468"/>
              <a:ext cx="40956" cy="6577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00" name="Freeform 61"/>
            <p:cNvSpPr/>
            <p:nvPr/>
          </p:nvSpPr>
          <p:spPr>
            <a:xfrm>
              <a:off x="286751" y="381924"/>
              <a:ext cx="65924" cy="59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01" name="Rectangle 62"/>
            <p:cNvSpPr/>
            <p:nvPr/>
          </p:nvSpPr>
          <p:spPr>
            <a:xfrm>
              <a:off x="18297" y="82629"/>
              <a:ext cx="149643" cy="15769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1904" name="Group 63"/>
            <p:cNvGrpSpPr/>
            <p:nvPr/>
          </p:nvGrpSpPr>
          <p:grpSpPr>
            <a:xfrm>
              <a:off x="152248" y="74717"/>
              <a:ext cx="145833" cy="46060"/>
              <a:chOff x="0" y="0"/>
              <a:chExt cx="145832" cy="46059"/>
            </a:xfrm>
          </p:grpSpPr>
          <p:sp>
            <p:nvSpPr>
              <p:cNvPr id="1902" name="AutoShape 64"/>
              <p:cNvSpPr/>
              <p:nvPr/>
            </p:nvSpPr>
            <p:spPr>
              <a:xfrm>
                <a:off x="0" y="0"/>
                <a:ext cx="145833" cy="4606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903" name="AutoShape 65"/>
              <p:cNvSpPr/>
              <p:nvPr/>
            </p:nvSpPr>
            <p:spPr>
              <a:xfrm>
                <a:off x="2611" y="4605"/>
                <a:ext cx="139205" cy="3487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905" name="Rectangle 66"/>
            <p:cNvSpPr/>
            <p:nvPr/>
          </p:nvSpPr>
          <p:spPr>
            <a:xfrm>
              <a:off x="21055" y="185758"/>
              <a:ext cx="149643" cy="15769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1908" name="Group 67"/>
            <p:cNvGrpSpPr/>
            <p:nvPr/>
          </p:nvGrpSpPr>
          <p:grpSpPr>
            <a:xfrm>
              <a:off x="152349" y="177885"/>
              <a:ext cx="145834" cy="42870"/>
              <a:chOff x="0" y="0"/>
              <a:chExt cx="145832" cy="42868"/>
            </a:xfrm>
          </p:grpSpPr>
          <p:sp>
            <p:nvSpPr>
              <p:cNvPr id="1906" name="AutoShape 68"/>
              <p:cNvSpPr/>
              <p:nvPr/>
            </p:nvSpPr>
            <p:spPr>
              <a:xfrm>
                <a:off x="0" y="0"/>
                <a:ext cx="145833" cy="4286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907" name="AutoShape 69"/>
              <p:cNvSpPr/>
              <p:nvPr/>
            </p:nvSpPr>
            <p:spPr>
              <a:xfrm>
                <a:off x="2611" y="4560"/>
                <a:ext cx="139205" cy="334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909" name="Rectangle 70"/>
            <p:cNvSpPr/>
            <p:nvPr/>
          </p:nvSpPr>
          <p:spPr>
            <a:xfrm>
              <a:off x="19801" y="293618"/>
              <a:ext cx="148389" cy="14193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10" name="Rectangle 71"/>
            <p:cNvSpPr/>
            <p:nvPr/>
          </p:nvSpPr>
          <p:spPr>
            <a:xfrm>
              <a:off x="22308" y="387286"/>
              <a:ext cx="149643" cy="14193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1913" name="Group 72"/>
            <p:cNvGrpSpPr/>
            <p:nvPr/>
          </p:nvGrpSpPr>
          <p:grpSpPr>
            <a:xfrm>
              <a:off x="149744" y="377825"/>
              <a:ext cx="145682" cy="47623"/>
              <a:chOff x="0" y="0"/>
              <a:chExt cx="145681" cy="47622"/>
            </a:xfrm>
          </p:grpSpPr>
          <p:sp>
            <p:nvSpPr>
              <p:cNvPr id="1911" name="AutoShape 73"/>
              <p:cNvSpPr/>
              <p:nvPr/>
            </p:nvSpPr>
            <p:spPr>
              <a:xfrm>
                <a:off x="0" y="0"/>
                <a:ext cx="145682" cy="4762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912" name="AutoShape 74"/>
              <p:cNvSpPr/>
              <p:nvPr/>
            </p:nvSpPr>
            <p:spPr>
              <a:xfrm>
                <a:off x="2615" y="4796"/>
                <a:ext cx="139243" cy="3666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914" name="Freeform 75"/>
            <p:cNvSpPr/>
            <p:nvPr/>
          </p:nvSpPr>
          <p:spPr>
            <a:xfrm>
              <a:off x="287754" y="291726"/>
              <a:ext cx="65923" cy="59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917" name="Group 76"/>
            <p:cNvGrpSpPr/>
            <p:nvPr/>
          </p:nvGrpSpPr>
          <p:grpSpPr>
            <a:xfrm>
              <a:off x="149741" y="282580"/>
              <a:ext cx="145682" cy="44469"/>
              <a:chOff x="0" y="0"/>
              <a:chExt cx="145681" cy="44468"/>
            </a:xfrm>
          </p:grpSpPr>
          <p:sp>
            <p:nvSpPr>
              <p:cNvPr id="1915" name="AutoShape 77"/>
              <p:cNvSpPr/>
              <p:nvPr/>
            </p:nvSpPr>
            <p:spPr>
              <a:xfrm>
                <a:off x="0" y="0"/>
                <a:ext cx="145682" cy="4446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916" name="AutoShape 78"/>
              <p:cNvSpPr/>
              <p:nvPr/>
            </p:nvSpPr>
            <p:spPr>
              <a:xfrm>
                <a:off x="2615" y="4730"/>
                <a:ext cx="139243" cy="3500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918" name="Rectangle 79"/>
            <p:cNvSpPr/>
            <p:nvPr/>
          </p:nvSpPr>
          <p:spPr>
            <a:xfrm>
              <a:off x="278479" y="0"/>
              <a:ext cx="17045" cy="722219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19" name="Freeform 80"/>
            <p:cNvSpPr/>
            <p:nvPr/>
          </p:nvSpPr>
          <p:spPr>
            <a:xfrm>
              <a:off x="293769" y="182289"/>
              <a:ext cx="59407" cy="67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20" name="Freeform 81"/>
            <p:cNvSpPr/>
            <p:nvPr/>
          </p:nvSpPr>
          <p:spPr>
            <a:xfrm>
              <a:off x="294521" y="79160"/>
              <a:ext cx="61162" cy="75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21" name="Oval 82"/>
            <p:cNvSpPr/>
            <p:nvPr/>
          </p:nvSpPr>
          <p:spPr>
            <a:xfrm>
              <a:off x="344945" y="687527"/>
              <a:ext cx="12701" cy="31855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22" name="Freeform 83"/>
            <p:cNvSpPr/>
            <p:nvPr/>
          </p:nvSpPr>
          <p:spPr>
            <a:xfrm>
              <a:off x="291263" y="689104"/>
              <a:ext cx="61412" cy="63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23" name="AutoShape 84"/>
            <p:cNvSpPr/>
            <p:nvPr/>
          </p:nvSpPr>
          <p:spPr>
            <a:xfrm>
              <a:off x="0" y="709604"/>
              <a:ext cx="300789" cy="460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24" name="AutoShape 85"/>
            <p:cNvSpPr/>
            <p:nvPr/>
          </p:nvSpPr>
          <p:spPr>
            <a:xfrm>
              <a:off x="17044" y="719065"/>
              <a:ext cx="267953" cy="2712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25" name="Oval 86"/>
            <p:cNvSpPr/>
            <p:nvPr/>
          </p:nvSpPr>
          <p:spPr>
            <a:xfrm>
              <a:off x="42110" y="615936"/>
              <a:ext cx="39355" cy="4604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26" name="Oval 87"/>
            <p:cNvSpPr/>
            <p:nvPr/>
          </p:nvSpPr>
          <p:spPr>
            <a:xfrm>
              <a:off x="86727" y="615936"/>
              <a:ext cx="40607" cy="46047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927" name="Oval 88"/>
            <p:cNvSpPr/>
            <p:nvPr/>
          </p:nvSpPr>
          <p:spPr>
            <a:xfrm>
              <a:off x="131344" y="615936"/>
              <a:ext cx="39355" cy="44469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928" name="Rectangle 89"/>
            <p:cNvSpPr/>
            <p:nvPr/>
          </p:nvSpPr>
          <p:spPr>
            <a:xfrm>
              <a:off x="231105" y="442793"/>
              <a:ext cx="21056" cy="241266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1932" name="Group 90"/>
          <p:cNvGrpSpPr/>
          <p:nvPr/>
        </p:nvGrpSpPr>
        <p:grpSpPr>
          <a:xfrm>
            <a:off x="5943167" y="2278063"/>
            <a:ext cx="893763" cy="828676"/>
            <a:chOff x="0" y="0"/>
            <a:chExt cx="893762" cy="828675"/>
          </a:xfrm>
        </p:grpSpPr>
        <p:pic>
          <p:nvPicPr>
            <p:cNvPr id="1930" name="Picture 91" descr="Picture 9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 flipH="1">
              <a:off x="0" y="0"/>
              <a:ext cx="893763" cy="828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31" name="Freeform 92"/>
            <p:cNvSpPr/>
            <p:nvPr/>
          </p:nvSpPr>
          <p:spPr>
            <a:xfrm flipH="1">
              <a:off x="380828" y="79492"/>
              <a:ext cx="434582" cy="379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936" name="Group 83"/>
          <p:cNvGrpSpPr/>
          <p:nvPr/>
        </p:nvGrpSpPr>
        <p:grpSpPr>
          <a:xfrm>
            <a:off x="6712029" y="3902076"/>
            <a:ext cx="2834519" cy="419101"/>
            <a:chOff x="0" y="0"/>
            <a:chExt cx="2834518" cy="419100"/>
          </a:xfrm>
        </p:grpSpPr>
        <p:sp>
          <p:nvSpPr>
            <p:cNvPr id="1933" name="Line 94"/>
            <p:cNvSpPr/>
            <p:nvPr/>
          </p:nvSpPr>
          <p:spPr>
            <a:xfrm>
              <a:off x="121725" y="-1"/>
              <a:ext cx="2400301" cy="419102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34" name="Rectangle 2"/>
            <p:cNvSpPr/>
            <p:nvPr/>
          </p:nvSpPr>
          <p:spPr>
            <a:xfrm>
              <a:off x="603171" y="119010"/>
              <a:ext cx="1687080" cy="2829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35" name="Text Box 95"/>
            <p:cNvSpPr txBox="1"/>
            <p:nvPr/>
          </p:nvSpPr>
          <p:spPr>
            <a:xfrm>
              <a:off x="0" y="58736"/>
              <a:ext cx="2834519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/>
              <a:r>
                <a:t>GET</a:t>
              </a:r>
              <a:r>
                <a:rPr sz="1400"/>
                <a:t> </a:t>
              </a:r>
              <a:r>
                <a:rPr sz="1200"/>
                <a:t>http://gaia.cs.umass.edu/kurose_ross</a:t>
              </a:r>
            </a:p>
          </p:txBody>
        </p:sp>
      </p:grpSp>
      <p:sp>
        <p:nvSpPr>
          <p:cNvPr id="1937" name="Slide Number Placeholder 2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938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9014" y="2218453"/>
            <a:ext cx="935366" cy="7821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9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634464" y="2702024"/>
            <a:ext cx="1020860" cy="8507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Subtype="2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1" dur="500"/>
                                        <p:tgtEl>
                                          <p:spTgt spid="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" dur="500"/>
                                        <p:tgtEl>
                                          <p:spTgt spid="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Class="entr" nodeType="afterEffect" presetSubtype="2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19" dur="500"/>
                                        <p:tgtEl>
                                          <p:spTgt spid="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Class="entr" nodeType="afterEffect" presetID="10" grpId="5" fill="hold">
                                  <p:stCondLst>
                                    <p:cond delay="10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500"/>
                                        <p:tgtEl>
                                          <p:spTgt spid="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Class="entr" nodeType="after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2" dur="500"/>
                                        <p:tgtEl>
                                          <p:spTgt spid="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Class="entr" nodeType="afterEffect" presetSubtype="2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40" dur="500"/>
                                        <p:tgtEl>
                                          <p:spTgt spid="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Class="entr" nodeType="after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4" dur="500"/>
                                        <p:tgtEl>
                                          <p:spTgt spid="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Class="entr" nodeType="afterEffect" presetSubtype="2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>
                                        <p:cTn id="48" dur="500"/>
                                        <p:tgtEl>
                                          <p:spTgt spid="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32" grpId="6"/>
      <p:bldP build="whole" bldLvl="1" animBg="1" rev="0" advAuto="0" spid="1869" grpId="1"/>
      <p:bldP build="whole" bldLvl="1" animBg="1" rev="0" advAuto="0" spid="1880" grpId="4"/>
      <p:bldP build="whole" bldLvl="1" animBg="1" rev="0" advAuto="0" spid="1875" grpId="3"/>
      <p:bldP build="whole" bldLvl="1" animBg="1" rev="0" advAuto="0" spid="1872" grpId="2"/>
      <p:bldP build="whole" bldLvl="1" animBg="1" rev="0" advAuto="0" spid="1929" grpId="8"/>
      <p:bldP build="whole" bldLvl="1" animBg="1" rev="0" advAuto="0" spid="1888" grpId="9"/>
      <p:bldP build="whole" bldLvl="1" animBg="1" rev="0" advAuto="0" spid="1892" grpId="11"/>
      <p:bldP build="whole" bldLvl="1" animBg="1" rev="0" advAuto="0" spid="1866" grpId="5"/>
      <p:bldP build="whole" bldLvl="1" animBg="1" rev="0" advAuto="0" spid="1936" grpId="10"/>
      <p:bldP build="whole" bldLvl="1" animBg="1" rev="0" advAuto="0" spid="1896" grpId="7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Title 1"/>
          <p:cNvSpPr txBox="1"/>
          <p:nvPr>
            <p:ph type="title"/>
          </p:nvPr>
        </p:nvSpPr>
        <p:spPr>
          <a:xfrm>
            <a:off x="798690" y="289324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Chapter 1: roadmap</a:t>
            </a:r>
          </a:p>
        </p:txBody>
      </p:sp>
      <p:sp>
        <p:nvSpPr>
          <p:cNvPr id="194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45" name="Rectangle 4"/>
          <p:cNvSpPr txBox="1"/>
          <p:nvPr>
            <p:ph type="body" sz="half" idx="1"/>
          </p:nvPr>
        </p:nvSpPr>
        <p:spPr>
          <a:xfrm>
            <a:off x="798689" y="1414011"/>
            <a:ext cx="6618111" cy="5029078"/>
          </a:xfrm>
          <a:prstGeom prst="rect">
            <a:avLst/>
          </a:prstGeom>
        </p:spPr>
        <p:txBody>
          <a:bodyPr/>
          <a:lstStyle/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 </a:t>
            </a:r>
            <a:r>
              <a:rPr i="1"/>
              <a:t>is</a:t>
            </a:r>
            <a:r>
              <a:t> the Internet?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</a:t>
            </a:r>
            <a:r>
              <a:rPr i="1"/>
              <a:t> is </a:t>
            </a:r>
            <a:r>
              <a:t>a protocol?</a:t>
            </a:r>
            <a:endParaRPr sz="2500"/>
          </a:p>
          <a:p>
            <a:pPr marL="403225" indent="-285750">
              <a:spcBef>
                <a:spcPts val="800"/>
              </a:spcBef>
              <a:defRPr sz="2900">
                <a:solidFill>
                  <a:srgbClr val="0000A8"/>
                </a:solidFill>
              </a:defRPr>
            </a:pPr>
            <a:r>
              <a:t>Network edge: </a:t>
            </a:r>
            <a:r>
              <a:rPr>
                <a:solidFill>
                  <a:srgbClr val="000000"/>
                </a:solidFill>
              </a:rPr>
              <a:t>hosts, access network, physical media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Network core: packet/circuit switching, internet structure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Performance: loss, delay, throughput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Security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Protocol layers, service models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History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A closer look at Internet structure</a:t>
            </a:r>
          </a:p>
        </p:txBody>
      </p:sp>
      <p:grpSp>
        <p:nvGrpSpPr>
          <p:cNvPr id="1982" name="Group 800"/>
          <p:cNvGrpSpPr/>
          <p:nvPr/>
        </p:nvGrpSpPr>
        <p:grpSpPr>
          <a:xfrm>
            <a:off x="7205349" y="1488460"/>
            <a:ext cx="4450274" cy="4844855"/>
            <a:chOff x="112847" y="0"/>
            <a:chExt cx="4450272" cy="4844852"/>
          </a:xfrm>
        </p:grpSpPr>
        <p:sp>
          <p:nvSpPr>
            <p:cNvPr id="1948" name="Freeform 370"/>
            <p:cNvSpPr/>
            <p:nvPr/>
          </p:nvSpPr>
          <p:spPr>
            <a:xfrm>
              <a:off x="1892684" y="1577316"/>
              <a:ext cx="1124809" cy="1337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9" h="20510" fill="norm" stroke="1" extrusionOk="0">
                  <a:moveTo>
                    <a:pt x="4338" y="7022"/>
                  </a:moveTo>
                  <a:cubicBezTo>
                    <a:pt x="2763" y="8848"/>
                    <a:pt x="1382" y="9254"/>
                    <a:pt x="902" y="11320"/>
                  </a:cubicBezTo>
                  <a:cubicBezTo>
                    <a:pt x="422" y="13386"/>
                    <a:pt x="-1132" y="17789"/>
                    <a:pt x="1456" y="19418"/>
                  </a:cubicBezTo>
                  <a:cubicBezTo>
                    <a:pt x="4045" y="21047"/>
                    <a:pt x="14587" y="20622"/>
                    <a:pt x="17527" y="19646"/>
                  </a:cubicBezTo>
                  <a:cubicBezTo>
                    <a:pt x="20468" y="18669"/>
                    <a:pt x="19432" y="15068"/>
                    <a:pt x="19100" y="13560"/>
                  </a:cubicBezTo>
                  <a:cubicBezTo>
                    <a:pt x="18768" y="12052"/>
                    <a:pt x="15646" y="13090"/>
                    <a:pt x="15536" y="10596"/>
                  </a:cubicBezTo>
                  <a:cubicBezTo>
                    <a:pt x="15746" y="7905"/>
                    <a:pt x="18905" y="7477"/>
                    <a:pt x="19045" y="5962"/>
                  </a:cubicBezTo>
                  <a:cubicBezTo>
                    <a:pt x="19184" y="4446"/>
                    <a:pt x="18059" y="3477"/>
                    <a:pt x="16373" y="1502"/>
                  </a:cubicBezTo>
                  <a:cubicBezTo>
                    <a:pt x="15001" y="420"/>
                    <a:pt x="12357" y="-553"/>
                    <a:pt x="10351" y="367"/>
                  </a:cubicBezTo>
                  <a:cubicBezTo>
                    <a:pt x="8345" y="1287"/>
                    <a:pt x="5912" y="5197"/>
                    <a:pt x="4338" y="7022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49" name="Freeform 417"/>
            <p:cNvSpPr/>
            <p:nvPr/>
          </p:nvSpPr>
          <p:spPr>
            <a:xfrm>
              <a:off x="189892" y="342805"/>
              <a:ext cx="1715493" cy="1301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952" name="Group 418"/>
            <p:cNvGrpSpPr/>
            <p:nvPr/>
          </p:nvGrpSpPr>
          <p:grpSpPr>
            <a:xfrm>
              <a:off x="112847" y="1800790"/>
              <a:ext cx="1458913" cy="933450"/>
              <a:chOff x="112847" y="0"/>
              <a:chExt cx="1458911" cy="933449"/>
            </a:xfrm>
          </p:grpSpPr>
          <p:sp>
            <p:nvSpPr>
              <p:cNvPr id="1950" name="Rectangle 419"/>
              <p:cNvSpPr/>
              <p:nvPr/>
            </p:nvSpPr>
            <p:spPr>
              <a:xfrm>
                <a:off x="346571" y="263828"/>
                <a:ext cx="986999" cy="669622"/>
              </a:xfrm>
              <a:prstGeom prst="rect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951" name="AutoShape 420"/>
              <p:cNvSpPr/>
              <p:nvPr/>
            </p:nvSpPr>
            <p:spPr>
              <a:xfrm>
                <a:off x="112847" y="0"/>
                <a:ext cx="1458913" cy="317851"/>
              </a:xfrm>
              <a:prstGeom prst="triangl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>
                    <a:solidFill>
                      <a:srgbClr val="00CC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953" name="Freeform 427"/>
            <p:cNvSpPr/>
            <p:nvPr/>
          </p:nvSpPr>
          <p:spPr>
            <a:xfrm>
              <a:off x="635963" y="3206000"/>
              <a:ext cx="3042747" cy="1638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0" h="21257" fill="norm" stroke="1" extrusionOk="0">
                  <a:moveTo>
                    <a:pt x="10487" y="388"/>
                  </a:moveTo>
                  <a:cubicBezTo>
                    <a:pt x="9540" y="780"/>
                    <a:pt x="9151" y="2283"/>
                    <a:pt x="8293" y="2427"/>
                  </a:cubicBezTo>
                  <a:cubicBezTo>
                    <a:pt x="7436" y="2571"/>
                    <a:pt x="6423" y="1336"/>
                    <a:pt x="5320" y="1253"/>
                  </a:cubicBezTo>
                  <a:cubicBezTo>
                    <a:pt x="4218" y="1171"/>
                    <a:pt x="2526" y="841"/>
                    <a:pt x="1646" y="1933"/>
                  </a:cubicBezTo>
                  <a:cubicBezTo>
                    <a:pt x="767" y="3024"/>
                    <a:pt x="199" y="5989"/>
                    <a:pt x="43" y="7863"/>
                  </a:cubicBezTo>
                  <a:cubicBezTo>
                    <a:pt x="-113" y="9737"/>
                    <a:pt x="165" y="12105"/>
                    <a:pt x="678" y="13196"/>
                  </a:cubicBezTo>
                  <a:cubicBezTo>
                    <a:pt x="1190" y="14287"/>
                    <a:pt x="2169" y="13546"/>
                    <a:pt x="3094" y="14390"/>
                  </a:cubicBezTo>
                  <a:cubicBezTo>
                    <a:pt x="4018" y="15235"/>
                    <a:pt x="4897" y="17191"/>
                    <a:pt x="6211" y="18241"/>
                  </a:cubicBezTo>
                  <a:cubicBezTo>
                    <a:pt x="7525" y="19291"/>
                    <a:pt x="9373" y="20259"/>
                    <a:pt x="10976" y="20732"/>
                  </a:cubicBezTo>
                  <a:cubicBezTo>
                    <a:pt x="12580" y="21185"/>
                    <a:pt x="14461" y="21453"/>
                    <a:pt x="15842" y="21082"/>
                  </a:cubicBezTo>
                  <a:cubicBezTo>
                    <a:pt x="17223" y="20691"/>
                    <a:pt x="18336" y="19620"/>
                    <a:pt x="19249" y="18529"/>
                  </a:cubicBezTo>
                  <a:cubicBezTo>
                    <a:pt x="20162" y="17458"/>
                    <a:pt x="21108" y="16820"/>
                    <a:pt x="21298" y="14555"/>
                  </a:cubicBezTo>
                  <a:cubicBezTo>
                    <a:pt x="21487" y="12290"/>
                    <a:pt x="21019" y="7060"/>
                    <a:pt x="20362" y="5021"/>
                  </a:cubicBezTo>
                  <a:cubicBezTo>
                    <a:pt x="19706" y="2962"/>
                    <a:pt x="18392" y="3003"/>
                    <a:pt x="17323" y="2200"/>
                  </a:cubicBezTo>
                  <a:cubicBezTo>
                    <a:pt x="16254" y="1418"/>
                    <a:pt x="15085" y="471"/>
                    <a:pt x="13949" y="162"/>
                  </a:cubicBezTo>
                  <a:cubicBezTo>
                    <a:pt x="12814" y="-147"/>
                    <a:pt x="11433" y="18"/>
                    <a:pt x="10487" y="388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54" name="Text Box 580"/>
            <p:cNvSpPr txBox="1"/>
            <p:nvPr/>
          </p:nvSpPr>
          <p:spPr>
            <a:xfrm>
              <a:off x="632491" y="0"/>
              <a:ext cx="1246124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/>
              </a:lvl1pPr>
            </a:lstStyle>
            <a:p>
              <a:pPr/>
              <a:r>
                <a:t>mobile network</a:t>
              </a:r>
            </a:p>
          </p:txBody>
        </p:sp>
        <p:sp>
          <p:nvSpPr>
            <p:cNvPr id="1955" name="Text Box 580"/>
            <p:cNvSpPr txBox="1"/>
            <p:nvPr/>
          </p:nvSpPr>
          <p:spPr>
            <a:xfrm>
              <a:off x="284052" y="2703461"/>
              <a:ext cx="1864207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80000"/>
                </a:lnSpc>
                <a:defRPr sz="1400"/>
              </a:lvl1pPr>
            </a:lstStyle>
            <a:p>
              <a:pPr/>
              <a:r>
                <a:t>home network</a:t>
              </a:r>
            </a:p>
          </p:txBody>
        </p:sp>
        <p:sp>
          <p:nvSpPr>
            <p:cNvPr id="1956" name="Text Box 580"/>
            <p:cNvSpPr txBox="1"/>
            <p:nvPr/>
          </p:nvSpPr>
          <p:spPr>
            <a:xfrm>
              <a:off x="260125" y="4291314"/>
              <a:ext cx="1108607" cy="4715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80000"/>
                </a:lnSpc>
                <a:defRPr sz="1400"/>
              </a:pPr>
              <a:r>
                <a:t>enterprise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>
                <a:lnSpc>
                  <a:spcPct val="80000"/>
                </a:lnSpc>
                <a:defRPr sz="1400"/>
              </a:pPr>
              <a:r>
                <a:t>          network</a:t>
              </a:r>
            </a:p>
          </p:txBody>
        </p:sp>
        <p:sp>
          <p:nvSpPr>
            <p:cNvPr id="1957" name="Freeform 371"/>
            <p:cNvSpPr/>
            <p:nvPr/>
          </p:nvSpPr>
          <p:spPr>
            <a:xfrm>
              <a:off x="3129642" y="1691078"/>
              <a:ext cx="1273169" cy="1935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7" h="20945" fill="norm" stroke="1" extrusionOk="0">
                  <a:moveTo>
                    <a:pt x="518" y="4719"/>
                  </a:moveTo>
                  <a:cubicBezTo>
                    <a:pt x="-13" y="6632"/>
                    <a:pt x="-204" y="10040"/>
                    <a:pt x="271" y="12041"/>
                  </a:cubicBezTo>
                  <a:cubicBezTo>
                    <a:pt x="746" y="14041"/>
                    <a:pt x="685" y="15290"/>
                    <a:pt x="3366" y="16725"/>
                  </a:cubicBezTo>
                  <a:cubicBezTo>
                    <a:pt x="6048" y="18159"/>
                    <a:pt x="13461" y="20187"/>
                    <a:pt x="16360" y="20649"/>
                  </a:cubicBezTo>
                  <a:cubicBezTo>
                    <a:pt x="19260" y="21111"/>
                    <a:pt x="20132" y="21234"/>
                    <a:pt x="20764" y="19498"/>
                  </a:cubicBezTo>
                  <a:cubicBezTo>
                    <a:pt x="21396" y="17761"/>
                    <a:pt x="20190" y="13347"/>
                    <a:pt x="20153" y="10230"/>
                  </a:cubicBezTo>
                  <a:cubicBezTo>
                    <a:pt x="20116" y="7114"/>
                    <a:pt x="21104" y="1964"/>
                    <a:pt x="20540" y="799"/>
                  </a:cubicBezTo>
                  <a:cubicBezTo>
                    <a:pt x="19976" y="-366"/>
                    <a:pt x="6793" y="-88"/>
                    <a:pt x="3456" y="566"/>
                  </a:cubicBezTo>
                  <a:cubicBezTo>
                    <a:pt x="119" y="1219"/>
                    <a:pt x="1048" y="2807"/>
                    <a:pt x="518" y="471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58999">
                  <a:srgbClr val="DEEBF7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1966" name="Group 373"/>
            <p:cNvGrpSpPr/>
            <p:nvPr/>
          </p:nvGrpSpPr>
          <p:grpSpPr>
            <a:xfrm>
              <a:off x="3745197" y="2439589"/>
              <a:ext cx="687394" cy="721549"/>
              <a:chOff x="0" y="0"/>
              <a:chExt cx="687392" cy="721548"/>
            </a:xfrm>
          </p:grpSpPr>
          <p:sp>
            <p:nvSpPr>
              <p:cNvPr id="1958" name="Freeform 381"/>
              <p:cNvSpPr/>
              <p:nvPr/>
            </p:nvSpPr>
            <p:spPr>
              <a:xfrm>
                <a:off x="267227" y="-1"/>
                <a:ext cx="420166" cy="7212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47" y="21482"/>
                    </a:moveTo>
                    <a:cubicBezTo>
                      <a:pt x="348" y="15108"/>
                      <a:pt x="99" y="9089"/>
                      <a:pt x="0" y="2715"/>
                    </a:cubicBezTo>
                    <a:lnTo>
                      <a:pt x="10279" y="0"/>
                    </a:lnTo>
                    <a:lnTo>
                      <a:pt x="21451" y="2243"/>
                    </a:lnTo>
                    <a:lnTo>
                      <a:pt x="21600" y="21600"/>
                    </a:lnTo>
                    <a:lnTo>
                      <a:pt x="447" y="21482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59" name="Freeform 382"/>
              <p:cNvSpPr/>
              <p:nvPr/>
            </p:nvSpPr>
            <p:spPr>
              <a:xfrm>
                <a:off x="0" y="185234"/>
                <a:ext cx="521585" cy="5359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6194"/>
                    </a:lnTo>
                    <a:lnTo>
                      <a:pt x="14040" y="0"/>
                    </a:lnTo>
                    <a:lnTo>
                      <a:pt x="21480" y="2541"/>
                    </a:lnTo>
                    <a:lnTo>
                      <a:pt x="21600" y="21600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60" name="Straight Connector 383"/>
              <p:cNvSpPr/>
              <p:nvPr/>
            </p:nvSpPr>
            <p:spPr>
              <a:xfrm flipV="1">
                <a:off x="54006" y="303213"/>
                <a:ext cx="236450" cy="80027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61" name="Straight Connector 384"/>
              <p:cNvSpPr/>
              <p:nvPr/>
            </p:nvSpPr>
            <p:spPr>
              <a:xfrm flipV="1">
                <a:off x="57914" y="556094"/>
                <a:ext cx="232542" cy="18248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62" name="Straight Connector 385"/>
              <p:cNvSpPr/>
              <p:nvPr/>
            </p:nvSpPr>
            <p:spPr>
              <a:xfrm flipV="1">
                <a:off x="57914" y="436343"/>
                <a:ext cx="232542" cy="52723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63" name="Straight Connector 386"/>
              <p:cNvSpPr/>
              <p:nvPr/>
            </p:nvSpPr>
            <p:spPr>
              <a:xfrm>
                <a:off x="53660" y="656716"/>
                <a:ext cx="236796" cy="1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64" name="Straight Connector 387"/>
              <p:cNvSpPr/>
              <p:nvPr/>
            </p:nvSpPr>
            <p:spPr>
              <a:xfrm flipV="1">
                <a:off x="598356" y="126039"/>
                <a:ext cx="1" cy="506809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ysDash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65" name="Straight Connector 388"/>
              <p:cNvSpPr/>
              <p:nvPr/>
            </p:nvSpPr>
            <p:spPr>
              <a:xfrm flipH="1">
                <a:off x="340760" y="202125"/>
                <a:ext cx="1" cy="519424"/>
              </a:xfrm>
              <a:prstGeom prst="line">
                <a:avLst/>
              </a:prstGeom>
              <a:noFill/>
              <a:ln w="15875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975" name="Group 390"/>
            <p:cNvGrpSpPr/>
            <p:nvPr/>
          </p:nvGrpSpPr>
          <p:grpSpPr>
            <a:xfrm>
              <a:off x="3678668" y="1705710"/>
              <a:ext cx="594614" cy="648336"/>
              <a:chOff x="0" y="0"/>
              <a:chExt cx="594612" cy="648335"/>
            </a:xfrm>
          </p:grpSpPr>
          <p:sp>
            <p:nvSpPr>
              <p:cNvPr id="1967" name="Freeform 398"/>
              <p:cNvSpPr/>
              <p:nvPr/>
            </p:nvSpPr>
            <p:spPr>
              <a:xfrm>
                <a:off x="231158" y="0"/>
                <a:ext cx="363455" cy="6480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47" y="21482"/>
                    </a:moveTo>
                    <a:cubicBezTo>
                      <a:pt x="348" y="15108"/>
                      <a:pt x="99" y="9089"/>
                      <a:pt x="0" y="2715"/>
                    </a:cubicBezTo>
                    <a:lnTo>
                      <a:pt x="10279" y="0"/>
                    </a:lnTo>
                    <a:lnTo>
                      <a:pt x="21451" y="2243"/>
                    </a:lnTo>
                    <a:lnTo>
                      <a:pt x="21600" y="21600"/>
                    </a:lnTo>
                    <a:lnTo>
                      <a:pt x="447" y="21482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68" name="Freeform 399"/>
              <p:cNvSpPr/>
              <p:nvPr/>
            </p:nvSpPr>
            <p:spPr>
              <a:xfrm>
                <a:off x="-1" y="166439"/>
                <a:ext cx="451186" cy="4816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6194"/>
                    </a:lnTo>
                    <a:lnTo>
                      <a:pt x="14040" y="0"/>
                    </a:lnTo>
                    <a:lnTo>
                      <a:pt x="21480" y="2541"/>
                    </a:lnTo>
                    <a:lnTo>
                      <a:pt x="21600" y="21600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69" name="Straight Connector 400"/>
              <p:cNvSpPr/>
              <p:nvPr/>
            </p:nvSpPr>
            <p:spPr>
              <a:xfrm flipV="1">
                <a:off x="46717" y="272447"/>
                <a:ext cx="204536" cy="71907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70" name="Straight Connector 401"/>
              <p:cNvSpPr/>
              <p:nvPr/>
            </p:nvSpPr>
            <p:spPr>
              <a:xfrm flipV="1">
                <a:off x="50097" y="499671"/>
                <a:ext cx="201155" cy="16396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71" name="Straight Connector 402"/>
              <p:cNvSpPr/>
              <p:nvPr/>
            </p:nvSpPr>
            <p:spPr>
              <a:xfrm flipV="1">
                <a:off x="50097" y="392068"/>
                <a:ext cx="201155" cy="47374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72" name="Straight Connector 403"/>
              <p:cNvSpPr/>
              <p:nvPr/>
            </p:nvSpPr>
            <p:spPr>
              <a:xfrm>
                <a:off x="46418" y="590082"/>
                <a:ext cx="204835" cy="1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73" name="Straight Connector 404"/>
              <p:cNvSpPr/>
              <p:nvPr/>
            </p:nvSpPr>
            <p:spPr>
              <a:xfrm flipV="1">
                <a:off x="517593" y="113251"/>
                <a:ext cx="1" cy="455385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ysDash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974" name="Straight Connector 405"/>
              <p:cNvSpPr/>
              <p:nvPr/>
            </p:nvSpPr>
            <p:spPr>
              <a:xfrm flipH="1">
                <a:off x="294767" y="181616"/>
                <a:ext cx="1" cy="466720"/>
              </a:xfrm>
              <a:prstGeom prst="line">
                <a:avLst/>
              </a:prstGeom>
              <a:noFill/>
              <a:ln w="15875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1976" name="Freeform 561"/>
            <p:cNvSpPr/>
            <p:nvPr/>
          </p:nvSpPr>
          <p:spPr>
            <a:xfrm>
              <a:off x="2448309" y="293581"/>
              <a:ext cx="1497866" cy="1386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83" h="20611" fill="norm" stroke="1" extrusionOk="0">
                  <a:moveTo>
                    <a:pt x="1755" y="1299"/>
                  </a:moveTo>
                  <a:cubicBezTo>
                    <a:pt x="-1661" y="2817"/>
                    <a:pt x="832" y="7519"/>
                    <a:pt x="1567" y="10647"/>
                  </a:cubicBezTo>
                  <a:cubicBezTo>
                    <a:pt x="2301" y="13775"/>
                    <a:pt x="4122" y="18876"/>
                    <a:pt x="6162" y="20070"/>
                  </a:cubicBezTo>
                  <a:cubicBezTo>
                    <a:pt x="8201" y="21264"/>
                    <a:pt x="12080" y="20470"/>
                    <a:pt x="13806" y="17812"/>
                  </a:cubicBezTo>
                  <a:cubicBezTo>
                    <a:pt x="15532" y="15155"/>
                    <a:pt x="18183" y="18900"/>
                    <a:pt x="19061" y="17194"/>
                  </a:cubicBezTo>
                  <a:cubicBezTo>
                    <a:pt x="19939" y="15489"/>
                    <a:pt x="19192" y="10293"/>
                    <a:pt x="19074" y="7579"/>
                  </a:cubicBezTo>
                  <a:cubicBezTo>
                    <a:pt x="18955" y="4865"/>
                    <a:pt x="18817" y="2156"/>
                    <a:pt x="18352" y="910"/>
                  </a:cubicBezTo>
                  <a:cubicBezTo>
                    <a:pt x="17887" y="-336"/>
                    <a:pt x="14336" y="38"/>
                    <a:pt x="11570" y="103"/>
                  </a:cubicBezTo>
                  <a:cubicBezTo>
                    <a:pt x="8804" y="167"/>
                    <a:pt x="5171" y="-218"/>
                    <a:pt x="1755" y="129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57000">
                  <a:srgbClr val="DEEBF7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77" name="TextBox 572"/>
            <p:cNvSpPr txBox="1"/>
            <p:nvPr/>
          </p:nvSpPr>
          <p:spPr>
            <a:xfrm>
              <a:off x="2380418" y="362734"/>
              <a:ext cx="1626901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defRPr sz="1400"/>
              </a:lvl1pPr>
            </a:lstStyle>
            <a:p>
              <a:pPr/>
              <a:r>
                <a:t>national or global ISP</a:t>
              </a:r>
            </a:p>
          </p:txBody>
        </p:sp>
        <p:sp>
          <p:nvSpPr>
            <p:cNvPr id="1978" name="Rectangle 654"/>
            <p:cNvSpPr/>
            <p:nvPr/>
          </p:nvSpPr>
          <p:spPr>
            <a:xfrm>
              <a:off x="2186565" y="2189447"/>
              <a:ext cx="305749" cy="197848"/>
            </a:xfrm>
            <a:prstGeom prst="rect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79" name="TextBox 652"/>
            <p:cNvSpPr txBox="1"/>
            <p:nvPr/>
          </p:nvSpPr>
          <p:spPr>
            <a:xfrm>
              <a:off x="1719379" y="1959458"/>
              <a:ext cx="949199" cy="490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defRPr sz="1400"/>
              </a:lvl1pPr>
            </a:lstStyle>
            <a:p>
              <a:pPr/>
              <a:r>
                <a:t>local or regional ISP</a:t>
              </a:r>
            </a:p>
          </p:txBody>
        </p:sp>
        <p:sp>
          <p:nvSpPr>
            <p:cNvPr id="1980" name="TextBox 656"/>
            <p:cNvSpPr txBox="1"/>
            <p:nvPr/>
          </p:nvSpPr>
          <p:spPr>
            <a:xfrm>
              <a:off x="3870984" y="3189476"/>
              <a:ext cx="692136" cy="3799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90000"/>
                </a:lnSpc>
                <a:defRPr sz="1000"/>
              </a:pPr>
              <a:r>
                <a:t>datacenter </a:t>
              </a:r>
            </a:p>
            <a:p>
              <a:pPr>
                <a:lnSpc>
                  <a:spcPct val="90000"/>
                </a:lnSpc>
                <a:defRPr sz="1000"/>
              </a:pPr>
              <a:r>
                <a:t>network</a:t>
              </a:r>
            </a:p>
          </p:txBody>
        </p:sp>
        <p:sp>
          <p:nvSpPr>
            <p:cNvPr id="1981" name="TextBox 657"/>
            <p:cNvSpPr txBox="1"/>
            <p:nvPr/>
          </p:nvSpPr>
          <p:spPr>
            <a:xfrm>
              <a:off x="3016235" y="2739787"/>
              <a:ext cx="754830" cy="7001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90000"/>
                </a:lnSpc>
                <a:defRPr sz="1400"/>
              </a:pPr>
              <a:r>
                <a:t>content </a:t>
              </a:r>
            </a:p>
            <a:p>
              <a:pPr>
                <a:lnSpc>
                  <a:spcPct val="90000"/>
                </a:lnSpc>
                <a:defRPr sz="1400"/>
              </a:pPr>
              <a:r>
                <a:t>provider </a:t>
              </a:r>
            </a:p>
            <a:p>
              <a:pPr>
                <a:lnSpc>
                  <a:spcPct val="90000"/>
                </a:lnSpc>
                <a:defRPr sz="1400"/>
              </a:pPr>
              <a:r>
                <a:t>network</a:t>
              </a:r>
            </a:p>
          </p:txBody>
        </p:sp>
      </p:grpSp>
      <p:grpSp>
        <p:nvGrpSpPr>
          <p:cNvPr id="2024" name="Group 1024"/>
          <p:cNvGrpSpPr/>
          <p:nvPr/>
        </p:nvGrpSpPr>
        <p:grpSpPr>
          <a:xfrm>
            <a:off x="7562237" y="2127325"/>
            <a:ext cx="3578868" cy="3640284"/>
            <a:chOff x="0" y="0"/>
            <a:chExt cx="3578866" cy="3640283"/>
          </a:xfrm>
        </p:grpSpPr>
        <p:sp>
          <p:nvSpPr>
            <p:cNvPr id="1983" name="Straight Connector 829"/>
            <p:cNvSpPr/>
            <p:nvPr/>
          </p:nvSpPr>
          <p:spPr>
            <a:xfrm flipH="1" flipV="1">
              <a:off x="2997681" y="1452800"/>
              <a:ext cx="412965" cy="63712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4" name="Straight Connector 826"/>
            <p:cNvSpPr/>
            <p:nvPr/>
          </p:nvSpPr>
          <p:spPr>
            <a:xfrm flipH="1" flipV="1">
              <a:off x="3098597" y="1513359"/>
              <a:ext cx="345866" cy="738975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5" name="Straight Connector 824"/>
            <p:cNvSpPr/>
            <p:nvPr/>
          </p:nvSpPr>
          <p:spPr>
            <a:xfrm flipV="1">
              <a:off x="3074658" y="1506096"/>
              <a:ext cx="335987" cy="39534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6" name="Straight Connector 822"/>
            <p:cNvSpPr/>
            <p:nvPr/>
          </p:nvSpPr>
          <p:spPr>
            <a:xfrm flipV="1">
              <a:off x="3009806" y="1467571"/>
              <a:ext cx="1" cy="4857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7" name="Straight Connector 818"/>
            <p:cNvSpPr/>
            <p:nvPr/>
          </p:nvSpPr>
          <p:spPr>
            <a:xfrm flipH="1" flipV="1">
              <a:off x="2988382" y="1944316"/>
              <a:ext cx="508543" cy="3486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8" name="Straight Connector 817"/>
            <p:cNvSpPr/>
            <p:nvPr/>
          </p:nvSpPr>
          <p:spPr>
            <a:xfrm flipH="1">
              <a:off x="2332957" y="1960416"/>
              <a:ext cx="65542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9" name="Straight Connector 815"/>
            <p:cNvSpPr/>
            <p:nvPr/>
          </p:nvSpPr>
          <p:spPr>
            <a:xfrm flipH="1">
              <a:off x="1657378" y="1960416"/>
              <a:ext cx="65542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0" name="Straight Connector 812"/>
            <p:cNvSpPr/>
            <p:nvPr/>
          </p:nvSpPr>
          <p:spPr>
            <a:xfrm flipH="1">
              <a:off x="1714630" y="1380346"/>
              <a:ext cx="382424" cy="51705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1" name="Straight Connector 810"/>
            <p:cNvSpPr/>
            <p:nvPr/>
          </p:nvSpPr>
          <p:spPr>
            <a:xfrm>
              <a:off x="2170830" y="1380346"/>
              <a:ext cx="1" cy="540294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2" name="Straight Connector 807"/>
            <p:cNvSpPr/>
            <p:nvPr/>
          </p:nvSpPr>
          <p:spPr>
            <a:xfrm>
              <a:off x="2575429" y="627367"/>
              <a:ext cx="488174" cy="83933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3" name="Straight Connector 562"/>
            <p:cNvSpPr/>
            <p:nvPr/>
          </p:nvSpPr>
          <p:spPr>
            <a:xfrm flipH="1">
              <a:off x="2236481" y="567688"/>
              <a:ext cx="380432" cy="69480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023" name="Group 802"/>
            <p:cNvGrpSpPr/>
            <p:nvPr/>
          </p:nvGrpSpPr>
          <p:grpSpPr>
            <a:xfrm>
              <a:off x="0" y="0"/>
              <a:ext cx="3578867" cy="3640284"/>
              <a:chOff x="0" y="0"/>
              <a:chExt cx="3578866" cy="3640283"/>
            </a:xfrm>
          </p:grpSpPr>
          <p:grpSp>
            <p:nvGrpSpPr>
              <p:cNvPr id="2018" name="Group 799"/>
              <p:cNvGrpSpPr/>
              <p:nvPr/>
            </p:nvGrpSpPr>
            <p:grpSpPr>
              <a:xfrm>
                <a:off x="295014" y="0"/>
                <a:ext cx="3283853" cy="3640284"/>
                <a:chOff x="0" y="0"/>
                <a:chExt cx="3283851" cy="3640283"/>
              </a:xfrm>
            </p:grpSpPr>
            <p:sp>
              <p:nvSpPr>
                <p:cNvPr id="1994" name="Line 428"/>
                <p:cNvSpPr/>
                <p:nvPr/>
              </p:nvSpPr>
              <p:spPr>
                <a:xfrm flipH="1" flipV="1">
                  <a:off x="2122607" y="2934163"/>
                  <a:ext cx="7560" cy="38806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95" name="Line 430"/>
                <p:cNvSpPr/>
                <p:nvPr/>
              </p:nvSpPr>
              <p:spPr>
                <a:xfrm>
                  <a:off x="2296157" y="3335745"/>
                  <a:ext cx="11430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96" name="Line 431"/>
                <p:cNvSpPr/>
                <p:nvPr/>
              </p:nvSpPr>
              <p:spPr>
                <a:xfrm>
                  <a:off x="1575705" y="2711191"/>
                  <a:ext cx="524483" cy="26153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97" name="Line 432"/>
                <p:cNvSpPr/>
                <p:nvPr/>
              </p:nvSpPr>
              <p:spPr>
                <a:xfrm flipV="1">
                  <a:off x="992812" y="2711192"/>
                  <a:ext cx="569256" cy="246266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98" name="Line 433"/>
                <p:cNvSpPr/>
                <p:nvPr/>
              </p:nvSpPr>
              <p:spPr>
                <a:xfrm>
                  <a:off x="964490" y="2982820"/>
                  <a:ext cx="1030502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99" name="Line 435"/>
                <p:cNvSpPr/>
                <p:nvPr/>
              </p:nvSpPr>
              <p:spPr>
                <a:xfrm>
                  <a:off x="352954" y="2990008"/>
                  <a:ext cx="226800" cy="1270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0" name="Line 436"/>
                <p:cNvSpPr/>
                <p:nvPr/>
              </p:nvSpPr>
              <p:spPr>
                <a:xfrm flipV="1">
                  <a:off x="91114" y="3163145"/>
                  <a:ext cx="412750" cy="12700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1" name="Line 439"/>
                <p:cNvSpPr/>
                <p:nvPr/>
              </p:nvSpPr>
              <p:spPr>
                <a:xfrm flipH="1">
                  <a:off x="516565" y="3154926"/>
                  <a:ext cx="68080" cy="29396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2" name="Line 440"/>
                <p:cNvSpPr/>
                <p:nvPr/>
              </p:nvSpPr>
              <p:spPr>
                <a:xfrm flipH="1" flipV="1">
                  <a:off x="631478" y="3180606"/>
                  <a:ext cx="280374" cy="269876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3" name="Line 441"/>
                <p:cNvSpPr/>
                <p:nvPr/>
              </p:nvSpPr>
              <p:spPr>
                <a:xfrm>
                  <a:off x="631477" y="3130722"/>
                  <a:ext cx="914185" cy="46862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4" name="Line 443"/>
                <p:cNvSpPr/>
                <p:nvPr/>
              </p:nvSpPr>
              <p:spPr>
                <a:xfrm flipH="1">
                  <a:off x="390525" y="1702644"/>
                  <a:ext cx="1" cy="13176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5" name="Line 449"/>
                <p:cNvSpPr/>
                <p:nvPr/>
              </p:nvSpPr>
              <p:spPr>
                <a:xfrm flipV="1">
                  <a:off x="0" y="1913782"/>
                  <a:ext cx="168275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6" name="Line 428"/>
                <p:cNvSpPr/>
                <p:nvPr/>
              </p:nvSpPr>
              <p:spPr>
                <a:xfrm flipH="1" flipV="1">
                  <a:off x="2210948" y="3273491"/>
                  <a:ext cx="1482" cy="36679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7" name="Line 440"/>
                <p:cNvSpPr/>
                <p:nvPr/>
              </p:nvSpPr>
              <p:spPr>
                <a:xfrm flipV="1">
                  <a:off x="602172" y="2909237"/>
                  <a:ext cx="404236" cy="20777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8" name="Straight Connector 563"/>
                <p:cNvSpPr/>
                <p:nvPr/>
              </p:nvSpPr>
              <p:spPr>
                <a:xfrm flipH="1">
                  <a:off x="2243382" y="42107"/>
                  <a:ext cx="761467" cy="5773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9" name="Straight Connector 564"/>
                <p:cNvSpPr/>
                <p:nvPr/>
              </p:nvSpPr>
              <p:spPr>
                <a:xfrm flipH="1">
                  <a:off x="2243382" y="140988"/>
                  <a:ext cx="3970" cy="51846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0" name="Straight Connector 565"/>
                <p:cNvSpPr/>
                <p:nvPr/>
              </p:nvSpPr>
              <p:spPr>
                <a:xfrm flipH="1">
                  <a:off x="2814882" y="73181"/>
                  <a:ext cx="149360" cy="51846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1" name="Straight Connector 566"/>
                <p:cNvSpPr/>
                <p:nvPr/>
              </p:nvSpPr>
              <p:spPr>
                <a:xfrm flipH="1">
                  <a:off x="2284912" y="591642"/>
                  <a:ext cx="574284" cy="2782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2" name="Straight Connector 567"/>
                <p:cNvSpPr/>
                <p:nvPr/>
              </p:nvSpPr>
              <p:spPr>
                <a:xfrm flipH="1">
                  <a:off x="2212289" y="42107"/>
                  <a:ext cx="788589" cy="9888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3" name="Straight Connector 568"/>
                <p:cNvSpPr/>
                <p:nvPr/>
              </p:nvSpPr>
              <p:spPr>
                <a:xfrm flipH="1">
                  <a:off x="3004849" y="0"/>
                  <a:ext cx="279003" cy="4210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4" name="Straight Connector 569"/>
                <p:cNvSpPr/>
                <p:nvPr/>
              </p:nvSpPr>
              <p:spPr>
                <a:xfrm flipH="1" flipV="1">
                  <a:off x="2824741" y="591643"/>
                  <a:ext cx="353541" cy="67807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5" name="Straight Connector 573"/>
                <p:cNvSpPr/>
                <p:nvPr/>
              </p:nvSpPr>
              <p:spPr>
                <a:xfrm flipH="1">
                  <a:off x="911970" y="140988"/>
                  <a:ext cx="1300319" cy="60662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6" name="Line 541"/>
                <p:cNvSpPr/>
                <p:nvPr/>
              </p:nvSpPr>
              <p:spPr>
                <a:xfrm flipV="1">
                  <a:off x="1521451" y="1986054"/>
                  <a:ext cx="429325" cy="70560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7" name="Line 424"/>
                <p:cNvSpPr/>
                <p:nvPr/>
              </p:nvSpPr>
              <p:spPr>
                <a:xfrm flipV="1">
                  <a:off x="387301" y="1920131"/>
                  <a:ext cx="969051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pic>
            <p:nvPicPr>
              <p:cNvPr id="2019" name="Picture 778" descr="Picture 778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1686604"/>
                <a:ext cx="506413" cy="10601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020" name="Picture 781" descr="Picture 781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1679834" y="3353612"/>
                <a:ext cx="452015" cy="9516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021" name="Picture 799" descr="Picture 799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418628" y="30842"/>
                <a:ext cx="457200" cy="3327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022" name="Oval 800"/>
              <p:cNvSpPr/>
              <p:nvPr/>
            </p:nvSpPr>
            <p:spPr>
              <a:xfrm>
                <a:off x="612303" y="165670"/>
                <a:ext cx="52389" cy="49485"/>
              </a:xfrm>
              <a:prstGeom prst="ellipse">
                <a:avLst/>
              </a:prstGeom>
              <a:solidFill>
                <a:srgbClr val="44546A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  <p:grpSp>
        <p:nvGrpSpPr>
          <p:cNvPr id="2252" name="Group 1023"/>
          <p:cNvGrpSpPr/>
          <p:nvPr/>
        </p:nvGrpSpPr>
        <p:grpSpPr>
          <a:xfrm>
            <a:off x="7613881" y="2005618"/>
            <a:ext cx="3540396" cy="3836078"/>
            <a:chOff x="0" y="0"/>
            <a:chExt cx="3540395" cy="3836077"/>
          </a:xfrm>
        </p:grpSpPr>
        <p:sp>
          <p:nvSpPr>
            <p:cNvPr id="2025" name="Line 426"/>
            <p:cNvSpPr/>
            <p:nvPr/>
          </p:nvSpPr>
          <p:spPr>
            <a:xfrm>
              <a:off x="593978" y="694740"/>
              <a:ext cx="227964" cy="1743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041" name="Group 783"/>
            <p:cNvGrpSpPr/>
            <p:nvPr/>
          </p:nvGrpSpPr>
          <p:grpSpPr>
            <a:xfrm>
              <a:off x="436816" y="303757"/>
              <a:ext cx="298451" cy="464008"/>
              <a:chOff x="0" y="0"/>
              <a:chExt cx="298450" cy="464007"/>
            </a:xfrm>
          </p:grpSpPr>
          <p:sp>
            <p:nvSpPr>
              <p:cNvPr id="2026" name="Line 270"/>
              <p:cNvSpPr/>
              <p:nvPr/>
            </p:nvSpPr>
            <p:spPr>
              <a:xfrm flipH="1">
                <a:off x="-1" y="0"/>
                <a:ext cx="149226" cy="42023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27" name="Line 271"/>
              <p:cNvSpPr/>
              <p:nvPr/>
            </p:nvSpPr>
            <p:spPr>
              <a:xfrm>
                <a:off x="149225" y="0"/>
                <a:ext cx="149226" cy="41835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28" name="Line 272"/>
              <p:cNvSpPr/>
              <p:nvPr/>
            </p:nvSpPr>
            <p:spPr>
              <a:xfrm>
                <a:off x="-1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29" name="Line 273"/>
              <p:cNvSpPr/>
              <p:nvPr/>
            </p:nvSpPr>
            <p:spPr>
              <a:xfrm flipH="1">
                <a:off x="149224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0" name="Line 274"/>
              <p:cNvSpPr/>
              <p:nvPr/>
            </p:nvSpPr>
            <p:spPr>
              <a:xfrm flipH="1">
                <a:off x="149224" y="9380"/>
                <a:ext cx="1" cy="45462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1" name="Line 275"/>
              <p:cNvSpPr/>
              <p:nvPr/>
            </p:nvSpPr>
            <p:spPr>
              <a:xfrm flipV="1">
                <a:off x="-1" y="375208"/>
                <a:ext cx="149227" cy="45026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2" name="Line 276"/>
              <p:cNvSpPr/>
              <p:nvPr/>
            </p:nvSpPr>
            <p:spPr>
              <a:xfrm flipH="1" flipV="1">
                <a:off x="149224" y="375209"/>
                <a:ext cx="149227" cy="4314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3" name="Line 277"/>
              <p:cNvSpPr/>
              <p:nvPr/>
            </p:nvSpPr>
            <p:spPr>
              <a:xfrm>
                <a:off x="63329" y="237632"/>
                <a:ext cx="85896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4" name="Line 278"/>
              <p:cNvSpPr/>
              <p:nvPr/>
            </p:nvSpPr>
            <p:spPr>
              <a:xfrm flipV="1">
                <a:off x="149224" y="237632"/>
                <a:ext cx="90264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5" name="Line 279"/>
              <p:cNvSpPr/>
              <p:nvPr/>
            </p:nvSpPr>
            <p:spPr>
              <a:xfrm>
                <a:off x="34940" y="298916"/>
                <a:ext cx="110645" cy="469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6" name="Line 280"/>
              <p:cNvSpPr/>
              <p:nvPr/>
            </p:nvSpPr>
            <p:spPr>
              <a:xfrm flipV="1">
                <a:off x="149224" y="308297"/>
                <a:ext cx="111374" cy="4127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7" name="Line 281"/>
              <p:cNvSpPr/>
              <p:nvPr/>
            </p:nvSpPr>
            <p:spPr>
              <a:xfrm flipV="1">
                <a:off x="149224" y="174472"/>
                <a:ext cx="56780" cy="1688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8" name="Line 282"/>
              <p:cNvSpPr/>
              <p:nvPr/>
            </p:nvSpPr>
            <p:spPr>
              <a:xfrm flipV="1">
                <a:off x="149225" y="87548"/>
                <a:ext cx="35669" cy="1313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39" name="Line 283"/>
              <p:cNvSpPr/>
              <p:nvPr/>
            </p:nvSpPr>
            <p:spPr>
              <a:xfrm>
                <a:off x="85167" y="168843"/>
                <a:ext cx="69154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040" name="Line 284"/>
              <p:cNvSpPr/>
              <p:nvPr/>
            </p:nvSpPr>
            <p:spPr>
              <a:xfrm>
                <a:off x="115740" y="83796"/>
                <a:ext cx="40036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pic>
          <p:nvPicPr>
            <p:cNvPr id="2042" name="Picture 777" descr="Picture 777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856280"/>
              <a:ext cx="370169" cy="3067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43" name="Picture 780" descr="Picture 780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676728" y="3518613"/>
              <a:ext cx="380936" cy="3174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055" name="Group 470"/>
            <p:cNvGrpSpPr/>
            <p:nvPr/>
          </p:nvGrpSpPr>
          <p:grpSpPr>
            <a:xfrm>
              <a:off x="2169676" y="2888569"/>
              <a:ext cx="393761" cy="409458"/>
              <a:chOff x="0" y="0"/>
              <a:chExt cx="393760" cy="409456"/>
            </a:xfrm>
          </p:grpSpPr>
          <p:grpSp>
            <p:nvGrpSpPr>
              <p:cNvPr id="2046" name="Freeform 471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2044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45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049" name="Oval 472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2047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48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054" name="Group 473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2050" name="Freeform 474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51" name="Freeform 475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52" name="Freeform 476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53" name="Freeform 477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063" name="Group 519"/>
            <p:cNvGrpSpPr/>
            <p:nvPr/>
          </p:nvGrpSpPr>
          <p:grpSpPr>
            <a:xfrm>
              <a:off x="2235483" y="3333418"/>
              <a:ext cx="309741" cy="190839"/>
              <a:chOff x="0" y="0"/>
              <a:chExt cx="309739" cy="190837"/>
            </a:xfrm>
          </p:grpSpPr>
          <p:sp>
            <p:nvSpPr>
              <p:cNvPr id="2056" name="Rectangle 520"/>
              <p:cNvSpPr/>
              <p:nvPr/>
            </p:nvSpPr>
            <p:spPr>
              <a:xfrm>
                <a:off x="0" y="113922"/>
                <a:ext cx="308626" cy="76916"/>
              </a:xfrm>
              <a:prstGeom prst="rect">
                <a:avLst/>
              </a:pr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57" name="Freeform 521"/>
              <p:cNvSpPr/>
              <p:nvPr/>
            </p:nvSpPr>
            <p:spPr>
              <a:xfrm>
                <a:off x="857" y="-1"/>
                <a:ext cx="308883" cy="116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29"/>
                    </a:moveTo>
                    <a:lnTo>
                      <a:pt x="1440" y="0"/>
                    </a:lnTo>
                    <a:lnTo>
                      <a:pt x="19500" y="343"/>
                    </a:lnTo>
                    <a:lnTo>
                      <a:pt x="21600" y="21600"/>
                    </a:lnTo>
                    <a:lnTo>
                      <a:pt x="0" y="21429"/>
                    </a:lnTo>
                    <a:close/>
                  </a:path>
                </a:pathLst>
              </a:cu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2062" name="Group 522"/>
              <p:cNvGrpSpPr/>
              <p:nvPr/>
            </p:nvGrpSpPr>
            <p:grpSpPr>
              <a:xfrm>
                <a:off x="22308" y="13603"/>
                <a:ext cx="261399" cy="93969"/>
                <a:chOff x="0" y="0"/>
                <a:chExt cx="261398" cy="93968"/>
              </a:xfrm>
            </p:grpSpPr>
            <p:sp>
              <p:nvSpPr>
                <p:cNvPr id="2058" name="Freeform 523"/>
                <p:cNvSpPr/>
                <p:nvPr/>
              </p:nvSpPr>
              <p:spPr>
                <a:xfrm>
                  <a:off x="7230" y="-1"/>
                  <a:ext cx="247278" cy="52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59" name="Freeform 524"/>
                <p:cNvSpPr/>
                <p:nvPr/>
              </p:nvSpPr>
              <p:spPr>
                <a:xfrm>
                  <a:off x="169074" y="44994"/>
                  <a:ext cx="92325" cy="45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60" name="Freeform 525"/>
                <p:cNvSpPr/>
                <p:nvPr/>
              </p:nvSpPr>
              <p:spPr>
                <a:xfrm>
                  <a:off x="-1" y="44994"/>
                  <a:ext cx="90657" cy="447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61" name="Freeform 526"/>
                <p:cNvSpPr/>
                <p:nvPr/>
              </p:nvSpPr>
              <p:spPr>
                <a:xfrm>
                  <a:off x="31470" y="22877"/>
                  <a:ext cx="197115" cy="71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075" name="Group 478"/>
            <p:cNvGrpSpPr/>
            <p:nvPr/>
          </p:nvGrpSpPr>
          <p:grpSpPr>
            <a:xfrm>
              <a:off x="1062737" y="2866006"/>
              <a:ext cx="393761" cy="409458"/>
              <a:chOff x="0" y="0"/>
              <a:chExt cx="393760" cy="409456"/>
            </a:xfrm>
          </p:grpSpPr>
          <p:grpSp>
            <p:nvGrpSpPr>
              <p:cNvPr id="2066" name="Freeform 479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2064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65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069" name="Oval 480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2067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68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074" name="Group 481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2070" name="Freeform 482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71" name="Freeform 483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72" name="Freeform 484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73" name="Freeform 485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083" name="Group 528"/>
            <p:cNvGrpSpPr/>
            <p:nvPr/>
          </p:nvGrpSpPr>
          <p:grpSpPr>
            <a:xfrm>
              <a:off x="697638" y="3188814"/>
              <a:ext cx="309740" cy="190839"/>
              <a:chOff x="0" y="0"/>
              <a:chExt cx="309739" cy="190837"/>
            </a:xfrm>
          </p:grpSpPr>
          <p:sp>
            <p:nvSpPr>
              <p:cNvPr id="2076" name="Rectangle 529"/>
              <p:cNvSpPr/>
              <p:nvPr/>
            </p:nvSpPr>
            <p:spPr>
              <a:xfrm>
                <a:off x="0" y="113922"/>
                <a:ext cx="308626" cy="76916"/>
              </a:xfrm>
              <a:prstGeom prst="rect">
                <a:avLst/>
              </a:pr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32538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77" name="Freeform 530"/>
              <p:cNvSpPr/>
              <p:nvPr/>
            </p:nvSpPr>
            <p:spPr>
              <a:xfrm>
                <a:off x="857" y="-1"/>
                <a:ext cx="308883" cy="116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429"/>
                    </a:moveTo>
                    <a:lnTo>
                      <a:pt x="1440" y="0"/>
                    </a:lnTo>
                    <a:lnTo>
                      <a:pt x="19500" y="343"/>
                    </a:lnTo>
                    <a:lnTo>
                      <a:pt x="21600" y="21600"/>
                    </a:lnTo>
                    <a:lnTo>
                      <a:pt x="0" y="21429"/>
                    </a:lnTo>
                    <a:close/>
                  </a:path>
                </a:pathLst>
              </a:cu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2082" name="Group 531"/>
              <p:cNvGrpSpPr/>
              <p:nvPr/>
            </p:nvGrpSpPr>
            <p:grpSpPr>
              <a:xfrm>
                <a:off x="22308" y="13603"/>
                <a:ext cx="261399" cy="93969"/>
                <a:chOff x="0" y="0"/>
                <a:chExt cx="261398" cy="93968"/>
              </a:xfrm>
            </p:grpSpPr>
            <p:sp>
              <p:nvSpPr>
                <p:cNvPr id="2078" name="Freeform 532"/>
                <p:cNvSpPr/>
                <p:nvPr/>
              </p:nvSpPr>
              <p:spPr>
                <a:xfrm>
                  <a:off x="7230" y="-1"/>
                  <a:ext cx="247278" cy="526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79" name="Freeform 533"/>
                <p:cNvSpPr/>
                <p:nvPr/>
              </p:nvSpPr>
              <p:spPr>
                <a:xfrm>
                  <a:off x="169074" y="44994"/>
                  <a:ext cx="92325" cy="452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80" name="Freeform 534"/>
                <p:cNvSpPr/>
                <p:nvPr/>
              </p:nvSpPr>
              <p:spPr>
                <a:xfrm>
                  <a:off x="-1" y="44994"/>
                  <a:ext cx="90657" cy="447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81" name="Freeform 535"/>
                <p:cNvSpPr/>
                <p:nvPr/>
              </p:nvSpPr>
              <p:spPr>
                <a:xfrm>
                  <a:off x="31470" y="22877"/>
                  <a:ext cx="197115" cy="710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095" name="Group 406"/>
            <p:cNvGrpSpPr/>
            <p:nvPr/>
          </p:nvGrpSpPr>
          <p:grpSpPr>
            <a:xfrm>
              <a:off x="825945" y="694613"/>
              <a:ext cx="353678" cy="391882"/>
              <a:chOff x="0" y="0"/>
              <a:chExt cx="353677" cy="391881"/>
            </a:xfrm>
          </p:grpSpPr>
          <p:grpSp>
            <p:nvGrpSpPr>
              <p:cNvPr id="2086" name="Freeform 407"/>
              <p:cNvGrpSpPr/>
              <p:nvPr/>
            </p:nvGrpSpPr>
            <p:grpSpPr>
              <a:xfrm>
                <a:off x="-1" y="58793"/>
                <a:ext cx="353679" cy="333089"/>
                <a:chOff x="0" y="0"/>
                <a:chExt cx="353677" cy="333087"/>
              </a:xfrm>
            </p:grpSpPr>
            <p:sp>
              <p:nvSpPr>
                <p:cNvPr id="2084" name="Shape"/>
                <p:cNvSpPr/>
                <p:nvPr/>
              </p:nvSpPr>
              <p:spPr>
                <a:xfrm>
                  <a:off x="0" y="111530"/>
                  <a:ext cx="353678" cy="110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85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089" name="Oval 408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2087" name="Oval"/>
                <p:cNvSpPr/>
                <p:nvPr/>
              </p:nvSpPr>
              <p:spPr>
                <a:xfrm>
                  <a:off x="0" y="112076"/>
                  <a:ext cx="353250" cy="108935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88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094" name="Group 409"/>
              <p:cNvGrpSpPr/>
              <p:nvPr/>
            </p:nvGrpSpPr>
            <p:grpSpPr>
              <a:xfrm>
                <a:off x="52453" y="125922"/>
                <a:ext cx="248706" cy="80044"/>
                <a:chOff x="0" y="0"/>
                <a:chExt cx="248704" cy="80043"/>
              </a:xfrm>
            </p:grpSpPr>
            <p:sp>
              <p:nvSpPr>
                <p:cNvPr id="2090" name="Freeform 410"/>
                <p:cNvSpPr/>
                <p:nvPr/>
              </p:nvSpPr>
              <p:spPr>
                <a:xfrm>
                  <a:off x="6879" y="0"/>
                  <a:ext cx="235271" cy="448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91" name="Freeform 411"/>
                <p:cNvSpPr/>
                <p:nvPr/>
              </p:nvSpPr>
              <p:spPr>
                <a:xfrm>
                  <a:off x="160864" y="38326"/>
                  <a:ext cx="87841" cy="385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92" name="Freeform 412"/>
                <p:cNvSpPr/>
                <p:nvPr/>
              </p:nvSpPr>
              <p:spPr>
                <a:xfrm>
                  <a:off x="0" y="38326"/>
                  <a:ext cx="86253" cy="381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93" name="Freeform 413"/>
                <p:cNvSpPr/>
                <p:nvPr/>
              </p:nvSpPr>
              <p:spPr>
                <a:xfrm>
                  <a:off x="29942" y="19487"/>
                  <a:ext cx="187543" cy="605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107" name="Group 414"/>
            <p:cNvGrpSpPr/>
            <p:nvPr/>
          </p:nvGrpSpPr>
          <p:grpSpPr>
            <a:xfrm>
              <a:off x="436188" y="1850691"/>
              <a:ext cx="354987" cy="394465"/>
              <a:chOff x="0" y="0"/>
              <a:chExt cx="354986" cy="394464"/>
            </a:xfrm>
          </p:grpSpPr>
          <p:grpSp>
            <p:nvGrpSpPr>
              <p:cNvPr id="2098" name="Freeform 415"/>
              <p:cNvGrpSpPr/>
              <p:nvPr/>
            </p:nvGrpSpPr>
            <p:grpSpPr>
              <a:xfrm>
                <a:off x="0" y="61377"/>
                <a:ext cx="354987" cy="333088"/>
                <a:chOff x="0" y="0"/>
                <a:chExt cx="354986" cy="333087"/>
              </a:xfrm>
            </p:grpSpPr>
            <p:sp>
              <p:nvSpPr>
                <p:cNvPr id="2096" name="Shape"/>
                <p:cNvSpPr/>
                <p:nvPr/>
              </p:nvSpPr>
              <p:spPr>
                <a:xfrm>
                  <a:off x="0" y="109113"/>
                  <a:ext cx="354987" cy="1148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097" name="Text"/>
                <p:cNvSpPr txBox="1"/>
                <p:nvPr/>
              </p:nvSpPr>
              <p:spPr>
                <a:xfrm>
                  <a:off x="48894" y="0"/>
                  <a:ext cx="257197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01" name="Oval 416"/>
              <p:cNvGrpSpPr/>
              <p:nvPr/>
            </p:nvGrpSpPr>
            <p:grpSpPr>
              <a:xfrm>
                <a:off x="204" y="-1"/>
                <a:ext cx="354557" cy="333089"/>
                <a:chOff x="0" y="0"/>
                <a:chExt cx="354555" cy="333087"/>
              </a:xfrm>
            </p:grpSpPr>
            <p:sp>
              <p:nvSpPr>
                <p:cNvPr id="2099" name="Oval"/>
                <p:cNvSpPr/>
                <p:nvPr/>
              </p:nvSpPr>
              <p:spPr>
                <a:xfrm>
                  <a:off x="0" y="109684"/>
                  <a:ext cx="354556" cy="11372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00" name="Text"/>
                <p:cNvSpPr txBox="1"/>
                <p:nvPr/>
              </p:nvSpPr>
              <p:spPr>
                <a:xfrm>
                  <a:off x="100818" y="0"/>
                  <a:ext cx="152920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106" name="Group 417"/>
              <p:cNvGrpSpPr/>
              <p:nvPr/>
            </p:nvGrpSpPr>
            <p:grpSpPr>
              <a:xfrm>
                <a:off x="52647" y="124137"/>
                <a:ext cx="249626" cy="83561"/>
                <a:chOff x="0" y="0"/>
                <a:chExt cx="249624" cy="83559"/>
              </a:xfrm>
            </p:grpSpPr>
            <p:sp>
              <p:nvSpPr>
                <p:cNvPr id="2102" name="Freeform 418"/>
                <p:cNvSpPr/>
                <p:nvPr/>
              </p:nvSpPr>
              <p:spPr>
                <a:xfrm>
                  <a:off x="6904" y="-1"/>
                  <a:ext cx="236141" cy="467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03" name="Freeform 419"/>
                <p:cNvSpPr/>
                <p:nvPr/>
              </p:nvSpPr>
              <p:spPr>
                <a:xfrm>
                  <a:off x="161459" y="40010"/>
                  <a:ext cx="88166" cy="40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04" name="Freeform 420"/>
                <p:cNvSpPr/>
                <p:nvPr/>
              </p:nvSpPr>
              <p:spPr>
                <a:xfrm>
                  <a:off x="-1" y="40010"/>
                  <a:ext cx="86573" cy="398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05" name="Freeform 421"/>
                <p:cNvSpPr/>
                <p:nvPr/>
              </p:nvSpPr>
              <p:spPr>
                <a:xfrm>
                  <a:off x="30053" y="20343"/>
                  <a:ext cx="188236" cy="632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119" name="Group 454"/>
            <p:cNvGrpSpPr/>
            <p:nvPr/>
          </p:nvGrpSpPr>
          <p:grpSpPr>
            <a:xfrm>
              <a:off x="3270203" y="1563659"/>
              <a:ext cx="170990" cy="160911"/>
              <a:chOff x="0" y="0"/>
              <a:chExt cx="170988" cy="160909"/>
            </a:xfrm>
          </p:grpSpPr>
          <p:grpSp>
            <p:nvGrpSpPr>
              <p:cNvPr id="2110" name="Freeform 455"/>
              <p:cNvGrpSpPr/>
              <p:nvPr/>
            </p:nvGrpSpPr>
            <p:grpSpPr>
              <a:xfrm>
                <a:off x="0" y="33909"/>
                <a:ext cx="170989" cy="127001"/>
                <a:chOff x="0" y="0"/>
                <a:chExt cx="170988" cy="127000"/>
              </a:xfrm>
            </p:grpSpPr>
            <p:sp>
              <p:nvSpPr>
                <p:cNvPr id="2108" name="Shape"/>
                <p:cNvSpPr/>
                <p:nvPr/>
              </p:nvSpPr>
              <p:spPr>
                <a:xfrm>
                  <a:off x="0" y="31770"/>
                  <a:ext cx="170989" cy="634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09" name="Text"/>
                <p:cNvSpPr txBox="1"/>
                <p:nvPr/>
              </p:nvSpPr>
              <p:spPr>
                <a:xfrm>
                  <a:off x="47307" y="0"/>
                  <a:ext cx="76375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13" name="Oval 456"/>
              <p:cNvGrpSpPr/>
              <p:nvPr/>
            </p:nvGrpSpPr>
            <p:grpSpPr>
              <a:xfrm>
                <a:off x="98" y="0"/>
                <a:ext cx="170783" cy="127000"/>
                <a:chOff x="0" y="0"/>
                <a:chExt cx="170782" cy="127000"/>
              </a:xfrm>
            </p:grpSpPr>
            <p:sp>
              <p:nvSpPr>
                <p:cNvPr id="2111" name="Oval"/>
                <p:cNvSpPr/>
                <p:nvPr/>
              </p:nvSpPr>
              <p:spPr>
                <a:xfrm>
                  <a:off x="0" y="32086"/>
                  <a:ext cx="170783" cy="62829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12" name="Text"/>
                <p:cNvSpPr txBox="1"/>
                <p:nvPr/>
              </p:nvSpPr>
              <p:spPr>
                <a:xfrm>
                  <a:off x="72317" y="0"/>
                  <a:ext cx="26147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118" name="Group 457"/>
              <p:cNvGrpSpPr/>
              <p:nvPr/>
            </p:nvGrpSpPr>
            <p:grpSpPr>
              <a:xfrm>
                <a:off x="25359" y="40071"/>
                <a:ext cx="120239" cy="46166"/>
                <a:chOff x="0" y="0"/>
                <a:chExt cx="120238" cy="46164"/>
              </a:xfrm>
            </p:grpSpPr>
            <p:sp>
              <p:nvSpPr>
                <p:cNvPr id="2114" name="Freeform 458"/>
                <p:cNvSpPr/>
                <p:nvPr/>
              </p:nvSpPr>
              <p:spPr>
                <a:xfrm>
                  <a:off x="3325" y="-1"/>
                  <a:ext cx="113745" cy="258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15" name="Freeform 459"/>
                <p:cNvSpPr/>
                <p:nvPr/>
              </p:nvSpPr>
              <p:spPr>
                <a:xfrm>
                  <a:off x="77771" y="22104"/>
                  <a:ext cx="42468" cy="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16" name="Freeform 460"/>
                <p:cNvSpPr/>
                <p:nvPr/>
              </p:nvSpPr>
              <p:spPr>
                <a:xfrm>
                  <a:off x="0" y="22104"/>
                  <a:ext cx="41700" cy="219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17" name="Freeform 461"/>
                <p:cNvSpPr/>
                <p:nvPr/>
              </p:nvSpPr>
              <p:spPr>
                <a:xfrm>
                  <a:off x="14476" y="11239"/>
                  <a:ext cx="90669" cy="34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131" name="Group 614"/>
            <p:cNvGrpSpPr/>
            <p:nvPr/>
          </p:nvGrpSpPr>
          <p:grpSpPr>
            <a:xfrm>
              <a:off x="2796727" y="1388175"/>
              <a:ext cx="353679" cy="402388"/>
              <a:chOff x="0" y="0"/>
              <a:chExt cx="353677" cy="402387"/>
            </a:xfrm>
          </p:grpSpPr>
          <p:grpSp>
            <p:nvGrpSpPr>
              <p:cNvPr id="2122" name="Freeform 615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2120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21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25" name="Oval 61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2123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24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130" name="Group 617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2126" name="Freeform 618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27" name="Freeform 619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28" name="Freeform 620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29" name="Freeform 621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143" name="Group 576"/>
            <p:cNvGrpSpPr/>
            <p:nvPr/>
          </p:nvGrpSpPr>
          <p:grpSpPr>
            <a:xfrm>
              <a:off x="2334842" y="94328"/>
              <a:ext cx="353679" cy="402389"/>
              <a:chOff x="0" y="0"/>
              <a:chExt cx="353677" cy="402387"/>
            </a:xfrm>
          </p:grpSpPr>
          <p:grpSp>
            <p:nvGrpSpPr>
              <p:cNvPr id="2134" name="Freeform 577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2132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33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37" name="Oval 578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2135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36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142" name="Group 579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2138" name="Freeform 580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39" name="Freeform 581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40" name="Freeform 582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41" name="Freeform 583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155" name="Group 592"/>
            <p:cNvGrpSpPr/>
            <p:nvPr/>
          </p:nvGrpSpPr>
          <p:grpSpPr>
            <a:xfrm>
              <a:off x="2913332" y="505403"/>
              <a:ext cx="353679" cy="402389"/>
              <a:chOff x="0" y="0"/>
              <a:chExt cx="353677" cy="402387"/>
            </a:xfrm>
          </p:grpSpPr>
          <p:grpSp>
            <p:nvGrpSpPr>
              <p:cNvPr id="2146" name="Freeform 593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2144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45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49" name="Oval 594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2147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48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154" name="Group 595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2150" name="Freeform 596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51" name="Freeform 597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52" name="Freeform 598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53" name="Freeform 599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167" name="Group 600"/>
            <p:cNvGrpSpPr/>
            <p:nvPr/>
          </p:nvGrpSpPr>
          <p:grpSpPr>
            <a:xfrm>
              <a:off x="3029943" y="-1"/>
              <a:ext cx="353679" cy="402389"/>
              <a:chOff x="0" y="0"/>
              <a:chExt cx="353677" cy="402387"/>
            </a:xfrm>
          </p:grpSpPr>
          <p:grpSp>
            <p:nvGrpSpPr>
              <p:cNvPr id="2158" name="Freeform 601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2156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57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61" name="Oval 602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2159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60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166" name="Group 603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2162" name="Freeform 604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63" name="Freeform 605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64" name="Freeform 606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65" name="Freeform 607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179" name="Group 553"/>
            <p:cNvGrpSpPr/>
            <p:nvPr/>
          </p:nvGrpSpPr>
          <p:grpSpPr>
            <a:xfrm>
              <a:off x="1484906" y="1862242"/>
              <a:ext cx="367225" cy="417049"/>
              <a:chOff x="0" y="0"/>
              <a:chExt cx="367223" cy="417048"/>
            </a:xfrm>
          </p:grpSpPr>
          <p:grpSp>
            <p:nvGrpSpPr>
              <p:cNvPr id="2170" name="Freeform 554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2168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69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73" name="Oval 555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2171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72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178" name="Group 556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2174" name="Freeform 557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75" name="Freeform 558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76" name="Freeform 559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77" name="Freeform 560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191" name="Group 584"/>
            <p:cNvGrpSpPr/>
            <p:nvPr/>
          </p:nvGrpSpPr>
          <p:grpSpPr>
            <a:xfrm>
              <a:off x="2366244" y="553601"/>
              <a:ext cx="353679" cy="402389"/>
              <a:chOff x="0" y="0"/>
              <a:chExt cx="353677" cy="402387"/>
            </a:xfrm>
          </p:grpSpPr>
          <p:grpSp>
            <p:nvGrpSpPr>
              <p:cNvPr id="2182" name="Freeform 585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2180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81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85" name="Oval 58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2183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84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190" name="Group 587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2186" name="Freeform 588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87" name="Freeform 589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88" name="Freeform 590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89" name="Freeform 591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203" name="Group 537"/>
            <p:cNvGrpSpPr/>
            <p:nvPr/>
          </p:nvGrpSpPr>
          <p:grpSpPr>
            <a:xfrm>
              <a:off x="1883256" y="1299650"/>
              <a:ext cx="367225" cy="417049"/>
              <a:chOff x="0" y="0"/>
              <a:chExt cx="367223" cy="417048"/>
            </a:xfrm>
          </p:grpSpPr>
          <p:grpSp>
            <p:nvGrpSpPr>
              <p:cNvPr id="2194" name="Freeform 538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2192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93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197" name="Oval 539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2195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96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202" name="Group 540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2198" name="Freeform 541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199" name="Freeform 542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00" name="Freeform 543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01" name="Freeform 544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215" name="Group 545"/>
            <p:cNvGrpSpPr/>
            <p:nvPr/>
          </p:nvGrpSpPr>
          <p:grpSpPr>
            <a:xfrm>
              <a:off x="1987672" y="1905381"/>
              <a:ext cx="367225" cy="417049"/>
              <a:chOff x="0" y="0"/>
              <a:chExt cx="367223" cy="417048"/>
            </a:xfrm>
          </p:grpSpPr>
          <p:grpSp>
            <p:nvGrpSpPr>
              <p:cNvPr id="2206" name="Freeform 546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2204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05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209" name="Oval 547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2207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08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214" name="Group 548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2210" name="Freeform 549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11" name="Freeform 550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12" name="Freeform 551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13" name="Freeform 552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227" name="Group 622"/>
            <p:cNvGrpSpPr/>
            <p:nvPr/>
          </p:nvGrpSpPr>
          <p:grpSpPr>
            <a:xfrm>
              <a:off x="2761377" y="1884362"/>
              <a:ext cx="353679" cy="402388"/>
              <a:chOff x="0" y="0"/>
              <a:chExt cx="353677" cy="402387"/>
            </a:xfrm>
          </p:grpSpPr>
          <p:grpSp>
            <p:nvGrpSpPr>
              <p:cNvPr id="2218" name="Freeform 623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2216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17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221" name="Oval 624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2219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20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226" name="Group 625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2222" name="Freeform 626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23" name="Freeform 627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24" name="Freeform 628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25" name="Freeform 629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239" name="Group 462"/>
            <p:cNvGrpSpPr/>
            <p:nvPr/>
          </p:nvGrpSpPr>
          <p:grpSpPr>
            <a:xfrm>
              <a:off x="1634011" y="2674272"/>
              <a:ext cx="393761" cy="409458"/>
              <a:chOff x="0" y="0"/>
              <a:chExt cx="393760" cy="409456"/>
            </a:xfrm>
          </p:grpSpPr>
          <p:grpSp>
            <p:nvGrpSpPr>
              <p:cNvPr id="2230" name="Freeform 463"/>
              <p:cNvGrpSpPr/>
              <p:nvPr/>
            </p:nvGrpSpPr>
            <p:grpSpPr>
              <a:xfrm>
                <a:off x="0" y="76369"/>
                <a:ext cx="393761" cy="333088"/>
                <a:chOff x="0" y="0"/>
                <a:chExt cx="393760" cy="333087"/>
              </a:xfrm>
            </p:grpSpPr>
            <p:sp>
              <p:nvSpPr>
                <p:cNvPr id="2228" name="Shape"/>
                <p:cNvSpPr/>
                <p:nvPr/>
              </p:nvSpPr>
              <p:spPr>
                <a:xfrm>
                  <a:off x="0" y="95084"/>
                  <a:ext cx="393761" cy="1429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29" name="Text"/>
                <p:cNvSpPr txBox="1"/>
                <p:nvPr/>
              </p:nvSpPr>
              <p:spPr>
                <a:xfrm>
                  <a:off x="48894" y="0"/>
                  <a:ext cx="29597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233" name="Oval 464"/>
              <p:cNvGrpSpPr/>
              <p:nvPr/>
            </p:nvGrpSpPr>
            <p:grpSpPr>
              <a:xfrm>
                <a:off x="226" y="-1"/>
                <a:ext cx="393285" cy="333089"/>
                <a:chOff x="0" y="0"/>
                <a:chExt cx="393284" cy="333087"/>
              </a:xfrm>
            </p:grpSpPr>
            <p:sp>
              <p:nvSpPr>
                <p:cNvPr id="2231" name="Oval"/>
                <p:cNvSpPr/>
                <p:nvPr/>
              </p:nvSpPr>
              <p:spPr>
                <a:xfrm>
                  <a:off x="0" y="95794"/>
                  <a:ext cx="393285" cy="14149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32" name="Text"/>
                <p:cNvSpPr txBox="1"/>
                <p:nvPr/>
              </p:nvSpPr>
              <p:spPr>
                <a:xfrm>
                  <a:off x="106490" y="0"/>
                  <a:ext cx="180304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238" name="Group 465"/>
              <p:cNvGrpSpPr/>
              <p:nvPr/>
            </p:nvGrpSpPr>
            <p:grpSpPr>
              <a:xfrm>
                <a:off x="58397" y="113778"/>
                <a:ext cx="276892" cy="103972"/>
                <a:chOff x="0" y="0"/>
                <a:chExt cx="276890" cy="103970"/>
              </a:xfrm>
            </p:grpSpPr>
            <p:sp>
              <p:nvSpPr>
                <p:cNvPr id="2234" name="Freeform 466"/>
                <p:cNvSpPr/>
                <p:nvPr/>
              </p:nvSpPr>
              <p:spPr>
                <a:xfrm>
                  <a:off x="7658" y="0"/>
                  <a:ext cx="261934" cy="582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35" name="Freeform 467"/>
                <p:cNvSpPr/>
                <p:nvPr/>
              </p:nvSpPr>
              <p:spPr>
                <a:xfrm>
                  <a:off x="179095" y="49783"/>
                  <a:ext cx="97796" cy="50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36" name="Freeform 468"/>
                <p:cNvSpPr/>
                <p:nvPr/>
              </p:nvSpPr>
              <p:spPr>
                <a:xfrm>
                  <a:off x="0" y="49783"/>
                  <a:ext cx="96028" cy="4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37" name="Freeform 469"/>
                <p:cNvSpPr/>
                <p:nvPr/>
              </p:nvSpPr>
              <p:spPr>
                <a:xfrm>
                  <a:off x="33336" y="25312"/>
                  <a:ext cx="208796" cy="78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2251" name="Group 446"/>
            <p:cNvGrpSpPr/>
            <p:nvPr/>
          </p:nvGrpSpPr>
          <p:grpSpPr>
            <a:xfrm>
              <a:off x="3312100" y="2278000"/>
              <a:ext cx="228296" cy="333088"/>
              <a:chOff x="0" y="0"/>
              <a:chExt cx="228295" cy="333087"/>
            </a:xfrm>
          </p:grpSpPr>
          <p:grpSp>
            <p:nvGrpSpPr>
              <p:cNvPr id="2242" name="Freeform 447"/>
              <p:cNvGrpSpPr/>
              <p:nvPr/>
            </p:nvGrpSpPr>
            <p:grpSpPr>
              <a:xfrm>
                <a:off x="0" y="-1"/>
                <a:ext cx="228296" cy="333089"/>
                <a:chOff x="0" y="0"/>
                <a:chExt cx="228295" cy="333087"/>
              </a:xfrm>
            </p:grpSpPr>
            <p:sp>
              <p:nvSpPr>
                <p:cNvPr id="2240" name="Shape"/>
                <p:cNvSpPr/>
                <p:nvPr/>
              </p:nvSpPr>
              <p:spPr>
                <a:xfrm>
                  <a:off x="0" y="127181"/>
                  <a:ext cx="228296" cy="787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41" name="Text"/>
                <p:cNvSpPr txBox="1"/>
                <p:nvPr/>
              </p:nvSpPr>
              <p:spPr>
                <a:xfrm>
                  <a:off x="47307" y="0"/>
                  <a:ext cx="13368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2245" name="Oval 448"/>
              <p:cNvGrpSpPr/>
              <p:nvPr/>
            </p:nvGrpSpPr>
            <p:grpSpPr>
              <a:xfrm>
                <a:off x="131" y="60976"/>
                <a:ext cx="228019" cy="127001"/>
                <a:chOff x="0" y="0"/>
                <a:chExt cx="228018" cy="127000"/>
              </a:xfrm>
            </p:grpSpPr>
            <p:sp>
              <p:nvSpPr>
                <p:cNvPr id="2243" name="Oval"/>
                <p:cNvSpPr/>
                <p:nvPr/>
              </p:nvSpPr>
              <p:spPr>
                <a:xfrm>
                  <a:off x="0" y="24529"/>
                  <a:ext cx="228019" cy="77943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44" name="Text"/>
                <p:cNvSpPr txBox="1"/>
                <p:nvPr/>
              </p:nvSpPr>
              <p:spPr>
                <a:xfrm>
                  <a:off x="80699" y="0"/>
                  <a:ext cx="66620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2250" name="Group 449"/>
              <p:cNvGrpSpPr/>
              <p:nvPr/>
            </p:nvGrpSpPr>
            <p:grpSpPr>
              <a:xfrm>
                <a:off x="33858" y="95412"/>
                <a:ext cx="160537" cy="57271"/>
                <a:chOff x="0" y="0"/>
                <a:chExt cx="160536" cy="57270"/>
              </a:xfrm>
            </p:grpSpPr>
            <p:sp>
              <p:nvSpPr>
                <p:cNvPr id="2246" name="Freeform 450"/>
                <p:cNvSpPr/>
                <p:nvPr/>
              </p:nvSpPr>
              <p:spPr>
                <a:xfrm>
                  <a:off x="4440" y="-1"/>
                  <a:ext cx="151865" cy="32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47" name="Freeform 451"/>
                <p:cNvSpPr/>
                <p:nvPr/>
              </p:nvSpPr>
              <p:spPr>
                <a:xfrm>
                  <a:off x="103836" y="27422"/>
                  <a:ext cx="56701" cy="276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48" name="Freeform 452"/>
                <p:cNvSpPr/>
                <p:nvPr/>
              </p:nvSpPr>
              <p:spPr>
                <a:xfrm>
                  <a:off x="-1" y="27422"/>
                  <a:ext cx="55677" cy="272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2249" name="Freeform 453"/>
                <p:cNvSpPr/>
                <p:nvPr/>
              </p:nvSpPr>
              <p:spPr>
                <a:xfrm>
                  <a:off x="19327" y="13943"/>
                  <a:ext cx="121057" cy="43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sp>
        <p:nvSpPr>
          <p:cNvPr id="2253" name="Rectangle 8"/>
          <p:cNvSpPr/>
          <p:nvPr/>
        </p:nvSpPr>
        <p:spPr>
          <a:xfrm>
            <a:off x="6718300" y="1488461"/>
            <a:ext cx="5359400" cy="4954628"/>
          </a:xfrm>
          <a:prstGeom prst="rect">
            <a:avLst/>
          </a:prstGeom>
          <a:solidFill>
            <a:srgbClr val="FFFFFF">
              <a:alpha val="68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60" name="Group 796"/>
          <p:cNvGrpSpPr/>
          <p:nvPr/>
        </p:nvGrpSpPr>
        <p:grpSpPr>
          <a:xfrm>
            <a:off x="7439073" y="1859725"/>
            <a:ext cx="4144322" cy="4304883"/>
            <a:chOff x="0" y="0"/>
            <a:chExt cx="4144321" cy="4304882"/>
          </a:xfrm>
        </p:grpSpPr>
        <p:grpSp>
          <p:nvGrpSpPr>
            <p:cNvPr id="2287" name="Group 786"/>
            <p:cNvGrpSpPr/>
            <p:nvPr/>
          </p:nvGrpSpPr>
          <p:grpSpPr>
            <a:xfrm>
              <a:off x="-1" y="0"/>
              <a:ext cx="1909779" cy="938012"/>
              <a:chOff x="0" y="0"/>
              <a:chExt cx="1909777" cy="938011"/>
            </a:xfrm>
          </p:grpSpPr>
          <p:grpSp>
            <p:nvGrpSpPr>
              <p:cNvPr id="2256" name="Group 652"/>
              <p:cNvGrpSpPr/>
              <p:nvPr/>
            </p:nvGrpSpPr>
            <p:grpSpPr>
              <a:xfrm>
                <a:off x="311150" y="-1"/>
                <a:ext cx="415926" cy="385765"/>
                <a:chOff x="0" y="0"/>
                <a:chExt cx="415925" cy="385763"/>
              </a:xfrm>
            </p:grpSpPr>
            <p:pic>
              <p:nvPicPr>
                <p:cNvPr id="2254" name="Picture 653" descr="Picture 653"/>
                <p:cNvPicPr>
                  <a:picLocks noChangeAspect="1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159347" y="57299"/>
                  <a:ext cx="136843" cy="3284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255" name="Picture 654" descr="Picture 654"/>
                <p:cNvPicPr>
                  <a:picLocks noChangeAspect="1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0" y="-1"/>
                  <a:ext cx="415925" cy="8877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2280" name="Group 784"/>
              <p:cNvGrpSpPr/>
              <p:nvPr/>
            </p:nvGrpSpPr>
            <p:grpSpPr>
              <a:xfrm>
                <a:off x="-1" y="496888"/>
                <a:ext cx="534989" cy="414883"/>
                <a:chOff x="0" y="0"/>
                <a:chExt cx="534987" cy="414882"/>
              </a:xfrm>
            </p:grpSpPr>
            <p:pic>
              <p:nvPicPr>
                <p:cNvPr id="2257" name="Picture 1017" descr="Picture 1017"/>
                <p:cNvPicPr>
                  <a:picLocks noChangeAspect="1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30703" cy="2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258" name="Picture 1018" descr="Picture 1018"/>
                <p:cNvPicPr>
                  <a:picLocks noChangeAspect="1"/>
                </p:cNvPicPr>
                <p:nvPr/>
              </p:nvPicPr>
              <p:blipFill>
                <a:blip r:embed="rId9">
                  <a:extLst/>
                </a:blip>
                <a:stretch>
                  <a:fillRect/>
                </a:stretch>
              </p:blipFill>
              <p:spPr>
                <a:xfrm flipH="1" rot="109063">
                  <a:off x="25707" y="248477"/>
                  <a:ext cx="437221" cy="159512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259" name="Freeform 1019"/>
                <p:cNvSpPr/>
                <p:nvPr/>
              </p:nvSpPr>
              <p:spPr>
                <a:xfrm>
                  <a:off x="170604" y="93691"/>
                  <a:ext cx="351920" cy="20816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911" y="0"/>
                      </a:moveTo>
                      <a:lnTo>
                        <a:pt x="0" y="15338"/>
                      </a:lnTo>
                      <a:lnTo>
                        <a:pt x="17341" y="21600"/>
                      </a:lnTo>
                      <a:lnTo>
                        <a:pt x="21600" y="2813"/>
                      </a:lnTo>
                      <a:lnTo>
                        <a:pt x="391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2260" name="Picture 1020" descr="Picture 1020"/>
                <p:cNvPicPr>
                  <a:picLocks noChangeAspect="1"/>
                </p:cNvPicPr>
                <p:nvPr/>
              </p:nvPicPr>
              <p:blipFill>
                <a:blip r:embed="rId10">
                  <a:extLst/>
                </a:blip>
                <a:stretch>
                  <a:fillRect/>
                </a:stretch>
              </p:blipFill>
              <p:spPr>
                <a:xfrm>
                  <a:off x="187936" y="99045"/>
                  <a:ext cx="319787" cy="18943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261" name="Freeform 1021"/>
                <p:cNvSpPr/>
                <p:nvPr/>
              </p:nvSpPr>
              <p:spPr>
                <a:xfrm>
                  <a:off x="234678" y="87550"/>
                  <a:ext cx="298168" cy="387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20" y="0"/>
                      </a:moveTo>
                      <a:lnTo>
                        <a:pt x="21600" y="16188"/>
                      </a:lnTo>
                      <a:lnTo>
                        <a:pt x="21190" y="21600"/>
                      </a:lnTo>
                      <a:lnTo>
                        <a:pt x="0" y="4083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62" name="Freeform 1022"/>
                <p:cNvSpPr/>
                <p:nvPr/>
              </p:nvSpPr>
              <p:spPr>
                <a:xfrm>
                  <a:off x="167487" y="87235"/>
                  <a:ext cx="82772" cy="16124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815" y="0"/>
                      </a:moveTo>
                      <a:lnTo>
                        <a:pt x="0" y="21326"/>
                      </a:lnTo>
                      <a:lnTo>
                        <a:pt x="3508" y="21600"/>
                      </a:lnTo>
                      <a:lnTo>
                        <a:pt x="21600" y="582"/>
                      </a:lnTo>
                      <a:lnTo>
                        <a:pt x="17815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63" name="Freeform 1023"/>
                <p:cNvSpPr/>
                <p:nvPr/>
              </p:nvSpPr>
              <p:spPr>
                <a:xfrm>
                  <a:off x="441505" y="116051"/>
                  <a:ext cx="89198" cy="1861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3943" y="21600"/>
                      </a:lnTo>
                      <a:lnTo>
                        <a:pt x="0" y="21244"/>
                      </a:lnTo>
                      <a:lnTo>
                        <a:pt x="17314" y="771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64" name="Freeform 1024"/>
                <p:cNvSpPr/>
                <p:nvPr/>
              </p:nvSpPr>
              <p:spPr>
                <a:xfrm>
                  <a:off x="166513" y="240289"/>
                  <a:ext cx="305138" cy="628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44" h="21600" fill="norm" stroke="1" extrusionOk="0">
                      <a:moveTo>
                        <a:pt x="257" y="0"/>
                      </a:moveTo>
                      <a:lnTo>
                        <a:pt x="0" y="2898"/>
                      </a:lnTo>
                      <a:lnTo>
                        <a:pt x="18975" y="21600"/>
                      </a:lnTo>
                      <a:cubicBezTo>
                        <a:pt x="19466" y="14663"/>
                        <a:pt x="21600" y="21278"/>
                        <a:pt x="18484" y="17649"/>
                      </a:cubicBezTo>
                      <a:lnTo>
                        <a:pt x="257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CC"/>
                    </a:gs>
                    <a:gs pos="100000">
                      <a:srgbClr val="FFFF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65" name="Freeform 1025"/>
                <p:cNvSpPr/>
                <p:nvPr/>
              </p:nvSpPr>
              <p:spPr>
                <a:xfrm>
                  <a:off x="451438" y="117625"/>
                  <a:ext cx="83550" cy="1869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854" y="0"/>
                      </a:moveTo>
                      <a:lnTo>
                        <a:pt x="21600" y="0"/>
                      </a:lnTo>
                      <a:lnTo>
                        <a:pt x="2306" y="21600"/>
                      </a:lnTo>
                      <a:lnTo>
                        <a:pt x="0" y="21444"/>
                      </a:lnTo>
                      <a:lnTo>
                        <a:pt x="20854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66" name="Freeform 1026"/>
                <p:cNvSpPr/>
                <p:nvPr/>
              </p:nvSpPr>
              <p:spPr>
                <a:xfrm>
                  <a:off x="166903" y="248635"/>
                  <a:ext cx="290962" cy="6204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8" y="2239"/>
                      </a:lnTo>
                      <a:lnTo>
                        <a:pt x="21093" y="21600"/>
                      </a:lnTo>
                      <a:lnTo>
                        <a:pt x="21600" y="194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273" name="Group 1027"/>
                <p:cNvGrpSpPr/>
                <p:nvPr/>
              </p:nvGrpSpPr>
              <p:grpSpPr>
                <a:xfrm>
                  <a:off x="162035" y="314927"/>
                  <a:ext cx="98740" cy="36943"/>
                  <a:chOff x="0" y="0"/>
                  <a:chExt cx="98739" cy="36942"/>
                </a:xfrm>
              </p:grpSpPr>
              <p:sp>
                <p:nvSpPr>
                  <p:cNvPr id="2267" name="Freeform 1028"/>
                  <p:cNvSpPr/>
                  <p:nvPr/>
                </p:nvSpPr>
                <p:spPr>
                  <a:xfrm>
                    <a:off x="0" y="-1"/>
                    <a:ext cx="98740" cy="3684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416" y="0"/>
                        </a:moveTo>
                        <a:lnTo>
                          <a:pt x="21600" y="8191"/>
                        </a:lnTo>
                        <a:lnTo>
                          <a:pt x="13500" y="21600"/>
                        </a:lnTo>
                        <a:lnTo>
                          <a:pt x="0" y="12088"/>
                        </a:lnTo>
                        <a:lnTo>
                          <a:pt x="841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68" name="Freeform 1029"/>
                  <p:cNvSpPr/>
                  <p:nvPr/>
                </p:nvSpPr>
                <p:spPr>
                  <a:xfrm>
                    <a:off x="1838" y="788"/>
                    <a:ext cx="95327" cy="3504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390" y="0"/>
                        </a:moveTo>
                        <a:lnTo>
                          <a:pt x="21600" y="8265"/>
                        </a:lnTo>
                        <a:lnTo>
                          <a:pt x="13597" y="21600"/>
                        </a:lnTo>
                        <a:lnTo>
                          <a:pt x="0" y="12015"/>
                        </a:lnTo>
                        <a:lnTo>
                          <a:pt x="839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69" name="Freeform 1030"/>
                  <p:cNvSpPr/>
                  <p:nvPr/>
                </p:nvSpPr>
                <p:spPr>
                  <a:xfrm>
                    <a:off x="8928" y="13706"/>
                    <a:ext cx="33877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504"/>
                        </a:moveTo>
                        <a:lnTo>
                          <a:pt x="6279" y="0"/>
                        </a:lnTo>
                        <a:lnTo>
                          <a:pt x="21600" y="10800"/>
                        </a:lnTo>
                        <a:lnTo>
                          <a:pt x="15321" y="21600"/>
                        </a:lnTo>
                        <a:lnTo>
                          <a:pt x="0" y="950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0" name="Freeform 1031"/>
                  <p:cNvSpPr/>
                  <p:nvPr/>
                </p:nvSpPr>
                <p:spPr>
                  <a:xfrm>
                    <a:off x="7746" y="16805"/>
                    <a:ext cx="25474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1" name="Freeform 1032"/>
                  <p:cNvSpPr/>
                  <p:nvPr/>
                </p:nvSpPr>
                <p:spPr>
                  <a:xfrm>
                    <a:off x="36764" y="21030"/>
                    <a:ext cx="33878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741"/>
                        </a:moveTo>
                        <a:lnTo>
                          <a:pt x="5944" y="0"/>
                        </a:lnTo>
                        <a:lnTo>
                          <a:pt x="21600" y="11012"/>
                        </a:lnTo>
                        <a:lnTo>
                          <a:pt x="15321" y="21600"/>
                        </a:lnTo>
                        <a:lnTo>
                          <a:pt x="0" y="974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2" name="Freeform 1033"/>
                  <p:cNvSpPr/>
                  <p:nvPr/>
                </p:nvSpPr>
                <p:spPr>
                  <a:xfrm>
                    <a:off x="35583" y="24242"/>
                    <a:ext cx="25473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2274" name="Freeform 1034"/>
                <p:cNvSpPr/>
                <p:nvPr/>
              </p:nvSpPr>
              <p:spPr>
                <a:xfrm>
                  <a:off x="331080" y="320438"/>
                  <a:ext cx="119579" cy="809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65" y="20127"/>
                      </a:moveTo>
                      <a:lnTo>
                        <a:pt x="21600" y="0"/>
                      </a:lnTo>
                      <a:lnTo>
                        <a:pt x="21535" y="1636"/>
                      </a:lnTo>
                      <a:lnTo>
                        <a:pt x="0" y="21600"/>
                      </a:lnTo>
                      <a:lnTo>
                        <a:pt x="65" y="20127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75" name="Freeform 1035"/>
                <p:cNvSpPr/>
                <p:nvPr/>
              </p:nvSpPr>
              <p:spPr>
                <a:xfrm>
                  <a:off x="25901" y="326894"/>
                  <a:ext cx="305959" cy="738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76" name="Freeform 1036"/>
                <p:cNvSpPr/>
                <p:nvPr/>
              </p:nvSpPr>
              <p:spPr>
                <a:xfrm>
                  <a:off x="21402" y="313352"/>
                  <a:ext cx="12701" cy="149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1469"/>
                      </a:moveTo>
                      <a:lnTo>
                        <a:pt x="19108" y="21600"/>
                      </a:lnTo>
                      <a:lnTo>
                        <a:pt x="0" y="21159"/>
                      </a:lnTo>
                      <a:lnTo>
                        <a:pt x="2492" y="0"/>
                      </a:lnTo>
                      <a:lnTo>
                        <a:pt x="21600" y="1469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77" name="Freeform 1037"/>
                <p:cNvSpPr/>
                <p:nvPr/>
              </p:nvSpPr>
              <p:spPr>
                <a:xfrm>
                  <a:off x="26291" y="252414"/>
                  <a:ext cx="142172" cy="6188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90" y="0"/>
                      </a:moveTo>
                      <a:lnTo>
                        <a:pt x="0" y="21279"/>
                      </a:lnTo>
                      <a:lnTo>
                        <a:pt x="551" y="21600"/>
                      </a:lnTo>
                      <a:lnTo>
                        <a:pt x="21600" y="642"/>
                      </a:lnTo>
                      <a:lnTo>
                        <a:pt x="2149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78" name="Freeform 1038"/>
                <p:cNvSpPr/>
                <p:nvPr/>
              </p:nvSpPr>
              <p:spPr>
                <a:xfrm>
                  <a:off x="35835" y="316502"/>
                  <a:ext cx="290182" cy="71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79" name="Freeform 1039"/>
                <p:cNvSpPr/>
                <p:nvPr/>
              </p:nvSpPr>
              <p:spPr>
                <a:xfrm flipH="1" rot="10800000">
                  <a:off x="325627" y="311463"/>
                  <a:ext cx="118410" cy="735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2283" name="Group 739"/>
              <p:cNvGrpSpPr/>
              <p:nvPr/>
            </p:nvGrpSpPr>
            <p:grpSpPr>
              <a:xfrm>
                <a:off x="1198707" y="460002"/>
                <a:ext cx="530703" cy="478010"/>
                <a:chOff x="0" y="0"/>
                <a:chExt cx="530702" cy="478009"/>
              </a:xfrm>
            </p:grpSpPr>
            <p:pic>
              <p:nvPicPr>
                <p:cNvPr id="2281" name="Picture 568" descr="Picture 568"/>
                <p:cNvPicPr>
                  <a:picLocks noChangeAspect="1"/>
                </p:cNvPicPr>
                <p:nvPr/>
              </p:nvPicPr>
              <p:blipFill>
                <a:blip r:embed="rId11">
                  <a:extLst/>
                </a:blip>
                <a:stretch>
                  <a:fillRect/>
                </a:stretch>
              </p:blipFill>
              <p:spPr>
                <a:xfrm flipH="1">
                  <a:off x="193886" y="72562"/>
                  <a:ext cx="92773" cy="40544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282" name="Picture 1017" descr="Picture 1017"/>
                <p:cNvPicPr>
                  <a:picLocks noChangeAspect="1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530703" cy="2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2286" name="Group 785"/>
              <p:cNvGrpSpPr/>
              <p:nvPr/>
            </p:nvGrpSpPr>
            <p:grpSpPr>
              <a:xfrm>
                <a:off x="1060465" y="199399"/>
                <a:ext cx="849313" cy="226110"/>
                <a:chOff x="0" y="0"/>
                <a:chExt cx="849312" cy="226109"/>
              </a:xfrm>
            </p:grpSpPr>
            <p:pic>
              <p:nvPicPr>
                <p:cNvPr id="2284" name="Picture 603" descr="Picture 603"/>
                <p:cNvPicPr>
                  <a:picLocks noChangeAspect="1"/>
                </p:cNvPicPr>
                <p:nvPr/>
              </p:nvPicPr>
              <p:blipFill>
                <a:blip r:embed="rId12">
                  <a:extLst/>
                </a:blip>
                <a:stretch>
                  <a:fillRect/>
                </a:stretch>
              </p:blipFill>
              <p:spPr>
                <a:xfrm>
                  <a:off x="0" y="57834"/>
                  <a:ext cx="849313" cy="16827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285" name="Picture 1017" descr="Picture 1017"/>
                <p:cNvPicPr>
                  <a:picLocks noChangeAspect="1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1480" y="0"/>
                  <a:ext cx="530703" cy="2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2318" name="Group 792"/>
            <p:cNvGrpSpPr/>
            <p:nvPr/>
          </p:nvGrpSpPr>
          <p:grpSpPr>
            <a:xfrm>
              <a:off x="54443" y="1465699"/>
              <a:ext cx="857741" cy="583765"/>
              <a:chOff x="0" y="0"/>
              <a:chExt cx="857739" cy="583764"/>
            </a:xfrm>
          </p:grpSpPr>
          <p:grpSp>
            <p:nvGrpSpPr>
              <p:cNvPr id="2311" name="Group 791"/>
              <p:cNvGrpSpPr/>
              <p:nvPr/>
            </p:nvGrpSpPr>
            <p:grpSpPr>
              <a:xfrm>
                <a:off x="0" y="93716"/>
                <a:ext cx="350808" cy="310034"/>
                <a:chOff x="0" y="0"/>
                <a:chExt cx="350807" cy="310033"/>
              </a:xfrm>
            </p:grpSpPr>
            <p:pic>
              <p:nvPicPr>
                <p:cNvPr id="2288" name="Picture 1115" descr="Picture 1115"/>
                <p:cNvPicPr>
                  <a:picLocks noChangeAspect="1"/>
                </p:cNvPicPr>
                <p:nvPr/>
              </p:nvPicPr>
              <p:blipFill>
                <a:blip r:embed="rId13">
                  <a:extLst/>
                </a:blip>
                <a:stretch>
                  <a:fillRect/>
                </a:stretch>
              </p:blipFill>
              <p:spPr>
                <a:xfrm>
                  <a:off x="0" y="0"/>
                  <a:ext cx="347997" cy="16755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289" name="Picture 1116" descr="Picture 1116"/>
                <p:cNvPicPr>
                  <a:picLocks noChangeAspect="1"/>
                </p:cNvPicPr>
                <p:nvPr/>
              </p:nvPicPr>
              <p:blipFill>
                <a:blip r:embed="rId14">
                  <a:extLst/>
                </a:blip>
                <a:stretch>
                  <a:fillRect/>
                </a:stretch>
              </p:blipFill>
              <p:spPr>
                <a:xfrm flipH="1" rot="109063">
                  <a:off x="16857" y="186069"/>
                  <a:ext cx="286699" cy="11944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290" name="Freeform 1117"/>
                <p:cNvSpPr/>
                <p:nvPr/>
              </p:nvSpPr>
              <p:spPr>
                <a:xfrm>
                  <a:off x="111869" y="70159"/>
                  <a:ext cx="230766" cy="15588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911" y="0"/>
                      </a:moveTo>
                      <a:lnTo>
                        <a:pt x="0" y="15338"/>
                      </a:lnTo>
                      <a:lnTo>
                        <a:pt x="17341" y="21600"/>
                      </a:lnTo>
                      <a:lnTo>
                        <a:pt x="21600" y="2813"/>
                      </a:lnTo>
                      <a:lnTo>
                        <a:pt x="391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2291" name="Picture 1118" descr="Picture 1118"/>
                <p:cNvPicPr>
                  <a:picLocks noChangeAspect="1"/>
                </p:cNvPicPr>
                <p:nvPr/>
              </p:nvPicPr>
              <p:blipFill>
                <a:blip r:embed="rId15">
                  <a:extLst/>
                </a:blip>
                <a:stretch>
                  <a:fillRect/>
                </a:stretch>
              </p:blipFill>
              <p:spPr>
                <a:xfrm>
                  <a:off x="123236" y="74168"/>
                  <a:ext cx="209692" cy="141852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292" name="Freeform 1119"/>
                <p:cNvSpPr/>
                <p:nvPr/>
              </p:nvSpPr>
              <p:spPr>
                <a:xfrm>
                  <a:off x="153884" y="65561"/>
                  <a:ext cx="195518" cy="290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20" y="0"/>
                      </a:moveTo>
                      <a:lnTo>
                        <a:pt x="21600" y="16188"/>
                      </a:lnTo>
                      <a:lnTo>
                        <a:pt x="21190" y="21600"/>
                      </a:lnTo>
                      <a:lnTo>
                        <a:pt x="0" y="4083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93" name="Freeform 1120"/>
                <p:cNvSpPr/>
                <p:nvPr/>
              </p:nvSpPr>
              <p:spPr>
                <a:xfrm>
                  <a:off x="109826" y="65325"/>
                  <a:ext cx="54277" cy="1207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815" y="0"/>
                      </a:moveTo>
                      <a:lnTo>
                        <a:pt x="0" y="21326"/>
                      </a:lnTo>
                      <a:lnTo>
                        <a:pt x="3508" y="21600"/>
                      </a:lnTo>
                      <a:lnTo>
                        <a:pt x="21600" y="582"/>
                      </a:lnTo>
                      <a:lnTo>
                        <a:pt x="17815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94" name="Freeform 1121"/>
                <p:cNvSpPr/>
                <p:nvPr/>
              </p:nvSpPr>
              <p:spPr>
                <a:xfrm>
                  <a:off x="289508" y="86903"/>
                  <a:ext cx="58490" cy="1393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lnTo>
                        <a:pt x="3943" y="21600"/>
                      </a:lnTo>
                      <a:lnTo>
                        <a:pt x="0" y="21244"/>
                      </a:lnTo>
                      <a:lnTo>
                        <a:pt x="17314" y="771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95" name="Freeform 1122"/>
                <p:cNvSpPr/>
                <p:nvPr/>
              </p:nvSpPr>
              <p:spPr>
                <a:xfrm>
                  <a:off x="109188" y="179938"/>
                  <a:ext cx="200088" cy="470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144" h="21600" fill="norm" stroke="1" extrusionOk="0">
                      <a:moveTo>
                        <a:pt x="257" y="0"/>
                      </a:moveTo>
                      <a:lnTo>
                        <a:pt x="0" y="2898"/>
                      </a:lnTo>
                      <a:lnTo>
                        <a:pt x="18975" y="21600"/>
                      </a:lnTo>
                      <a:cubicBezTo>
                        <a:pt x="19466" y="14663"/>
                        <a:pt x="21600" y="21278"/>
                        <a:pt x="18484" y="17649"/>
                      </a:cubicBezTo>
                      <a:lnTo>
                        <a:pt x="257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CC"/>
                    </a:gs>
                    <a:gs pos="100000">
                      <a:srgbClr val="FFFF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96" name="Freeform 1123"/>
                <p:cNvSpPr/>
                <p:nvPr/>
              </p:nvSpPr>
              <p:spPr>
                <a:xfrm>
                  <a:off x="296021" y="88082"/>
                  <a:ext cx="54787" cy="1399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0854" y="0"/>
                      </a:moveTo>
                      <a:lnTo>
                        <a:pt x="21600" y="0"/>
                      </a:lnTo>
                      <a:lnTo>
                        <a:pt x="2306" y="21600"/>
                      </a:lnTo>
                      <a:lnTo>
                        <a:pt x="0" y="21444"/>
                      </a:lnTo>
                      <a:lnTo>
                        <a:pt x="20854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297" name="Freeform 1124"/>
                <p:cNvSpPr/>
                <p:nvPr/>
              </p:nvSpPr>
              <p:spPr>
                <a:xfrm>
                  <a:off x="109444" y="186187"/>
                  <a:ext cx="190793" cy="464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88" y="2239"/>
                      </a:lnTo>
                      <a:lnTo>
                        <a:pt x="21093" y="21600"/>
                      </a:lnTo>
                      <a:lnTo>
                        <a:pt x="21600" y="194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304" name="Group 1125"/>
                <p:cNvGrpSpPr/>
                <p:nvPr/>
              </p:nvGrpSpPr>
              <p:grpSpPr>
                <a:xfrm>
                  <a:off x="106250" y="235829"/>
                  <a:ext cx="64748" cy="29259"/>
                  <a:chOff x="0" y="0"/>
                  <a:chExt cx="64746" cy="29258"/>
                </a:xfrm>
              </p:grpSpPr>
              <p:sp>
                <p:nvSpPr>
                  <p:cNvPr id="2298" name="Freeform 1126"/>
                  <p:cNvSpPr/>
                  <p:nvPr/>
                </p:nvSpPr>
                <p:spPr>
                  <a:xfrm>
                    <a:off x="0" y="0"/>
                    <a:ext cx="64747" cy="2759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416" y="0"/>
                        </a:moveTo>
                        <a:lnTo>
                          <a:pt x="21600" y="8191"/>
                        </a:lnTo>
                        <a:lnTo>
                          <a:pt x="13500" y="21600"/>
                        </a:lnTo>
                        <a:lnTo>
                          <a:pt x="0" y="12088"/>
                        </a:lnTo>
                        <a:lnTo>
                          <a:pt x="841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9" name="Freeform 1127"/>
                  <p:cNvSpPr/>
                  <p:nvPr/>
                </p:nvSpPr>
                <p:spPr>
                  <a:xfrm>
                    <a:off x="1205" y="590"/>
                    <a:ext cx="62509" cy="2624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8390" y="0"/>
                        </a:moveTo>
                        <a:lnTo>
                          <a:pt x="21600" y="8265"/>
                        </a:lnTo>
                        <a:lnTo>
                          <a:pt x="13597" y="21600"/>
                        </a:lnTo>
                        <a:lnTo>
                          <a:pt x="0" y="12015"/>
                        </a:lnTo>
                        <a:lnTo>
                          <a:pt x="839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00" name="Freeform 1128"/>
                  <p:cNvSpPr/>
                  <p:nvPr/>
                </p:nvSpPr>
                <p:spPr>
                  <a:xfrm>
                    <a:off x="5854" y="8669"/>
                    <a:ext cx="22215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504"/>
                        </a:moveTo>
                        <a:lnTo>
                          <a:pt x="6279" y="0"/>
                        </a:lnTo>
                        <a:lnTo>
                          <a:pt x="21600" y="10800"/>
                        </a:lnTo>
                        <a:lnTo>
                          <a:pt x="15321" y="21600"/>
                        </a:lnTo>
                        <a:lnTo>
                          <a:pt x="0" y="950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01" name="Freeform 1129"/>
                  <p:cNvSpPr/>
                  <p:nvPr/>
                </p:nvSpPr>
                <p:spPr>
                  <a:xfrm>
                    <a:off x="5079" y="10989"/>
                    <a:ext cx="16705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02" name="Freeform 1130"/>
                  <p:cNvSpPr/>
                  <p:nvPr/>
                </p:nvSpPr>
                <p:spPr>
                  <a:xfrm>
                    <a:off x="24107" y="14154"/>
                    <a:ext cx="22215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9741"/>
                        </a:moveTo>
                        <a:lnTo>
                          <a:pt x="5944" y="0"/>
                        </a:lnTo>
                        <a:lnTo>
                          <a:pt x="21600" y="11012"/>
                        </a:lnTo>
                        <a:lnTo>
                          <a:pt x="15321" y="21600"/>
                        </a:lnTo>
                        <a:lnTo>
                          <a:pt x="0" y="974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03" name="Freeform 1131"/>
                  <p:cNvSpPr/>
                  <p:nvPr/>
                </p:nvSpPr>
                <p:spPr>
                  <a:xfrm>
                    <a:off x="23333" y="16558"/>
                    <a:ext cx="16704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336" y="0"/>
                        </a:moveTo>
                        <a:lnTo>
                          <a:pt x="21600" y="18171"/>
                        </a:lnTo>
                        <a:lnTo>
                          <a:pt x="20041" y="21600"/>
                        </a:lnTo>
                        <a:lnTo>
                          <a:pt x="0" y="3086"/>
                        </a:lnTo>
                        <a:lnTo>
                          <a:pt x="133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2305" name="Freeform 1132"/>
                <p:cNvSpPr/>
                <p:nvPr/>
              </p:nvSpPr>
              <p:spPr>
                <a:xfrm>
                  <a:off x="217099" y="239956"/>
                  <a:ext cx="78412" cy="606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65" y="20127"/>
                      </a:moveTo>
                      <a:lnTo>
                        <a:pt x="21600" y="0"/>
                      </a:lnTo>
                      <a:lnTo>
                        <a:pt x="21535" y="1636"/>
                      </a:lnTo>
                      <a:lnTo>
                        <a:pt x="0" y="21600"/>
                      </a:lnTo>
                      <a:lnTo>
                        <a:pt x="65" y="20127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06" name="Freeform 1133"/>
                <p:cNvSpPr/>
                <p:nvPr/>
              </p:nvSpPr>
              <p:spPr>
                <a:xfrm>
                  <a:off x="16985" y="244791"/>
                  <a:ext cx="200625" cy="553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07" name="Freeform 1134"/>
                <p:cNvSpPr/>
                <p:nvPr/>
              </p:nvSpPr>
              <p:spPr>
                <a:xfrm>
                  <a:off x="11848" y="233901"/>
                  <a:ext cx="12701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1469"/>
                      </a:moveTo>
                      <a:lnTo>
                        <a:pt x="19108" y="21600"/>
                      </a:lnTo>
                      <a:lnTo>
                        <a:pt x="0" y="21159"/>
                      </a:lnTo>
                      <a:lnTo>
                        <a:pt x="2492" y="0"/>
                      </a:lnTo>
                      <a:lnTo>
                        <a:pt x="21600" y="1469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08" name="Freeform 1135"/>
                <p:cNvSpPr/>
                <p:nvPr/>
              </p:nvSpPr>
              <p:spPr>
                <a:xfrm>
                  <a:off x="17239" y="189017"/>
                  <a:ext cx="93227" cy="463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90" y="0"/>
                      </a:moveTo>
                      <a:lnTo>
                        <a:pt x="0" y="21279"/>
                      </a:lnTo>
                      <a:lnTo>
                        <a:pt x="551" y="21600"/>
                      </a:lnTo>
                      <a:lnTo>
                        <a:pt x="21600" y="642"/>
                      </a:lnTo>
                      <a:lnTo>
                        <a:pt x="2149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09" name="Freeform 1136"/>
                <p:cNvSpPr/>
                <p:nvPr/>
              </p:nvSpPr>
              <p:spPr>
                <a:xfrm>
                  <a:off x="23498" y="237009"/>
                  <a:ext cx="190282" cy="531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10" name="Freeform 1137"/>
                <p:cNvSpPr/>
                <p:nvPr/>
              </p:nvSpPr>
              <p:spPr>
                <a:xfrm flipH="1" rot="10800000">
                  <a:off x="213524" y="233235"/>
                  <a:ext cx="77646" cy="550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51" y="0"/>
                      </a:moveTo>
                      <a:cubicBezTo>
                        <a:pt x="136" y="0"/>
                        <a:pt x="222" y="0"/>
                        <a:pt x="307" y="0"/>
                      </a:cubicBezTo>
                      <a:lnTo>
                        <a:pt x="21600" y="20256"/>
                      </a:lnTo>
                      <a:lnTo>
                        <a:pt x="21574" y="21600"/>
                      </a:lnTo>
                      <a:lnTo>
                        <a:pt x="0" y="71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2314" name="Group 1139"/>
              <p:cNvGrpSpPr/>
              <p:nvPr/>
            </p:nvGrpSpPr>
            <p:grpSpPr>
              <a:xfrm>
                <a:off x="498478" y="241718"/>
                <a:ext cx="359262" cy="342047"/>
                <a:chOff x="0" y="0"/>
                <a:chExt cx="359260" cy="342045"/>
              </a:xfrm>
            </p:grpSpPr>
            <p:pic>
              <p:nvPicPr>
                <p:cNvPr id="2312" name="Picture 1140" descr="Picture 1140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 flipH="1">
                  <a:off x="0" y="0"/>
                  <a:ext cx="359261" cy="34204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2313" name="Freeform 1141"/>
                <p:cNvSpPr/>
                <p:nvPr/>
              </p:nvSpPr>
              <p:spPr>
                <a:xfrm flipH="1">
                  <a:off x="153221" y="32798"/>
                  <a:ext cx="169401" cy="1567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lnTo>
                        <a:pt x="18202" y="822"/>
                      </a:lnTo>
                      <a:lnTo>
                        <a:pt x="21600" y="17257"/>
                      </a:lnTo>
                      <a:lnTo>
                        <a:pt x="4733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2317" name="Group 693"/>
              <p:cNvGrpSpPr/>
              <p:nvPr/>
            </p:nvGrpSpPr>
            <p:grpSpPr>
              <a:xfrm>
                <a:off x="309917" y="0"/>
                <a:ext cx="347998" cy="396621"/>
                <a:chOff x="0" y="0"/>
                <a:chExt cx="347996" cy="396620"/>
              </a:xfrm>
            </p:grpSpPr>
            <p:pic>
              <p:nvPicPr>
                <p:cNvPr id="2315" name="Picture 571" descr="Picture 571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99764" y="59592"/>
                  <a:ext cx="189579" cy="3370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316" name="Picture 1115" descr="Picture 1115"/>
                <p:cNvPicPr>
                  <a:picLocks noChangeAspect="1"/>
                </p:cNvPicPr>
                <p:nvPr/>
              </p:nvPicPr>
              <p:blipFill>
                <a:blip r:embed="rId13">
                  <a:extLst/>
                </a:blip>
                <a:stretch>
                  <a:fillRect/>
                </a:stretch>
              </p:blipFill>
              <p:spPr>
                <a:xfrm>
                  <a:off x="0" y="-1"/>
                  <a:ext cx="347997" cy="1675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2331" name="Group 794"/>
            <p:cNvGrpSpPr/>
            <p:nvPr/>
          </p:nvGrpSpPr>
          <p:grpSpPr>
            <a:xfrm>
              <a:off x="3625873" y="1568760"/>
              <a:ext cx="518449" cy="1212243"/>
              <a:chOff x="0" y="0"/>
              <a:chExt cx="518447" cy="1212242"/>
            </a:xfrm>
          </p:grpSpPr>
          <p:grpSp>
            <p:nvGrpSpPr>
              <p:cNvPr id="2324" name="Group 374"/>
              <p:cNvGrpSpPr/>
              <p:nvPr/>
            </p:nvGrpSpPr>
            <p:grpSpPr>
              <a:xfrm>
                <a:off x="28609" y="760425"/>
                <a:ext cx="489840" cy="451818"/>
                <a:chOff x="0" y="0"/>
                <a:chExt cx="489839" cy="451816"/>
              </a:xfrm>
            </p:grpSpPr>
            <p:sp>
              <p:nvSpPr>
                <p:cNvPr id="2319" name="Straight Connector 375"/>
                <p:cNvSpPr/>
                <p:nvPr/>
              </p:nvSpPr>
              <p:spPr>
                <a:xfrm>
                  <a:off x="-1" y="240564"/>
                  <a:ext cx="186245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323" name="Group 377"/>
                <p:cNvGrpSpPr/>
                <p:nvPr/>
              </p:nvGrpSpPr>
              <p:grpSpPr>
                <a:xfrm>
                  <a:off x="137494" y="0"/>
                  <a:ext cx="352346" cy="451817"/>
                  <a:chOff x="0" y="0"/>
                  <a:chExt cx="352344" cy="451816"/>
                </a:xfrm>
              </p:grpSpPr>
              <p:pic>
                <p:nvPicPr>
                  <p:cNvPr id="2320" name="Picture 378" descr="Picture 378"/>
                  <p:cNvPicPr>
                    <a:picLocks noChangeAspect="1"/>
                  </p:cNvPicPr>
                  <p:nvPr/>
                </p:nvPicPr>
                <p:blipFill>
                  <a:blip r:embed="rId18">
                    <a:extLst/>
                  </a:blip>
                  <a:stretch>
                    <a:fillRect/>
                  </a:stretch>
                </p:blipFill>
                <p:spPr>
                  <a:xfrm>
                    <a:off x="203776" y="66104"/>
                    <a:ext cx="148569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321" name="Picture 379" descr="Picture 379"/>
                  <p:cNvPicPr>
                    <a:picLocks noChangeAspect="1"/>
                  </p:cNvPicPr>
                  <p:nvPr/>
                </p:nvPicPr>
                <p:blipFill>
                  <a:blip r:embed="rId18">
                    <a:extLst/>
                  </a:blip>
                  <a:stretch>
                    <a:fillRect/>
                  </a:stretch>
                </p:blipFill>
                <p:spPr>
                  <a:xfrm>
                    <a:off x="0" y="58546"/>
                    <a:ext cx="148568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322" name="Picture 380" descr="Picture 380"/>
                  <p:cNvPicPr>
                    <a:picLocks noChangeAspect="1"/>
                  </p:cNvPicPr>
                  <p:nvPr/>
                </p:nvPicPr>
                <p:blipFill>
                  <a:blip r:embed="rId18">
                    <a:extLst/>
                  </a:blip>
                  <a:stretch>
                    <a:fillRect/>
                  </a:stretch>
                </p:blipFill>
                <p:spPr>
                  <a:xfrm>
                    <a:off x="85777" y="0"/>
                    <a:ext cx="192259" cy="451817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  <p:grpSp>
            <p:nvGrpSpPr>
              <p:cNvPr id="2330" name="Group 391"/>
              <p:cNvGrpSpPr/>
              <p:nvPr/>
            </p:nvGrpSpPr>
            <p:grpSpPr>
              <a:xfrm>
                <a:off x="0" y="-1"/>
                <a:ext cx="423724" cy="405974"/>
                <a:chOff x="0" y="0"/>
                <a:chExt cx="423723" cy="405973"/>
              </a:xfrm>
            </p:grpSpPr>
            <p:sp>
              <p:nvSpPr>
                <p:cNvPr id="2325" name="Straight Connector 392"/>
                <p:cNvSpPr/>
                <p:nvPr/>
              </p:nvSpPr>
              <p:spPr>
                <a:xfrm>
                  <a:off x="0" y="216155"/>
                  <a:ext cx="16110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329" name="Group 394"/>
                <p:cNvGrpSpPr/>
                <p:nvPr/>
              </p:nvGrpSpPr>
              <p:grpSpPr>
                <a:xfrm>
                  <a:off x="118936" y="0"/>
                  <a:ext cx="304788" cy="405974"/>
                  <a:chOff x="0" y="0"/>
                  <a:chExt cx="304787" cy="405973"/>
                </a:xfrm>
              </p:grpSpPr>
              <p:pic>
                <p:nvPicPr>
                  <p:cNvPr id="2326" name="Picture 395" descr="Picture 395"/>
                  <p:cNvPicPr>
                    <a:picLocks noChangeAspect="1"/>
                  </p:cNvPicPr>
                  <p:nvPr/>
                </p:nvPicPr>
                <p:blipFill>
                  <a:blip r:embed="rId18">
                    <a:extLst/>
                  </a:blip>
                  <a:stretch>
                    <a:fillRect/>
                  </a:stretch>
                </p:blipFill>
                <p:spPr>
                  <a:xfrm>
                    <a:off x="176272" y="59397"/>
                    <a:ext cx="128516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327" name="Picture 396" descr="Picture 396"/>
                  <p:cNvPicPr>
                    <a:picLocks noChangeAspect="1"/>
                  </p:cNvPicPr>
                  <p:nvPr/>
                </p:nvPicPr>
                <p:blipFill>
                  <a:blip r:embed="rId18">
                    <a:extLst/>
                  </a:blip>
                  <a:stretch>
                    <a:fillRect/>
                  </a:stretch>
                </p:blipFill>
                <p:spPr>
                  <a:xfrm>
                    <a:off x="-1" y="52605"/>
                    <a:ext cx="128517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328" name="Picture 397" descr="Picture 397"/>
                  <p:cNvPicPr>
                    <a:picLocks noChangeAspect="1"/>
                  </p:cNvPicPr>
                  <p:nvPr/>
                </p:nvPicPr>
                <p:blipFill>
                  <a:blip r:embed="rId18">
                    <a:extLst/>
                  </a:blip>
                  <a:stretch>
                    <a:fillRect/>
                  </a:stretch>
                </p:blipFill>
                <p:spPr>
                  <a:xfrm>
                    <a:off x="74200" y="0"/>
                    <a:ext cx="166308" cy="40597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</p:grpSp>
        <p:grpSp>
          <p:nvGrpSpPr>
            <p:cNvPr id="2459" name="Group 795"/>
            <p:cNvGrpSpPr/>
            <p:nvPr/>
          </p:nvGrpSpPr>
          <p:grpSpPr>
            <a:xfrm>
              <a:off x="334906" y="3040436"/>
              <a:ext cx="2695369" cy="1264447"/>
              <a:chOff x="0" y="0"/>
              <a:chExt cx="2695367" cy="1264446"/>
            </a:xfrm>
          </p:grpSpPr>
          <p:grpSp>
            <p:nvGrpSpPr>
              <p:cNvPr id="2364" name="Group 950"/>
              <p:cNvGrpSpPr/>
              <p:nvPr/>
            </p:nvGrpSpPr>
            <p:grpSpPr>
              <a:xfrm>
                <a:off x="2514934" y="373790"/>
                <a:ext cx="180434" cy="330834"/>
                <a:chOff x="0" y="0"/>
                <a:chExt cx="180433" cy="330833"/>
              </a:xfrm>
            </p:grpSpPr>
            <p:sp>
              <p:nvSpPr>
                <p:cNvPr id="2332" name="Freeform 951"/>
                <p:cNvSpPr/>
                <p:nvPr/>
              </p:nvSpPr>
              <p:spPr>
                <a:xfrm>
                  <a:off x="140261" y="552"/>
                  <a:ext cx="35191" cy="3156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844" y="0"/>
                      </a:moveTo>
                      <a:lnTo>
                        <a:pt x="21600" y="2670"/>
                      </a:lnTo>
                      <a:lnTo>
                        <a:pt x="21112" y="20670"/>
                      </a:lnTo>
                      <a:lnTo>
                        <a:pt x="0" y="21600"/>
                      </a:lnTo>
                      <a:lnTo>
                        <a:pt x="3844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33" name="Rectangle 952"/>
                <p:cNvSpPr/>
                <p:nvPr/>
              </p:nvSpPr>
              <p:spPr>
                <a:xfrm>
                  <a:off x="8704" y="0"/>
                  <a:ext cx="130066" cy="31550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34" name="Freeform 953"/>
                <p:cNvSpPr/>
                <p:nvPr/>
              </p:nvSpPr>
              <p:spPr>
                <a:xfrm>
                  <a:off x="147548" y="19468"/>
                  <a:ext cx="20319" cy="28797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83" h="21300" fill="norm" stroke="1" extrusionOk="0">
                      <a:moveTo>
                        <a:pt x="0" y="0"/>
                      </a:moveTo>
                      <a:cubicBezTo>
                        <a:pt x="0" y="0"/>
                        <a:pt x="5118" y="238"/>
                        <a:pt x="20883" y="1856"/>
                      </a:cubicBezTo>
                      <a:cubicBezTo>
                        <a:pt x="-717" y="10464"/>
                        <a:pt x="3480" y="21600"/>
                        <a:pt x="0" y="212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35" name="Freeform 954"/>
                <p:cNvSpPr/>
                <p:nvPr/>
              </p:nvSpPr>
              <p:spPr>
                <a:xfrm>
                  <a:off x="142250" y="167211"/>
                  <a:ext cx="32704" cy="26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36" name="Rectangle 955"/>
                <p:cNvSpPr/>
                <p:nvPr/>
              </p:nvSpPr>
              <p:spPr>
                <a:xfrm>
                  <a:off x="8704" y="32932"/>
                  <a:ext cx="7435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339" name="Group 956"/>
                <p:cNvGrpSpPr/>
                <p:nvPr/>
              </p:nvGrpSpPr>
              <p:grpSpPr>
                <a:xfrm>
                  <a:off x="75626" y="32712"/>
                  <a:ext cx="71847" cy="20742"/>
                  <a:chOff x="0" y="0"/>
                  <a:chExt cx="71846" cy="20741"/>
                </a:xfrm>
              </p:grpSpPr>
              <p:sp>
                <p:nvSpPr>
                  <p:cNvPr id="2337" name="AutoShape 957"/>
                  <p:cNvSpPr/>
                  <p:nvPr/>
                </p:nvSpPr>
                <p:spPr>
                  <a:xfrm>
                    <a:off x="0" y="0"/>
                    <a:ext cx="71847" cy="2074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338" name="AutoShape 958"/>
                  <p:cNvSpPr/>
                  <p:nvPr/>
                </p:nvSpPr>
                <p:spPr>
                  <a:xfrm>
                    <a:off x="1195" y="2160"/>
                    <a:ext cx="69356" cy="1642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340" name="Rectangle 959"/>
                <p:cNvSpPr/>
                <p:nvPr/>
              </p:nvSpPr>
              <p:spPr>
                <a:xfrm>
                  <a:off x="9947" y="78774"/>
                  <a:ext cx="7435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343" name="Group 960"/>
                <p:cNvGrpSpPr/>
                <p:nvPr/>
              </p:nvGrpSpPr>
              <p:grpSpPr>
                <a:xfrm>
                  <a:off x="75577" y="77481"/>
                  <a:ext cx="71847" cy="18503"/>
                  <a:chOff x="0" y="0"/>
                  <a:chExt cx="71846" cy="18502"/>
                </a:xfrm>
              </p:grpSpPr>
              <p:sp>
                <p:nvSpPr>
                  <p:cNvPr id="2341" name="AutoShape 961"/>
                  <p:cNvSpPr/>
                  <p:nvPr/>
                </p:nvSpPr>
                <p:spPr>
                  <a:xfrm>
                    <a:off x="0" y="0"/>
                    <a:ext cx="71847" cy="1850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342" name="AutoShape 962"/>
                  <p:cNvSpPr/>
                  <p:nvPr/>
                </p:nvSpPr>
                <p:spPr>
                  <a:xfrm>
                    <a:off x="1295" y="2262"/>
                    <a:ext cx="69356" cy="14244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344" name="Rectangle 963"/>
                <p:cNvSpPr/>
                <p:nvPr/>
              </p:nvSpPr>
              <p:spPr>
                <a:xfrm>
                  <a:off x="9947" y="124615"/>
                  <a:ext cx="7435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45" name="Rectangle 964"/>
                <p:cNvSpPr/>
                <p:nvPr/>
              </p:nvSpPr>
              <p:spPr>
                <a:xfrm>
                  <a:off x="11191" y="166177"/>
                  <a:ext cx="7435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348" name="Group 965"/>
                <p:cNvGrpSpPr/>
                <p:nvPr/>
              </p:nvGrpSpPr>
              <p:grpSpPr>
                <a:xfrm>
                  <a:off x="74384" y="168116"/>
                  <a:ext cx="71871" cy="18601"/>
                  <a:chOff x="0" y="0"/>
                  <a:chExt cx="71869" cy="18599"/>
                </a:xfrm>
              </p:grpSpPr>
              <p:sp>
                <p:nvSpPr>
                  <p:cNvPr id="2346" name="AutoShape 966"/>
                  <p:cNvSpPr/>
                  <p:nvPr/>
                </p:nvSpPr>
                <p:spPr>
                  <a:xfrm>
                    <a:off x="0" y="0"/>
                    <a:ext cx="71870" cy="186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347" name="AutoShape 967"/>
                  <p:cNvSpPr/>
                  <p:nvPr/>
                </p:nvSpPr>
                <p:spPr>
                  <a:xfrm>
                    <a:off x="1197" y="0"/>
                    <a:ext cx="69376" cy="16350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349" name="Freeform 968"/>
                <p:cNvSpPr/>
                <p:nvPr/>
              </p:nvSpPr>
              <p:spPr>
                <a:xfrm>
                  <a:off x="142748" y="127721"/>
                  <a:ext cx="32704" cy="259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352" name="Group 969"/>
                <p:cNvGrpSpPr/>
                <p:nvPr/>
              </p:nvGrpSpPr>
              <p:grpSpPr>
                <a:xfrm>
                  <a:off x="74382" y="124407"/>
                  <a:ext cx="73069" cy="18503"/>
                  <a:chOff x="0" y="0"/>
                  <a:chExt cx="73067" cy="18502"/>
                </a:xfrm>
              </p:grpSpPr>
              <p:sp>
                <p:nvSpPr>
                  <p:cNvPr id="2350" name="AutoShape 970"/>
                  <p:cNvSpPr/>
                  <p:nvPr/>
                </p:nvSpPr>
                <p:spPr>
                  <a:xfrm>
                    <a:off x="0" y="0"/>
                    <a:ext cx="73068" cy="1850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351" name="AutoShape 971"/>
                  <p:cNvSpPr/>
                  <p:nvPr/>
                </p:nvSpPr>
                <p:spPr>
                  <a:xfrm>
                    <a:off x="1197" y="2209"/>
                    <a:ext cx="71871" cy="14223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353" name="Rectangle 972"/>
                <p:cNvSpPr/>
                <p:nvPr/>
              </p:nvSpPr>
              <p:spPr>
                <a:xfrm>
                  <a:off x="135527" y="0"/>
                  <a:ext cx="12701" cy="31550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54" name="Freeform 973"/>
                <p:cNvSpPr/>
                <p:nvPr/>
              </p:nvSpPr>
              <p:spPr>
                <a:xfrm>
                  <a:off x="145732" y="79808"/>
                  <a:ext cx="29471" cy="2941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92" y="0"/>
                      </a:moveTo>
                      <a:cubicBezTo>
                        <a:pt x="4014" y="844"/>
                        <a:pt x="10508" y="5737"/>
                        <a:pt x="21308" y="12150"/>
                      </a:cubicBezTo>
                      <a:cubicBezTo>
                        <a:pt x="21162" y="15019"/>
                        <a:pt x="21600" y="15863"/>
                        <a:pt x="21600" y="21600"/>
                      </a:cubicBezTo>
                      <a:cubicBezTo>
                        <a:pt x="21600" y="21600"/>
                        <a:pt x="11676" y="14850"/>
                        <a:pt x="0" y="8437"/>
                      </a:cubicBezTo>
                      <a:cubicBezTo>
                        <a:pt x="0" y="4050"/>
                        <a:pt x="292" y="1434"/>
                        <a:pt x="292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55" name="Freeform 974"/>
                <p:cNvSpPr/>
                <p:nvPr/>
              </p:nvSpPr>
              <p:spPr>
                <a:xfrm>
                  <a:off x="146105" y="34657"/>
                  <a:ext cx="30341" cy="3313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cubicBezTo>
                        <a:pt x="3624" y="750"/>
                        <a:pt x="10516" y="5700"/>
                        <a:pt x="21600" y="12300"/>
                      </a:cubicBezTo>
                      <a:cubicBezTo>
                        <a:pt x="21458" y="14850"/>
                        <a:pt x="20179" y="16500"/>
                        <a:pt x="20179" y="21600"/>
                      </a:cubicBezTo>
                      <a:cubicBezTo>
                        <a:pt x="20179" y="21600"/>
                        <a:pt x="11582" y="13425"/>
                        <a:pt x="568" y="9300"/>
                      </a:cubicBezTo>
                      <a:cubicBezTo>
                        <a:pt x="568" y="5400"/>
                        <a:pt x="0" y="1275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56" name="Oval 975"/>
                <p:cNvSpPr/>
                <p:nvPr/>
              </p:nvSpPr>
              <p:spPr>
                <a:xfrm>
                  <a:off x="167733" y="301284"/>
                  <a:ext cx="12701" cy="13119"/>
                </a:xfrm>
                <a:prstGeom prst="ellipse">
                  <a:avLst/>
                </a:pr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57" name="Freeform 976"/>
                <p:cNvSpPr/>
                <p:nvPr/>
              </p:nvSpPr>
              <p:spPr>
                <a:xfrm>
                  <a:off x="144489" y="301698"/>
                  <a:ext cx="30465" cy="276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40"/>
                      </a:moveTo>
                      <a:lnTo>
                        <a:pt x="141" y="21600"/>
                      </a:lnTo>
                      <a:lnTo>
                        <a:pt x="21600" y="9900"/>
                      </a:lnTo>
                      <a:lnTo>
                        <a:pt x="21176" y="0"/>
                      </a:lnTo>
                      <a:lnTo>
                        <a:pt x="0" y="954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358" name="AutoShape 977"/>
                <p:cNvSpPr/>
                <p:nvPr/>
              </p:nvSpPr>
              <p:spPr>
                <a:xfrm>
                  <a:off x="0" y="310121"/>
                  <a:ext cx="148717" cy="2071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59" name="AutoShape 978"/>
                <p:cNvSpPr/>
                <p:nvPr/>
              </p:nvSpPr>
              <p:spPr>
                <a:xfrm>
                  <a:off x="8704" y="314610"/>
                  <a:ext cx="132553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398" y="0"/>
                        <a:pt x="889" y="0"/>
                      </a:cubicBezTo>
                      <a:lnTo>
                        <a:pt x="20711" y="0"/>
                      </a:lnTo>
                      <a:cubicBezTo>
                        <a:pt x="21202" y="0"/>
                        <a:pt x="21600" y="4835"/>
                        <a:pt x="21600" y="10800"/>
                      </a:cubicBezTo>
                      <a:cubicBezTo>
                        <a:pt x="21600" y="16765"/>
                        <a:pt x="21202" y="21600"/>
                        <a:pt x="20711" y="21600"/>
                      </a:cubicBezTo>
                      <a:lnTo>
                        <a:pt x="889" y="21600"/>
                      </a:lnTo>
                      <a:cubicBezTo>
                        <a:pt x="398" y="21600"/>
                        <a:pt x="0" y="16765"/>
                        <a:pt x="0" y="1080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60" name="Oval 979"/>
                <p:cNvSpPr/>
                <p:nvPr/>
              </p:nvSpPr>
              <p:spPr>
                <a:xfrm>
                  <a:off x="21014" y="269664"/>
                  <a:ext cx="19771" cy="19607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61" name="Oval 980"/>
                <p:cNvSpPr/>
                <p:nvPr/>
              </p:nvSpPr>
              <p:spPr>
                <a:xfrm>
                  <a:off x="43396" y="269664"/>
                  <a:ext cx="19771" cy="19607"/>
                </a:xfrm>
                <a:prstGeom prst="ellipse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62" name="Oval 981"/>
                <p:cNvSpPr/>
                <p:nvPr/>
              </p:nvSpPr>
              <p:spPr>
                <a:xfrm>
                  <a:off x="64410" y="269664"/>
                  <a:ext cx="19771" cy="19607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363" name="Rectangle 982"/>
                <p:cNvSpPr/>
                <p:nvPr/>
              </p:nvSpPr>
              <p:spPr>
                <a:xfrm>
                  <a:off x="113891" y="194412"/>
                  <a:ext cx="12701" cy="104801"/>
                </a:xfrm>
                <a:prstGeom prst="rect">
                  <a:avLst/>
                </a:prstGeom>
                <a:solidFill>
                  <a:srgbClr val="29292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2425" name="Group 793"/>
              <p:cNvGrpSpPr/>
              <p:nvPr/>
            </p:nvGrpSpPr>
            <p:grpSpPr>
              <a:xfrm>
                <a:off x="-1" y="-1"/>
                <a:ext cx="2080031" cy="1264448"/>
                <a:chOff x="0" y="0"/>
                <a:chExt cx="2080029" cy="1264446"/>
              </a:xfrm>
            </p:grpSpPr>
            <p:grpSp>
              <p:nvGrpSpPr>
                <p:cNvPr id="2367" name="Group 590"/>
                <p:cNvGrpSpPr/>
                <p:nvPr/>
              </p:nvGrpSpPr>
              <p:grpSpPr>
                <a:xfrm>
                  <a:off x="206874" y="0"/>
                  <a:ext cx="345630" cy="320303"/>
                  <a:chOff x="0" y="0"/>
                  <a:chExt cx="345629" cy="320302"/>
                </a:xfrm>
              </p:grpSpPr>
              <p:pic>
                <p:nvPicPr>
                  <p:cNvPr id="2365" name="Picture 591" descr="Picture 591"/>
                  <p:cNvPicPr>
                    <a:picLocks noChangeAspect="1"/>
                  </p:cNvPicPr>
                  <p:nvPr/>
                </p:nvPicPr>
                <p:blipFill>
                  <a:blip r:embed="rId19">
                    <a:extLst/>
                  </a:blip>
                  <a:stretch>
                    <a:fillRect/>
                  </a:stretch>
                </p:blipFill>
                <p:spPr>
                  <a:xfrm flipH="1">
                    <a:off x="0" y="0"/>
                    <a:ext cx="345630" cy="3203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2366" name="Freeform 592"/>
                  <p:cNvSpPr/>
                  <p:nvPr/>
                </p:nvSpPr>
                <p:spPr>
                  <a:xfrm flipH="1">
                    <a:off x="147407" y="30713"/>
                    <a:ext cx="162974" cy="1467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18202" y="822"/>
                        </a:lnTo>
                        <a:lnTo>
                          <a:pt x="21600" y="17257"/>
                        </a:lnTo>
                        <a:lnTo>
                          <a:pt x="4733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2391" name="Group 1064"/>
                <p:cNvGrpSpPr/>
                <p:nvPr/>
              </p:nvGrpSpPr>
              <p:grpSpPr>
                <a:xfrm>
                  <a:off x="1427700" y="952648"/>
                  <a:ext cx="310187" cy="311799"/>
                  <a:chOff x="0" y="0"/>
                  <a:chExt cx="310186" cy="311798"/>
                </a:xfrm>
              </p:grpSpPr>
              <p:pic>
                <p:nvPicPr>
                  <p:cNvPr id="2368" name="Picture 1065" descr="Picture 1065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0" y="0"/>
                    <a:ext cx="307702" cy="16881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369" name="Picture 1066" descr="Picture 1066"/>
                  <p:cNvPicPr>
                    <a:picLocks noChangeAspect="1"/>
                  </p:cNvPicPr>
                  <p:nvPr/>
                </p:nvPicPr>
                <p:blipFill>
                  <a:blip r:embed="rId21">
                    <a:extLst/>
                  </a:blip>
                  <a:stretch>
                    <a:fillRect/>
                  </a:stretch>
                </p:blipFill>
                <p:spPr>
                  <a:xfrm flipH="1" rot="109063">
                    <a:off x="14905" y="187464"/>
                    <a:ext cx="253502" cy="120345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2370" name="Freeform 1067"/>
                  <p:cNvSpPr/>
                  <p:nvPr/>
                </p:nvSpPr>
                <p:spPr>
                  <a:xfrm>
                    <a:off x="98916" y="70685"/>
                    <a:ext cx="204044" cy="15705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911" y="0"/>
                        </a:moveTo>
                        <a:lnTo>
                          <a:pt x="0" y="15338"/>
                        </a:lnTo>
                        <a:lnTo>
                          <a:pt x="17341" y="21600"/>
                        </a:lnTo>
                        <a:lnTo>
                          <a:pt x="21600" y="2813"/>
                        </a:lnTo>
                        <a:lnTo>
                          <a:pt x="3911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pic>
                <p:nvPicPr>
                  <p:cNvPr id="2371" name="Picture 1068" descr="Picture 1068"/>
                  <p:cNvPicPr>
                    <a:picLocks noChangeAspect="1"/>
                  </p:cNvPicPr>
                  <p:nvPr/>
                </p:nvPicPr>
                <p:blipFill>
                  <a:blip r:embed="rId22">
                    <a:extLst/>
                  </a:blip>
                  <a:stretch>
                    <a:fillRect/>
                  </a:stretch>
                </p:blipFill>
                <p:spPr>
                  <a:xfrm>
                    <a:off x="108965" y="74724"/>
                    <a:ext cx="185413" cy="142916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2372" name="Freeform 1069"/>
                  <p:cNvSpPr/>
                  <p:nvPr/>
                </p:nvSpPr>
                <p:spPr>
                  <a:xfrm>
                    <a:off x="136066" y="66052"/>
                    <a:ext cx="172878" cy="292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0" y="0"/>
                        </a:moveTo>
                        <a:lnTo>
                          <a:pt x="21600" y="16188"/>
                        </a:lnTo>
                        <a:lnTo>
                          <a:pt x="21190" y="21600"/>
                        </a:lnTo>
                        <a:lnTo>
                          <a:pt x="0" y="4083"/>
                        </a:lnTo>
                        <a:lnTo>
                          <a:pt x="12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3" name="Freeform 1070"/>
                  <p:cNvSpPr/>
                  <p:nvPr/>
                </p:nvSpPr>
                <p:spPr>
                  <a:xfrm>
                    <a:off x="97109" y="65814"/>
                    <a:ext cx="47991" cy="12165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815" y="0"/>
                        </a:moveTo>
                        <a:lnTo>
                          <a:pt x="0" y="21326"/>
                        </a:lnTo>
                        <a:lnTo>
                          <a:pt x="3508" y="21600"/>
                        </a:lnTo>
                        <a:lnTo>
                          <a:pt x="21600" y="582"/>
                        </a:lnTo>
                        <a:lnTo>
                          <a:pt x="17815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4" name="Freeform 1071"/>
                  <p:cNvSpPr/>
                  <p:nvPr/>
                </p:nvSpPr>
                <p:spPr>
                  <a:xfrm>
                    <a:off x="255985" y="87554"/>
                    <a:ext cx="51717" cy="14042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600" y="0"/>
                        </a:moveTo>
                        <a:lnTo>
                          <a:pt x="3943" y="21600"/>
                        </a:lnTo>
                        <a:lnTo>
                          <a:pt x="0" y="21244"/>
                        </a:lnTo>
                        <a:lnTo>
                          <a:pt x="17314" y="771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DDDDDD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5" name="Freeform 1072"/>
                  <p:cNvSpPr/>
                  <p:nvPr/>
                </p:nvSpPr>
                <p:spPr>
                  <a:xfrm>
                    <a:off x="96544" y="181287"/>
                    <a:ext cx="176920" cy="474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144" h="21600" fill="norm" stroke="1" extrusionOk="0">
                        <a:moveTo>
                          <a:pt x="257" y="0"/>
                        </a:moveTo>
                        <a:lnTo>
                          <a:pt x="0" y="2898"/>
                        </a:lnTo>
                        <a:lnTo>
                          <a:pt x="18975" y="21600"/>
                        </a:lnTo>
                        <a:cubicBezTo>
                          <a:pt x="19466" y="14663"/>
                          <a:pt x="21600" y="21278"/>
                          <a:pt x="18484" y="17649"/>
                        </a:cubicBezTo>
                        <a:lnTo>
                          <a:pt x="257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CC"/>
                      </a:gs>
                      <a:gs pos="100000">
                        <a:srgbClr val="FFFF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6" name="Freeform 1073"/>
                  <p:cNvSpPr/>
                  <p:nvPr/>
                </p:nvSpPr>
                <p:spPr>
                  <a:xfrm>
                    <a:off x="261744" y="88742"/>
                    <a:ext cx="48443" cy="14101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0854" y="0"/>
                        </a:moveTo>
                        <a:lnTo>
                          <a:pt x="21600" y="0"/>
                        </a:lnTo>
                        <a:lnTo>
                          <a:pt x="2306" y="21600"/>
                        </a:lnTo>
                        <a:lnTo>
                          <a:pt x="0" y="21444"/>
                        </a:lnTo>
                        <a:lnTo>
                          <a:pt x="20854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7" name="Freeform 1074"/>
                  <p:cNvSpPr/>
                  <p:nvPr/>
                </p:nvSpPr>
                <p:spPr>
                  <a:xfrm>
                    <a:off x="96770" y="187583"/>
                    <a:ext cx="168701" cy="4680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88" y="2239"/>
                        </a:lnTo>
                        <a:lnTo>
                          <a:pt x="21093" y="21600"/>
                        </a:lnTo>
                        <a:lnTo>
                          <a:pt x="21600" y="1947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grpSp>
                <p:nvGrpSpPr>
                  <p:cNvPr id="2384" name="Group 1075"/>
                  <p:cNvGrpSpPr/>
                  <p:nvPr/>
                </p:nvGrpSpPr>
                <p:grpSpPr>
                  <a:xfrm>
                    <a:off x="93947" y="237597"/>
                    <a:ext cx="57251" cy="29432"/>
                    <a:chOff x="0" y="0"/>
                    <a:chExt cx="57249" cy="29430"/>
                  </a:xfrm>
                </p:grpSpPr>
                <p:sp>
                  <p:nvSpPr>
                    <p:cNvPr id="2378" name="Freeform 1076"/>
                    <p:cNvSpPr/>
                    <p:nvPr/>
                  </p:nvSpPr>
                  <p:spPr>
                    <a:xfrm>
                      <a:off x="0" y="0"/>
                      <a:ext cx="57250" cy="2779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8416" y="0"/>
                          </a:moveTo>
                          <a:lnTo>
                            <a:pt x="21600" y="8191"/>
                          </a:lnTo>
                          <a:lnTo>
                            <a:pt x="13500" y="21600"/>
                          </a:lnTo>
                          <a:lnTo>
                            <a:pt x="0" y="12088"/>
                          </a:lnTo>
                          <a:lnTo>
                            <a:pt x="841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79" name="Freeform 1077"/>
                    <p:cNvSpPr/>
                    <p:nvPr/>
                  </p:nvSpPr>
                  <p:spPr>
                    <a:xfrm>
                      <a:off x="1065" y="595"/>
                      <a:ext cx="55271" cy="2643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8390" y="0"/>
                          </a:moveTo>
                          <a:lnTo>
                            <a:pt x="21600" y="8265"/>
                          </a:lnTo>
                          <a:lnTo>
                            <a:pt x="13597" y="21600"/>
                          </a:lnTo>
                          <a:lnTo>
                            <a:pt x="0" y="12015"/>
                          </a:lnTo>
                          <a:lnTo>
                            <a:pt x="839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80" name="Freeform 1078"/>
                    <p:cNvSpPr/>
                    <p:nvPr/>
                  </p:nvSpPr>
                  <p:spPr>
                    <a:xfrm>
                      <a:off x="5176" y="8782"/>
                      <a:ext cx="19643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9504"/>
                          </a:moveTo>
                          <a:lnTo>
                            <a:pt x="6279" y="0"/>
                          </a:lnTo>
                          <a:lnTo>
                            <a:pt x="21600" y="10800"/>
                          </a:lnTo>
                          <a:lnTo>
                            <a:pt x="15321" y="21600"/>
                          </a:lnTo>
                          <a:lnTo>
                            <a:pt x="0" y="950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81" name="Freeform 1079"/>
                    <p:cNvSpPr/>
                    <p:nvPr/>
                  </p:nvSpPr>
                  <p:spPr>
                    <a:xfrm>
                      <a:off x="4491" y="11119"/>
                      <a:ext cx="14770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336" y="0"/>
                          </a:moveTo>
                          <a:lnTo>
                            <a:pt x="21600" y="18171"/>
                          </a:lnTo>
                          <a:lnTo>
                            <a:pt x="20041" y="21600"/>
                          </a:lnTo>
                          <a:lnTo>
                            <a:pt x="0" y="3086"/>
                          </a:lnTo>
                          <a:lnTo>
                            <a:pt x="133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82" name="Freeform 1080"/>
                    <p:cNvSpPr/>
                    <p:nvPr/>
                  </p:nvSpPr>
                  <p:spPr>
                    <a:xfrm>
                      <a:off x="21316" y="14307"/>
                      <a:ext cx="19642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9741"/>
                          </a:moveTo>
                          <a:lnTo>
                            <a:pt x="5944" y="0"/>
                          </a:lnTo>
                          <a:lnTo>
                            <a:pt x="21600" y="11012"/>
                          </a:lnTo>
                          <a:lnTo>
                            <a:pt x="15321" y="21600"/>
                          </a:lnTo>
                          <a:lnTo>
                            <a:pt x="0" y="9741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83" name="Freeform 1081"/>
                    <p:cNvSpPr/>
                    <p:nvPr/>
                  </p:nvSpPr>
                  <p:spPr>
                    <a:xfrm>
                      <a:off x="20631" y="16730"/>
                      <a:ext cx="14770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336" y="0"/>
                          </a:moveTo>
                          <a:lnTo>
                            <a:pt x="21600" y="18171"/>
                          </a:lnTo>
                          <a:lnTo>
                            <a:pt x="20041" y="21600"/>
                          </a:lnTo>
                          <a:lnTo>
                            <a:pt x="0" y="3086"/>
                          </a:lnTo>
                          <a:lnTo>
                            <a:pt x="133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85" name="Freeform 1082"/>
                  <p:cNvSpPr/>
                  <p:nvPr/>
                </p:nvSpPr>
                <p:spPr>
                  <a:xfrm>
                    <a:off x="191960" y="241755"/>
                    <a:ext cx="69333" cy="6106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5" y="20127"/>
                        </a:moveTo>
                        <a:lnTo>
                          <a:pt x="21600" y="0"/>
                        </a:lnTo>
                        <a:lnTo>
                          <a:pt x="21535" y="1636"/>
                        </a:lnTo>
                        <a:lnTo>
                          <a:pt x="0" y="21600"/>
                        </a:lnTo>
                        <a:lnTo>
                          <a:pt x="65" y="20127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6" name="Freeform 1083"/>
                  <p:cNvSpPr/>
                  <p:nvPr/>
                </p:nvSpPr>
                <p:spPr>
                  <a:xfrm>
                    <a:off x="15018" y="246626"/>
                    <a:ext cx="177395" cy="5571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7" name="Freeform 1084"/>
                  <p:cNvSpPr/>
                  <p:nvPr/>
                </p:nvSpPr>
                <p:spPr>
                  <a:xfrm>
                    <a:off x="9740" y="235702"/>
                    <a:ext cx="12701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600" y="1469"/>
                        </a:moveTo>
                        <a:lnTo>
                          <a:pt x="19108" y="21600"/>
                        </a:lnTo>
                        <a:lnTo>
                          <a:pt x="0" y="21159"/>
                        </a:lnTo>
                        <a:lnTo>
                          <a:pt x="2492" y="0"/>
                        </a:lnTo>
                        <a:lnTo>
                          <a:pt x="21600" y="1469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8" name="Freeform 1085"/>
                  <p:cNvSpPr/>
                  <p:nvPr/>
                </p:nvSpPr>
                <p:spPr>
                  <a:xfrm>
                    <a:off x="15243" y="190434"/>
                    <a:ext cx="82432" cy="4668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90" y="0"/>
                        </a:moveTo>
                        <a:lnTo>
                          <a:pt x="0" y="21279"/>
                        </a:lnTo>
                        <a:lnTo>
                          <a:pt x="551" y="21600"/>
                        </a:lnTo>
                        <a:lnTo>
                          <a:pt x="21600" y="642"/>
                        </a:ln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9" name="Freeform 1086"/>
                  <p:cNvSpPr/>
                  <p:nvPr/>
                </p:nvSpPr>
                <p:spPr>
                  <a:xfrm>
                    <a:off x="20776" y="238785"/>
                    <a:ext cx="168249" cy="535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0" name="Freeform 1087"/>
                  <p:cNvSpPr/>
                  <p:nvPr/>
                </p:nvSpPr>
                <p:spPr>
                  <a:xfrm flipH="1" rot="10800000">
                    <a:off x="188799" y="234984"/>
                    <a:ext cx="68655" cy="554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2394" name="Group 590"/>
                <p:cNvGrpSpPr/>
                <p:nvPr/>
              </p:nvGrpSpPr>
              <p:grpSpPr>
                <a:xfrm>
                  <a:off x="0" y="380899"/>
                  <a:ext cx="345630" cy="320303"/>
                  <a:chOff x="0" y="0"/>
                  <a:chExt cx="345629" cy="320302"/>
                </a:xfrm>
              </p:grpSpPr>
              <p:pic>
                <p:nvPicPr>
                  <p:cNvPr id="2392" name="Picture 591" descr="Picture 591"/>
                  <p:cNvPicPr>
                    <a:picLocks noChangeAspect="1"/>
                  </p:cNvPicPr>
                  <p:nvPr/>
                </p:nvPicPr>
                <p:blipFill>
                  <a:blip r:embed="rId19">
                    <a:extLst/>
                  </a:blip>
                  <a:stretch>
                    <a:fillRect/>
                  </a:stretch>
                </p:blipFill>
                <p:spPr>
                  <a:xfrm flipH="1">
                    <a:off x="0" y="0"/>
                    <a:ext cx="345630" cy="3203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2393" name="Freeform 592"/>
                  <p:cNvSpPr/>
                  <p:nvPr/>
                </p:nvSpPr>
                <p:spPr>
                  <a:xfrm flipH="1">
                    <a:off x="147407" y="30713"/>
                    <a:ext cx="162974" cy="1467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18202" y="822"/>
                        </a:lnTo>
                        <a:lnTo>
                          <a:pt x="21600" y="17257"/>
                        </a:lnTo>
                        <a:lnTo>
                          <a:pt x="4733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2397" name="Group 590"/>
                <p:cNvGrpSpPr/>
                <p:nvPr/>
              </p:nvGrpSpPr>
              <p:grpSpPr>
                <a:xfrm>
                  <a:off x="379928" y="604496"/>
                  <a:ext cx="345630" cy="320303"/>
                  <a:chOff x="0" y="0"/>
                  <a:chExt cx="345629" cy="320302"/>
                </a:xfrm>
              </p:grpSpPr>
              <p:pic>
                <p:nvPicPr>
                  <p:cNvPr id="2395" name="Picture 591" descr="Picture 591"/>
                  <p:cNvPicPr>
                    <a:picLocks noChangeAspect="1"/>
                  </p:cNvPicPr>
                  <p:nvPr/>
                </p:nvPicPr>
                <p:blipFill>
                  <a:blip r:embed="rId19">
                    <a:extLst/>
                  </a:blip>
                  <a:stretch>
                    <a:fillRect/>
                  </a:stretch>
                </p:blipFill>
                <p:spPr>
                  <a:xfrm flipH="1">
                    <a:off x="0" y="0"/>
                    <a:ext cx="345630" cy="3203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2396" name="Freeform 592"/>
                  <p:cNvSpPr/>
                  <p:nvPr/>
                </p:nvSpPr>
                <p:spPr>
                  <a:xfrm flipH="1">
                    <a:off x="147407" y="30713"/>
                    <a:ext cx="162974" cy="1467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18202" y="822"/>
                        </a:lnTo>
                        <a:lnTo>
                          <a:pt x="21600" y="17257"/>
                        </a:lnTo>
                        <a:lnTo>
                          <a:pt x="4733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2400" name="Group 590"/>
                <p:cNvGrpSpPr/>
                <p:nvPr/>
              </p:nvGrpSpPr>
              <p:grpSpPr>
                <a:xfrm>
                  <a:off x="778153" y="625969"/>
                  <a:ext cx="345631" cy="320303"/>
                  <a:chOff x="0" y="0"/>
                  <a:chExt cx="345629" cy="320302"/>
                </a:xfrm>
              </p:grpSpPr>
              <p:pic>
                <p:nvPicPr>
                  <p:cNvPr id="2398" name="Picture 591" descr="Picture 591"/>
                  <p:cNvPicPr>
                    <a:picLocks noChangeAspect="1"/>
                  </p:cNvPicPr>
                  <p:nvPr/>
                </p:nvPicPr>
                <p:blipFill>
                  <a:blip r:embed="rId19">
                    <a:extLst/>
                  </a:blip>
                  <a:stretch>
                    <a:fillRect/>
                  </a:stretch>
                </p:blipFill>
                <p:spPr>
                  <a:xfrm flipH="1">
                    <a:off x="0" y="0"/>
                    <a:ext cx="345630" cy="32030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2399" name="Freeform 592"/>
                  <p:cNvSpPr/>
                  <p:nvPr/>
                </p:nvSpPr>
                <p:spPr>
                  <a:xfrm flipH="1">
                    <a:off x="147407" y="30713"/>
                    <a:ext cx="162974" cy="14679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18202" y="822"/>
                        </a:lnTo>
                        <a:lnTo>
                          <a:pt x="21600" y="17257"/>
                        </a:lnTo>
                        <a:lnTo>
                          <a:pt x="4733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2424" name="Group 1064"/>
                <p:cNvGrpSpPr/>
                <p:nvPr/>
              </p:nvGrpSpPr>
              <p:grpSpPr>
                <a:xfrm>
                  <a:off x="1760765" y="894977"/>
                  <a:ext cx="319265" cy="257493"/>
                  <a:chOff x="0" y="0"/>
                  <a:chExt cx="319264" cy="257492"/>
                </a:xfrm>
              </p:grpSpPr>
              <p:pic>
                <p:nvPicPr>
                  <p:cNvPr id="2401" name="Picture 1065" descr="Picture 1065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0" y="0"/>
                    <a:ext cx="316708" cy="138963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402" name="Picture 1066" descr="Picture 1066"/>
                  <p:cNvPicPr>
                    <a:picLocks noChangeAspect="1"/>
                  </p:cNvPicPr>
                  <p:nvPr/>
                </p:nvPicPr>
                <p:blipFill>
                  <a:blip r:embed="rId21">
                    <a:extLst/>
                  </a:blip>
                  <a:stretch>
                    <a:fillRect/>
                  </a:stretch>
                </p:blipFill>
                <p:spPr>
                  <a:xfrm flipH="1" rot="109063">
                    <a:off x="15341" y="154315"/>
                    <a:ext cx="260921" cy="99065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2403" name="Freeform 1067"/>
                  <p:cNvSpPr/>
                  <p:nvPr/>
                </p:nvSpPr>
                <p:spPr>
                  <a:xfrm>
                    <a:off x="101811" y="58186"/>
                    <a:ext cx="210015" cy="1292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3911" y="0"/>
                        </a:moveTo>
                        <a:lnTo>
                          <a:pt x="0" y="15338"/>
                        </a:lnTo>
                        <a:lnTo>
                          <a:pt x="17341" y="21600"/>
                        </a:lnTo>
                        <a:lnTo>
                          <a:pt x="21600" y="2813"/>
                        </a:lnTo>
                        <a:lnTo>
                          <a:pt x="3911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pic>
                <p:nvPicPr>
                  <p:cNvPr id="2404" name="Picture 1068" descr="Picture 1068"/>
                  <p:cNvPicPr>
                    <a:picLocks noChangeAspect="1"/>
                  </p:cNvPicPr>
                  <p:nvPr/>
                </p:nvPicPr>
                <p:blipFill>
                  <a:blip r:embed="rId22">
                    <a:extLst/>
                  </a:blip>
                  <a:stretch>
                    <a:fillRect/>
                  </a:stretch>
                </p:blipFill>
                <p:spPr>
                  <a:xfrm>
                    <a:off x="112154" y="61511"/>
                    <a:ext cx="190839" cy="1176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sp>
                <p:nvSpPr>
                  <p:cNvPr id="2405" name="Freeform 1069"/>
                  <p:cNvSpPr/>
                  <p:nvPr/>
                </p:nvSpPr>
                <p:spPr>
                  <a:xfrm>
                    <a:off x="140048" y="54372"/>
                    <a:ext cx="177938" cy="2405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0" y="0"/>
                        </a:moveTo>
                        <a:lnTo>
                          <a:pt x="21600" y="16188"/>
                        </a:lnTo>
                        <a:lnTo>
                          <a:pt x="21190" y="21600"/>
                        </a:lnTo>
                        <a:lnTo>
                          <a:pt x="0" y="4083"/>
                        </a:lnTo>
                        <a:lnTo>
                          <a:pt x="12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06" name="Freeform 1070"/>
                  <p:cNvSpPr/>
                  <p:nvPr/>
                </p:nvSpPr>
                <p:spPr>
                  <a:xfrm>
                    <a:off x="99951" y="54176"/>
                    <a:ext cx="49396" cy="10014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815" y="0"/>
                        </a:moveTo>
                        <a:lnTo>
                          <a:pt x="0" y="21326"/>
                        </a:lnTo>
                        <a:lnTo>
                          <a:pt x="3508" y="21600"/>
                        </a:lnTo>
                        <a:lnTo>
                          <a:pt x="21600" y="582"/>
                        </a:lnTo>
                        <a:lnTo>
                          <a:pt x="17815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07" name="Freeform 1071"/>
                  <p:cNvSpPr/>
                  <p:nvPr/>
                </p:nvSpPr>
                <p:spPr>
                  <a:xfrm>
                    <a:off x="263477" y="72072"/>
                    <a:ext cx="53231" cy="11559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600" y="0"/>
                        </a:moveTo>
                        <a:lnTo>
                          <a:pt x="3943" y="21600"/>
                        </a:lnTo>
                        <a:lnTo>
                          <a:pt x="0" y="21244"/>
                        </a:lnTo>
                        <a:lnTo>
                          <a:pt x="17314" y="771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DDDDDD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08" name="Freeform 1072"/>
                  <p:cNvSpPr/>
                  <p:nvPr/>
                </p:nvSpPr>
                <p:spPr>
                  <a:xfrm>
                    <a:off x="99370" y="149230"/>
                    <a:ext cx="182098" cy="3902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144" h="21600" fill="norm" stroke="1" extrusionOk="0">
                        <a:moveTo>
                          <a:pt x="257" y="0"/>
                        </a:moveTo>
                        <a:lnTo>
                          <a:pt x="0" y="2898"/>
                        </a:lnTo>
                        <a:lnTo>
                          <a:pt x="18975" y="21600"/>
                        </a:lnTo>
                        <a:cubicBezTo>
                          <a:pt x="19466" y="14663"/>
                          <a:pt x="21600" y="21278"/>
                          <a:pt x="18484" y="17649"/>
                        </a:cubicBezTo>
                        <a:lnTo>
                          <a:pt x="257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CC"/>
                      </a:gs>
                      <a:gs pos="100000">
                        <a:srgbClr val="FFFF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09" name="Freeform 1073"/>
                  <p:cNvSpPr/>
                  <p:nvPr/>
                </p:nvSpPr>
                <p:spPr>
                  <a:xfrm>
                    <a:off x="269404" y="73050"/>
                    <a:ext cx="49861" cy="1160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0854" y="0"/>
                        </a:moveTo>
                        <a:lnTo>
                          <a:pt x="21600" y="0"/>
                        </a:lnTo>
                        <a:lnTo>
                          <a:pt x="2306" y="21600"/>
                        </a:lnTo>
                        <a:lnTo>
                          <a:pt x="0" y="21444"/>
                        </a:lnTo>
                        <a:lnTo>
                          <a:pt x="20854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10" name="Freeform 1074"/>
                  <p:cNvSpPr/>
                  <p:nvPr/>
                </p:nvSpPr>
                <p:spPr>
                  <a:xfrm>
                    <a:off x="99602" y="154413"/>
                    <a:ext cx="173638" cy="3853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lnTo>
                          <a:pt x="88" y="2239"/>
                        </a:lnTo>
                        <a:lnTo>
                          <a:pt x="21093" y="21600"/>
                        </a:lnTo>
                        <a:lnTo>
                          <a:pt x="21600" y="1947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grpSp>
                <p:nvGrpSpPr>
                  <p:cNvPr id="2417" name="Group 1075"/>
                  <p:cNvGrpSpPr/>
                  <p:nvPr/>
                </p:nvGrpSpPr>
                <p:grpSpPr>
                  <a:xfrm>
                    <a:off x="96697" y="195583"/>
                    <a:ext cx="58926" cy="25351"/>
                    <a:chOff x="0" y="0"/>
                    <a:chExt cx="58924" cy="25349"/>
                  </a:xfrm>
                </p:grpSpPr>
                <p:sp>
                  <p:nvSpPr>
                    <p:cNvPr id="2411" name="Freeform 1076"/>
                    <p:cNvSpPr/>
                    <p:nvPr/>
                  </p:nvSpPr>
                  <p:spPr>
                    <a:xfrm>
                      <a:off x="0" y="0"/>
                      <a:ext cx="58925" cy="22884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8416" y="0"/>
                          </a:moveTo>
                          <a:lnTo>
                            <a:pt x="21600" y="8191"/>
                          </a:lnTo>
                          <a:lnTo>
                            <a:pt x="13500" y="21600"/>
                          </a:lnTo>
                          <a:lnTo>
                            <a:pt x="0" y="12088"/>
                          </a:lnTo>
                          <a:lnTo>
                            <a:pt x="841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12" name="Freeform 1077"/>
                    <p:cNvSpPr/>
                    <p:nvPr/>
                  </p:nvSpPr>
                  <p:spPr>
                    <a:xfrm>
                      <a:off x="1097" y="489"/>
                      <a:ext cx="56888" cy="2176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8390" y="0"/>
                          </a:moveTo>
                          <a:lnTo>
                            <a:pt x="21600" y="8265"/>
                          </a:lnTo>
                          <a:lnTo>
                            <a:pt x="13597" y="21600"/>
                          </a:lnTo>
                          <a:lnTo>
                            <a:pt x="0" y="12015"/>
                          </a:lnTo>
                          <a:lnTo>
                            <a:pt x="8390" y="0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13" name="Freeform 1078"/>
                    <p:cNvSpPr/>
                    <p:nvPr/>
                  </p:nvSpPr>
                  <p:spPr>
                    <a:xfrm>
                      <a:off x="5328" y="6106"/>
                      <a:ext cx="20217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9504"/>
                          </a:moveTo>
                          <a:lnTo>
                            <a:pt x="6279" y="0"/>
                          </a:lnTo>
                          <a:lnTo>
                            <a:pt x="21600" y="10800"/>
                          </a:lnTo>
                          <a:lnTo>
                            <a:pt x="15321" y="21600"/>
                          </a:lnTo>
                          <a:lnTo>
                            <a:pt x="0" y="950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14" name="Freeform 1079"/>
                    <p:cNvSpPr/>
                    <p:nvPr/>
                  </p:nvSpPr>
                  <p:spPr>
                    <a:xfrm>
                      <a:off x="4623" y="8030"/>
                      <a:ext cx="15202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336" y="0"/>
                          </a:moveTo>
                          <a:lnTo>
                            <a:pt x="21600" y="18171"/>
                          </a:lnTo>
                          <a:lnTo>
                            <a:pt x="20041" y="21600"/>
                          </a:lnTo>
                          <a:lnTo>
                            <a:pt x="0" y="3086"/>
                          </a:lnTo>
                          <a:lnTo>
                            <a:pt x="133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15" name="Freeform 1080"/>
                    <p:cNvSpPr/>
                    <p:nvPr/>
                  </p:nvSpPr>
                  <p:spPr>
                    <a:xfrm>
                      <a:off x="21940" y="10655"/>
                      <a:ext cx="20217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9741"/>
                          </a:moveTo>
                          <a:lnTo>
                            <a:pt x="5944" y="0"/>
                          </a:lnTo>
                          <a:lnTo>
                            <a:pt x="21600" y="11012"/>
                          </a:lnTo>
                          <a:lnTo>
                            <a:pt x="15321" y="21600"/>
                          </a:lnTo>
                          <a:lnTo>
                            <a:pt x="0" y="9741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16" name="Freeform 1081"/>
                    <p:cNvSpPr/>
                    <p:nvPr/>
                  </p:nvSpPr>
                  <p:spPr>
                    <a:xfrm>
                      <a:off x="21234" y="12649"/>
                      <a:ext cx="15203" cy="127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336" y="0"/>
                          </a:moveTo>
                          <a:lnTo>
                            <a:pt x="21600" y="18171"/>
                          </a:lnTo>
                          <a:lnTo>
                            <a:pt x="20041" y="21600"/>
                          </a:lnTo>
                          <a:lnTo>
                            <a:pt x="0" y="3086"/>
                          </a:lnTo>
                          <a:lnTo>
                            <a:pt x="1336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18" name="Freeform 1082"/>
                  <p:cNvSpPr/>
                  <p:nvPr/>
                </p:nvSpPr>
                <p:spPr>
                  <a:xfrm>
                    <a:off x="197578" y="199006"/>
                    <a:ext cx="71362" cy="5026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65" y="20127"/>
                        </a:moveTo>
                        <a:lnTo>
                          <a:pt x="21600" y="0"/>
                        </a:lnTo>
                        <a:lnTo>
                          <a:pt x="21535" y="1636"/>
                        </a:lnTo>
                        <a:lnTo>
                          <a:pt x="0" y="21600"/>
                        </a:lnTo>
                        <a:lnTo>
                          <a:pt x="65" y="20127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19" name="Freeform 1083"/>
                  <p:cNvSpPr/>
                  <p:nvPr/>
                </p:nvSpPr>
                <p:spPr>
                  <a:xfrm>
                    <a:off x="15457" y="203016"/>
                    <a:ext cx="182587" cy="458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20" name="Freeform 1084"/>
                  <p:cNvSpPr/>
                  <p:nvPr/>
                </p:nvSpPr>
                <p:spPr>
                  <a:xfrm>
                    <a:off x="10211" y="192901"/>
                    <a:ext cx="12701" cy="127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600" y="1469"/>
                        </a:moveTo>
                        <a:lnTo>
                          <a:pt x="19108" y="21600"/>
                        </a:lnTo>
                        <a:lnTo>
                          <a:pt x="0" y="21159"/>
                        </a:lnTo>
                        <a:lnTo>
                          <a:pt x="2492" y="0"/>
                        </a:lnTo>
                        <a:lnTo>
                          <a:pt x="21600" y="1469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21" name="Freeform 1085"/>
                  <p:cNvSpPr/>
                  <p:nvPr/>
                </p:nvSpPr>
                <p:spPr>
                  <a:xfrm>
                    <a:off x="15690" y="156760"/>
                    <a:ext cx="84843" cy="3843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90" y="0"/>
                        </a:moveTo>
                        <a:lnTo>
                          <a:pt x="0" y="21279"/>
                        </a:lnTo>
                        <a:lnTo>
                          <a:pt x="551" y="21600"/>
                        </a:lnTo>
                        <a:lnTo>
                          <a:pt x="21600" y="642"/>
                        </a:lnTo>
                        <a:lnTo>
                          <a:pt x="2149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22" name="Freeform 1086"/>
                  <p:cNvSpPr/>
                  <p:nvPr/>
                </p:nvSpPr>
                <p:spPr>
                  <a:xfrm>
                    <a:off x="21385" y="196561"/>
                    <a:ext cx="173172" cy="4410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23" name="Freeform 1087"/>
                  <p:cNvSpPr/>
                  <p:nvPr/>
                </p:nvSpPr>
                <p:spPr>
                  <a:xfrm flipH="1" rot="10800000">
                    <a:off x="194324" y="193432"/>
                    <a:ext cx="70664" cy="4567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51" y="0"/>
                        </a:moveTo>
                        <a:cubicBezTo>
                          <a:pt x="136" y="0"/>
                          <a:pt x="222" y="0"/>
                          <a:pt x="307" y="0"/>
                        </a:cubicBezTo>
                        <a:lnTo>
                          <a:pt x="21600" y="20256"/>
                        </a:lnTo>
                        <a:lnTo>
                          <a:pt x="21574" y="21600"/>
                        </a:lnTo>
                        <a:lnTo>
                          <a:pt x="0" y="717"/>
                        </a:lnTo>
                        <a:lnTo>
                          <a:pt x="51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</p:grpSp>
          <p:grpSp>
            <p:nvGrpSpPr>
              <p:cNvPr id="2458" name="Group 983"/>
              <p:cNvGrpSpPr/>
              <p:nvPr/>
            </p:nvGrpSpPr>
            <p:grpSpPr>
              <a:xfrm>
                <a:off x="2243896" y="736227"/>
                <a:ext cx="174793" cy="348945"/>
                <a:chOff x="0" y="0"/>
                <a:chExt cx="174792" cy="348944"/>
              </a:xfrm>
            </p:grpSpPr>
            <p:sp>
              <p:nvSpPr>
                <p:cNvPr id="2426" name="Freeform 984"/>
                <p:cNvSpPr/>
                <p:nvPr/>
              </p:nvSpPr>
              <p:spPr>
                <a:xfrm>
                  <a:off x="135716" y="582"/>
                  <a:ext cx="34050" cy="3329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3844" y="0"/>
                      </a:moveTo>
                      <a:lnTo>
                        <a:pt x="21600" y="2670"/>
                      </a:lnTo>
                      <a:lnTo>
                        <a:pt x="21112" y="20670"/>
                      </a:lnTo>
                      <a:lnTo>
                        <a:pt x="0" y="21600"/>
                      </a:lnTo>
                      <a:lnTo>
                        <a:pt x="3844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27" name="Rectangle 985"/>
                <p:cNvSpPr/>
                <p:nvPr/>
              </p:nvSpPr>
              <p:spPr>
                <a:xfrm>
                  <a:off x="8422" y="0"/>
                  <a:ext cx="125851" cy="332779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28" name="Freeform 986"/>
                <p:cNvSpPr/>
                <p:nvPr/>
              </p:nvSpPr>
              <p:spPr>
                <a:xfrm>
                  <a:off x="142767" y="20534"/>
                  <a:ext cx="19660" cy="30373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883" h="21300" fill="norm" stroke="1" extrusionOk="0">
                      <a:moveTo>
                        <a:pt x="0" y="0"/>
                      </a:moveTo>
                      <a:cubicBezTo>
                        <a:pt x="0" y="0"/>
                        <a:pt x="5118" y="238"/>
                        <a:pt x="20883" y="1856"/>
                      </a:cubicBezTo>
                      <a:cubicBezTo>
                        <a:pt x="-717" y="10464"/>
                        <a:pt x="3480" y="21600"/>
                        <a:pt x="0" y="2129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29" name="Freeform 987"/>
                <p:cNvSpPr/>
                <p:nvPr/>
              </p:nvSpPr>
              <p:spPr>
                <a:xfrm>
                  <a:off x="137641" y="176365"/>
                  <a:ext cx="31644" cy="275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30" name="Rectangle 988"/>
                <p:cNvSpPr/>
                <p:nvPr/>
              </p:nvSpPr>
              <p:spPr>
                <a:xfrm>
                  <a:off x="8422" y="35083"/>
                  <a:ext cx="7194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433" name="Group 989"/>
                <p:cNvGrpSpPr/>
                <p:nvPr/>
              </p:nvGrpSpPr>
              <p:grpSpPr>
                <a:xfrm>
                  <a:off x="73175" y="34503"/>
                  <a:ext cx="69519" cy="21878"/>
                  <a:chOff x="0" y="0"/>
                  <a:chExt cx="69517" cy="21876"/>
                </a:xfrm>
              </p:grpSpPr>
              <p:sp>
                <p:nvSpPr>
                  <p:cNvPr id="2431" name="AutoShape 990"/>
                  <p:cNvSpPr/>
                  <p:nvPr/>
                </p:nvSpPr>
                <p:spPr>
                  <a:xfrm>
                    <a:off x="0" y="0"/>
                    <a:ext cx="69518" cy="2187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432" name="AutoShape 991"/>
                  <p:cNvSpPr/>
                  <p:nvPr/>
                </p:nvSpPr>
                <p:spPr>
                  <a:xfrm>
                    <a:off x="1157" y="2278"/>
                    <a:ext cx="67108" cy="1732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434" name="Rectangle 992"/>
                <p:cNvSpPr/>
                <p:nvPr/>
              </p:nvSpPr>
              <p:spPr>
                <a:xfrm>
                  <a:off x="9625" y="83434"/>
                  <a:ext cx="7194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437" name="Group 993"/>
                <p:cNvGrpSpPr/>
                <p:nvPr/>
              </p:nvGrpSpPr>
              <p:grpSpPr>
                <a:xfrm>
                  <a:off x="73128" y="81722"/>
                  <a:ext cx="69518" cy="19517"/>
                  <a:chOff x="0" y="0"/>
                  <a:chExt cx="69517" cy="19515"/>
                </a:xfrm>
              </p:grpSpPr>
              <p:sp>
                <p:nvSpPr>
                  <p:cNvPr id="2435" name="AutoShape 994"/>
                  <p:cNvSpPr/>
                  <p:nvPr/>
                </p:nvSpPr>
                <p:spPr>
                  <a:xfrm>
                    <a:off x="0" y="0"/>
                    <a:ext cx="69518" cy="195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436" name="AutoShape 995"/>
                  <p:cNvSpPr/>
                  <p:nvPr/>
                </p:nvSpPr>
                <p:spPr>
                  <a:xfrm>
                    <a:off x="1253" y="2386"/>
                    <a:ext cx="67108" cy="15024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438" name="Rectangle 996"/>
                <p:cNvSpPr/>
                <p:nvPr/>
              </p:nvSpPr>
              <p:spPr>
                <a:xfrm>
                  <a:off x="9625" y="131785"/>
                  <a:ext cx="7194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39" name="Rectangle 997"/>
                <p:cNvSpPr/>
                <p:nvPr/>
              </p:nvSpPr>
              <p:spPr>
                <a:xfrm>
                  <a:off x="10828" y="175621"/>
                  <a:ext cx="71949" cy="12701"/>
                </a:xfrm>
                <a:prstGeom prst="rect">
                  <a:avLst/>
                </a:prstGeom>
                <a:solidFill>
                  <a:srgbClr val="000000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2442" name="Group 998"/>
                <p:cNvGrpSpPr/>
                <p:nvPr/>
              </p:nvGrpSpPr>
              <p:grpSpPr>
                <a:xfrm>
                  <a:off x="71974" y="177319"/>
                  <a:ext cx="69542" cy="19619"/>
                  <a:chOff x="0" y="0"/>
                  <a:chExt cx="69540" cy="19617"/>
                </a:xfrm>
              </p:grpSpPr>
              <p:sp>
                <p:nvSpPr>
                  <p:cNvPr id="2440" name="AutoShape 999"/>
                  <p:cNvSpPr/>
                  <p:nvPr/>
                </p:nvSpPr>
                <p:spPr>
                  <a:xfrm>
                    <a:off x="0" y="0"/>
                    <a:ext cx="69541" cy="1961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441" name="AutoShape 1000"/>
                  <p:cNvSpPr/>
                  <p:nvPr/>
                </p:nvSpPr>
                <p:spPr>
                  <a:xfrm>
                    <a:off x="1159" y="0"/>
                    <a:ext cx="67127" cy="1724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443" name="Freeform 1001"/>
                <p:cNvSpPr/>
                <p:nvPr/>
              </p:nvSpPr>
              <p:spPr>
                <a:xfrm>
                  <a:off x="138122" y="134713"/>
                  <a:ext cx="31644" cy="2738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3" y="0"/>
                      </a:moveTo>
                      <a:cubicBezTo>
                        <a:pt x="3951" y="956"/>
                        <a:pt x="11985" y="7073"/>
                        <a:pt x="21600" y="12234"/>
                      </a:cubicBezTo>
                      <a:cubicBezTo>
                        <a:pt x="21468" y="15483"/>
                        <a:pt x="21468" y="15101"/>
                        <a:pt x="21468" y="21600"/>
                      </a:cubicBezTo>
                      <a:cubicBezTo>
                        <a:pt x="21468" y="21600"/>
                        <a:pt x="11129" y="14814"/>
                        <a:pt x="0" y="9558"/>
                      </a:cubicBezTo>
                      <a:cubicBezTo>
                        <a:pt x="0" y="4588"/>
                        <a:pt x="263" y="1625"/>
                        <a:pt x="26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446" name="Group 1002"/>
                <p:cNvGrpSpPr/>
                <p:nvPr/>
              </p:nvGrpSpPr>
              <p:grpSpPr>
                <a:xfrm>
                  <a:off x="71972" y="131218"/>
                  <a:ext cx="70701" cy="19516"/>
                  <a:chOff x="0" y="0"/>
                  <a:chExt cx="70699" cy="19515"/>
                </a:xfrm>
              </p:grpSpPr>
              <p:sp>
                <p:nvSpPr>
                  <p:cNvPr id="2444" name="AutoShape 1003"/>
                  <p:cNvSpPr/>
                  <p:nvPr/>
                </p:nvSpPr>
                <p:spPr>
                  <a:xfrm>
                    <a:off x="0" y="0"/>
                    <a:ext cx="70700" cy="195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2445" name="AutoShape 1004"/>
                  <p:cNvSpPr/>
                  <p:nvPr/>
                </p:nvSpPr>
                <p:spPr>
                  <a:xfrm>
                    <a:off x="1159" y="2330"/>
                    <a:ext cx="69541" cy="15001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</p:grpSp>
            <p:sp>
              <p:nvSpPr>
                <p:cNvPr id="2447" name="Rectangle 1005"/>
                <p:cNvSpPr/>
                <p:nvPr/>
              </p:nvSpPr>
              <p:spPr>
                <a:xfrm>
                  <a:off x="130930" y="0"/>
                  <a:ext cx="12701" cy="332779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48" name="Freeform 1006"/>
                <p:cNvSpPr/>
                <p:nvPr/>
              </p:nvSpPr>
              <p:spPr>
                <a:xfrm>
                  <a:off x="141010" y="84177"/>
                  <a:ext cx="28515" cy="310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92" y="0"/>
                      </a:moveTo>
                      <a:cubicBezTo>
                        <a:pt x="4014" y="844"/>
                        <a:pt x="10508" y="5738"/>
                        <a:pt x="21308" y="12150"/>
                      </a:cubicBezTo>
                      <a:cubicBezTo>
                        <a:pt x="21162" y="15019"/>
                        <a:pt x="21600" y="15862"/>
                        <a:pt x="21600" y="21600"/>
                      </a:cubicBezTo>
                      <a:cubicBezTo>
                        <a:pt x="21600" y="21600"/>
                        <a:pt x="11676" y="14850"/>
                        <a:pt x="0" y="8438"/>
                      </a:cubicBezTo>
                      <a:cubicBezTo>
                        <a:pt x="0" y="4050"/>
                        <a:pt x="292" y="1434"/>
                        <a:pt x="292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49" name="Freeform 1007"/>
                <p:cNvSpPr/>
                <p:nvPr/>
              </p:nvSpPr>
              <p:spPr>
                <a:xfrm>
                  <a:off x="141371" y="36554"/>
                  <a:ext cx="29358" cy="349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0"/>
                      </a:moveTo>
                      <a:cubicBezTo>
                        <a:pt x="3624" y="750"/>
                        <a:pt x="10516" y="5700"/>
                        <a:pt x="21600" y="12300"/>
                      </a:cubicBezTo>
                      <a:cubicBezTo>
                        <a:pt x="21458" y="14850"/>
                        <a:pt x="20179" y="16500"/>
                        <a:pt x="20179" y="21600"/>
                      </a:cubicBezTo>
                      <a:cubicBezTo>
                        <a:pt x="20179" y="21600"/>
                        <a:pt x="11582" y="13425"/>
                        <a:pt x="568" y="9300"/>
                      </a:cubicBezTo>
                      <a:cubicBezTo>
                        <a:pt x="568" y="5400"/>
                        <a:pt x="0" y="1275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50" name="Oval 1008"/>
                <p:cNvSpPr/>
                <p:nvPr/>
              </p:nvSpPr>
              <p:spPr>
                <a:xfrm>
                  <a:off x="162092" y="317777"/>
                  <a:ext cx="12701" cy="13837"/>
                </a:xfrm>
                <a:prstGeom prst="ellipse">
                  <a:avLst/>
                </a:pr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51" name="Freeform 1009"/>
                <p:cNvSpPr/>
                <p:nvPr/>
              </p:nvSpPr>
              <p:spPr>
                <a:xfrm>
                  <a:off x="139806" y="318214"/>
                  <a:ext cx="29479" cy="291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40"/>
                      </a:moveTo>
                      <a:lnTo>
                        <a:pt x="141" y="21600"/>
                      </a:lnTo>
                      <a:lnTo>
                        <a:pt x="21600" y="9900"/>
                      </a:lnTo>
                      <a:lnTo>
                        <a:pt x="21176" y="0"/>
                      </a:lnTo>
                      <a:lnTo>
                        <a:pt x="0" y="954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452" name="AutoShape 1010"/>
                <p:cNvSpPr/>
                <p:nvPr/>
              </p:nvSpPr>
              <p:spPr>
                <a:xfrm>
                  <a:off x="0" y="327098"/>
                  <a:ext cx="143898" cy="2184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53" name="AutoShape 1011"/>
                <p:cNvSpPr/>
                <p:nvPr/>
              </p:nvSpPr>
              <p:spPr>
                <a:xfrm>
                  <a:off x="8422" y="332181"/>
                  <a:ext cx="128258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434" y="0"/>
                        <a:pt x="969" y="0"/>
                      </a:cubicBezTo>
                      <a:lnTo>
                        <a:pt x="20631" y="0"/>
                      </a:lnTo>
                      <a:cubicBezTo>
                        <a:pt x="21166" y="0"/>
                        <a:pt x="21600" y="4835"/>
                        <a:pt x="21600" y="10800"/>
                      </a:cubicBezTo>
                      <a:lnTo>
                        <a:pt x="21600" y="10800"/>
                      </a:lnTo>
                      <a:cubicBezTo>
                        <a:pt x="21600" y="16765"/>
                        <a:pt x="21166" y="21600"/>
                        <a:pt x="20631" y="21600"/>
                      </a:cubicBezTo>
                      <a:lnTo>
                        <a:pt x="969" y="21598"/>
                      </a:lnTo>
                      <a:cubicBezTo>
                        <a:pt x="434" y="21598"/>
                        <a:pt x="0" y="16763"/>
                        <a:pt x="0" y="107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4546A"/>
                    </a:gs>
                    <a:gs pos="100000">
                      <a:srgbClr val="E7E6E6"/>
                    </a:gs>
                  </a:gsLst>
                  <a:lin ang="0" scaled="0"/>
                </a:gra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54" name="Oval 1012"/>
                <p:cNvSpPr/>
                <p:nvPr/>
              </p:nvSpPr>
              <p:spPr>
                <a:xfrm>
                  <a:off x="20333" y="284427"/>
                  <a:ext cx="19131" cy="20681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55" name="Oval 1013"/>
                <p:cNvSpPr/>
                <p:nvPr/>
              </p:nvSpPr>
              <p:spPr>
                <a:xfrm>
                  <a:off x="41990" y="284427"/>
                  <a:ext cx="19131" cy="20681"/>
                </a:xfrm>
                <a:prstGeom prst="ellipse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56" name="Oval 1014"/>
                <p:cNvSpPr/>
                <p:nvPr/>
              </p:nvSpPr>
              <p:spPr>
                <a:xfrm>
                  <a:off x="62323" y="284427"/>
                  <a:ext cx="19131" cy="20681"/>
                </a:xfrm>
                <a:prstGeom prst="ellipse">
                  <a:avLst/>
                </a:prstGeom>
                <a:solidFill>
                  <a:srgbClr val="33CC3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2457" name="Rectangle 1015"/>
                <p:cNvSpPr/>
                <p:nvPr/>
              </p:nvSpPr>
              <p:spPr>
                <a:xfrm>
                  <a:off x="109995" y="205055"/>
                  <a:ext cx="12701" cy="110538"/>
                </a:xfrm>
                <a:prstGeom prst="rect">
                  <a:avLst/>
                </a:prstGeom>
                <a:solidFill>
                  <a:srgbClr val="292929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</p:grpSp>
      <p:grpSp>
        <p:nvGrpSpPr>
          <p:cNvPr id="2477" name="Group 7"/>
          <p:cNvGrpSpPr/>
          <p:nvPr/>
        </p:nvGrpSpPr>
        <p:grpSpPr>
          <a:xfrm>
            <a:off x="7332140" y="1814170"/>
            <a:ext cx="4398672" cy="4440471"/>
            <a:chOff x="0" y="0"/>
            <a:chExt cx="4398670" cy="4440469"/>
          </a:xfrm>
        </p:grpSpPr>
        <p:sp>
          <p:nvSpPr>
            <p:cNvPr id="2461" name="Oval 613"/>
            <p:cNvSpPr/>
            <p:nvPr/>
          </p:nvSpPr>
          <p:spPr>
            <a:xfrm>
              <a:off x="571762" y="1607798"/>
              <a:ext cx="612304" cy="510071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62" name="Oval 630"/>
            <p:cNvSpPr/>
            <p:nvPr/>
          </p:nvSpPr>
          <p:spPr>
            <a:xfrm>
              <a:off x="380342" y="1404342"/>
              <a:ext cx="612304" cy="510071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63" name="Oval 631"/>
            <p:cNvSpPr/>
            <p:nvPr/>
          </p:nvSpPr>
          <p:spPr>
            <a:xfrm>
              <a:off x="0" y="1506402"/>
              <a:ext cx="612304" cy="510071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2476" name="Group 6"/>
            <p:cNvGrpSpPr/>
            <p:nvPr/>
          </p:nvGrpSpPr>
          <p:grpSpPr>
            <a:xfrm>
              <a:off x="89726" y="-1"/>
              <a:ext cx="4308945" cy="4440471"/>
              <a:chOff x="0" y="0"/>
              <a:chExt cx="4308943" cy="4440469"/>
            </a:xfrm>
          </p:grpSpPr>
          <p:sp>
            <p:nvSpPr>
              <p:cNvPr id="2464" name="Oval 608"/>
              <p:cNvSpPr/>
              <p:nvPr/>
            </p:nvSpPr>
            <p:spPr>
              <a:xfrm>
                <a:off x="1641285" y="3930399"/>
                <a:ext cx="612304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65" name="Oval 609"/>
              <p:cNvSpPr/>
              <p:nvPr/>
            </p:nvSpPr>
            <p:spPr>
              <a:xfrm>
                <a:off x="1080983" y="3614947"/>
                <a:ext cx="612304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66" name="Oval 610"/>
              <p:cNvSpPr/>
              <p:nvPr/>
            </p:nvSpPr>
            <p:spPr>
              <a:xfrm>
                <a:off x="607979" y="3541938"/>
                <a:ext cx="612304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67" name="Oval 611"/>
              <p:cNvSpPr/>
              <p:nvPr/>
            </p:nvSpPr>
            <p:spPr>
              <a:xfrm>
                <a:off x="267385" y="3346670"/>
                <a:ext cx="612305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68" name="Oval 612"/>
              <p:cNvSpPr/>
              <p:nvPr/>
            </p:nvSpPr>
            <p:spPr>
              <a:xfrm>
                <a:off x="3632489" y="1556354"/>
                <a:ext cx="612313" cy="510077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69" name="Oval 632"/>
              <p:cNvSpPr/>
              <p:nvPr/>
            </p:nvSpPr>
            <p:spPr>
              <a:xfrm>
                <a:off x="1220282" y="82398"/>
                <a:ext cx="612304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70" name="Oval 633"/>
              <p:cNvSpPr/>
              <p:nvPr/>
            </p:nvSpPr>
            <p:spPr>
              <a:xfrm>
                <a:off x="-1" y="489643"/>
                <a:ext cx="612305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71" name="Oval 634"/>
              <p:cNvSpPr/>
              <p:nvPr/>
            </p:nvSpPr>
            <p:spPr>
              <a:xfrm>
                <a:off x="258455" y="0"/>
                <a:ext cx="612305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72" name="Oval 635"/>
              <p:cNvSpPr/>
              <p:nvPr/>
            </p:nvSpPr>
            <p:spPr>
              <a:xfrm>
                <a:off x="3696631" y="2345916"/>
                <a:ext cx="612313" cy="510077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73" name="Oval 636"/>
              <p:cNvSpPr/>
              <p:nvPr/>
            </p:nvSpPr>
            <p:spPr>
              <a:xfrm>
                <a:off x="482034" y="2965844"/>
                <a:ext cx="612305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74" name="Oval 637"/>
              <p:cNvSpPr/>
              <p:nvPr/>
            </p:nvSpPr>
            <p:spPr>
              <a:xfrm>
                <a:off x="2401582" y="3740601"/>
                <a:ext cx="612304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475" name="Oval 638"/>
              <p:cNvSpPr/>
              <p:nvPr/>
            </p:nvSpPr>
            <p:spPr>
              <a:xfrm>
                <a:off x="2663968" y="3355244"/>
                <a:ext cx="612304" cy="510071"/>
              </a:xfrm>
              <a:prstGeom prst="ellipse">
                <a:avLst/>
              </a:prstGeom>
              <a:noFill/>
              <a:ln w="28575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2478" name="Content Placeholder 2"/>
          <p:cNvSpPr txBox="1"/>
          <p:nvPr>
            <p:ph type="body" sz="half" idx="1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"/>
              <a:buNone/>
              <a:defRPr sz="3200">
                <a:solidFill>
                  <a:srgbClr val="CC0000"/>
                </a:solidFill>
              </a:defRPr>
            </a:pPr>
            <a:r>
              <a:t>Network edge:</a:t>
            </a:r>
          </a:p>
          <a:p>
            <a:pPr marL="350838" indent="-225425"/>
            <a:r>
              <a:t>hosts: clients and servers</a:t>
            </a:r>
          </a:p>
          <a:p>
            <a:pPr marL="350838" indent="-225425"/>
            <a:r>
              <a:t>servers often in data centers</a:t>
            </a:r>
          </a:p>
        </p:txBody>
      </p:sp>
      <p:sp>
        <p:nvSpPr>
          <p:cNvPr id="2479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4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247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500"/>
                                        <p:tgtEl>
                                          <p:spTgt spid="2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2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500"/>
                                        <p:tgtEl>
                                          <p:spTgt spid="2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77" grpId="2"/>
      <p:bldP build="p" bldLvl="1" animBg="1" rev="0" advAuto="0" spid="2478" grpId="3"/>
      <p:bldP build="whole" bldLvl="1" animBg="1" rev="0" advAuto="0" spid="225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Rectangle 419"/>
          <p:cNvSpPr/>
          <p:nvPr/>
        </p:nvSpPr>
        <p:spPr>
          <a:xfrm>
            <a:off x="7439073" y="3553078"/>
            <a:ext cx="986999" cy="669623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82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A closer look at Internet structure</a:t>
            </a:r>
          </a:p>
        </p:txBody>
      </p:sp>
      <p:sp>
        <p:nvSpPr>
          <p:cNvPr id="2483" name="Freeform 370"/>
          <p:cNvSpPr/>
          <p:nvPr/>
        </p:nvSpPr>
        <p:spPr>
          <a:xfrm>
            <a:off x="8985187" y="3065777"/>
            <a:ext cx="1124809" cy="1337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49" h="20510" fill="norm" stroke="1" extrusionOk="0">
                <a:moveTo>
                  <a:pt x="4338" y="7022"/>
                </a:moveTo>
                <a:cubicBezTo>
                  <a:pt x="2763" y="8848"/>
                  <a:pt x="1382" y="9254"/>
                  <a:pt x="902" y="11320"/>
                </a:cubicBezTo>
                <a:cubicBezTo>
                  <a:pt x="422" y="13386"/>
                  <a:pt x="-1132" y="17789"/>
                  <a:pt x="1456" y="19418"/>
                </a:cubicBezTo>
                <a:cubicBezTo>
                  <a:pt x="4045" y="21047"/>
                  <a:pt x="14587" y="20622"/>
                  <a:pt x="17527" y="19646"/>
                </a:cubicBezTo>
                <a:cubicBezTo>
                  <a:pt x="20468" y="18669"/>
                  <a:pt x="19432" y="15068"/>
                  <a:pt x="19100" y="13560"/>
                </a:cubicBezTo>
                <a:cubicBezTo>
                  <a:pt x="18768" y="12052"/>
                  <a:pt x="15646" y="13090"/>
                  <a:pt x="15536" y="10596"/>
                </a:cubicBezTo>
                <a:cubicBezTo>
                  <a:pt x="15746" y="7905"/>
                  <a:pt x="18905" y="7477"/>
                  <a:pt x="19045" y="5962"/>
                </a:cubicBezTo>
                <a:cubicBezTo>
                  <a:pt x="19184" y="4446"/>
                  <a:pt x="18059" y="3477"/>
                  <a:pt x="16373" y="1502"/>
                </a:cubicBezTo>
                <a:cubicBezTo>
                  <a:pt x="15001" y="420"/>
                  <a:pt x="12357" y="-553"/>
                  <a:pt x="10351" y="367"/>
                </a:cubicBezTo>
                <a:cubicBezTo>
                  <a:pt x="8345" y="1287"/>
                  <a:pt x="5912" y="5197"/>
                  <a:pt x="4338" y="7022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4" name="Freeform 417"/>
          <p:cNvSpPr/>
          <p:nvPr/>
        </p:nvSpPr>
        <p:spPr>
          <a:xfrm>
            <a:off x="7282395" y="1831266"/>
            <a:ext cx="1715493" cy="130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6" h="21326" fill="norm" stroke="1" extrusionOk="0">
                <a:moveTo>
                  <a:pt x="13407" y="266"/>
                </a:moveTo>
                <a:cubicBezTo>
                  <a:pt x="12073" y="522"/>
                  <a:pt x="9571" y="970"/>
                  <a:pt x="8028" y="1610"/>
                </a:cubicBezTo>
                <a:cubicBezTo>
                  <a:pt x="6485" y="2250"/>
                  <a:pt x="5026" y="3114"/>
                  <a:pt x="4192" y="4042"/>
                </a:cubicBezTo>
                <a:cubicBezTo>
                  <a:pt x="3358" y="4970"/>
                  <a:pt x="3712" y="6346"/>
                  <a:pt x="3066" y="7242"/>
                </a:cubicBezTo>
                <a:cubicBezTo>
                  <a:pt x="2420" y="8138"/>
                  <a:pt x="814" y="8202"/>
                  <a:pt x="356" y="9418"/>
                </a:cubicBezTo>
                <a:cubicBezTo>
                  <a:pt x="-103" y="10634"/>
                  <a:pt x="-103" y="13578"/>
                  <a:pt x="272" y="14602"/>
                </a:cubicBezTo>
                <a:cubicBezTo>
                  <a:pt x="648" y="15626"/>
                  <a:pt x="1127" y="15402"/>
                  <a:pt x="2649" y="15562"/>
                </a:cubicBezTo>
                <a:cubicBezTo>
                  <a:pt x="4171" y="15722"/>
                  <a:pt x="7820" y="15210"/>
                  <a:pt x="9446" y="15562"/>
                </a:cubicBezTo>
                <a:cubicBezTo>
                  <a:pt x="11072" y="15914"/>
                  <a:pt x="11343" y="16778"/>
                  <a:pt x="12365" y="17674"/>
                </a:cubicBezTo>
                <a:cubicBezTo>
                  <a:pt x="13387" y="18570"/>
                  <a:pt x="14638" y="20362"/>
                  <a:pt x="15576" y="20938"/>
                </a:cubicBezTo>
                <a:cubicBezTo>
                  <a:pt x="16514" y="21514"/>
                  <a:pt x="17348" y="21354"/>
                  <a:pt x="18036" y="21066"/>
                </a:cubicBezTo>
                <a:cubicBezTo>
                  <a:pt x="18724" y="20778"/>
                  <a:pt x="19329" y="20362"/>
                  <a:pt x="19746" y="19210"/>
                </a:cubicBezTo>
                <a:cubicBezTo>
                  <a:pt x="20163" y="18058"/>
                  <a:pt x="20350" y="15818"/>
                  <a:pt x="20580" y="14154"/>
                </a:cubicBezTo>
                <a:cubicBezTo>
                  <a:pt x="20809" y="12490"/>
                  <a:pt x="21017" y="11018"/>
                  <a:pt x="21122" y="9226"/>
                </a:cubicBezTo>
                <a:cubicBezTo>
                  <a:pt x="21226" y="7434"/>
                  <a:pt x="21497" y="4810"/>
                  <a:pt x="21205" y="3338"/>
                </a:cubicBezTo>
                <a:cubicBezTo>
                  <a:pt x="20913" y="1866"/>
                  <a:pt x="20225" y="1002"/>
                  <a:pt x="19370" y="458"/>
                </a:cubicBezTo>
                <a:cubicBezTo>
                  <a:pt x="18516" y="-86"/>
                  <a:pt x="17077" y="42"/>
                  <a:pt x="16076" y="10"/>
                </a:cubicBezTo>
                <a:cubicBezTo>
                  <a:pt x="15075" y="-22"/>
                  <a:pt x="14742" y="10"/>
                  <a:pt x="13407" y="266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5" name="AutoShape 420"/>
          <p:cNvSpPr/>
          <p:nvPr/>
        </p:nvSpPr>
        <p:spPr>
          <a:xfrm>
            <a:off x="7205350" y="3289251"/>
            <a:ext cx="1458912" cy="317851"/>
          </a:xfrm>
          <a:prstGeom prst="triangle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86" name="Freeform 427"/>
          <p:cNvSpPr/>
          <p:nvPr/>
        </p:nvSpPr>
        <p:spPr>
          <a:xfrm>
            <a:off x="7728466" y="4694461"/>
            <a:ext cx="3042747" cy="163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257" fill="norm" stroke="1" extrusionOk="0">
                <a:moveTo>
                  <a:pt x="10487" y="388"/>
                </a:moveTo>
                <a:cubicBezTo>
                  <a:pt x="9540" y="780"/>
                  <a:pt x="9151" y="2283"/>
                  <a:pt x="8293" y="2427"/>
                </a:cubicBezTo>
                <a:cubicBezTo>
                  <a:pt x="7436" y="2571"/>
                  <a:pt x="6423" y="1336"/>
                  <a:pt x="5320" y="1253"/>
                </a:cubicBezTo>
                <a:cubicBezTo>
                  <a:pt x="4218" y="1171"/>
                  <a:pt x="2526" y="841"/>
                  <a:pt x="1646" y="1933"/>
                </a:cubicBezTo>
                <a:cubicBezTo>
                  <a:pt x="767" y="3024"/>
                  <a:pt x="199" y="5989"/>
                  <a:pt x="43" y="7863"/>
                </a:cubicBezTo>
                <a:cubicBezTo>
                  <a:pt x="-113" y="9737"/>
                  <a:pt x="165" y="12105"/>
                  <a:pt x="678" y="13196"/>
                </a:cubicBezTo>
                <a:cubicBezTo>
                  <a:pt x="1190" y="14287"/>
                  <a:pt x="2169" y="13546"/>
                  <a:pt x="3094" y="14390"/>
                </a:cubicBezTo>
                <a:cubicBezTo>
                  <a:pt x="4018" y="15235"/>
                  <a:pt x="4897" y="17191"/>
                  <a:pt x="6211" y="18241"/>
                </a:cubicBezTo>
                <a:cubicBezTo>
                  <a:pt x="7525" y="19291"/>
                  <a:pt x="9373" y="20259"/>
                  <a:pt x="10976" y="20732"/>
                </a:cubicBezTo>
                <a:cubicBezTo>
                  <a:pt x="12580" y="21185"/>
                  <a:pt x="14461" y="21453"/>
                  <a:pt x="15842" y="21082"/>
                </a:cubicBezTo>
                <a:cubicBezTo>
                  <a:pt x="17223" y="20691"/>
                  <a:pt x="18336" y="19620"/>
                  <a:pt x="19249" y="18529"/>
                </a:cubicBezTo>
                <a:cubicBezTo>
                  <a:pt x="20162" y="17458"/>
                  <a:pt x="21108" y="16820"/>
                  <a:pt x="21298" y="14555"/>
                </a:cubicBezTo>
                <a:cubicBezTo>
                  <a:pt x="21487" y="12290"/>
                  <a:pt x="21019" y="7060"/>
                  <a:pt x="20362" y="5021"/>
                </a:cubicBezTo>
                <a:cubicBezTo>
                  <a:pt x="19706" y="2962"/>
                  <a:pt x="18392" y="3003"/>
                  <a:pt x="17323" y="2200"/>
                </a:cubicBezTo>
                <a:cubicBezTo>
                  <a:pt x="16254" y="1418"/>
                  <a:pt x="15085" y="471"/>
                  <a:pt x="13949" y="162"/>
                </a:cubicBezTo>
                <a:cubicBezTo>
                  <a:pt x="12814" y="-147"/>
                  <a:pt x="11433" y="18"/>
                  <a:pt x="10487" y="388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7" name="Text Box 580"/>
          <p:cNvSpPr txBox="1"/>
          <p:nvPr/>
        </p:nvSpPr>
        <p:spPr>
          <a:xfrm>
            <a:off x="7724993" y="1488460"/>
            <a:ext cx="12461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mobile network</a:t>
            </a:r>
          </a:p>
        </p:txBody>
      </p:sp>
      <p:sp>
        <p:nvSpPr>
          <p:cNvPr id="2488" name="Text Box 580"/>
          <p:cNvSpPr txBox="1"/>
          <p:nvPr/>
        </p:nvSpPr>
        <p:spPr>
          <a:xfrm>
            <a:off x="7376554" y="4191922"/>
            <a:ext cx="186420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0000"/>
              </a:lnSpc>
              <a:defRPr sz="1400"/>
            </a:lvl1pPr>
          </a:lstStyle>
          <a:p>
            <a:pPr/>
            <a:r>
              <a:t>home network</a:t>
            </a:r>
          </a:p>
        </p:txBody>
      </p:sp>
      <p:sp>
        <p:nvSpPr>
          <p:cNvPr id="2489" name="Text Box 580"/>
          <p:cNvSpPr txBox="1"/>
          <p:nvPr/>
        </p:nvSpPr>
        <p:spPr>
          <a:xfrm>
            <a:off x="7352628" y="5779775"/>
            <a:ext cx="1108607" cy="47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80000"/>
              </a:lnSpc>
              <a:defRPr sz="1400"/>
            </a:pPr>
            <a:r>
              <a:t>enterprise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lnSpc>
                <a:spcPct val="80000"/>
              </a:lnSpc>
              <a:defRPr sz="1400"/>
            </a:pPr>
            <a:r>
              <a:t>          network</a:t>
            </a:r>
          </a:p>
        </p:txBody>
      </p:sp>
      <p:sp>
        <p:nvSpPr>
          <p:cNvPr id="2490" name="Freeform 371"/>
          <p:cNvSpPr/>
          <p:nvPr/>
        </p:nvSpPr>
        <p:spPr>
          <a:xfrm>
            <a:off x="10222145" y="3179539"/>
            <a:ext cx="1273169" cy="1935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7" h="20945" fill="norm" stroke="1" extrusionOk="0">
                <a:moveTo>
                  <a:pt x="518" y="4719"/>
                </a:moveTo>
                <a:cubicBezTo>
                  <a:pt x="-13" y="6632"/>
                  <a:pt x="-204" y="10040"/>
                  <a:pt x="271" y="12041"/>
                </a:cubicBezTo>
                <a:cubicBezTo>
                  <a:pt x="746" y="14041"/>
                  <a:pt x="685" y="15290"/>
                  <a:pt x="3366" y="16725"/>
                </a:cubicBezTo>
                <a:cubicBezTo>
                  <a:pt x="6048" y="18159"/>
                  <a:pt x="13461" y="20187"/>
                  <a:pt x="16360" y="20649"/>
                </a:cubicBezTo>
                <a:cubicBezTo>
                  <a:pt x="19260" y="21111"/>
                  <a:pt x="20132" y="21234"/>
                  <a:pt x="20764" y="19498"/>
                </a:cubicBezTo>
                <a:cubicBezTo>
                  <a:pt x="21396" y="17761"/>
                  <a:pt x="20190" y="13347"/>
                  <a:pt x="20153" y="10230"/>
                </a:cubicBezTo>
                <a:cubicBezTo>
                  <a:pt x="20116" y="7114"/>
                  <a:pt x="21104" y="1964"/>
                  <a:pt x="20540" y="799"/>
                </a:cubicBezTo>
                <a:cubicBezTo>
                  <a:pt x="19976" y="-366"/>
                  <a:pt x="6793" y="-88"/>
                  <a:pt x="3456" y="566"/>
                </a:cubicBezTo>
                <a:cubicBezTo>
                  <a:pt x="119" y="1219"/>
                  <a:pt x="1048" y="2807"/>
                  <a:pt x="518" y="471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99" name="Group 373"/>
          <p:cNvGrpSpPr/>
          <p:nvPr/>
        </p:nvGrpSpPr>
        <p:grpSpPr>
          <a:xfrm>
            <a:off x="10837699" y="3928050"/>
            <a:ext cx="687394" cy="721549"/>
            <a:chOff x="0" y="0"/>
            <a:chExt cx="687392" cy="721548"/>
          </a:xfrm>
        </p:grpSpPr>
        <p:sp>
          <p:nvSpPr>
            <p:cNvPr id="2491" name="Freeform 381"/>
            <p:cNvSpPr/>
            <p:nvPr/>
          </p:nvSpPr>
          <p:spPr>
            <a:xfrm>
              <a:off x="267227" y="-1"/>
              <a:ext cx="420166" cy="72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92" name="Freeform 382"/>
            <p:cNvSpPr/>
            <p:nvPr/>
          </p:nvSpPr>
          <p:spPr>
            <a:xfrm>
              <a:off x="0" y="185234"/>
              <a:ext cx="521585" cy="5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93" name="Straight Connector 383"/>
            <p:cNvSpPr/>
            <p:nvPr/>
          </p:nvSpPr>
          <p:spPr>
            <a:xfrm flipV="1">
              <a:off x="54006" y="303213"/>
              <a:ext cx="236450" cy="8002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94" name="Straight Connector 384"/>
            <p:cNvSpPr/>
            <p:nvPr/>
          </p:nvSpPr>
          <p:spPr>
            <a:xfrm flipV="1">
              <a:off x="57914" y="556094"/>
              <a:ext cx="232542" cy="18248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95" name="Straight Connector 385"/>
            <p:cNvSpPr/>
            <p:nvPr/>
          </p:nvSpPr>
          <p:spPr>
            <a:xfrm flipV="1">
              <a:off x="57914" y="436343"/>
              <a:ext cx="232542" cy="52723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96" name="Straight Connector 386"/>
            <p:cNvSpPr/>
            <p:nvPr/>
          </p:nvSpPr>
          <p:spPr>
            <a:xfrm>
              <a:off x="53660" y="656716"/>
              <a:ext cx="236796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97" name="Straight Connector 387"/>
            <p:cNvSpPr/>
            <p:nvPr/>
          </p:nvSpPr>
          <p:spPr>
            <a:xfrm flipV="1">
              <a:off x="598356" y="126039"/>
              <a:ext cx="1" cy="506809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98" name="Straight Connector 388"/>
            <p:cNvSpPr/>
            <p:nvPr/>
          </p:nvSpPr>
          <p:spPr>
            <a:xfrm flipH="1">
              <a:off x="340761" y="202125"/>
              <a:ext cx="1" cy="519424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508" name="Group 390"/>
          <p:cNvGrpSpPr/>
          <p:nvPr/>
        </p:nvGrpSpPr>
        <p:grpSpPr>
          <a:xfrm>
            <a:off x="10771171" y="3194170"/>
            <a:ext cx="594614" cy="648337"/>
            <a:chOff x="0" y="0"/>
            <a:chExt cx="594613" cy="648335"/>
          </a:xfrm>
        </p:grpSpPr>
        <p:sp>
          <p:nvSpPr>
            <p:cNvPr id="2500" name="Freeform 398"/>
            <p:cNvSpPr/>
            <p:nvPr/>
          </p:nvSpPr>
          <p:spPr>
            <a:xfrm>
              <a:off x="231158" y="0"/>
              <a:ext cx="363455" cy="64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01" name="Freeform 399"/>
            <p:cNvSpPr/>
            <p:nvPr/>
          </p:nvSpPr>
          <p:spPr>
            <a:xfrm>
              <a:off x="-1" y="166439"/>
              <a:ext cx="451186" cy="48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02" name="Straight Connector 400"/>
            <p:cNvSpPr/>
            <p:nvPr/>
          </p:nvSpPr>
          <p:spPr>
            <a:xfrm flipV="1">
              <a:off x="46717" y="272447"/>
              <a:ext cx="204536" cy="7190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03" name="Straight Connector 401"/>
            <p:cNvSpPr/>
            <p:nvPr/>
          </p:nvSpPr>
          <p:spPr>
            <a:xfrm flipV="1">
              <a:off x="50097" y="499671"/>
              <a:ext cx="201155" cy="16396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04" name="Straight Connector 402"/>
            <p:cNvSpPr/>
            <p:nvPr/>
          </p:nvSpPr>
          <p:spPr>
            <a:xfrm flipV="1">
              <a:off x="50097" y="392068"/>
              <a:ext cx="201155" cy="47374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05" name="Straight Connector 403"/>
            <p:cNvSpPr/>
            <p:nvPr/>
          </p:nvSpPr>
          <p:spPr>
            <a:xfrm>
              <a:off x="46418" y="590082"/>
              <a:ext cx="204835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06" name="Straight Connector 404"/>
            <p:cNvSpPr/>
            <p:nvPr/>
          </p:nvSpPr>
          <p:spPr>
            <a:xfrm flipV="1">
              <a:off x="517593" y="113251"/>
              <a:ext cx="1" cy="455385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07" name="Straight Connector 405"/>
            <p:cNvSpPr/>
            <p:nvPr/>
          </p:nvSpPr>
          <p:spPr>
            <a:xfrm flipH="1">
              <a:off x="294767" y="181616"/>
              <a:ext cx="1" cy="466720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509" name="Freeform 561"/>
          <p:cNvSpPr/>
          <p:nvPr/>
        </p:nvSpPr>
        <p:spPr>
          <a:xfrm>
            <a:off x="9540812" y="1782042"/>
            <a:ext cx="1497866" cy="1386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83" h="20611" fill="norm" stroke="1" extrusionOk="0">
                <a:moveTo>
                  <a:pt x="1755" y="1299"/>
                </a:moveTo>
                <a:cubicBezTo>
                  <a:pt x="-1661" y="2817"/>
                  <a:pt x="832" y="7519"/>
                  <a:pt x="1567" y="10647"/>
                </a:cubicBezTo>
                <a:cubicBezTo>
                  <a:pt x="2301" y="13775"/>
                  <a:pt x="4122" y="18876"/>
                  <a:pt x="6162" y="20070"/>
                </a:cubicBezTo>
                <a:cubicBezTo>
                  <a:pt x="8201" y="21264"/>
                  <a:pt x="12080" y="20470"/>
                  <a:pt x="13806" y="17812"/>
                </a:cubicBezTo>
                <a:cubicBezTo>
                  <a:pt x="15532" y="15155"/>
                  <a:pt x="18183" y="18900"/>
                  <a:pt x="19061" y="17194"/>
                </a:cubicBezTo>
                <a:cubicBezTo>
                  <a:pt x="19939" y="15489"/>
                  <a:pt x="19192" y="10293"/>
                  <a:pt x="19074" y="7579"/>
                </a:cubicBezTo>
                <a:cubicBezTo>
                  <a:pt x="18955" y="4865"/>
                  <a:pt x="18817" y="2156"/>
                  <a:pt x="18352" y="910"/>
                </a:cubicBezTo>
                <a:cubicBezTo>
                  <a:pt x="17887" y="-336"/>
                  <a:pt x="14336" y="38"/>
                  <a:pt x="11570" y="103"/>
                </a:cubicBezTo>
                <a:cubicBezTo>
                  <a:pt x="8804" y="167"/>
                  <a:pt x="5171" y="-218"/>
                  <a:pt x="1755" y="129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0" name="TextBox 572"/>
          <p:cNvSpPr txBox="1"/>
          <p:nvPr/>
        </p:nvSpPr>
        <p:spPr>
          <a:xfrm>
            <a:off x="9472921" y="1851194"/>
            <a:ext cx="16269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national or global ISP</a:t>
            </a:r>
          </a:p>
        </p:txBody>
      </p:sp>
      <p:sp>
        <p:nvSpPr>
          <p:cNvPr id="2511" name="Rectangle 654"/>
          <p:cNvSpPr/>
          <p:nvPr/>
        </p:nvSpPr>
        <p:spPr>
          <a:xfrm>
            <a:off x="9279067" y="3677908"/>
            <a:ext cx="305750" cy="197848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2" name="TextBox 652"/>
          <p:cNvSpPr txBox="1"/>
          <p:nvPr/>
        </p:nvSpPr>
        <p:spPr>
          <a:xfrm>
            <a:off x="8811881" y="3447918"/>
            <a:ext cx="949200" cy="490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local or regional ISP</a:t>
            </a:r>
          </a:p>
        </p:txBody>
      </p:sp>
      <p:sp>
        <p:nvSpPr>
          <p:cNvPr id="2513" name="TextBox 656"/>
          <p:cNvSpPr txBox="1"/>
          <p:nvPr/>
        </p:nvSpPr>
        <p:spPr>
          <a:xfrm>
            <a:off x="10963486" y="4677936"/>
            <a:ext cx="692137" cy="37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000"/>
            </a:pPr>
            <a:r>
              <a:t>datacenter </a:t>
            </a:r>
          </a:p>
          <a:p>
            <a:pPr>
              <a:lnSpc>
                <a:spcPct val="90000"/>
              </a:lnSpc>
              <a:defRPr sz="1000"/>
            </a:pPr>
            <a:r>
              <a:t>network</a:t>
            </a:r>
          </a:p>
        </p:txBody>
      </p:sp>
      <p:sp>
        <p:nvSpPr>
          <p:cNvPr id="2514" name="TextBox 657"/>
          <p:cNvSpPr txBox="1"/>
          <p:nvPr/>
        </p:nvSpPr>
        <p:spPr>
          <a:xfrm>
            <a:off x="10108738" y="4228248"/>
            <a:ext cx="754830" cy="700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400"/>
            </a:pPr>
            <a:r>
              <a:t>content </a:t>
            </a:r>
          </a:p>
          <a:p>
            <a:pPr>
              <a:lnSpc>
                <a:spcPct val="90000"/>
              </a:lnSpc>
              <a:defRPr sz="1400"/>
            </a:pPr>
            <a:r>
              <a:t>provider </a:t>
            </a:r>
          </a:p>
          <a:p>
            <a:pPr>
              <a:lnSpc>
                <a:spcPct val="90000"/>
              </a:lnSpc>
              <a:defRPr sz="1400"/>
            </a:pPr>
            <a:r>
              <a:t>network</a:t>
            </a:r>
          </a:p>
        </p:txBody>
      </p:sp>
      <p:sp>
        <p:nvSpPr>
          <p:cNvPr id="2515" name="Straight Connector 829"/>
          <p:cNvSpPr/>
          <p:nvPr/>
        </p:nvSpPr>
        <p:spPr>
          <a:xfrm flipH="1" flipV="1">
            <a:off x="10559919" y="3580124"/>
            <a:ext cx="412965" cy="63713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16" name="Straight Connector 826"/>
          <p:cNvSpPr/>
          <p:nvPr/>
        </p:nvSpPr>
        <p:spPr>
          <a:xfrm flipH="1" flipV="1">
            <a:off x="10660835" y="3640683"/>
            <a:ext cx="345867" cy="738976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17" name="Straight Connector 824"/>
          <p:cNvSpPr/>
          <p:nvPr/>
        </p:nvSpPr>
        <p:spPr>
          <a:xfrm flipV="1">
            <a:off x="10636897" y="3633420"/>
            <a:ext cx="335988" cy="39534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18" name="Straight Connector 822"/>
          <p:cNvSpPr/>
          <p:nvPr/>
        </p:nvSpPr>
        <p:spPr>
          <a:xfrm flipH="1" flipV="1">
            <a:off x="10570774" y="3594896"/>
            <a:ext cx="2" cy="485749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19" name="Straight Connector 818"/>
          <p:cNvSpPr/>
          <p:nvPr/>
        </p:nvSpPr>
        <p:spPr>
          <a:xfrm flipH="1" flipV="1">
            <a:off x="10550620" y="4071642"/>
            <a:ext cx="508544" cy="348648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0" name="Straight Connector 817"/>
          <p:cNvSpPr/>
          <p:nvPr/>
        </p:nvSpPr>
        <p:spPr>
          <a:xfrm flipH="1">
            <a:off x="9895195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1" name="Straight Connector 815"/>
          <p:cNvSpPr/>
          <p:nvPr/>
        </p:nvSpPr>
        <p:spPr>
          <a:xfrm flipH="1">
            <a:off x="9219616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2" name="Straight Connector 812"/>
          <p:cNvSpPr/>
          <p:nvPr/>
        </p:nvSpPr>
        <p:spPr>
          <a:xfrm flipH="1">
            <a:off x="9276867" y="3507671"/>
            <a:ext cx="382425" cy="51705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3" name="Straight Connector 810"/>
          <p:cNvSpPr/>
          <p:nvPr/>
        </p:nvSpPr>
        <p:spPr>
          <a:xfrm>
            <a:off x="9733068" y="3507671"/>
            <a:ext cx="1" cy="54029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4" name="Straight Connector 807"/>
          <p:cNvSpPr/>
          <p:nvPr/>
        </p:nvSpPr>
        <p:spPr>
          <a:xfrm>
            <a:off x="10137668" y="2754691"/>
            <a:ext cx="488174" cy="83933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5" name="Straight Connector 562"/>
          <p:cNvSpPr/>
          <p:nvPr/>
        </p:nvSpPr>
        <p:spPr>
          <a:xfrm flipH="1">
            <a:off x="9798718" y="2695013"/>
            <a:ext cx="380433" cy="694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6" name="Straight Connector 563"/>
          <p:cNvSpPr/>
          <p:nvPr/>
        </p:nvSpPr>
        <p:spPr>
          <a:xfrm flipH="1">
            <a:off x="10100634" y="2169431"/>
            <a:ext cx="761468" cy="577356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7" name="Straight Connector 564"/>
          <p:cNvSpPr/>
          <p:nvPr/>
        </p:nvSpPr>
        <p:spPr>
          <a:xfrm flipH="1">
            <a:off x="10100634" y="2268313"/>
            <a:ext cx="3971" cy="51846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8" name="Straight Connector 565"/>
          <p:cNvSpPr/>
          <p:nvPr/>
        </p:nvSpPr>
        <p:spPr>
          <a:xfrm flipH="1">
            <a:off x="10672134" y="2200505"/>
            <a:ext cx="149361" cy="51846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29" name="Straight Connector 566"/>
          <p:cNvSpPr/>
          <p:nvPr/>
        </p:nvSpPr>
        <p:spPr>
          <a:xfrm flipH="1">
            <a:off x="10142166" y="2718966"/>
            <a:ext cx="574284" cy="2782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30" name="Straight Connector 567"/>
          <p:cNvSpPr/>
          <p:nvPr/>
        </p:nvSpPr>
        <p:spPr>
          <a:xfrm flipH="1">
            <a:off x="10069541" y="2169431"/>
            <a:ext cx="788590" cy="9888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31" name="Straight Connector 568"/>
          <p:cNvSpPr/>
          <p:nvPr/>
        </p:nvSpPr>
        <p:spPr>
          <a:xfrm flipH="1">
            <a:off x="10862102" y="2127324"/>
            <a:ext cx="279003" cy="421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32" name="Straight Connector 569"/>
          <p:cNvSpPr/>
          <p:nvPr/>
        </p:nvSpPr>
        <p:spPr>
          <a:xfrm flipH="1" flipV="1">
            <a:off x="10681993" y="2718966"/>
            <a:ext cx="353542" cy="67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33" name="Straight Connector 573"/>
          <p:cNvSpPr/>
          <p:nvPr/>
        </p:nvSpPr>
        <p:spPr>
          <a:xfrm flipH="1">
            <a:off x="8769222" y="2268313"/>
            <a:ext cx="1300320" cy="60662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34" name="Line 541"/>
          <p:cNvSpPr/>
          <p:nvPr/>
        </p:nvSpPr>
        <p:spPr>
          <a:xfrm flipV="1">
            <a:off x="9378705" y="4113379"/>
            <a:ext cx="429325" cy="70560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5" name="Line 424"/>
          <p:cNvSpPr/>
          <p:nvPr/>
        </p:nvSpPr>
        <p:spPr>
          <a:xfrm flipV="1">
            <a:off x="8244554" y="4047456"/>
            <a:ext cx="969052" cy="31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6" name="Oval 800"/>
          <p:cNvSpPr/>
          <p:nvPr/>
        </p:nvSpPr>
        <p:spPr>
          <a:xfrm>
            <a:off x="8174541" y="2292994"/>
            <a:ext cx="52389" cy="49487"/>
          </a:xfrm>
          <a:prstGeom prst="ellipse">
            <a:avLst/>
          </a:prstGeom>
          <a:solidFill>
            <a:srgbClr val="44546A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2548" name="Group 614"/>
          <p:cNvGrpSpPr/>
          <p:nvPr/>
        </p:nvGrpSpPr>
        <p:grpSpPr>
          <a:xfrm>
            <a:off x="10410608" y="3393794"/>
            <a:ext cx="353679" cy="402388"/>
            <a:chOff x="0" y="0"/>
            <a:chExt cx="353677" cy="402387"/>
          </a:xfrm>
        </p:grpSpPr>
        <p:grpSp>
          <p:nvGrpSpPr>
            <p:cNvPr id="2539" name="Freeform 615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2537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38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542" name="Oval 616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2540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41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547" name="Group 617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2543" name="Freeform 618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44" name="Freeform 619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45" name="Freeform 620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46" name="Freeform 621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560" name="Group 576"/>
          <p:cNvGrpSpPr/>
          <p:nvPr/>
        </p:nvGrpSpPr>
        <p:grpSpPr>
          <a:xfrm>
            <a:off x="9948723" y="2099947"/>
            <a:ext cx="353679" cy="402389"/>
            <a:chOff x="0" y="0"/>
            <a:chExt cx="353677" cy="402387"/>
          </a:xfrm>
        </p:grpSpPr>
        <p:grpSp>
          <p:nvGrpSpPr>
            <p:cNvPr id="2551" name="Freeform 577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2549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50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554" name="Oval 578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2552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53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559" name="Group 579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2555" name="Freeform 580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56" name="Freeform 581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57" name="Freeform 582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58" name="Freeform 583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572" name="Group 592"/>
          <p:cNvGrpSpPr/>
          <p:nvPr/>
        </p:nvGrpSpPr>
        <p:grpSpPr>
          <a:xfrm>
            <a:off x="10527214" y="2511022"/>
            <a:ext cx="353679" cy="402389"/>
            <a:chOff x="0" y="0"/>
            <a:chExt cx="353677" cy="402387"/>
          </a:xfrm>
        </p:grpSpPr>
        <p:grpSp>
          <p:nvGrpSpPr>
            <p:cNvPr id="2563" name="Freeform 593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2561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62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566" name="Oval 594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2564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65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571" name="Group 595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2567" name="Freeform 596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68" name="Freeform 597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69" name="Freeform 598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70" name="Freeform 599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584" name="Group 600"/>
          <p:cNvGrpSpPr/>
          <p:nvPr/>
        </p:nvGrpSpPr>
        <p:grpSpPr>
          <a:xfrm>
            <a:off x="10643824" y="2005618"/>
            <a:ext cx="353679" cy="402389"/>
            <a:chOff x="0" y="0"/>
            <a:chExt cx="353677" cy="402387"/>
          </a:xfrm>
        </p:grpSpPr>
        <p:grpSp>
          <p:nvGrpSpPr>
            <p:cNvPr id="2575" name="Freeform 601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2573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74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578" name="Oval 602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2576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77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583" name="Group 603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2579" name="Freeform 604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80" name="Freeform 605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81" name="Freeform 606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82" name="Freeform 607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596" name="Group 553"/>
          <p:cNvGrpSpPr/>
          <p:nvPr/>
        </p:nvGrpSpPr>
        <p:grpSpPr>
          <a:xfrm>
            <a:off x="9098788" y="3867861"/>
            <a:ext cx="367225" cy="417049"/>
            <a:chOff x="0" y="0"/>
            <a:chExt cx="367223" cy="417048"/>
          </a:xfrm>
        </p:grpSpPr>
        <p:grpSp>
          <p:nvGrpSpPr>
            <p:cNvPr id="2587" name="Freeform 554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2585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86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590" name="Oval 555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2588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89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595" name="Group 556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2591" name="Freeform 557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92" name="Freeform 558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93" name="Freeform 559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94" name="Freeform 560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608" name="Group 584"/>
          <p:cNvGrpSpPr/>
          <p:nvPr/>
        </p:nvGrpSpPr>
        <p:grpSpPr>
          <a:xfrm>
            <a:off x="9980125" y="2559220"/>
            <a:ext cx="353679" cy="402389"/>
            <a:chOff x="0" y="0"/>
            <a:chExt cx="353677" cy="402387"/>
          </a:xfrm>
        </p:grpSpPr>
        <p:grpSp>
          <p:nvGrpSpPr>
            <p:cNvPr id="2599" name="Freeform 585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2597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598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602" name="Oval 586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2600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01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607" name="Group 587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2603" name="Freeform 588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04" name="Freeform 589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05" name="Freeform 590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06" name="Freeform 591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620" name="Group 537"/>
          <p:cNvGrpSpPr/>
          <p:nvPr/>
        </p:nvGrpSpPr>
        <p:grpSpPr>
          <a:xfrm>
            <a:off x="9497138" y="3305269"/>
            <a:ext cx="367225" cy="417049"/>
            <a:chOff x="0" y="0"/>
            <a:chExt cx="367223" cy="417048"/>
          </a:xfrm>
        </p:grpSpPr>
        <p:grpSp>
          <p:nvGrpSpPr>
            <p:cNvPr id="2611" name="Freeform 538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2609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10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614" name="Oval 539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2612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13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619" name="Group 540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2615" name="Freeform 541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16" name="Freeform 542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17" name="Freeform 543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18" name="Freeform 544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632" name="Group 545"/>
          <p:cNvGrpSpPr/>
          <p:nvPr/>
        </p:nvGrpSpPr>
        <p:grpSpPr>
          <a:xfrm>
            <a:off x="9601554" y="3911000"/>
            <a:ext cx="367225" cy="417049"/>
            <a:chOff x="0" y="0"/>
            <a:chExt cx="367223" cy="417048"/>
          </a:xfrm>
        </p:grpSpPr>
        <p:grpSp>
          <p:nvGrpSpPr>
            <p:cNvPr id="2623" name="Freeform 546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2621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22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626" name="Oval 547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2624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25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631" name="Group 548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2627" name="Freeform 549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28" name="Freeform 550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29" name="Freeform 551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30" name="Freeform 552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644" name="Group 622"/>
          <p:cNvGrpSpPr/>
          <p:nvPr/>
        </p:nvGrpSpPr>
        <p:grpSpPr>
          <a:xfrm>
            <a:off x="10375258" y="3889980"/>
            <a:ext cx="353679" cy="402389"/>
            <a:chOff x="0" y="0"/>
            <a:chExt cx="353677" cy="402387"/>
          </a:xfrm>
        </p:grpSpPr>
        <p:grpSp>
          <p:nvGrpSpPr>
            <p:cNvPr id="2635" name="Freeform 623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2633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34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2638" name="Oval 624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2636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37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2643" name="Group 625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2639" name="Freeform 626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40" name="Freeform 627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41" name="Freeform 628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642" name="Freeform 629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pic>
        <p:nvPicPr>
          <p:cNvPr id="2645" name="Picture 653" descr="Picture 6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09572" y="1917025"/>
            <a:ext cx="136842" cy="3284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6" name="Picture 1018" descr="Picture 10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 rot="109063">
            <a:off x="7464780" y="2605090"/>
            <a:ext cx="437222" cy="159512"/>
          </a:xfrm>
          <a:prstGeom prst="rect">
            <a:avLst/>
          </a:prstGeom>
          <a:ln w="12700">
            <a:miter lim="400000"/>
          </a:ln>
        </p:spPr>
      </p:pic>
      <p:sp>
        <p:nvSpPr>
          <p:cNvPr id="2647" name="Freeform 1019"/>
          <p:cNvSpPr/>
          <p:nvPr/>
        </p:nvSpPr>
        <p:spPr>
          <a:xfrm>
            <a:off x="7609678" y="2450303"/>
            <a:ext cx="351920" cy="208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648" name="Picture 1020" descr="Picture 10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27011" y="2455658"/>
            <a:ext cx="319786" cy="189430"/>
          </a:xfrm>
          <a:prstGeom prst="rect">
            <a:avLst/>
          </a:prstGeom>
          <a:ln w="12700">
            <a:miter lim="400000"/>
          </a:ln>
        </p:spPr>
      </p:pic>
      <p:sp>
        <p:nvSpPr>
          <p:cNvPr id="2649" name="Freeform 1021"/>
          <p:cNvSpPr/>
          <p:nvPr/>
        </p:nvSpPr>
        <p:spPr>
          <a:xfrm>
            <a:off x="7673751" y="2444163"/>
            <a:ext cx="298168" cy="38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0" name="Freeform 1022"/>
          <p:cNvSpPr/>
          <p:nvPr/>
        </p:nvSpPr>
        <p:spPr>
          <a:xfrm>
            <a:off x="7606562" y="2443847"/>
            <a:ext cx="82771" cy="161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1" name="Freeform 1023"/>
          <p:cNvSpPr/>
          <p:nvPr/>
        </p:nvSpPr>
        <p:spPr>
          <a:xfrm>
            <a:off x="7880578" y="2472663"/>
            <a:ext cx="89198" cy="186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2" name="Freeform 1024"/>
          <p:cNvSpPr/>
          <p:nvPr/>
        </p:nvSpPr>
        <p:spPr>
          <a:xfrm>
            <a:off x="7605587" y="2596901"/>
            <a:ext cx="305138" cy="62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3" name="Freeform 1025"/>
          <p:cNvSpPr/>
          <p:nvPr/>
        </p:nvSpPr>
        <p:spPr>
          <a:xfrm>
            <a:off x="7890512" y="2474237"/>
            <a:ext cx="83550" cy="18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4" name="Freeform 1026"/>
          <p:cNvSpPr/>
          <p:nvPr/>
        </p:nvSpPr>
        <p:spPr>
          <a:xfrm>
            <a:off x="7605976" y="2605247"/>
            <a:ext cx="290962" cy="620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661" name="Group 1027"/>
          <p:cNvGrpSpPr/>
          <p:nvPr/>
        </p:nvGrpSpPr>
        <p:grpSpPr>
          <a:xfrm>
            <a:off x="7601108" y="2671540"/>
            <a:ext cx="98741" cy="36943"/>
            <a:chOff x="0" y="0"/>
            <a:chExt cx="98739" cy="36942"/>
          </a:xfrm>
        </p:grpSpPr>
        <p:sp>
          <p:nvSpPr>
            <p:cNvPr id="2655" name="Freeform 1028"/>
            <p:cNvSpPr/>
            <p:nvPr/>
          </p:nvSpPr>
          <p:spPr>
            <a:xfrm>
              <a:off x="0" y="0"/>
              <a:ext cx="98740" cy="36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56" name="Freeform 1029"/>
            <p:cNvSpPr/>
            <p:nvPr/>
          </p:nvSpPr>
          <p:spPr>
            <a:xfrm>
              <a:off x="1838" y="788"/>
              <a:ext cx="95327" cy="35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57" name="Freeform 1030"/>
            <p:cNvSpPr/>
            <p:nvPr/>
          </p:nvSpPr>
          <p:spPr>
            <a:xfrm>
              <a:off x="8928" y="13706"/>
              <a:ext cx="3387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58" name="Freeform 1031"/>
            <p:cNvSpPr/>
            <p:nvPr/>
          </p:nvSpPr>
          <p:spPr>
            <a:xfrm>
              <a:off x="7746" y="16805"/>
              <a:ext cx="2547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59" name="Freeform 1032"/>
            <p:cNvSpPr/>
            <p:nvPr/>
          </p:nvSpPr>
          <p:spPr>
            <a:xfrm>
              <a:off x="36764" y="21030"/>
              <a:ext cx="3387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60" name="Freeform 1033"/>
            <p:cNvSpPr/>
            <p:nvPr/>
          </p:nvSpPr>
          <p:spPr>
            <a:xfrm>
              <a:off x="35583" y="24242"/>
              <a:ext cx="2547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662" name="Freeform 1034"/>
          <p:cNvSpPr/>
          <p:nvPr/>
        </p:nvSpPr>
        <p:spPr>
          <a:xfrm>
            <a:off x="7770153" y="2677050"/>
            <a:ext cx="119579" cy="809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3" name="Freeform 1035"/>
          <p:cNvSpPr/>
          <p:nvPr/>
        </p:nvSpPr>
        <p:spPr>
          <a:xfrm>
            <a:off x="7464976" y="2683506"/>
            <a:ext cx="305958" cy="73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4" name="Freeform 1036"/>
          <p:cNvSpPr/>
          <p:nvPr/>
        </p:nvSpPr>
        <p:spPr>
          <a:xfrm>
            <a:off x="7460476" y="2669964"/>
            <a:ext cx="12701" cy="14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5" name="Freeform 1037"/>
          <p:cNvSpPr/>
          <p:nvPr/>
        </p:nvSpPr>
        <p:spPr>
          <a:xfrm>
            <a:off x="7465366" y="2609026"/>
            <a:ext cx="142171" cy="61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6" name="Freeform 1038"/>
          <p:cNvSpPr/>
          <p:nvPr/>
        </p:nvSpPr>
        <p:spPr>
          <a:xfrm>
            <a:off x="7474908" y="2673114"/>
            <a:ext cx="290183" cy="71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7" name="Freeform 1039"/>
          <p:cNvSpPr/>
          <p:nvPr/>
        </p:nvSpPr>
        <p:spPr>
          <a:xfrm flipV="1">
            <a:off x="7764701" y="2668075"/>
            <a:ext cx="118411" cy="7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668" name="Picture 568" descr="Picture 56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8831667" y="2392289"/>
            <a:ext cx="92773" cy="40544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9" name="Picture 603" descr="Picture 60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99539" y="2116957"/>
            <a:ext cx="849313" cy="168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0" name="Picture 1116" descr="Picture 11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flipH="1" rot="109063">
            <a:off x="7510374" y="3605209"/>
            <a:ext cx="286700" cy="119449"/>
          </a:xfrm>
          <a:prstGeom prst="rect">
            <a:avLst/>
          </a:prstGeom>
          <a:ln w="12700">
            <a:miter lim="400000"/>
          </a:ln>
        </p:spPr>
      </p:pic>
      <p:sp>
        <p:nvSpPr>
          <p:cNvPr id="2671" name="Freeform 1117"/>
          <p:cNvSpPr/>
          <p:nvPr/>
        </p:nvSpPr>
        <p:spPr>
          <a:xfrm>
            <a:off x="7605387" y="3489299"/>
            <a:ext cx="230765" cy="155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672" name="Picture 1118" descr="Picture 111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616753" y="3493308"/>
            <a:ext cx="209693" cy="141852"/>
          </a:xfrm>
          <a:prstGeom prst="rect">
            <a:avLst/>
          </a:prstGeom>
          <a:ln w="12700">
            <a:miter lim="400000"/>
          </a:ln>
        </p:spPr>
      </p:pic>
      <p:sp>
        <p:nvSpPr>
          <p:cNvPr id="2673" name="Freeform 1119"/>
          <p:cNvSpPr/>
          <p:nvPr/>
        </p:nvSpPr>
        <p:spPr>
          <a:xfrm>
            <a:off x="7647402" y="3484700"/>
            <a:ext cx="195518" cy="29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4" name="Freeform 1120"/>
          <p:cNvSpPr/>
          <p:nvPr/>
        </p:nvSpPr>
        <p:spPr>
          <a:xfrm>
            <a:off x="7603345" y="3484464"/>
            <a:ext cx="54276" cy="1207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5" name="Freeform 1121"/>
          <p:cNvSpPr/>
          <p:nvPr/>
        </p:nvSpPr>
        <p:spPr>
          <a:xfrm>
            <a:off x="7783025" y="3506042"/>
            <a:ext cx="58490" cy="13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6" name="Freeform 1122"/>
          <p:cNvSpPr/>
          <p:nvPr/>
        </p:nvSpPr>
        <p:spPr>
          <a:xfrm>
            <a:off x="7602705" y="3599077"/>
            <a:ext cx="200088" cy="4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7" name="Freeform 1123"/>
          <p:cNvSpPr/>
          <p:nvPr/>
        </p:nvSpPr>
        <p:spPr>
          <a:xfrm>
            <a:off x="7789539" y="3507221"/>
            <a:ext cx="54787" cy="139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8" name="Freeform 1124"/>
          <p:cNvSpPr/>
          <p:nvPr/>
        </p:nvSpPr>
        <p:spPr>
          <a:xfrm>
            <a:off x="7602962" y="3605326"/>
            <a:ext cx="190793" cy="46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685" name="Group 1125"/>
          <p:cNvGrpSpPr/>
          <p:nvPr/>
        </p:nvGrpSpPr>
        <p:grpSpPr>
          <a:xfrm>
            <a:off x="7599768" y="3654969"/>
            <a:ext cx="64748" cy="29260"/>
            <a:chOff x="0" y="0"/>
            <a:chExt cx="64746" cy="29258"/>
          </a:xfrm>
        </p:grpSpPr>
        <p:sp>
          <p:nvSpPr>
            <p:cNvPr id="2679" name="Freeform 1126"/>
            <p:cNvSpPr/>
            <p:nvPr/>
          </p:nvSpPr>
          <p:spPr>
            <a:xfrm>
              <a:off x="0" y="0"/>
              <a:ext cx="64747" cy="27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80" name="Freeform 1127"/>
            <p:cNvSpPr/>
            <p:nvPr/>
          </p:nvSpPr>
          <p:spPr>
            <a:xfrm>
              <a:off x="1205" y="590"/>
              <a:ext cx="62509" cy="26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81" name="Freeform 1128"/>
            <p:cNvSpPr/>
            <p:nvPr/>
          </p:nvSpPr>
          <p:spPr>
            <a:xfrm>
              <a:off x="5854" y="8669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82" name="Freeform 1129"/>
            <p:cNvSpPr/>
            <p:nvPr/>
          </p:nvSpPr>
          <p:spPr>
            <a:xfrm>
              <a:off x="5079" y="10989"/>
              <a:ext cx="1670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83" name="Freeform 1130"/>
            <p:cNvSpPr/>
            <p:nvPr/>
          </p:nvSpPr>
          <p:spPr>
            <a:xfrm>
              <a:off x="24107" y="14154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84" name="Freeform 1131"/>
            <p:cNvSpPr/>
            <p:nvPr/>
          </p:nvSpPr>
          <p:spPr>
            <a:xfrm>
              <a:off x="23333" y="16558"/>
              <a:ext cx="1670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686" name="Freeform 1132"/>
          <p:cNvSpPr/>
          <p:nvPr/>
        </p:nvSpPr>
        <p:spPr>
          <a:xfrm>
            <a:off x="7710616" y="3659096"/>
            <a:ext cx="78412" cy="60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7" name="Freeform 1133"/>
          <p:cNvSpPr/>
          <p:nvPr/>
        </p:nvSpPr>
        <p:spPr>
          <a:xfrm>
            <a:off x="7510502" y="3663931"/>
            <a:ext cx="200626" cy="55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8" name="Freeform 1134"/>
          <p:cNvSpPr/>
          <p:nvPr/>
        </p:nvSpPr>
        <p:spPr>
          <a:xfrm>
            <a:off x="7505366" y="3653041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9" name="Freeform 1135"/>
          <p:cNvSpPr/>
          <p:nvPr/>
        </p:nvSpPr>
        <p:spPr>
          <a:xfrm>
            <a:off x="7510757" y="3608156"/>
            <a:ext cx="93226" cy="46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0" name="Freeform 1136"/>
          <p:cNvSpPr/>
          <p:nvPr/>
        </p:nvSpPr>
        <p:spPr>
          <a:xfrm>
            <a:off x="7517016" y="3656148"/>
            <a:ext cx="190282" cy="531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1" name="Freeform 1137"/>
          <p:cNvSpPr/>
          <p:nvPr/>
        </p:nvSpPr>
        <p:spPr>
          <a:xfrm flipV="1">
            <a:off x="7707041" y="3652375"/>
            <a:ext cx="77646" cy="55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692" name="Picture 1140" descr="Picture 114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flipH="1">
            <a:off x="7991995" y="3567143"/>
            <a:ext cx="359262" cy="342046"/>
          </a:xfrm>
          <a:prstGeom prst="rect">
            <a:avLst/>
          </a:prstGeom>
          <a:ln w="12700">
            <a:miter lim="400000"/>
          </a:ln>
        </p:spPr>
      </p:pic>
      <p:sp>
        <p:nvSpPr>
          <p:cNvPr id="2693" name="Freeform 1141"/>
          <p:cNvSpPr/>
          <p:nvPr/>
        </p:nvSpPr>
        <p:spPr>
          <a:xfrm flipH="1">
            <a:off x="8145216" y="3599941"/>
            <a:ext cx="169401" cy="15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8202" y="822"/>
                </a:lnTo>
                <a:lnTo>
                  <a:pt x="21600" y="17257"/>
                </a:lnTo>
                <a:lnTo>
                  <a:pt x="4733" y="21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694" name="Picture 571" descr="Picture 571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903198" y="3385017"/>
            <a:ext cx="189579" cy="3370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27" name="Group 950"/>
          <p:cNvGrpSpPr/>
          <p:nvPr/>
        </p:nvGrpSpPr>
        <p:grpSpPr>
          <a:xfrm>
            <a:off x="10288915" y="5273950"/>
            <a:ext cx="180435" cy="330834"/>
            <a:chOff x="0" y="0"/>
            <a:chExt cx="180433" cy="330833"/>
          </a:xfrm>
        </p:grpSpPr>
        <p:sp>
          <p:nvSpPr>
            <p:cNvPr id="2695" name="Freeform 951"/>
            <p:cNvSpPr/>
            <p:nvPr/>
          </p:nvSpPr>
          <p:spPr>
            <a:xfrm>
              <a:off x="140261" y="552"/>
              <a:ext cx="35191" cy="31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96" name="Rectangle 952"/>
            <p:cNvSpPr/>
            <p:nvPr/>
          </p:nvSpPr>
          <p:spPr>
            <a:xfrm>
              <a:off x="8704" y="0"/>
              <a:ext cx="130066" cy="315507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97" name="Freeform 953"/>
            <p:cNvSpPr/>
            <p:nvPr/>
          </p:nvSpPr>
          <p:spPr>
            <a:xfrm>
              <a:off x="147548" y="19468"/>
              <a:ext cx="20319" cy="287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98" name="Freeform 954"/>
            <p:cNvSpPr/>
            <p:nvPr/>
          </p:nvSpPr>
          <p:spPr>
            <a:xfrm>
              <a:off x="142250" y="167211"/>
              <a:ext cx="32704" cy="26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99" name="Rectangle 955"/>
            <p:cNvSpPr/>
            <p:nvPr/>
          </p:nvSpPr>
          <p:spPr>
            <a:xfrm>
              <a:off x="8704" y="32932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2702" name="Group 956"/>
            <p:cNvGrpSpPr/>
            <p:nvPr/>
          </p:nvGrpSpPr>
          <p:grpSpPr>
            <a:xfrm>
              <a:off x="75626" y="32712"/>
              <a:ext cx="71847" cy="20742"/>
              <a:chOff x="0" y="0"/>
              <a:chExt cx="71846" cy="20741"/>
            </a:xfrm>
          </p:grpSpPr>
          <p:sp>
            <p:nvSpPr>
              <p:cNvPr id="2700" name="AutoShape 957"/>
              <p:cNvSpPr/>
              <p:nvPr/>
            </p:nvSpPr>
            <p:spPr>
              <a:xfrm>
                <a:off x="0" y="0"/>
                <a:ext cx="71847" cy="207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01" name="AutoShape 958"/>
              <p:cNvSpPr/>
              <p:nvPr/>
            </p:nvSpPr>
            <p:spPr>
              <a:xfrm>
                <a:off x="1195" y="2160"/>
                <a:ext cx="69356" cy="164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2703" name="Rectangle 959"/>
            <p:cNvSpPr/>
            <p:nvPr/>
          </p:nvSpPr>
          <p:spPr>
            <a:xfrm>
              <a:off x="9947" y="78774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2706" name="Group 960"/>
            <p:cNvGrpSpPr/>
            <p:nvPr/>
          </p:nvGrpSpPr>
          <p:grpSpPr>
            <a:xfrm>
              <a:off x="75577" y="77481"/>
              <a:ext cx="71847" cy="18503"/>
              <a:chOff x="0" y="0"/>
              <a:chExt cx="71846" cy="18502"/>
            </a:xfrm>
          </p:grpSpPr>
          <p:sp>
            <p:nvSpPr>
              <p:cNvPr id="2704" name="AutoShape 961"/>
              <p:cNvSpPr/>
              <p:nvPr/>
            </p:nvSpPr>
            <p:spPr>
              <a:xfrm>
                <a:off x="0" y="0"/>
                <a:ext cx="71847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05" name="AutoShape 962"/>
              <p:cNvSpPr/>
              <p:nvPr/>
            </p:nvSpPr>
            <p:spPr>
              <a:xfrm>
                <a:off x="1295" y="2262"/>
                <a:ext cx="69356" cy="1424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2707" name="Rectangle 963"/>
            <p:cNvSpPr/>
            <p:nvPr/>
          </p:nvSpPr>
          <p:spPr>
            <a:xfrm>
              <a:off x="9947" y="124615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08" name="Rectangle 964"/>
            <p:cNvSpPr/>
            <p:nvPr/>
          </p:nvSpPr>
          <p:spPr>
            <a:xfrm>
              <a:off x="11191" y="166177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2711" name="Group 965"/>
            <p:cNvGrpSpPr/>
            <p:nvPr/>
          </p:nvGrpSpPr>
          <p:grpSpPr>
            <a:xfrm>
              <a:off x="74384" y="168116"/>
              <a:ext cx="71871" cy="18601"/>
              <a:chOff x="0" y="0"/>
              <a:chExt cx="71869" cy="18599"/>
            </a:xfrm>
          </p:grpSpPr>
          <p:sp>
            <p:nvSpPr>
              <p:cNvPr id="2709" name="AutoShape 966"/>
              <p:cNvSpPr/>
              <p:nvPr/>
            </p:nvSpPr>
            <p:spPr>
              <a:xfrm>
                <a:off x="0" y="0"/>
                <a:ext cx="71870" cy="186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10" name="AutoShape 967"/>
              <p:cNvSpPr/>
              <p:nvPr/>
            </p:nvSpPr>
            <p:spPr>
              <a:xfrm>
                <a:off x="1197" y="0"/>
                <a:ext cx="69376" cy="1635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2712" name="Freeform 968"/>
            <p:cNvSpPr/>
            <p:nvPr/>
          </p:nvSpPr>
          <p:spPr>
            <a:xfrm>
              <a:off x="142748" y="127721"/>
              <a:ext cx="32704" cy="25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715" name="Group 969"/>
            <p:cNvGrpSpPr/>
            <p:nvPr/>
          </p:nvGrpSpPr>
          <p:grpSpPr>
            <a:xfrm>
              <a:off x="74382" y="124407"/>
              <a:ext cx="73069" cy="18503"/>
              <a:chOff x="0" y="0"/>
              <a:chExt cx="73067" cy="18502"/>
            </a:xfrm>
          </p:grpSpPr>
          <p:sp>
            <p:nvSpPr>
              <p:cNvPr id="2713" name="AutoShape 970"/>
              <p:cNvSpPr/>
              <p:nvPr/>
            </p:nvSpPr>
            <p:spPr>
              <a:xfrm>
                <a:off x="0" y="0"/>
                <a:ext cx="73068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14" name="AutoShape 971"/>
              <p:cNvSpPr/>
              <p:nvPr/>
            </p:nvSpPr>
            <p:spPr>
              <a:xfrm>
                <a:off x="1197" y="2209"/>
                <a:ext cx="71871" cy="1422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2716" name="Rectangle 972"/>
            <p:cNvSpPr/>
            <p:nvPr/>
          </p:nvSpPr>
          <p:spPr>
            <a:xfrm>
              <a:off x="135527" y="0"/>
              <a:ext cx="12701" cy="31550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17" name="Freeform 973"/>
            <p:cNvSpPr/>
            <p:nvPr/>
          </p:nvSpPr>
          <p:spPr>
            <a:xfrm>
              <a:off x="145732" y="79808"/>
              <a:ext cx="29471" cy="29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7"/>
                    <a:pt x="21308" y="12150"/>
                  </a:cubicBezTo>
                  <a:cubicBezTo>
                    <a:pt x="21162" y="15019"/>
                    <a:pt x="21600" y="15863"/>
                    <a:pt x="21600" y="21600"/>
                  </a:cubicBezTo>
                  <a:cubicBezTo>
                    <a:pt x="21600" y="21600"/>
                    <a:pt x="11676" y="14850"/>
                    <a:pt x="0" y="8437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18" name="Freeform 974"/>
            <p:cNvSpPr/>
            <p:nvPr/>
          </p:nvSpPr>
          <p:spPr>
            <a:xfrm>
              <a:off x="146105" y="34657"/>
              <a:ext cx="30341" cy="33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19" name="Oval 975"/>
            <p:cNvSpPr/>
            <p:nvPr/>
          </p:nvSpPr>
          <p:spPr>
            <a:xfrm>
              <a:off x="167733" y="301284"/>
              <a:ext cx="12701" cy="13119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20" name="Freeform 976"/>
            <p:cNvSpPr/>
            <p:nvPr/>
          </p:nvSpPr>
          <p:spPr>
            <a:xfrm>
              <a:off x="144489" y="301698"/>
              <a:ext cx="30465" cy="2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21" name="AutoShape 977"/>
            <p:cNvSpPr/>
            <p:nvPr/>
          </p:nvSpPr>
          <p:spPr>
            <a:xfrm>
              <a:off x="0" y="310121"/>
              <a:ext cx="148717" cy="2071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22" name="AutoShape 978"/>
            <p:cNvSpPr/>
            <p:nvPr/>
          </p:nvSpPr>
          <p:spPr>
            <a:xfrm>
              <a:off x="8704" y="314610"/>
              <a:ext cx="13255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398" y="0"/>
                    <a:pt x="889" y="0"/>
                  </a:cubicBezTo>
                  <a:lnTo>
                    <a:pt x="20711" y="0"/>
                  </a:lnTo>
                  <a:cubicBezTo>
                    <a:pt x="21202" y="0"/>
                    <a:pt x="21600" y="4835"/>
                    <a:pt x="21600" y="10800"/>
                  </a:cubicBezTo>
                  <a:cubicBezTo>
                    <a:pt x="21600" y="16765"/>
                    <a:pt x="21202" y="21600"/>
                    <a:pt x="20711" y="21600"/>
                  </a:cubicBezTo>
                  <a:lnTo>
                    <a:pt x="889" y="21600"/>
                  </a:lnTo>
                  <a:cubicBezTo>
                    <a:pt x="398" y="21600"/>
                    <a:pt x="0" y="16765"/>
                    <a:pt x="0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23" name="Oval 979"/>
            <p:cNvSpPr/>
            <p:nvPr/>
          </p:nvSpPr>
          <p:spPr>
            <a:xfrm>
              <a:off x="21014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24" name="Oval 980"/>
            <p:cNvSpPr/>
            <p:nvPr/>
          </p:nvSpPr>
          <p:spPr>
            <a:xfrm>
              <a:off x="43396" y="269664"/>
              <a:ext cx="19771" cy="19607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25" name="Oval 981"/>
            <p:cNvSpPr/>
            <p:nvPr/>
          </p:nvSpPr>
          <p:spPr>
            <a:xfrm>
              <a:off x="64410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26" name="Rectangle 982"/>
            <p:cNvSpPr/>
            <p:nvPr/>
          </p:nvSpPr>
          <p:spPr>
            <a:xfrm>
              <a:off x="113891" y="194412"/>
              <a:ext cx="12701" cy="104801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2730" name="Group 590"/>
          <p:cNvGrpSpPr/>
          <p:nvPr/>
        </p:nvGrpSpPr>
        <p:grpSpPr>
          <a:xfrm>
            <a:off x="7980854" y="4900160"/>
            <a:ext cx="345631" cy="320303"/>
            <a:chOff x="0" y="0"/>
            <a:chExt cx="345629" cy="320302"/>
          </a:xfrm>
        </p:grpSpPr>
        <p:pic>
          <p:nvPicPr>
            <p:cNvPr id="2728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29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731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216586" y="6040273"/>
            <a:ext cx="253502" cy="120344"/>
          </a:xfrm>
          <a:prstGeom prst="rect">
            <a:avLst/>
          </a:prstGeom>
          <a:ln w="12700">
            <a:miter lim="400000"/>
          </a:ln>
        </p:spPr>
      </p:pic>
      <p:sp>
        <p:nvSpPr>
          <p:cNvPr id="2732" name="Freeform 1067"/>
          <p:cNvSpPr/>
          <p:nvPr/>
        </p:nvSpPr>
        <p:spPr>
          <a:xfrm>
            <a:off x="9300596" y="5923493"/>
            <a:ext cx="204044" cy="157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733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310647" y="5927533"/>
            <a:ext cx="185413" cy="142916"/>
          </a:xfrm>
          <a:prstGeom prst="rect">
            <a:avLst/>
          </a:prstGeom>
          <a:ln w="12700">
            <a:miter lim="400000"/>
          </a:ln>
        </p:spPr>
      </p:pic>
      <p:sp>
        <p:nvSpPr>
          <p:cNvPr id="2734" name="Freeform 1069"/>
          <p:cNvSpPr/>
          <p:nvPr/>
        </p:nvSpPr>
        <p:spPr>
          <a:xfrm>
            <a:off x="9337747" y="5918860"/>
            <a:ext cx="172879" cy="29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5" name="Freeform 1070"/>
          <p:cNvSpPr/>
          <p:nvPr/>
        </p:nvSpPr>
        <p:spPr>
          <a:xfrm>
            <a:off x="9298791" y="5918624"/>
            <a:ext cx="47991" cy="12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6" name="Freeform 1071"/>
          <p:cNvSpPr/>
          <p:nvPr/>
        </p:nvSpPr>
        <p:spPr>
          <a:xfrm>
            <a:off x="9457666" y="5940364"/>
            <a:ext cx="51717" cy="140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7" name="Freeform 1072"/>
          <p:cNvSpPr/>
          <p:nvPr/>
        </p:nvSpPr>
        <p:spPr>
          <a:xfrm>
            <a:off x="9298226" y="6034096"/>
            <a:ext cx="176919" cy="47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8" name="Freeform 1073"/>
          <p:cNvSpPr/>
          <p:nvPr/>
        </p:nvSpPr>
        <p:spPr>
          <a:xfrm>
            <a:off x="9463424" y="5941552"/>
            <a:ext cx="48443" cy="141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9" name="Freeform 1074"/>
          <p:cNvSpPr/>
          <p:nvPr/>
        </p:nvSpPr>
        <p:spPr>
          <a:xfrm>
            <a:off x="9298451" y="6040392"/>
            <a:ext cx="168701" cy="46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746" name="Group 1075"/>
          <p:cNvGrpSpPr/>
          <p:nvPr/>
        </p:nvGrpSpPr>
        <p:grpSpPr>
          <a:xfrm>
            <a:off x="9295628" y="6090406"/>
            <a:ext cx="57250" cy="29432"/>
            <a:chOff x="0" y="0"/>
            <a:chExt cx="57249" cy="29430"/>
          </a:xfrm>
        </p:grpSpPr>
        <p:sp>
          <p:nvSpPr>
            <p:cNvPr id="2740" name="Freeform 1076"/>
            <p:cNvSpPr/>
            <p:nvPr/>
          </p:nvSpPr>
          <p:spPr>
            <a:xfrm>
              <a:off x="0" y="0"/>
              <a:ext cx="57250" cy="27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1" name="Freeform 1077"/>
            <p:cNvSpPr/>
            <p:nvPr/>
          </p:nvSpPr>
          <p:spPr>
            <a:xfrm>
              <a:off x="1065" y="595"/>
              <a:ext cx="55271" cy="26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2" name="Freeform 1078"/>
            <p:cNvSpPr/>
            <p:nvPr/>
          </p:nvSpPr>
          <p:spPr>
            <a:xfrm>
              <a:off x="5176" y="8782"/>
              <a:ext cx="1964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3" name="Freeform 1079"/>
            <p:cNvSpPr/>
            <p:nvPr/>
          </p:nvSpPr>
          <p:spPr>
            <a:xfrm>
              <a:off x="4491" y="1112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4" name="Freeform 1080"/>
            <p:cNvSpPr/>
            <p:nvPr/>
          </p:nvSpPr>
          <p:spPr>
            <a:xfrm>
              <a:off x="21316" y="14307"/>
              <a:ext cx="1964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5" name="Freeform 1081"/>
            <p:cNvSpPr/>
            <p:nvPr/>
          </p:nvSpPr>
          <p:spPr>
            <a:xfrm>
              <a:off x="20630" y="1673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747" name="Freeform 1082"/>
          <p:cNvSpPr/>
          <p:nvPr/>
        </p:nvSpPr>
        <p:spPr>
          <a:xfrm>
            <a:off x="9393642" y="6094564"/>
            <a:ext cx="69333" cy="61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8" name="Freeform 1083"/>
          <p:cNvSpPr/>
          <p:nvPr/>
        </p:nvSpPr>
        <p:spPr>
          <a:xfrm>
            <a:off x="9216698" y="6099435"/>
            <a:ext cx="177395" cy="55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9" name="Freeform 1084"/>
          <p:cNvSpPr/>
          <p:nvPr/>
        </p:nvSpPr>
        <p:spPr>
          <a:xfrm>
            <a:off x="9211421" y="6088512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0" name="Freeform 1085"/>
          <p:cNvSpPr/>
          <p:nvPr/>
        </p:nvSpPr>
        <p:spPr>
          <a:xfrm>
            <a:off x="9216925" y="6043243"/>
            <a:ext cx="82431" cy="4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1" name="Freeform 1086"/>
          <p:cNvSpPr/>
          <p:nvPr/>
        </p:nvSpPr>
        <p:spPr>
          <a:xfrm>
            <a:off x="9222457" y="6091594"/>
            <a:ext cx="168250" cy="53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2" name="Freeform 1087"/>
          <p:cNvSpPr/>
          <p:nvPr/>
        </p:nvSpPr>
        <p:spPr>
          <a:xfrm flipV="1">
            <a:off x="9390480" y="6087793"/>
            <a:ext cx="68655" cy="55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755" name="Group 590"/>
          <p:cNvGrpSpPr/>
          <p:nvPr/>
        </p:nvGrpSpPr>
        <p:grpSpPr>
          <a:xfrm>
            <a:off x="8153909" y="5504657"/>
            <a:ext cx="345631" cy="320303"/>
            <a:chOff x="0" y="0"/>
            <a:chExt cx="345629" cy="320302"/>
          </a:xfrm>
        </p:grpSpPr>
        <p:pic>
          <p:nvPicPr>
            <p:cNvPr id="2753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54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758" name="Group 590"/>
          <p:cNvGrpSpPr/>
          <p:nvPr/>
        </p:nvGrpSpPr>
        <p:grpSpPr>
          <a:xfrm>
            <a:off x="8552133" y="5526130"/>
            <a:ext cx="345631" cy="320303"/>
            <a:chOff x="0" y="0"/>
            <a:chExt cx="345629" cy="320302"/>
          </a:xfrm>
        </p:grpSpPr>
        <p:pic>
          <p:nvPicPr>
            <p:cNvPr id="2756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57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759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550086" y="5949453"/>
            <a:ext cx="260921" cy="99064"/>
          </a:xfrm>
          <a:prstGeom prst="rect">
            <a:avLst/>
          </a:prstGeom>
          <a:ln w="12700">
            <a:miter lim="400000"/>
          </a:ln>
        </p:spPr>
      </p:pic>
      <p:sp>
        <p:nvSpPr>
          <p:cNvPr id="2760" name="Freeform 1067"/>
          <p:cNvSpPr/>
          <p:nvPr/>
        </p:nvSpPr>
        <p:spPr>
          <a:xfrm>
            <a:off x="9636556" y="5853324"/>
            <a:ext cx="210016" cy="129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761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646901" y="5856649"/>
            <a:ext cx="190839" cy="117645"/>
          </a:xfrm>
          <a:prstGeom prst="rect">
            <a:avLst/>
          </a:prstGeom>
          <a:ln w="12700">
            <a:miter lim="400000"/>
          </a:ln>
        </p:spPr>
      </p:pic>
      <p:sp>
        <p:nvSpPr>
          <p:cNvPr id="2762" name="Freeform 1069"/>
          <p:cNvSpPr/>
          <p:nvPr/>
        </p:nvSpPr>
        <p:spPr>
          <a:xfrm>
            <a:off x="9674793" y="5849510"/>
            <a:ext cx="177938" cy="240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3" name="Freeform 1070"/>
          <p:cNvSpPr/>
          <p:nvPr/>
        </p:nvSpPr>
        <p:spPr>
          <a:xfrm>
            <a:off x="9634697" y="5849315"/>
            <a:ext cx="49396" cy="100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4" name="Freeform 1071"/>
          <p:cNvSpPr/>
          <p:nvPr/>
        </p:nvSpPr>
        <p:spPr>
          <a:xfrm>
            <a:off x="9798222" y="5867210"/>
            <a:ext cx="53231" cy="1155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5" name="Freeform 1072"/>
          <p:cNvSpPr/>
          <p:nvPr/>
        </p:nvSpPr>
        <p:spPr>
          <a:xfrm>
            <a:off x="9634115" y="5944368"/>
            <a:ext cx="182098" cy="39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6" name="Freeform 1073"/>
          <p:cNvSpPr/>
          <p:nvPr/>
        </p:nvSpPr>
        <p:spPr>
          <a:xfrm>
            <a:off x="9804149" y="5868189"/>
            <a:ext cx="49861" cy="116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7" name="Freeform 1074"/>
          <p:cNvSpPr/>
          <p:nvPr/>
        </p:nvSpPr>
        <p:spPr>
          <a:xfrm>
            <a:off x="9634349" y="5949551"/>
            <a:ext cx="173638" cy="385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774" name="Group 1075"/>
          <p:cNvGrpSpPr/>
          <p:nvPr/>
        </p:nvGrpSpPr>
        <p:grpSpPr>
          <a:xfrm>
            <a:off x="9631443" y="5990721"/>
            <a:ext cx="58926" cy="25351"/>
            <a:chOff x="0" y="0"/>
            <a:chExt cx="58925" cy="25349"/>
          </a:xfrm>
        </p:grpSpPr>
        <p:sp>
          <p:nvSpPr>
            <p:cNvPr id="2768" name="Freeform 1076"/>
            <p:cNvSpPr/>
            <p:nvPr/>
          </p:nvSpPr>
          <p:spPr>
            <a:xfrm>
              <a:off x="0" y="0"/>
              <a:ext cx="58926" cy="22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69" name="Freeform 1077"/>
            <p:cNvSpPr/>
            <p:nvPr/>
          </p:nvSpPr>
          <p:spPr>
            <a:xfrm>
              <a:off x="1097" y="489"/>
              <a:ext cx="56888" cy="21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70" name="Freeform 1078"/>
            <p:cNvSpPr/>
            <p:nvPr/>
          </p:nvSpPr>
          <p:spPr>
            <a:xfrm>
              <a:off x="5328" y="6106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71" name="Freeform 1079"/>
            <p:cNvSpPr/>
            <p:nvPr/>
          </p:nvSpPr>
          <p:spPr>
            <a:xfrm>
              <a:off x="4623" y="8030"/>
              <a:ext cx="1520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72" name="Freeform 1080"/>
            <p:cNvSpPr/>
            <p:nvPr/>
          </p:nvSpPr>
          <p:spPr>
            <a:xfrm>
              <a:off x="21940" y="10654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73" name="Freeform 1081"/>
            <p:cNvSpPr/>
            <p:nvPr/>
          </p:nvSpPr>
          <p:spPr>
            <a:xfrm>
              <a:off x="21234" y="12649"/>
              <a:ext cx="1520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775" name="Freeform 1082"/>
          <p:cNvSpPr/>
          <p:nvPr/>
        </p:nvSpPr>
        <p:spPr>
          <a:xfrm>
            <a:off x="9732325" y="5994144"/>
            <a:ext cx="71362" cy="50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6" name="Freeform 1083"/>
          <p:cNvSpPr/>
          <p:nvPr/>
        </p:nvSpPr>
        <p:spPr>
          <a:xfrm>
            <a:off x="9550203" y="5998154"/>
            <a:ext cx="182587" cy="45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7" name="Freeform 1084"/>
          <p:cNvSpPr/>
          <p:nvPr/>
        </p:nvSpPr>
        <p:spPr>
          <a:xfrm>
            <a:off x="9544958" y="5988039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8" name="Freeform 1085"/>
          <p:cNvSpPr/>
          <p:nvPr/>
        </p:nvSpPr>
        <p:spPr>
          <a:xfrm>
            <a:off x="9550435" y="5951899"/>
            <a:ext cx="84844" cy="38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9" name="Freeform 1086"/>
          <p:cNvSpPr/>
          <p:nvPr/>
        </p:nvSpPr>
        <p:spPr>
          <a:xfrm>
            <a:off x="9556130" y="5991700"/>
            <a:ext cx="173173" cy="44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0" name="Freeform 1087"/>
          <p:cNvSpPr/>
          <p:nvPr/>
        </p:nvSpPr>
        <p:spPr>
          <a:xfrm flipV="1">
            <a:off x="9729071" y="5988570"/>
            <a:ext cx="70664" cy="45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813" name="Group 983"/>
          <p:cNvGrpSpPr/>
          <p:nvPr/>
        </p:nvGrpSpPr>
        <p:grpSpPr>
          <a:xfrm>
            <a:off x="10017876" y="5636388"/>
            <a:ext cx="174794" cy="348945"/>
            <a:chOff x="0" y="0"/>
            <a:chExt cx="174792" cy="348944"/>
          </a:xfrm>
        </p:grpSpPr>
        <p:sp>
          <p:nvSpPr>
            <p:cNvPr id="2781" name="Freeform 984"/>
            <p:cNvSpPr/>
            <p:nvPr/>
          </p:nvSpPr>
          <p:spPr>
            <a:xfrm>
              <a:off x="135716" y="582"/>
              <a:ext cx="34050" cy="332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82" name="Rectangle 985"/>
            <p:cNvSpPr/>
            <p:nvPr/>
          </p:nvSpPr>
          <p:spPr>
            <a:xfrm>
              <a:off x="8422" y="0"/>
              <a:ext cx="125851" cy="332779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83" name="Freeform 986"/>
            <p:cNvSpPr/>
            <p:nvPr/>
          </p:nvSpPr>
          <p:spPr>
            <a:xfrm>
              <a:off x="142767" y="20534"/>
              <a:ext cx="19660" cy="303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84" name="Freeform 987"/>
            <p:cNvSpPr/>
            <p:nvPr/>
          </p:nvSpPr>
          <p:spPr>
            <a:xfrm>
              <a:off x="137641" y="176365"/>
              <a:ext cx="31644" cy="27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85" name="Rectangle 988"/>
            <p:cNvSpPr/>
            <p:nvPr/>
          </p:nvSpPr>
          <p:spPr>
            <a:xfrm>
              <a:off x="8422" y="35083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2788" name="Group 989"/>
            <p:cNvGrpSpPr/>
            <p:nvPr/>
          </p:nvGrpSpPr>
          <p:grpSpPr>
            <a:xfrm>
              <a:off x="73175" y="34503"/>
              <a:ext cx="69519" cy="21878"/>
              <a:chOff x="0" y="0"/>
              <a:chExt cx="69517" cy="21876"/>
            </a:xfrm>
          </p:grpSpPr>
          <p:sp>
            <p:nvSpPr>
              <p:cNvPr id="2786" name="AutoShape 990"/>
              <p:cNvSpPr/>
              <p:nvPr/>
            </p:nvSpPr>
            <p:spPr>
              <a:xfrm>
                <a:off x="0" y="0"/>
                <a:ext cx="69518" cy="2187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87" name="AutoShape 991"/>
              <p:cNvSpPr/>
              <p:nvPr/>
            </p:nvSpPr>
            <p:spPr>
              <a:xfrm>
                <a:off x="1157" y="2278"/>
                <a:ext cx="67108" cy="173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2789" name="Rectangle 992"/>
            <p:cNvSpPr/>
            <p:nvPr/>
          </p:nvSpPr>
          <p:spPr>
            <a:xfrm>
              <a:off x="9625" y="83434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2792" name="Group 993"/>
            <p:cNvGrpSpPr/>
            <p:nvPr/>
          </p:nvGrpSpPr>
          <p:grpSpPr>
            <a:xfrm>
              <a:off x="73128" y="81722"/>
              <a:ext cx="69518" cy="19517"/>
              <a:chOff x="0" y="0"/>
              <a:chExt cx="69517" cy="19515"/>
            </a:xfrm>
          </p:grpSpPr>
          <p:sp>
            <p:nvSpPr>
              <p:cNvPr id="2790" name="AutoShape 994"/>
              <p:cNvSpPr/>
              <p:nvPr/>
            </p:nvSpPr>
            <p:spPr>
              <a:xfrm>
                <a:off x="0" y="0"/>
                <a:ext cx="69518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91" name="AutoShape 995"/>
              <p:cNvSpPr/>
              <p:nvPr/>
            </p:nvSpPr>
            <p:spPr>
              <a:xfrm>
                <a:off x="1253" y="2386"/>
                <a:ext cx="67108" cy="1502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2793" name="Rectangle 996"/>
            <p:cNvSpPr/>
            <p:nvPr/>
          </p:nvSpPr>
          <p:spPr>
            <a:xfrm>
              <a:off x="9625" y="131785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94" name="Rectangle 997"/>
            <p:cNvSpPr/>
            <p:nvPr/>
          </p:nvSpPr>
          <p:spPr>
            <a:xfrm>
              <a:off x="10828" y="175621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2797" name="Group 998"/>
            <p:cNvGrpSpPr/>
            <p:nvPr/>
          </p:nvGrpSpPr>
          <p:grpSpPr>
            <a:xfrm>
              <a:off x="71974" y="177319"/>
              <a:ext cx="69542" cy="19619"/>
              <a:chOff x="0" y="0"/>
              <a:chExt cx="69540" cy="19617"/>
            </a:xfrm>
          </p:grpSpPr>
          <p:sp>
            <p:nvSpPr>
              <p:cNvPr id="2795" name="AutoShape 999"/>
              <p:cNvSpPr/>
              <p:nvPr/>
            </p:nvSpPr>
            <p:spPr>
              <a:xfrm>
                <a:off x="0" y="0"/>
                <a:ext cx="69541" cy="1961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796" name="AutoShape 1000"/>
              <p:cNvSpPr/>
              <p:nvPr/>
            </p:nvSpPr>
            <p:spPr>
              <a:xfrm>
                <a:off x="1159" y="0"/>
                <a:ext cx="67127" cy="172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2798" name="Freeform 1001"/>
            <p:cNvSpPr/>
            <p:nvPr/>
          </p:nvSpPr>
          <p:spPr>
            <a:xfrm>
              <a:off x="138122" y="134713"/>
              <a:ext cx="31644" cy="27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801" name="Group 1002"/>
            <p:cNvGrpSpPr/>
            <p:nvPr/>
          </p:nvGrpSpPr>
          <p:grpSpPr>
            <a:xfrm>
              <a:off x="71972" y="131218"/>
              <a:ext cx="70701" cy="19516"/>
              <a:chOff x="0" y="0"/>
              <a:chExt cx="70699" cy="19515"/>
            </a:xfrm>
          </p:grpSpPr>
          <p:sp>
            <p:nvSpPr>
              <p:cNvPr id="2799" name="AutoShape 1003"/>
              <p:cNvSpPr/>
              <p:nvPr/>
            </p:nvSpPr>
            <p:spPr>
              <a:xfrm>
                <a:off x="0" y="0"/>
                <a:ext cx="70700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2800" name="AutoShape 1004"/>
              <p:cNvSpPr/>
              <p:nvPr/>
            </p:nvSpPr>
            <p:spPr>
              <a:xfrm>
                <a:off x="1159" y="2330"/>
                <a:ext cx="69541" cy="1500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2802" name="Rectangle 1005"/>
            <p:cNvSpPr/>
            <p:nvPr/>
          </p:nvSpPr>
          <p:spPr>
            <a:xfrm>
              <a:off x="130930" y="0"/>
              <a:ext cx="12701" cy="332779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03" name="Freeform 1006"/>
            <p:cNvSpPr/>
            <p:nvPr/>
          </p:nvSpPr>
          <p:spPr>
            <a:xfrm>
              <a:off x="141010" y="84177"/>
              <a:ext cx="28515" cy="31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04" name="Freeform 1007"/>
            <p:cNvSpPr/>
            <p:nvPr/>
          </p:nvSpPr>
          <p:spPr>
            <a:xfrm>
              <a:off x="141371" y="36554"/>
              <a:ext cx="29358" cy="34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05" name="Oval 1008"/>
            <p:cNvSpPr/>
            <p:nvPr/>
          </p:nvSpPr>
          <p:spPr>
            <a:xfrm>
              <a:off x="162092" y="317777"/>
              <a:ext cx="12701" cy="1383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06" name="Freeform 1009"/>
            <p:cNvSpPr/>
            <p:nvPr/>
          </p:nvSpPr>
          <p:spPr>
            <a:xfrm>
              <a:off x="139806" y="318214"/>
              <a:ext cx="29479" cy="29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07" name="AutoShape 1010"/>
            <p:cNvSpPr/>
            <p:nvPr/>
          </p:nvSpPr>
          <p:spPr>
            <a:xfrm>
              <a:off x="0" y="327098"/>
              <a:ext cx="143898" cy="218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08" name="AutoShape 1011"/>
            <p:cNvSpPr/>
            <p:nvPr/>
          </p:nvSpPr>
          <p:spPr>
            <a:xfrm>
              <a:off x="8422" y="332181"/>
              <a:ext cx="1282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434" y="0"/>
                    <a:pt x="969" y="0"/>
                  </a:cubicBezTo>
                  <a:lnTo>
                    <a:pt x="20631" y="0"/>
                  </a:lnTo>
                  <a:cubicBezTo>
                    <a:pt x="21166" y="0"/>
                    <a:pt x="21600" y="4835"/>
                    <a:pt x="21600" y="10800"/>
                  </a:cubicBezTo>
                  <a:lnTo>
                    <a:pt x="21600" y="10800"/>
                  </a:lnTo>
                  <a:cubicBezTo>
                    <a:pt x="21600" y="16765"/>
                    <a:pt x="21166" y="21600"/>
                    <a:pt x="20631" y="21600"/>
                  </a:cubicBezTo>
                  <a:lnTo>
                    <a:pt x="969" y="21598"/>
                  </a:lnTo>
                  <a:cubicBezTo>
                    <a:pt x="434" y="21598"/>
                    <a:pt x="0" y="16763"/>
                    <a:pt x="0" y="10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09" name="Oval 1012"/>
            <p:cNvSpPr/>
            <p:nvPr/>
          </p:nvSpPr>
          <p:spPr>
            <a:xfrm>
              <a:off x="2033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10" name="Oval 1013"/>
            <p:cNvSpPr/>
            <p:nvPr/>
          </p:nvSpPr>
          <p:spPr>
            <a:xfrm>
              <a:off x="41990" y="284427"/>
              <a:ext cx="19131" cy="2068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11" name="Oval 1014"/>
            <p:cNvSpPr/>
            <p:nvPr/>
          </p:nvSpPr>
          <p:spPr>
            <a:xfrm>
              <a:off x="6232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12" name="Rectangle 1015"/>
            <p:cNvSpPr/>
            <p:nvPr/>
          </p:nvSpPr>
          <p:spPr>
            <a:xfrm>
              <a:off x="109995" y="205055"/>
              <a:ext cx="12701" cy="110538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2816" name="Group 590"/>
          <p:cNvGrpSpPr/>
          <p:nvPr/>
        </p:nvGrpSpPr>
        <p:grpSpPr>
          <a:xfrm>
            <a:off x="7773981" y="5281059"/>
            <a:ext cx="345631" cy="320303"/>
            <a:chOff x="0" y="0"/>
            <a:chExt cx="345629" cy="320302"/>
          </a:xfrm>
        </p:grpSpPr>
        <p:pic>
          <p:nvPicPr>
            <p:cNvPr id="2814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15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817" name="Rectangle 8"/>
          <p:cNvSpPr/>
          <p:nvPr/>
        </p:nvSpPr>
        <p:spPr>
          <a:xfrm>
            <a:off x="6471025" y="1451551"/>
            <a:ext cx="5359401" cy="4954628"/>
          </a:xfrm>
          <a:prstGeom prst="rect">
            <a:avLst/>
          </a:prstGeom>
          <a:solidFill>
            <a:srgbClr val="FFFFFF">
              <a:alpha val="68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981" name="Group 19"/>
          <p:cNvGrpSpPr/>
          <p:nvPr/>
        </p:nvGrpSpPr>
        <p:grpSpPr>
          <a:xfrm>
            <a:off x="7439073" y="1859725"/>
            <a:ext cx="4144322" cy="4127478"/>
            <a:chOff x="0" y="0"/>
            <a:chExt cx="4144321" cy="4127477"/>
          </a:xfrm>
        </p:grpSpPr>
        <p:grpSp>
          <p:nvGrpSpPr>
            <p:cNvPr id="2852" name="Group 14"/>
            <p:cNvGrpSpPr/>
            <p:nvPr/>
          </p:nvGrpSpPr>
          <p:grpSpPr>
            <a:xfrm>
              <a:off x="0" y="0"/>
              <a:ext cx="1802647" cy="1232389"/>
              <a:chOff x="0" y="0"/>
              <a:chExt cx="1802647" cy="1232388"/>
            </a:xfrm>
          </p:grpSpPr>
          <p:pic>
            <p:nvPicPr>
              <p:cNvPr id="2818" name="Picture 799" descr="Picture 799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>
                <a:off x="541792" y="298442"/>
                <a:ext cx="457201" cy="3327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819" name="Line 426"/>
              <p:cNvSpPr/>
              <p:nvPr/>
            </p:nvSpPr>
            <p:spPr>
              <a:xfrm>
                <a:off x="768786" y="840634"/>
                <a:ext cx="227965" cy="17435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2835" name="Group 783"/>
              <p:cNvGrpSpPr/>
              <p:nvPr/>
            </p:nvGrpSpPr>
            <p:grpSpPr>
              <a:xfrm>
                <a:off x="611624" y="449651"/>
                <a:ext cx="298451" cy="464008"/>
                <a:chOff x="0" y="0"/>
                <a:chExt cx="298450" cy="464007"/>
              </a:xfrm>
            </p:grpSpPr>
            <p:sp>
              <p:nvSpPr>
                <p:cNvPr id="2820" name="Line 270"/>
                <p:cNvSpPr/>
                <p:nvPr/>
              </p:nvSpPr>
              <p:spPr>
                <a:xfrm flipH="1">
                  <a:off x="-1" y="0"/>
                  <a:ext cx="149226" cy="42023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1" name="Line 271"/>
                <p:cNvSpPr/>
                <p:nvPr/>
              </p:nvSpPr>
              <p:spPr>
                <a:xfrm>
                  <a:off x="149225" y="0"/>
                  <a:ext cx="149226" cy="41835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2" name="Line 272"/>
                <p:cNvSpPr/>
                <p:nvPr/>
              </p:nvSpPr>
              <p:spPr>
                <a:xfrm>
                  <a:off x="-1" y="418357"/>
                  <a:ext cx="149227" cy="4565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3" name="Line 273"/>
                <p:cNvSpPr/>
                <p:nvPr/>
              </p:nvSpPr>
              <p:spPr>
                <a:xfrm flipH="1">
                  <a:off x="149224" y="418357"/>
                  <a:ext cx="149227" cy="4565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4" name="Line 274"/>
                <p:cNvSpPr/>
                <p:nvPr/>
              </p:nvSpPr>
              <p:spPr>
                <a:xfrm flipH="1">
                  <a:off x="149224" y="9380"/>
                  <a:ext cx="1" cy="45462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5" name="Line 275"/>
                <p:cNvSpPr/>
                <p:nvPr/>
              </p:nvSpPr>
              <p:spPr>
                <a:xfrm flipV="1">
                  <a:off x="-1" y="375208"/>
                  <a:ext cx="149227" cy="4502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6" name="Line 276"/>
                <p:cNvSpPr/>
                <p:nvPr/>
              </p:nvSpPr>
              <p:spPr>
                <a:xfrm flipH="1" flipV="1">
                  <a:off x="149224" y="375209"/>
                  <a:ext cx="149227" cy="4314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7" name="Line 277"/>
                <p:cNvSpPr/>
                <p:nvPr/>
              </p:nvSpPr>
              <p:spPr>
                <a:xfrm>
                  <a:off x="63329" y="237632"/>
                  <a:ext cx="85896" cy="3439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8" name="Line 278"/>
                <p:cNvSpPr/>
                <p:nvPr/>
              </p:nvSpPr>
              <p:spPr>
                <a:xfrm flipV="1">
                  <a:off x="149224" y="237632"/>
                  <a:ext cx="90264" cy="3439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29" name="Line 279"/>
                <p:cNvSpPr/>
                <p:nvPr/>
              </p:nvSpPr>
              <p:spPr>
                <a:xfrm>
                  <a:off x="34940" y="298916"/>
                  <a:ext cx="110645" cy="46902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30" name="Line 280"/>
                <p:cNvSpPr/>
                <p:nvPr/>
              </p:nvSpPr>
              <p:spPr>
                <a:xfrm flipV="1">
                  <a:off x="149224" y="308297"/>
                  <a:ext cx="111374" cy="4127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31" name="Line 281"/>
                <p:cNvSpPr/>
                <p:nvPr/>
              </p:nvSpPr>
              <p:spPr>
                <a:xfrm flipV="1">
                  <a:off x="149224" y="174472"/>
                  <a:ext cx="56780" cy="1688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32" name="Line 282"/>
                <p:cNvSpPr/>
                <p:nvPr/>
              </p:nvSpPr>
              <p:spPr>
                <a:xfrm flipV="1">
                  <a:off x="149225" y="87548"/>
                  <a:ext cx="35669" cy="1313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33" name="Line 283"/>
                <p:cNvSpPr/>
                <p:nvPr/>
              </p:nvSpPr>
              <p:spPr>
                <a:xfrm>
                  <a:off x="85167" y="168843"/>
                  <a:ext cx="69154" cy="2251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34" name="Line 284"/>
                <p:cNvSpPr/>
                <p:nvPr/>
              </p:nvSpPr>
              <p:spPr>
                <a:xfrm>
                  <a:off x="115740" y="83796"/>
                  <a:ext cx="40036" cy="2251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2847" name="Group 406"/>
              <p:cNvGrpSpPr/>
              <p:nvPr/>
            </p:nvGrpSpPr>
            <p:grpSpPr>
              <a:xfrm>
                <a:off x="1000753" y="840507"/>
                <a:ext cx="353679" cy="391882"/>
                <a:chOff x="0" y="0"/>
                <a:chExt cx="353677" cy="391881"/>
              </a:xfrm>
            </p:grpSpPr>
            <p:grpSp>
              <p:nvGrpSpPr>
                <p:cNvPr id="2838" name="Freeform 407"/>
                <p:cNvGrpSpPr/>
                <p:nvPr/>
              </p:nvGrpSpPr>
              <p:grpSpPr>
                <a:xfrm>
                  <a:off x="-1" y="58793"/>
                  <a:ext cx="353679" cy="333089"/>
                  <a:chOff x="0" y="0"/>
                  <a:chExt cx="353677" cy="333087"/>
                </a:xfrm>
              </p:grpSpPr>
              <p:sp>
                <p:nvSpPr>
                  <p:cNvPr id="2836" name="Shape"/>
                  <p:cNvSpPr/>
                  <p:nvPr/>
                </p:nvSpPr>
                <p:spPr>
                  <a:xfrm>
                    <a:off x="0" y="111530"/>
                    <a:ext cx="353678" cy="1100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37" name="Text"/>
                  <p:cNvSpPr txBox="1"/>
                  <p:nvPr/>
                </p:nvSpPr>
                <p:spPr>
                  <a:xfrm>
                    <a:off x="48894" y="0"/>
                    <a:ext cx="255889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2841" name="Oval 408"/>
                <p:cNvGrpSpPr/>
                <p:nvPr/>
              </p:nvGrpSpPr>
              <p:grpSpPr>
                <a:xfrm>
                  <a:off x="203" y="-1"/>
                  <a:ext cx="353251" cy="333089"/>
                  <a:chOff x="0" y="0"/>
                  <a:chExt cx="353249" cy="333087"/>
                </a:xfrm>
              </p:grpSpPr>
              <p:sp>
                <p:nvSpPr>
                  <p:cNvPr id="2839" name="Oval"/>
                  <p:cNvSpPr/>
                  <p:nvPr/>
                </p:nvSpPr>
                <p:spPr>
                  <a:xfrm>
                    <a:off x="0" y="112076"/>
                    <a:ext cx="353250" cy="108935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40" name="Text"/>
                  <p:cNvSpPr txBox="1"/>
                  <p:nvPr/>
                </p:nvSpPr>
                <p:spPr>
                  <a:xfrm>
                    <a:off x="100627" y="0"/>
                    <a:ext cx="151995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2846" name="Group 409"/>
                <p:cNvGrpSpPr/>
                <p:nvPr/>
              </p:nvGrpSpPr>
              <p:grpSpPr>
                <a:xfrm>
                  <a:off x="52453" y="125922"/>
                  <a:ext cx="248706" cy="80044"/>
                  <a:chOff x="0" y="0"/>
                  <a:chExt cx="248704" cy="80043"/>
                </a:xfrm>
              </p:grpSpPr>
              <p:sp>
                <p:nvSpPr>
                  <p:cNvPr id="2842" name="Freeform 410"/>
                  <p:cNvSpPr/>
                  <p:nvPr/>
                </p:nvSpPr>
                <p:spPr>
                  <a:xfrm>
                    <a:off x="6879" y="0"/>
                    <a:ext cx="235271" cy="4480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43" name="Freeform 411"/>
                  <p:cNvSpPr/>
                  <p:nvPr/>
                </p:nvSpPr>
                <p:spPr>
                  <a:xfrm>
                    <a:off x="160864" y="38326"/>
                    <a:ext cx="87841" cy="3857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44" name="Freeform 412"/>
                  <p:cNvSpPr/>
                  <p:nvPr/>
                </p:nvSpPr>
                <p:spPr>
                  <a:xfrm>
                    <a:off x="0" y="38326"/>
                    <a:ext cx="86253" cy="3812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45" name="Freeform 413"/>
                  <p:cNvSpPr/>
                  <p:nvPr/>
                </p:nvSpPr>
                <p:spPr>
                  <a:xfrm>
                    <a:off x="29942" y="19487"/>
                    <a:ext cx="187543" cy="6055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pic>
            <p:nvPicPr>
              <p:cNvPr id="2848" name="Picture 654" descr="Picture 654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>
                <a:off x="311150" y="0"/>
                <a:ext cx="415926" cy="8877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49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496888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50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1198707" y="460002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51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1271945" y="199398"/>
                <a:ext cx="530703" cy="22375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2872" name="Group 11"/>
            <p:cNvGrpSpPr/>
            <p:nvPr/>
          </p:nvGrpSpPr>
          <p:grpSpPr>
            <a:xfrm>
              <a:off x="54444" y="1465699"/>
              <a:ext cx="911538" cy="925351"/>
              <a:chOff x="0" y="0"/>
              <a:chExt cx="911537" cy="925350"/>
            </a:xfrm>
          </p:grpSpPr>
          <p:pic>
            <p:nvPicPr>
              <p:cNvPr id="2853" name="Picture 777" descr="Picture 777"/>
              <p:cNvPicPr>
                <a:picLocks noChangeAspect="1"/>
              </p:cNvPicPr>
              <p:nvPr/>
            </p:nvPicPr>
            <p:blipFill>
              <a:blip r:embed="rId17">
                <a:extLst/>
              </a:blip>
              <a:stretch>
                <a:fillRect/>
              </a:stretch>
            </p:blipFill>
            <p:spPr>
              <a:xfrm>
                <a:off x="120363" y="536474"/>
                <a:ext cx="370170" cy="306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2871" name="Group 10"/>
              <p:cNvGrpSpPr/>
              <p:nvPr/>
            </p:nvGrpSpPr>
            <p:grpSpPr>
              <a:xfrm>
                <a:off x="-1" y="0"/>
                <a:ext cx="911539" cy="925351"/>
                <a:chOff x="0" y="0"/>
                <a:chExt cx="911537" cy="925350"/>
              </a:xfrm>
            </p:grpSpPr>
            <p:sp>
              <p:nvSpPr>
                <p:cNvPr id="2854" name="Line 443"/>
                <p:cNvSpPr/>
                <p:nvPr/>
              </p:nvSpPr>
              <p:spPr>
                <a:xfrm>
                  <a:off x="754259" y="504545"/>
                  <a:ext cx="1" cy="13176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55" name="Line 449"/>
                <p:cNvSpPr/>
                <p:nvPr/>
              </p:nvSpPr>
              <p:spPr>
                <a:xfrm flipV="1">
                  <a:off x="363734" y="715683"/>
                  <a:ext cx="168275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2856" name="Picture 778" descr="Picture 778"/>
                <p:cNvPicPr>
                  <a:picLocks noChangeAspect="1"/>
                </p:cNvPicPr>
                <p:nvPr/>
              </p:nvPicPr>
              <p:blipFill>
                <a:blip r:embed="rId18">
                  <a:extLst/>
                </a:blip>
                <a:stretch>
                  <a:fillRect/>
                </a:stretch>
              </p:blipFill>
              <p:spPr>
                <a:xfrm>
                  <a:off x="68719" y="488505"/>
                  <a:ext cx="506413" cy="10601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2868" name="Group 414"/>
                <p:cNvGrpSpPr/>
                <p:nvPr/>
              </p:nvGrpSpPr>
              <p:grpSpPr>
                <a:xfrm>
                  <a:off x="556551" y="530885"/>
                  <a:ext cx="354987" cy="394466"/>
                  <a:chOff x="0" y="0"/>
                  <a:chExt cx="354985" cy="394464"/>
                </a:xfrm>
              </p:grpSpPr>
              <p:grpSp>
                <p:nvGrpSpPr>
                  <p:cNvPr id="2859" name="Freeform 415"/>
                  <p:cNvGrpSpPr/>
                  <p:nvPr/>
                </p:nvGrpSpPr>
                <p:grpSpPr>
                  <a:xfrm>
                    <a:off x="-1" y="61377"/>
                    <a:ext cx="354987" cy="333088"/>
                    <a:chOff x="0" y="0"/>
                    <a:chExt cx="354985" cy="333087"/>
                  </a:xfrm>
                </p:grpSpPr>
                <p:sp>
                  <p:nvSpPr>
                    <p:cNvPr id="2857" name="Shape"/>
                    <p:cNvSpPr/>
                    <p:nvPr/>
                  </p:nvSpPr>
                  <p:spPr>
                    <a:xfrm>
                      <a:off x="0" y="109113"/>
                      <a:ext cx="354986" cy="1148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858" name="Text"/>
                    <p:cNvSpPr txBox="1"/>
                    <p:nvPr/>
                  </p:nvSpPr>
                  <p:spPr>
                    <a:xfrm>
                      <a:off x="48894" y="0"/>
                      <a:ext cx="257196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2862" name="Oval 416"/>
                  <p:cNvGrpSpPr/>
                  <p:nvPr/>
                </p:nvGrpSpPr>
                <p:grpSpPr>
                  <a:xfrm>
                    <a:off x="204" y="-1"/>
                    <a:ext cx="354557" cy="333089"/>
                    <a:chOff x="0" y="0"/>
                    <a:chExt cx="354555" cy="333087"/>
                  </a:xfrm>
                </p:grpSpPr>
                <p:sp>
                  <p:nvSpPr>
                    <p:cNvPr id="2860" name="Oval"/>
                    <p:cNvSpPr/>
                    <p:nvPr/>
                  </p:nvSpPr>
                  <p:spPr>
                    <a:xfrm>
                      <a:off x="0" y="109684"/>
                      <a:ext cx="354556" cy="113721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861" name="Text"/>
                    <p:cNvSpPr txBox="1"/>
                    <p:nvPr/>
                  </p:nvSpPr>
                  <p:spPr>
                    <a:xfrm>
                      <a:off x="100818" y="0"/>
                      <a:ext cx="152920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2867" name="Group 417"/>
                  <p:cNvGrpSpPr/>
                  <p:nvPr/>
                </p:nvGrpSpPr>
                <p:grpSpPr>
                  <a:xfrm>
                    <a:off x="52647" y="124137"/>
                    <a:ext cx="249626" cy="83561"/>
                    <a:chOff x="0" y="0"/>
                    <a:chExt cx="249624" cy="83559"/>
                  </a:xfrm>
                </p:grpSpPr>
                <p:sp>
                  <p:nvSpPr>
                    <p:cNvPr id="2863" name="Freeform 418"/>
                    <p:cNvSpPr/>
                    <p:nvPr/>
                  </p:nvSpPr>
                  <p:spPr>
                    <a:xfrm>
                      <a:off x="6904" y="-1"/>
                      <a:ext cx="236141" cy="467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864" name="Freeform 419"/>
                    <p:cNvSpPr/>
                    <p:nvPr/>
                  </p:nvSpPr>
                  <p:spPr>
                    <a:xfrm>
                      <a:off x="161459" y="40010"/>
                      <a:ext cx="88166" cy="4027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865" name="Freeform 420"/>
                    <p:cNvSpPr/>
                    <p:nvPr/>
                  </p:nvSpPr>
                  <p:spPr>
                    <a:xfrm>
                      <a:off x="0" y="40010"/>
                      <a:ext cx="86572" cy="39804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866" name="Freeform 421"/>
                    <p:cNvSpPr/>
                    <p:nvPr/>
                  </p:nvSpPr>
                  <p:spPr>
                    <a:xfrm>
                      <a:off x="30053" y="20343"/>
                      <a:ext cx="188236" cy="6321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2869" name="Picture 1115" descr="Picture 1115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>
                  <a:off x="0" y="93715"/>
                  <a:ext cx="347997" cy="16755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870" name="Picture 1115" descr="Picture 1115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>
                  <a:off x="309916" y="0"/>
                  <a:ext cx="347998" cy="1675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2891" name="Group 15"/>
            <p:cNvGrpSpPr/>
            <p:nvPr/>
          </p:nvGrpSpPr>
          <p:grpSpPr>
            <a:xfrm>
              <a:off x="3445011" y="1568760"/>
              <a:ext cx="604587" cy="405974"/>
              <a:chOff x="0" y="0"/>
              <a:chExt cx="604585" cy="405973"/>
            </a:xfrm>
          </p:grpSpPr>
          <p:grpSp>
            <p:nvGrpSpPr>
              <p:cNvPr id="2884" name="Group 454"/>
              <p:cNvGrpSpPr/>
              <p:nvPr/>
            </p:nvGrpSpPr>
            <p:grpSpPr>
              <a:xfrm>
                <a:off x="0" y="140793"/>
                <a:ext cx="170989" cy="160910"/>
                <a:chOff x="0" y="0"/>
                <a:chExt cx="170988" cy="160909"/>
              </a:xfrm>
            </p:grpSpPr>
            <p:grpSp>
              <p:nvGrpSpPr>
                <p:cNvPr id="2875" name="Freeform 455"/>
                <p:cNvGrpSpPr/>
                <p:nvPr/>
              </p:nvGrpSpPr>
              <p:grpSpPr>
                <a:xfrm>
                  <a:off x="0" y="33909"/>
                  <a:ext cx="170989" cy="127001"/>
                  <a:chOff x="0" y="0"/>
                  <a:chExt cx="170988" cy="127000"/>
                </a:xfrm>
              </p:grpSpPr>
              <p:sp>
                <p:nvSpPr>
                  <p:cNvPr id="2873" name="Shape"/>
                  <p:cNvSpPr/>
                  <p:nvPr/>
                </p:nvSpPr>
                <p:spPr>
                  <a:xfrm>
                    <a:off x="0" y="31770"/>
                    <a:ext cx="170989" cy="634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74" name="Text"/>
                  <p:cNvSpPr txBox="1"/>
                  <p:nvPr/>
                </p:nvSpPr>
                <p:spPr>
                  <a:xfrm>
                    <a:off x="47307" y="0"/>
                    <a:ext cx="76375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2878" name="Oval 456"/>
                <p:cNvGrpSpPr/>
                <p:nvPr/>
              </p:nvGrpSpPr>
              <p:grpSpPr>
                <a:xfrm>
                  <a:off x="98" y="0"/>
                  <a:ext cx="170783" cy="127000"/>
                  <a:chOff x="0" y="0"/>
                  <a:chExt cx="170782" cy="127000"/>
                </a:xfrm>
              </p:grpSpPr>
              <p:sp>
                <p:nvSpPr>
                  <p:cNvPr id="2876" name="Oval"/>
                  <p:cNvSpPr/>
                  <p:nvPr/>
                </p:nvSpPr>
                <p:spPr>
                  <a:xfrm>
                    <a:off x="0" y="32086"/>
                    <a:ext cx="170783" cy="62829"/>
                  </a:xfrm>
                  <a:prstGeom prst="ellipse">
                    <a:avLst/>
                  </a:prstGeom>
                  <a:solidFill>
                    <a:srgbClr val="B8C2C9"/>
                  </a:soli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77" name="Text"/>
                  <p:cNvSpPr txBox="1"/>
                  <p:nvPr/>
                </p:nvSpPr>
                <p:spPr>
                  <a:xfrm>
                    <a:off x="72317" y="0"/>
                    <a:ext cx="26147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2883" name="Group 457"/>
                <p:cNvGrpSpPr/>
                <p:nvPr/>
              </p:nvGrpSpPr>
              <p:grpSpPr>
                <a:xfrm>
                  <a:off x="25359" y="40071"/>
                  <a:ext cx="120239" cy="46166"/>
                  <a:chOff x="0" y="0"/>
                  <a:chExt cx="120238" cy="46164"/>
                </a:xfrm>
              </p:grpSpPr>
              <p:sp>
                <p:nvSpPr>
                  <p:cNvPr id="2879" name="Freeform 458"/>
                  <p:cNvSpPr/>
                  <p:nvPr/>
                </p:nvSpPr>
                <p:spPr>
                  <a:xfrm>
                    <a:off x="3325" y="-1"/>
                    <a:ext cx="113745" cy="2584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80" name="Freeform 459"/>
                  <p:cNvSpPr/>
                  <p:nvPr/>
                </p:nvSpPr>
                <p:spPr>
                  <a:xfrm>
                    <a:off x="77771" y="22104"/>
                    <a:ext cx="42468" cy="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81" name="Freeform 460"/>
                  <p:cNvSpPr/>
                  <p:nvPr/>
                </p:nvSpPr>
                <p:spPr>
                  <a:xfrm>
                    <a:off x="0" y="22104"/>
                    <a:ext cx="41700" cy="2199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882" name="Freeform 461"/>
                  <p:cNvSpPr/>
                  <p:nvPr/>
                </p:nvSpPr>
                <p:spPr>
                  <a:xfrm>
                    <a:off x="14476" y="11239"/>
                    <a:ext cx="90669" cy="3492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2890" name="Group 391"/>
              <p:cNvGrpSpPr/>
              <p:nvPr/>
            </p:nvGrpSpPr>
            <p:grpSpPr>
              <a:xfrm>
                <a:off x="180862" y="0"/>
                <a:ext cx="423725" cy="405974"/>
                <a:chOff x="0" y="0"/>
                <a:chExt cx="423723" cy="405973"/>
              </a:xfrm>
            </p:grpSpPr>
            <p:sp>
              <p:nvSpPr>
                <p:cNvPr id="2885" name="Straight Connector 392"/>
                <p:cNvSpPr/>
                <p:nvPr/>
              </p:nvSpPr>
              <p:spPr>
                <a:xfrm>
                  <a:off x="0" y="216155"/>
                  <a:ext cx="16110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889" name="Group 394"/>
                <p:cNvGrpSpPr/>
                <p:nvPr/>
              </p:nvGrpSpPr>
              <p:grpSpPr>
                <a:xfrm>
                  <a:off x="118936" y="0"/>
                  <a:ext cx="304788" cy="405974"/>
                  <a:chOff x="0" y="0"/>
                  <a:chExt cx="304787" cy="405973"/>
                </a:xfrm>
              </p:grpSpPr>
              <p:pic>
                <p:nvPicPr>
                  <p:cNvPr id="2886" name="Picture 395" descr="Picture 395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176272" y="59397"/>
                    <a:ext cx="128516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887" name="Picture 396" descr="Picture 396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-1" y="52605"/>
                    <a:ext cx="128517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888" name="Picture 397" descr="Picture 397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74200" y="0"/>
                    <a:ext cx="166308" cy="40597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</p:grpSp>
        <p:grpSp>
          <p:nvGrpSpPr>
            <p:cNvPr id="2961" name="Group 9"/>
            <p:cNvGrpSpPr/>
            <p:nvPr/>
          </p:nvGrpSpPr>
          <p:grpSpPr>
            <a:xfrm>
              <a:off x="536806" y="2785746"/>
              <a:ext cx="2319346" cy="1341732"/>
              <a:chOff x="0" y="0"/>
              <a:chExt cx="2319344" cy="1341730"/>
            </a:xfrm>
          </p:grpSpPr>
          <p:sp>
            <p:nvSpPr>
              <p:cNvPr id="2892" name="Line 428"/>
              <p:cNvSpPr/>
              <p:nvPr/>
            </p:nvSpPr>
            <p:spPr>
              <a:xfrm flipH="1" flipV="1">
                <a:off x="2031493" y="381596"/>
                <a:ext cx="7561" cy="38806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893" name="Line 435"/>
              <p:cNvSpPr/>
              <p:nvPr/>
            </p:nvSpPr>
            <p:spPr>
              <a:xfrm>
                <a:off x="261839" y="437442"/>
                <a:ext cx="226801" cy="1270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894" name="Line 440"/>
              <p:cNvSpPr/>
              <p:nvPr/>
            </p:nvSpPr>
            <p:spPr>
              <a:xfrm flipV="1">
                <a:off x="511057" y="356670"/>
                <a:ext cx="404238" cy="20777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2960" name="Group 3"/>
              <p:cNvGrpSpPr/>
              <p:nvPr/>
            </p:nvGrpSpPr>
            <p:grpSpPr>
              <a:xfrm>
                <a:off x="-1" y="-1"/>
                <a:ext cx="2319346" cy="1341732"/>
                <a:chOff x="0" y="0"/>
                <a:chExt cx="2319344" cy="1341730"/>
              </a:xfrm>
            </p:grpSpPr>
            <p:sp>
              <p:nvSpPr>
                <p:cNvPr id="2895" name="Line 430"/>
                <p:cNvSpPr/>
                <p:nvPr/>
              </p:nvSpPr>
              <p:spPr>
                <a:xfrm>
                  <a:off x="2205044" y="783179"/>
                  <a:ext cx="11430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96" name="Line 431"/>
                <p:cNvSpPr/>
                <p:nvPr/>
              </p:nvSpPr>
              <p:spPr>
                <a:xfrm>
                  <a:off x="1484592" y="158625"/>
                  <a:ext cx="524484" cy="26153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97" name="Line 432"/>
                <p:cNvSpPr/>
                <p:nvPr/>
              </p:nvSpPr>
              <p:spPr>
                <a:xfrm flipV="1">
                  <a:off x="901698" y="158625"/>
                  <a:ext cx="569256" cy="24626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98" name="Line 433"/>
                <p:cNvSpPr/>
                <p:nvPr/>
              </p:nvSpPr>
              <p:spPr>
                <a:xfrm>
                  <a:off x="873376" y="430254"/>
                  <a:ext cx="1030504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899" name="Line 436"/>
                <p:cNvSpPr/>
                <p:nvPr/>
              </p:nvSpPr>
              <p:spPr>
                <a:xfrm flipV="1">
                  <a:off x="-1" y="610578"/>
                  <a:ext cx="412752" cy="12700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00" name="Line 439"/>
                <p:cNvSpPr/>
                <p:nvPr/>
              </p:nvSpPr>
              <p:spPr>
                <a:xfrm flipH="1">
                  <a:off x="425450" y="602360"/>
                  <a:ext cx="68081" cy="29396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01" name="Line 440"/>
                <p:cNvSpPr/>
                <p:nvPr/>
              </p:nvSpPr>
              <p:spPr>
                <a:xfrm flipH="1" flipV="1">
                  <a:off x="540363" y="628039"/>
                  <a:ext cx="280376" cy="2698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02" name="Line 441"/>
                <p:cNvSpPr/>
                <p:nvPr/>
              </p:nvSpPr>
              <p:spPr>
                <a:xfrm>
                  <a:off x="540363" y="578156"/>
                  <a:ext cx="914186" cy="46862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903" name="Line 428"/>
                <p:cNvSpPr/>
                <p:nvPr/>
              </p:nvSpPr>
              <p:spPr>
                <a:xfrm flipH="1" flipV="1">
                  <a:off x="2119833" y="720924"/>
                  <a:ext cx="1483" cy="36679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2904" name="Picture 781" descr="Picture 781"/>
                <p:cNvPicPr>
                  <a:picLocks noChangeAspect="1"/>
                </p:cNvPicPr>
                <p:nvPr/>
              </p:nvPicPr>
              <p:blipFill>
                <a:blip r:embed="rId21">
                  <a:extLst/>
                </a:blip>
                <a:stretch>
                  <a:fillRect/>
                </a:stretch>
              </p:blipFill>
              <p:spPr>
                <a:xfrm>
                  <a:off x="1293706" y="801046"/>
                  <a:ext cx="452015" cy="9516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905" name="Picture 780" descr="Picture 780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1342243" y="844340"/>
                  <a:ext cx="380936" cy="3174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2917" name="Group 470"/>
                <p:cNvGrpSpPr/>
                <p:nvPr/>
              </p:nvGrpSpPr>
              <p:grpSpPr>
                <a:xfrm>
                  <a:off x="1835191" y="214296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2908" name="Freeform 471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2906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07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2911" name="Oval 472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2909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10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2916" name="Group 473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2912" name="Freeform 474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13" name="Freeform 475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14" name="Freeform 476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15" name="Freeform 477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2925" name="Group 519"/>
                <p:cNvGrpSpPr/>
                <p:nvPr/>
              </p:nvGrpSpPr>
              <p:grpSpPr>
                <a:xfrm>
                  <a:off x="1900998" y="659145"/>
                  <a:ext cx="309741" cy="190839"/>
                  <a:chOff x="0" y="0"/>
                  <a:chExt cx="309739" cy="190837"/>
                </a:xfrm>
              </p:grpSpPr>
              <p:sp>
                <p:nvSpPr>
                  <p:cNvPr id="2918" name="Rectangle 520"/>
                  <p:cNvSpPr/>
                  <p:nvPr/>
                </p:nvSpPr>
                <p:spPr>
                  <a:xfrm>
                    <a:off x="0" y="113922"/>
                    <a:ext cx="308626" cy="7691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32538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919" name="Freeform 521"/>
                  <p:cNvSpPr/>
                  <p:nvPr/>
                </p:nvSpPr>
                <p:spPr>
                  <a:xfrm>
                    <a:off x="857" y="-1"/>
                    <a:ext cx="308883" cy="1167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429"/>
                        </a:moveTo>
                        <a:lnTo>
                          <a:pt x="1440" y="0"/>
                        </a:lnTo>
                        <a:lnTo>
                          <a:pt x="19500" y="343"/>
                        </a:lnTo>
                        <a:lnTo>
                          <a:pt x="21600" y="21600"/>
                        </a:lnTo>
                        <a:lnTo>
                          <a:pt x="0" y="21429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grpSp>
                <p:nvGrpSpPr>
                  <p:cNvPr id="2924" name="Group 522"/>
                  <p:cNvGrpSpPr/>
                  <p:nvPr/>
                </p:nvGrpSpPr>
                <p:grpSpPr>
                  <a:xfrm>
                    <a:off x="22308" y="13603"/>
                    <a:ext cx="261399" cy="93969"/>
                    <a:chOff x="0" y="0"/>
                    <a:chExt cx="261398" cy="93968"/>
                  </a:xfrm>
                </p:grpSpPr>
                <p:sp>
                  <p:nvSpPr>
                    <p:cNvPr id="2920" name="Freeform 523"/>
                    <p:cNvSpPr/>
                    <p:nvPr/>
                  </p:nvSpPr>
                  <p:spPr>
                    <a:xfrm>
                      <a:off x="7230" y="-1"/>
                      <a:ext cx="247278" cy="5260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21" name="Freeform 524"/>
                    <p:cNvSpPr/>
                    <p:nvPr/>
                  </p:nvSpPr>
                  <p:spPr>
                    <a:xfrm>
                      <a:off x="169074" y="44994"/>
                      <a:ext cx="92325" cy="4528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22" name="Freeform 525"/>
                    <p:cNvSpPr/>
                    <p:nvPr/>
                  </p:nvSpPr>
                  <p:spPr>
                    <a:xfrm>
                      <a:off x="-1" y="44994"/>
                      <a:ext cx="90657" cy="447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23" name="Freeform 526"/>
                    <p:cNvSpPr/>
                    <p:nvPr/>
                  </p:nvSpPr>
                  <p:spPr>
                    <a:xfrm>
                      <a:off x="31470" y="22877"/>
                      <a:ext cx="197115" cy="7109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2937" name="Group 478"/>
                <p:cNvGrpSpPr/>
                <p:nvPr/>
              </p:nvGrpSpPr>
              <p:grpSpPr>
                <a:xfrm>
                  <a:off x="728252" y="191733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2928" name="Freeform 479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2926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27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2931" name="Oval 480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2929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30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2936" name="Group 481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2932" name="Freeform 482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33" name="Freeform 483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34" name="Freeform 484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35" name="Freeform 485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2945" name="Group 528"/>
                <p:cNvGrpSpPr/>
                <p:nvPr/>
              </p:nvGrpSpPr>
              <p:grpSpPr>
                <a:xfrm>
                  <a:off x="363152" y="514541"/>
                  <a:ext cx="309741" cy="190839"/>
                  <a:chOff x="0" y="0"/>
                  <a:chExt cx="309739" cy="190837"/>
                </a:xfrm>
              </p:grpSpPr>
              <p:sp>
                <p:nvSpPr>
                  <p:cNvPr id="2938" name="Rectangle 529"/>
                  <p:cNvSpPr/>
                  <p:nvPr/>
                </p:nvSpPr>
                <p:spPr>
                  <a:xfrm>
                    <a:off x="0" y="113922"/>
                    <a:ext cx="308626" cy="7691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32538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939" name="Freeform 530"/>
                  <p:cNvSpPr/>
                  <p:nvPr/>
                </p:nvSpPr>
                <p:spPr>
                  <a:xfrm>
                    <a:off x="857" y="-1"/>
                    <a:ext cx="308883" cy="1167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429"/>
                        </a:moveTo>
                        <a:lnTo>
                          <a:pt x="1440" y="0"/>
                        </a:lnTo>
                        <a:lnTo>
                          <a:pt x="19500" y="343"/>
                        </a:lnTo>
                        <a:lnTo>
                          <a:pt x="21600" y="21600"/>
                        </a:lnTo>
                        <a:lnTo>
                          <a:pt x="0" y="21429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grpSp>
                <p:nvGrpSpPr>
                  <p:cNvPr id="2944" name="Group 531"/>
                  <p:cNvGrpSpPr/>
                  <p:nvPr/>
                </p:nvGrpSpPr>
                <p:grpSpPr>
                  <a:xfrm>
                    <a:off x="22308" y="13603"/>
                    <a:ext cx="261399" cy="93969"/>
                    <a:chOff x="0" y="0"/>
                    <a:chExt cx="261398" cy="93968"/>
                  </a:xfrm>
                </p:grpSpPr>
                <p:sp>
                  <p:nvSpPr>
                    <p:cNvPr id="2940" name="Freeform 532"/>
                    <p:cNvSpPr/>
                    <p:nvPr/>
                  </p:nvSpPr>
                  <p:spPr>
                    <a:xfrm>
                      <a:off x="7230" y="-1"/>
                      <a:ext cx="247278" cy="5260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41" name="Freeform 533"/>
                    <p:cNvSpPr/>
                    <p:nvPr/>
                  </p:nvSpPr>
                  <p:spPr>
                    <a:xfrm>
                      <a:off x="169074" y="44994"/>
                      <a:ext cx="92325" cy="4528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42" name="Freeform 534"/>
                    <p:cNvSpPr/>
                    <p:nvPr/>
                  </p:nvSpPr>
                  <p:spPr>
                    <a:xfrm>
                      <a:off x="-1" y="44994"/>
                      <a:ext cx="90657" cy="447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43" name="Freeform 535"/>
                    <p:cNvSpPr/>
                    <p:nvPr/>
                  </p:nvSpPr>
                  <p:spPr>
                    <a:xfrm>
                      <a:off x="31470" y="22877"/>
                      <a:ext cx="197115" cy="7109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2957" name="Group 462"/>
                <p:cNvGrpSpPr/>
                <p:nvPr/>
              </p:nvGrpSpPr>
              <p:grpSpPr>
                <a:xfrm>
                  <a:off x="1299526" y="-1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2948" name="Freeform 463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2946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47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2951" name="Oval 464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2949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50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2956" name="Group 465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2952" name="Freeform 466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53" name="Freeform 467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54" name="Freeform 468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2955" name="Freeform 469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2958" name="Picture 1065" descr="Picture 1065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253314" y="1172917"/>
                  <a:ext cx="307703" cy="16881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2959" name="Picture 1065" descr="Picture 1065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586379" y="1115246"/>
                  <a:ext cx="316708" cy="13896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2980" name="Group 16"/>
            <p:cNvGrpSpPr/>
            <p:nvPr/>
          </p:nvGrpSpPr>
          <p:grpSpPr>
            <a:xfrm>
              <a:off x="3486908" y="2329186"/>
              <a:ext cx="657414" cy="451817"/>
              <a:chOff x="0" y="0"/>
              <a:chExt cx="657412" cy="451816"/>
            </a:xfrm>
          </p:grpSpPr>
          <p:grpSp>
            <p:nvGrpSpPr>
              <p:cNvPr id="2967" name="Group 374"/>
              <p:cNvGrpSpPr/>
              <p:nvPr/>
            </p:nvGrpSpPr>
            <p:grpSpPr>
              <a:xfrm>
                <a:off x="167574" y="0"/>
                <a:ext cx="489840" cy="451817"/>
                <a:chOff x="0" y="0"/>
                <a:chExt cx="489839" cy="451816"/>
              </a:xfrm>
            </p:grpSpPr>
            <p:sp>
              <p:nvSpPr>
                <p:cNvPr id="2962" name="Straight Connector 375"/>
                <p:cNvSpPr/>
                <p:nvPr/>
              </p:nvSpPr>
              <p:spPr>
                <a:xfrm>
                  <a:off x="-1" y="240564"/>
                  <a:ext cx="186245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966" name="Group 377"/>
                <p:cNvGrpSpPr/>
                <p:nvPr/>
              </p:nvGrpSpPr>
              <p:grpSpPr>
                <a:xfrm>
                  <a:off x="137494" y="0"/>
                  <a:ext cx="352346" cy="451817"/>
                  <a:chOff x="0" y="0"/>
                  <a:chExt cx="352344" cy="451816"/>
                </a:xfrm>
              </p:grpSpPr>
              <p:pic>
                <p:nvPicPr>
                  <p:cNvPr id="2963" name="Picture 378" descr="Picture 378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203776" y="66104"/>
                    <a:ext cx="148569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964" name="Picture 379" descr="Picture 379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0" y="58546"/>
                    <a:ext cx="148568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2965" name="Picture 380" descr="Picture 380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85777" y="0"/>
                    <a:ext cx="192259" cy="451817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  <p:grpSp>
            <p:nvGrpSpPr>
              <p:cNvPr id="2979" name="Group 446"/>
              <p:cNvGrpSpPr/>
              <p:nvPr/>
            </p:nvGrpSpPr>
            <p:grpSpPr>
              <a:xfrm>
                <a:off x="0" y="94708"/>
                <a:ext cx="228296" cy="333088"/>
                <a:chOff x="0" y="0"/>
                <a:chExt cx="228295" cy="333087"/>
              </a:xfrm>
            </p:grpSpPr>
            <p:grpSp>
              <p:nvGrpSpPr>
                <p:cNvPr id="2970" name="Freeform 447"/>
                <p:cNvGrpSpPr/>
                <p:nvPr/>
              </p:nvGrpSpPr>
              <p:grpSpPr>
                <a:xfrm>
                  <a:off x="0" y="-1"/>
                  <a:ext cx="228296" cy="333089"/>
                  <a:chOff x="0" y="0"/>
                  <a:chExt cx="228295" cy="333087"/>
                </a:xfrm>
              </p:grpSpPr>
              <p:sp>
                <p:nvSpPr>
                  <p:cNvPr id="2968" name="Shape"/>
                  <p:cNvSpPr/>
                  <p:nvPr/>
                </p:nvSpPr>
                <p:spPr>
                  <a:xfrm>
                    <a:off x="0" y="127181"/>
                    <a:ext cx="228296" cy="787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969" name="Text"/>
                  <p:cNvSpPr txBox="1"/>
                  <p:nvPr/>
                </p:nvSpPr>
                <p:spPr>
                  <a:xfrm>
                    <a:off x="47307" y="0"/>
                    <a:ext cx="133681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2973" name="Oval 448"/>
                <p:cNvGrpSpPr/>
                <p:nvPr/>
              </p:nvGrpSpPr>
              <p:grpSpPr>
                <a:xfrm>
                  <a:off x="131" y="60976"/>
                  <a:ext cx="228019" cy="127001"/>
                  <a:chOff x="0" y="0"/>
                  <a:chExt cx="228018" cy="127000"/>
                </a:xfrm>
              </p:grpSpPr>
              <p:sp>
                <p:nvSpPr>
                  <p:cNvPr id="2971" name="Oval"/>
                  <p:cNvSpPr/>
                  <p:nvPr/>
                </p:nvSpPr>
                <p:spPr>
                  <a:xfrm>
                    <a:off x="0" y="24529"/>
                    <a:ext cx="228019" cy="77943"/>
                  </a:xfrm>
                  <a:prstGeom prst="ellipse">
                    <a:avLst/>
                  </a:prstGeom>
                  <a:solidFill>
                    <a:srgbClr val="B8C2C9"/>
                  </a:soli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972" name="Text"/>
                  <p:cNvSpPr txBox="1"/>
                  <p:nvPr/>
                </p:nvSpPr>
                <p:spPr>
                  <a:xfrm>
                    <a:off x="80699" y="0"/>
                    <a:ext cx="66620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2978" name="Group 449"/>
                <p:cNvGrpSpPr/>
                <p:nvPr/>
              </p:nvGrpSpPr>
              <p:grpSpPr>
                <a:xfrm>
                  <a:off x="33858" y="95412"/>
                  <a:ext cx="160537" cy="57271"/>
                  <a:chOff x="0" y="0"/>
                  <a:chExt cx="160536" cy="57270"/>
                </a:xfrm>
              </p:grpSpPr>
              <p:sp>
                <p:nvSpPr>
                  <p:cNvPr id="2974" name="Freeform 450"/>
                  <p:cNvSpPr/>
                  <p:nvPr/>
                </p:nvSpPr>
                <p:spPr>
                  <a:xfrm>
                    <a:off x="4440" y="-1"/>
                    <a:ext cx="151865" cy="320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975" name="Freeform 451"/>
                  <p:cNvSpPr/>
                  <p:nvPr/>
                </p:nvSpPr>
                <p:spPr>
                  <a:xfrm>
                    <a:off x="103836" y="27422"/>
                    <a:ext cx="56701" cy="276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976" name="Freeform 452"/>
                  <p:cNvSpPr/>
                  <p:nvPr/>
                </p:nvSpPr>
                <p:spPr>
                  <a:xfrm>
                    <a:off x="-1" y="27422"/>
                    <a:ext cx="55677" cy="272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2977" name="Freeform 453"/>
                  <p:cNvSpPr/>
                  <p:nvPr/>
                </p:nvSpPr>
                <p:spPr>
                  <a:xfrm>
                    <a:off x="19327" y="13943"/>
                    <a:ext cx="121057" cy="433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</p:grpSp>
      </p:grpSp>
      <p:grpSp>
        <p:nvGrpSpPr>
          <p:cNvPr id="2997" name="Group 6"/>
          <p:cNvGrpSpPr/>
          <p:nvPr/>
        </p:nvGrpSpPr>
        <p:grpSpPr>
          <a:xfrm>
            <a:off x="7380479" y="1798646"/>
            <a:ext cx="4322983" cy="3949460"/>
            <a:chOff x="0" y="0"/>
            <a:chExt cx="4322982" cy="3949459"/>
          </a:xfrm>
        </p:grpSpPr>
        <p:sp>
          <p:nvSpPr>
            <p:cNvPr id="2982" name="Oval 608"/>
            <p:cNvSpPr/>
            <p:nvPr/>
          </p:nvSpPr>
          <p:spPr>
            <a:xfrm>
              <a:off x="99972" y="1951638"/>
              <a:ext cx="1007402" cy="448211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83" name="Oval 609"/>
            <p:cNvSpPr/>
            <p:nvPr/>
          </p:nvSpPr>
          <p:spPr>
            <a:xfrm rot="1622536">
              <a:off x="1186348" y="3594771"/>
              <a:ext cx="887741" cy="161725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84" name="Oval 612"/>
            <p:cNvSpPr/>
            <p:nvPr/>
          </p:nvSpPr>
          <p:spPr>
            <a:xfrm>
              <a:off x="1327406" y="171926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85" name="Oval 632"/>
            <p:cNvSpPr/>
            <p:nvPr/>
          </p:nvSpPr>
          <p:spPr>
            <a:xfrm>
              <a:off x="1220822" y="2887436"/>
              <a:ext cx="1698837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86" name="Oval 634"/>
            <p:cNvSpPr/>
            <p:nvPr/>
          </p:nvSpPr>
          <p:spPr>
            <a:xfrm>
              <a:off x="791147" y="3205009"/>
              <a:ext cx="660041" cy="553827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87" name="Oval 635"/>
            <p:cNvSpPr/>
            <p:nvPr/>
          </p:nvSpPr>
          <p:spPr>
            <a:xfrm>
              <a:off x="1189465" y="430695"/>
              <a:ext cx="503075" cy="24332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88" name="Oval 636"/>
            <p:cNvSpPr/>
            <p:nvPr/>
          </p:nvSpPr>
          <p:spPr>
            <a:xfrm>
              <a:off x="2388972" y="3364377"/>
              <a:ext cx="612305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89" name="Oval 637"/>
            <p:cNvSpPr/>
            <p:nvPr/>
          </p:nvSpPr>
          <p:spPr>
            <a:xfrm rot="2528345">
              <a:off x="849424" y="828830"/>
              <a:ext cx="612305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90" name="Oval 638"/>
            <p:cNvSpPr/>
            <p:nvPr/>
          </p:nvSpPr>
          <p:spPr>
            <a:xfrm>
              <a:off x="523734" y="295985"/>
              <a:ext cx="612304" cy="754265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91" name="Oval 570"/>
            <p:cNvSpPr/>
            <p:nvPr/>
          </p:nvSpPr>
          <p:spPr>
            <a:xfrm>
              <a:off x="344419" y="0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92" name="Oval 571"/>
            <p:cNvSpPr/>
            <p:nvPr/>
          </p:nvSpPr>
          <p:spPr>
            <a:xfrm>
              <a:off x="0" y="491054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93" name="Oval 574"/>
            <p:cNvSpPr/>
            <p:nvPr/>
          </p:nvSpPr>
          <p:spPr>
            <a:xfrm>
              <a:off x="359061" y="1413569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94" name="Oval 575"/>
            <p:cNvSpPr/>
            <p:nvPr/>
          </p:nvSpPr>
          <p:spPr>
            <a:xfrm>
              <a:off x="13304" y="1527417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95" name="Oval 639"/>
            <p:cNvSpPr/>
            <p:nvPr/>
          </p:nvSpPr>
          <p:spPr>
            <a:xfrm>
              <a:off x="3432409" y="1569995"/>
              <a:ext cx="813045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96" name="Oval 640"/>
            <p:cNvSpPr/>
            <p:nvPr/>
          </p:nvSpPr>
          <p:spPr>
            <a:xfrm>
              <a:off x="3509938" y="2350011"/>
              <a:ext cx="813045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998" name="Content Placeholder 2"/>
          <p:cNvSpPr txBox="1"/>
          <p:nvPr>
            <p:ph type="body" sz="half" idx="1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"/>
              <a:buNone/>
              <a:defRPr sz="3200">
                <a:solidFill>
                  <a:srgbClr val="CC0000"/>
                </a:solidFill>
              </a:defRPr>
            </a:pPr>
            <a:r>
              <a:t>Network edge:</a:t>
            </a:r>
          </a:p>
          <a:p>
            <a:pPr marL="350838" indent="-225425"/>
            <a:r>
              <a:t>hosts: clients and servers</a:t>
            </a:r>
          </a:p>
          <a:p>
            <a:pPr marL="350838" indent="-225425"/>
            <a:r>
              <a:t>servers often in data centers</a:t>
            </a:r>
          </a:p>
          <a:p>
            <a:pPr marL="0" indent="11113">
              <a:spcBef>
                <a:spcPts val="2200"/>
              </a:spcBef>
              <a:buSzTx/>
              <a:buFont typeface="Wingdings"/>
              <a:buNone/>
              <a:defRPr sz="3200">
                <a:solidFill>
                  <a:srgbClr val="CC0000"/>
                </a:solidFill>
              </a:defRPr>
            </a:pPr>
            <a:r>
              <a:t>Access networks, physical media:</a:t>
            </a:r>
          </a:p>
          <a:p>
            <a:pPr marL="290513" indent="-176212"/>
            <a:r>
              <a:t>wired, wireless communication links</a:t>
            </a:r>
            <a:r>
              <a:rPr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999" name="Rectangle 34"/>
          <p:cNvSpPr/>
          <p:nvPr/>
        </p:nvSpPr>
        <p:spPr>
          <a:xfrm>
            <a:off x="683172" y="1681654"/>
            <a:ext cx="5787853" cy="1703362"/>
          </a:xfrm>
          <a:prstGeom prst="rect">
            <a:avLst/>
          </a:prstGeom>
          <a:solidFill>
            <a:srgbClr val="FFFFFF">
              <a:alpha val="73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0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Rectangle 419"/>
          <p:cNvSpPr/>
          <p:nvPr/>
        </p:nvSpPr>
        <p:spPr>
          <a:xfrm>
            <a:off x="7439073" y="3553078"/>
            <a:ext cx="986999" cy="669623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003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A closer look at Internet structure</a:t>
            </a:r>
          </a:p>
        </p:txBody>
      </p:sp>
      <p:sp>
        <p:nvSpPr>
          <p:cNvPr id="3004" name="Content Placeholder 2"/>
          <p:cNvSpPr txBox="1"/>
          <p:nvPr>
            <p:ph type="body" sz="half" idx="1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"/>
              <a:buNone/>
              <a:defRPr sz="3200">
                <a:solidFill>
                  <a:srgbClr val="CC0000"/>
                </a:solidFill>
              </a:defRPr>
            </a:pPr>
            <a:r>
              <a:t>Network edge:</a:t>
            </a:r>
          </a:p>
          <a:p>
            <a:pPr marL="350838" indent="-225425"/>
            <a:r>
              <a:t>hosts: clients and servers</a:t>
            </a:r>
          </a:p>
          <a:p>
            <a:pPr marL="350838" indent="-225425"/>
            <a:r>
              <a:t>servers often in data centers</a:t>
            </a:r>
          </a:p>
          <a:p>
            <a:pPr marL="0" indent="11113">
              <a:spcBef>
                <a:spcPts val="2200"/>
              </a:spcBef>
              <a:buSzTx/>
              <a:buFont typeface="Wingdings"/>
              <a:buNone/>
              <a:defRPr sz="3200">
                <a:solidFill>
                  <a:srgbClr val="CC0000"/>
                </a:solidFill>
              </a:defRPr>
            </a:pPr>
            <a:r>
              <a:t>Access networks, physical media:</a:t>
            </a:r>
          </a:p>
          <a:p>
            <a:pPr marL="290513" indent="-176212"/>
            <a:r>
              <a:t>wired, wireless communication links</a:t>
            </a:r>
            <a:r>
              <a:rPr>
                <a:solidFill>
                  <a:srgbClr val="FF0000"/>
                </a:solidFill>
              </a:rPr>
              <a:t> </a:t>
            </a:r>
            <a:endParaRPr>
              <a:solidFill>
                <a:srgbClr val="FF0000"/>
              </a:solidFill>
            </a:endParaRPr>
          </a:p>
          <a:p>
            <a:pPr marL="0" indent="9525">
              <a:spcBef>
                <a:spcPts val="2200"/>
              </a:spcBef>
              <a:buSzTx/>
              <a:buFont typeface="Wingdings"/>
              <a:buNone/>
              <a:defRPr sz="3200">
                <a:solidFill>
                  <a:srgbClr val="CC0000"/>
                </a:solidFill>
              </a:defRPr>
            </a:pPr>
            <a:r>
              <a:t>Network core: </a:t>
            </a:r>
          </a:p>
          <a:p>
            <a:pPr lvl="1" marL="342900" indent="-207963">
              <a:lnSpc>
                <a:spcPct val="85000"/>
              </a:lnSpc>
              <a:spcBef>
                <a:spcPts val="500"/>
              </a:spcBef>
              <a:buClr>
                <a:srgbClr val="000099"/>
              </a:buClr>
              <a:buSzPct val="95000"/>
              <a:buChar char="▪"/>
            </a:pPr>
            <a:r>
              <a:t>interconnected routers</a:t>
            </a:r>
            <a:endParaRPr sz="2400"/>
          </a:p>
          <a:p>
            <a:pPr lvl="1" marL="342900" indent="-207963">
              <a:lnSpc>
                <a:spcPct val="85000"/>
              </a:lnSpc>
              <a:spcBef>
                <a:spcPts val="500"/>
              </a:spcBef>
              <a:buClr>
                <a:srgbClr val="000099"/>
              </a:buClr>
              <a:buSzPct val="95000"/>
              <a:buChar char="▪"/>
            </a:pPr>
            <a:r>
              <a:t>network of networks</a:t>
            </a:r>
          </a:p>
        </p:txBody>
      </p:sp>
      <p:sp>
        <p:nvSpPr>
          <p:cNvPr id="3005" name="Freeform 370"/>
          <p:cNvSpPr/>
          <p:nvPr/>
        </p:nvSpPr>
        <p:spPr>
          <a:xfrm>
            <a:off x="8985187" y="3065777"/>
            <a:ext cx="1124809" cy="1337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49" h="20510" fill="norm" stroke="1" extrusionOk="0">
                <a:moveTo>
                  <a:pt x="4338" y="7022"/>
                </a:moveTo>
                <a:cubicBezTo>
                  <a:pt x="2763" y="8848"/>
                  <a:pt x="1382" y="9254"/>
                  <a:pt x="902" y="11320"/>
                </a:cubicBezTo>
                <a:cubicBezTo>
                  <a:pt x="422" y="13386"/>
                  <a:pt x="-1132" y="17789"/>
                  <a:pt x="1456" y="19418"/>
                </a:cubicBezTo>
                <a:cubicBezTo>
                  <a:pt x="4045" y="21047"/>
                  <a:pt x="14587" y="20622"/>
                  <a:pt x="17527" y="19646"/>
                </a:cubicBezTo>
                <a:cubicBezTo>
                  <a:pt x="20468" y="18669"/>
                  <a:pt x="19432" y="15068"/>
                  <a:pt x="19100" y="13560"/>
                </a:cubicBezTo>
                <a:cubicBezTo>
                  <a:pt x="18768" y="12052"/>
                  <a:pt x="15646" y="13090"/>
                  <a:pt x="15536" y="10596"/>
                </a:cubicBezTo>
                <a:cubicBezTo>
                  <a:pt x="15746" y="7905"/>
                  <a:pt x="18905" y="7477"/>
                  <a:pt x="19045" y="5962"/>
                </a:cubicBezTo>
                <a:cubicBezTo>
                  <a:pt x="19184" y="4446"/>
                  <a:pt x="18059" y="3477"/>
                  <a:pt x="16373" y="1502"/>
                </a:cubicBezTo>
                <a:cubicBezTo>
                  <a:pt x="15001" y="420"/>
                  <a:pt x="12357" y="-553"/>
                  <a:pt x="10351" y="367"/>
                </a:cubicBezTo>
                <a:cubicBezTo>
                  <a:pt x="8345" y="1287"/>
                  <a:pt x="5912" y="5197"/>
                  <a:pt x="4338" y="7022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6" name="Freeform 417"/>
          <p:cNvSpPr/>
          <p:nvPr/>
        </p:nvSpPr>
        <p:spPr>
          <a:xfrm>
            <a:off x="7282395" y="1831266"/>
            <a:ext cx="1715493" cy="130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6" h="21326" fill="norm" stroke="1" extrusionOk="0">
                <a:moveTo>
                  <a:pt x="13407" y="266"/>
                </a:moveTo>
                <a:cubicBezTo>
                  <a:pt x="12073" y="522"/>
                  <a:pt x="9571" y="970"/>
                  <a:pt x="8028" y="1610"/>
                </a:cubicBezTo>
                <a:cubicBezTo>
                  <a:pt x="6485" y="2250"/>
                  <a:pt x="5026" y="3114"/>
                  <a:pt x="4192" y="4042"/>
                </a:cubicBezTo>
                <a:cubicBezTo>
                  <a:pt x="3358" y="4970"/>
                  <a:pt x="3712" y="6346"/>
                  <a:pt x="3066" y="7242"/>
                </a:cubicBezTo>
                <a:cubicBezTo>
                  <a:pt x="2420" y="8138"/>
                  <a:pt x="814" y="8202"/>
                  <a:pt x="356" y="9418"/>
                </a:cubicBezTo>
                <a:cubicBezTo>
                  <a:pt x="-103" y="10634"/>
                  <a:pt x="-103" y="13578"/>
                  <a:pt x="272" y="14602"/>
                </a:cubicBezTo>
                <a:cubicBezTo>
                  <a:pt x="648" y="15626"/>
                  <a:pt x="1127" y="15402"/>
                  <a:pt x="2649" y="15562"/>
                </a:cubicBezTo>
                <a:cubicBezTo>
                  <a:pt x="4171" y="15722"/>
                  <a:pt x="7820" y="15210"/>
                  <a:pt x="9446" y="15562"/>
                </a:cubicBezTo>
                <a:cubicBezTo>
                  <a:pt x="11072" y="15914"/>
                  <a:pt x="11343" y="16778"/>
                  <a:pt x="12365" y="17674"/>
                </a:cubicBezTo>
                <a:cubicBezTo>
                  <a:pt x="13387" y="18570"/>
                  <a:pt x="14638" y="20362"/>
                  <a:pt x="15576" y="20938"/>
                </a:cubicBezTo>
                <a:cubicBezTo>
                  <a:pt x="16514" y="21514"/>
                  <a:pt x="17348" y="21354"/>
                  <a:pt x="18036" y="21066"/>
                </a:cubicBezTo>
                <a:cubicBezTo>
                  <a:pt x="18724" y="20778"/>
                  <a:pt x="19329" y="20362"/>
                  <a:pt x="19746" y="19210"/>
                </a:cubicBezTo>
                <a:cubicBezTo>
                  <a:pt x="20163" y="18058"/>
                  <a:pt x="20350" y="15818"/>
                  <a:pt x="20580" y="14154"/>
                </a:cubicBezTo>
                <a:cubicBezTo>
                  <a:pt x="20809" y="12490"/>
                  <a:pt x="21017" y="11018"/>
                  <a:pt x="21122" y="9226"/>
                </a:cubicBezTo>
                <a:cubicBezTo>
                  <a:pt x="21226" y="7434"/>
                  <a:pt x="21497" y="4810"/>
                  <a:pt x="21205" y="3338"/>
                </a:cubicBezTo>
                <a:cubicBezTo>
                  <a:pt x="20913" y="1866"/>
                  <a:pt x="20225" y="1002"/>
                  <a:pt x="19370" y="458"/>
                </a:cubicBezTo>
                <a:cubicBezTo>
                  <a:pt x="18516" y="-86"/>
                  <a:pt x="17077" y="42"/>
                  <a:pt x="16076" y="10"/>
                </a:cubicBezTo>
                <a:cubicBezTo>
                  <a:pt x="15075" y="-22"/>
                  <a:pt x="14742" y="10"/>
                  <a:pt x="13407" y="266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7" name="AutoShape 420"/>
          <p:cNvSpPr/>
          <p:nvPr/>
        </p:nvSpPr>
        <p:spPr>
          <a:xfrm>
            <a:off x="7205350" y="3289251"/>
            <a:ext cx="1458912" cy="317851"/>
          </a:xfrm>
          <a:prstGeom prst="triangle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008" name="Freeform 427"/>
          <p:cNvSpPr/>
          <p:nvPr/>
        </p:nvSpPr>
        <p:spPr>
          <a:xfrm>
            <a:off x="7728466" y="4694461"/>
            <a:ext cx="3042747" cy="163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257" fill="norm" stroke="1" extrusionOk="0">
                <a:moveTo>
                  <a:pt x="10487" y="388"/>
                </a:moveTo>
                <a:cubicBezTo>
                  <a:pt x="9540" y="780"/>
                  <a:pt x="9151" y="2283"/>
                  <a:pt x="8293" y="2427"/>
                </a:cubicBezTo>
                <a:cubicBezTo>
                  <a:pt x="7436" y="2571"/>
                  <a:pt x="6423" y="1336"/>
                  <a:pt x="5320" y="1253"/>
                </a:cubicBezTo>
                <a:cubicBezTo>
                  <a:pt x="4218" y="1171"/>
                  <a:pt x="2526" y="841"/>
                  <a:pt x="1646" y="1933"/>
                </a:cubicBezTo>
                <a:cubicBezTo>
                  <a:pt x="767" y="3024"/>
                  <a:pt x="199" y="5989"/>
                  <a:pt x="43" y="7863"/>
                </a:cubicBezTo>
                <a:cubicBezTo>
                  <a:pt x="-113" y="9737"/>
                  <a:pt x="165" y="12105"/>
                  <a:pt x="678" y="13196"/>
                </a:cubicBezTo>
                <a:cubicBezTo>
                  <a:pt x="1190" y="14287"/>
                  <a:pt x="2169" y="13546"/>
                  <a:pt x="3094" y="14390"/>
                </a:cubicBezTo>
                <a:cubicBezTo>
                  <a:pt x="4018" y="15235"/>
                  <a:pt x="4897" y="17191"/>
                  <a:pt x="6211" y="18241"/>
                </a:cubicBezTo>
                <a:cubicBezTo>
                  <a:pt x="7525" y="19291"/>
                  <a:pt x="9373" y="20259"/>
                  <a:pt x="10976" y="20732"/>
                </a:cubicBezTo>
                <a:cubicBezTo>
                  <a:pt x="12580" y="21185"/>
                  <a:pt x="14461" y="21453"/>
                  <a:pt x="15842" y="21082"/>
                </a:cubicBezTo>
                <a:cubicBezTo>
                  <a:pt x="17223" y="20691"/>
                  <a:pt x="18336" y="19620"/>
                  <a:pt x="19249" y="18529"/>
                </a:cubicBezTo>
                <a:cubicBezTo>
                  <a:pt x="20162" y="17458"/>
                  <a:pt x="21108" y="16820"/>
                  <a:pt x="21298" y="14555"/>
                </a:cubicBezTo>
                <a:cubicBezTo>
                  <a:pt x="21487" y="12290"/>
                  <a:pt x="21019" y="7060"/>
                  <a:pt x="20362" y="5021"/>
                </a:cubicBezTo>
                <a:cubicBezTo>
                  <a:pt x="19706" y="2962"/>
                  <a:pt x="18392" y="3003"/>
                  <a:pt x="17323" y="2200"/>
                </a:cubicBezTo>
                <a:cubicBezTo>
                  <a:pt x="16254" y="1418"/>
                  <a:pt x="15085" y="471"/>
                  <a:pt x="13949" y="162"/>
                </a:cubicBezTo>
                <a:cubicBezTo>
                  <a:pt x="12814" y="-147"/>
                  <a:pt x="11433" y="18"/>
                  <a:pt x="10487" y="388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9" name="Text Box 580"/>
          <p:cNvSpPr txBox="1"/>
          <p:nvPr/>
        </p:nvSpPr>
        <p:spPr>
          <a:xfrm>
            <a:off x="7724993" y="1488460"/>
            <a:ext cx="12461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mobile network</a:t>
            </a:r>
          </a:p>
        </p:txBody>
      </p:sp>
      <p:sp>
        <p:nvSpPr>
          <p:cNvPr id="3010" name="Text Box 580"/>
          <p:cNvSpPr txBox="1"/>
          <p:nvPr/>
        </p:nvSpPr>
        <p:spPr>
          <a:xfrm>
            <a:off x="7376554" y="4191922"/>
            <a:ext cx="186420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0000"/>
              </a:lnSpc>
              <a:defRPr sz="1400"/>
            </a:lvl1pPr>
          </a:lstStyle>
          <a:p>
            <a:pPr/>
            <a:r>
              <a:t>home network</a:t>
            </a:r>
          </a:p>
        </p:txBody>
      </p:sp>
      <p:sp>
        <p:nvSpPr>
          <p:cNvPr id="3011" name="Text Box 580"/>
          <p:cNvSpPr txBox="1"/>
          <p:nvPr/>
        </p:nvSpPr>
        <p:spPr>
          <a:xfrm>
            <a:off x="7352628" y="5779775"/>
            <a:ext cx="1108607" cy="47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80000"/>
              </a:lnSpc>
              <a:defRPr sz="1400"/>
            </a:pPr>
            <a:r>
              <a:t>enterprise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lnSpc>
                <a:spcPct val="80000"/>
              </a:lnSpc>
              <a:defRPr sz="1400"/>
            </a:pPr>
            <a:r>
              <a:t>          network</a:t>
            </a:r>
          </a:p>
        </p:txBody>
      </p:sp>
      <p:sp>
        <p:nvSpPr>
          <p:cNvPr id="3012" name="Freeform 371"/>
          <p:cNvSpPr/>
          <p:nvPr/>
        </p:nvSpPr>
        <p:spPr>
          <a:xfrm>
            <a:off x="10222145" y="3179539"/>
            <a:ext cx="1273169" cy="1935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7" h="20945" fill="norm" stroke="1" extrusionOk="0">
                <a:moveTo>
                  <a:pt x="518" y="4719"/>
                </a:moveTo>
                <a:cubicBezTo>
                  <a:pt x="-13" y="6632"/>
                  <a:pt x="-204" y="10040"/>
                  <a:pt x="271" y="12041"/>
                </a:cubicBezTo>
                <a:cubicBezTo>
                  <a:pt x="746" y="14041"/>
                  <a:pt x="685" y="15290"/>
                  <a:pt x="3366" y="16725"/>
                </a:cubicBezTo>
                <a:cubicBezTo>
                  <a:pt x="6048" y="18159"/>
                  <a:pt x="13461" y="20187"/>
                  <a:pt x="16360" y="20649"/>
                </a:cubicBezTo>
                <a:cubicBezTo>
                  <a:pt x="19260" y="21111"/>
                  <a:pt x="20132" y="21234"/>
                  <a:pt x="20764" y="19498"/>
                </a:cubicBezTo>
                <a:cubicBezTo>
                  <a:pt x="21396" y="17761"/>
                  <a:pt x="20190" y="13347"/>
                  <a:pt x="20153" y="10230"/>
                </a:cubicBezTo>
                <a:cubicBezTo>
                  <a:pt x="20116" y="7114"/>
                  <a:pt x="21104" y="1964"/>
                  <a:pt x="20540" y="799"/>
                </a:cubicBezTo>
                <a:cubicBezTo>
                  <a:pt x="19976" y="-366"/>
                  <a:pt x="6793" y="-88"/>
                  <a:pt x="3456" y="566"/>
                </a:cubicBezTo>
                <a:cubicBezTo>
                  <a:pt x="119" y="1219"/>
                  <a:pt x="1048" y="2807"/>
                  <a:pt x="518" y="471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021" name="Group 373"/>
          <p:cNvGrpSpPr/>
          <p:nvPr/>
        </p:nvGrpSpPr>
        <p:grpSpPr>
          <a:xfrm>
            <a:off x="10837699" y="3928050"/>
            <a:ext cx="687394" cy="721549"/>
            <a:chOff x="0" y="0"/>
            <a:chExt cx="687392" cy="721548"/>
          </a:xfrm>
        </p:grpSpPr>
        <p:sp>
          <p:nvSpPr>
            <p:cNvPr id="3013" name="Freeform 381"/>
            <p:cNvSpPr/>
            <p:nvPr/>
          </p:nvSpPr>
          <p:spPr>
            <a:xfrm>
              <a:off x="267227" y="-1"/>
              <a:ext cx="420166" cy="72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14" name="Freeform 382"/>
            <p:cNvSpPr/>
            <p:nvPr/>
          </p:nvSpPr>
          <p:spPr>
            <a:xfrm>
              <a:off x="0" y="185234"/>
              <a:ext cx="521585" cy="5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15" name="Straight Connector 383"/>
            <p:cNvSpPr/>
            <p:nvPr/>
          </p:nvSpPr>
          <p:spPr>
            <a:xfrm flipV="1">
              <a:off x="54006" y="303213"/>
              <a:ext cx="236450" cy="8002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16" name="Straight Connector 384"/>
            <p:cNvSpPr/>
            <p:nvPr/>
          </p:nvSpPr>
          <p:spPr>
            <a:xfrm flipV="1">
              <a:off x="57914" y="556094"/>
              <a:ext cx="232542" cy="18248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17" name="Straight Connector 385"/>
            <p:cNvSpPr/>
            <p:nvPr/>
          </p:nvSpPr>
          <p:spPr>
            <a:xfrm flipV="1">
              <a:off x="57914" y="436343"/>
              <a:ext cx="232542" cy="52723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18" name="Straight Connector 386"/>
            <p:cNvSpPr/>
            <p:nvPr/>
          </p:nvSpPr>
          <p:spPr>
            <a:xfrm>
              <a:off x="53660" y="656716"/>
              <a:ext cx="236796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19" name="Straight Connector 387"/>
            <p:cNvSpPr/>
            <p:nvPr/>
          </p:nvSpPr>
          <p:spPr>
            <a:xfrm flipV="1">
              <a:off x="598356" y="126039"/>
              <a:ext cx="1" cy="506809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20" name="Straight Connector 388"/>
            <p:cNvSpPr/>
            <p:nvPr/>
          </p:nvSpPr>
          <p:spPr>
            <a:xfrm flipH="1">
              <a:off x="340761" y="202125"/>
              <a:ext cx="1" cy="519424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030" name="Group 390"/>
          <p:cNvGrpSpPr/>
          <p:nvPr/>
        </p:nvGrpSpPr>
        <p:grpSpPr>
          <a:xfrm>
            <a:off x="10771171" y="3194170"/>
            <a:ext cx="594614" cy="648337"/>
            <a:chOff x="0" y="0"/>
            <a:chExt cx="594613" cy="648335"/>
          </a:xfrm>
        </p:grpSpPr>
        <p:sp>
          <p:nvSpPr>
            <p:cNvPr id="3022" name="Freeform 398"/>
            <p:cNvSpPr/>
            <p:nvPr/>
          </p:nvSpPr>
          <p:spPr>
            <a:xfrm>
              <a:off x="231158" y="0"/>
              <a:ext cx="363455" cy="64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23" name="Freeform 399"/>
            <p:cNvSpPr/>
            <p:nvPr/>
          </p:nvSpPr>
          <p:spPr>
            <a:xfrm>
              <a:off x="-1" y="166439"/>
              <a:ext cx="451186" cy="48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24" name="Straight Connector 400"/>
            <p:cNvSpPr/>
            <p:nvPr/>
          </p:nvSpPr>
          <p:spPr>
            <a:xfrm flipV="1">
              <a:off x="46717" y="272447"/>
              <a:ext cx="204536" cy="7190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25" name="Straight Connector 401"/>
            <p:cNvSpPr/>
            <p:nvPr/>
          </p:nvSpPr>
          <p:spPr>
            <a:xfrm flipV="1">
              <a:off x="50097" y="499671"/>
              <a:ext cx="201155" cy="16396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26" name="Straight Connector 402"/>
            <p:cNvSpPr/>
            <p:nvPr/>
          </p:nvSpPr>
          <p:spPr>
            <a:xfrm flipV="1">
              <a:off x="50097" y="392068"/>
              <a:ext cx="201155" cy="47374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27" name="Straight Connector 403"/>
            <p:cNvSpPr/>
            <p:nvPr/>
          </p:nvSpPr>
          <p:spPr>
            <a:xfrm>
              <a:off x="46418" y="590082"/>
              <a:ext cx="204835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28" name="Straight Connector 404"/>
            <p:cNvSpPr/>
            <p:nvPr/>
          </p:nvSpPr>
          <p:spPr>
            <a:xfrm flipV="1">
              <a:off x="517593" y="113251"/>
              <a:ext cx="1" cy="455385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29" name="Straight Connector 405"/>
            <p:cNvSpPr/>
            <p:nvPr/>
          </p:nvSpPr>
          <p:spPr>
            <a:xfrm flipH="1">
              <a:off x="294767" y="181616"/>
              <a:ext cx="1" cy="466720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031" name="Freeform 561"/>
          <p:cNvSpPr/>
          <p:nvPr/>
        </p:nvSpPr>
        <p:spPr>
          <a:xfrm>
            <a:off x="9540812" y="1782042"/>
            <a:ext cx="1497866" cy="1386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83" h="20611" fill="norm" stroke="1" extrusionOk="0">
                <a:moveTo>
                  <a:pt x="1755" y="1299"/>
                </a:moveTo>
                <a:cubicBezTo>
                  <a:pt x="-1661" y="2817"/>
                  <a:pt x="832" y="7519"/>
                  <a:pt x="1567" y="10647"/>
                </a:cubicBezTo>
                <a:cubicBezTo>
                  <a:pt x="2301" y="13775"/>
                  <a:pt x="4122" y="18876"/>
                  <a:pt x="6162" y="20070"/>
                </a:cubicBezTo>
                <a:cubicBezTo>
                  <a:pt x="8201" y="21264"/>
                  <a:pt x="12080" y="20470"/>
                  <a:pt x="13806" y="17812"/>
                </a:cubicBezTo>
                <a:cubicBezTo>
                  <a:pt x="15532" y="15155"/>
                  <a:pt x="18183" y="18900"/>
                  <a:pt x="19061" y="17194"/>
                </a:cubicBezTo>
                <a:cubicBezTo>
                  <a:pt x="19939" y="15489"/>
                  <a:pt x="19192" y="10293"/>
                  <a:pt x="19074" y="7579"/>
                </a:cubicBezTo>
                <a:cubicBezTo>
                  <a:pt x="18955" y="4865"/>
                  <a:pt x="18817" y="2156"/>
                  <a:pt x="18352" y="910"/>
                </a:cubicBezTo>
                <a:cubicBezTo>
                  <a:pt x="17887" y="-336"/>
                  <a:pt x="14336" y="38"/>
                  <a:pt x="11570" y="103"/>
                </a:cubicBezTo>
                <a:cubicBezTo>
                  <a:pt x="8804" y="167"/>
                  <a:pt x="5171" y="-218"/>
                  <a:pt x="1755" y="129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2" name="TextBox 572"/>
          <p:cNvSpPr txBox="1"/>
          <p:nvPr/>
        </p:nvSpPr>
        <p:spPr>
          <a:xfrm>
            <a:off x="9472921" y="1851194"/>
            <a:ext cx="16269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national or global ISP</a:t>
            </a:r>
          </a:p>
        </p:txBody>
      </p:sp>
      <p:sp>
        <p:nvSpPr>
          <p:cNvPr id="3033" name="Rectangle 654"/>
          <p:cNvSpPr/>
          <p:nvPr/>
        </p:nvSpPr>
        <p:spPr>
          <a:xfrm>
            <a:off x="9279067" y="3677908"/>
            <a:ext cx="305750" cy="197848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4" name="TextBox 652"/>
          <p:cNvSpPr txBox="1"/>
          <p:nvPr/>
        </p:nvSpPr>
        <p:spPr>
          <a:xfrm>
            <a:off x="8811881" y="3447918"/>
            <a:ext cx="949200" cy="490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local or regional ISP</a:t>
            </a:r>
          </a:p>
        </p:txBody>
      </p:sp>
      <p:sp>
        <p:nvSpPr>
          <p:cNvPr id="3035" name="TextBox 656"/>
          <p:cNvSpPr txBox="1"/>
          <p:nvPr/>
        </p:nvSpPr>
        <p:spPr>
          <a:xfrm>
            <a:off x="10963486" y="4677936"/>
            <a:ext cx="692137" cy="37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000"/>
            </a:pPr>
            <a:r>
              <a:t>datacenter </a:t>
            </a:r>
          </a:p>
          <a:p>
            <a:pPr>
              <a:lnSpc>
                <a:spcPct val="90000"/>
              </a:lnSpc>
              <a:defRPr sz="1000"/>
            </a:pPr>
            <a:r>
              <a:t>network</a:t>
            </a:r>
          </a:p>
        </p:txBody>
      </p:sp>
      <p:sp>
        <p:nvSpPr>
          <p:cNvPr id="3036" name="TextBox 657"/>
          <p:cNvSpPr txBox="1"/>
          <p:nvPr/>
        </p:nvSpPr>
        <p:spPr>
          <a:xfrm>
            <a:off x="10108738" y="4228248"/>
            <a:ext cx="754830" cy="700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400"/>
            </a:pPr>
            <a:r>
              <a:t>content </a:t>
            </a:r>
          </a:p>
          <a:p>
            <a:pPr>
              <a:lnSpc>
                <a:spcPct val="90000"/>
              </a:lnSpc>
              <a:defRPr sz="1400"/>
            </a:pPr>
            <a:r>
              <a:t>provider </a:t>
            </a:r>
          </a:p>
          <a:p>
            <a:pPr>
              <a:lnSpc>
                <a:spcPct val="90000"/>
              </a:lnSpc>
              <a:defRPr sz="1400"/>
            </a:pPr>
            <a:r>
              <a:t>network</a:t>
            </a:r>
          </a:p>
        </p:txBody>
      </p:sp>
      <p:sp>
        <p:nvSpPr>
          <p:cNvPr id="3037" name="Straight Connector 829"/>
          <p:cNvSpPr/>
          <p:nvPr/>
        </p:nvSpPr>
        <p:spPr>
          <a:xfrm flipH="1" flipV="1">
            <a:off x="10559919" y="3580124"/>
            <a:ext cx="412965" cy="63713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38" name="Straight Connector 826"/>
          <p:cNvSpPr/>
          <p:nvPr/>
        </p:nvSpPr>
        <p:spPr>
          <a:xfrm flipH="1" flipV="1">
            <a:off x="10660835" y="3640683"/>
            <a:ext cx="345867" cy="738976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39" name="Straight Connector 824"/>
          <p:cNvSpPr/>
          <p:nvPr/>
        </p:nvSpPr>
        <p:spPr>
          <a:xfrm flipV="1">
            <a:off x="10636897" y="3633420"/>
            <a:ext cx="335988" cy="39534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0" name="Straight Connector 822"/>
          <p:cNvSpPr/>
          <p:nvPr/>
        </p:nvSpPr>
        <p:spPr>
          <a:xfrm flipH="1" flipV="1">
            <a:off x="10570774" y="3594896"/>
            <a:ext cx="2" cy="485749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1" name="Straight Connector 818"/>
          <p:cNvSpPr/>
          <p:nvPr/>
        </p:nvSpPr>
        <p:spPr>
          <a:xfrm flipH="1" flipV="1">
            <a:off x="10550620" y="4071642"/>
            <a:ext cx="508544" cy="348648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2" name="Straight Connector 817"/>
          <p:cNvSpPr/>
          <p:nvPr/>
        </p:nvSpPr>
        <p:spPr>
          <a:xfrm flipH="1">
            <a:off x="9895195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3" name="Straight Connector 815"/>
          <p:cNvSpPr/>
          <p:nvPr/>
        </p:nvSpPr>
        <p:spPr>
          <a:xfrm flipH="1">
            <a:off x="9219616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4" name="Straight Connector 812"/>
          <p:cNvSpPr/>
          <p:nvPr/>
        </p:nvSpPr>
        <p:spPr>
          <a:xfrm flipH="1">
            <a:off x="9276867" y="3507671"/>
            <a:ext cx="382425" cy="51705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5" name="Straight Connector 810"/>
          <p:cNvSpPr/>
          <p:nvPr/>
        </p:nvSpPr>
        <p:spPr>
          <a:xfrm>
            <a:off x="9733068" y="3507671"/>
            <a:ext cx="1" cy="54029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6" name="Straight Connector 807"/>
          <p:cNvSpPr/>
          <p:nvPr/>
        </p:nvSpPr>
        <p:spPr>
          <a:xfrm>
            <a:off x="10137668" y="2754691"/>
            <a:ext cx="488174" cy="83933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7" name="Straight Connector 562"/>
          <p:cNvSpPr/>
          <p:nvPr/>
        </p:nvSpPr>
        <p:spPr>
          <a:xfrm flipH="1">
            <a:off x="9798718" y="2695013"/>
            <a:ext cx="380433" cy="694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8" name="Straight Connector 563"/>
          <p:cNvSpPr/>
          <p:nvPr/>
        </p:nvSpPr>
        <p:spPr>
          <a:xfrm flipH="1">
            <a:off x="10100634" y="2169431"/>
            <a:ext cx="761468" cy="577356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9" name="Straight Connector 564"/>
          <p:cNvSpPr/>
          <p:nvPr/>
        </p:nvSpPr>
        <p:spPr>
          <a:xfrm flipH="1">
            <a:off x="10100634" y="2268313"/>
            <a:ext cx="3971" cy="51846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50" name="Straight Connector 565"/>
          <p:cNvSpPr/>
          <p:nvPr/>
        </p:nvSpPr>
        <p:spPr>
          <a:xfrm flipH="1">
            <a:off x="10672134" y="2200505"/>
            <a:ext cx="149361" cy="51846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51" name="Straight Connector 566"/>
          <p:cNvSpPr/>
          <p:nvPr/>
        </p:nvSpPr>
        <p:spPr>
          <a:xfrm flipH="1">
            <a:off x="10142166" y="2718966"/>
            <a:ext cx="574284" cy="2782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52" name="Straight Connector 567"/>
          <p:cNvSpPr/>
          <p:nvPr/>
        </p:nvSpPr>
        <p:spPr>
          <a:xfrm flipH="1">
            <a:off x="10069541" y="2169431"/>
            <a:ext cx="788590" cy="9888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53" name="Straight Connector 568"/>
          <p:cNvSpPr/>
          <p:nvPr/>
        </p:nvSpPr>
        <p:spPr>
          <a:xfrm flipH="1">
            <a:off x="10862102" y="2127324"/>
            <a:ext cx="279003" cy="421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54" name="Straight Connector 569"/>
          <p:cNvSpPr/>
          <p:nvPr/>
        </p:nvSpPr>
        <p:spPr>
          <a:xfrm flipH="1" flipV="1">
            <a:off x="10681993" y="2718966"/>
            <a:ext cx="353542" cy="67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55" name="Straight Connector 573"/>
          <p:cNvSpPr/>
          <p:nvPr/>
        </p:nvSpPr>
        <p:spPr>
          <a:xfrm flipH="1">
            <a:off x="8769222" y="2268313"/>
            <a:ext cx="1300320" cy="60662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56" name="Line 541"/>
          <p:cNvSpPr/>
          <p:nvPr/>
        </p:nvSpPr>
        <p:spPr>
          <a:xfrm flipV="1">
            <a:off x="9378705" y="4113379"/>
            <a:ext cx="429325" cy="70560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7" name="Line 424"/>
          <p:cNvSpPr/>
          <p:nvPr/>
        </p:nvSpPr>
        <p:spPr>
          <a:xfrm flipV="1">
            <a:off x="8244554" y="4047456"/>
            <a:ext cx="969052" cy="31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8" name="Oval 800"/>
          <p:cNvSpPr/>
          <p:nvPr/>
        </p:nvSpPr>
        <p:spPr>
          <a:xfrm>
            <a:off x="8174541" y="2292994"/>
            <a:ext cx="52389" cy="49487"/>
          </a:xfrm>
          <a:prstGeom prst="ellipse">
            <a:avLst/>
          </a:prstGeom>
          <a:solidFill>
            <a:srgbClr val="44546A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3070" name="Group 614"/>
          <p:cNvGrpSpPr/>
          <p:nvPr/>
        </p:nvGrpSpPr>
        <p:grpSpPr>
          <a:xfrm>
            <a:off x="10410608" y="3393794"/>
            <a:ext cx="353679" cy="402388"/>
            <a:chOff x="0" y="0"/>
            <a:chExt cx="353677" cy="402387"/>
          </a:xfrm>
        </p:grpSpPr>
        <p:grpSp>
          <p:nvGrpSpPr>
            <p:cNvPr id="3061" name="Freeform 615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059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60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064" name="Oval 616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062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63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069" name="Group 617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065" name="Freeform 618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66" name="Freeform 619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67" name="Freeform 620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68" name="Freeform 621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082" name="Group 576"/>
          <p:cNvGrpSpPr/>
          <p:nvPr/>
        </p:nvGrpSpPr>
        <p:grpSpPr>
          <a:xfrm>
            <a:off x="9948723" y="2099947"/>
            <a:ext cx="353679" cy="402389"/>
            <a:chOff x="0" y="0"/>
            <a:chExt cx="353677" cy="402387"/>
          </a:xfrm>
        </p:grpSpPr>
        <p:grpSp>
          <p:nvGrpSpPr>
            <p:cNvPr id="3073" name="Freeform 577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071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72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076" name="Oval 578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074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75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081" name="Group 579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077" name="Freeform 580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78" name="Freeform 581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79" name="Freeform 582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80" name="Freeform 583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094" name="Group 592"/>
          <p:cNvGrpSpPr/>
          <p:nvPr/>
        </p:nvGrpSpPr>
        <p:grpSpPr>
          <a:xfrm>
            <a:off x="10527214" y="2511022"/>
            <a:ext cx="353679" cy="402389"/>
            <a:chOff x="0" y="0"/>
            <a:chExt cx="353677" cy="402387"/>
          </a:xfrm>
        </p:grpSpPr>
        <p:grpSp>
          <p:nvGrpSpPr>
            <p:cNvPr id="3085" name="Freeform 593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083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84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088" name="Oval 594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086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87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093" name="Group 595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089" name="Freeform 596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90" name="Freeform 597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91" name="Freeform 598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92" name="Freeform 599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106" name="Group 600"/>
          <p:cNvGrpSpPr/>
          <p:nvPr/>
        </p:nvGrpSpPr>
        <p:grpSpPr>
          <a:xfrm>
            <a:off x="10643824" y="2005618"/>
            <a:ext cx="353679" cy="402389"/>
            <a:chOff x="0" y="0"/>
            <a:chExt cx="353677" cy="402387"/>
          </a:xfrm>
        </p:grpSpPr>
        <p:grpSp>
          <p:nvGrpSpPr>
            <p:cNvPr id="3097" name="Freeform 601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095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96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100" name="Oval 602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098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99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105" name="Group 603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101" name="Freeform 604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02" name="Freeform 605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03" name="Freeform 606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04" name="Freeform 607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118" name="Group 553"/>
          <p:cNvGrpSpPr/>
          <p:nvPr/>
        </p:nvGrpSpPr>
        <p:grpSpPr>
          <a:xfrm>
            <a:off x="9098788" y="3867861"/>
            <a:ext cx="367225" cy="417049"/>
            <a:chOff x="0" y="0"/>
            <a:chExt cx="367223" cy="417048"/>
          </a:xfrm>
        </p:grpSpPr>
        <p:grpSp>
          <p:nvGrpSpPr>
            <p:cNvPr id="3109" name="Freeform 554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3107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08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112" name="Oval 555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3110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11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117" name="Group 556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3113" name="Freeform 557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14" name="Freeform 558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15" name="Freeform 559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16" name="Freeform 560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130" name="Group 584"/>
          <p:cNvGrpSpPr/>
          <p:nvPr/>
        </p:nvGrpSpPr>
        <p:grpSpPr>
          <a:xfrm>
            <a:off x="9980125" y="2559220"/>
            <a:ext cx="353679" cy="402389"/>
            <a:chOff x="0" y="0"/>
            <a:chExt cx="353677" cy="402387"/>
          </a:xfrm>
        </p:grpSpPr>
        <p:grpSp>
          <p:nvGrpSpPr>
            <p:cNvPr id="3121" name="Freeform 585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119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20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124" name="Oval 586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122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23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129" name="Group 587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125" name="Freeform 588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26" name="Freeform 589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27" name="Freeform 590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28" name="Freeform 591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142" name="Group 537"/>
          <p:cNvGrpSpPr/>
          <p:nvPr/>
        </p:nvGrpSpPr>
        <p:grpSpPr>
          <a:xfrm>
            <a:off x="9497138" y="3305269"/>
            <a:ext cx="367225" cy="417049"/>
            <a:chOff x="0" y="0"/>
            <a:chExt cx="367223" cy="417048"/>
          </a:xfrm>
        </p:grpSpPr>
        <p:grpSp>
          <p:nvGrpSpPr>
            <p:cNvPr id="3133" name="Freeform 538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3131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32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136" name="Oval 539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3134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35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141" name="Group 540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3137" name="Freeform 541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38" name="Freeform 542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39" name="Freeform 543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40" name="Freeform 544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154" name="Group 545"/>
          <p:cNvGrpSpPr/>
          <p:nvPr/>
        </p:nvGrpSpPr>
        <p:grpSpPr>
          <a:xfrm>
            <a:off x="9601554" y="3911000"/>
            <a:ext cx="367225" cy="417049"/>
            <a:chOff x="0" y="0"/>
            <a:chExt cx="367223" cy="417048"/>
          </a:xfrm>
        </p:grpSpPr>
        <p:grpSp>
          <p:nvGrpSpPr>
            <p:cNvPr id="3145" name="Freeform 546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3143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44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148" name="Oval 547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3146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47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153" name="Group 548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3149" name="Freeform 549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50" name="Freeform 550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51" name="Freeform 551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52" name="Freeform 552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166" name="Group 622"/>
          <p:cNvGrpSpPr/>
          <p:nvPr/>
        </p:nvGrpSpPr>
        <p:grpSpPr>
          <a:xfrm>
            <a:off x="10375258" y="3889980"/>
            <a:ext cx="353679" cy="402389"/>
            <a:chOff x="0" y="0"/>
            <a:chExt cx="353677" cy="402387"/>
          </a:xfrm>
        </p:grpSpPr>
        <p:grpSp>
          <p:nvGrpSpPr>
            <p:cNvPr id="3157" name="Freeform 623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155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56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160" name="Oval 624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158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59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165" name="Group 625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161" name="Freeform 626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62" name="Freeform 627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63" name="Freeform 628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64" name="Freeform 629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pic>
        <p:nvPicPr>
          <p:cNvPr id="3167" name="Picture 653" descr="Picture 6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09572" y="1917025"/>
            <a:ext cx="136842" cy="328464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8" name="Picture 1018" descr="Picture 10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 rot="109063">
            <a:off x="7464780" y="2605090"/>
            <a:ext cx="437222" cy="159512"/>
          </a:xfrm>
          <a:prstGeom prst="rect">
            <a:avLst/>
          </a:prstGeom>
          <a:ln w="12700">
            <a:miter lim="400000"/>
          </a:ln>
        </p:spPr>
      </p:pic>
      <p:sp>
        <p:nvSpPr>
          <p:cNvPr id="3169" name="Freeform 1019"/>
          <p:cNvSpPr/>
          <p:nvPr/>
        </p:nvSpPr>
        <p:spPr>
          <a:xfrm>
            <a:off x="7609678" y="2450303"/>
            <a:ext cx="351920" cy="208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170" name="Picture 1020" descr="Picture 10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27011" y="2455658"/>
            <a:ext cx="319786" cy="189430"/>
          </a:xfrm>
          <a:prstGeom prst="rect">
            <a:avLst/>
          </a:prstGeom>
          <a:ln w="12700">
            <a:miter lim="400000"/>
          </a:ln>
        </p:spPr>
      </p:pic>
      <p:sp>
        <p:nvSpPr>
          <p:cNvPr id="3171" name="Freeform 1021"/>
          <p:cNvSpPr/>
          <p:nvPr/>
        </p:nvSpPr>
        <p:spPr>
          <a:xfrm>
            <a:off x="7673751" y="2444163"/>
            <a:ext cx="298168" cy="38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2" name="Freeform 1022"/>
          <p:cNvSpPr/>
          <p:nvPr/>
        </p:nvSpPr>
        <p:spPr>
          <a:xfrm>
            <a:off x="7606562" y="2443847"/>
            <a:ext cx="82771" cy="161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3" name="Freeform 1023"/>
          <p:cNvSpPr/>
          <p:nvPr/>
        </p:nvSpPr>
        <p:spPr>
          <a:xfrm>
            <a:off x="7880578" y="2472663"/>
            <a:ext cx="89198" cy="186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4" name="Freeform 1024"/>
          <p:cNvSpPr/>
          <p:nvPr/>
        </p:nvSpPr>
        <p:spPr>
          <a:xfrm>
            <a:off x="7605587" y="2596901"/>
            <a:ext cx="305138" cy="62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5" name="Freeform 1025"/>
          <p:cNvSpPr/>
          <p:nvPr/>
        </p:nvSpPr>
        <p:spPr>
          <a:xfrm>
            <a:off x="7890512" y="2474237"/>
            <a:ext cx="83550" cy="18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6" name="Freeform 1026"/>
          <p:cNvSpPr/>
          <p:nvPr/>
        </p:nvSpPr>
        <p:spPr>
          <a:xfrm>
            <a:off x="7605976" y="2605247"/>
            <a:ext cx="290962" cy="620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183" name="Group 1027"/>
          <p:cNvGrpSpPr/>
          <p:nvPr/>
        </p:nvGrpSpPr>
        <p:grpSpPr>
          <a:xfrm>
            <a:off x="7601108" y="2671540"/>
            <a:ext cx="98741" cy="36943"/>
            <a:chOff x="0" y="0"/>
            <a:chExt cx="98739" cy="36942"/>
          </a:xfrm>
        </p:grpSpPr>
        <p:sp>
          <p:nvSpPr>
            <p:cNvPr id="3177" name="Freeform 1028"/>
            <p:cNvSpPr/>
            <p:nvPr/>
          </p:nvSpPr>
          <p:spPr>
            <a:xfrm>
              <a:off x="0" y="0"/>
              <a:ext cx="98740" cy="36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78" name="Freeform 1029"/>
            <p:cNvSpPr/>
            <p:nvPr/>
          </p:nvSpPr>
          <p:spPr>
            <a:xfrm>
              <a:off x="1838" y="788"/>
              <a:ext cx="95327" cy="35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79" name="Freeform 1030"/>
            <p:cNvSpPr/>
            <p:nvPr/>
          </p:nvSpPr>
          <p:spPr>
            <a:xfrm>
              <a:off x="8928" y="13706"/>
              <a:ext cx="3387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80" name="Freeform 1031"/>
            <p:cNvSpPr/>
            <p:nvPr/>
          </p:nvSpPr>
          <p:spPr>
            <a:xfrm>
              <a:off x="7746" y="16805"/>
              <a:ext cx="2547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81" name="Freeform 1032"/>
            <p:cNvSpPr/>
            <p:nvPr/>
          </p:nvSpPr>
          <p:spPr>
            <a:xfrm>
              <a:off x="36764" y="21030"/>
              <a:ext cx="3387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82" name="Freeform 1033"/>
            <p:cNvSpPr/>
            <p:nvPr/>
          </p:nvSpPr>
          <p:spPr>
            <a:xfrm>
              <a:off x="35583" y="24242"/>
              <a:ext cx="2547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184" name="Freeform 1034"/>
          <p:cNvSpPr/>
          <p:nvPr/>
        </p:nvSpPr>
        <p:spPr>
          <a:xfrm>
            <a:off x="7770153" y="2677050"/>
            <a:ext cx="119579" cy="809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5" name="Freeform 1035"/>
          <p:cNvSpPr/>
          <p:nvPr/>
        </p:nvSpPr>
        <p:spPr>
          <a:xfrm>
            <a:off x="7464976" y="2683506"/>
            <a:ext cx="305958" cy="73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6" name="Freeform 1036"/>
          <p:cNvSpPr/>
          <p:nvPr/>
        </p:nvSpPr>
        <p:spPr>
          <a:xfrm>
            <a:off x="7460476" y="2669964"/>
            <a:ext cx="12701" cy="14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7" name="Freeform 1037"/>
          <p:cNvSpPr/>
          <p:nvPr/>
        </p:nvSpPr>
        <p:spPr>
          <a:xfrm>
            <a:off x="7465366" y="2609026"/>
            <a:ext cx="142171" cy="61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8" name="Freeform 1038"/>
          <p:cNvSpPr/>
          <p:nvPr/>
        </p:nvSpPr>
        <p:spPr>
          <a:xfrm>
            <a:off x="7474908" y="2673114"/>
            <a:ext cx="290183" cy="71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9" name="Freeform 1039"/>
          <p:cNvSpPr/>
          <p:nvPr/>
        </p:nvSpPr>
        <p:spPr>
          <a:xfrm flipV="1">
            <a:off x="7764701" y="2668075"/>
            <a:ext cx="118411" cy="7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190" name="Picture 568" descr="Picture 56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8831667" y="2392289"/>
            <a:ext cx="92773" cy="40544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1" name="Picture 603" descr="Picture 60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99539" y="2116957"/>
            <a:ext cx="849313" cy="168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2" name="Picture 1116" descr="Picture 11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flipH="1" rot="109063">
            <a:off x="7510374" y="3605209"/>
            <a:ext cx="286700" cy="119449"/>
          </a:xfrm>
          <a:prstGeom prst="rect">
            <a:avLst/>
          </a:prstGeom>
          <a:ln w="12700">
            <a:miter lim="400000"/>
          </a:ln>
        </p:spPr>
      </p:pic>
      <p:sp>
        <p:nvSpPr>
          <p:cNvPr id="3193" name="Freeform 1117"/>
          <p:cNvSpPr/>
          <p:nvPr/>
        </p:nvSpPr>
        <p:spPr>
          <a:xfrm>
            <a:off x="7605387" y="3489299"/>
            <a:ext cx="230765" cy="155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194" name="Picture 1118" descr="Picture 111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616753" y="3493308"/>
            <a:ext cx="209693" cy="141852"/>
          </a:xfrm>
          <a:prstGeom prst="rect">
            <a:avLst/>
          </a:prstGeom>
          <a:ln w="12700">
            <a:miter lim="400000"/>
          </a:ln>
        </p:spPr>
      </p:pic>
      <p:sp>
        <p:nvSpPr>
          <p:cNvPr id="3195" name="Freeform 1119"/>
          <p:cNvSpPr/>
          <p:nvPr/>
        </p:nvSpPr>
        <p:spPr>
          <a:xfrm>
            <a:off x="7647402" y="3484700"/>
            <a:ext cx="195518" cy="29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6" name="Freeform 1120"/>
          <p:cNvSpPr/>
          <p:nvPr/>
        </p:nvSpPr>
        <p:spPr>
          <a:xfrm>
            <a:off x="7603345" y="3484464"/>
            <a:ext cx="54276" cy="1207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7" name="Freeform 1121"/>
          <p:cNvSpPr/>
          <p:nvPr/>
        </p:nvSpPr>
        <p:spPr>
          <a:xfrm>
            <a:off x="7783025" y="3506042"/>
            <a:ext cx="58490" cy="13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8" name="Freeform 1122"/>
          <p:cNvSpPr/>
          <p:nvPr/>
        </p:nvSpPr>
        <p:spPr>
          <a:xfrm>
            <a:off x="7602705" y="3599077"/>
            <a:ext cx="200088" cy="4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9" name="Freeform 1123"/>
          <p:cNvSpPr/>
          <p:nvPr/>
        </p:nvSpPr>
        <p:spPr>
          <a:xfrm>
            <a:off x="7789539" y="3507221"/>
            <a:ext cx="54787" cy="139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0" name="Freeform 1124"/>
          <p:cNvSpPr/>
          <p:nvPr/>
        </p:nvSpPr>
        <p:spPr>
          <a:xfrm>
            <a:off x="7602962" y="3605326"/>
            <a:ext cx="190793" cy="46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207" name="Group 1125"/>
          <p:cNvGrpSpPr/>
          <p:nvPr/>
        </p:nvGrpSpPr>
        <p:grpSpPr>
          <a:xfrm>
            <a:off x="7599768" y="3654969"/>
            <a:ext cx="64748" cy="29260"/>
            <a:chOff x="0" y="0"/>
            <a:chExt cx="64746" cy="29258"/>
          </a:xfrm>
        </p:grpSpPr>
        <p:sp>
          <p:nvSpPr>
            <p:cNvPr id="3201" name="Freeform 1126"/>
            <p:cNvSpPr/>
            <p:nvPr/>
          </p:nvSpPr>
          <p:spPr>
            <a:xfrm>
              <a:off x="0" y="0"/>
              <a:ext cx="64747" cy="27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02" name="Freeform 1127"/>
            <p:cNvSpPr/>
            <p:nvPr/>
          </p:nvSpPr>
          <p:spPr>
            <a:xfrm>
              <a:off x="1205" y="590"/>
              <a:ext cx="62509" cy="26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03" name="Freeform 1128"/>
            <p:cNvSpPr/>
            <p:nvPr/>
          </p:nvSpPr>
          <p:spPr>
            <a:xfrm>
              <a:off x="5854" y="8669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04" name="Freeform 1129"/>
            <p:cNvSpPr/>
            <p:nvPr/>
          </p:nvSpPr>
          <p:spPr>
            <a:xfrm>
              <a:off x="5079" y="10989"/>
              <a:ext cx="1670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05" name="Freeform 1130"/>
            <p:cNvSpPr/>
            <p:nvPr/>
          </p:nvSpPr>
          <p:spPr>
            <a:xfrm>
              <a:off x="24107" y="14154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06" name="Freeform 1131"/>
            <p:cNvSpPr/>
            <p:nvPr/>
          </p:nvSpPr>
          <p:spPr>
            <a:xfrm>
              <a:off x="23333" y="16558"/>
              <a:ext cx="1670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208" name="Freeform 1132"/>
          <p:cNvSpPr/>
          <p:nvPr/>
        </p:nvSpPr>
        <p:spPr>
          <a:xfrm>
            <a:off x="7710616" y="3659096"/>
            <a:ext cx="78412" cy="60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9" name="Freeform 1133"/>
          <p:cNvSpPr/>
          <p:nvPr/>
        </p:nvSpPr>
        <p:spPr>
          <a:xfrm>
            <a:off x="7510502" y="3663931"/>
            <a:ext cx="200626" cy="55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10" name="Freeform 1134"/>
          <p:cNvSpPr/>
          <p:nvPr/>
        </p:nvSpPr>
        <p:spPr>
          <a:xfrm>
            <a:off x="7505366" y="3653041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11" name="Freeform 1135"/>
          <p:cNvSpPr/>
          <p:nvPr/>
        </p:nvSpPr>
        <p:spPr>
          <a:xfrm>
            <a:off x="7510757" y="3608156"/>
            <a:ext cx="93226" cy="46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12" name="Freeform 1136"/>
          <p:cNvSpPr/>
          <p:nvPr/>
        </p:nvSpPr>
        <p:spPr>
          <a:xfrm>
            <a:off x="7517016" y="3656148"/>
            <a:ext cx="190282" cy="531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13" name="Freeform 1137"/>
          <p:cNvSpPr/>
          <p:nvPr/>
        </p:nvSpPr>
        <p:spPr>
          <a:xfrm flipV="1">
            <a:off x="7707041" y="3652375"/>
            <a:ext cx="77646" cy="55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214" name="Picture 1140" descr="Picture 114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flipH="1">
            <a:off x="7991995" y="3567143"/>
            <a:ext cx="359262" cy="342046"/>
          </a:xfrm>
          <a:prstGeom prst="rect">
            <a:avLst/>
          </a:prstGeom>
          <a:ln w="12700">
            <a:miter lim="400000"/>
          </a:ln>
        </p:spPr>
      </p:pic>
      <p:sp>
        <p:nvSpPr>
          <p:cNvPr id="3215" name="Freeform 1141"/>
          <p:cNvSpPr/>
          <p:nvPr/>
        </p:nvSpPr>
        <p:spPr>
          <a:xfrm flipH="1">
            <a:off x="8145216" y="3599941"/>
            <a:ext cx="169401" cy="15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8202" y="822"/>
                </a:lnTo>
                <a:lnTo>
                  <a:pt x="21600" y="17257"/>
                </a:lnTo>
                <a:lnTo>
                  <a:pt x="4733" y="21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216" name="Picture 571" descr="Picture 571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903198" y="3385017"/>
            <a:ext cx="189579" cy="3370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49" name="Group 950"/>
          <p:cNvGrpSpPr/>
          <p:nvPr/>
        </p:nvGrpSpPr>
        <p:grpSpPr>
          <a:xfrm>
            <a:off x="10288915" y="5273950"/>
            <a:ext cx="180435" cy="330834"/>
            <a:chOff x="0" y="0"/>
            <a:chExt cx="180433" cy="330833"/>
          </a:xfrm>
        </p:grpSpPr>
        <p:sp>
          <p:nvSpPr>
            <p:cNvPr id="3217" name="Freeform 951"/>
            <p:cNvSpPr/>
            <p:nvPr/>
          </p:nvSpPr>
          <p:spPr>
            <a:xfrm>
              <a:off x="140261" y="552"/>
              <a:ext cx="35191" cy="31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18" name="Rectangle 952"/>
            <p:cNvSpPr/>
            <p:nvPr/>
          </p:nvSpPr>
          <p:spPr>
            <a:xfrm>
              <a:off x="8704" y="0"/>
              <a:ext cx="130066" cy="315507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19" name="Freeform 953"/>
            <p:cNvSpPr/>
            <p:nvPr/>
          </p:nvSpPr>
          <p:spPr>
            <a:xfrm>
              <a:off x="147548" y="19468"/>
              <a:ext cx="20319" cy="287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20" name="Freeform 954"/>
            <p:cNvSpPr/>
            <p:nvPr/>
          </p:nvSpPr>
          <p:spPr>
            <a:xfrm>
              <a:off x="142250" y="167211"/>
              <a:ext cx="32704" cy="26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21" name="Rectangle 955"/>
            <p:cNvSpPr/>
            <p:nvPr/>
          </p:nvSpPr>
          <p:spPr>
            <a:xfrm>
              <a:off x="8704" y="32932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224" name="Group 956"/>
            <p:cNvGrpSpPr/>
            <p:nvPr/>
          </p:nvGrpSpPr>
          <p:grpSpPr>
            <a:xfrm>
              <a:off x="75626" y="32712"/>
              <a:ext cx="71847" cy="20742"/>
              <a:chOff x="0" y="0"/>
              <a:chExt cx="71846" cy="20741"/>
            </a:xfrm>
          </p:grpSpPr>
          <p:sp>
            <p:nvSpPr>
              <p:cNvPr id="3222" name="AutoShape 957"/>
              <p:cNvSpPr/>
              <p:nvPr/>
            </p:nvSpPr>
            <p:spPr>
              <a:xfrm>
                <a:off x="0" y="0"/>
                <a:ext cx="71847" cy="207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223" name="AutoShape 958"/>
              <p:cNvSpPr/>
              <p:nvPr/>
            </p:nvSpPr>
            <p:spPr>
              <a:xfrm>
                <a:off x="1195" y="2160"/>
                <a:ext cx="69356" cy="164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225" name="Rectangle 959"/>
            <p:cNvSpPr/>
            <p:nvPr/>
          </p:nvSpPr>
          <p:spPr>
            <a:xfrm>
              <a:off x="9947" y="78774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228" name="Group 960"/>
            <p:cNvGrpSpPr/>
            <p:nvPr/>
          </p:nvGrpSpPr>
          <p:grpSpPr>
            <a:xfrm>
              <a:off x="75577" y="77481"/>
              <a:ext cx="71847" cy="18503"/>
              <a:chOff x="0" y="0"/>
              <a:chExt cx="71846" cy="18502"/>
            </a:xfrm>
          </p:grpSpPr>
          <p:sp>
            <p:nvSpPr>
              <p:cNvPr id="3226" name="AutoShape 961"/>
              <p:cNvSpPr/>
              <p:nvPr/>
            </p:nvSpPr>
            <p:spPr>
              <a:xfrm>
                <a:off x="0" y="0"/>
                <a:ext cx="71847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227" name="AutoShape 962"/>
              <p:cNvSpPr/>
              <p:nvPr/>
            </p:nvSpPr>
            <p:spPr>
              <a:xfrm>
                <a:off x="1295" y="2262"/>
                <a:ext cx="69356" cy="1424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229" name="Rectangle 963"/>
            <p:cNvSpPr/>
            <p:nvPr/>
          </p:nvSpPr>
          <p:spPr>
            <a:xfrm>
              <a:off x="9947" y="124615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30" name="Rectangle 964"/>
            <p:cNvSpPr/>
            <p:nvPr/>
          </p:nvSpPr>
          <p:spPr>
            <a:xfrm>
              <a:off x="11191" y="166177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233" name="Group 965"/>
            <p:cNvGrpSpPr/>
            <p:nvPr/>
          </p:nvGrpSpPr>
          <p:grpSpPr>
            <a:xfrm>
              <a:off x="74384" y="168116"/>
              <a:ext cx="71871" cy="18601"/>
              <a:chOff x="0" y="0"/>
              <a:chExt cx="71869" cy="18599"/>
            </a:xfrm>
          </p:grpSpPr>
          <p:sp>
            <p:nvSpPr>
              <p:cNvPr id="3231" name="AutoShape 966"/>
              <p:cNvSpPr/>
              <p:nvPr/>
            </p:nvSpPr>
            <p:spPr>
              <a:xfrm>
                <a:off x="0" y="0"/>
                <a:ext cx="71870" cy="186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232" name="AutoShape 967"/>
              <p:cNvSpPr/>
              <p:nvPr/>
            </p:nvSpPr>
            <p:spPr>
              <a:xfrm>
                <a:off x="1197" y="0"/>
                <a:ext cx="69376" cy="1635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234" name="Freeform 968"/>
            <p:cNvSpPr/>
            <p:nvPr/>
          </p:nvSpPr>
          <p:spPr>
            <a:xfrm>
              <a:off x="142748" y="127721"/>
              <a:ext cx="32704" cy="25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3237" name="Group 969"/>
            <p:cNvGrpSpPr/>
            <p:nvPr/>
          </p:nvGrpSpPr>
          <p:grpSpPr>
            <a:xfrm>
              <a:off x="74382" y="124407"/>
              <a:ext cx="73069" cy="18503"/>
              <a:chOff x="0" y="0"/>
              <a:chExt cx="73067" cy="18502"/>
            </a:xfrm>
          </p:grpSpPr>
          <p:sp>
            <p:nvSpPr>
              <p:cNvPr id="3235" name="AutoShape 970"/>
              <p:cNvSpPr/>
              <p:nvPr/>
            </p:nvSpPr>
            <p:spPr>
              <a:xfrm>
                <a:off x="0" y="0"/>
                <a:ext cx="73068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236" name="AutoShape 971"/>
              <p:cNvSpPr/>
              <p:nvPr/>
            </p:nvSpPr>
            <p:spPr>
              <a:xfrm>
                <a:off x="1197" y="2209"/>
                <a:ext cx="71871" cy="1422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238" name="Rectangle 972"/>
            <p:cNvSpPr/>
            <p:nvPr/>
          </p:nvSpPr>
          <p:spPr>
            <a:xfrm>
              <a:off x="135527" y="0"/>
              <a:ext cx="12701" cy="31550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39" name="Freeform 973"/>
            <p:cNvSpPr/>
            <p:nvPr/>
          </p:nvSpPr>
          <p:spPr>
            <a:xfrm>
              <a:off x="145732" y="79808"/>
              <a:ext cx="29471" cy="29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7"/>
                    <a:pt x="21308" y="12150"/>
                  </a:cubicBezTo>
                  <a:cubicBezTo>
                    <a:pt x="21162" y="15019"/>
                    <a:pt x="21600" y="15863"/>
                    <a:pt x="21600" y="21600"/>
                  </a:cubicBezTo>
                  <a:cubicBezTo>
                    <a:pt x="21600" y="21600"/>
                    <a:pt x="11676" y="14850"/>
                    <a:pt x="0" y="8437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40" name="Freeform 974"/>
            <p:cNvSpPr/>
            <p:nvPr/>
          </p:nvSpPr>
          <p:spPr>
            <a:xfrm>
              <a:off x="146105" y="34657"/>
              <a:ext cx="30341" cy="33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41" name="Oval 975"/>
            <p:cNvSpPr/>
            <p:nvPr/>
          </p:nvSpPr>
          <p:spPr>
            <a:xfrm>
              <a:off x="167733" y="301284"/>
              <a:ext cx="12701" cy="13119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42" name="Freeform 976"/>
            <p:cNvSpPr/>
            <p:nvPr/>
          </p:nvSpPr>
          <p:spPr>
            <a:xfrm>
              <a:off x="144489" y="301698"/>
              <a:ext cx="30465" cy="2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43" name="AutoShape 977"/>
            <p:cNvSpPr/>
            <p:nvPr/>
          </p:nvSpPr>
          <p:spPr>
            <a:xfrm>
              <a:off x="0" y="310121"/>
              <a:ext cx="148717" cy="2071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44" name="AutoShape 978"/>
            <p:cNvSpPr/>
            <p:nvPr/>
          </p:nvSpPr>
          <p:spPr>
            <a:xfrm>
              <a:off x="8704" y="314610"/>
              <a:ext cx="13255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398" y="0"/>
                    <a:pt x="889" y="0"/>
                  </a:cubicBezTo>
                  <a:lnTo>
                    <a:pt x="20711" y="0"/>
                  </a:lnTo>
                  <a:cubicBezTo>
                    <a:pt x="21202" y="0"/>
                    <a:pt x="21600" y="4835"/>
                    <a:pt x="21600" y="10800"/>
                  </a:cubicBezTo>
                  <a:cubicBezTo>
                    <a:pt x="21600" y="16765"/>
                    <a:pt x="21202" y="21600"/>
                    <a:pt x="20711" y="21600"/>
                  </a:cubicBezTo>
                  <a:lnTo>
                    <a:pt x="889" y="21600"/>
                  </a:lnTo>
                  <a:cubicBezTo>
                    <a:pt x="398" y="21600"/>
                    <a:pt x="0" y="16765"/>
                    <a:pt x="0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45" name="Oval 979"/>
            <p:cNvSpPr/>
            <p:nvPr/>
          </p:nvSpPr>
          <p:spPr>
            <a:xfrm>
              <a:off x="21014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46" name="Oval 980"/>
            <p:cNvSpPr/>
            <p:nvPr/>
          </p:nvSpPr>
          <p:spPr>
            <a:xfrm>
              <a:off x="43396" y="269664"/>
              <a:ext cx="19771" cy="19607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47" name="Oval 981"/>
            <p:cNvSpPr/>
            <p:nvPr/>
          </p:nvSpPr>
          <p:spPr>
            <a:xfrm>
              <a:off x="64410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48" name="Rectangle 982"/>
            <p:cNvSpPr/>
            <p:nvPr/>
          </p:nvSpPr>
          <p:spPr>
            <a:xfrm>
              <a:off x="113891" y="194412"/>
              <a:ext cx="12701" cy="104801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3252" name="Group 590"/>
          <p:cNvGrpSpPr/>
          <p:nvPr/>
        </p:nvGrpSpPr>
        <p:grpSpPr>
          <a:xfrm>
            <a:off x="7980854" y="4900160"/>
            <a:ext cx="345631" cy="320303"/>
            <a:chOff x="0" y="0"/>
            <a:chExt cx="345629" cy="320302"/>
          </a:xfrm>
        </p:grpSpPr>
        <p:pic>
          <p:nvPicPr>
            <p:cNvPr id="3250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51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3253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216586" y="6040273"/>
            <a:ext cx="253502" cy="120344"/>
          </a:xfrm>
          <a:prstGeom prst="rect">
            <a:avLst/>
          </a:prstGeom>
          <a:ln w="12700">
            <a:miter lim="400000"/>
          </a:ln>
        </p:spPr>
      </p:pic>
      <p:sp>
        <p:nvSpPr>
          <p:cNvPr id="3254" name="Freeform 1067"/>
          <p:cNvSpPr/>
          <p:nvPr/>
        </p:nvSpPr>
        <p:spPr>
          <a:xfrm>
            <a:off x="9300596" y="5923493"/>
            <a:ext cx="204044" cy="157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255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310647" y="5927533"/>
            <a:ext cx="185413" cy="142916"/>
          </a:xfrm>
          <a:prstGeom prst="rect">
            <a:avLst/>
          </a:prstGeom>
          <a:ln w="12700">
            <a:miter lim="400000"/>
          </a:ln>
        </p:spPr>
      </p:pic>
      <p:sp>
        <p:nvSpPr>
          <p:cNvPr id="3256" name="Freeform 1069"/>
          <p:cNvSpPr/>
          <p:nvPr/>
        </p:nvSpPr>
        <p:spPr>
          <a:xfrm>
            <a:off x="9337747" y="5918860"/>
            <a:ext cx="172879" cy="29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7" name="Freeform 1070"/>
          <p:cNvSpPr/>
          <p:nvPr/>
        </p:nvSpPr>
        <p:spPr>
          <a:xfrm>
            <a:off x="9298791" y="5918624"/>
            <a:ext cx="47991" cy="12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8" name="Freeform 1071"/>
          <p:cNvSpPr/>
          <p:nvPr/>
        </p:nvSpPr>
        <p:spPr>
          <a:xfrm>
            <a:off x="9457666" y="5940364"/>
            <a:ext cx="51717" cy="140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9" name="Freeform 1072"/>
          <p:cNvSpPr/>
          <p:nvPr/>
        </p:nvSpPr>
        <p:spPr>
          <a:xfrm>
            <a:off x="9298226" y="6034096"/>
            <a:ext cx="176919" cy="47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60" name="Freeform 1073"/>
          <p:cNvSpPr/>
          <p:nvPr/>
        </p:nvSpPr>
        <p:spPr>
          <a:xfrm>
            <a:off x="9463424" y="5941552"/>
            <a:ext cx="48443" cy="141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61" name="Freeform 1074"/>
          <p:cNvSpPr/>
          <p:nvPr/>
        </p:nvSpPr>
        <p:spPr>
          <a:xfrm>
            <a:off x="9298451" y="6040392"/>
            <a:ext cx="168701" cy="46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268" name="Group 1075"/>
          <p:cNvGrpSpPr/>
          <p:nvPr/>
        </p:nvGrpSpPr>
        <p:grpSpPr>
          <a:xfrm>
            <a:off x="9295628" y="6090406"/>
            <a:ext cx="57250" cy="29432"/>
            <a:chOff x="0" y="0"/>
            <a:chExt cx="57249" cy="29430"/>
          </a:xfrm>
        </p:grpSpPr>
        <p:sp>
          <p:nvSpPr>
            <p:cNvPr id="3262" name="Freeform 1076"/>
            <p:cNvSpPr/>
            <p:nvPr/>
          </p:nvSpPr>
          <p:spPr>
            <a:xfrm>
              <a:off x="0" y="0"/>
              <a:ext cx="57250" cy="27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63" name="Freeform 1077"/>
            <p:cNvSpPr/>
            <p:nvPr/>
          </p:nvSpPr>
          <p:spPr>
            <a:xfrm>
              <a:off x="1065" y="595"/>
              <a:ext cx="55271" cy="26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64" name="Freeform 1078"/>
            <p:cNvSpPr/>
            <p:nvPr/>
          </p:nvSpPr>
          <p:spPr>
            <a:xfrm>
              <a:off x="5176" y="8782"/>
              <a:ext cx="1964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65" name="Freeform 1079"/>
            <p:cNvSpPr/>
            <p:nvPr/>
          </p:nvSpPr>
          <p:spPr>
            <a:xfrm>
              <a:off x="4491" y="1112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66" name="Freeform 1080"/>
            <p:cNvSpPr/>
            <p:nvPr/>
          </p:nvSpPr>
          <p:spPr>
            <a:xfrm>
              <a:off x="21316" y="14307"/>
              <a:ext cx="1964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67" name="Freeform 1081"/>
            <p:cNvSpPr/>
            <p:nvPr/>
          </p:nvSpPr>
          <p:spPr>
            <a:xfrm>
              <a:off x="20630" y="1673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269" name="Freeform 1082"/>
          <p:cNvSpPr/>
          <p:nvPr/>
        </p:nvSpPr>
        <p:spPr>
          <a:xfrm>
            <a:off x="9393642" y="6094564"/>
            <a:ext cx="69333" cy="61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0" name="Freeform 1083"/>
          <p:cNvSpPr/>
          <p:nvPr/>
        </p:nvSpPr>
        <p:spPr>
          <a:xfrm>
            <a:off x="9216698" y="6099435"/>
            <a:ext cx="177395" cy="55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1" name="Freeform 1084"/>
          <p:cNvSpPr/>
          <p:nvPr/>
        </p:nvSpPr>
        <p:spPr>
          <a:xfrm>
            <a:off x="9211421" y="6088512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2" name="Freeform 1085"/>
          <p:cNvSpPr/>
          <p:nvPr/>
        </p:nvSpPr>
        <p:spPr>
          <a:xfrm>
            <a:off x="9216925" y="6043243"/>
            <a:ext cx="82431" cy="4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3" name="Freeform 1086"/>
          <p:cNvSpPr/>
          <p:nvPr/>
        </p:nvSpPr>
        <p:spPr>
          <a:xfrm>
            <a:off x="9222457" y="6091594"/>
            <a:ext cx="168250" cy="53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4" name="Freeform 1087"/>
          <p:cNvSpPr/>
          <p:nvPr/>
        </p:nvSpPr>
        <p:spPr>
          <a:xfrm flipV="1">
            <a:off x="9390480" y="6087793"/>
            <a:ext cx="68655" cy="55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277" name="Group 590"/>
          <p:cNvGrpSpPr/>
          <p:nvPr/>
        </p:nvGrpSpPr>
        <p:grpSpPr>
          <a:xfrm>
            <a:off x="8153909" y="5504657"/>
            <a:ext cx="345631" cy="320303"/>
            <a:chOff x="0" y="0"/>
            <a:chExt cx="345629" cy="320302"/>
          </a:xfrm>
        </p:grpSpPr>
        <p:pic>
          <p:nvPicPr>
            <p:cNvPr id="3275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76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280" name="Group 590"/>
          <p:cNvGrpSpPr/>
          <p:nvPr/>
        </p:nvGrpSpPr>
        <p:grpSpPr>
          <a:xfrm>
            <a:off x="8552133" y="5526130"/>
            <a:ext cx="345631" cy="320303"/>
            <a:chOff x="0" y="0"/>
            <a:chExt cx="345629" cy="320302"/>
          </a:xfrm>
        </p:grpSpPr>
        <p:pic>
          <p:nvPicPr>
            <p:cNvPr id="3278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79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3281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550086" y="5949453"/>
            <a:ext cx="260921" cy="99064"/>
          </a:xfrm>
          <a:prstGeom prst="rect">
            <a:avLst/>
          </a:prstGeom>
          <a:ln w="12700">
            <a:miter lim="400000"/>
          </a:ln>
        </p:spPr>
      </p:pic>
      <p:sp>
        <p:nvSpPr>
          <p:cNvPr id="3282" name="Freeform 1067"/>
          <p:cNvSpPr/>
          <p:nvPr/>
        </p:nvSpPr>
        <p:spPr>
          <a:xfrm>
            <a:off x="9636556" y="5853324"/>
            <a:ext cx="210016" cy="129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283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646901" y="5856649"/>
            <a:ext cx="190839" cy="117645"/>
          </a:xfrm>
          <a:prstGeom prst="rect">
            <a:avLst/>
          </a:prstGeom>
          <a:ln w="12700">
            <a:miter lim="400000"/>
          </a:ln>
        </p:spPr>
      </p:pic>
      <p:sp>
        <p:nvSpPr>
          <p:cNvPr id="3284" name="Freeform 1069"/>
          <p:cNvSpPr/>
          <p:nvPr/>
        </p:nvSpPr>
        <p:spPr>
          <a:xfrm>
            <a:off x="9674793" y="5849510"/>
            <a:ext cx="177938" cy="240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5" name="Freeform 1070"/>
          <p:cNvSpPr/>
          <p:nvPr/>
        </p:nvSpPr>
        <p:spPr>
          <a:xfrm>
            <a:off x="9634697" y="5849315"/>
            <a:ext cx="49396" cy="100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6" name="Freeform 1071"/>
          <p:cNvSpPr/>
          <p:nvPr/>
        </p:nvSpPr>
        <p:spPr>
          <a:xfrm>
            <a:off x="9798222" y="5867210"/>
            <a:ext cx="53231" cy="1155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7" name="Freeform 1072"/>
          <p:cNvSpPr/>
          <p:nvPr/>
        </p:nvSpPr>
        <p:spPr>
          <a:xfrm>
            <a:off x="9634115" y="5944368"/>
            <a:ext cx="182098" cy="39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8" name="Freeform 1073"/>
          <p:cNvSpPr/>
          <p:nvPr/>
        </p:nvSpPr>
        <p:spPr>
          <a:xfrm>
            <a:off x="9804149" y="5868189"/>
            <a:ext cx="49861" cy="116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9" name="Freeform 1074"/>
          <p:cNvSpPr/>
          <p:nvPr/>
        </p:nvSpPr>
        <p:spPr>
          <a:xfrm>
            <a:off x="9634349" y="5949551"/>
            <a:ext cx="173638" cy="385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296" name="Group 1075"/>
          <p:cNvGrpSpPr/>
          <p:nvPr/>
        </p:nvGrpSpPr>
        <p:grpSpPr>
          <a:xfrm>
            <a:off x="9631443" y="5990721"/>
            <a:ext cx="58926" cy="25351"/>
            <a:chOff x="0" y="0"/>
            <a:chExt cx="58925" cy="25349"/>
          </a:xfrm>
        </p:grpSpPr>
        <p:sp>
          <p:nvSpPr>
            <p:cNvPr id="3290" name="Freeform 1076"/>
            <p:cNvSpPr/>
            <p:nvPr/>
          </p:nvSpPr>
          <p:spPr>
            <a:xfrm>
              <a:off x="0" y="0"/>
              <a:ext cx="58926" cy="22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91" name="Freeform 1077"/>
            <p:cNvSpPr/>
            <p:nvPr/>
          </p:nvSpPr>
          <p:spPr>
            <a:xfrm>
              <a:off x="1097" y="489"/>
              <a:ext cx="56888" cy="21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92" name="Freeform 1078"/>
            <p:cNvSpPr/>
            <p:nvPr/>
          </p:nvSpPr>
          <p:spPr>
            <a:xfrm>
              <a:off x="5328" y="6106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93" name="Freeform 1079"/>
            <p:cNvSpPr/>
            <p:nvPr/>
          </p:nvSpPr>
          <p:spPr>
            <a:xfrm>
              <a:off x="4623" y="8030"/>
              <a:ext cx="1520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94" name="Freeform 1080"/>
            <p:cNvSpPr/>
            <p:nvPr/>
          </p:nvSpPr>
          <p:spPr>
            <a:xfrm>
              <a:off x="21940" y="10654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95" name="Freeform 1081"/>
            <p:cNvSpPr/>
            <p:nvPr/>
          </p:nvSpPr>
          <p:spPr>
            <a:xfrm>
              <a:off x="21234" y="12649"/>
              <a:ext cx="1520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297" name="Freeform 1082"/>
          <p:cNvSpPr/>
          <p:nvPr/>
        </p:nvSpPr>
        <p:spPr>
          <a:xfrm>
            <a:off x="9732325" y="5994144"/>
            <a:ext cx="71362" cy="50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98" name="Freeform 1083"/>
          <p:cNvSpPr/>
          <p:nvPr/>
        </p:nvSpPr>
        <p:spPr>
          <a:xfrm>
            <a:off x="9550203" y="5998154"/>
            <a:ext cx="182587" cy="45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99" name="Freeform 1084"/>
          <p:cNvSpPr/>
          <p:nvPr/>
        </p:nvSpPr>
        <p:spPr>
          <a:xfrm>
            <a:off x="9544958" y="5988039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0" name="Freeform 1085"/>
          <p:cNvSpPr/>
          <p:nvPr/>
        </p:nvSpPr>
        <p:spPr>
          <a:xfrm>
            <a:off x="9550435" y="5951899"/>
            <a:ext cx="84844" cy="38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1" name="Freeform 1086"/>
          <p:cNvSpPr/>
          <p:nvPr/>
        </p:nvSpPr>
        <p:spPr>
          <a:xfrm>
            <a:off x="9556130" y="5991700"/>
            <a:ext cx="173173" cy="44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2" name="Freeform 1087"/>
          <p:cNvSpPr/>
          <p:nvPr/>
        </p:nvSpPr>
        <p:spPr>
          <a:xfrm flipV="1">
            <a:off x="9729071" y="5988570"/>
            <a:ext cx="70664" cy="45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335" name="Group 983"/>
          <p:cNvGrpSpPr/>
          <p:nvPr/>
        </p:nvGrpSpPr>
        <p:grpSpPr>
          <a:xfrm>
            <a:off x="10017876" y="5636388"/>
            <a:ext cx="174794" cy="348945"/>
            <a:chOff x="0" y="0"/>
            <a:chExt cx="174792" cy="348944"/>
          </a:xfrm>
        </p:grpSpPr>
        <p:sp>
          <p:nvSpPr>
            <p:cNvPr id="3303" name="Freeform 984"/>
            <p:cNvSpPr/>
            <p:nvPr/>
          </p:nvSpPr>
          <p:spPr>
            <a:xfrm>
              <a:off x="135716" y="582"/>
              <a:ext cx="34050" cy="332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04" name="Rectangle 985"/>
            <p:cNvSpPr/>
            <p:nvPr/>
          </p:nvSpPr>
          <p:spPr>
            <a:xfrm>
              <a:off x="8422" y="0"/>
              <a:ext cx="125851" cy="332779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05" name="Freeform 986"/>
            <p:cNvSpPr/>
            <p:nvPr/>
          </p:nvSpPr>
          <p:spPr>
            <a:xfrm>
              <a:off x="142767" y="20534"/>
              <a:ext cx="19660" cy="303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06" name="Freeform 987"/>
            <p:cNvSpPr/>
            <p:nvPr/>
          </p:nvSpPr>
          <p:spPr>
            <a:xfrm>
              <a:off x="137641" y="176365"/>
              <a:ext cx="31644" cy="27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07" name="Rectangle 988"/>
            <p:cNvSpPr/>
            <p:nvPr/>
          </p:nvSpPr>
          <p:spPr>
            <a:xfrm>
              <a:off x="8422" y="35083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310" name="Group 989"/>
            <p:cNvGrpSpPr/>
            <p:nvPr/>
          </p:nvGrpSpPr>
          <p:grpSpPr>
            <a:xfrm>
              <a:off x="73175" y="34503"/>
              <a:ext cx="69519" cy="21878"/>
              <a:chOff x="0" y="0"/>
              <a:chExt cx="69517" cy="21876"/>
            </a:xfrm>
          </p:grpSpPr>
          <p:sp>
            <p:nvSpPr>
              <p:cNvPr id="3308" name="AutoShape 990"/>
              <p:cNvSpPr/>
              <p:nvPr/>
            </p:nvSpPr>
            <p:spPr>
              <a:xfrm>
                <a:off x="0" y="0"/>
                <a:ext cx="69518" cy="2187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309" name="AutoShape 991"/>
              <p:cNvSpPr/>
              <p:nvPr/>
            </p:nvSpPr>
            <p:spPr>
              <a:xfrm>
                <a:off x="1157" y="2278"/>
                <a:ext cx="67108" cy="173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311" name="Rectangle 992"/>
            <p:cNvSpPr/>
            <p:nvPr/>
          </p:nvSpPr>
          <p:spPr>
            <a:xfrm>
              <a:off x="9625" y="83434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314" name="Group 993"/>
            <p:cNvGrpSpPr/>
            <p:nvPr/>
          </p:nvGrpSpPr>
          <p:grpSpPr>
            <a:xfrm>
              <a:off x="73128" y="81722"/>
              <a:ext cx="69518" cy="19517"/>
              <a:chOff x="0" y="0"/>
              <a:chExt cx="69517" cy="19515"/>
            </a:xfrm>
          </p:grpSpPr>
          <p:sp>
            <p:nvSpPr>
              <p:cNvPr id="3312" name="AutoShape 994"/>
              <p:cNvSpPr/>
              <p:nvPr/>
            </p:nvSpPr>
            <p:spPr>
              <a:xfrm>
                <a:off x="0" y="0"/>
                <a:ext cx="69518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313" name="AutoShape 995"/>
              <p:cNvSpPr/>
              <p:nvPr/>
            </p:nvSpPr>
            <p:spPr>
              <a:xfrm>
                <a:off x="1253" y="2386"/>
                <a:ext cx="67108" cy="1502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315" name="Rectangle 996"/>
            <p:cNvSpPr/>
            <p:nvPr/>
          </p:nvSpPr>
          <p:spPr>
            <a:xfrm>
              <a:off x="9625" y="131785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16" name="Rectangle 997"/>
            <p:cNvSpPr/>
            <p:nvPr/>
          </p:nvSpPr>
          <p:spPr>
            <a:xfrm>
              <a:off x="10828" y="175621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319" name="Group 998"/>
            <p:cNvGrpSpPr/>
            <p:nvPr/>
          </p:nvGrpSpPr>
          <p:grpSpPr>
            <a:xfrm>
              <a:off x="71974" y="177319"/>
              <a:ext cx="69542" cy="19619"/>
              <a:chOff x="0" y="0"/>
              <a:chExt cx="69540" cy="19617"/>
            </a:xfrm>
          </p:grpSpPr>
          <p:sp>
            <p:nvSpPr>
              <p:cNvPr id="3317" name="AutoShape 999"/>
              <p:cNvSpPr/>
              <p:nvPr/>
            </p:nvSpPr>
            <p:spPr>
              <a:xfrm>
                <a:off x="0" y="0"/>
                <a:ext cx="69541" cy="1961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318" name="AutoShape 1000"/>
              <p:cNvSpPr/>
              <p:nvPr/>
            </p:nvSpPr>
            <p:spPr>
              <a:xfrm>
                <a:off x="1159" y="0"/>
                <a:ext cx="67127" cy="172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320" name="Freeform 1001"/>
            <p:cNvSpPr/>
            <p:nvPr/>
          </p:nvSpPr>
          <p:spPr>
            <a:xfrm>
              <a:off x="138122" y="134713"/>
              <a:ext cx="31644" cy="27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3323" name="Group 1002"/>
            <p:cNvGrpSpPr/>
            <p:nvPr/>
          </p:nvGrpSpPr>
          <p:grpSpPr>
            <a:xfrm>
              <a:off x="71972" y="131218"/>
              <a:ext cx="70701" cy="19516"/>
              <a:chOff x="0" y="0"/>
              <a:chExt cx="70699" cy="19515"/>
            </a:xfrm>
          </p:grpSpPr>
          <p:sp>
            <p:nvSpPr>
              <p:cNvPr id="3321" name="AutoShape 1003"/>
              <p:cNvSpPr/>
              <p:nvPr/>
            </p:nvSpPr>
            <p:spPr>
              <a:xfrm>
                <a:off x="0" y="0"/>
                <a:ext cx="70700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322" name="AutoShape 1004"/>
              <p:cNvSpPr/>
              <p:nvPr/>
            </p:nvSpPr>
            <p:spPr>
              <a:xfrm>
                <a:off x="1159" y="2330"/>
                <a:ext cx="69541" cy="1500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324" name="Rectangle 1005"/>
            <p:cNvSpPr/>
            <p:nvPr/>
          </p:nvSpPr>
          <p:spPr>
            <a:xfrm>
              <a:off x="130930" y="0"/>
              <a:ext cx="12701" cy="332779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25" name="Freeform 1006"/>
            <p:cNvSpPr/>
            <p:nvPr/>
          </p:nvSpPr>
          <p:spPr>
            <a:xfrm>
              <a:off x="141010" y="84177"/>
              <a:ext cx="28515" cy="31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26" name="Freeform 1007"/>
            <p:cNvSpPr/>
            <p:nvPr/>
          </p:nvSpPr>
          <p:spPr>
            <a:xfrm>
              <a:off x="141371" y="36554"/>
              <a:ext cx="29358" cy="34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27" name="Oval 1008"/>
            <p:cNvSpPr/>
            <p:nvPr/>
          </p:nvSpPr>
          <p:spPr>
            <a:xfrm>
              <a:off x="162092" y="317777"/>
              <a:ext cx="12701" cy="1383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28" name="Freeform 1009"/>
            <p:cNvSpPr/>
            <p:nvPr/>
          </p:nvSpPr>
          <p:spPr>
            <a:xfrm>
              <a:off x="139806" y="318214"/>
              <a:ext cx="29479" cy="29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29" name="AutoShape 1010"/>
            <p:cNvSpPr/>
            <p:nvPr/>
          </p:nvSpPr>
          <p:spPr>
            <a:xfrm>
              <a:off x="0" y="327098"/>
              <a:ext cx="143898" cy="218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30" name="AutoShape 1011"/>
            <p:cNvSpPr/>
            <p:nvPr/>
          </p:nvSpPr>
          <p:spPr>
            <a:xfrm>
              <a:off x="8422" y="332181"/>
              <a:ext cx="1282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434" y="0"/>
                    <a:pt x="969" y="0"/>
                  </a:cubicBezTo>
                  <a:lnTo>
                    <a:pt x="20631" y="0"/>
                  </a:lnTo>
                  <a:cubicBezTo>
                    <a:pt x="21166" y="0"/>
                    <a:pt x="21600" y="4835"/>
                    <a:pt x="21600" y="10800"/>
                  </a:cubicBezTo>
                  <a:lnTo>
                    <a:pt x="21600" y="10800"/>
                  </a:lnTo>
                  <a:cubicBezTo>
                    <a:pt x="21600" y="16765"/>
                    <a:pt x="21166" y="21600"/>
                    <a:pt x="20631" y="21600"/>
                  </a:cubicBezTo>
                  <a:lnTo>
                    <a:pt x="969" y="21598"/>
                  </a:lnTo>
                  <a:cubicBezTo>
                    <a:pt x="434" y="21598"/>
                    <a:pt x="0" y="16763"/>
                    <a:pt x="0" y="10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31" name="Oval 1012"/>
            <p:cNvSpPr/>
            <p:nvPr/>
          </p:nvSpPr>
          <p:spPr>
            <a:xfrm>
              <a:off x="2033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32" name="Oval 1013"/>
            <p:cNvSpPr/>
            <p:nvPr/>
          </p:nvSpPr>
          <p:spPr>
            <a:xfrm>
              <a:off x="41990" y="284427"/>
              <a:ext cx="19131" cy="2068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33" name="Oval 1014"/>
            <p:cNvSpPr/>
            <p:nvPr/>
          </p:nvSpPr>
          <p:spPr>
            <a:xfrm>
              <a:off x="6232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34" name="Rectangle 1015"/>
            <p:cNvSpPr/>
            <p:nvPr/>
          </p:nvSpPr>
          <p:spPr>
            <a:xfrm>
              <a:off x="109995" y="205055"/>
              <a:ext cx="12701" cy="110538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3338" name="Group 590"/>
          <p:cNvGrpSpPr/>
          <p:nvPr/>
        </p:nvGrpSpPr>
        <p:grpSpPr>
          <a:xfrm>
            <a:off x="7773981" y="5281059"/>
            <a:ext cx="345631" cy="320303"/>
            <a:chOff x="0" y="0"/>
            <a:chExt cx="345629" cy="320302"/>
          </a:xfrm>
        </p:grpSpPr>
        <p:pic>
          <p:nvPicPr>
            <p:cNvPr id="3336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37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502" name="Group 19"/>
          <p:cNvGrpSpPr/>
          <p:nvPr/>
        </p:nvGrpSpPr>
        <p:grpSpPr>
          <a:xfrm>
            <a:off x="7439073" y="1859725"/>
            <a:ext cx="4144322" cy="4127478"/>
            <a:chOff x="0" y="0"/>
            <a:chExt cx="4144321" cy="4127477"/>
          </a:xfrm>
        </p:grpSpPr>
        <p:grpSp>
          <p:nvGrpSpPr>
            <p:cNvPr id="3373" name="Group 14"/>
            <p:cNvGrpSpPr/>
            <p:nvPr/>
          </p:nvGrpSpPr>
          <p:grpSpPr>
            <a:xfrm>
              <a:off x="0" y="0"/>
              <a:ext cx="1802647" cy="1232389"/>
              <a:chOff x="0" y="0"/>
              <a:chExt cx="1802647" cy="1232388"/>
            </a:xfrm>
          </p:grpSpPr>
          <p:pic>
            <p:nvPicPr>
              <p:cNvPr id="3339" name="Picture 799" descr="Picture 799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>
                <a:off x="541792" y="298442"/>
                <a:ext cx="457201" cy="3327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340" name="Line 426"/>
              <p:cNvSpPr/>
              <p:nvPr/>
            </p:nvSpPr>
            <p:spPr>
              <a:xfrm>
                <a:off x="768786" y="840634"/>
                <a:ext cx="227965" cy="17435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356" name="Group 783"/>
              <p:cNvGrpSpPr/>
              <p:nvPr/>
            </p:nvGrpSpPr>
            <p:grpSpPr>
              <a:xfrm>
                <a:off x="611624" y="449651"/>
                <a:ext cx="298451" cy="464008"/>
                <a:chOff x="0" y="0"/>
                <a:chExt cx="298450" cy="464007"/>
              </a:xfrm>
            </p:grpSpPr>
            <p:sp>
              <p:nvSpPr>
                <p:cNvPr id="3341" name="Line 270"/>
                <p:cNvSpPr/>
                <p:nvPr/>
              </p:nvSpPr>
              <p:spPr>
                <a:xfrm flipH="1">
                  <a:off x="-1" y="0"/>
                  <a:ext cx="149226" cy="42023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2" name="Line 271"/>
                <p:cNvSpPr/>
                <p:nvPr/>
              </p:nvSpPr>
              <p:spPr>
                <a:xfrm>
                  <a:off x="149225" y="0"/>
                  <a:ext cx="149226" cy="41835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3" name="Line 272"/>
                <p:cNvSpPr/>
                <p:nvPr/>
              </p:nvSpPr>
              <p:spPr>
                <a:xfrm>
                  <a:off x="-1" y="418357"/>
                  <a:ext cx="149227" cy="4565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4" name="Line 273"/>
                <p:cNvSpPr/>
                <p:nvPr/>
              </p:nvSpPr>
              <p:spPr>
                <a:xfrm flipH="1">
                  <a:off x="149224" y="418357"/>
                  <a:ext cx="149227" cy="4565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5" name="Line 274"/>
                <p:cNvSpPr/>
                <p:nvPr/>
              </p:nvSpPr>
              <p:spPr>
                <a:xfrm flipH="1">
                  <a:off x="149224" y="9380"/>
                  <a:ext cx="1" cy="45462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6" name="Line 275"/>
                <p:cNvSpPr/>
                <p:nvPr/>
              </p:nvSpPr>
              <p:spPr>
                <a:xfrm flipV="1">
                  <a:off x="-1" y="375208"/>
                  <a:ext cx="149227" cy="4502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7" name="Line 276"/>
                <p:cNvSpPr/>
                <p:nvPr/>
              </p:nvSpPr>
              <p:spPr>
                <a:xfrm flipH="1" flipV="1">
                  <a:off x="149224" y="375209"/>
                  <a:ext cx="149227" cy="4314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8" name="Line 277"/>
                <p:cNvSpPr/>
                <p:nvPr/>
              </p:nvSpPr>
              <p:spPr>
                <a:xfrm>
                  <a:off x="63329" y="237632"/>
                  <a:ext cx="85896" cy="3439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9" name="Line 278"/>
                <p:cNvSpPr/>
                <p:nvPr/>
              </p:nvSpPr>
              <p:spPr>
                <a:xfrm flipV="1">
                  <a:off x="149224" y="237632"/>
                  <a:ext cx="90264" cy="3439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0" name="Line 279"/>
                <p:cNvSpPr/>
                <p:nvPr/>
              </p:nvSpPr>
              <p:spPr>
                <a:xfrm>
                  <a:off x="34940" y="298916"/>
                  <a:ext cx="110645" cy="46902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1" name="Line 280"/>
                <p:cNvSpPr/>
                <p:nvPr/>
              </p:nvSpPr>
              <p:spPr>
                <a:xfrm flipV="1">
                  <a:off x="149224" y="308297"/>
                  <a:ext cx="111374" cy="4127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2" name="Line 281"/>
                <p:cNvSpPr/>
                <p:nvPr/>
              </p:nvSpPr>
              <p:spPr>
                <a:xfrm flipV="1">
                  <a:off x="149224" y="174472"/>
                  <a:ext cx="56780" cy="1688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3" name="Line 282"/>
                <p:cNvSpPr/>
                <p:nvPr/>
              </p:nvSpPr>
              <p:spPr>
                <a:xfrm flipV="1">
                  <a:off x="149225" y="87548"/>
                  <a:ext cx="35669" cy="1313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4" name="Line 283"/>
                <p:cNvSpPr/>
                <p:nvPr/>
              </p:nvSpPr>
              <p:spPr>
                <a:xfrm>
                  <a:off x="85167" y="168843"/>
                  <a:ext cx="69154" cy="2251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5" name="Line 284"/>
                <p:cNvSpPr/>
                <p:nvPr/>
              </p:nvSpPr>
              <p:spPr>
                <a:xfrm>
                  <a:off x="115740" y="83796"/>
                  <a:ext cx="40036" cy="2251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368" name="Group 406"/>
              <p:cNvGrpSpPr/>
              <p:nvPr/>
            </p:nvGrpSpPr>
            <p:grpSpPr>
              <a:xfrm>
                <a:off x="1000753" y="840507"/>
                <a:ext cx="353679" cy="391882"/>
                <a:chOff x="0" y="0"/>
                <a:chExt cx="353677" cy="391881"/>
              </a:xfrm>
            </p:grpSpPr>
            <p:grpSp>
              <p:nvGrpSpPr>
                <p:cNvPr id="3359" name="Freeform 407"/>
                <p:cNvGrpSpPr/>
                <p:nvPr/>
              </p:nvGrpSpPr>
              <p:grpSpPr>
                <a:xfrm>
                  <a:off x="-1" y="58793"/>
                  <a:ext cx="353679" cy="333089"/>
                  <a:chOff x="0" y="0"/>
                  <a:chExt cx="353677" cy="333087"/>
                </a:xfrm>
              </p:grpSpPr>
              <p:sp>
                <p:nvSpPr>
                  <p:cNvPr id="3357" name="Shape"/>
                  <p:cNvSpPr/>
                  <p:nvPr/>
                </p:nvSpPr>
                <p:spPr>
                  <a:xfrm>
                    <a:off x="0" y="111530"/>
                    <a:ext cx="353678" cy="1100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358" name="Text"/>
                  <p:cNvSpPr txBox="1"/>
                  <p:nvPr/>
                </p:nvSpPr>
                <p:spPr>
                  <a:xfrm>
                    <a:off x="48894" y="0"/>
                    <a:ext cx="255889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3362" name="Oval 408"/>
                <p:cNvGrpSpPr/>
                <p:nvPr/>
              </p:nvGrpSpPr>
              <p:grpSpPr>
                <a:xfrm>
                  <a:off x="203" y="-1"/>
                  <a:ext cx="353251" cy="333089"/>
                  <a:chOff x="0" y="0"/>
                  <a:chExt cx="353249" cy="333087"/>
                </a:xfrm>
              </p:grpSpPr>
              <p:sp>
                <p:nvSpPr>
                  <p:cNvPr id="3360" name="Oval"/>
                  <p:cNvSpPr/>
                  <p:nvPr/>
                </p:nvSpPr>
                <p:spPr>
                  <a:xfrm>
                    <a:off x="0" y="112076"/>
                    <a:ext cx="353250" cy="108935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361" name="Text"/>
                  <p:cNvSpPr txBox="1"/>
                  <p:nvPr/>
                </p:nvSpPr>
                <p:spPr>
                  <a:xfrm>
                    <a:off x="100627" y="0"/>
                    <a:ext cx="151995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3367" name="Group 409"/>
                <p:cNvGrpSpPr/>
                <p:nvPr/>
              </p:nvGrpSpPr>
              <p:grpSpPr>
                <a:xfrm>
                  <a:off x="52453" y="125922"/>
                  <a:ext cx="248706" cy="80044"/>
                  <a:chOff x="0" y="0"/>
                  <a:chExt cx="248704" cy="80043"/>
                </a:xfrm>
              </p:grpSpPr>
              <p:sp>
                <p:nvSpPr>
                  <p:cNvPr id="3363" name="Freeform 410"/>
                  <p:cNvSpPr/>
                  <p:nvPr/>
                </p:nvSpPr>
                <p:spPr>
                  <a:xfrm>
                    <a:off x="6879" y="0"/>
                    <a:ext cx="235271" cy="4480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364" name="Freeform 411"/>
                  <p:cNvSpPr/>
                  <p:nvPr/>
                </p:nvSpPr>
                <p:spPr>
                  <a:xfrm>
                    <a:off x="160864" y="38326"/>
                    <a:ext cx="87841" cy="3857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365" name="Freeform 412"/>
                  <p:cNvSpPr/>
                  <p:nvPr/>
                </p:nvSpPr>
                <p:spPr>
                  <a:xfrm>
                    <a:off x="0" y="38326"/>
                    <a:ext cx="86253" cy="3812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366" name="Freeform 413"/>
                  <p:cNvSpPr/>
                  <p:nvPr/>
                </p:nvSpPr>
                <p:spPr>
                  <a:xfrm>
                    <a:off x="29942" y="19487"/>
                    <a:ext cx="187543" cy="6055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pic>
            <p:nvPicPr>
              <p:cNvPr id="3369" name="Picture 654" descr="Picture 654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>
                <a:off x="311150" y="0"/>
                <a:ext cx="415926" cy="8877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370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496888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371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1198707" y="460002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372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1271945" y="199398"/>
                <a:ext cx="530703" cy="22375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393" name="Group 11"/>
            <p:cNvGrpSpPr/>
            <p:nvPr/>
          </p:nvGrpSpPr>
          <p:grpSpPr>
            <a:xfrm>
              <a:off x="54444" y="1465699"/>
              <a:ext cx="911538" cy="925351"/>
              <a:chOff x="0" y="0"/>
              <a:chExt cx="911537" cy="925350"/>
            </a:xfrm>
          </p:grpSpPr>
          <p:pic>
            <p:nvPicPr>
              <p:cNvPr id="3374" name="Picture 777" descr="Picture 777"/>
              <p:cNvPicPr>
                <a:picLocks noChangeAspect="1"/>
              </p:cNvPicPr>
              <p:nvPr/>
            </p:nvPicPr>
            <p:blipFill>
              <a:blip r:embed="rId17">
                <a:extLst/>
              </a:blip>
              <a:stretch>
                <a:fillRect/>
              </a:stretch>
            </p:blipFill>
            <p:spPr>
              <a:xfrm>
                <a:off x="120363" y="536474"/>
                <a:ext cx="370170" cy="306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3392" name="Group 10"/>
              <p:cNvGrpSpPr/>
              <p:nvPr/>
            </p:nvGrpSpPr>
            <p:grpSpPr>
              <a:xfrm>
                <a:off x="-1" y="0"/>
                <a:ext cx="911539" cy="925351"/>
                <a:chOff x="0" y="0"/>
                <a:chExt cx="911537" cy="925350"/>
              </a:xfrm>
            </p:grpSpPr>
            <p:sp>
              <p:nvSpPr>
                <p:cNvPr id="3375" name="Line 443"/>
                <p:cNvSpPr/>
                <p:nvPr/>
              </p:nvSpPr>
              <p:spPr>
                <a:xfrm>
                  <a:off x="754259" y="504545"/>
                  <a:ext cx="1" cy="13176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76" name="Line 449"/>
                <p:cNvSpPr/>
                <p:nvPr/>
              </p:nvSpPr>
              <p:spPr>
                <a:xfrm flipV="1">
                  <a:off x="363734" y="715683"/>
                  <a:ext cx="168275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3377" name="Picture 778" descr="Picture 778"/>
                <p:cNvPicPr>
                  <a:picLocks noChangeAspect="1"/>
                </p:cNvPicPr>
                <p:nvPr/>
              </p:nvPicPr>
              <p:blipFill>
                <a:blip r:embed="rId18">
                  <a:extLst/>
                </a:blip>
                <a:stretch>
                  <a:fillRect/>
                </a:stretch>
              </p:blipFill>
              <p:spPr>
                <a:xfrm>
                  <a:off x="68719" y="488505"/>
                  <a:ext cx="506413" cy="10601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3389" name="Group 414"/>
                <p:cNvGrpSpPr/>
                <p:nvPr/>
              </p:nvGrpSpPr>
              <p:grpSpPr>
                <a:xfrm>
                  <a:off x="556551" y="530885"/>
                  <a:ext cx="354987" cy="394466"/>
                  <a:chOff x="0" y="0"/>
                  <a:chExt cx="354985" cy="394464"/>
                </a:xfrm>
              </p:grpSpPr>
              <p:grpSp>
                <p:nvGrpSpPr>
                  <p:cNvPr id="3380" name="Freeform 415"/>
                  <p:cNvGrpSpPr/>
                  <p:nvPr/>
                </p:nvGrpSpPr>
                <p:grpSpPr>
                  <a:xfrm>
                    <a:off x="-1" y="61377"/>
                    <a:ext cx="354987" cy="333088"/>
                    <a:chOff x="0" y="0"/>
                    <a:chExt cx="354985" cy="333087"/>
                  </a:xfrm>
                </p:grpSpPr>
                <p:sp>
                  <p:nvSpPr>
                    <p:cNvPr id="3378" name="Shape"/>
                    <p:cNvSpPr/>
                    <p:nvPr/>
                  </p:nvSpPr>
                  <p:spPr>
                    <a:xfrm>
                      <a:off x="0" y="109113"/>
                      <a:ext cx="354986" cy="1148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379" name="Text"/>
                    <p:cNvSpPr txBox="1"/>
                    <p:nvPr/>
                  </p:nvSpPr>
                  <p:spPr>
                    <a:xfrm>
                      <a:off x="48894" y="0"/>
                      <a:ext cx="257196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3383" name="Oval 416"/>
                  <p:cNvGrpSpPr/>
                  <p:nvPr/>
                </p:nvGrpSpPr>
                <p:grpSpPr>
                  <a:xfrm>
                    <a:off x="204" y="-1"/>
                    <a:ext cx="354557" cy="333089"/>
                    <a:chOff x="0" y="0"/>
                    <a:chExt cx="354555" cy="333087"/>
                  </a:xfrm>
                </p:grpSpPr>
                <p:sp>
                  <p:nvSpPr>
                    <p:cNvPr id="3381" name="Oval"/>
                    <p:cNvSpPr/>
                    <p:nvPr/>
                  </p:nvSpPr>
                  <p:spPr>
                    <a:xfrm>
                      <a:off x="0" y="109684"/>
                      <a:ext cx="354556" cy="113721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382" name="Text"/>
                    <p:cNvSpPr txBox="1"/>
                    <p:nvPr/>
                  </p:nvSpPr>
                  <p:spPr>
                    <a:xfrm>
                      <a:off x="100818" y="0"/>
                      <a:ext cx="152920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3388" name="Group 417"/>
                  <p:cNvGrpSpPr/>
                  <p:nvPr/>
                </p:nvGrpSpPr>
                <p:grpSpPr>
                  <a:xfrm>
                    <a:off x="52647" y="124137"/>
                    <a:ext cx="249626" cy="83561"/>
                    <a:chOff x="0" y="0"/>
                    <a:chExt cx="249624" cy="83559"/>
                  </a:xfrm>
                </p:grpSpPr>
                <p:sp>
                  <p:nvSpPr>
                    <p:cNvPr id="3384" name="Freeform 418"/>
                    <p:cNvSpPr/>
                    <p:nvPr/>
                  </p:nvSpPr>
                  <p:spPr>
                    <a:xfrm>
                      <a:off x="6904" y="-1"/>
                      <a:ext cx="236141" cy="467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385" name="Freeform 419"/>
                    <p:cNvSpPr/>
                    <p:nvPr/>
                  </p:nvSpPr>
                  <p:spPr>
                    <a:xfrm>
                      <a:off x="161459" y="40010"/>
                      <a:ext cx="88166" cy="4027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386" name="Freeform 420"/>
                    <p:cNvSpPr/>
                    <p:nvPr/>
                  </p:nvSpPr>
                  <p:spPr>
                    <a:xfrm>
                      <a:off x="0" y="40010"/>
                      <a:ext cx="86572" cy="39804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387" name="Freeform 421"/>
                    <p:cNvSpPr/>
                    <p:nvPr/>
                  </p:nvSpPr>
                  <p:spPr>
                    <a:xfrm>
                      <a:off x="30053" y="20343"/>
                      <a:ext cx="188236" cy="6321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3390" name="Picture 1115" descr="Picture 1115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>
                  <a:off x="0" y="93715"/>
                  <a:ext cx="347997" cy="16755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391" name="Picture 1115" descr="Picture 1115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>
                  <a:off x="309916" y="0"/>
                  <a:ext cx="347998" cy="1675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3412" name="Group 15"/>
            <p:cNvGrpSpPr/>
            <p:nvPr/>
          </p:nvGrpSpPr>
          <p:grpSpPr>
            <a:xfrm>
              <a:off x="3445011" y="1568760"/>
              <a:ext cx="604587" cy="405974"/>
              <a:chOff x="0" y="0"/>
              <a:chExt cx="604585" cy="405973"/>
            </a:xfrm>
          </p:grpSpPr>
          <p:grpSp>
            <p:nvGrpSpPr>
              <p:cNvPr id="3405" name="Group 454"/>
              <p:cNvGrpSpPr/>
              <p:nvPr/>
            </p:nvGrpSpPr>
            <p:grpSpPr>
              <a:xfrm>
                <a:off x="0" y="140793"/>
                <a:ext cx="170989" cy="160910"/>
                <a:chOff x="0" y="0"/>
                <a:chExt cx="170988" cy="160909"/>
              </a:xfrm>
            </p:grpSpPr>
            <p:grpSp>
              <p:nvGrpSpPr>
                <p:cNvPr id="3396" name="Freeform 455"/>
                <p:cNvGrpSpPr/>
                <p:nvPr/>
              </p:nvGrpSpPr>
              <p:grpSpPr>
                <a:xfrm>
                  <a:off x="0" y="33909"/>
                  <a:ext cx="170989" cy="127001"/>
                  <a:chOff x="0" y="0"/>
                  <a:chExt cx="170988" cy="127000"/>
                </a:xfrm>
              </p:grpSpPr>
              <p:sp>
                <p:nvSpPr>
                  <p:cNvPr id="3394" name="Shape"/>
                  <p:cNvSpPr/>
                  <p:nvPr/>
                </p:nvSpPr>
                <p:spPr>
                  <a:xfrm>
                    <a:off x="0" y="31770"/>
                    <a:ext cx="170989" cy="634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395" name="Text"/>
                  <p:cNvSpPr txBox="1"/>
                  <p:nvPr/>
                </p:nvSpPr>
                <p:spPr>
                  <a:xfrm>
                    <a:off x="47307" y="0"/>
                    <a:ext cx="76375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3399" name="Oval 456"/>
                <p:cNvGrpSpPr/>
                <p:nvPr/>
              </p:nvGrpSpPr>
              <p:grpSpPr>
                <a:xfrm>
                  <a:off x="98" y="0"/>
                  <a:ext cx="170783" cy="127000"/>
                  <a:chOff x="0" y="0"/>
                  <a:chExt cx="170782" cy="127000"/>
                </a:xfrm>
              </p:grpSpPr>
              <p:sp>
                <p:nvSpPr>
                  <p:cNvPr id="3397" name="Oval"/>
                  <p:cNvSpPr/>
                  <p:nvPr/>
                </p:nvSpPr>
                <p:spPr>
                  <a:xfrm>
                    <a:off x="0" y="32086"/>
                    <a:ext cx="170783" cy="62829"/>
                  </a:xfrm>
                  <a:prstGeom prst="ellipse">
                    <a:avLst/>
                  </a:prstGeom>
                  <a:solidFill>
                    <a:srgbClr val="B8C2C9"/>
                  </a:soli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398" name="Text"/>
                  <p:cNvSpPr txBox="1"/>
                  <p:nvPr/>
                </p:nvSpPr>
                <p:spPr>
                  <a:xfrm>
                    <a:off x="72317" y="0"/>
                    <a:ext cx="26147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3404" name="Group 457"/>
                <p:cNvGrpSpPr/>
                <p:nvPr/>
              </p:nvGrpSpPr>
              <p:grpSpPr>
                <a:xfrm>
                  <a:off x="25359" y="40071"/>
                  <a:ext cx="120239" cy="46166"/>
                  <a:chOff x="0" y="0"/>
                  <a:chExt cx="120238" cy="46164"/>
                </a:xfrm>
              </p:grpSpPr>
              <p:sp>
                <p:nvSpPr>
                  <p:cNvPr id="3400" name="Freeform 458"/>
                  <p:cNvSpPr/>
                  <p:nvPr/>
                </p:nvSpPr>
                <p:spPr>
                  <a:xfrm>
                    <a:off x="3325" y="-1"/>
                    <a:ext cx="113745" cy="2584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01" name="Freeform 459"/>
                  <p:cNvSpPr/>
                  <p:nvPr/>
                </p:nvSpPr>
                <p:spPr>
                  <a:xfrm>
                    <a:off x="77771" y="22104"/>
                    <a:ext cx="42468" cy="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02" name="Freeform 460"/>
                  <p:cNvSpPr/>
                  <p:nvPr/>
                </p:nvSpPr>
                <p:spPr>
                  <a:xfrm>
                    <a:off x="0" y="22104"/>
                    <a:ext cx="41700" cy="2199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03" name="Freeform 461"/>
                  <p:cNvSpPr/>
                  <p:nvPr/>
                </p:nvSpPr>
                <p:spPr>
                  <a:xfrm>
                    <a:off x="14476" y="11239"/>
                    <a:ext cx="90669" cy="3492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3411" name="Group 391"/>
              <p:cNvGrpSpPr/>
              <p:nvPr/>
            </p:nvGrpSpPr>
            <p:grpSpPr>
              <a:xfrm>
                <a:off x="180862" y="0"/>
                <a:ext cx="423725" cy="405974"/>
                <a:chOff x="0" y="0"/>
                <a:chExt cx="423723" cy="405973"/>
              </a:xfrm>
            </p:grpSpPr>
            <p:sp>
              <p:nvSpPr>
                <p:cNvPr id="3406" name="Straight Connector 392"/>
                <p:cNvSpPr/>
                <p:nvPr/>
              </p:nvSpPr>
              <p:spPr>
                <a:xfrm>
                  <a:off x="0" y="216155"/>
                  <a:ext cx="16110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410" name="Group 394"/>
                <p:cNvGrpSpPr/>
                <p:nvPr/>
              </p:nvGrpSpPr>
              <p:grpSpPr>
                <a:xfrm>
                  <a:off x="118936" y="0"/>
                  <a:ext cx="304788" cy="405974"/>
                  <a:chOff x="0" y="0"/>
                  <a:chExt cx="304787" cy="405973"/>
                </a:xfrm>
              </p:grpSpPr>
              <p:pic>
                <p:nvPicPr>
                  <p:cNvPr id="3407" name="Picture 395" descr="Picture 395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176272" y="59397"/>
                    <a:ext cx="128516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408" name="Picture 396" descr="Picture 396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-1" y="52605"/>
                    <a:ext cx="128517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409" name="Picture 397" descr="Picture 397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74200" y="0"/>
                    <a:ext cx="166308" cy="40597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</p:grpSp>
        <p:grpSp>
          <p:nvGrpSpPr>
            <p:cNvPr id="3482" name="Group 9"/>
            <p:cNvGrpSpPr/>
            <p:nvPr/>
          </p:nvGrpSpPr>
          <p:grpSpPr>
            <a:xfrm>
              <a:off x="536806" y="2785746"/>
              <a:ext cx="2319346" cy="1341732"/>
              <a:chOff x="0" y="0"/>
              <a:chExt cx="2319344" cy="1341730"/>
            </a:xfrm>
          </p:grpSpPr>
          <p:sp>
            <p:nvSpPr>
              <p:cNvPr id="3413" name="Line 428"/>
              <p:cNvSpPr/>
              <p:nvPr/>
            </p:nvSpPr>
            <p:spPr>
              <a:xfrm flipH="1" flipV="1">
                <a:off x="2031493" y="381596"/>
                <a:ext cx="7561" cy="38806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414" name="Line 435"/>
              <p:cNvSpPr/>
              <p:nvPr/>
            </p:nvSpPr>
            <p:spPr>
              <a:xfrm>
                <a:off x="261839" y="437442"/>
                <a:ext cx="226801" cy="1270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415" name="Line 440"/>
              <p:cNvSpPr/>
              <p:nvPr/>
            </p:nvSpPr>
            <p:spPr>
              <a:xfrm flipV="1">
                <a:off x="511057" y="356670"/>
                <a:ext cx="404238" cy="20777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481" name="Group 3"/>
              <p:cNvGrpSpPr/>
              <p:nvPr/>
            </p:nvGrpSpPr>
            <p:grpSpPr>
              <a:xfrm>
                <a:off x="-1" y="-1"/>
                <a:ext cx="2319346" cy="1341732"/>
                <a:chOff x="0" y="0"/>
                <a:chExt cx="2319344" cy="1341730"/>
              </a:xfrm>
            </p:grpSpPr>
            <p:sp>
              <p:nvSpPr>
                <p:cNvPr id="3416" name="Line 430"/>
                <p:cNvSpPr/>
                <p:nvPr/>
              </p:nvSpPr>
              <p:spPr>
                <a:xfrm>
                  <a:off x="2205044" y="783179"/>
                  <a:ext cx="11430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7" name="Line 431"/>
                <p:cNvSpPr/>
                <p:nvPr/>
              </p:nvSpPr>
              <p:spPr>
                <a:xfrm>
                  <a:off x="1484592" y="158625"/>
                  <a:ext cx="524484" cy="26153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8" name="Line 432"/>
                <p:cNvSpPr/>
                <p:nvPr/>
              </p:nvSpPr>
              <p:spPr>
                <a:xfrm flipV="1">
                  <a:off x="901698" y="158625"/>
                  <a:ext cx="569256" cy="24626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9" name="Line 433"/>
                <p:cNvSpPr/>
                <p:nvPr/>
              </p:nvSpPr>
              <p:spPr>
                <a:xfrm>
                  <a:off x="873376" y="430254"/>
                  <a:ext cx="1030504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20" name="Line 436"/>
                <p:cNvSpPr/>
                <p:nvPr/>
              </p:nvSpPr>
              <p:spPr>
                <a:xfrm flipV="1">
                  <a:off x="-1" y="610578"/>
                  <a:ext cx="412752" cy="12700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21" name="Line 439"/>
                <p:cNvSpPr/>
                <p:nvPr/>
              </p:nvSpPr>
              <p:spPr>
                <a:xfrm flipH="1">
                  <a:off x="425450" y="602360"/>
                  <a:ext cx="68081" cy="29396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22" name="Line 440"/>
                <p:cNvSpPr/>
                <p:nvPr/>
              </p:nvSpPr>
              <p:spPr>
                <a:xfrm flipH="1" flipV="1">
                  <a:off x="540363" y="628039"/>
                  <a:ext cx="280376" cy="2698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23" name="Line 441"/>
                <p:cNvSpPr/>
                <p:nvPr/>
              </p:nvSpPr>
              <p:spPr>
                <a:xfrm>
                  <a:off x="540363" y="578156"/>
                  <a:ext cx="914186" cy="46862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24" name="Line 428"/>
                <p:cNvSpPr/>
                <p:nvPr/>
              </p:nvSpPr>
              <p:spPr>
                <a:xfrm flipH="1" flipV="1">
                  <a:off x="2119833" y="720924"/>
                  <a:ext cx="1483" cy="36679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3425" name="Picture 781" descr="Picture 781"/>
                <p:cNvPicPr>
                  <a:picLocks noChangeAspect="1"/>
                </p:cNvPicPr>
                <p:nvPr/>
              </p:nvPicPr>
              <p:blipFill>
                <a:blip r:embed="rId21">
                  <a:extLst/>
                </a:blip>
                <a:stretch>
                  <a:fillRect/>
                </a:stretch>
              </p:blipFill>
              <p:spPr>
                <a:xfrm>
                  <a:off x="1293706" y="801046"/>
                  <a:ext cx="452015" cy="9516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426" name="Picture 780" descr="Picture 780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1342243" y="844340"/>
                  <a:ext cx="380936" cy="3174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3438" name="Group 470"/>
                <p:cNvGrpSpPr/>
                <p:nvPr/>
              </p:nvGrpSpPr>
              <p:grpSpPr>
                <a:xfrm>
                  <a:off x="1835191" y="214296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3429" name="Freeform 471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3427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28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3432" name="Oval 472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3430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31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3437" name="Group 473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3433" name="Freeform 474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34" name="Freeform 475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35" name="Freeform 476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36" name="Freeform 477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3446" name="Group 519"/>
                <p:cNvGrpSpPr/>
                <p:nvPr/>
              </p:nvGrpSpPr>
              <p:grpSpPr>
                <a:xfrm>
                  <a:off x="1900998" y="659145"/>
                  <a:ext cx="309741" cy="190839"/>
                  <a:chOff x="0" y="0"/>
                  <a:chExt cx="309739" cy="190837"/>
                </a:xfrm>
              </p:grpSpPr>
              <p:sp>
                <p:nvSpPr>
                  <p:cNvPr id="3439" name="Rectangle 520"/>
                  <p:cNvSpPr/>
                  <p:nvPr/>
                </p:nvSpPr>
                <p:spPr>
                  <a:xfrm>
                    <a:off x="0" y="113922"/>
                    <a:ext cx="308626" cy="7691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32538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40" name="Freeform 521"/>
                  <p:cNvSpPr/>
                  <p:nvPr/>
                </p:nvSpPr>
                <p:spPr>
                  <a:xfrm>
                    <a:off x="857" y="-1"/>
                    <a:ext cx="308883" cy="1167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429"/>
                        </a:moveTo>
                        <a:lnTo>
                          <a:pt x="1440" y="0"/>
                        </a:lnTo>
                        <a:lnTo>
                          <a:pt x="19500" y="343"/>
                        </a:lnTo>
                        <a:lnTo>
                          <a:pt x="21600" y="21600"/>
                        </a:lnTo>
                        <a:lnTo>
                          <a:pt x="0" y="21429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grpSp>
                <p:nvGrpSpPr>
                  <p:cNvPr id="3445" name="Group 522"/>
                  <p:cNvGrpSpPr/>
                  <p:nvPr/>
                </p:nvGrpSpPr>
                <p:grpSpPr>
                  <a:xfrm>
                    <a:off x="22308" y="13603"/>
                    <a:ext cx="261399" cy="93969"/>
                    <a:chOff x="0" y="0"/>
                    <a:chExt cx="261398" cy="93968"/>
                  </a:xfrm>
                </p:grpSpPr>
                <p:sp>
                  <p:nvSpPr>
                    <p:cNvPr id="3441" name="Freeform 523"/>
                    <p:cNvSpPr/>
                    <p:nvPr/>
                  </p:nvSpPr>
                  <p:spPr>
                    <a:xfrm>
                      <a:off x="7230" y="-1"/>
                      <a:ext cx="247278" cy="5260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42" name="Freeform 524"/>
                    <p:cNvSpPr/>
                    <p:nvPr/>
                  </p:nvSpPr>
                  <p:spPr>
                    <a:xfrm>
                      <a:off x="169074" y="44994"/>
                      <a:ext cx="92325" cy="4528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43" name="Freeform 525"/>
                    <p:cNvSpPr/>
                    <p:nvPr/>
                  </p:nvSpPr>
                  <p:spPr>
                    <a:xfrm>
                      <a:off x="-1" y="44994"/>
                      <a:ext cx="90657" cy="447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44" name="Freeform 526"/>
                    <p:cNvSpPr/>
                    <p:nvPr/>
                  </p:nvSpPr>
                  <p:spPr>
                    <a:xfrm>
                      <a:off x="31470" y="22877"/>
                      <a:ext cx="197115" cy="7109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3458" name="Group 478"/>
                <p:cNvGrpSpPr/>
                <p:nvPr/>
              </p:nvGrpSpPr>
              <p:grpSpPr>
                <a:xfrm>
                  <a:off x="728252" y="191733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3449" name="Freeform 479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3447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48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3452" name="Oval 480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3450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51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3457" name="Group 481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3453" name="Freeform 482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54" name="Freeform 483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55" name="Freeform 484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56" name="Freeform 485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3466" name="Group 528"/>
                <p:cNvGrpSpPr/>
                <p:nvPr/>
              </p:nvGrpSpPr>
              <p:grpSpPr>
                <a:xfrm>
                  <a:off x="363152" y="514541"/>
                  <a:ext cx="309741" cy="190839"/>
                  <a:chOff x="0" y="0"/>
                  <a:chExt cx="309739" cy="190837"/>
                </a:xfrm>
              </p:grpSpPr>
              <p:sp>
                <p:nvSpPr>
                  <p:cNvPr id="3459" name="Rectangle 529"/>
                  <p:cNvSpPr/>
                  <p:nvPr/>
                </p:nvSpPr>
                <p:spPr>
                  <a:xfrm>
                    <a:off x="0" y="113922"/>
                    <a:ext cx="308626" cy="7691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32538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60" name="Freeform 530"/>
                  <p:cNvSpPr/>
                  <p:nvPr/>
                </p:nvSpPr>
                <p:spPr>
                  <a:xfrm>
                    <a:off x="857" y="-1"/>
                    <a:ext cx="308883" cy="1167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429"/>
                        </a:moveTo>
                        <a:lnTo>
                          <a:pt x="1440" y="0"/>
                        </a:lnTo>
                        <a:lnTo>
                          <a:pt x="19500" y="343"/>
                        </a:lnTo>
                        <a:lnTo>
                          <a:pt x="21600" y="21600"/>
                        </a:lnTo>
                        <a:lnTo>
                          <a:pt x="0" y="21429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grpSp>
                <p:nvGrpSpPr>
                  <p:cNvPr id="3465" name="Group 531"/>
                  <p:cNvGrpSpPr/>
                  <p:nvPr/>
                </p:nvGrpSpPr>
                <p:grpSpPr>
                  <a:xfrm>
                    <a:off x="22308" y="13603"/>
                    <a:ext cx="261399" cy="93969"/>
                    <a:chOff x="0" y="0"/>
                    <a:chExt cx="261398" cy="93968"/>
                  </a:xfrm>
                </p:grpSpPr>
                <p:sp>
                  <p:nvSpPr>
                    <p:cNvPr id="3461" name="Freeform 532"/>
                    <p:cNvSpPr/>
                    <p:nvPr/>
                  </p:nvSpPr>
                  <p:spPr>
                    <a:xfrm>
                      <a:off x="7230" y="-1"/>
                      <a:ext cx="247278" cy="5260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62" name="Freeform 533"/>
                    <p:cNvSpPr/>
                    <p:nvPr/>
                  </p:nvSpPr>
                  <p:spPr>
                    <a:xfrm>
                      <a:off x="169074" y="44994"/>
                      <a:ext cx="92325" cy="4528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63" name="Freeform 534"/>
                    <p:cNvSpPr/>
                    <p:nvPr/>
                  </p:nvSpPr>
                  <p:spPr>
                    <a:xfrm>
                      <a:off x="-1" y="44994"/>
                      <a:ext cx="90657" cy="447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64" name="Freeform 535"/>
                    <p:cNvSpPr/>
                    <p:nvPr/>
                  </p:nvSpPr>
                  <p:spPr>
                    <a:xfrm>
                      <a:off x="31470" y="22877"/>
                      <a:ext cx="197115" cy="7109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3478" name="Group 462"/>
                <p:cNvGrpSpPr/>
                <p:nvPr/>
              </p:nvGrpSpPr>
              <p:grpSpPr>
                <a:xfrm>
                  <a:off x="1299526" y="-1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3469" name="Freeform 463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3467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68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3472" name="Oval 464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3470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71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3477" name="Group 465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3473" name="Freeform 466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74" name="Freeform 467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75" name="Freeform 468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476" name="Freeform 469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3479" name="Picture 1065" descr="Picture 1065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253314" y="1172917"/>
                  <a:ext cx="307703" cy="16881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480" name="Picture 1065" descr="Picture 1065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586379" y="1115246"/>
                  <a:ext cx="316708" cy="13896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3501" name="Group 16"/>
            <p:cNvGrpSpPr/>
            <p:nvPr/>
          </p:nvGrpSpPr>
          <p:grpSpPr>
            <a:xfrm>
              <a:off x="3486908" y="2329186"/>
              <a:ext cx="657414" cy="451817"/>
              <a:chOff x="0" y="0"/>
              <a:chExt cx="657412" cy="451816"/>
            </a:xfrm>
          </p:grpSpPr>
          <p:grpSp>
            <p:nvGrpSpPr>
              <p:cNvPr id="3488" name="Group 374"/>
              <p:cNvGrpSpPr/>
              <p:nvPr/>
            </p:nvGrpSpPr>
            <p:grpSpPr>
              <a:xfrm>
                <a:off x="167574" y="0"/>
                <a:ext cx="489840" cy="451817"/>
                <a:chOff x="0" y="0"/>
                <a:chExt cx="489839" cy="451816"/>
              </a:xfrm>
            </p:grpSpPr>
            <p:sp>
              <p:nvSpPr>
                <p:cNvPr id="3483" name="Straight Connector 375"/>
                <p:cNvSpPr/>
                <p:nvPr/>
              </p:nvSpPr>
              <p:spPr>
                <a:xfrm>
                  <a:off x="-1" y="240564"/>
                  <a:ext cx="186245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487" name="Group 377"/>
                <p:cNvGrpSpPr/>
                <p:nvPr/>
              </p:nvGrpSpPr>
              <p:grpSpPr>
                <a:xfrm>
                  <a:off x="137494" y="0"/>
                  <a:ext cx="352346" cy="451817"/>
                  <a:chOff x="0" y="0"/>
                  <a:chExt cx="352344" cy="451816"/>
                </a:xfrm>
              </p:grpSpPr>
              <p:pic>
                <p:nvPicPr>
                  <p:cNvPr id="3484" name="Picture 378" descr="Picture 378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203776" y="66104"/>
                    <a:ext cx="148569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485" name="Picture 379" descr="Picture 379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0" y="58546"/>
                    <a:ext cx="148568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486" name="Picture 380" descr="Picture 380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85777" y="0"/>
                    <a:ext cx="192259" cy="451817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  <p:grpSp>
            <p:nvGrpSpPr>
              <p:cNvPr id="3500" name="Group 446"/>
              <p:cNvGrpSpPr/>
              <p:nvPr/>
            </p:nvGrpSpPr>
            <p:grpSpPr>
              <a:xfrm>
                <a:off x="0" y="94708"/>
                <a:ext cx="228296" cy="333088"/>
                <a:chOff x="0" y="0"/>
                <a:chExt cx="228295" cy="333087"/>
              </a:xfrm>
            </p:grpSpPr>
            <p:grpSp>
              <p:nvGrpSpPr>
                <p:cNvPr id="3491" name="Freeform 447"/>
                <p:cNvGrpSpPr/>
                <p:nvPr/>
              </p:nvGrpSpPr>
              <p:grpSpPr>
                <a:xfrm>
                  <a:off x="0" y="-1"/>
                  <a:ext cx="228296" cy="333089"/>
                  <a:chOff x="0" y="0"/>
                  <a:chExt cx="228295" cy="333087"/>
                </a:xfrm>
              </p:grpSpPr>
              <p:sp>
                <p:nvSpPr>
                  <p:cNvPr id="3489" name="Shape"/>
                  <p:cNvSpPr/>
                  <p:nvPr/>
                </p:nvSpPr>
                <p:spPr>
                  <a:xfrm>
                    <a:off x="0" y="127181"/>
                    <a:ext cx="228296" cy="787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90" name="Text"/>
                  <p:cNvSpPr txBox="1"/>
                  <p:nvPr/>
                </p:nvSpPr>
                <p:spPr>
                  <a:xfrm>
                    <a:off x="47307" y="0"/>
                    <a:ext cx="133681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3494" name="Oval 448"/>
                <p:cNvGrpSpPr/>
                <p:nvPr/>
              </p:nvGrpSpPr>
              <p:grpSpPr>
                <a:xfrm>
                  <a:off x="131" y="60976"/>
                  <a:ext cx="228019" cy="127001"/>
                  <a:chOff x="0" y="0"/>
                  <a:chExt cx="228018" cy="127000"/>
                </a:xfrm>
              </p:grpSpPr>
              <p:sp>
                <p:nvSpPr>
                  <p:cNvPr id="3492" name="Oval"/>
                  <p:cNvSpPr/>
                  <p:nvPr/>
                </p:nvSpPr>
                <p:spPr>
                  <a:xfrm>
                    <a:off x="0" y="24529"/>
                    <a:ext cx="228019" cy="77943"/>
                  </a:xfrm>
                  <a:prstGeom prst="ellipse">
                    <a:avLst/>
                  </a:prstGeom>
                  <a:solidFill>
                    <a:srgbClr val="B8C2C9"/>
                  </a:soli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93" name="Text"/>
                  <p:cNvSpPr txBox="1"/>
                  <p:nvPr/>
                </p:nvSpPr>
                <p:spPr>
                  <a:xfrm>
                    <a:off x="80699" y="0"/>
                    <a:ext cx="66620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3499" name="Group 449"/>
                <p:cNvGrpSpPr/>
                <p:nvPr/>
              </p:nvGrpSpPr>
              <p:grpSpPr>
                <a:xfrm>
                  <a:off x="33858" y="95412"/>
                  <a:ext cx="160537" cy="57271"/>
                  <a:chOff x="0" y="0"/>
                  <a:chExt cx="160536" cy="57270"/>
                </a:xfrm>
              </p:grpSpPr>
              <p:sp>
                <p:nvSpPr>
                  <p:cNvPr id="3495" name="Freeform 450"/>
                  <p:cNvSpPr/>
                  <p:nvPr/>
                </p:nvSpPr>
                <p:spPr>
                  <a:xfrm>
                    <a:off x="4440" y="-1"/>
                    <a:ext cx="151865" cy="320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96" name="Freeform 451"/>
                  <p:cNvSpPr/>
                  <p:nvPr/>
                </p:nvSpPr>
                <p:spPr>
                  <a:xfrm>
                    <a:off x="103836" y="27422"/>
                    <a:ext cx="56701" cy="276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97" name="Freeform 452"/>
                  <p:cNvSpPr/>
                  <p:nvPr/>
                </p:nvSpPr>
                <p:spPr>
                  <a:xfrm>
                    <a:off x="-1" y="27422"/>
                    <a:ext cx="55677" cy="272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498" name="Freeform 453"/>
                  <p:cNvSpPr/>
                  <p:nvPr/>
                </p:nvSpPr>
                <p:spPr>
                  <a:xfrm>
                    <a:off x="19327" y="13943"/>
                    <a:ext cx="121057" cy="433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</p:grpSp>
      </p:grpSp>
      <p:grpSp>
        <p:nvGrpSpPr>
          <p:cNvPr id="3505" name="Group 6"/>
          <p:cNvGrpSpPr/>
          <p:nvPr/>
        </p:nvGrpSpPr>
        <p:grpSpPr>
          <a:xfrm>
            <a:off x="8694911" y="1702617"/>
            <a:ext cx="2658890" cy="2831441"/>
            <a:chOff x="0" y="0"/>
            <a:chExt cx="2658889" cy="2831440"/>
          </a:xfrm>
        </p:grpSpPr>
        <p:sp>
          <p:nvSpPr>
            <p:cNvPr id="3503" name="Oval 639"/>
            <p:cNvSpPr/>
            <p:nvPr/>
          </p:nvSpPr>
          <p:spPr>
            <a:xfrm>
              <a:off x="605681" y="-1"/>
              <a:ext cx="2053209" cy="1399515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04" name="Oval 610"/>
            <p:cNvSpPr/>
            <p:nvPr/>
          </p:nvSpPr>
          <p:spPr>
            <a:xfrm>
              <a:off x="-1" y="1323556"/>
              <a:ext cx="2173776" cy="1507885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3506" name="Rectangle 495"/>
          <p:cNvSpPr/>
          <p:nvPr/>
        </p:nvSpPr>
        <p:spPr>
          <a:xfrm>
            <a:off x="807652" y="1884277"/>
            <a:ext cx="5787853" cy="2921878"/>
          </a:xfrm>
          <a:prstGeom prst="rect">
            <a:avLst/>
          </a:prstGeom>
          <a:solidFill>
            <a:srgbClr val="FFFFFF">
              <a:alpha val="73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7" name="Freeform 4"/>
          <p:cNvSpPr/>
          <p:nvPr/>
        </p:nvSpPr>
        <p:spPr>
          <a:xfrm>
            <a:off x="7157545" y="1523999"/>
            <a:ext cx="4550980" cy="4897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0" y="788"/>
                </a:moveTo>
                <a:cubicBezTo>
                  <a:pt x="4889" y="185"/>
                  <a:pt x="6901" y="239"/>
                  <a:pt x="10775" y="0"/>
                </a:cubicBezTo>
                <a:cubicBezTo>
                  <a:pt x="10875" y="2101"/>
                  <a:pt x="9029" y="4249"/>
                  <a:pt x="11074" y="6304"/>
                </a:cubicBezTo>
                <a:lnTo>
                  <a:pt x="7533" y="8297"/>
                </a:lnTo>
                <a:lnTo>
                  <a:pt x="6884" y="10707"/>
                </a:lnTo>
                <a:cubicBezTo>
                  <a:pt x="7982" y="13226"/>
                  <a:pt x="10975" y="13844"/>
                  <a:pt x="14367" y="13442"/>
                </a:cubicBezTo>
                <a:lnTo>
                  <a:pt x="16612" y="12469"/>
                </a:lnTo>
                <a:lnTo>
                  <a:pt x="17559" y="11264"/>
                </a:lnTo>
                <a:lnTo>
                  <a:pt x="17659" y="9780"/>
                </a:lnTo>
                <a:lnTo>
                  <a:pt x="17460" y="8900"/>
                </a:lnTo>
                <a:lnTo>
                  <a:pt x="17011" y="8112"/>
                </a:lnTo>
                <a:lnTo>
                  <a:pt x="15863" y="7416"/>
                </a:lnTo>
                <a:lnTo>
                  <a:pt x="20852" y="6814"/>
                </a:lnTo>
                <a:lnTo>
                  <a:pt x="21600" y="12700"/>
                </a:lnTo>
                <a:lnTo>
                  <a:pt x="20902" y="19931"/>
                </a:lnTo>
                <a:lnTo>
                  <a:pt x="16113" y="21600"/>
                </a:lnTo>
                <a:lnTo>
                  <a:pt x="0" y="21415"/>
                </a:lnTo>
                <a:cubicBezTo>
                  <a:pt x="33" y="14539"/>
                  <a:pt x="67" y="7664"/>
                  <a:pt x="100" y="788"/>
                </a:cubicBezTo>
                <a:close/>
              </a:path>
            </a:pathLst>
          </a:custGeom>
          <a:solidFill>
            <a:srgbClr val="FFFFFF">
              <a:alpha val="71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Rectangle 419"/>
          <p:cNvSpPr/>
          <p:nvPr/>
        </p:nvSpPr>
        <p:spPr>
          <a:xfrm>
            <a:off x="7439073" y="3553078"/>
            <a:ext cx="986999" cy="669623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511" name="Title 1"/>
          <p:cNvSpPr txBox="1"/>
          <p:nvPr>
            <p:ph type="title"/>
          </p:nvPr>
        </p:nvSpPr>
        <p:spPr>
          <a:xfrm>
            <a:off x="848710" y="273145"/>
            <a:ext cx="10515601" cy="894624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Access networks and physical media</a:t>
            </a:r>
          </a:p>
        </p:txBody>
      </p:sp>
      <p:sp>
        <p:nvSpPr>
          <p:cNvPr id="3512" name="Freeform 370"/>
          <p:cNvSpPr/>
          <p:nvPr/>
        </p:nvSpPr>
        <p:spPr>
          <a:xfrm>
            <a:off x="8985187" y="3065777"/>
            <a:ext cx="1124809" cy="1337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49" h="20510" fill="norm" stroke="1" extrusionOk="0">
                <a:moveTo>
                  <a:pt x="4338" y="7022"/>
                </a:moveTo>
                <a:cubicBezTo>
                  <a:pt x="2763" y="8848"/>
                  <a:pt x="1382" y="9254"/>
                  <a:pt x="902" y="11320"/>
                </a:cubicBezTo>
                <a:cubicBezTo>
                  <a:pt x="422" y="13386"/>
                  <a:pt x="-1132" y="17789"/>
                  <a:pt x="1456" y="19418"/>
                </a:cubicBezTo>
                <a:cubicBezTo>
                  <a:pt x="4045" y="21047"/>
                  <a:pt x="14587" y="20622"/>
                  <a:pt x="17527" y="19646"/>
                </a:cubicBezTo>
                <a:cubicBezTo>
                  <a:pt x="20468" y="18669"/>
                  <a:pt x="19432" y="15068"/>
                  <a:pt x="19100" y="13560"/>
                </a:cubicBezTo>
                <a:cubicBezTo>
                  <a:pt x="18768" y="12052"/>
                  <a:pt x="15646" y="13090"/>
                  <a:pt x="15536" y="10596"/>
                </a:cubicBezTo>
                <a:cubicBezTo>
                  <a:pt x="15746" y="7905"/>
                  <a:pt x="18905" y="7477"/>
                  <a:pt x="19045" y="5962"/>
                </a:cubicBezTo>
                <a:cubicBezTo>
                  <a:pt x="19184" y="4446"/>
                  <a:pt x="18059" y="3477"/>
                  <a:pt x="16373" y="1502"/>
                </a:cubicBezTo>
                <a:cubicBezTo>
                  <a:pt x="15001" y="420"/>
                  <a:pt x="12357" y="-553"/>
                  <a:pt x="10351" y="367"/>
                </a:cubicBezTo>
                <a:cubicBezTo>
                  <a:pt x="8345" y="1287"/>
                  <a:pt x="5912" y="5197"/>
                  <a:pt x="4338" y="7022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3" name="Freeform 417"/>
          <p:cNvSpPr/>
          <p:nvPr/>
        </p:nvSpPr>
        <p:spPr>
          <a:xfrm>
            <a:off x="7282395" y="1831266"/>
            <a:ext cx="1715493" cy="130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6" h="21326" fill="norm" stroke="1" extrusionOk="0">
                <a:moveTo>
                  <a:pt x="13407" y="266"/>
                </a:moveTo>
                <a:cubicBezTo>
                  <a:pt x="12073" y="522"/>
                  <a:pt x="9571" y="970"/>
                  <a:pt x="8028" y="1610"/>
                </a:cubicBezTo>
                <a:cubicBezTo>
                  <a:pt x="6485" y="2250"/>
                  <a:pt x="5026" y="3114"/>
                  <a:pt x="4192" y="4042"/>
                </a:cubicBezTo>
                <a:cubicBezTo>
                  <a:pt x="3358" y="4970"/>
                  <a:pt x="3712" y="6346"/>
                  <a:pt x="3066" y="7242"/>
                </a:cubicBezTo>
                <a:cubicBezTo>
                  <a:pt x="2420" y="8138"/>
                  <a:pt x="814" y="8202"/>
                  <a:pt x="356" y="9418"/>
                </a:cubicBezTo>
                <a:cubicBezTo>
                  <a:pt x="-103" y="10634"/>
                  <a:pt x="-103" y="13578"/>
                  <a:pt x="272" y="14602"/>
                </a:cubicBezTo>
                <a:cubicBezTo>
                  <a:pt x="648" y="15626"/>
                  <a:pt x="1127" y="15402"/>
                  <a:pt x="2649" y="15562"/>
                </a:cubicBezTo>
                <a:cubicBezTo>
                  <a:pt x="4171" y="15722"/>
                  <a:pt x="7820" y="15210"/>
                  <a:pt x="9446" y="15562"/>
                </a:cubicBezTo>
                <a:cubicBezTo>
                  <a:pt x="11072" y="15914"/>
                  <a:pt x="11343" y="16778"/>
                  <a:pt x="12365" y="17674"/>
                </a:cubicBezTo>
                <a:cubicBezTo>
                  <a:pt x="13387" y="18570"/>
                  <a:pt x="14638" y="20362"/>
                  <a:pt x="15576" y="20938"/>
                </a:cubicBezTo>
                <a:cubicBezTo>
                  <a:pt x="16514" y="21514"/>
                  <a:pt x="17348" y="21354"/>
                  <a:pt x="18036" y="21066"/>
                </a:cubicBezTo>
                <a:cubicBezTo>
                  <a:pt x="18724" y="20778"/>
                  <a:pt x="19329" y="20362"/>
                  <a:pt x="19746" y="19210"/>
                </a:cubicBezTo>
                <a:cubicBezTo>
                  <a:pt x="20163" y="18058"/>
                  <a:pt x="20350" y="15818"/>
                  <a:pt x="20580" y="14154"/>
                </a:cubicBezTo>
                <a:cubicBezTo>
                  <a:pt x="20809" y="12490"/>
                  <a:pt x="21017" y="11018"/>
                  <a:pt x="21122" y="9226"/>
                </a:cubicBezTo>
                <a:cubicBezTo>
                  <a:pt x="21226" y="7434"/>
                  <a:pt x="21497" y="4810"/>
                  <a:pt x="21205" y="3338"/>
                </a:cubicBezTo>
                <a:cubicBezTo>
                  <a:pt x="20913" y="1866"/>
                  <a:pt x="20225" y="1002"/>
                  <a:pt x="19370" y="458"/>
                </a:cubicBezTo>
                <a:cubicBezTo>
                  <a:pt x="18516" y="-86"/>
                  <a:pt x="17077" y="42"/>
                  <a:pt x="16076" y="10"/>
                </a:cubicBezTo>
                <a:cubicBezTo>
                  <a:pt x="15075" y="-22"/>
                  <a:pt x="14742" y="10"/>
                  <a:pt x="13407" y="266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4" name="AutoShape 420"/>
          <p:cNvSpPr/>
          <p:nvPr/>
        </p:nvSpPr>
        <p:spPr>
          <a:xfrm>
            <a:off x="7205350" y="3289251"/>
            <a:ext cx="1458912" cy="317851"/>
          </a:xfrm>
          <a:prstGeom prst="triangle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515" name="Freeform 427"/>
          <p:cNvSpPr/>
          <p:nvPr/>
        </p:nvSpPr>
        <p:spPr>
          <a:xfrm>
            <a:off x="7728466" y="4694461"/>
            <a:ext cx="3042747" cy="163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257" fill="norm" stroke="1" extrusionOk="0">
                <a:moveTo>
                  <a:pt x="10487" y="388"/>
                </a:moveTo>
                <a:cubicBezTo>
                  <a:pt x="9540" y="780"/>
                  <a:pt x="9151" y="2283"/>
                  <a:pt x="8293" y="2427"/>
                </a:cubicBezTo>
                <a:cubicBezTo>
                  <a:pt x="7436" y="2571"/>
                  <a:pt x="6423" y="1336"/>
                  <a:pt x="5320" y="1253"/>
                </a:cubicBezTo>
                <a:cubicBezTo>
                  <a:pt x="4218" y="1171"/>
                  <a:pt x="2526" y="841"/>
                  <a:pt x="1646" y="1933"/>
                </a:cubicBezTo>
                <a:cubicBezTo>
                  <a:pt x="767" y="3024"/>
                  <a:pt x="199" y="5989"/>
                  <a:pt x="43" y="7863"/>
                </a:cubicBezTo>
                <a:cubicBezTo>
                  <a:pt x="-113" y="9737"/>
                  <a:pt x="165" y="12105"/>
                  <a:pt x="678" y="13196"/>
                </a:cubicBezTo>
                <a:cubicBezTo>
                  <a:pt x="1190" y="14287"/>
                  <a:pt x="2169" y="13546"/>
                  <a:pt x="3094" y="14390"/>
                </a:cubicBezTo>
                <a:cubicBezTo>
                  <a:pt x="4018" y="15235"/>
                  <a:pt x="4897" y="17191"/>
                  <a:pt x="6211" y="18241"/>
                </a:cubicBezTo>
                <a:cubicBezTo>
                  <a:pt x="7525" y="19291"/>
                  <a:pt x="9373" y="20259"/>
                  <a:pt x="10976" y="20732"/>
                </a:cubicBezTo>
                <a:cubicBezTo>
                  <a:pt x="12580" y="21185"/>
                  <a:pt x="14461" y="21453"/>
                  <a:pt x="15842" y="21082"/>
                </a:cubicBezTo>
                <a:cubicBezTo>
                  <a:pt x="17223" y="20691"/>
                  <a:pt x="18336" y="19620"/>
                  <a:pt x="19249" y="18529"/>
                </a:cubicBezTo>
                <a:cubicBezTo>
                  <a:pt x="20162" y="17458"/>
                  <a:pt x="21108" y="16820"/>
                  <a:pt x="21298" y="14555"/>
                </a:cubicBezTo>
                <a:cubicBezTo>
                  <a:pt x="21487" y="12290"/>
                  <a:pt x="21019" y="7060"/>
                  <a:pt x="20362" y="5021"/>
                </a:cubicBezTo>
                <a:cubicBezTo>
                  <a:pt x="19706" y="2962"/>
                  <a:pt x="18392" y="3003"/>
                  <a:pt x="17323" y="2200"/>
                </a:cubicBezTo>
                <a:cubicBezTo>
                  <a:pt x="16254" y="1418"/>
                  <a:pt x="15085" y="471"/>
                  <a:pt x="13949" y="162"/>
                </a:cubicBezTo>
                <a:cubicBezTo>
                  <a:pt x="12814" y="-147"/>
                  <a:pt x="11433" y="18"/>
                  <a:pt x="10487" y="388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6" name="Text Box 580"/>
          <p:cNvSpPr txBox="1"/>
          <p:nvPr/>
        </p:nvSpPr>
        <p:spPr>
          <a:xfrm>
            <a:off x="7724993" y="1488460"/>
            <a:ext cx="12461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mobile network</a:t>
            </a:r>
          </a:p>
        </p:txBody>
      </p:sp>
      <p:sp>
        <p:nvSpPr>
          <p:cNvPr id="3517" name="Text Box 580"/>
          <p:cNvSpPr txBox="1"/>
          <p:nvPr/>
        </p:nvSpPr>
        <p:spPr>
          <a:xfrm>
            <a:off x="7376554" y="4191922"/>
            <a:ext cx="186420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0000"/>
              </a:lnSpc>
              <a:defRPr sz="1400"/>
            </a:lvl1pPr>
          </a:lstStyle>
          <a:p>
            <a:pPr/>
            <a:r>
              <a:t>home network</a:t>
            </a:r>
          </a:p>
        </p:txBody>
      </p:sp>
      <p:sp>
        <p:nvSpPr>
          <p:cNvPr id="3518" name="Text Box 580"/>
          <p:cNvSpPr txBox="1"/>
          <p:nvPr/>
        </p:nvSpPr>
        <p:spPr>
          <a:xfrm>
            <a:off x="7352628" y="5779775"/>
            <a:ext cx="1108607" cy="47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80000"/>
              </a:lnSpc>
              <a:defRPr sz="1400"/>
            </a:pPr>
            <a:r>
              <a:t>enterprise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lnSpc>
                <a:spcPct val="80000"/>
              </a:lnSpc>
              <a:defRPr sz="1400"/>
            </a:pPr>
            <a:r>
              <a:t>          network</a:t>
            </a:r>
          </a:p>
        </p:txBody>
      </p:sp>
      <p:sp>
        <p:nvSpPr>
          <p:cNvPr id="3519" name="Freeform 371"/>
          <p:cNvSpPr/>
          <p:nvPr/>
        </p:nvSpPr>
        <p:spPr>
          <a:xfrm>
            <a:off x="10222145" y="3179539"/>
            <a:ext cx="1273169" cy="1935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7" h="20945" fill="norm" stroke="1" extrusionOk="0">
                <a:moveTo>
                  <a:pt x="518" y="4719"/>
                </a:moveTo>
                <a:cubicBezTo>
                  <a:pt x="-13" y="6632"/>
                  <a:pt x="-204" y="10040"/>
                  <a:pt x="271" y="12041"/>
                </a:cubicBezTo>
                <a:cubicBezTo>
                  <a:pt x="746" y="14041"/>
                  <a:pt x="685" y="15290"/>
                  <a:pt x="3366" y="16725"/>
                </a:cubicBezTo>
                <a:cubicBezTo>
                  <a:pt x="6048" y="18159"/>
                  <a:pt x="13461" y="20187"/>
                  <a:pt x="16360" y="20649"/>
                </a:cubicBezTo>
                <a:cubicBezTo>
                  <a:pt x="19260" y="21111"/>
                  <a:pt x="20132" y="21234"/>
                  <a:pt x="20764" y="19498"/>
                </a:cubicBezTo>
                <a:cubicBezTo>
                  <a:pt x="21396" y="17761"/>
                  <a:pt x="20190" y="13347"/>
                  <a:pt x="20153" y="10230"/>
                </a:cubicBezTo>
                <a:cubicBezTo>
                  <a:pt x="20116" y="7114"/>
                  <a:pt x="21104" y="1964"/>
                  <a:pt x="20540" y="799"/>
                </a:cubicBezTo>
                <a:cubicBezTo>
                  <a:pt x="19976" y="-366"/>
                  <a:pt x="6793" y="-88"/>
                  <a:pt x="3456" y="566"/>
                </a:cubicBezTo>
                <a:cubicBezTo>
                  <a:pt x="119" y="1219"/>
                  <a:pt x="1048" y="2807"/>
                  <a:pt x="518" y="471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528" name="Group 373"/>
          <p:cNvGrpSpPr/>
          <p:nvPr/>
        </p:nvGrpSpPr>
        <p:grpSpPr>
          <a:xfrm>
            <a:off x="10837699" y="3928050"/>
            <a:ext cx="687394" cy="721549"/>
            <a:chOff x="0" y="0"/>
            <a:chExt cx="687392" cy="721548"/>
          </a:xfrm>
        </p:grpSpPr>
        <p:sp>
          <p:nvSpPr>
            <p:cNvPr id="3520" name="Freeform 381"/>
            <p:cNvSpPr/>
            <p:nvPr/>
          </p:nvSpPr>
          <p:spPr>
            <a:xfrm>
              <a:off x="267227" y="-1"/>
              <a:ext cx="420166" cy="72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21" name="Freeform 382"/>
            <p:cNvSpPr/>
            <p:nvPr/>
          </p:nvSpPr>
          <p:spPr>
            <a:xfrm>
              <a:off x="0" y="185234"/>
              <a:ext cx="521585" cy="5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22" name="Straight Connector 383"/>
            <p:cNvSpPr/>
            <p:nvPr/>
          </p:nvSpPr>
          <p:spPr>
            <a:xfrm flipV="1">
              <a:off x="54006" y="303213"/>
              <a:ext cx="236450" cy="8002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23" name="Straight Connector 384"/>
            <p:cNvSpPr/>
            <p:nvPr/>
          </p:nvSpPr>
          <p:spPr>
            <a:xfrm flipV="1">
              <a:off x="57914" y="556094"/>
              <a:ext cx="232542" cy="18248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24" name="Straight Connector 385"/>
            <p:cNvSpPr/>
            <p:nvPr/>
          </p:nvSpPr>
          <p:spPr>
            <a:xfrm flipV="1">
              <a:off x="57914" y="436343"/>
              <a:ext cx="232542" cy="52723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25" name="Straight Connector 386"/>
            <p:cNvSpPr/>
            <p:nvPr/>
          </p:nvSpPr>
          <p:spPr>
            <a:xfrm>
              <a:off x="53660" y="656716"/>
              <a:ext cx="236796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26" name="Straight Connector 387"/>
            <p:cNvSpPr/>
            <p:nvPr/>
          </p:nvSpPr>
          <p:spPr>
            <a:xfrm flipV="1">
              <a:off x="598356" y="126039"/>
              <a:ext cx="1" cy="506809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27" name="Straight Connector 388"/>
            <p:cNvSpPr/>
            <p:nvPr/>
          </p:nvSpPr>
          <p:spPr>
            <a:xfrm flipH="1">
              <a:off x="340761" y="202125"/>
              <a:ext cx="1" cy="519424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537" name="Group 390"/>
          <p:cNvGrpSpPr/>
          <p:nvPr/>
        </p:nvGrpSpPr>
        <p:grpSpPr>
          <a:xfrm>
            <a:off x="10771171" y="3194170"/>
            <a:ext cx="594614" cy="648337"/>
            <a:chOff x="0" y="0"/>
            <a:chExt cx="594613" cy="648335"/>
          </a:xfrm>
        </p:grpSpPr>
        <p:sp>
          <p:nvSpPr>
            <p:cNvPr id="3529" name="Freeform 398"/>
            <p:cNvSpPr/>
            <p:nvPr/>
          </p:nvSpPr>
          <p:spPr>
            <a:xfrm>
              <a:off x="231158" y="0"/>
              <a:ext cx="363455" cy="64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30" name="Freeform 399"/>
            <p:cNvSpPr/>
            <p:nvPr/>
          </p:nvSpPr>
          <p:spPr>
            <a:xfrm>
              <a:off x="-1" y="166439"/>
              <a:ext cx="451186" cy="48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31" name="Straight Connector 400"/>
            <p:cNvSpPr/>
            <p:nvPr/>
          </p:nvSpPr>
          <p:spPr>
            <a:xfrm flipV="1">
              <a:off x="46717" y="272447"/>
              <a:ext cx="204536" cy="7190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32" name="Straight Connector 401"/>
            <p:cNvSpPr/>
            <p:nvPr/>
          </p:nvSpPr>
          <p:spPr>
            <a:xfrm flipV="1">
              <a:off x="50097" y="499671"/>
              <a:ext cx="201155" cy="16396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33" name="Straight Connector 402"/>
            <p:cNvSpPr/>
            <p:nvPr/>
          </p:nvSpPr>
          <p:spPr>
            <a:xfrm flipV="1">
              <a:off x="50097" y="392068"/>
              <a:ext cx="201155" cy="47374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34" name="Straight Connector 403"/>
            <p:cNvSpPr/>
            <p:nvPr/>
          </p:nvSpPr>
          <p:spPr>
            <a:xfrm>
              <a:off x="46418" y="590082"/>
              <a:ext cx="204835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35" name="Straight Connector 404"/>
            <p:cNvSpPr/>
            <p:nvPr/>
          </p:nvSpPr>
          <p:spPr>
            <a:xfrm flipV="1">
              <a:off x="517593" y="113251"/>
              <a:ext cx="1" cy="455385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36" name="Straight Connector 405"/>
            <p:cNvSpPr/>
            <p:nvPr/>
          </p:nvSpPr>
          <p:spPr>
            <a:xfrm flipH="1">
              <a:off x="294767" y="181616"/>
              <a:ext cx="1" cy="466720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538" name="Freeform 561"/>
          <p:cNvSpPr/>
          <p:nvPr/>
        </p:nvSpPr>
        <p:spPr>
          <a:xfrm>
            <a:off x="9540812" y="1782042"/>
            <a:ext cx="1497866" cy="1386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83" h="20611" fill="norm" stroke="1" extrusionOk="0">
                <a:moveTo>
                  <a:pt x="1755" y="1299"/>
                </a:moveTo>
                <a:cubicBezTo>
                  <a:pt x="-1661" y="2817"/>
                  <a:pt x="832" y="7519"/>
                  <a:pt x="1567" y="10647"/>
                </a:cubicBezTo>
                <a:cubicBezTo>
                  <a:pt x="2301" y="13775"/>
                  <a:pt x="4122" y="18876"/>
                  <a:pt x="6162" y="20070"/>
                </a:cubicBezTo>
                <a:cubicBezTo>
                  <a:pt x="8201" y="21264"/>
                  <a:pt x="12080" y="20470"/>
                  <a:pt x="13806" y="17812"/>
                </a:cubicBezTo>
                <a:cubicBezTo>
                  <a:pt x="15532" y="15155"/>
                  <a:pt x="18183" y="18900"/>
                  <a:pt x="19061" y="17194"/>
                </a:cubicBezTo>
                <a:cubicBezTo>
                  <a:pt x="19939" y="15489"/>
                  <a:pt x="19192" y="10293"/>
                  <a:pt x="19074" y="7579"/>
                </a:cubicBezTo>
                <a:cubicBezTo>
                  <a:pt x="18955" y="4865"/>
                  <a:pt x="18817" y="2156"/>
                  <a:pt x="18352" y="910"/>
                </a:cubicBezTo>
                <a:cubicBezTo>
                  <a:pt x="17887" y="-336"/>
                  <a:pt x="14336" y="38"/>
                  <a:pt x="11570" y="103"/>
                </a:cubicBezTo>
                <a:cubicBezTo>
                  <a:pt x="8804" y="167"/>
                  <a:pt x="5171" y="-218"/>
                  <a:pt x="1755" y="129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9" name="TextBox 572"/>
          <p:cNvSpPr txBox="1"/>
          <p:nvPr/>
        </p:nvSpPr>
        <p:spPr>
          <a:xfrm>
            <a:off x="9472921" y="1851194"/>
            <a:ext cx="16269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national or global ISP</a:t>
            </a:r>
          </a:p>
        </p:txBody>
      </p:sp>
      <p:sp>
        <p:nvSpPr>
          <p:cNvPr id="3540" name="Rectangle 654"/>
          <p:cNvSpPr/>
          <p:nvPr/>
        </p:nvSpPr>
        <p:spPr>
          <a:xfrm>
            <a:off x="9279067" y="3677908"/>
            <a:ext cx="305750" cy="197848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1" name="TextBox 652"/>
          <p:cNvSpPr txBox="1"/>
          <p:nvPr/>
        </p:nvSpPr>
        <p:spPr>
          <a:xfrm>
            <a:off x="8811881" y="3447918"/>
            <a:ext cx="949200" cy="490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local or regional ISP</a:t>
            </a:r>
          </a:p>
        </p:txBody>
      </p:sp>
      <p:sp>
        <p:nvSpPr>
          <p:cNvPr id="3542" name="TextBox 656"/>
          <p:cNvSpPr txBox="1"/>
          <p:nvPr/>
        </p:nvSpPr>
        <p:spPr>
          <a:xfrm>
            <a:off x="10963486" y="4677936"/>
            <a:ext cx="692137" cy="37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000"/>
            </a:pPr>
            <a:r>
              <a:t>datacenter </a:t>
            </a:r>
          </a:p>
          <a:p>
            <a:pPr>
              <a:lnSpc>
                <a:spcPct val="90000"/>
              </a:lnSpc>
              <a:defRPr sz="1000"/>
            </a:pPr>
            <a:r>
              <a:t>network</a:t>
            </a:r>
          </a:p>
        </p:txBody>
      </p:sp>
      <p:sp>
        <p:nvSpPr>
          <p:cNvPr id="3543" name="TextBox 657"/>
          <p:cNvSpPr txBox="1"/>
          <p:nvPr/>
        </p:nvSpPr>
        <p:spPr>
          <a:xfrm>
            <a:off x="10108738" y="4228248"/>
            <a:ext cx="754830" cy="700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400"/>
            </a:pPr>
            <a:r>
              <a:t>content </a:t>
            </a:r>
          </a:p>
          <a:p>
            <a:pPr>
              <a:lnSpc>
                <a:spcPct val="90000"/>
              </a:lnSpc>
              <a:defRPr sz="1400"/>
            </a:pPr>
            <a:r>
              <a:t>provider </a:t>
            </a:r>
          </a:p>
          <a:p>
            <a:pPr>
              <a:lnSpc>
                <a:spcPct val="90000"/>
              </a:lnSpc>
              <a:defRPr sz="1400"/>
            </a:pPr>
            <a:r>
              <a:t>network</a:t>
            </a:r>
          </a:p>
        </p:txBody>
      </p:sp>
      <p:sp>
        <p:nvSpPr>
          <p:cNvPr id="3544" name="Straight Connector 829"/>
          <p:cNvSpPr/>
          <p:nvPr/>
        </p:nvSpPr>
        <p:spPr>
          <a:xfrm flipH="1" flipV="1">
            <a:off x="10559919" y="3580124"/>
            <a:ext cx="412965" cy="63713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45" name="Straight Connector 826"/>
          <p:cNvSpPr/>
          <p:nvPr/>
        </p:nvSpPr>
        <p:spPr>
          <a:xfrm flipH="1" flipV="1">
            <a:off x="10660835" y="3640683"/>
            <a:ext cx="345867" cy="738976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46" name="Straight Connector 824"/>
          <p:cNvSpPr/>
          <p:nvPr/>
        </p:nvSpPr>
        <p:spPr>
          <a:xfrm flipV="1">
            <a:off x="10636897" y="3633420"/>
            <a:ext cx="335988" cy="39534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47" name="Straight Connector 822"/>
          <p:cNvSpPr/>
          <p:nvPr/>
        </p:nvSpPr>
        <p:spPr>
          <a:xfrm flipH="1" flipV="1">
            <a:off x="10570774" y="3594896"/>
            <a:ext cx="2" cy="485749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48" name="Straight Connector 818"/>
          <p:cNvSpPr/>
          <p:nvPr/>
        </p:nvSpPr>
        <p:spPr>
          <a:xfrm flipH="1" flipV="1">
            <a:off x="10550620" y="4071642"/>
            <a:ext cx="508544" cy="348648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49" name="Straight Connector 817"/>
          <p:cNvSpPr/>
          <p:nvPr/>
        </p:nvSpPr>
        <p:spPr>
          <a:xfrm flipH="1">
            <a:off x="9895195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0" name="Straight Connector 815"/>
          <p:cNvSpPr/>
          <p:nvPr/>
        </p:nvSpPr>
        <p:spPr>
          <a:xfrm flipH="1">
            <a:off x="9219616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1" name="Straight Connector 812"/>
          <p:cNvSpPr/>
          <p:nvPr/>
        </p:nvSpPr>
        <p:spPr>
          <a:xfrm flipH="1">
            <a:off x="9276867" y="3507671"/>
            <a:ext cx="382425" cy="51705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2" name="Straight Connector 810"/>
          <p:cNvSpPr/>
          <p:nvPr/>
        </p:nvSpPr>
        <p:spPr>
          <a:xfrm>
            <a:off x="9733068" y="3507671"/>
            <a:ext cx="1" cy="54029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3" name="Straight Connector 807"/>
          <p:cNvSpPr/>
          <p:nvPr/>
        </p:nvSpPr>
        <p:spPr>
          <a:xfrm>
            <a:off x="10137668" y="2754691"/>
            <a:ext cx="488174" cy="83933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4" name="Straight Connector 562"/>
          <p:cNvSpPr/>
          <p:nvPr/>
        </p:nvSpPr>
        <p:spPr>
          <a:xfrm flipH="1">
            <a:off x="9798718" y="2695013"/>
            <a:ext cx="380433" cy="694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5" name="Straight Connector 563"/>
          <p:cNvSpPr/>
          <p:nvPr/>
        </p:nvSpPr>
        <p:spPr>
          <a:xfrm flipH="1">
            <a:off x="10100634" y="2169431"/>
            <a:ext cx="761468" cy="577356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6" name="Straight Connector 564"/>
          <p:cNvSpPr/>
          <p:nvPr/>
        </p:nvSpPr>
        <p:spPr>
          <a:xfrm flipH="1">
            <a:off x="10100634" y="2268313"/>
            <a:ext cx="3971" cy="51846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7" name="Straight Connector 565"/>
          <p:cNvSpPr/>
          <p:nvPr/>
        </p:nvSpPr>
        <p:spPr>
          <a:xfrm flipH="1">
            <a:off x="10672134" y="2200505"/>
            <a:ext cx="149361" cy="51846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8" name="Straight Connector 566"/>
          <p:cNvSpPr/>
          <p:nvPr/>
        </p:nvSpPr>
        <p:spPr>
          <a:xfrm flipH="1">
            <a:off x="10142166" y="2718966"/>
            <a:ext cx="574284" cy="2782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59" name="Straight Connector 567"/>
          <p:cNvSpPr/>
          <p:nvPr/>
        </p:nvSpPr>
        <p:spPr>
          <a:xfrm flipH="1">
            <a:off x="10069541" y="2169431"/>
            <a:ext cx="788590" cy="9888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60" name="Straight Connector 568"/>
          <p:cNvSpPr/>
          <p:nvPr/>
        </p:nvSpPr>
        <p:spPr>
          <a:xfrm flipH="1">
            <a:off x="10862102" y="2127324"/>
            <a:ext cx="279003" cy="421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61" name="Straight Connector 569"/>
          <p:cNvSpPr/>
          <p:nvPr/>
        </p:nvSpPr>
        <p:spPr>
          <a:xfrm flipH="1" flipV="1">
            <a:off x="10681993" y="2718966"/>
            <a:ext cx="353542" cy="67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62" name="Straight Connector 573"/>
          <p:cNvSpPr/>
          <p:nvPr/>
        </p:nvSpPr>
        <p:spPr>
          <a:xfrm flipH="1">
            <a:off x="8769222" y="2268313"/>
            <a:ext cx="1300320" cy="60662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63" name="Line 541"/>
          <p:cNvSpPr/>
          <p:nvPr/>
        </p:nvSpPr>
        <p:spPr>
          <a:xfrm flipV="1">
            <a:off x="9378705" y="4113379"/>
            <a:ext cx="429325" cy="70560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4" name="Line 424"/>
          <p:cNvSpPr/>
          <p:nvPr/>
        </p:nvSpPr>
        <p:spPr>
          <a:xfrm flipV="1">
            <a:off x="8244554" y="4047456"/>
            <a:ext cx="969052" cy="31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5" name="Oval 800"/>
          <p:cNvSpPr/>
          <p:nvPr/>
        </p:nvSpPr>
        <p:spPr>
          <a:xfrm>
            <a:off x="8174541" y="2292994"/>
            <a:ext cx="52389" cy="49487"/>
          </a:xfrm>
          <a:prstGeom prst="ellipse">
            <a:avLst/>
          </a:prstGeom>
          <a:solidFill>
            <a:srgbClr val="44546A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3577" name="Group 614"/>
          <p:cNvGrpSpPr/>
          <p:nvPr/>
        </p:nvGrpSpPr>
        <p:grpSpPr>
          <a:xfrm>
            <a:off x="10410608" y="3393794"/>
            <a:ext cx="353679" cy="402388"/>
            <a:chOff x="0" y="0"/>
            <a:chExt cx="353677" cy="402387"/>
          </a:xfrm>
        </p:grpSpPr>
        <p:grpSp>
          <p:nvGrpSpPr>
            <p:cNvPr id="3568" name="Freeform 615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566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67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571" name="Oval 616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569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70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576" name="Group 617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572" name="Freeform 618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73" name="Freeform 619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74" name="Freeform 620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75" name="Freeform 621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589" name="Group 576"/>
          <p:cNvGrpSpPr/>
          <p:nvPr/>
        </p:nvGrpSpPr>
        <p:grpSpPr>
          <a:xfrm>
            <a:off x="9948723" y="2099947"/>
            <a:ext cx="353679" cy="402389"/>
            <a:chOff x="0" y="0"/>
            <a:chExt cx="353677" cy="402387"/>
          </a:xfrm>
        </p:grpSpPr>
        <p:grpSp>
          <p:nvGrpSpPr>
            <p:cNvPr id="3580" name="Freeform 577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578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79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583" name="Oval 578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581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82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588" name="Group 579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584" name="Freeform 580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85" name="Freeform 581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86" name="Freeform 582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87" name="Freeform 583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601" name="Group 592"/>
          <p:cNvGrpSpPr/>
          <p:nvPr/>
        </p:nvGrpSpPr>
        <p:grpSpPr>
          <a:xfrm>
            <a:off x="10527214" y="2511022"/>
            <a:ext cx="353679" cy="402389"/>
            <a:chOff x="0" y="0"/>
            <a:chExt cx="353677" cy="402387"/>
          </a:xfrm>
        </p:grpSpPr>
        <p:grpSp>
          <p:nvGrpSpPr>
            <p:cNvPr id="3592" name="Freeform 593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590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91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595" name="Oval 594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593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94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600" name="Group 595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596" name="Freeform 596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97" name="Freeform 597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98" name="Freeform 598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99" name="Freeform 599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613" name="Group 600"/>
          <p:cNvGrpSpPr/>
          <p:nvPr/>
        </p:nvGrpSpPr>
        <p:grpSpPr>
          <a:xfrm>
            <a:off x="10643824" y="2005618"/>
            <a:ext cx="353679" cy="402389"/>
            <a:chOff x="0" y="0"/>
            <a:chExt cx="353677" cy="402387"/>
          </a:xfrm>
        </p:grpSpPr>
        <p:grpSp>
          <p:nvGrpSpPr>
            <p:cNvPr id="3604" name="Freeform 601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602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03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607" name="Oval 602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605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06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612" name="Group 603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608" name="Freeform 604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09" name="Freeform 605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10" name="Freeform 606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11" name="Freeform 607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625" name="Group 553"/>
          <p:cNvGrpSpPr/>
          <p:nvPr/>
        </p:nvGrpSpPr>
        <p:grpSpPr>
          <a:xfrm>
            <a:off x="9098788" y="3867861"/>
            <a:ext cx="367225" cy="417049"/>
            <a:chOff x="0" y="0"/>
            <a:chExt cx="367223" cy="417048"/>
          </a:xfrm>
        </p:grpSpPr>
        <p:grpSp>
          <p:nvGrpSpPr>
            <p:cNvPr id="3616" name="Freeform 554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3614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15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619" name="Oval 555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3617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18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624" name="Group 556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3620" name="Freeform 557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21" name="Freeform 558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22" name="Freeform 559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23" name="Freeform 560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637" name="Group 584"/>
          <p:cNvGrpSpPr/>
          <p:nvPr/>
        </p:nvGrpSpPr>
        <p:grpSpPr>
          <a:xfrm>
            <a:off x="9980125" y="2559220"/>
            <a:ext cx="353679" cy="402389"/>
            <a:chOff x="0" y="0"/>
            <a:chExt cx="353677" cy="402387"/>
          </a:xfrm>
        </p:grpSpPr>
        <p:grpSp>
          <p:nvGrpSpPr>
            <p:cNvPr id="3628" name="Freeform 585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626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27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631" name="Oval 586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629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30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636" name="Group 587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632" name="Freeform 588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33" name="Freeform 589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34" name="Freeform 590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35" name="Freeform 591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649" name="Group 537"/>
          <p:cNvGrpSpPr/>
          <p:nvPr/>
        </p:nvGrpSpPr>
        <p:grpSpPr>
          <a:xfrm>
            <a:off x="9497138" y="3305269"/>
            <a:ext cx="367225" cy="417049"/>
            <a:chOff x="0" y="0"/>
            <a:chExt cx="367223" cy="417048"/>
          </a:xfrm>
        </p:grpSpPr>
        <p:grpSp>
          <p:nvGrpSpPr>
            <p:cNvPr id="3640" name="Freeform 538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3638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39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643" name="Oval 539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3641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42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648" name="Group 540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3644" name="Freeform 541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45" name="Freeform 542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46" name="Freeform 543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47" name="Freeform 544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661" name="Group 545"/>
          <p:cNvGrpSpPr/>
          <p:nvPr/>
        </p:nvGrpSpPr>
        <p:grpSpPr>
          <a:xfrm>
            <a:off x="9601554" y="3911000"/>
            <a:ext cx="367225" cy="417049"/>
            <a:chOff x="0" y="0"/>
            <a:chExt cx="367223" cy="417048"/>
          </a:xfrm>
        </p:grpSpPr>
        <p:grpSp>
          <p:nvGrpSpPr>
            <p:cNvPr id="3652" name="Freeform 546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3650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51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655" name="Oval 547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3653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54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660" name="Group 548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3656" name="Freeform 549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57" name="Freeform 550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58" name="Freeform 551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59" name="Freeform 552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3673" name="Group 622"/>
          <p:cNvGrpSpPr/>
          <p:nvPr/>
        </p:nvGrpSpPr>
        <p:grpSpPr>
          <a:xfrm>
            <a:off x="10375258" y="3889980"/>
            <a:ext cx="353679" cy="402389"/>
            <a:chOff x="0" y="0"/>
            <a:chExt cx="353677" cy="402387"/>
          </a:xfrm>
        </p:grpSpPr>
        <p:grpSp>
          <p:nvGrpSpPr>
            <p:cNvPr id="3664" name="Freeform 623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3662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63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3667" name="Oval 624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3665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66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3672" name="Group 625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3668" name="Freeform 626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69" name="Freeform 627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70" name="Freeform 628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71" name="Freeform 629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pic>
        <p:nvPicPr>
          <p:cNvPr id="3674" name="Picture 653" descr="Picture 6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09572" y="1917025"/>
            <a:ext cx="136842" cy="328464"/>
          </a:xfrm>
          <a:prstGeom prst="rect">
            <a:avLst/>
          </a:prstGeom>
          <a:ln w="12700">
            <a:miter lim="400000"/>
          </a:ln>
        </p:spPr>
      </p:pic>
      <p:pic>
        <p:nvPicPr>
          <p:cNvPr id="3675" name="Picture 1018" descr="Picture 10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 rot="109063">
            <a:off x="7464780" y="2605090"/>
            <a:ext cx="437222" cy="159512"/>
          </a:xfrm>
          <a:prstGeom prst="rect">
            <a:avLst/>
          </a:prstGeom>
          <a:ln w="12700">
            <a:miter lim="400000"/>
          </a:ln>
        </p:spPr>
      </p:pic>
      <p:sp>
        <p:nvSpPr>
          <p:cNvPr id="3676" name="Freeform 1019"/>
          <p:cNvSpPr/>
          <p:nvPr/>
        </p:nvSpPr>
        <p:spPr>
          <a:xfrm>
            <a:off x="7609678" y="2450303"/>
            <a:ext cx="351920" cy="208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677" name="Picture 1020" descr="Picture 10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27011" y="2455658"/>
            <a:ext cx="319786" cy="189430"/>
          </a:xfrm>
          <a:prstGeom prst="rect">
            <a:avLst/>
          </a:prstGeom>
          <a:ln w="12700">
            <a:miter lim="400000"/>
          </a:ln>
        </p:spPr>
      </p:pic>
      <p:sp>
        <p:nvSpPr>
          <p:cNvPr id="3678" name="Freeform 1021"/>
          <p:cNvSpPr/>
          <p:nvPr/>
        </p:nvSpPr>
        <p:spPr>
          <a:xfrm>
            <a:off x="7673751" y="2444163"/>
            <a:ext cx="298168" cy="38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79" name="Freeform 1022"/>
          <p:cNvSpPr/>
          <p:nvPr/>
        </p:nvSpPr>
        <p:spPr>
          <a:xfrm>
            <a:off x="7606562" y="2443847"/>
            <a:ext cx="82771" cy="161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0" name="Freeform 1023"/>
          <p:cNvSpPr/>
          <p:nvPr/>
        </p:nvSpPr>
        <p:spPr>
          <a:xfrm>
            <a:off x="7880578" y="2472663"/>
            <a:ext cx="89198" cy="186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1" name="Freeform 1024"/>
          <p:cNvSpPr/>
          <p:nvPr/>
        </p:nvSpPr>
        <p:spPr>
          <a:xfrm>
            <a:off x="7605587" y="2596901"/>
            <a:ext cx="305138" cy="62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2" name="Freeform 1025"/>
          <p:cNvSpPr/>
          <p:nvPr/>
        </p:nvSpPr>
        <p:spPr>
          <a:xfrm>
            <a:off x="7890512" y="2474237"/>
            <a:ext cx="83550" cy="18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3" name="Freeform 1026"/>
          <p:cNvSpPr/>
          <p:nvPr/>
        </p:nvSpPr>
        <p:spPr>
          <a:xfrm>
            <a:off x="7605976" y="2605247"/>
            <a:ext cx="290962" cy="620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690" name="Group 1027"/>
          <p:cNvGrpSpPr/>
          <p:nvPr/>
        </p:nvGrpSpPr>
        <p:grpSpPr>
          <a:xfrm>
            <a:off x="7601108" y="2671540"/>
            <a:ext cx="98741" cy="36943"/>
            <a:chOff x="0" y="0"/>
            <a:chExt cx="98739" cy="36942"/>
          </a:xfrm>
        </p:grpSpPr>
        <p:sp>
          <p:nvSpPr>
            <p:cNvPr id="3684" name="Freeform 1028"/>
            <p:cNvSpPr/>
            <p:nvPr/>
          </p:nvSpPr>
          <p:spPr>
            <a:xfrm>
              <a:off x="0" y="0"/>
              <a:ext cx="98740" cy="36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5" name="Freeform 1029"/>
            <p:cNvSpPr/>
            <p:nvPr/>
          </p:nvSpPr>
          <p:spPr>
            <a:xfrm>
              <a:off x="1838" y="788"/>
              <a:ext cx="95327" cy="35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6" name="Freeform 1030"/>
            <p:cNvSpPr/>
            <p:nvPr/>
          </p:nvSpPr>
          <p:spPr>
            <a:xfrm>
              <a:off x="8928" y="13706"/>
              <a:ext cx="3387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7" name="Freeform 1031"/>
            <p:cNvSpPr/>
            <p:nvPr/>
          </p:nvSpPr>
          <p:spPr>
            <a:xfrm>
              <a:off x="7746" y="16805"/>
              <a:ext cx="2547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8" name="Freeform 1032"/>
            <p:cNvSpPr/>
            <p:nvPr/>
          </p:nvSpPr>
          <p:spPr>
            <a:xfrm>
              <a:off x="36764" y="21030"/>
              <a:ext cx="3387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9" name="Freeform 1033"/>
            <p:cNvSpPr/>
            <p:nvPr/>
          </p:nvSpPr>
          <p:spPr>
            <a:xfrm>
              <a:off x="35583" y="24242"/>
              <a:ext cx="2547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691" name="Freeform 1034"/>
          <p:cNvSpPr/>
          <p:nvPr/>
        </p:nvSpPr>
        <p:spPr>
          <a:xfrm>
            <a:off x="7770153" y="2677050"/>
            <a:ext cx="119579" cy="809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2" name="Freeform 1035"/>
          <p:cNvSpPr/>
          <p:nvPr/>
        </p:nvSpPr>
        <p:spPr>
          <a:xfrm>
            <a:off x="7464976" y="2683506"/>
            <a:ext cx="305958" cy="73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3" name="Freeform 1036"/>
          <p:cNvSpPr/>
          <p:nvPr/>
        </p:nvSpPr>
        <p:spPr>
          <a:xfrm>
            <a:off x="7460476" y="2669964"/>
            <a:ext cx="12701" cy="14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4" name="Freeform 1037"/>
          <p:cNvSpPr/>
          <p:nvPr/>
        </p:nvSpPr>
        <p:spPr>
          <a:xfrm>
            <a:off x="7465366" y="2609026"/>
            <a:ext cx="142171" cy="61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5" name="Freeform 1038"/>
          <p:cNvSpPr/>
          <p:nvPr/>
        </p:nvSpPr>
        <p:spPr>
          <a:xfrm>
            <a:off x="7474908" y="2673114"/>
            <a:ext cx="290183" cy="71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6" name="Freeform 1039"/>
          <p:cNvSpPr/>
          <p:nvPr/>
        </p:nvSpPr>
        <p:spPr>
          <a:xfrm flipV="1">
            <a:off x="7764701" y="2668075"/>
            <a:ext cx="118411" cy="7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697" name="Picture 568" descr="Picture 56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8831667" y="2392289"/>
            <a:ext cx="92773" cy="40544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98" name="Picture 603" descr="Picture 60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99539" y="2116957"/>
            <a:ext cx="849313" cy="168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99" name="Picture 1116" descr="Picture 11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flipH="1" rot="109063">
            <a:off x="7510374" y="3605209"/>
            <a:ext cx="286700" cy="119449"/>
          </a:xfrm>
          <a:prstGeom prst="rect">
            <a:avLst/>
          </a:prstGeom>
          <a:ln w="12700">
            <a:miter lim="400000"/>
          </a:ln>
        </p:spPr>
      </p:pic>
      <p:sp>
        <p:nvSpPr>
          <p:cNvPr id="3700" name="Freeform 1117"/>
          <p:cNvSpPr/>
          <p:nvPr/>
        </p:nvSpPr>
        <p:spPr>
          <a:xfrm>
            <a:off x="7605387" y="3489299"/>
            <a:ext cx="230765" cy="155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701" name="Picture 1118" descr="Picture 111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616753" y="3493308"/>
            <a:ext cx="209693" cy="141852"/>
          </a:xfrm>
          <a:prstGeom prst="rect">
            <a:avLst/>
          </a:prstGeom>
          <a:ln w="12700">
            <a:miter lim="400000"/>
          </a:ln>
        </p:spPr>
      </p:pic>
      <p:sp>
        <p:nvSpPr>
          <p:cNvPr id="3702" name="Freeform 1119"/>
          <p:cNvSpPr/>
          <p:nvPr/>
        </p:nvSpPr>
        <p:spPr>
          <a:xfrm>
            <a:off x="7647402" y="3484700"/>
            <a:ext cx="195518" cy="29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3" name="Freeform 1120"/>
          <p:cNvSpPr/>
          <p:nvPr/>
        </p:nvSpPr>
        <p:spPr>
          <a:xfrm>
            <a:off x="7603345" y="3484464"/>
            <a:ext cx="54276" cy="1207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4" name="Freeform 1121"/>
          <p:cNvSpPr/>
          <p:nvPr/>
        </p:nvSpPr>
        <p:spPr>
          <a:xfrm>
            <a:off x="7783025" y="3506042"/>
            <a:ext cx="58490" cy="13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5" name="Freeform 1122"/>
          <p:cNvSpPr/>
          <p:nvPr/>
        </p:nvSpPr>
        <p:spPr>
          <a:xfrm>
            <a:off x="7602705" y="3599077"/>
            <a:ext cx="200088" cy="4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6" name="Freeform 1123"/>
          <p:cNvSpPr/>
          <p:nvPr/>
        </p:nvSpPr>
        <p:spPr>
          <a:xfrm>
            <a:off x="7789539" y="3507221"/>
            <a:ext cx="54787" cy="139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7" name="Freeform 1124"/>
          <p:cNvSpPr/>
          <p:nvPr/>
        </p:nvSpPr>
        <p:spPr>
          <a:xfrm>
            <a:off x="7602962" y="3605326"/>
            <a:ext cx="190793" cy="46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714" name="Group 1125"/>
          <p:cNvGrpSpPr/>
          <p:nvPr/>
        </p:nvGrpSpPr>
        <p:grpSpPr>
          <a:xfrm>
            <a:off x="7599768" y="3654969"/>
            <a:ext cx="64748" cy="29260"/>
            <a:chOff x="0" y="0"/>
            <a:chExt cx="64746" cy="29258"/>
          </a:xfrm>
        </p:grpSpPr>
        <p:sp>
          <p:nvSpPr>
            <p:cNvPr id="3708" name="Freeform 1126"/>
            <p:cNvSpPr/>
            <p:nvPr/>
          </p:nvSpPr>
          <p:spPr>
            <a:xfrm>
              <a:off x="0" y="0"/>
              <a:ext cx="64747" cy="27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09" name="Freeform 1127"/>
            <p:cNvSpPr/>
            <p:nvPr/>
          </p:nvSpPr>
          <p:spPr>
            <a:xfrm>
              <a:off x="1205" y="590"/>
              <a:ext cx="62509" cy="26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10" name="Freeform 1128"/>
            <p:cNvSpPr/>
            <p:nvPr/>
          </p:nvSpPr>
          <p:spPr>
            <a:xfrm>
              <a:off x="5854" y="8669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11" name="Freeform 1129"/>
            <p:cNvSpPr/>
            <p:nvPr/>
          </p:nvSpPr>
          <p:spPr>
            <a:xfrm>
              <a:off x="5079" y="10989"/>
              <a:ext cx="1670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12" name="Freeform 1130"/>
            <p:cNvSpPr/>
            <p:nvPr/>
          </p:nvSpPr>
          <p:spPr>
            <a:xfrm>
              <a:off x="24107" y="14154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13" name="Freeform 1131"/>
            <p:cNvSpPr/>
            <p:nvPr/>
          </p:nvSpPr>
          <p:spPr>
            <a:xfrm>
              <a:off x="23333" y="16558"/>
              <a:ext cx="1670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715" name="Freeform 1132"/>
          <p:cNvSpPr/>
          <p:nvPr/>
        </p:nvSpPr>
        <p:spPr>
          <a:xfrm>
            <a:off x="7710616" y="3659096"/>
            <a:ext cx="78412" cy="60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6" name="Freeform 1133"/>
          <p:cNvSpPr/>
          <p:nvPr/>
        </p:nvSpPr>
        <p:spPr>
          <a:xfrm>
            <a:off x="7510502" y="3663931"/>
            <a:ext cx="200626" cy="55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7" name="Freeform 1134"/>
          <p:cNvSpPr/>
          <p:nvPr/>
        </p:nvSpPr>
        <p:spPr>
          <a:xfrm>
            <a:off x="7505366" y="3653041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8" name="Freeform 1135"/>
          <p:cNvSpPr/>
          <p:nvPr/>
        </p:nvSpPr>
        <p:spPr>
          <a:xfrm>
            <a:off x="7510757" y="3608156"/>
            <a:ext cx="93226" cy="46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9" name="Freeform 1136"/>
          <p:cNvSpPr/>
          <p:nvPr/>
        </p:nvSpPr>
        <p:spPr>
          <a:xfrm>
            <a:off x="7517016" y="3656148"/>
            <a:ext cx="190282" cy="531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20" name="Freeform 1137"/>
          <p:cNvSpPr/>
          <p:nvPr/>
        </p:nvSpPr>
        <p:spPr>
          <a:xfrm flipV="1">
            <a:off x="7707041" y="3652375"/>
            <a:ext cx="77646" cy="55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721" name="Picture 1140" descr="Picture 114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flipH="1">
            <a:off x="7991995" y="3567143"/>
            <a:ext cx="359262" cy="342046"/>
          </a:xfrm>
          <a:prstGeom prst="rect">
            <a:avLst/>
          </a:prstGeom>
          <a:ln w="12700">
            <a:miter lim="400000"/>
          </a:ln>
        </p:spPr>
      </p:pic>
      <p:sp>
        <p:nvSpPr>
          <p:cNvPr id="3722" name="Freeform 1141"/>
          <p:cNvSpPr/>
          <p:nvPr/>
        </p:nvSpPr>
        <p:spPr>
          <a:xfrm flipH="1">
            <a:off x="8145216" y="3599941"/>
            <a:ext cx="169401" cy="15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8202" y="822"/>
                </a:lnTo>
                <a:lnTo>
                  <a:pt x="21600" y="17257"/>
                </a:lnTo>
                <a:lnTo>
                  <a:pt x="4733" y="21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723" name="Picture 571" descr="Picture 571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903198" y="3385017"/>
            <a:ext cx="189579" cy="3370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56" name="Group 950"/>
          <p:cNvGrpSpPr/>
          <p:nvPr/>
        </p:nvGrpSpPr>
        <p:grpSpPr>
          <a:xfrm>
            <a:off x="10288915" y="5273950"/>
            <a:ext cx="180435" cy="330834"/>
            <a:chOff x="0" y="0"/>
            <a:chExt cx="180433" cy="330833"/>
          </a:xfrm>
        </p:grpSpPr>
        <p:sp>
          <p:nvSpPr>
            <p:cNvPr id="3724" name="Freeform 951"/>
            <p:cNvSpPr/>
            <p:nvPr/>
          </p:nvSpPr>
          <p:spPr>
            <a:xfrm>
              <a:off x="140261" y="552"/>
              <a:ext cx="35191" cy="31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25" name="Rectangle 952"/>
            <p:cNvSpPr/>
            <p:nvPr/>
          </p:nvSpPr>
          <p:spPr>
            <a:xfrm>
              <a:off x="8704" y="0"/>
              <a:ext cx="130066" cy="315507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26" name="Freeform 953"/>
            <p:cNvSpPr/>
            <p:nvPr/>
          </p:nvSpPr>
          <p:spPr>
            <a:xfrm>
              <a:off x="147548" y="19468"/>
              <a:ext cx="20319" cy="287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27" name="Freeform 954"/>
            <p:cNvSpPr/>
            <p:nvPr/>
          </p:nvSpPr>
          <p:spPr>
            <a:xfrm>
              <a:off x="142250" y="167211"/>
              <a:ext cx="32704" cy="26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28" name="Rectangle 955"/>
            <p:cNvSpPr/>
            <p:nvPr/>
          </p:nvSpPr>
          <p:spPr>
            <a:xfrm>
              <a:off x="8704" y="32932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731" name="Group 956"/>
            <p:cNvGrpSpPr/>
            <p:nvPr/>
          </p:nvGrpSpPr>
          <p:grpSpPr>
            <a:xfrm>
              <a:off x="75626" y="32712"/>
              <a:ext cx="71847" cy="20742"/>
              <a:chOff x="0" y="0"/>
              <a:chExt cx="71846" cy="20741"/>
            </a:xfrm>
          </p:grpSpPr>
          <p:sp>
            <p:nvSpPr>
              <p:cNvPr id="3729" name="AutoShape 957"/>
              <p:cNvSpPr/>
              <p:nvPr/>
            </p:nvSpPr>
            <p:spPr>
              <a:xfrm>
                <a:off x="0" y="0"/>
                <a:ext cx="71847" cy="207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730" name="AutoShape 958"/>
              <p:cNvSpPr/>
              <p:nvPr/>
            </p:nvSpPr>
            <p:spPr>
              <a:xfrm>
                <a:off x="1195" y="2160"/>
                <a:ext cx="69356" cy="164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732" name="Rectangle 959"/>
            <p:cNvSpPr/>
            <p:nvPr/>
          </p:nvSpPr>
          <p:spPr>
            <a:xfrm>
              <a:off x="9947" y="78774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735" name="Group 960"/>
            <p:cNvGrpSpPr/>
            <p:nvPr/>
          </p:nvGrpSpPr>
          <p:grpSpPr>
            <a:xfrm>
              <a:off x="75577" y="77481"/>
              <a:ext cx="71847" cy="18503"/>
              <a:chOff x="0" y="0"/>
              <a:chExt cx="71846" cy="18502"/>
            </a:xfrm>
          </p:grpSpPr>
          <p:sp>
            <p:nvSpPr>
              <p:cNvPr id="3733" name="AutoShape 961"/>
              <p:cNvSpPr/>
              <p:nvPr/>
            </p:nvSpPr>
            <p:spPr>
              <a:xfrm>
                <a:off x="0" y="0"/>
                <a:ext cx="71847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734" name="AutoShape 962"/>
              <p:cNvSpPr/>
              <p:nvPr/>
            </p:nvSpPr>
            <p:spPr>
              <a:xfrm>
                <a:off x="1295" y="2262"/>
                <a:ext cx="69356" cy="1424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736" name="Rectangle 963"/>
            <p:cNvSpPr/>
            <p:nvPr/>
          </p:nvSpPr>
          <p:spPr>
            <a:xfrm>
              <a:off x="9947" y="124615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37" name="Rectangle 964"/>
            <p:cNvSpPr/>
            <p:nvPr/>
          </p:nvSpPr>
          <p:spPr>
            <a:xfrm>
              <a:off x="11191" y="166177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740" name="Group 965"/>
            <p:cNvGrpSpPr/>
            <p:nvPr/>
          </p:nvGrpSpPr>
          <p:grpSpPr>
            <a:xfrm>
              <a:off x="74384" y="168116"/>
              <a:ext cx="71871" cy="18601"/>
              <a:chOff x="0" y="0"/>
              <a:chExt cx="71869" cy="18599"/>
            </a:xfrm>
          </p:grpSpPr>
          <p:sp>
            <p:nvSpPr>
              <p:cNvPr id="3738" name="AutoShape 966"/>
              <p:cNvSpPr/>
              <p:nvPr/>
            </p:nvSpPr>
            <p:spPr>
              <a:xfrm>
                <a:off x="0" y="0"/>
                <a:ext cx="71870" cy="186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739" name="AutoShape 967"/>
              <p:cNvSpPr/>
              <p:nvPr/>
            </p:nvSpPr>
            <p:spPr>
              <a:xfrm>
                <a:off x="1197" y="0"/>
                <a:ext cx="69376" cy="1635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741" name="Freeform 968"/>
            <p:cNvSpPr/>
            <p:nvPr/>
          </p:nvSpPr>
          <p:spPr>
            <a:xfrm>
              <a:off x="142748" y="127721"/>
              <a:ext cx="32704" cy="25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3744" name="Group 969"/>
            <p:cNvGrpSpPr/>
            <p:nvPr/>
          </p:nvGrpSpPr>
          <p:grpSpPr>
            <a:xfrm>
              <a:off x="74382" y="124407"/>
              <a:ext cx="73069" cy="18503"/>
              <a:chOff x="0" y="0"/>
              <a:chExt cx="73067" cy="18502"/>
            </a:xfrm>
          </p:grpSpPr>
          <p:sp>
            <p:nvSpPr>
              <p:cNvPr id="3742" name="AutoShape 970"/>
              <p:cNvSpPr/>
              <p:nvPr/>
            </p:nvSpPr>
            <p:spPr>
              <a:xfrm>
                <a:off x="0" y="0"/>
                <a:ext cx="73068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743" name="AutoShape 971"/>
              <p:cNvSpPr/>
              <p:nvPr/>
            </p:nvSpPr>
            <p:spPr>
              <a:xfrm>
                <a:off x="1197" y="2209"/>
                <a:ext cx="71871" cy="1422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745" name="Rectangle 972"/>
            <p:cNvSpPr/>
            <p:nvPr/>
          </p:nvSpPr>
          <p:spPr>
            <a:xfrm>
              <a:off x="135527" y="0"/>
              <a:ext cx="12701" cy="31550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46" name="Freeform 973"/>
            <p:cNvSpPr/>
            <p:nvPr/>
          </p:nvSpPr>
          <p:spPr>
            <a:xfrm>
              <a:off x="145732" y="79808"/>
              <a:ext cx="29471" cy="29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7"/>
                    <a:pt x="21308" y="12150"/>
                  </a:cubicBezTo>
                  <a:cubicBezTo>
                    <a:pt x="21162" y="15019"/>
                    <a:pt x="21600" y="15863"/>
                    <a:pt x="21600" y="21600"/>
                  </a:cubicBezTo>
                  <a:cubicBezTo>
                    <a:pt x="21600" y="21600"/>
                    <a:pt x="11676" y="14850"/>
                    <a:pt x="0" y="8437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47" name="Freeform 974"/>
            <p:cNvSpPr/>
            <p:nvPr/>
          </p:nvSpPr>
          <p:spPr>
            <a:xfrm>
              <a:off x="146105" y="34657"/>
              <a:ext cx="30341" cy="33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48" name="Oval 975"/>
            <p:cNvSpPr/>
            <p:nvPr/>
          </p:nvSpPr>
          <p:spPr>
            <a:xfrm>
              <a:off x="167733" y="301284"/>
              <a:ext cx="12701" cy="13119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49" name="Freeform 976"/>
            <p:cNvSpPr/>
            <p:nvPr/>
          </p:nvSpPr>
          <p:spPr>
            <a:xfrm>
              <a:off x="144489" y="301698"/>
              <a:ext cx="30465" cy="2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50" name="AutoShape 977"/>
            <p:cNvSpPr/>
            <p:nvPr/>
          </p:nvSpPr>
          <p:spPr>
            <a:xfrm>
              <a:off x="0" y="310121"/>
              <a:ext cx="148717" cy="2071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51" name="AutoShape 978"/>
            <p:cNvSpPr/>
            <p:nvPr/>
          </p:nvSpPr>
          <p:spPr>
            <a:xfrm>
              <a:off x="8704" y="314610"/>
              <a:ext cx="13255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398" y="0"/>
                    <a:pt x="889" y="0"/>
                  </a:cubicBezTo>
                  <a:lnTo>
                    <a:pt x="20711" y="0"/>
                  </a:lnTo>
                  <a:cubicBezTo>
                    <a:pt x="21202" y="0"/>
                    <a:pt x="21600" y="4835"/>
                    <a:pt x="21600" y="10800"/>
                  </a:cubicBezTo>
                  <a:cubicBezTo>
                    <a:pt x="21600" y="16765"/>
                    <a:pt x="21202" y="21600"/>
                    <a:pt x="20711" y="21600"/>
                  </a:cubicBezTo>
                  <a:lnTo>
                    <a:pt x="889" y="21600"/>
                  </a:lnTo>
                  <a:cubicBezTo>
                    <a:pt x="398" y="21600"/>
                    <a:pt x="0" y="16765"/>
                    <a:pt x="0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52" name="Oval 979"/>
            <p:cNvSpPr/>
            <p:nvPr/>
          </p:nvSpPr>
          <p:spPr>
            <a:xfrm>
              <a:off x="21014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53" name="Oval 980"/>
            <p:cNvSpPr/>
            <p:nvPr/>
          </p:nvSpPr>
          <p:spPr>
            <a:xfrm>
              <a:off x="43396" y="269664"/>
              <a:ext cx="19771" cy="19607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54" name="Oval 981"/>
            <p:cNvSpPr/>
            <p:nvPr/>
          </p:nvSpPr>
          <p:spPr>
            <a:xfrm>
              <a:off x="64410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55" name="Rectangle 982"/>
            <p:cNvSpPr/>
            <p:nvPr/>
          </p:nvSpPr>
          <p:spPr>
            <a:xfrm>
              <a:off x="113891" y="194412"/>
              <a:ext cx="12701" cy="104801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3759" name="Group 590"/>
          <p:cNvGrpSpPr/>
          <p:nvPr/>
        </p:nvGrpSpPr>
        <p:grpSpPr>
          <a:xfrm>
            <a:off x="7980854" y="4900160"/>
            <a:ext cx="345631" cy="320303"/>
            <a:chOff x="0" y="0"/>
            <a:chExt cx="345629" cy="320302"/>
          </a:xfrm>
        </p:grpSpPr>
        <p:pic>
          <p:nvPicPr>
            <p:cNvPr id="3757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58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3760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216586" y="6040273"/>
            <a:ext cx="253502" cy="120344"/>
          </a:xfrm>
          <a:prstGeom prst="rect">
            <a:avLst/>
          </a:prstGeom>
          <a:ln w="12700">
            <a:miter lim="400000"/>
          </a:ln>
        </p:spPr>
      </p:pic>
      <p:sp>
        <p:nvSpPr>
          <p:cNvPr id="3761" name="Freeform 1067"/>
          <p:cNvSpPr/>
          <p:nvPr/>
        </p:nvSpPr>
        <p:spPr>
          <a:xfrm>
            <a:off x="9300596" y="5923493"/>
            <a:ext cx="204044" cy="157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762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310647" y="5927533"/>
            <a:ext cx="185413" cy="142916"/>
          </a:xfrm>
          <a:prstGeom prst="rect">
            <a:avLst/>
          </a:prstGeom>
          <a:ln w="12700">
            <a:miter lim="400000"/>
          </a:ln>
        </p:spPr>
      </p:pic>
      <p:sp>
        <p:nvSpPr>
          <p:cNvPr id="3763" name="Freeform 1069"/>
          <p:cNvSpPr/>
          <p:nvPr/>
        </p:nvSpPr>
        <p:spPr>
          <a:xfrm>
            <a:off x="9337747" y="5918860"/>
            <a:ext cx="172879" cy="29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4" name="Freeform 1070"/>
          <p:cNvSpPr/>
          <p:nvPr/>
        </p:nvSpPr>
        <p:spPr>
          <a:xfrm>
            <a:off x="9298791" y="5918624"/>
            <a:ext cx="47991" cy="12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5" name="Freeform 1071"/>
          <p:cNvSpPr/>
          <p:nvPr/>
        </p:nvSpPr>
        <p:spPr>
          <a:xfrm>
            <a:off x="9457666" y="5940364"/>
            <a:ext cx="51717" cy="140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6" name="Freeform 1072"/>
          <p:cNvSpPr/>
          <p:nvPr/>
        </p:nvSpPr>
        <p:spPr>
          <a:xfrm>
            <a:off x="9298226" y="6034096"/>
            <a:ext cx="176919" cy="47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7" name="Freeform 1073"/>
          <p:cNvSpPr/>
          <p:nvPr/>
        </p:nvSpPr>
        <p:spPr>
          <a:xfrm>
            <a:off x="9463424" y="5941552"/>
            <a:ext cx="48443" cy="141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8" name="Freeform 1074"/>
          <p:cNvSpPr/>
          <p:nvPr/>
        </p:nvSpPr>
        <p:spPr>
          <a:xfrm>
            <a:off x="9298451" y="6040392"/>
            <a:ext cx="168701" cy="46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775" name="Group 1075"/>
          <p:cNvGrpSpPr/>
          <p:nvPr/>
        </p:nvGrpSpPr>
        <p:grpSpPr>
          <a:xfrm>
            <a:off x="9295628" y="6090406"/>
            <a:ext cx="57250" cy="29432"/>
            <a:chOff x="0" y="0"/>
            <a:chExt cx="57249" cy="29430"/>
          </a:xfrm>
        </p:grpSpPr>
        <p:sp>
          <p:nvSpPr>
            <p:cNvPr id="3769" name="Freeform 1076"/>
            <p:cNvSpPr/>
            <p:nvPr/>
          </p:nvSpPr>
          <p:spPr>
            <a:xfrm>
              <a:off x="0" y="0"/>
              <a:ext cx="57250" cy="27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70" name="Freeform 1077"/>
            <p:cNvSpPr/>
            <p:nvPr/>
          </p:nvSpPr>
          <p:spPr>
            <a:xfrm>
              <a:off x="1065" y="595"/>
              <a:ext cx="55271" cy="26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71" name="Freeform 1078"/>
            <p:cNvSpPr/>
            <p:nvPr/>
          </p:nvSpPr>
          <p:spPr>
            <a:xfrm>
              <a:off x="5176" y="8782"/>
              <a:ext cx="1964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72" name="Freeform 1079"/>
            <p:cNvSpPr/>
            <p:nvPr/>
          </p:nvSpPr>
          <p:spPr>
            <a:xfrm>
              <a:off x="4491" y="1112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73" name="Freeform 1080"/>
            <p:cNvSpPr/>
            <p:nvPr/>
          </p:nvSpPr>
          <p:spPr>
            <a:xfrm>
              <a:off x="21316" y="14307"/>
              <a:ext cx="1964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74" name="Freeform 1081"/>
            <p:cNvSpPr/>
            <p:nvPr/>
          </p:nvSpPr>
          <p:spPr>
            <a:xfrm>
              <a:off x="20630" y="1673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776" name="Freeform 1082"/>
          <p:cNvSpPr/>
          <p:nvPr/>
        </p:nvSpPr>
        <p:spPr>
          <a:xfrm>
            <a:off x="9393642" y="6094564"/>
            <a:ext cx="69333" cy="61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77" name="Freeform 1083"/>
          <p:cNvSpPr/>
          <p:nvPr/>
        </p:nvSpPr>
        <p:spPr>
          <a:xfrm>
            <a:off x="9216698" y="6099435"/>
            <a:ext cx="177395" cy="55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78" name="Freeform 1084"/>
          <p:cNvSpPr/>
          <p:nvPr/>
        </p:nvSpPr>
        <p:spPr>
          <a:xfrm>
            <a:off x="9211421" y="6088512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79" name="Freeform 1085"/>
          <p:cNvSpPr/>
          <p:nvPr/>
        </p:nvSpPr>
        <p:spPr>
          <a:xfrm>
            <a:off x="9216925" y="6043243"/>
            <a:ext cx="82431" cy="4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80" name="Freeform 1086"/>
          <p:cNvSpPr/>
          <p:nvPr/>
        </p:nvSpPr>
        <p:spPr>
          <a:xfrm>
            <a:off x="9222457" y="6091594"/>
            <a:ext cx="168250" cy="53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81" name="Freeform 1087"/>
          <p:cNvSpPr/>
          <p:nvPr/>
        </p:nvSpPr>
        <p:spPr>
          <a:xfrm flipV="1">
            <a:off x="9390480" y="6087793"/>
            <a:ext cx="68655" cy="55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784" name="Group 590"/>
          <p:cNvGrpSpPr/>
          <p:nvPr/>
        </p:nvGrpSpPr>
        <p:grpSpPr>
          <a:xfrm>
            <a:off x="8153909" y="5504657"/>
            <a:ext cx="345631" cy="320303"/>
            <a:chOff x="0" y="0"/>
            <a:chExt cx="345629" cy="320302"/>
          </a:xfrm>
        </p:grpSpPr>
        <p:pic>
          <p:nvPicPr>
            <p:cNvPr id="3782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83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787" name="Group 590"/>
          <p:cNvGrpSpPr/>
          <p:nvPr/>
        </p:nvGrpSpPr>
        <p:grpSpPr>
          <a:xfrm>
            <a:off x="8552133" y="5526130"/>
            <a:ext cx="345631" cy="320303"/>
            <a:chOff x="0" y="0"/>
            <a:chExt cx="345629" cy="320302"/>
          </a:xfrm>
        </p:grpSpPr>
        <p:pic>
          <p:nvPicPr>
            <p:cNvPr id="3785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86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3788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550086" y="5949453"/>
            <a:ext cx="260921" cy="99064"/>
          </a:xfrm>
          <a:prstGeom prst="rect">
            <a:avLst/>
          </a:prstGeom>
          <a:ln w="12700">
            <a:miter lim="400000"/>
          </a:ln>
        </p:spPr>
      </p:pic>
      <p:sp>
        <p:nvSpPr>
          <p:cNvPr id="3789" name="Freeform 1067"/>
          <p:cNvSpPr/>
          <p:nvPr/>
        </p:nvSpPr>
        <p:spPr>
          <a:xfrm>
            <a:off x="9636556" y="5853324"/>
            <a:ext cx="210016" cy="129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790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646901" y="5856649"/>
            <a:ext cx="190839" cy="117645"/>
          </a:xfrm>
          <a:prstGeom prst="rect">
            <a:avLst/>
          </a:prstGeom>
          <a:ln w="12700">
            <a:miter lim="400000"/>
          </a:ln>
        </p:spPr>
      </p:pic>
      <p:sp>
        <p:nvSpPr>
          <p:cNvPr id="3791" name="Freeform 1069"/>
          <p:cNvSpPr/>
          <p:nvPr/>
        </p:nvSpPr>
        <p:spPr>
          <a:xfrm>
            <a:off x="9674793" y="5849510"/>
            <a:ext cx="177938" cy="240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2" name="Freeform 1070"/>
          <p:cNvSpPr/>
          <p:nvPr/>
        </p:nvSpPr>
        <p:spPr>
          <a:xfrm>
            <a:off x="9634697" y="5849315"/>
            <a:ext cx="49396" cy="100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3" name="Freeform 1071"/>
          <p:cNvSpPr/>
          <p:nvPr/>
        </p:nvSpPr>
        <p:spPr>
          <a:xfrm>
            <a:off x="9798222" y="5867210"/>
            <a:ext cx="53231" cy="1155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4" name="Freeform 1072"/>
          <p:cNvSpPr/>
          <p:nvPr/>
        </p:nvSpPr>
        <p:spPr>
          <a:xfrm>
            <a:off x="9634115" y="5944368"/>
            <a:ext cx="182098" cy="39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5" name="Freeform 1073"/>
          <p:cNvSpPr/>
          <p:nvPr/>
        </p:nvSpPr>
        <p:spPr>
          <a:xfrm>
            <a:off x="9804149" y="5868189"/>
            <a:ext cx="49861" cy="116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6" name="Freeform 1074"/>
          <p:cNvSpPr/>
          <p:nvPr/>
        </p:nvSpPr>
        <p:spPr>
          <a:xfrm>
            <a:off x="9634349" y="5949551"/>
            <a:ext cx="173638" cy="385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803" name="Group 1075"/>
          <p:cNvGrpSpPr/>
          <p:nvPr/>
        </p:nvGrpSpPr>
        <p:grpSpPr>
          <a:xfrm>
            <a:off x="9631443" y="5990721"/>
            <a:ext cx="58926" cy="25351"/>
            <a:chOff x="0" y="0"/>
            <a:chExt cx="58925" cy="25349"/>
          </a:xfrm>
        </p:grpSpPr>
        <p:sp>
          <p:nvSpPr>
            <p:cNvPr id="3797" name="Freeform 1076"/>
            <p:cNvSpPr/>
            <p:nvPr/>
          </p:nvSpPr>
          <p:spPr>
            <a:xfrm>
              <a:off x="0" y="0"/>
              <a:ext cx="58926" cy="22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98" name="Freeform 1077"/>
            <p:cNvSpPr/>
            <p:nvPr/>
          </p:nvSpPr>
          <p:spPr>
            <a:xfrm>
              <a:off x="1097" y="489"/>
              <a:ext cx="56888" cy="21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99" name="Freeform 1078"/>
            <p:cNvSpPr/>
            <p:nvPr/>
          </p:nvSpPr>
          <p:spPr>
            <a:xfrm>
              <a:off x="5328" y="6106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00" name="Freeform 1079"/>
            <p:cNvSpPr/>
            <p:nvPr/>
          </p:nvSpPr>
          <p:spPr>
            <a:xfrm>
              <a:off x="4623" y="8030"/>
              <a:ext cx="1520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01" name="Freeform 1080"/>
            <p:cNvSpPr/>
            <p:nvPr/>
          </p:nvSpPr>
          <p:spPr>
            <a:xfrm>
              <a:off x="21940" y="10654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02" name="Freeform 1081"/>
            <p:cNvSpPr/>
            <p:nvPr/>
          </p:nvSpPr>
          <p:spPr>
            <a:xfrm>
              <a:off x="21234" y="12649"/>
              <a:ext cx="1520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804" name="Freeform 1082"/>
          <p:cNvSpPr/>
          <p:nvPr/>
        </p:nvSpPr>
        <p:spPr>
          <a:xfrm>
            <a:off x="9732325" y="5994144"/>
            <a:ext cx="71362" cy="50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5" name="Freeform 1083"/>
          <p:cNvSpPr/>
          <p:nvPr/>
        </p:nvSpPr>
        <p:spPr>
          <a:xfrm>
            <a:off x="9550203" y="5998154"/>
            <a:ext cx="182587" cy="45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6" name="Freeform 1084"/>
          <p:cNvSpPr/>
          <p:nvPr/>
        </p:nvSpPr>
        <p:spPr>
          <a:xfrm>
            <a:off x="9544958" y="5988039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7" name="Freeform 1085"/>
          <p:cNvSpPr/>
          <p:nvPr/>
        </p:nvSpPr>
        <p:spPr>
          <a:xfrm>
            <a:off x="9550435" y="5951899"/>
            <a:ext cx="84844" cy="38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8" name="Freeform 1086"/>
          <p:cNvSpPr/>
          <p:nvPr/>
        </p:nvSpPr>
        <p:spPr>
          <a:xfrm>
            <a:off x="9556130" y="5991700"/>
            <a:ext cx="173173" cy="44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9" name="Freeform 1087"/>
          <p:cNvSpPr/>
          <p:nvPr/>
        </p:nvSpPr>
        <p:spPr>
          <a:xfrm flipV="1">
            <a:off x="9729071" y="5988570"/>
            <a:ext cx="70664" cy="45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842" name="Group 983"/>
          <p:cNvGrpSpPr/>
          <p:nvPr/>
        </p:nvGrpSpPr>
        <p:grpSpPr>
          <a:xfrm>
            <a:off x="10017876" y="5636388"/>
            <a:ext cx="174794" cy="348945"/>
            <a:chOff x="0" y="0"/>
            <a:chExt cx="174792" cy="348944"/>
          </a:xfrm>
        </p:grpSpPr>
        <p:sp>
          <p:nvSpPr>
            <p:cNvPr id="3810" name="Freeform 984"/>
            <p:cNvSpPr/>
            <p:nvPr/>
          </p:nvSpPr>
          <p:spPr>
            <a:xfrm>
              <a:off x="135716" y="582"/>
              <a:ext cx="34050" cy="332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11" name="Rectangle 985"/>
            <p:cNvSpPr/>
            <p:nvPr/>
          </p:nvSpPr>
          <p:spPr>
            <a:xfrm>
              <a:off x="8422" y="0"/>
              <a:ext cx="125851" cy="332779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12" name="Freeform 986"/>
            <p:cNvSpPr/>
            <p:nvPr/>
          </p:nvSpPr>
          <p:spPr>
            <a:xfrm>
              <a:off x="142767" y="20534"/>
              <a:ext cx="19660" cy="303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13" name="Freeform 987"/>
            <p:cNvSpPr/>
            <p:nvPr/>
          </p:nvSpPr>
          <p:spPr>
            <a:xfrm>
              <a:off x="137641" y="176365"/>
              <a:ext cx="31644" cy="27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14" name="Rectangle 988"/>
            <p:cNvSpPr/>
            <p:nvPr/>
          </p:nvSpPr>
          <p:spPr>
            <a:xfrm>
              <a:off x="8422" y="35083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817" name="Group 989"/>
            <p:cNvGrpSpPr/>
            <p:nvPr/>
          </p:nvGrpSpPr>
          <p:grpSpPr>
            <a:xfrm>
              <a:off x="73175" y="34503"/>
              <a:ext cx="69519" cy="21878"/>
              <a:chOff x="0" y="0"/>
              <a:chExt cx="69517" cy="21876"/>
            </a:xfrm>
          </p:grpSpPr>
          <p:sp>
            <p:nvSpPr>
              <p:cNvPr id="3815" name="AutoShape 990"/>
              <p:cNvSpPr/>
              <p:nvPr/>
            </p:nvSpPr>
            <p:spPr>
              <a:xfrm>
                <a:off x="0" y="0"/>
                <a:ext cx="69518" cy="2187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816" name="AutoShape 991"/>
              <p:cNvSpPr/>
              <p:nvPr/>
            </p:nvSpPr>
            <p:spPr>
              <a:xfrm>
                <a:off x="1157" y="2278"/>
                <a:ext cx="67108" cy="173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818" name="Rectangle 992"/>
            <p:cNvSpPr/>
            <p:nvPr/>
          </p:nvSpPr>
          <p:spPr>
            <a:xfrm>
              <a:off x="9625" y="83434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821" name="Group 993"/>
            <p:cNvGrpSpPr/>
            <p:nvPr/>
          </p:nvGrpSpPr>
          <p:grpSpPr>
            <a:xfrm>
              <a:off x="73128" y="81722"/>
              <a:ext cx="69518" cy="19517"/>
              <a:chOff x="0" y="0"/>
              <a:chExt cx="69517" cy="19515"/>
            </a:xfrm>
          </p:grpSpPr>
          <p:sp>
            <p:nvSpPr>
              <p:cNvPr id="3819" name="AutoShape 994"/>
              <p:cNvSpPr/>
              <p:nvPr/>
            </p:nvSpPr>
            <p:spPr>
              <a:xfrm>
                <a:off x="0" y="0"/>
                <a:ext cx="69518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820" name="AutoShape 995"/>
              <p:cNvSpPr/>
              <p:nvPr/>
            </p:nvSpPr>
            <p:spPr>
              <a:xfrm>
                <a:off x="1253" y="2386"/>
                <a:ext cx="67108" cy="1502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822" name="Rectangle 996"/>
            <p:cNvSpPr/>
            <p:nvPr/>
          </p:nvSpPr>
          <p:spPr>
            <a:xfrm>
              <a:off x="9625" y="131785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23" name="Rectangle 997"/>
            <p:cNvSpPr/>
            <p:nvPr/>
          </p:nvSpPr>
          <p:spPr>
            <a:xfrm>
              <a:off x="10828" y="175621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3826" name="Group 998"/>
            <p:cNvGrpSpPr/>
            <p:nvPr/>
          </p:nvGrpSpPr>
          <p:grpSpPr>
            <a:xfrm>
              <a:off x="71974" y="177319"/>
              <a:ext cx="69542" cy="19619"/>
              <a:chOff x="0" y="0"/>
              <a:chExt cx="69540" cy="19617"/>
            </a:xfrm>
          </p:grpSpPr>
          <p:sp>
            <p:nvSpPr>
              <p:cNvPr id="3824" name="AutoShape 999"/>
              <p:cNvSpPr/>
              <p:nvPr/>
            </p:nvSpPr>
            <p:spPr>
              <a:xfrm>
                <a:off x="0" y="0"/>
                <a:ext cx="69541" cy="1961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825" name="AutoShape 1000"/>
              <p:cNvSpPr/>
              <p:nvPr/>
            </p:nvSpPr>
            <p:spPr>
              <a:xfrm>
                <a:off x="1159" y="0"/>
                <a:ext cx="67127" cy="172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827" name="Freeform 1001"/>
            <p:cNvSpPr/>
            <p:nvPr/>
          </p:nvSpPr>
          <p:spPr>
            <a:xfrm>
              <a:off x="138122" y="134713"/>
              <a:ext cx="31644" cy="27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3830" name="Group 1002"/>
            <p:cNvGrpSpPr/>
            <p:nvPr/>
          </p:nvGrpSpPr>
          <p:grpSpPr>
            <a:xfrm>
              <a:off x="71972" y="131218"/>
              <a:ext cx="70701" cy="19516"/>
              <a:chOff x="0" y="0"/>
              <a:chExt cx="70699" cy="19515"/>
            </a:xfrm>
          </p:grpSpPr>
          <p:sp>
            <p:nvSpPr>
              <p:cNvPr id="3828" name="AutoShape 1003"/>
              <p:cNvSpPr/>
              <p:nvPr/>
            </p:nvSpPr>
            <p:spPr>
              <a:xfrm>
                <a:off x="0" y="0"/>
                <a:ext cx="70700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3829" name="AutoShape 1004"/>
              <p:cNvSpPr/>
              <p:nvPr/>
            </p:nvSpPr>
            <p:spPr>
              <a:xfrm>
                <a:off x="1159" y="2330"/>
                <a:ext cx="69541" cy="1500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3831" name="Rectangle 1005"/>
            <p:cNvSpPr/>
            <p:nvPr/>
          </p:nvSpPr>
          <p:spPr>
            <a:xfrm>
              <a:off x="130930" y="0"/>
              <a:ext cx="12701" cy="332779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32" name="Freeform 1006"/>
            <p:cNvSpPr/>
            <p:nvPr/>
          </p:nvSpPr>
          <p:spPr>
            <a:xfrm>
              <a:off x="141010" y="84177"/>
              <a:ext cx="28515" cy="31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33" name="Freeform 1007"/>
            <p:cNvSpPr/>
            <p:nvPr/>
          </p:nvSpPr>
          <p:spPr>
            <a:xfrm>
              <a:off x="141371" y="36554"/>
              <a:ext cx="29358" cy="34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34" name="Oval 1008"/>
            <p:cNvSpPr/>
            <p:nvPr/>
          </p:nvSpPr>
          <p:spPr>
            <a:xfrm>
              <a:off x="162092" y="317777"/>
              <a:ext cx="12701" cy="1383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35" name="Freeform 1009"/>
            <p:cNvSpPr/>
            <p:nvPr/>
          </p:nvSpPr>
          <p:spPr>
            <a:xfrm>
              <a:off x="139806" y="318214"/>
              <a:ext cx="29479" cy="29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36" name="AutoShape 1010"/>
            <p:cNvSpPr/>
            <p:nvPr/>
          </p:nvSpPr>
          <p:spPr>
            <a:xfrm>
              <a:off x="0" y="327098"/>
              <a:ext cx="143898" cy="218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37" name="AutoShape 1011"/>
            <p:cNvSpPr/>
            <p:nvPr/>
          </p:nvSpPr>
          <p:spPr>
            <a:xfrm>
              <a:off x="8422" y="332181"/>
              <a:ext cx="1282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434" y="0"/>
                    <a:pt x="969" y="0"/>
                  </a:cubicBezTo>
                  <a:lnTo>
                    <a:pt x="20631" y="0"/>
                  </a:lnTo>
                  <a:cubicBezTo>
                    <a:pt x="21166" y="0"/>
                    <a:pt x="21600" y="4835"/>
                    <a:pt x="21600" y="10800"/>
                  </a:cubicBezTo>
                  <a:lnTo>
                    <a:pt x="21600" y="10800"/>
                  </a:lnTo>
                  <a:cubicBezTo>
                    <a:pt x="21600" y="16765"/>
                    <a:pt x="21166" y="21600"/>
                    <a:pt x="20631" y="21600"/>
                  </a:cubicBezTo>
                  <a:lnTo>
                    <a:pt x="969" y="21598"/>
                  </a:lnTo>
                  <a:cubicBezTo>
                    <a:pt x="434" y="21598"/>
                    <a:pt x="0" y="16763"/>
                    <a:pt x="0" y="10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38" name="Oval 1012"/>
            <p:cNvSpPr/>
            <p:nvPr/>
          </p:nvSpPr>
          <p:spPr>
            <a:xfrm>
              <a:off x="2033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39" name="Oval 1013"/>
            <p:cNvSpPr/>
            <p:nvPr/>
          </p:nvSpPr>
          <p:spPr>
            <a:xfrm>
              <a:off x="41990" y="284427"/>
              <a:ext cx="19131" cy="2068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40" name="Oval 1014"/>
            <p:cNvSpPr/>
            <p:nvPr/>
          </p:nvSpPr>
          <p:spPr>
            <a:xfrm>
              <a:off x="6232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41" name="Rectangle 1015"/>
            <p:cNvSpPr/>
            <p:nvPr/>
          </p:nvSpPr>
          <p:spPr>
            <a:xfrm>
              <a:off x="109995" y="205055"/>
              <a:ext cx="12701" cy="110538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3845" name="Group 590"/>
          <p:cNvGrpSpPr/>
          <p:nvPr/>
        </p:nvGrpSpPr>
        <p:grpSpPr>
          <a:xfrm>
            <a:off x="7773981" y="5281059"/>
            <a:ext cx="345631" cy="320303"/>
            <a:chOff x="0" y="0"/>
            <a:chExt cx="345629" cy="320302"/>
          </a:xfrm>
        </p:grpSpPr>
        <p:pic>
          <p:nvPicPr>
            <p:cNvPr id="3843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44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846" name="Rectangle 8"/>
          <p:cNvSpPr/>
          <p:nvPr/>
        </p:nvSpPr>
        <p:spPr>
          <a:xfrm>
            <a:off x="6471025" y="1451551"/>
            <a:ext cx="5359401" cy="4954628"/>
          </a:xfrm>
          <a:prstGeom prst="rect">
            <a:avLst/>
          </a:prstGeom>
          <a:solidFill>
            <a:srgbClr val="FFFFFF">
              <a:alpha val="68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010" name="Group 19"/>
          <p:cNvGrpSpPr/>
          <p:nvPr/>
        </p:nvGrpSpPr>
        <p:grpSpPr>
          <a:xfrm>
            <a:off x="7439073" y="1859725"/>
            <a:ext cx="4144322" cy="4127478"/>
            <a:chOff x="0" y="0"/>
            <a:chExt cx="4144321" cy="4127477"/>
          </a:xfrm>
        </p:grpSpPr>
        <p:grpSp>
          <p:nvGrpSpPr>
            <p:cNvPr id="3881" name="Group 14"/>
            <p:cNvGrpSpPr/>
            <p:nvPr/>
          </p:nvGrpSpPr>
          <p:grpSpPr>
            <a:xfrm>
              <a:off x="0" y="0"/>
              <a:ext cx="1802647" cy="1232389"/>
              <a:chOff x="0" y="0"/>
              <a:chExt cx="1802647" cy="1232388"/>
            </a:xfrm>
          </p:grpSpPr>
          <p:pic>
            <p:nvPicPr>
              <p:cNvPr id="3847" name="Picture 799" descr="Picture 799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>
                <a:off x="541792" y="298442"/>
                <a:ext cx="457201" cy="3327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848" name="Line 426"/>
              <p:cNvSpPr/>
              <p:nvPr/>
            </p:nvSpPr>
            <p:spPr>
              <a:xfrm>
                <a:off x="768786" y="840634"/>
                <a:ext cx="227965" cy="17435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864" name="Group 783"/>
              <p:cNvGrpSpPr/>
              <p:nvPr/>
            </p:nvGrpSpPr>
            <p:grpSpPr>
              <a:xfrm>
                <a:off x="611624" y="449651"/>
                <a:ext cx="298451" cy="464008"/>
                <a:chOff x="0" y="0"/>
                <a:chExt cx="298450" cy="464007"/>
              </a:xfrm>
            </p:grpSpPr>
            <p:sp>
              <p:nvSpPr>
                <p:cNvPr id="3849" name="Line 270"/>
                <p:cNvSpPr/>
                <p:nvPr/>
              </p:nvSpPr>
              <p:spPr>
                <a:xfrm flipH="1">
                  <a:off x="-1" y="0"/>
                  <a:ext cx="149226" cy="42023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0" name="Line 271"/>
                <p:cNvSpPr/>
                <p:nvPr/>
              </p:nvSpPr>
              <p:spPr>
                <a:xfrm>
                  <a:off x="149225" y="0"/>
                  <a:ext cx="149226" cy="41835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1" name="Line 272"/>
                <p:cNvSpPr/>
                <p:nvPr/>
              </p:nvSpPr>
              <p:spPr>
                <a:xfrm>
                  <a:off x="-1" y="418357"/>
                  <a:ext cx="149227" cy="4565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2" name="Line 273"/>
                <p:cNvSpPr/>
                <p:nvPr/>
              </p:nvSpPr>
              <p:spPr>
                <a:xfrm flipH="1">
                  <a:off x="149224" y="418357"/>
                  <a:ext cx="149227" cy="4565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3" name="Line 274"/>
                <p:cNvSpPr/>
                <p:nvPr/>
              </p:nvSpPr>
              <p:spPr>
                <a:xfrm flipH="1">
                  <a:off x="149224" y="9380"/>
                  <a:ext cx="1" cy="45462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4" name="Line 275"/>
                <p:cNvSpPr/>
                <p:nvPr/>
              </p:nvSpPr>
              <p:spPr>
                <a:xfrm flipV="1">
                  <a:off x="-1" y="375208"/>
                  <a:ext cx="149227" cy="4502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5" name="Line 276"/>
                <p:cNvSpPr/>
                <p:nvPr/>
              </p:nvSpPr>
              <p:spPr>
                <a:xfrm flipH="1" flipV="1">
                  <a:off x="149224" y="375209"/>
                  <a:ext cx="149227" cy="4314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6" name="Line 277"/>
                <p:cNvSpPr/>
                <p:nvPr/>
              </p:nvSpPr>
              <p:spPr>
                <a:xfrm>
                  <a:off x="63329" y="237632"/>
                  <a:ext cx="85896" cy="3439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7" name="Line 278"/>
                <p:cNvSpPr/>
                <p:nvPr/>
              </p:nvSpPr>
              <p:spPr>
                <a:xfrm flipV="1">
                  <a:off x="149224" y="237632"/>
                  <a:ext cx="90264" cy="3439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8" name="Line 279"/>
                <p:cNvSpPr/>
                <p:nvPr/>
              </p:nvSpPr>
              <p:spPr>
                <a:xfrm>
                  <a:off x="34940" y="298916"/>
                  <a:ext cx="110645" cy="46902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59" name="Line 280"/>
                <p:cNvSpPr/>
                <p:nvPr/>
              </p:nvSpPr>
              <p:spPr>
                <a:xfrm flipV="1">
                  <a:off x="149224" y="308297"/>
                  <a:ext cx="111374" cy="4127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60" name="Line 281"/>
                <p:cNvSpPr/>
                <p:nvPr/>
              </p:nvSpPr>
              <p:spPr>
                <a:xfrm flipV="1">
                  <a:off x="149224" y="174472"/>
                  <a:ext cx="56780" cy="1688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61" name="Line 282"/>
                <p:cNvSpPr/>
                <p:nvPr/>
              </p:nvSpPr>
              <p:spPr>
                <a:xfrm flipV="1">
                  <a:off x="149225" y="87548"/>
                  <a:ext cx="35669" cy="1313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62" name="Line 283"/>
                <p:cNvSpPr/>
                <p:nvPr/>
              </p:nvSpPr>
              <p:spPr>
                <a:xfrm>
                  <a:off x="85167" y="168843"/>
                  <a:ext cx="69154" cy="2251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63" name="Line 284"/>
                <p:cNvSpPr/>
                <p:nvPr/>
              </p:nvSpPr>
              <p:spPr>
                <a:xfrm>
                  <a:off x="115740" y="83796"/>
                  <a:ext cx="40036" cy="2251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876" name="Group 406"/>
              <p:cNvGrpSpPr/>
              <p:nvPr/>
            </p:nvGrpSpPr>
            <p:grpSpPr>
              <a:xfrm>
                <a:off x="1000753" y="840507"/>
                <a:ext cx="353679" cy="391882"/>
                <a:chOff x="0" y="0"/>
                <a:chExt cx="353677" cy="391881"/>
              </a:xfrm>
            </p:grpSpPr>
            <p:grpSp>
              <p:nvGrpSpPr>
                <p:cNvPr id="3867" name="Freeform 407"/>
                <p:cNvGrpSpPr/>
                <p:nvPr/>
              </p:nvGrpSpPr>
              <p:grpSpPr>
                <a:xfrm>
                  <a:off x="-1" y="58793"/>
                  <a:ext cx="353679" cy="333089"/>
                  <a:chOff x="0" y="0"/>
                  <a:chExt cx="353677" cy="333087"/>
                </a:xfrm>
              </p:grpSpPr>
              <p:sp>
                <p:nvSpPr>
                  <p:cNvPr id="3865" name="Shape"/>
                  <p:cNvSpPr/>
                  <p:nvPr/>
                </p:nvSpPr>
                <p:spPr>
                  <a:xfrm>
                    <a:off x="0" y="111530"/>
                    <a:ext cx="353678" cy="1100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866" name="Text"/>
                  <p:cNvSpPr txBox="1"/>
                  <p:nvPr/>
                </p:nvSpPr>
                <p:spPr>
                  <a:xfrm>
                    <a:off x="48894" y="0"/>
                    <a:ext cx="255889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3870" name="Oval 408"/>
                <p:cNvGrpSpPr/>
                <p:nvPr/>
              </p:nvGrpSpPr>
              <p:grpSpPr>
                <a:xfrm>
                  <a:off x="203" y="-1"/>
                  <a:ext cx="353251" cy="333089"/>
                  <a:chOff x="0" y="0"/>
                  <a:chExt cx="353249" cy="333087"/>
                </a:xfrm>
              </p:grpSpPr>
              <p:sp>
                <p:nvSpPr>
                  <p:cNvPr id="3868" name="Oval"/>
                  <p:cNvSpPr/>
                  <p:nvPr/>
                </p:nvSpPr>
                <p:spPr>
                  <a:xfrm>
                    <a:off x="0" y="112076"/>
                    <a:ext cx="353250" cy="108935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869" name="Text"/>
                  <p:cNvSpPr txBox="1"/>
                  <p:nvPr/>
                </p:nvSpPr>
                <p:spPr>
                  <a:xfrm>
                    <a:off x="100627" y="0"/>
                    <a:ext cx="151995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3875" name="Group 409"/>
                <p:cNvGrpSpPr/>
                <p:nvPr/>
              </p:nvGrpSpPr>
              <p:grpSpPr>
                <a:xfrm>
                  <a:off x="52453" y="125922"/>
                  <a:ext cx="248706" cy="80044"/>
                  <a:chOff x="0" y="0"/>
                  <a:chExt cx="248704" cy="80043"/>
                </a:xfrm>
              </p:grpSpPr>
              <p:sp>
                <p:nvSpPr>
                  <p:cNvPr id="3871" name="Freeform 410"/>
                  <p:cNvSpPr/>
                  <p:nvPr/>
                </p:nvSpPr>
                <p:spPr>
                  <a:xfrm>
                    <a:off x="6879" y="0"/>
                    <a:ext cx="235271" cy="4480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872" name="Freeform 411"/>
                  <p:cNvSpPr/>
                  <p:nvPr/>
                </p:nvSpPr>
                <p:spPr>
                  <a:xfrm>
                    <a:off x="160864" y="38326"/>
                    <a:ext cx="87841" cy="3857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873" name="Freeform 412"/>
                  <p:cNvSpPr/>
                  <p:nvPr/>
                </p:nvSpPr>
                <p:spPr>
                  <a:xfrm>
                    <a:off x="0" y="38326"/>
                    <a:ext cx="86253" cy="3812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874" name="Freeform 413"/>
                  <p:cNvSpPr/>
                  <p:nvPr/>
                </p:nvSpPr>
                <p:spPr>
                  <a:xfrm>
                    <a:off x="29942" y="19487"/>
                    <a:ext cx="187543" cy="6055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pic>
            <p:nvPicPr>
              <p:cNvPr id="3877" name="Picture 654" descr="Picture 654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>
                <a:off x="311150" y="0"/>
                <a:ext cx="415926" cy="8877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78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496888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79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1198707" y="460002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80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1271945" y="199398"/>
                <a:ext cx="530703" cy="22375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901" name="Group 11"/>
            <p:cNvGrpSpPr/>
            <p:nvPr/>
          </p:nvGrpSpPr>
          <p:grpSpPr>
            <a:xfrm>
              <a:off x="54444" y="1465699"/>
              <a:ext cx="911538" cy="925351"/>
              <a:chOff x="0" y="0"/>
              <a:chExt cx="911537" cy="925350"/>
            </a:xfrm>
          </p:grpSpPr>
          <p:pic>
            <p:nvPicPr>
              <p:cNvPr id="3882" name="Picture 777" descr="Picture 777"/>
              <p:cNvPicPr>
                <a:picLocks noChangeAspect="1"/>
              </p:cNvPicPr>
              <p:nvPr/>
            </p:nvPicPr>
            <p:blipFill>
              <a:blip r:embed="rId17">
                <a:extLst/>
              </a:blip>
              <a:stretch>
                <a:fillRect/>
              </a:stretch>
            </p:blipFill>
            <p:spPr>
              <a:xfrm>
                <a:off x="120363" y="536474"/>
                <a:ext cx="370170" cy="306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3900" name="Group 10"/>
              <p:cNvGrpSpPr/>
              <p:nvPr/>
            </p:nvGrpSpPr>
            <p:grpSpPr>
              <a:xfrm>
                <a:off x="-1" y="0"/>
                <a:ext cx="911539" cy="925351"/>
                <a:chOff x="0" y="0"/>
                <a:chExt cx="911537" cy="925350"/>
              </a:xfrm>
            </p:grpSpPr>
            <p:sp>
              <p:nvSpPr>
                <p:cNvPr id="3883" name="Line 443"/>
                <p:cNvSpPr/>
                <p:nvPr/>
              </p:nvSpPr>
              <p:spPr>
                <a:xfrm>
                  <a:off x="754259" y="504545"/>
                  <a:ext cx="1" cy="13176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84" name="Line 449"/>
                <p:cNvSpPr/>
                <p:nvPr/>
              </p:nvSpPr>
              <p:spPr>
                <a:xfrm flipV="1">
                  <a:off x="363734" y="715683"/>
                  <a:ext cx="168275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3885" name="Picture 778" descr="Picture 778"/>
                <p:cNvPicPr>
                  <a:picLocks noChangeAspect="1"/>
                </p:cNvPicPr>
                <p:nvPr/>
              </p:nvPicPr>
              <p:blipFill>
                <a:blip r:embed="rId18">
                  <a:extLst/>
                </a:blip>
                <a:stretch>
                  <a:fillRect/>
                </a:stretch>
              </p:blipFill>
              <p:spPr>
                <a:xfrm>
                  <a:off x="68719" y="488505"/>
                  <a:ext cx="506413" cy="10601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3897" name="Group 414"/>
                <p:cNvGrpSpPr/>
                <p:nvPr/>
              </p:nvGrpSpPr>
              <p:grpSpPr>
                <a:xfrm>
                  <a:off x="556551" y="530885"/>
                  <a:ext cx="354987" cy="394466"/>
                  <a:chOff x="0" y="0"/>
                  <a:chExt cx="354985" cy="394464"/>
                </a:xfrm>
              </p:grpSpPr>
              <p:grpSp>
                <p:nvGrpSpPr>
                  <p:cNvPr id="3888" name="Freeform 415"/>
                  <p:cNvGrpSpPr/>
                  <p:nvPr/>
                </p:nvGrpSpPr>
                <p:grpSpPr>
                  <a:xfrm>
                    <a:off x="-1" y="61377"/>
                    <a:ext cx="354987" cy="333088"/>
                    <a:chOff x="0" y="0"/>
                    <a:chExt cx="354985" cy="333087"/>
                  </a:xfrm>
                </p:grpSpPr>
                <p:sp>
                  <p:nvSpPr>
                    <p:cNvPr id="3886" name="Shape"/>
                    <p:cNvSpPr/>
                    <p:nvPr/>
                  </p:nvSpPr>
                  <p:spPr>
                    <a:xfrm>
                      <a:off x="0" y="109113"/>
                      <a:ext cx="354986" cy="1148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887" name="Text"/>
                    <p:cNvSpPr txBox="1"/>
                    <p:nvPr/>
                  </p:nvSpPr>
                  <p:spPr>
                    <a:xfrm>
                      <a:off x="48894" y="0"/>
                      <a:ext cx="257196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3891" name="Oval 416"/>
                  <p:cNvGrpSpPr/>
                  <p:nvPr/>
                </p:nvGrpSpPr>
                <p:grpSpPr>
                  <a:xfrm>
                    <a:off x="204" y="-1"/>
                    <a:ext cx="354557" cy="333089"/>
                    <a:chOff x="0" y="0"/>
                    <a:chExt cx="354555" cy="333087"/>
                  </a:xfrm>
                </p:grpSpPr>
                <p:sp>
                  <p:nvSpPr>
                    <p:cNvPr id="3889" name="Oval"/>
                    <p:cNvSpPr/>
                    <p:nvPr/>
                  </p:nvSpPr>
                  <p:spPr>
                    <a:xfrm>
                      <a:off x="0" y="109684"/>
                      <a:ext cx="354556" cy="113721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890" name="Text"/>
                    <p:cNvSpPr txBox="1"/>
                    <p:nvPr/>
                  </p:nvSpPr>
                  <p:spPr>
                    <a:xfrm>
                      <a:off x="100818" y="0"/>
                      <a:ext cx="152920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3896" name="Group 417"/>
                  <p:cNvGrpSpPr/>
                  <p:nvPr/>
                </p:nvGrpSpPr>
                <p:grpSpPr>
                  <a:xfrm>
                    <a:off x="52647" y="124137"/>
                    <a:ext cx="249626" cy="83561"/>
                    <a:chOff x="0" y="0"/>
                    <a:chExt cx="249624" cy="83559"/>
                  </a:xfrm>
                </p:grpSpPr>
                <p:sp>
                  <p:nvSpPr>
                    <p:cNvPr id="3892" name="Freeform 418"/>
                    <p:cNvSpPr/>
                    <p:nvPr/>
                  </p:nvSpPr>
                  <p:spPr>
                    <a:xfrm>
                      <a:off x="6904" y="-1"/>
                      <a:ext cx="236141" cy="467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893" name="Freeform 419"/>
                    <p:cNvSpPr/>
                    <p:nvPr/>
                  </p:nvSpPr>
                  <p:spPr>
                    <a:xfrm>
                      <a:off x="161459" y="40010"/>
                      <a:ext cx="88166" cy="4027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894" name="Freeform 420"/>
                    <p:cNvSpPr/>
                    <p:nvPr/>
                  </p:nvSpPr>
                  <p:spPr>
                    <a:xfrm>
                      <a:off x="0" y="40010"/>
                      <a:ext cx="86572" cy="39804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895" name="Freeform 421"/>
                    <p:cNvSpPr/>
                    <p:nvPr/>
                  </p:nvSpPr>
                  <p:spPr>
                    <a:xfrm>
                      <a:off x="30053" y="20343"/>
                      <a:ext cx="188236" cy="6321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3898" name="Picture 1115" descr="Picture 1115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>
                  <a:off x="0" y="93715"/>
                  <a:ext cx="347997" cy="16755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899" name="Picture 1115" descr="Picture 1115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>
                  <a:off x="309916" y="0"/>
                  <a:ext cx="347998" cy="1675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3920" name="Group 15"/>
            <p:cNvGrpSpPr/>
            <p:nvPr/>
          </p:nvGrpSpPr>
          <p:grpSpPr>
            <a:xfrm>
              <a:off x="3445011" y="1568760"/>
              <a:ext cx="604587" cy="405974"/>
              <a:chOff x="0" y="0"/>
              <a:chExt cx="604585" cy="405973"/>
            </a:xfrm>
          </p:grpSpPr>
          <p:grpSp>
            <p:nvGrpSpPr>
              <p:cNvPr id="3913" name="Group 454"/>
              <p:cNvGrpSpPr/>
              <p:nvPr/>
            </p:nvGrpSpPr>
            <p:grpSpPr>
              <a:xfrm>
                <a:off x="0" y="140793"/>
                <a:ext cx="170989" cy="160910"/>
                <a:chOff x="0" y="0"/>
                <a:chExt cx="170988" cy="160909"/>
              </a:xfrm>
            </p:grpSpPr>
            <p:grpSp>
              <p:nvGrpSpPr>
                <p:cNvPr id="3904" name="Freeform 455"/>
                <p:cNvGrpSpPr/>
                <p:nvPr/>
              </p:nvGrpSpPr>
              <p:grpSpPr>
                <a:xfrm>
                  <a:off x="0" y="33909"/>
                  <a:ext cx="170989" cy="127001"/>
                  <a:chOff x="0" y="0"/>
                  <a:chExt cx="170988" cy="127000"/>
                </a:xfrm>
              </p:grpSpPr>
              <p:sp>
                <p:nvSpPr>
                  <p:cNvPr id="3902" name="Shape"/>
                  <p:cNvSpPr/>
                  <p:nvPr/>
                </p:nvSpPr>
                <p:spPr>
                  <a:xfrm>
                    <a:off x="0" y="31770"/>
                    <a:ext cx="170989" cy="634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903" name="Text"/>
                  <p:cNvSpPr txBox="1"/>
                  <p:nvPr/>
                </p:nvSpPr>
                <p:spPr>
                  <a:xfrm>
                    <a:off x="47307" y="0"/>
                    <a:ext cx="76375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3907" name="Oval 456"/>
                <p:cNvGrpSpPr/>
                <p:nvPr/>
              </p:nvGrpSpPr>
              <p:grpSpPr>
                <a:xfrm>
                  <a:off x="98" y="0"/>
                  <a:ext cx="170783" cy="127000"/>
                  <a:chOff x="0" y="0"/>
                  <a:chExt cx="170782" cy="127000"/>
                </a:xfrm>
              </p:grpSpPr>
              <p:sp>
                <p:nvSpPr>
                  <p:cNvPr id="3905" name="Oval"/>
                  <p:cNvSpPr/>
                  <p:nvPr/>
                </p:nvSpPr>
                <p:spPr>
                  <a:xfrm>
                    <a:off x="0" y="32086"/>
                    <a:ext cx="170783" cy="62829"/>
                  </a:xfrm>
                  <a:prstGeom prst="ellipse">
                    <a:avLst/>
                  </a:prstGeom>
                  <a:solidFill>
                    <a:srgbClr val="B8C2C9"/>
                  </a:soli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906" name="Text"/>
                  <p:cNvSpPr txBox="1"/>
                  <p:nvPr/>
                </p:nvSpPr>
                <p:spPr>
                  <a:xfrm>
                    <a:off x="72317" y="0"/>
                    <a:ext cx="26147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3912" name="Group 457"/>
                <p:cNvGrpSpPr/>
                <p:nvPr/>
              </p:nvGrpSpPr>
              <p:grpSpPr>
                <a:xfrm>
                  <a:off x="25359" y="40071"/>
                  <a:ext cx="120239" cy="46166"/>
                  <a:chOff x="0" y="0"/>
                  <a:chExt cx="120238" cy="46164"/>
                </a:xfrm>
              </p:grpSpPr>
              <p:sp>
                <p:nvSpPr>
                  <p:cNvPr id="3908" name="Freeform 458"/>
                  <p:cNvSpPr/>
                  <p:nvPr/>
                </p:nvSpPr>
                <p:spPr>
                  <a:xfrm>
                    <a:off x="3325" y="-1"/>
                    <a:ext cx="113745" cy="2584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909" name="Freeform 459"/>
                  <p:cNvSpPr/>
                  <p:nvPr/>
                </p:nvSpPr>
                <p:spPr>
                  <a:xfrm>
                    <a:off x="77771" y="22104"/>
                    <a:ext cx="42468" cy="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910" name="Freeform 460"/>
                  <p:cNvSpPr/>
                  <p:nvPr/>
                </p:nvSpPr>
                <p:spPr>
                  <a:xfrm>
                    <a:off x="0" y="22104"/>
                    <a:ext cx="41700" cy="2199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911" name="Freeform 461"/>
                  <p:cNvSpPr/>
                  <p:nvPr/>
                </p:nvSpPr>
                <p:spPr>
                  <a:xfrm>
                    <a:off x="14476" y="11239"/>
                    <a:ext cx="90669" cy="3492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3919" name="Group 391"/>
              <p:cNvGrpSpPr/>
              <p:nvPr/>
            </p:nvGrpSpPr>
            <p:grpSpPr>
              <a:xfrm>
                <a:off x="180862" y="0"/>
                <a:ext cx="423725" cy="405974"/>
                <a:chOff x="0" y="0"/>
                <a:chExt cx="423723" cy="405973"/>
              </a:xfrm>
            </p:grpSpPr>
            <p:sp>
              <p:nvSpPr>
                <p:cNvPr id="3914" name="Straight Connector 392"/>
                <p:cNvSpPr/>
                <p:nvPr/>
              </p:nvSpPr>
              <p:spPr>
                <a:xfrm>
                  <a:off x="0" y="216155"/>
                  <a:ext cx="16110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918" name="Group 394"/>
                <p:cNvGrpSpPr/>
                <p:nvPr/>
              </p:nvGrpSpPr>
              <p:grpSpPr>
                <a:xfrm>
                  <a:off x="118936" y="0"/>
                  <a:ext cx="304788" cy="405974"/>
                  <a:chOff x="0" y="0"/>
                  <a:chExt cx="304787" cy="405973"/>
                </a:xfrm>
              </p:grpSpPr>
              <p:pic>
                <p:nvPicPr>
                  <p:cNvPr id="3915" name="Picture 395" descr="Picture 395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176272" y="59397"/>
                    <a:ext cx="128516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916" name="Picture 396" descr="Picture 396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-1" y="52605"/>
                    <a:ext cx="128517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917" name="Picture 397" descr="Picture 397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74200" y="0"/>
                    <a:ext cx="166308" cy="40597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</p:grpSp>
        <p:grpSp>
          <p:nvGrpSpPr>
            <p:cNvPr id="3990" name="Group 9"/>
            <p:cNvGrpSpPr/>
            <p:nvPr/>
          </p:nvGrpSpPr>
          <p:grpSpPr>
            <a:xfrm>
              <a:off x="536806" y="2785746"/>
              <a:ext cx="2319346" cy="1341732"/>
              <a:chOff x="0" y="0"/>
              <a:chExt cx="2319344" cy="1341730"/>
            </a:xfrm>
          </p:grpSpPr>
          <p:sp>
            <p:nvSpPr>
              <p:cNvPr id="3921" name="Line 428"/>
              <p:cNvSpPr/>
              <p:nvPr/>
            </p:nvSpPr>
            <p:spPr>
              <a:xfrm flipH="1" flipV="1">
                <a:off x="2031493" y="381596"/>
                <a:ext cx="7561" cy="38806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922" name="Line 435"/>
              <p:cNvSpPr/>
              <p:nvPr/>
            </p:nvSpPr>
            <p:spPr>
              <a:xfrm>
                <a:off x="261839" y="437442"/>
                <a:ext cx="226801" cy="1270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923" name="Line 440"/>
              <p:cNvSpPr/>
              <p:nvPr/>
            </p:nvSpPr>
            <p:spPr>
              <a:xfrm flipV="1">
                <a:off x="511057" y="356670"/>
                <a:ext cx="404238" cy="20777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989" name="Group 3"/>
              <p:cNvGrpSpPr/>
              <p:nvPr/>
            </p:nvGrpSpPr>
            <p:grpSpPr>
              <a:xfrm>
                <a:off x="-1" y="-1"/>
                <a:ext cx="2319346" cy="1341732"/>
                <a:chOff x="0" y="0"/>
                <a:chExt cx="2319344" cy="1341730"/>
              </a:xfrm>
            </p:grpSpPr>
            <p:sp>
              <p:nvSpPr>
                <p:cNvPr id="3924" name="Line 430"/>
                <p:cNvSpPr/>
                <p:nvPr/>
              </p:nvSpPr>
              <p:spPr>
                <a:xfrm>
                  <a:off x="2205044" y="783179"/>
                  <a:ext cx="11430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25" name="Line 431"/>
                <p:cNvSpPr/>
                <p:nvPr/>
              </p:nvSpPr>
              <p:spPr>
                <a:xfrm>
                  <a:off x="1484592" y="158625"/>
                  <a:ext cx="524484" cy="26153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26" name="Line 432"/>
                <p:cNvSpPr/>
                <p:nvPr/>
              </p:nvSpPr>
              <p:spPr>
                <a:xfrm flipV="1">
                  <a:off x="901698" y="158625"/>
                  <a:ext cx="569256" cy="24626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27" name="Line 433"/>
                <p:cNvSpPr/>
                <p:nvPr/>
              </p:nvSpPr>
              <p:spPr>
                <a:xfrm>
                  <a:off x="873376" y="430254"/>
                  <a:ext cx="1030504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28" name="Line 436"/>
                <p:cNvSpPr/>
                <p:nvPr/>
              </p:nvSpPr>
              <p:spPr>
                <a:xfrm flipV="1">
                  <a:off x="-1" y="610578"/>
                  <a:ext cx="412752" cy="12700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29" name="Line 439"/>
                <p:cNvSpPr/>
                <p:nvPr/>
              </p:nvSpPr>
              <p:spPr>
                <a:xfrm flipH="1">
                  <a:off x="425450" y="602360"/>
                  <a:ext cx="68081" cy="29396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30" name="Line 440"/>
                <p:cNvSpPr/>
                <p:nvPr/>
              </p:nvSpPr>
              <p:spPr>
                <a:xfrm flipH="1" flipV="1">
                  <a:off x="540363" y="628039"/>
                  <a:ext cx="280376" cy="2698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31" name="Line 441"/>
                <p:cNvSpPr/>
                <p:nvPr/>
              </p:nvSpPr>
              <p:spPr>
                <a:xfrm>
                  <a:off x="540363" y="578156"/>
                  <a:ext cx="914186" cy="46862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932" name="Line 428"/>
                <p:cNvSpPr/>
                <p:nvPr/>
              </p:nvSpPr>
              <p:spPr>
                <a:xfrm flipH="1" flipV="1">
                  <a:off x="2119833" y="720924"/>
                  <a:ext cx="1483" cy="36679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3933" name="Picture 781" descr="Picture 781"/>
                <p:cNvPicPr>
                  <a:picLocks noChangeAspect="1"/>
                </p:cNvPicPr>
                <p:nvPr/>
              </p:nvPicPr>
              <p:blipFill>
                <a:blip r:embed="rId21">
                  <a:extLst/>
                </a:blip>
                <a:stretch>
                  <a:fillRect/>
                </a:stretch>
              </p:blipFill>
              <p:spPr>
                <a:xfrm>
                  <a:off x="1293706" y="801046"/>
                  <a:ext cx="452015" cy="9516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934" name="Picture 780" descr="Picture 780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1342243" y="844340"/>
                  <a:ext cx="380936" cy="3174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3946" name="Group 470"/>
                <p:cNvGrpSpPr/>
                <p:nvPr/>
              </p:nvGrpSpPr>
              <p:grpSpPr>
                <a:xfrm>
                  <a:off x="1835191" y="214296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3937" name="Freeform 471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3935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36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3940" name="Oval 472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3938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39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3945" name="Group 473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3941" name="Freeform 474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42" name="Freeform 475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43" name="Freeform 476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44" name="Freeform 477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3954" name="Group 519"/>
                <p:cNvGrpSpPr/>
                <p:nvPr/>
              </p:nvGrpSpPr>
              <p:grpSpPr>
                <a:xfrm>
                  <a:off x="1900998" y="659145"/>
                  <a:ext cx="309741" cy="190839"/>
                  <a:chOff x="0" y="0"/>
                  <a:chExt cx="309739" cy="190837"/>
                </a:xfrm>
              </p:grpSpPr>
              <p:sp>
                <p:nvSpPr>
                  <p:cNvPr id="3947" name="Rectangle 520"/>
                  <p:cNvSpPr/>
                  <p:nvPr/>
                </p:nvSpPr>
                <p:spPr>
                  <a:xfrm>
                    <a:off x="0" y="113922"/>
                    <a:ext cx="308626" cy="7691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32538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948" name="Freeform 521"/>
                  <p:cNvSpPr/>
                  <p:nvPr/>
                </p:nvSpPr>
                <p:spPr>
                  <a:xfrm>
                    <a:off x="857" y="-1"/>
                    <a:ext cx="308883" cy="1167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429"/>
                        </a:moveTo>
                        <a:lnTo>
                          <a:pt x="1440" y="0"/>
                        </a:lnTo>
                        <a:lnTo>
                          <a:pt x="19500" y="343"/>
                        </a:lnTo>
                        <a:lnTo>
                          <a:pt x="21600" y="21600"/>
                        </a:lnTo>
                        <a:lnTo>
                          <a:pt x="0" y="21429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grpSp>
                <p:nvGrpSpPr>
                  <p:cNvPr id="3953" name="Group 522"/>
                  <p:cNvGrpSpPr/>
                  <p:nvPr/>
                </p:nvGrpSpPr>
                <p:grpSpPr>
                  <a:xfrm>
                    <a:off x="22308" y="13603"/>
                    <a:ext cx="261399" cy="93969"/>
                    <a:chOff x="0" y="0"/>
                    <a:chExt cx="261398" cy="93968"/>
                  </a:xfrm>
                </p:grpSpPr>
                <p:sp>
                  <p:nvSpPr>
                    <p:cNvPr id="3949" name="Freeform 523"/>
                    <p:cNvSpPr/>
                    <p:nvPr/>
                  </p:nvSpPr>
                  <p:spPr>
                    <a:xfrm>
                      <a:off x="7230" y="-1"/>
                      <a:ext cx="247278" cy="5260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50" name="Freeform 524"/>
                    <p:cNvSpPr/>
                    <p:nvPr/>
                  </p:nvSpPr>
                  <p:spPr>
                    <a:xfrm>
                      <a:off x="169074" y="44994"/>
                      <a:ext cx="92325" cy="4528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51" name="Freeform 525"/>
                    <p:cNvSpPr/>
                    <p:nvPr/>
                  </p:nvSpPr>
                  <p:spPr>
                    <a:xfrm>
                      <a:off x="-1" y="44994"/>
                      <a:ext cx="90657" cy="447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52" name="Freeform 526"/>
                    <p:cNvSpPr/>
                    <p:nvPr/>
                  </p:nvSpPr>
                  <p:spPr>
                    <a:xfrm>
                      <a:off x="31470" y="22877"/>
                      <a:ext cx="197115" cy="7109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3966" name="Group 478"/>
                <p:cNvGrpSpPr/>
                <p:nvPr/>
              </p:nvGrpSpPr>
              <p:grpSpPr>
                <a:xfrm>
                  <a:off x="728252" y="191733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3957" name="Freeform 479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3955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56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3960" name="Oval 480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3958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59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3965" name="Group 481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3961" name="Freeform 482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62" name="Freeform 483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63" name="Freeform 484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64" name="Freeform 485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3974" name="Group 528"/>
                <p:cNvGrpSpPr/>
                <p:nvPr/>
              </p:nvGrpSpPr>
              <p:grpSpPr>
                <a:xfrm>
                  <a:off x="363152" y="514541"/>
                  <a:ext cx="309741" cy="190839"/>
                  <a:chOff x="0" y="0"/>
                  <a:chExt cx="309739" cy="190837"/>
                </a:xfrm>
              </p:grpSpPr>
              <p:sp>
                <p:nvSpPr>
                  <p:cNvPr id="3967" name="Rectangle 529"/>
                  <p:cNvSpPr/>
                  <p:nvPr/>
                </p:nvSpPr>
                <p:spPr>
                  <a:xfrm>
                    <a:off x="0" y="113922"/>
                    <a:ext cx="308626" cy="7691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32538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968" name="Freeform 530"/>
                  <p:cNvSpPr/>
                  <p:nvPr/>
                </p:nvSpPr>
                <p:spPr>
                  <a:xfrm>
                    <a:off x="857" y="-1"/>
                    <a:ext cx="308883" cy="1167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429"/>
                        </a:moveTo>
                        <a:lnTo>
                          <a:pt x="1440" y="0"/>
                        </a:lnTo>
                        <a:lnTo>
                          <a:pt x="19500" y="343"/>
                        </a:lnTo>
                        <a:lnTo>
                          <a:pt x="21600" y="21600"/>
                        </a:lnTo>
                        <a:lnTo>
                          <a:pt x="0" y="21429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grpSp>
                <p:nvGrpSpPr>
                  <p:cNvPr id="3973" name="Group 531"/>
                  <p:cNvGrpSpPr/>
                  <p:nvPr/>
                </p:nvGrpSpPr>
                <p:grpSpPr>
                  <a:xfrm>
                    <a:off x="22308" y="13603"/>
                    <a:ext cx="261399" cy="93969"/>
                    <a:chOff x="0" y="0"/>
                    <a:chExt cx="261398" cy="93968"/>
                  </a:xfrm>
                </p:grpSpPr>
                <p:sp>
                  <p:nvSpPr>
                    <p:cNvPr id="3969" name="Freeform 532"/>
                    <p:cNvSpPr/>
                    <p:nvPr/>
                  </p:nvSpPr>
                  <p:spPr>
                    <a:xfrm>
                      <a:off x="7230" y="-1"/>
                      <a:ext cx="247278" cy="5260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70" name="Freeform 533"/>
                    <p:cNvSpPr/>
                    <p:nvPr/>
                  </p:nvSpPr>
                  <p:spPr>
                    <a:xfrm>
                      <a:off x="169074" y="44994"/>
                      <a:ext cx="92325" cy="4528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71" name="Freeform 534"/>
                    <p:cNvSpPr/>
                    <p:nvPr/>
                  </p:nvSpPr>
                  <p:spPr>
                    <a:xfrm>
                      <a:off x="-1" y="44994"/>
                      <a:ext cx="90657" cy="447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72" name="Freeform 535"/>
                    <p:cNvSpPr/>
                    <p:nvPr/>
                  </p:nvSpPr>
                  <p:spPr>
                    <a:xfrm>
                      <a:off x="31470" y="22877"/>
                      <a:ext cx="197115" cy="7109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3986" name="Group 462"/>
                <p:cNvGrpSpPr/>
                <p:nvPr/>
              </p:nvGrpSpPr>
              <p:grpSpPr>
                <a:xfrm>
                  <a:off x="1299526" y="-1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3977" name="Freeform 463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3975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76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3980" name="Oval 464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3978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79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3985" name="Group 465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3981" name="Freeform 466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82" name="Freeform 467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83" name="Freeform 468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3984" name="Freeform 469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3987" name="Picture 1065" descr="Picture 1065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253314" y="1172917"/>
                  <a:ext cx="307703" cy="16881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3988" name="Picture 1065" descr="Picture 1065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586379" y="1115246"/>
                  <a:ext cx="316708" cy="13896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4009" name="Group 16"/>
            <p:cNvGrpSpPr/>
            <p:nvPr/>
          </p:nvGrpSpPr>
          <p:grpSpPr>
            <a:xfrm>
              <a:off x="3486908" y="2329186"/>
              <a:ext cx="657414" cy="451817"/>
              <a:chOff x="0" y="0"/>
              <a:chExt cx="657412" cy="451816"/>
            </a:xfrm>
          </p:grpSpPr>
          <p:grpSp>
            <p:nvGrpSpPr>
              <p:cNvPr id="3996" name="Group 374"/>
              <p:cNvGrpSpPr/>
              <p:nvPr/>
            </p:nvGrpSpPr>
            <p:grpSpPr>
              <a:xfrm>
                <a:off x="167574" y="0"/>
                <a:ext cx="489840" cy="451817"/>
                <a:chOff x="0" y="0"/>
                <a:chExt cx="489839" cy="451816"/>
              </a:xfrm>
            </p:grpSpPr>
            <p:sp>
              <p:nvSpPr>
                <p:cNvPr id="3991" name="Straight Connector 375"/>
                <p:cNvSpPr/>
                <p:nvPr/>
              </p:nvSpPr>
              <p:spPr>
                <a:xfrm>
                  <a:off x="-1" y="240564"/>
                  <a:ext cx="186245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3995" name="Group 377"/>
                <p:cNvGrpSpPr/>
                <p:nvPr/>
              </p:nvGrpSpPr>
              <p:grpSpPr>
                <a:xfrm>
                  <a:off x="137494" y="0"/>
                  <a:ext cx="352346" cy="451817"/>
                  <a:chOff x="0" y="0"/>
                  <a:chExt cx="352344" cy="451816"/>
                </a:xfrm>
              </p:grpSpPr>
              <p:pic>
                <p:nvPicPr>
                  <p:cNvPr id="3992" name="Picture 378" descr="Picture 378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203776" y="66104"/>
                    <a:ext cx="148569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993" name="Picture 379" descr="Picture 379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0" y="58546"/>
                    <a:ext cx="148568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3994" name="Picture 380" descr="Picture 380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85777" y="0"/>
                    <a:ext cx="192259" cy="451817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  <p:grpSp>
            <p:nvGrpSpPr>
              <p:cNvPr id="4008" name="Group 446"/>
              <p:cNvGrpSpPr/>
              <p:nvPr/>
            </p:nvGrpSpPr>
            <p:grpSpPr>
              <a:xfrm>
                <a:off x="0" y="94708"/>
                <a:ext cx="228296" cy="333088"/>
                <a:chOff x="0" y="0"/>
                <a:chExt cx="228295" cy="333087"/>
              </a:xfrm>
            </p:grpSpPr>
            <p:grpSp>
              <p:nvGrpSpPr>
                <p:cNvPr id="3999" name="Freeform 447"/>
                <p:cNvGrpSpPr/>
                <p:nvPr/>
              </p:nvGrpSpPr>
              <p:grpSpPr>
                <a:xfrm>
                  <a:off x="0" y="-1"/>
                  <a:ext cx="228296" cy="333089"/>
                  <a:chOff x="0" y="0"/>
                  <a:chExt cx="228295" cy="333087"/>
                </a:xfrm>
              </p:grpSpPr>
              <p:sp>
                <p:nvSpPr>
                  <p:cNvPr id="3997" name="Shape"/>
                  <p:cNvSpPr/>
                  <p:nvPr/>
                </p:nvSpPr>
                <p:spPr>
                  <a:xfrm>
                    <a:off x="0" y="127181"/>
                    <a:ext cx="228296" cy="787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3998" name="Text"/>
                  <p:cNvSpPr txBox="1"/>
                  <p:nvPr/>
                </p:nvSpPr>
                <p:spPr>
                  <a:xfrm>
                    <a:off x="47307" y="0"/>
                    <a:ext cx="133681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4002" name="Oval 448"/>
                <p:cNvGrpSpPr/>
                <p:nvPr/>
              </p:nvGrpSpPr>
              <p:grpSpPr>
                <a:xfrm>
                  <a:off x="131" y="60976"/>
                  <a:ext cx="228019" cy="127001"/>
                  <a:chOff x="0" y="0"/>
                  <a:chExt cx="228018" cy="127000"/>
                </a:xfrm>
              </p:grpSpPr>
              <p:sp>
                <p:nvSpPr>
                  <p:cNvPr id="4000" name="Oval"/>
                  <p:cNvSpPr/>
                  <p:nvPr/>
                </p:nvSpPr>
                <p:spPr>
                  <a:xfrm>
                    <a:off x="0" y="24529"/>
                    <a:ext cx="228019" cy="77943"/>
                  </a:xfrm>
                  <a:prstGeom prst="ellipse">
                    <a:avLst/>
                  </a:prstGeom>
                  <a:solidFill>
                    <a:srgbClr val="B8C2C9"/>
                  </a:soli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001" name="Text"/>
                  <p:cNvSpPr txBox="1"/>
                  <p:nvPr/>
                </p:nvSpPr>
                <p:spPr>
                  <a:xfrm>
                    <a:off x="80699" y="0"/>
                    <a:ext cx="66620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4007" name="Group 449"/>
                <p:cNvGrpSpPr/>
                <p:nvPr/>
              </p:nvGrpSpPr>
              <p:grpSpPr>
                <a:xfrm>
                  <a:off x="33858" y="95412"/>
                  <a:ext cx="160537" cy="57271"/>
                  <a:chOff x="0" y="0"/>
                  <a:chExt cx="160536" cy="57270"/>
                </a:xfrm>
              </p:grpSpPr>
              <p:sp>
                <p:nvSpPr>
                  <p:cNvPr id="4003" name="Freeform 450"/>
                  <p:cNvSpPr/>
                  <p:nvPr/>
                </p:nvSpPr>
                <p:spPr>
                  <a:xfrm>
                    <a:off x="4440" y="-1"/>
                    <a:ext cx="151865" cy="320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004" name="Freeform 451"/>
                  <p:cNvSpPr/>
                  <p:nvPr/>
                </p:nvSpPr>
                <p:spPr>
                  <a:xfrm>
                    <a:off x="103836" y="27422"/>
                    <a:ext cx="56701" cy="276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005" name="Freeform 452"/>
                  <p:cNvSpPr/>
                  <p:nvPr/>
                </p:nvSpPr>
                <p:spPr>
                  <a:xfrm>
                    <a:off x="-1" y="27422"/>
                    <a:ext cx="55677" cy="272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006" name="Freeform 453"/>
                  <p:cNvSpPr/>
                  <p:nvPr/>
                </p:nvSpPr>
                <p:spPr>
                  <a:xfrm>
                    <a:off x="19327" y="13943"/>
                    <a:ext cx="121057" cy="433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</p:grpSp>
      </p:grpSp>
      <p:grpSp>
        <p:nvGrpSpPr>
          <p:cNvPr id="4026" name="Group 6"/>
          <p:cNvGrpSpPr/>
          <p:nvPr/>
        </p:nvGrpSpPr>
        <p:grpSpPr>
          <a:xfrm>
            <a:off x="7380479" y="1798646"/>
            <a:ext cx="4322983" cy="3949460"/>
            <a:chOff x="0" y="0"/>
            <a:chExt cx="4322982" cy="3949459"/>
          </a:xfrm>
        </p:grpSpPr>
        <p:sp>
          <p:nvSpPr>
            <p:cNvPr id="4011" name="Oval 608"/>
            <p:cNvSpPr/>
            <p:nvPr/>
          </p:nvSpPr>
          <p:spPr>
            <a:xfrm>
              <a:off x="99972" y="1951638"/>
              <a:ext cx="1007402" cy="448211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2" name="Oval 609"/>
            <p:cNvSpPr/>
            <p:nvPr/>
          </p:nvSpPr>
          <p:spPr>
            <a:xfrm rot="1622536">
              <a:off x="1186348" y="3594771"/>
              <a:ext cx="887741" cy="161725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3" name="Oval 612"/>
            <p:cNvSpPr/>
            <p:nvPr/>
          </p:nvSpPr>
          <p:spPr>
            <a:xfrm>
              <a:off x="1327406" y="171926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4" name="Oval 632"/>
            <p:cNvSpPr/>
            <p:nvPr/>
          </p:nvSpPr>
          <p:spPr>
            <a:xfrm>
              <a:off x="1220822" y="2887436"/>
              <a:ext cx="1698837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5" name="Oval 634"/>
            <p:cNvSpPr/>
            <p:nvPr/>
          </p:nvSpPr>
          <p:spPr>
            <a:xfrm>
              <a:off x="791147" y="3205009"/>
              <a:ext cx="660041" cy="553827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6" name="Oval 635"/>
            <p:cNvSpPr/>
            <p:nvPr/>
          </p:nvSpPr>
          <p:spPr>
            <a:xfrm>
              <a:off x="1189465" y="430695"/>
              <a:ext cx="503075" cy="24332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7" name="Oval 636"/>
            <p:cNvSpPr/>
            <p:nvPr/>
          </p:nvSpPr>
          <p:spPr>
            <a:xfrm>
              <a:off x="2388972" y="3364377"/>
              <a:ext cx="612305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8" name="Oval 637"/>
            <p:cNvSpPr/>
            <p:nvPr/>
          </p:nvSpPr>
          <p:spPr>
            <a:xfrm rot="2528345">
              <a:off x="849424" y="828830"/>
              <a:ext cx="612305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9" name="Oval 638"/>
            <p:cNvSpPr/>
            <p:nvPr/>
          </p:nvSpPr>
          <p:spPr>
            <a:xfrm>
              <a:off x="523734" y="295985"/>
              <a:ext cx="612304" cy="754265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20" name="Oval 570"/>
            <p:cNvSpPr/>
            <p:nvPr/>
          </p:nvSpPr>
          <p:spPr>
            <a:xfrm>
              <a:off x="344419" y="0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21" name="Oval 571"/>
            <p:cNvSpPr/>
            <p:nvPr/>
          </p:nvSpPr>
          <p:spPr>
            <a:xfrm>
              <a:off x="0" y="491054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22" name="Oval 574"/>
            <p:cNvSpPr/>
            <p:nvPr/>
          </p:nvSpPr>
          <p:spPr>
            <a:xfrm>
              <a:off x="359061" y="1413569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23" name="Oval 575"/>
            <p:cNvSpPr/>
            <p:nvPr/>
          </p:nvSpPr>
          <p:spPr>
            <a:xfrm>
              <a:off x="13304" y="1527417"/>
              <a:ext cx="473397" cy="244213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24" name="Oval 639"/>
            <p:cNvSpPr/>
            <p:nvPr/>
          </p:nvSpPr>
          <p:spPr>
            <a:xfrm>
              <a:off x="3432409" y="1569995"/>
              <a:ext cx="813045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25" name="Oval 640"/>
            <p:cNvSpPr/>
            <p:nvPr/>
          </p:nvSpPr>
          <p:spPr>
            <a:xfrm>
              <a:off x="3509938" y="2350011"/>
              <a:ext cx="813045" cy="510069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027" name="Content Placeholder 2"/>
          <p:cNvSpPr txBox="1"/>
          <p:nvPr>
            <p:ph type="body" sz="quarter" idx="1"/>
          </p:nvPr>
        </p:nvSpPr>
        <p:spPr>
          <a:xfrm>
            <a:off x="839284" y="1424002"/>
            <a:ext cx="5823899" cy="2635218"/>
          </a:xfrm>
          <a:prstGeom prst="rect">
            <a:avLst/>
          </a:prstGeom>
        </p:spPr>
        <p:txBody>
          <a:bodyPr/>
          <a:lstStyle/>
          <a:p>
            <a:pPr marL="222250" indent="-92075">
              <a:spcBef>
                <a:spcPts val="600"/>
              </a:spcBef>
              <a:buSzTx/>
              <a:buFont typeface="Wingdings"/>
              <a:buNone/>
              <a:defRPr i="1" sz="3200">
                <a:solidFill>
                  <a:srgbClr val="CC0000"/>
                </a:solidFill>
              </a:defRPr>
            </a:pPr>
            <a:r>
              <a:t>Q: How to connect end systems to edge router?</a:t>
            </a:r>
          </a:p>
          <a:p>
            <a:pPr>
              <a:spcBef>
                <a:spcPts val="600"/>
              </a:spcBef>
              <a:buSzPct val="75000"/>
              <a:defRPr sz="2400"/>
            </a:pPr>
            <a:r>
              <a:t>residential access nets</a:t>
            </a:r>
          </a:p>
          <a:p>
            <a:pPr>
              <a:spcBef>
                <a:spcPts val="600"/>
              </a:spcBef>
              <a:buSzPct val="75000"/>
              <a:defRPr sz="2400"/>
            </a:pPr>
            <a:r>
              <a:t>institutional access networks (school, company)</a:t>
            </a:r>
          </a:p>
          <a:p>
            <a:pPr>
              <a:spcBef>
                <a:spcPts val="800"/>
              </a:spcBef>
              <a:buSzPct val="75000"/>
              <a:defRPr sz="2400"/>
            </a:pPr>
            <a:r>
              <a:t>mobile access networks (WiFi, 4G/5G)</a:t>
            </a:r>
          </a:p>
        </p:txBody>
      </p:sp>
      <p:sp>
        <p:nvSpPr>
          <p:cNvPr id="402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0" name="Title 1"/>
          <p:cNvSpPr txBox="1"/>
          <p:nvPr>
            <p:ph type="title"/>
          </p:nvPr>
        </p:nvSpPr>
        <p:spPr>
          <a:xfrm>
            <a:off x="848710" y="273145"/>
            <a:ext cx="10515601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Access networks: home networks</a:t>
            </a:r>
          </a:p>
        </p:txBody>
      </p:sp>
      <p:sp>
        <p:nvSpPr>
          <p:cNvPr id="4031" name="AutoShape 99"/>
          <p:cNvSpPr/>
          <p:nvPr/>
        </p:nvSpPr>
        <p:spPr>
          <a:xfrm>
            <a:off x="2624905" y="1540065"/>
            <a:ext cx="5649913" cy="768350"/>
          </a:xfrm>
          <a:prstGeom prst="triangle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4032" name="Text Box 26"/>
          <p:cNvSpPr txBox="1"/>
          <p:nvPr/>
        </p:nvSpPr>
        <p:spPr>
          <a:xfrm>
            <a:off x="8588662" y="3493568"/>
            <a:ext cx="2805749" cy="715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85000"/>
              </a:lnSpc>
              <a:defRPr sz="2400"/>
            </a:lvl1pPr>
          </a:lstStyle>
          <a:p>
            <a:pPr/>
            <a:r>
              <a:t>to/from headend or central office</a:t>
            </a:r>
          </a:p>
        </p:txBody>
      </p:sp>
      <p:sp>
        <p:nvSpPr>
          <p:cNvPr id="4033" name="Rectangle 87"/>
          <p:cNvSpPr/>
          <p:nvPr/>
        </p:nvSpPr>
        <p:spPr>
          <a:xfrm>
            <a:off x="3059880" y="2294127"/>
            <a:ext cx="4781551" cy="266223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grpSp>
        <p:nvGrpSpPr>
          <p:cNvPr id="4043" name="Group 105"/>
          <p:cNvGrpSpPr/>
          <p:nvPr/>
        </p:nvGrpSpPr>
        <p:grpSpPr>
          <a:xfrm>
            <a:off x="6158679" y="3633978"/>
            <a:ext cx="3000376" cy="361950"/>
            <a:chOff x="0" y="0"/>
            <a:chExt cx="3000375" cy="361949"/>
          </a:xfrm>
        </p:grpSpPr>
        <p:grpSp>
          <p:nvGrpSpPr>
            <p:cNvPr id="4040" name="Group 91"/>
            <p:cNvGrpSpPr/>
            <p:nvPr/>
          </p:nvGrpSpPr>
          <p:grpSpPr>
            <a:xfrm>
              <a:off x="457199" y="-1"/>
              <a:ext cx="1019176" cy="361951"/>
              <a:chOff x="0" y="0"/>
              <a:chExt cx="1019174" cy="361949"/>
            </a:xfrm>
          </p:grpSpPr>
          <p:sp>
            <p:nvSpPr>
              <p:cNvPr id="4034" name="Rectangle 92"/>
              <p:cNvSpPr/>
              <p:nvPr/>
            </p:nvSpPr>
            <p:spPr>
              <a:xfrm>
                <a:off x="1168" y="121717"/>
                <a:ext cx="1018007" cy="240233"/>
              </a:xfrm>
              <a:prstGeom prst="rect">
                <a:avLst/>
              </a:prstGeom>
              <a:solidFill>
                <a:srgbClr val="BFBFB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4035" name="Rectangle 93"/>
              <p:cNvSpPr/>
              <p:nvPr/>
            </p:nvSpPr>
            <p:spPr>
              <a:xfrm>
                <a:off x="82983" y="195388"/>
                <a:ext cx="66621" cy="60859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4036" name="Rectangle 94"/>
              <p:cNvSpPr/>
              <p:nvPr/>
            </p:nvSpPr>
            <p:spPr>
              <a:xfrm>
                <a:off x="169472" y="195388"/>
                <a:ext cx="65452" cy="60859"/>
              </a:xfrm>
              <a:prstGeom prst="rect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4037" name="Rectangle 95"/>
              <p:cNvSpPr/>
              <p:nvPr/>
            </p:nvSpPr>
            <p:spPr>
              <a:xfrm>
                <a:off x="255962" y="193253"/>
                <a:ext cx="65452" cy="58724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4038" name="Rectangle 96"/>
              <p:cNvSpPr/>
              <p:nvPr/>
            </p:nvSpPr>
            <p:spPr>
              <a:xfrm>
                <a:off x="342452" y="193253"/>
                <a:ext cx="65452" cy="58724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4039" name="AutoShape 97"/>
              <p:cNvSpPr/>
              <p:nvPr/>
            </p:nvSpPr>
            <p:spPr>
              <a:xfrm flipH="1" rot="10800000">
                <a:off x="-1" y="0"/>
                <a:ext cx="1003982" cy="1174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/>
                </a:pPr>
              </a:p>
            </p:txBody>
          </p:sp>
        </p:grpSp>
        <p:sp>
          <p:nvSpPr>
            <p:cNvPr id="4041" name="Line 102"/>
            <p:cNvSpPr/>
            <p:nvPr/>
          </p:nvSpPr>
          <p:spPr>
            <a:xfrm flipH="1" flipV="1">
              <a:off x="1471612" y="236537"/>
              <a:ext cx="152876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42" name="Line 104"/>
            <p:cNvSpPr/>
            <p:nvPr/>
          </p:nvSpPr>
          <p:spPr>
            <a:xfrm flipH="1" flipV="1">
              <a:off x="-1" y="241300"/>
              <a:ext cx="45720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044" name="Line 116"/>
          <p:cNvSpPr/>
          <p:nvPr/>
        </p:nvSpPr>
        <p:spPr>
          <a:xfrm flipH="1">
            <a:off x="4306066" y="3845114"/>
            <a:ext cx="822327" cy="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047" name="Group 119"/>
          <p:cNvGrpSpPr/>
          <p:nvPr/>
        </p:nvGrpSpPr>
        <p:grpSpPr>
          <a:xfrm>
            <a:off x="3685354" y="3265678"/>
            <a:ext cx="1068388" cy="820738"/>
            <a:chOff x="0" y="0"/>
            <a:chExt cx="1068387" cy="820737"/>
          </a:xfrm>
        </p:grpSpPr>
        <p:pic>
          <p:nvPicPr>
            <p:cNvPr id="4045" name="Picture 120" descr="Picture 120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1011" y="106367"/>
              <a:ext cx="780954" cy="7143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46" name="Picture 121" descr="Picture 12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068388" cy="246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048" name="Line 122"/>
          <p:cNvSpPr/>
          <p:nvPr/>
        </p:nvSpPr>
        <p:spPr>
          <a:xfrm flipV="1">
            <a:off x="5633425" y="3109100"/>
            <a:ext cx="1" cy="468313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051" name="Group 138"/>
          <p:cNvGrpSpPr/>
          <p:nvPr/>
        </p:nvGrpSpPr>
        <p:grpSpPr>
          <a:xfrm>
            <a:off x="7242624" y="4084827"/>
            <a:ext cx="2435861" cy="1294269"/>
            <a:chOff x="0" y="0"/>
            <a:chExt cx="2435860" cy="1294268"/>
          </a:xfrm>
        </p:grpSpPr>
        <p:sp>
          <p:nvSpPr>
            <p:cNvPr id="4049" name="Text Box 39"/>
            <p:cNvSpPr txBox="1"/>
            <p:nvPr/>
          </p:nvSpPr>
          <p:spPr>
            <a:xfrm>
              <a:off x="0" y="954086"/>
              <a:ext cx="2435861" cy="340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80000"/>
                </a:lnSpc>
                <a:defRPr sz="2000"/>
              </a:lvl1pPr>
            </a:lstStyle>
            <a:p>
              <a:pPr/>
              <a:r>
                <a:t>cable or DSL modem</a:t>
              </a:r>
            </a:p>
          </p:txBody>
        </p:sp>
        <p:sp>
          <p:nvSpPr>
            <p:cNvPr id="4050" name="Line 129"/>
            <p:cNvSpPr/>
            <p:nvPr/>
          </p:nvSpPr>
          <p:spPr>
            <a:xfrm flipH="1">
              <a:off x="103505" y="0"/>
              <a:ext cx="1" cy="936625"/>
            </a:xfrm>
            <a:prstGeom prst="line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054" name="Group 139"/>
          <p:cNvGrpSpPr/>
          <p:nvPr/>
        </p:nvGrpSpPr>
        <p:grpSpPr>
          <a:xfrm>
            <a:off x="5977386" y="4076891"/>
            <a:ext cx="2502537" cy="1807032"/>
            <a:chOff x="0" y="0"/>
            <a:chExt cx="2502535" cy="1807031"/>
          </a:xfrm>
        </p:grpSpPr>
        <p:sp>
          <p:nvSpPr>
            <p:cNvPr id="4052" name="Text Box 39"/>
            <p:cNvSpPr txBox="1"/>
            <p:nvPr/>
          </p:nvSpPr>
          <p:spPr>
            <a:xfrm>
              <a:off x="0" y="1466850"/>
              <a:ext cx="2502536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80000"/>
                </a:lnSpc>
                <a:defRPr sz="2000"/>
              </a:lvl1pPr>
            </a:lstStyle>
            <a:p>
              <a:pPr/>
              <a:r>
                <a:t>router, firewall, NAT</a:t>
              </a:r>
            </a:p>
          </p:txBody>
        </p:sp>
        <p:sp>
          <p:nvSpPr>
            <p:cNvPr id="4053" name="Line 133"/>
            <p:cNvSpPr/>
            <p:nvPr/>
          </p:nvSpPr>
          <p:spPr>
            <a:xfrm flipH="1">
              <a:off x="92392" y="0"/>
              <a:ext cx="1" cy="1489076"/>
            </a:xfrm>
            <a:prstGeom prst="line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057" name="Group 141"/>
          <p:cNvGrpSpPr/>
          <p:nvPr/>
        </p:nvGrpSpPr>
        <p:grpSpPr>
          <a:xfrm>
            <a:off x="5479229" y="4957951"/>
            <a:ext cx="2878456" cy="1420302"/>
            <a:chOff x="0" y="0"/>
            <a:chExt cx="2878455" cy="1420300"/>
          </a:xfrm>
        </p:grpSpPr>
        <p:sp>
          <p:nvSpPr>
            <p:cNvPr id="4055" name="Line 134"/>
            <p:cNvSpPr/>
            <p:nvPr/>
          </p:nvSpPr>
          <p:spPr>
            <a:xfrm flipH="1">
              <a:off x="0" y="0"/>
              <a:ext cx="1" cy="1078969"/>
            </a:xfrm>
            <a:prstGeom prst="line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56" name="Text Box 39"/>
            <p:cNvSpPr txBox="1"/>
            <p:nvPr/>
          </p:nvSpPr>
          <p:spPr>
            <a:xfrm>
              <a:off x="42544" y="1080119"/>
              <a:ext cx="2835912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80000"/>
                </a:lnSpc>
                <a:defRPr sz="2000"/>
              </a:lvl1pPr>
            </a:lstStyle>
            <a:p>
              <a:pPr/>
              <a:r>
                <a:t>wired Ethernet (1 Gbps)</a:t>
              </a:r>
            </a:p>
          </p:txBody>
        </p:sp>
      </p:grpSp>
      <p:grpSp>
        <p:nvGrpSpPr>
          <p:cNvPr id="4060" name="Group 140"/>
          <p:cNvGrpSpPr/>
          <p:nvPr/>
        </p:nvGrpSpPr>
        <p:grpSpPr>
          <a:xfrm>
            <a:off x="1953075" y="4107050"/>
            <a:ext cx="2262822" cy="2108121"/>
            <a:chOff x="0" y="0"/>
            <a:chExt cx="2262821" cy="2108119"/>
          </a:xfrm>
        </p:grpSpPr>
        <p:sp>
          <p:nvSpPr>
            <p:cNvPr id="4058" name="Line 136"/>
            <p:cNvSpPr/>
            <p:nvPr/>
          </p:nvSpPr>
          <p:spPr>
            <a:xfrm flipH="1">
              <a:off x="2076766" y="0"/>
              <a:ext cx="1" cy="1489074"/>
            </a:xfrm>
            <a:prstGeom prst="line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59" name="Text Box 39"/>
            <p:cNvSpPr txBox="1"/>
            <p:nvPr/>
          </p:nvSpPr>
          <p:spPr>
            <a:xfrm>
              <a:off x="0" y="1512886"/>
              <a:ext cx="2262822" cy="595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r">
                <a:lnSpc>
                  <a:spcPct val="80000"/>
                </a:lnSpc>
                <a:defRPr sz="2000"/>
              </a:pPr>
              <a:r>
                <a:t>WiFi wireless access 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algn="r">
                <a:lnSpc>
                  <a:spcPct val="80000"/>
                </a:lnSpc>
                <a:defRPr sz="2000"/>
              </a:pPr>
              <a:r>
                <a:t>point (54, 450 Mbps)</a:t>
              </a:r>
            </a:p>
          </p:txBody>
        </p:sp>
      </p:grpSp>
      <p:sp>
        <p:nvSpPr>
          <p:cNvPr id="4061" name="Text Box 142"/>
          <p:cNvSpPr txBox="1"/>
          <p:nvPr/>
        </p:nvSpPr>
        <p:spPr>
          <a:xfrm>
            <a:off x="2338321" y="1599823"/>
            <a:ext cx="2465151" cy="73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90000"/>
              </a:lnSpc>
              <a:defRPr sz="2400"/>
            </a:pPr>
            <a:r>
              <a:t>Wireless and wired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90000"/>
              </a:lnSpc>
              <a:defRPr sz="2400"/>
            </a:pPr>
            <a:r>
              <a:t>devices</a:t>
            </a:r>
          </a:p>
        </p:txBody>
      </p:sp>
      <p:grpSp>
        <p:nvGrpSpPr>
          <p:cNvPr id="4064" name="Group 143"/>
          <p:cNvGrpSpPr/>
          <p:nvPr/>
        </p:nvGrpSpPr>
        <p:grpSpPr>
          <a:xfrm>
            <a:off x="3255142" y="2335402"/>
            <a:ext cx="733426" cy="758826"/>
            <a:chOff x="0" y="0"/>
            <a:chExt cx="733425" cy="758825"/>
          </a:xfrm>
        </p:grpSpPr>
        <p:pic>
          <p:nvPicPr>
            <p:cNvPr id="4062" name="Picture 144" descr="Picture 144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80987" y="112712"/>
              <a:ext cx="241301" cy="646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63" name="Picture 145" descr="Picture 145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733425" cy="1746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065" name="Line 146"/>
          <p:cNvSpPr/>
          <p:nvPr/>
        </p:nvSpPr>
        <p:spPr>
          <a:xfrm>
            <a:off x="5632155" y="4054099"/>
            <a:ext cx="3" cy="22512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66" name="Oval 147"/>
          <p:cNvSpPr/>
          <p:nvPr/>
        </p:nvSpPr>
        <p:spPr>
          <a:xfrm>
            <a:off x="3151955" y="3382612"/>
            <a:ext cx="4895851" cy="810171"/>
          </a:xfrm>
          <a:prstGeom prst="ellipse">
            <a:avLst/>
          </a:prstGeom>
          <a:ln w="19050">
            <a:solidFill>
              <a:srgbClr val="CC0000"/>
            </a:solidFill>
            <a:prstDash val="dash"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grpSp>
        <p:nvGrpSpPr>
          <p:cNvPr id="4069" name="Group 150"/>
          <p:cNvGrpSpPr/>
          <p:nvPr/>
        </p:nvGrpSpPr>
        <p:grpSpPr>
          <a:xfrm>
            <a:off x="1961786" y="3913382"/>
            <a:ext cx="1630224" cy="798491"/>
            <a:chOff x="0" y="0"/>
            <a:chExt cx="1630223" cy="798490"/>
          </a:xfrm>
        </p:grpSpPr>
        <p:sp>
          <p:nvSpPr>
            <p:cNvPr id="4067" name="Text Box 148"/>
            <p:cNvSpPr txBox="1"/>
            <p:nvPr/>
          </p:nvSpPr>
          <p:spPr>
            <a:xfrm>
              <a:off x="0" y="209549"/>
              <a:ext cx="1630224" cy="588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r">
                <a:lnSpc>
                  <a:spcPct val="85000"/>
                </a:lnSpc>
              </a:pPr>
              <a:r>
                <a:t>often combined 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algn="r">
                <a:lnSpc>
                  <a:spcPct val="85000"/>
                </a:lnSpc>
              </a:pPr>
              <a:r>
                <a:t>in single box</a:t>
              </a:r>
            </a:p>
          </p:txBody>
        </p:sp>
        <p:sp>
          <p:nvSpPr>
            <p:cNvPr id="4068" name="Line 149"/>
            <p:cNvSpPr/>
            <p:nvPr/>
          </p:nvSpPr>
          <p:spPr>
            <a:xfrm flipV="1">
              <a:off x="845680" y="-1"/>
              <a:ext cx="377826" cy="2730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093" name="Group 151"/>
          <p:cNvGrpSpPr/>
          <p:nvPr/>
        </p:nvGrpSpPr>
        <p:grpSpPr>
          <a:xfrm>
            <a:off x="4250504" y="1948052"/>
            <a:ext cx="954088" cy="1039379"/>
            <a:chOff x="0" y="0"/>
            <a:chExt cx="954087" cy="1039377"/>
          </a:xfrm>
        </p:grpSpPr>
        <p:pic>
          <p:nvPicPr>
            <p:cNvPr id="4070" name="Picture 152" descr="Picture 152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946447" cy="5633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71" name="Picture 153" descr="Picture 153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 flipH="1" rot="109063">
              <a:off x="45846" y="625543"/>
              <a:ext cx="779733" cy="4015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72" name="Freeform 154"/>
            <p:cNvSpPr/>
            <p:nvPr/>
          </p:nvSpPr>
          <p:spPr>
            <a:xfrm>
              <a:off x="304252" y="235867"/>
              <a:ext cx="627607" cy="524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pic>
          <p:nvPicPr>
            <p:cNvPr id="4073" name="Picture 155" descr="Picture 155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35163" y="249345"/>
              <a:ext cx="570300" cy="4768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74" name="Freeform 156"/>
            <p:cNvSpPr/>
            <p:nvPr/>
          </p:nvSpPr>
          <p:spPr>
            <a:xfrm>
              <a:off x="418520" y="220406"/>
              <a:ext cx="531747" cy="97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75" name="Freeform 157"/>
            <p:cNvSpPr/>
            <p:nvPr/>
          </p:nvSpPr>
          <p:spPr>
            <a:xfrm>
              <a:off x="298694" y="219614"/>
              <a:ext cx="147612" cy="405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76" name="Freeform 158"/>
            <p:cNvSpPr/>
            <p:nvPr/>
          </p:nvSpPr>
          <p:spPr>
            <a:xfrm>
              <a:off x="787373" y="292158"/>
              <a:ext cx="159073" cy="468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77" name="Freeform 159"/>
            <p:cNvSpPr/>
            <p:nvPr/>
          </p:nvSpPr>
          <p:spPr>
            <a:xfrm>
              <a:off x="296958" y="604929"/>
              <a:ext cx="544177" cy="1581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78" name="Freeform 160"/>
            <p:cNvSpPr/>
            <p:nvPr/>
          </p:nvSpPr>
          <p:spPr>
            <a:xfrm>
              <a:off x="805086" y="296122"/>
              <a:ext cx="149002" cy="470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79" name="Freeform 161"/>
            <p:cNvSpPr/>
            <p:nvPr/>
          </p:nvSpPr>
          <p:spPr>
            <a:xfrm>
              <a:off x="297652" y="625939"/>
              <a:ext cx="518897" cy="15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grpSp>
          <p:nvGrpSpPr>
            <p:cNvPr id="4086" name="Group 162"/>
            <p:cNvGrpSpPr/>
            <p:nvPr/>
          </p:nvGrpSpPr>
          <p:grpSpPr>
            <a:xfrm>
              <a:off x="288969" y="792830"/>
              <a:ext cx="176092" cy="92762"/>
              <a:chOff x="0" y="0"/>
              <a:chExt cx="176091" cy="92761"/>
            </a:xfrm>
          </p:grpSpPr>
          <p:sp>
            <p:nvSpPr>
              <p:cNvPr id="4080" name="Freeform 163"/>
              <p:cNvSpPr/>
              <p:nvPr/>
            </p:nvSpPr>
            <p:spPr>
              <a:xfrm>
                <a:off x="0" y="0"/>
                <a:ext cx="176092" cy="927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000"/>
                </a:pPr>
              </a:p>
            </p:txBody>
          </p:sp>
          <p:sp>
            <p:nvSpPr>
              <p:cNvPr id="4081" name="Freeform 164"/>
              <p:cNvSpPr/>
              <p:nvPr/>
            </p:nvSpPr>
            <p:spPr>
              <a:xfrm>
                <a:off x="3278" y="1985"/>
                <a:ext cx="170004" cy="882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000"/>
                </a:pPr>
              </a:p>
            </p:txBody>
          </p:sp>
          <p:sp>
            <p:nvSpPr>
              <p:cNvPr id="4082" name="Freeform 165"/>
              <p:cNvSpPr/>
              <p:nvPr/>
            </p:nvSpPr>
            <p:spPr>
              <a:xfrm>
                <a:off x="15923" y="36310"/>
                <a:ext cx="60415" cy="283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000"/>
                </a:pPr>
              </a:p>
            </p:txBody>
          </p:sp>
          <p:sp>
            <p:nvSpPr>
              <p:cNvPr id="4083" name="Freeform 166"/>
              <p:cNvSpPr/>
              <p:nvPr/>
            </p:nvSpPr>
            <p:spPr>
              <a:xfrm>
                <a:off x="13815" y="49359"/>
                <a:ext cx="45429" cy="178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000"/>
                </a:pPr>
              </a:p>
            </p:txBody>
          </p:sp>
          <p:sp>
            <p:nvSpPr>
              <p:cNvPr id="4084" name="Freeform 167"/>
              <p:cNvSpPr/>
              <p:nvPr/>
            </p:nvSpPr>
            <p:spPr>
              <a:xfrm>
                <a:off x="65565" y="54465"/>
                <a:ext cx="60416" cy="289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000"/>
                </a:pPr>
              </a:p>
            </p:txBody>
          </p:sp>
          <p:sp>
            <p:nvSpPr>
              <p:cNvPr id="4085" name="Freeform 168"/>
              <p:cNvSpPr/>
              <p:nvPr/>
            </p:nvSpPr>
            <p:spPr>
              <a:xfrm>
                <a:off x="63458" y="68081"/>
                <a:ext cx="45429" cy="178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000"/>
                </a:pPr>
              </a:p>
            </p:txBody>
          </p:sp>
        </p:grpSp>
        <p:sp>
          <p:nvSpPr>
            <p:cNvPr id="4087" name="Freeform 169"/>
            <p:cNvSpPr/>
            <p:nvPr/>
          </p:nvSpPr>
          <p:spPr>
            <a:xfrm>
              <a:off x="590443" y="806705"/>
              <a:ext cx="213255" cy="203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88" name="Freeform 170"/>
            <p:cNvSpPr/>
            <p:nvPr/>
          </p:nvSpPr>
          <p:spPr>
            <a:xfrm>
              <a:off x="46193" y="822958"/>
              <a:ext cx="545640" cy="185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89" name="Freeform 171"/>
            <p:cNvSpPr/>
            <p:nvPr/>
          </p:nvSpPr>
          <p:spPr>
            <a:xfrm>
              <a:off x="43143" y="788866"/>
              <a:ext cx="12701" cy="37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90" name="Freeform 172"/>
            <p:cNvSpPr/>
            <p:nvPr/>
          </p:nvSpPr>
          <p:spPr>
            <a:xfrm>
              <a:off x="46888" y="635453"/>
              <a:ext cx="253544" cy="15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91" name="Freeform 173"/>
            <p:cNvSpPr/>
            <p:nvPr/>
          </p:nvSpPr>
          <p:spPr>
            <a:xfrm>
              <a:off x="63906" y="796794"/>
              <a:ext cx="517508" cy="178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  <p:sp>
          <p:nvSpPr>
            <p:cNvPr id="4092" name="Freeform 174"/>
            <p:cNvSpPr/>
            <p:nvPr/>
          </p:nvSpPr>
          <p:spPr>
            <a:xfrm flipH="1" rot="10800000">
              <a:off x="580718" y="784109"/>
              <a:ext cx="211171" cy="185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</p:grpSp>
      <p:grpSp>
        <p:nvGrpSpPr>
          <p:cNvPr id="4096" name="Group 175"/>
          <p:cNvGrpSpPr/>
          <p:nvPr/>
        </p:nvGrpSpPr>
        <p:grpSpPr>
          <a:xfrm>
            <a:off x="5020442" y="2413189"/>
            <a:ext cx="1123951" cy="862014"/>
            <a:chOff x="0" y="0"/>
            <a:chExt cx="1123950" cy="862012"/>
          </a:xfrm>
        </p:grpSpPr>
        <p:pic>
          <p:nvPicPr>
            <p:cNvPr id="4094" name="Picture 176" descr="Picture 176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 flipH="1">
              <a:off x="0" y="0"/>
              <a:ext cx="1123950" cy="8620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95" name="Freeform 177"/>
            <p:cNvSpPr/>
            <p:nvPr/>
          </p:nvSpPr>
          <p:spPr>
            <a:xfrm flipH="1">
              <a:off x="478910" y="82690"/>
              <a:ext cx="546509" cy="394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</p:grpSp>
      <p:grpSp>
        <p:nvGrpSpPr>
          <p:cNvPr id="4099" name="Group 178"/>
          <p:cNvGrpSpPr/>
          <p:nvPr/>
        </p:nvGrpSpPr>
        <p:grpSpPr>
          <a:xfrm>
            <a:off x="4961704" y="4219764"/>
            <a:ext cx="849313" cy="712789"/>
            <a:chOff x="0" y="0"/>
            <a:chExt cx="849312" cy="712787"/>
          </a:xfrm>
        </p:grpSpPr>
        <p:pic>
          <p:nvPicPr>
            <p:cNvPr id="4097" name="Picture 179" descr="Picture 179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 flipH="1">
              <a:off x="0" y="0"/>
              <a:ext cx="849313" cy="7127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98" name="Freeform 180"/>
            <p:cNvSpPr/>
            <p:nvPr/>
          </p:nvSpPr>
          <p:spPr>
            <a:xfrm flipH="1">
              <a:off x="361888" y="68376"/>
              <a:ext cx="412969" cy="326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</p:grpSp>
      <p:grpSp>
        <p:nvGrpSpPr>
          <p:cNvPr id="4102" name="Group 98"/>
          <p:cNvGrpSpPr/>
          <p:nvPr/>
        </p:nvGrpSpPr>
        <p:grpSpPr>
          <a:xfrm>
            <a:off x="6357117" y="2089339"/>
            <a:ext cx="958851" cy="1276351"/>
            <a:chOff x="0" y="0"/>
            <a:chExt cx="958850" cy="1276350"/>
          </a:xfrm>
        </p:grpSpPr>
        <p:pic>
          <p:nvPicPr>
            <p:cNvPr id="4100" name="Picture 101" descr="Picture 101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274883" y="191774"/>
              <a:ext cx="522353" cy="10845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01" name="Picture 1115" descr="Picture 1115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-1"/>
              <a:ext cx="958850" cy="5392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114" name="Group 280"/>
          <p:cNvGrpSpPr/>
          <p:nvPr/>
        </p:nvGrpSpPr>
        <p:grpSpPr>
          <a:xfrm>
            <a:off x="5059243" y="3529374"/>
            <a:ext cx="1192204" cy="583858"/>
            <a:chOff x="0" y="0"/>
            <a:chExt cx="1192203" cy="583857"/>
          </a:xfrm>
        </p:grpSpPr>
        <p:grpSp>
          <p:nvGrpSpPr>
            <p:cNvPr id="4105" name="Freeform 281"/>
            <p:cNvGrpSpPr/>
            <p:nvPr/>
          </p:nvGrpSpPr>
          <p:grpSpPr>
            <a:xfrm>
              <a:off x="0" y="202098"/>
              <a:ext cx="1192204" cy="381760"/>
              <a:chOff x="0" y="0"/>
              <a:chExt cx="1192203" cy="381758"/>
            </a:xfrm>
          </p:grpSpPr>
          <p:sp>
            <p:nvSpPr>
              <p:cNvPr id="4103" name="Shape"/>
              <p:cNvSpPr/>
              <p:nvPr/>
            </p:nvSpPr>
            <p:spPr>
              <a:xfrm>
                <a:off x="0" y="-1"/>
                <a:ext cx="1192204" cy="3817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104" name="Text"/>
              <p:cNvSpPr txBox="1"/>
              <p:nvPr/>
            </p:nvSpPr>
            <p:spPr>
              <a:xfrm>
                <a:off x="48894" y="24335"/>
                <a:ext cx="109441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108" name="Oval 282"/>
            <p:cNvGrpSpPr/>
            <p:nvPr/>
          </p:nvGrpSpPr>
          <p:grpSpPr>
            <a:xfrm>
              <a:off x="686" y="-1"/>
              <a:ext cx="1190761" cy="377966"/>
              <a:chOff x="0" y="0"/>
              <a:chExt cx="1190759" cy="377964"/>
            </a:xfrm>
          </p:grpSpPr>
          <p:sp>
            <p:nvSpPr>
              <p:cNvPr id="4106" name="Oval"/>
              <p:cNvSpPr/>
              <p:nvPr/>
            </p:nvSpPr>
            <p:spPr>
              <a:xfrm>
                <a:off x="0" y="-1"/>
                <a:ext cx="1190760" cy="377966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107" name="Text"/>
              <p:cNvSpPr txBox="1"/>
              <p:nvPr/>
            </p:nvSpPr>
            <p:spPr>
              <a:xfrm>
                <a:off x="223278" y="22438"/>
                <a:ext cx="744203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113" name="Group 283"/>
            <p:cNvGrpSpPr/>
            <p:nvPr/>
          </p:nvGrpSpPr>
          <p:grpSpPr>
            <a:xfrm>
              <a:off x="176813" y="48038"/>
              <a:ext cx="838354" cy="277723"/>
              <a:chOff x="0" y="0"/>
              <a:chExt cx="838352" cy="277722"/>
            </a:xfrm>
          </p:grpSpPr>
          <p:sp>
            <p:nvSpPr>
              <p:cNvPr id="4109" name="Freeform 284"/>
              <p:cNvSpPr/>
              <p:nvPr/>
            </p:nvSpPr>
            <p:spPr>
              <a:xfrm>
                <a:off x="23188" y="0"/>
                <a:ext cx="793066" cy="1554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110" name="Freeform 285"/>
              <p:cNvSpPr/>
              <p:nvPr/>
            </p:nvSpPr>
            <p:spPr>
              <a:xfrm>
                <a:off x="542253" y="132980"/>
                <a:ext cx="296100" cy="1338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111" name="Freeform 286"/>
              <p:cNvSpPr/>
              <p:nvPr/>
            </p:nvSpPr>
            <p:spPr>
              <a:xfrm>
                <a:off x="0" y="132980"/>
                <a:ext cx="290748" cy="1322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112" name="Freeform 287"/>
              <p:cNvSpPr/>
              <p:nvPr/>
            </p:nvSpPr>
            <p:spPr>
              <a:xfrm>
                <a:off x="100933" y="67614"/>
                <a:ext cx="632179" cy="2101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411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500"/>
                                        <p:tgtEl>
                                          <p:spTgt spid="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500"/>
                                        <p:tgtEl>
                                          <p:spTgt spid="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032" grpId="1"/>
      <p:bldP build="whole" bldLvl="1" animBg="1" rev="0" advAuto="0" spid="4054" grpId="3"/>
      <p:bldP build="whole" bldLvl="1" animBg="1" rev="0" advAuto="0" spid="4057" grpId="4"/>
      <p:bldP build="whole" bldLvl="1" animBg="1" rev="0" advAuto="0" spid="4069" grpId="7"/>
      <p:bldP build="whole" bldLvl="1" animBg="1" rev="0" advAuto="0" spid="4051" grpId="2"/>
      <p:bldP build="whole" bldLvl="1" animBg="1" rev="0" advAuto="0" spid="4060" grpId="5"/>
      <p:bldP build="whole" bldLvl="1" animBg="1" rev="0" advAuto="0" spid="4066" grpId="6"/>
      <p:bldP build="whole" bldLvl="1" animBg="1" rev="0" advAuto="0" spid="4061" grpId="8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" name="Title 1"/>
          <p:cNvSpPr txBox="1"/>
          <p:nvPr>
            <p:ph type="title"/>
          </p:nvPr>
        </p:nvSpPr>
        <p:spPr>
          <a:xfrm>
            <a:off x="848710" y="273145"/>
            <a:ext cx="10515601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Wireless access networks</a:t>
            </a:r>
          </a:p>
        </p:txBody>
      </p:sp>
      <p:sp>
        <p:nvSpPr>
          <p:cNvPr id="4118" name="Rectangle 3"/>
          <p:cNvSpPr txBox="1"/>
          <p:nvPr/>
        </p:nvSpPr>
        <p:spPr>
          <a:xfrm>
            <a:off x="934721" y="1174397"/>
            <a:ext cx="9288166" cy="1118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  <a:r>
              <a:t>Shared </a:t>
            </a:r>
            <a:r>
              <a:rPr i="1"/>
              <a:t>wireless</a:t>
            </a:r>
            <a:r>
              <a:t> access network connects end system to router</a:t>
            </a:r>
          </a:p>
          <a:p>
            <a:pPr marL="339725" indent="-225425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via base station aka “access point”</a:t>
            </a:r>
          </a:p>
        </p:txBody>
      </p:sp>
      <p:grpSp>
        <p:nvGrpSpPr>
          <p:cNvPr id="4168" name="Group 2"/>
          <p:cNvGrpSpPr/>
          <p:nvPr/>
        </p:nvGrpSpPr>
        <p:grpSpPr>
          <a:xfrm>
            <a:off x="894430" y="2383153"/>
            <a:ext cx="4629525" cy="3987152"/>
            <a:chOff x="0" y="0"/>
            <a:chExt cx="4629524" cy="3987150"/>
          </a:xfrm>
        </p:grpSpPr>
        <p:sp>
          <p:nvSpPr>
            <p:cNvPr id="4119" name="Rectangle 3"/>
            <p:cNvSpPr txBox="1"/>
            <p:nvPr/>
          </p:nvSpPr>
          <p:spPr>
            <a:xfrm>
              <a:off x="0" y="0"/>
              <a:ext cx="4629525" cy="21996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defRPr sz="2800">
                  <a:solidFill>
                    <a:srgbClr val="CC0000"/>
                  </a:solidFill>
                </a:defRPr>
              </a:pPr>
              <a:r>
                <a:t>Wireless local area networks </a:t>
              </a:r>
              <a:r>
                <a:rPr sz="2000"/>
                <a:t>(WLANs)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lvl="1" marL="342900" indent="-260350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Char char="▪"/>
                <a:defRPr sz="2400"/>
              </a:pPr>
              <a:r>
                <a:t>typically within or around building (~100 ft)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lvl="1" marL="342900" indent="-260350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Char char="▪"/>
                <a:defRPr sz="2400"/>
              </a:pPr>
              <a:r>
                <a:t>802.11b/g/n (WiFi): 11, 54, 450 Mbps transmission rate</a:t>
              </a:r>
            </a:p>
          </p:txBody>
        </p:sp>
        <p:grpSp>
          <p:nvGrpSpPr>
            <p:cNvPr id="4122" name="Group 85"/>
            <p:cNvGrpSpPr/>
            <p:nvPr/>
          </p:nvGrpSpPr>
          <p:grpSpPr>
            <a:xfrm>
              <a:off x="562766" y="2357690"/>
              <a:ext cx="2487614" cy="1562100"/>
              <a:chOff x="192417" y="0"/>
              <a:chExt cx="2487613" cy="1562099"/>
            </a:xfrm>
          </p:grpSpPr>
          <p:sp>
            <p:nvSpPr>
              <p:cNvPr id="4120" name="Rectangle 86"/>
              <p:cNvSpPr/>
              <p:nvPr/>
            </p:nvSpPr>
            <p:spPr>
              <a:xfrm>
                <a:off x="590943" y="441508"/>
                <a:ext cx="1682947" cy="1120592"/>
              </a:xfrm>
              <a:prstGeom prst="rect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121" name="AutoShape 87"/>
              <p:cNvSpPr/>
              <p:nvPr/>
            </p:nvSpPr>
            <p:spPr>
              <a:xfrm>
                <a:off x="192417" y="0"/>
                <a:ext cx="2487614" cy="531913"/>
              </a:xfrm>
              <a:prstGeom prst="triangl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>
                    <a:solidFill>
                      <a:srgbClr val="00CC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123" name="Line 110"/>
            <p:cNvSpPr/>
            <p:nvPr/>
          </p:nvSpPr>
          <p:spPr>
            <a:xfrm>
              <a:off x="2229230" y="3698931"/>
              <a:ext cx="934074" cy="396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24" name="Line 116"/>
            <p:cNvSpPr/>
            <p:nvPr/>
          </p:nvSpPr>
          <p:spPr>
            <a:xfrm flipV="1">
              <a:off x="1607341" y="3627690"/>
              <a:ext cx="287339" cy="47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4127" name="Group 246"/>
            <p:cNvGrpSpPr/>
            <p:nvPr/>
          </p:nvGrpSpPr>
          <p:grpSpPr>
            <a:xfrm>
              <a:off x="1131091" y="3237165"/>
              <a:ext cx="863601" cy="588963"/>
              <a:chOff x="0" y="0"/>
              <a:chExt cx="863600" cy="588961"/>
            </a:xfrm>
          </p:grpSpPr>
          <p:pic>
            <p:nvPicPr>
              <p:cNvPr id="4125" name="Picture 247" descr="Picture 247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49317" y="76329"/>
                <a:ext cx="631262" cy="5126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126" name="Picture 248" descr="Picture 248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863600" cy="17716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151" name="Group 390"/>
            <p:cNvGrpSpPr/>
            <p:nvPr/>
          </p:nvGrpSpPr>
          <p:grpSpPr>
            <a:xfrm>
              <a:off x="1045366" y="2468815"/>
              <a:ext cx="757239" cy="692373"/>
              <a:chOff x="0" y="0"/>
              <a:chExt cx="757238" cy="692372"/>
            </a:xfrm>
          </p:grpSpPr>
          <p:pic>
            <p:nvPicPr>
              <p:cNvPr id="4128" name="Picture 391" descr="Picture 391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0"/>
                <a:ext cx="751174" cy="37437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129" name="Picture 392" descr="Picture 392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 flipH="1" rot="109063">
                <a:off x="36387" y="415739"/>
                <a:ext cx="618857" cy="26688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30" name="Freeform 393"/>
              <p:cNvSpPr/>
              <p:nvPr/>
            </p:nvSpPr>
            <p:spPr>
              <a:xfrm>
                <a:off x="241478" y="156758"/>
                <a:ext cx="498118" cy="3482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911" y="0"/>
                    </a:moveTo>
                    <a:lnTo>
                      <a:pt x="0" y="15338"/>
                    </a:lnTo>
                    <a:lnTo>
                      <a:pt x="17341" y="21600"/>
                    </a:lnTo>
                    <a:lnTo>
                      <a:pt x="21600" y="2813"/>
                    </a:lnTo>
                    <a:lnTo>
                      <a:pt x="39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4131" name="Picture 394" descr="Picture 394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266011" y="165716"/>
                <a:ext cx="452635" cy="31694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32" name="Freeform 395"/>
              <p:cNvSpPr/>
              <p:nvPr/>
            </p:nvSpPr>
            <p:spPr>
              <a:xfrm>
                <a:off x="332170" y="146483"/>
                <a:ext cx="422036" cy="648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0"/>
                    </a:moveTo>
                    <a:lnTo>
                      <a:pt x="21600" y="16188"/>
                    </a:lnTo>
                    <a:lnTo>
                      <a:pt x="21190" y="21600"/>
                    </a:lnTo>
                    <a:lnTo>
                      <a:pt x="0" y="4083"/>
                    </a:lnTo>
                    <a:lnTo>
                      <a:pt x="12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33" name="Freeform 396"/>
              <p:cNvSpPr/>
              <p:nvPr/>
            </p:nvSpPr>
            <p:spPr>
              <a:xfrm>
                <a:off x="237067" y="145956"/>
                <a:ext cx="117157" cy="2697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15" y="0"/>
                    </a:moveTo>
                    <a:lnTo>
                      <a:pt x="0" y="21326"/>
                    </a:lnTo>
                    <a:lnTo>
                      <a:pt x="3508" y="21600"/>
                    </a:lnTo>
                    <a:lnTo>
                      <a:pt x="21600" y="582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34" name="Freeform 397"/>
              <p:cNvSpPr/>
              <p:nvPr/>
            </p:nvSpPr>
            <p:spPr>
              <a:xfrm>
                <a:off x="624921" y="194170"/>
                <a:ext cx="126253" cy="3114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3943" y="21600"/>
                    </a:lnTo>
                    <a:lnTo>
                      <a:pt x="0" y="21244"/>
                    </a:lnTo>
                    <a:lnTo>
                      <a:pt x="17314" y="771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35" name="Freeform 398"/>
              <p:cNvSpPr/>
              <p:nvPr/>
            </p:nvSpPr>
            <p:spPr>
              <a:xfrm>
                <a:off x="235689" y="402040"/>
                <a:ext cx="431902" cy="1051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44" h="21600" fill="norm" stroke="1" extrusionOk="0">
                    <a:moveTo>
                      <a:pt x="257" y="0"/>
                    </a:moveTo>
                    <a:lnTo>
                      <a:pt x="0" y="2898"/>
                    </a:lnTo>
                    <a:lnTo>
                      <a:pt x="18975" y="21600"/>
                    </a:lnTo>
                    <a:cubicBezTo>
                      <a:pt x="19466" y="14663"/>
                      <a:pt x="21600" y="21278"/>
                      <a:pt x="18484" y="17649"/>
                    </a:cubicBezTo>
                    <a:lnTo>
                      <a:pt x="257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36" name="Freeform 399"/>
              <p:cNvSpPr/>
              <p:nvPr/>
            </p:nvSpPr>
            <p:spPr>
              <a:xfrm>
                <a:off x="638979" y="196804"/>
                <a:ext cx="118260" cy="312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854" y="0"/>
                    </a:moveTo>
                    <a:lnTo>
                      <a:pt x="21600" y="0"/>
                    </a:lnTo>
                    <a:lnTo>
                      <a:pt x="2306" y="21600"/>
                    </a:lnTo>
                    <a:lnTo>
                      <a:pt x="0" y="21444"/>
                    </a:lnTo>
                    <a:lnTo>
                      <a:pt x="20854" y="0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37" name="Freeform 400"/>
              <p:cNvSpPr/>
              <p:nvPr/>
            </p:nvSpPr>
            <p:spPr>
              <a:xfrm>
                <a:off x="236240" y="416003"/>
                <a:ext cx="411837" cy="1038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88" y="2239"/>
                    </a:lnTo>
                    <a:lnTo>
                      <a:pt x="21093" y="21600"/>
                    </a:lnTo>
                    <a:lnTo>
                      <a:pt x="21600" y="19479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4144" name="Group 401"/>
              <p:cNvGrpSpPr/>
              <p:nvPr/>
            </p:nvGrpSpPr>
            <p:grpSpPr>
              <a:xfrm>
                <a:off x="229349" y="526920"/>
                <a:ext cx="139760" cy="61650"/>
                <a:chOff x="0" y="0"/>
                <a:chExt cx="139759" cy="61649"/>
              </a:xfrm>
            </p:grpSpPr>
            <p:sp>
              <p:nvSpPr>
                <p:cNvPr id="4138" name="Freeform 402"/>
                <p:cNvSpPr/>
                <p:nvPr/>
              </p:nvSpPr>
              <p:spPr>
                <a:xfrm>
                  <a:off x="0" y="0"/>
                  <a:ext cx="139760" cy="616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416" y="0"/>
                      </a:moveTo>
                      <a:lnTo>
                        <a:pt x="21600" y="8191"/>
                      </a:lnTo>
                      <a:lnTo>
                        <a:pt x="13500" y="21600"/>
                      </a:lnTo>
                      <a:lnTo>
                        <a:pt x="0" y="12088"/>
                      </a:lnTo>
                      <a:lnTo>
                        <a:pt x="841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39" name="Freeform 403"/>
                <p:cNvSpPr/>
                <p:nvPr/>
              </p:nvSpPr>
              <p:spPr>
                <a:xfrm>
                  <a:off x="2601" y="1319"/>
                  <a:ext cx="134929" cy="586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390" y="0"/>
                      </a:moveTo>
                      <a:lnTo>
                        <a:pt x="21600" y="8265"/>
                      </a:lnTo>
                      <a:lnTo>
                        <a:pt x="13597" y="21600"/>
                      </a:lnTo>
                      <a:lnTo>
                        <a:pt x="0" y="12015"/>
                      </a:lnTo>
                      <a:lnTo>
                        <a:pt x="839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40" name="Freeform 404"/>
                <p:cNvSpPr/>
                <p:nvPr/>
              </p:nvSpPr>
              <p:spPr>
                <a:xfrm>
                  <a:off x="12637" y="24131"/>
                  <a:ext cx="47951" cy="188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04"/>
                      </a:moveTo>
                      <a:lnTo>
                        <a:pt x="6279" y="0"/>
                      </a:lnTo>
                      <a:lnTo>
                        <a:pt x="21600" y="10800"/>
                      </a:lnTo>
                      <a:lnTo>
                        <a:pt x="15321" y="21600"/>
                      </a:lnTo>
                      <a:lnTo>
                        <a:pt x="0" y="950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41" name="Freeform 405"/>
                <p:cNvSpPr/>
                <p:nvPr/>
              </p:nvSpPr>
              <p:spPr>
                <a:xfrm>
                  <a:off x="10965" y="32393"/>
                  <a:ext cx="36056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42" name="Freeform 406"/>
                <p:cNvSpPr/>
                <p:nvPr/>
              </p:nvSpPr>
              <p:spPr>
                <a:xfrm>
                  <a:off x="52038" y="36197"/>
                  <a:ext cx="47950" cy="192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741"/>
                      </a:moveTo>
                      <a:lnTo>
                        <a:pt x="5944" y="0"/>
                      </a:lnTo>
                      <a:lnTo>
                        <a:pt x="21600" y="11012"/>
                      </a:lnTo>
                      <a:lnTo>
                        <a:pt x="15321" y="21600"/>
                      </a:lnTo>
                      <a:lnTo>
                        <a:pt x="0" y="97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43" name="Freeform 407"/>
                <p:cNvSpPr/>
                <p:nvPr/>
              </p:nvSpPr>
              <p:spPr>
                <a:xfrm>
                  <a:off x="50365" y="44836"/>
                  <a:ext cx="36056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4145" name="Freeform 408"/>
              <p:cNvSpPr/>
              <p:nvPr/>
            </p:nvSpPr>
            <p:spPr>
              <a:xfrm>
                <a:off x="468622" y="536141"/>
                <a:ext cx="169256" cy="1354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5" y="20127"/>
                    </a:moveTo>
                    <a:lnTo>
                      <a:pt x="21600" y="0"/>
                    </a:lnTo>
                    <a:lnTo>
                      <a:pt x="21535" y="1636"/>
                    </a:lnTo>
                    <a:lnTo>
                      <a:pt x="0" y="21600"/>
                    </a:lnTo>
                    <a:lnTo>
                      <a:pt x="65" y="20127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46" name="Freeform 409"/>
              <p:cNvSpPr/>
              <p:nvPr/>
            </p:nvSpPr>
            <p:spPr>
              <a:xfrm>
                <a:off x="36662" y="546943"/>
                <a:ext cx="433063" cy="123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47" name="Freeform 410"/>
              <p:cNvSpPr/>
              <p:nvPr/>
            </p:nvSpPr>
            <p:spPr>
              <a:xfrm>
                <a:off x="32931" y="524285"/>
                <a:ext cx="12701" cy="250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469"/>
                    </a:moveTo>
                    <a:lnTo>
                      <a:pt x="19108" y="21600"/>
                    </a:lnTo>
                    <a:lnTo>
                      <a:pt x="0" y="21159"/>
                    </a:lnTo>
                    <a:lnTo>
                      <a:pt x="2492" y="0"/>
                    </a:lnTo>
                    <a:lnTo>
                      <a:pt x="21600" y="1469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48" name="Freeform 411"/>
              <p:cNvSpPr/>
              <p:nvPr/>
            </p:nvSpPr>
            <p:spPr>
              <a:xfrm>
                <a:off x="37214" y="422326"/>
                <a:ext cx="201232" cy="1035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0" y="0"/>
                    </a:moveTo>
                    <a:lnTo>
                      <a:pt x="0" y="21279"/>
                    </a:lnTo>
                    <a:lnTo>
                      <a:pt x="551" y="21600"/>
                    </a:lnTo>
                    <a:lnTo>
                      <a:pt x="21600" y="642"/>
                    </a:lnTo>
                    <a:lnTo>
                      <a:pt x="21490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49" name="Freeform 412"/>
              <p:cNvSpPr/>
              <p:nvPr/>
            </p:nvSpPr>
            <p:spPr>
              <a:xfrm>
                <a:off x="50721" y="529554"/>
                <a:ext cx="410734" cy="1188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50" name="Freeform 413"/>
              <p:cNvSpPr/>
              <p:nvPr/>
            </p:nvSpPr>
            <p:spPr>
              <a:xfrm flipH="1" rot="10800000">
                <a:off x="460903" y="521123"/>
                <a:ext cx="167602" cy="123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4152" name="Text Box 446"/>
            <p:cNvSpPr txBox="1"/>
            <p:nvPr/>
          </p:nvSpPr>
          <p:spPr>
            <a:xfrm>
              <a:off x="2841720" y="3654063"/>
              <a:ext cx="108350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/>
              </a:lvl1pPr>
            </a:lstStyle>
            <a:p>
              <a:pPr/>
              <a:r>
                <a:t>to Internet</a:t>
              </a:r>
            </a:p>
          </p:txBody>
        </p:sp>
        <p:grpSp>
          <p:nvGrpSpPr>
            <p:cNvPr id="4155" name="Group 114"/>
            <p:cNvGrpSpPr/>
            <p:nvPr/>
          </p:nvGrpSpPr>
          <p:grpSpPr>
            <a:xfrm>
              <a:off x="1934366" y="2529140"/>
              <a:ext cx="636589" cy="879476"/>
              <a:chOff x="0" y="0"/>
              <a:chExt cx="636588" cy="879474"/>
            </a:xfrm>
          </p:grpSpPr>
          <p:pic>
            <p:nvPicPr>
              <p:cNvPr id="4153" name="Picture 117" descr="Picture 117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182497" y="132142"/>
                <a:ext cx="346794" cy="7473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154" name="Picture 1115" descr="Picture 1115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0" y="0"/>
                <a:ext cx="636589" cy="37154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167" name="Group 519"/>
            <p:cNvGrpSpPr/>
            <p:nvPr/>
          </p:nvGrpSpPr>
          <p:grpSpPr>
            <a:xfrm>
              <a:off x="1895568" y="3451371"/>
              <a:ext cx="686069" cy="459830"/>
              <a:chOff x="0" y="0"/>
              <a:chExt cx="686067" cy="459829"/>
            </a:xfrm>
          </p:grpSpPr>
          <p:grpSp>
            <p:nvGrpSpPr>
              <p:cNvPr id="4158" name="Freeform 520"/>
              <p:cNvGrpSpPr/>
              <p:nvPr/>
            </p:nvGrpSpPr>
            <p:grpSpPr>
              <a:xfrm>
                <a:off x="0" y="126741"/>
                <a:ext cx="686068" cy="333089"/>
                <a:chOff x="0" y="0"/>
                <a:chExt cx="686067" cy="333087"/>
              </a:xfrm>
            </p:grpSpPr>
            <p:sp>
              <p:nvSpPr>
                <p:cNvPr id="4156" name="Shape"/>
                <p:cNvSpPr/>
                <p:nvPr/>
              </p:nvSpPr>
              <p:spPr>
                <a:xfrm>
                  <a:off x="0" y="47951"/>
                  <a:ext cx="686068" cy="23718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157" name="Text"/>
                <p:cNvSpPr txBox="1"/>
                <p:nvPr/>
              </p:nvSpPr>
              <p:spPr>
                <a:xfrm>
                  <a:off x="48894" y="0"/>
                  <a:ext cx="58827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4161" name="Oval 521"/>
              <p:cNvGrpSpPr/>
              <p:nvPr/>
            </p:nvGrpSpPr>
            <p:grpSpPr>
              <a:xfrm>
                <a:off x="394" y="-1"/>
                <a:ext cx="685239" cy="333089"/>
                <a:chOff x="0" y="0"/>
                <a:chExt cx="685238" cy="333087"/>
              </a:xfrm>
            </p:grpSpPr>
            <p:sp>
              <p:nvSpPr>
                <p:cNvPr id="4159" name="Oval"/>
                <p:cNvSpPr/>
                <p:nvPr/>
              </p:nvSpPr>
              <p:spPr>
                <a:xfrm>
                  <a:off x="0" y="49129"/>
                  <a:ext cx="685239" cy="23482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160" name="Text"/>
                <p:cNvSpPr txBox="1"/>
                <p:nvPr/>
              </p:nvSpPr>
              <p:spPr>
                <a:xfrm>
                  <a:off x="149246" y="0"/>
                  <a:ext cx="386746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4166" name="Group 522"/>
              <p:cNvGrpSpPr/>
              <p:nvPr/>
            </p:nvGrpSpPr>
            <p:grpSpPr>
              <a:xfrm>
                <a:off x="101749" y="78976"/>
                <a:ext cx="482441" cy="172549"/>
                <a:chOff x="0" y="0"/>
                <a:chExt cx="482440" cy="172548"/>
              </a:xfrm>
            </p:grpSpPr>
            <p:sp>
              <p:nvSpPr>
                <p:cNvPr id="4162" name="Freeform 523"/>
                <p:cNvSpPr/>
                <p:nvPr/>
              </p:nvSpPr>
              <p:spPr>
                <a:xfrm>
                  <a:off x="13344" y="-1"/>
                  <a:ext cx="456380" cy="965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163" name="Freeform 524"/>
                <p:cNvSpPr/>
                <p:nvPr/>
              </p:nvSpPr>
              <p:spPr>
                <a:xfrm>
                  <a:off x="312046" y="82620"/>
                  <a:ext cx="170395" cy="831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164" name="Freeform 525"/>
                <p:cNvSpPr/>
                <p:nvPr/>
              </p:nvSpPr>
              <p:spPr>
                <a:xfrm>
                  <a:off x="0" y="82620"/>
                  <a:ext cx="167315" cy="821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165" name="Freeform 526"/>
                <p:cNvSpPr/>
                <p:nvPr/>
              </p:nvSpPr>
              <p:spPr>
                <a:xfrm>
                  <a:off x="58083" y="42008"/>
                  <a:ext cx="363795" cy="1305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grpSp>
        <p:nvGrpSpPr>
          <p:cNvPr id="4233" name="Group 1"/>
          <p:cNvGrpSpPr/>
          <p:nvPr/>
        </p:nvGrpSpPr>
        <p:grpSpPr>
          <a:xfrm>
            <a:off x="6668046" y="1977830"/>
            <a:ext cx="5352110" cy="4185868"/>
            <a:chOff x="0" y="0"/>
            <a:chExt cx="5352108" cy="4185867"/>
          </a:xfrm>
        </p:grpSpPr>
        <p:sp>
          <p:nvSpPr>
            <p:cNvPr id="4169" name="Freeform 84"/>
            <p:cNvSpPr/>
            <p:nvPr/>
          </p:nvSpPr>
          <p:spPr>
            <a:xfrm>
              <a:off x="218214" y="2793720"/>
              <a:ext cx="2337069" cy="1392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70" name="Line 93"/>
            <p:cNvSpPr/>
            <p:nvPr/>
          </p:nvSpPr>
          <p:spPr>
            <a:xfrm>
              <a:off x="1692655" y="3793770"/>
              <a:ext cx="203295" cy="325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4171" name="Picture 133" descr="Picture 133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759700" y="2802745"/>
              <a:ext cx="1157045" cy="2214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174" name="Group 134"/>
            <p:cNvGrpSpPr/>
            <p:nvPr/>
          </p:nvGrpSpPr>
          <p:grpSpPr>
            <a:xfrm>
              <a:off x="767020" y="2572965"/>
              <a:ext cx="566628" cy="507605"/>
              <a:chOff x="0" y="0"/>
              <a:chExt cx="566626" cy="507604"/>
            </a:xfrm>
          </p:grpSpPr>
          <p:pic>
            <p:nvPicPr>
              <p:cNvPr id="4172" name="Picture 135" descr="Picture 135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217084" y="75397"/>
                <a:ext cx="186424" cy="43220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173" name="Picture 136" descr="Picture 136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0" y="-1"/>
                <a:ext cx="566627" cy="11681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193" name="Group 252"/>
            <p:cNvGrpSpPr/>
            <p:nvPr/>
          </p:nvGrpSpPr>
          <p:grpSpPr>
            <a:xfrm>
              <a:off x="1376902" y="2965679"/>
              <a:ext cx="622859" cy="831384"/>
              <a:chOff x="0" y="0"/>
              <a:chExt cx="622858" cy="831383"/>
            </a:xfrm>
          </p:grpSpPr>
          <p:grpSp>
            <p:nvGrpSpPr>
              <p:cNvPr id="4190" name="Group 253"/>
              <p:cNvGrpSpPr/>
              <p:nvPr/>
            </p:nvGrpSpPr>
            <p:grpSpPr>
              <a:xfrm>
                <a:off x="97321" y="220821"/>
                <a:ext cx="406589" cy="610563"/>
                <a:chOff x="0" y="0"/>
                <a:chExt cx="406587" cy="610561"/>
              </a:xfrm>
            </p:grpSpPr>
            <p:sp>
              <p:nvSpPr>
                <p:cNvPr id="4175" name="Line 270"/>
                <p:cNvSpPr/>
                <p:nvPr/>
              </p:nvSpPr>
              <p:spPr>
                <a:xfrm flipH="1">
                  <a:off x="0" y="0"/>
                  <a:ext cx="203294" cy="55296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76" name="Line 271"/>
                <p:cNvSpPr/>
                <p:nvPr/>
              </p:nvSpPr>
              <p:spPr>
                <a:xfrm>
                  <a:off x="203293" y="0"/>
                  <a:ext cx="203294" cy="55049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77" name="Line 272"/>
                <p:cNvSpPr/>
                <p:nvPr/>
              </p:nvSpPr>
              <p:spPr>
                <a:xfrm>
                  <a:off x="0" y="550493"/>
                  <a:ext cx="203293" cy="6006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78" name="Line 273"/>
                <p:cNvSpPr/>
                <p:nvPr/>
              </p:nvSpPr>
              <p:spPr>
                <a:xfrm flipH="1">
                  <a:off x="203294" y="550493"/>
                  <a:ext cx="203294" cy="6006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79" name="Line 274"/>
                <p:cNvSpPr/>
                <p:nvPr/>
              </p:nvSpPr>
              <p:spPr>
                <a:xfrm flipH="1">
                  <a:off x="203293" y="12342"/>
                  <a:ext cx="1" cy="598220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0" name="Line 275"/>
                <p:cNvSpPr/>
                <p:nvPr/>
              </p:nvSpPr>
              <p:spPr>
                <a:xfrm flipV="1">
                  <a:off x="0" y="493717"/>
                  <a:ext cx="203293" cy="5924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1" name="Line 276"/>
                <p:cNvSpPr/>
                <p:nvPr/>
              </p:nvSpPr>
              <p:spPr>
                <a:xfrm flipH="1" flipV="1">
                  <a:off x="203294" y="493716"/>
                  <a:ext cx="203294" cy="5677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2" name="Line 277"/>
                <p:cNvSpPr/>
                <p:nvPr/>
              </p:nvSpPr>
              <p:spPr>
                <a:xfrm>
                  <a:off x="86275" y="312686"/>
                  <a:ext cx="117018" cy="4525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3" name="Line 278"/>
                <p:cNvSpPr/>
                <p:nvPr/>
              </p:nvSpPr>
              <p:spPr>
                <a:xfrm flipV="1">
                  <a:off x="203293" y="312687"/>
                  <a:ext cx="122969" cy="4525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4" name="Line 279"/>
                <p:cNvSpPr/>
                <p:nvPr/>
              </p:nvSpPr>
              <p:spPr>
                <a:xfrm>
                  <a:off x="47600" y="393327"/>
                  <a:ext cx="150736" cy="6171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5" name="Line 280"/>
                <p:cNvSpPr/>
                <p:nvPr/>
              </p:nvSpPr>
              <p:spPr>
                <a:xfrm flipV="1">
                  <a:off x="203293" y="405670"/>
                  <a:ext cx="151727" cy="5430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6" name="Line 281"/>
                <p:cNvSpPr/>
                <p:nvPr/>
              </p:nvSpPr>
              <p:spPr>
                <a:xfrm flipV="1">
                  <a:off x="203293" y="229578"/>
                  <a:ext cx="77351" cy="2221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7" name="Line 282"/>
                <p:cNvSpPr/>
                <p:nvPr/>
              </p:nvSpPr>
              <p:spPr>
                <a:xfrm flipV="1">
                  <a:off x="203293" y="115200"/>
                  <a:ext cx="48593" cy="1728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8" name="Line 283"/>
                <p:cNvSpPr/>
                <p:nvPr/>
              </p:nvSpPr>
              <p:spPr>
                <a:xfrm>
                  <a:off x="116026" y="222172"/>
                  <a:ext cx="94210" cy="2962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189" name="Line 284"/>
                <p:cNvSpPr/>
                <p:nvPr/>
              </p:nvSpPr>
              <p:spPr>
                <a:xfrm>
                  <a:off x="157676" y="110263"/>
                  <a:ext cx="54543" cy="2962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pic>
            <p:nvPicPr>
              <p:cNvPr id="4191" name="Picture 269" descr="Picture 269"/>
              <p:cNvPicPr>
                <a:picLocks noChangeAspect="1"/>
              </p:cNvPicPr>
              <p:nvPr/>
            </p:nvPicPr>
            <p:blipFill>
              <a:blip r:embed="rId12">
                <a:extLst/>
              </a:blip>
              <a:stretch>
                <a:fillRect/>
              </a:stretch>
            </p:blipFill>
            <p:spPr>
              <a:xfrm>
                <a:off x="0" y="0"/>
                <a:ext cx="622859" cy="43786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92" name="Oval 270"/>
              <p:cNvSpPr/>
              <p:nvPr/>
            </p:nvSpPr>
            <p:spPr>
              <a:xfrm>
                <a:off x="263849" y="177412"/>
                <a:ext cx="70289" cy="63227"/>
              </a:xfrm>
              <a:prstGeom prst="ellipse">
                <a:avLst/>
              </a:prstGeom>
              <a:solidFill>
                <a:srgbClr val="44546A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4217" name="Group 342"/>
            <p:cNvGrpSpPr/>
            <p:nvPr/>
          </p:nvGrpSpPr>
          <p:grpSpPr>
            <a:xfrm>
              <a:off x="343131" y="3226792"/>
              <a:ext cx="728831" cy="546244"/>
              <a:chOff x="0" y="0"/>
              <a:chExt cx="728829" cy="546243"/>
            </a:xfrm>
          </p:grpSpPr>
          <p:pic>
            <p:nvPicPr>
              <p:cNvPr id="4194" name="Picture 343" descr="Picture 343"/>
              <p:cNvPicPr>
                <a:picLocks noChangeAspect="1"/>
              </p:cNvPicPr>
              <p:nvPr/>
            </p:nvPicPr>
            <p:blipFill>
              <a:blip r:embed="rId13">
                <a:extLst/>
              </a:blip>
              <a:stretch>
                <a:fillRect/>
              </a:stretch>
            </p:blipFill>
            <p:spPr>
              <a:xfrm>
                <a:off x="0" y="0"/>
                <a:ext cx="722993" cy="29442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195" name="Picture 344" descr="Picture 344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 flipH="1" rot="109063">
                <a:off x="35022" y="326957"/>
                <a:ext cx="595641" cy="20989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96" name="Freeform 345"/>
              <p:cNvSpPr/>
              <p:nvPr/>
            </p:nvSpPr>
            <p:spPr>
              <a:xfrm>
                <a:off x="232419" y="123282"/>
                <a:ext cx="479431" cy="273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911" y="0"/>
                    </a:moveTo>
                    <a:lnTo>
                      <a:pt x="0" y="15338"/>
                    </a:lnTo>
                    <a:lnTo>
                      <a:pt x="17341" y="21600"/>
                    </a:lnTo>
                    <a:lnTo>
                      <a:pt x="21600" y="2813"/>
                    </a:lnTo>
                    <a:lnTo>
                      <a:pt x="39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4197" name="Picture 346" descr="Picture 346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>
                <a:off x="256032" y="130327"/>
                <a:ext cx="435654" cy="24926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98" name="Freeform 347"/>
              <p:cNvSpPr/>
              <p:nvPr/>
            </p:nvSpPr>
            <p:spPr>
              <a:xfrm>
                <a:off x="319708" y="115201"/>
                <a:ext cx="406204" cy="509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0"/>
                    </a:moveTo>
                    <a:lnTo>
                      <a:pt x="21600" y="16188"/>
                    </a:lnTo>
                    <a:lnTo>
                      <a:pt x="21190" y="21600"/>
                    </a:lnTo>
                    <a:lnTo>
                      <a:pt x="0" y="4083"/>
                    </a:lnTo>
                    <a:lnTo>
                      <a:pt x="12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99" name="Freeform 348"/>
              <p:cNvSpPr/>
              <p:nvPr/>
            </p:nvSpPr>
            <p:spPr>
              <a:xfrm>
                <a:off x="228173" y="114787"/>
                <a:ext cx="112762" cy="2121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815" y="0"/>
                    </a:moveTo>
                    <a:lnTo>
                      <a:pt x="0" y="21326"/>
                    </a:lnTo>
                    <a:lnTo>
                      <a:pt x="3508" y="21600"/>
                    </a:lnTo>
                    <a:lnTo>
                      <a:pt x="21600" y="582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00" name="Freeform 349"/>
              <p:cNvSpPr/>
              <p:nvPr/>
            </p:nvSpPr>
            <p:spPr>
              <a:xfrm>
                <a:off x="601477" y="152704"/>
                <a:ext cx="121516" cy="2449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3943" y="21600"/>
                    </a:lnTo>
                    <a:lnTo>
                      <a:pt x="0" y="21244"/>
                    </a:lnTo>
                    <a:lnTo>
                      <a:pt x="17314" y="771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01" name="Freeform 350"/>
              <p:cNvSpPr/>
              <p:nvPr/>
            </p:nvSpPr>
            <p:spPr>
              <a:xfrm>
                <a:off x="226847" y="316183"/>
                <a:ext cx="415699" cy="826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44" h="21600" fill="norm" stroke="1" extrusionOk="0">
                    <a:moveTo>
                      <a:pt x="257" y="0"/>
                    </a:moveTo>
                    <a:lnTo>
                      <a:pt x="0" y="2898"/>
                    </a:lnTo>
                    <a:lnTo>
                      <a:pt x="18975" y="21600"/>
                    </a:lnTo>
                    <a:cubicBezTo>
                      <a:pt x="19466" y="14663"/>
                      <a:pt x="21600" y="21278"/>
                      <a:pt x="18484" y="17649"/>
                    </a:cubicBezTo>
                    <a:lnTo>
                      <a:pt x="257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02" name="Freeform 351"/>
              <p:cNvSpPr/>
              <p:nvPr/>
            </p:nvSpPr>
            <p:spPr>
              <a:xfrm>
                <a:off x="615008" y="154776"/>
                <a:ext cx="113823" cy="245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854" y="0"/>
                    </a:moveTo>
                    <a:lnTo>
                      <a:pt x="21600" y="0"/>
                    </a:lnTo>
                    <a:lnTo>
                      <a:pt x="2306" y="21600"/>
                    </a:lnTo>
                    <a:lnTo>
                      <a:pt x="0" y="21444"/>
                    </a:lnTo>
                    <a:lnTo>
                      <a:pt x="20854" y="0"/>
                    </a:lnTo>
                    <a:close/>
                  </a:path>
                </a:pathLst>
              </a:custGeom>
              <a:solidFill>
                <a:srgbClr val="4D4D4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03" name="Freeform 352"/>
              <p:cNvSpPr/>
              <p:nvPr/>
            </p:nvSpPr>
            <p:spPr>
              <a:xfrm>
                <a:off x="227377" y="327165"/>
                <a:ext cx="396387" cy="816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88" y="2239"/>
                    </a:lnTo>
                    <a:lnTo>
                      <a:pt x="21093" y="21600"/>
                    </a:lnTo>
                    <a:lnTo>
                      <a:pt x="21600" y="19479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4210" name="Group 353"/>
              <p:cNvGrpSpPr/>
              <p:nvPr/>
            </p:nvGrpSpPr>
            <p:grpSpPr>
              <a:xfrm>
                <a:off x="220745" y="414395"/>
                <a:ext cx="134517" cy="48485"/>
                <a:chOff x="0" y="0"/>
                <a:chExt cx="134516" cy="48484"/>
              </a:xfrm>
            </p:grpSpPr>
            <p:sp>
              <p:nvSpPr>
                <p:cNvPr id="4204" name="Freeform 354"/>
                <p:cNvSpPr/>
                <p:nvPr/>
              </p:nvSpPr>
              <p:spPr>
                <a:xfrm>
                  <a:off x="0" y="-1"/>
                  <a:ext cx="134517" cy="4848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416" y="0"/>
                      </a:moveTo>
                      <a:lnTo>
                        <a:pt x="21600" y="8191"/>
                      </a:lnTo>
                      <a:lnTo>
                        <a:pt x="13500" y="21600"/>
                      </a:lnTo>
                      <a:lnTo>
                        <a:pt x="0" y="12088"/>
                      </a:lnTo>
                      <a:lnTo>
                        <a:pt x="841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205" name="Freeform 355"/>
                <p:cNvSpPr/>
                <p:nvPr/>
              </p:nvSpPr>
              <p:spPr>
                <a:xfrm>
                  <a:off x="2504" y="1037"/>
                  <a:ext cx="129866" cy="461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8390" y="0"/>
                      </a:moveTo>
                      <a:lnTo>
                        <a:pt x="21600" y="8265"/>
                      </a:lnTo>
                      <a:lnTo>
                        <a:pt x="13597" y="21600"/>
                      </a:lnTo>
                      <a:lnTo>
                        <a:pt x="0" y="12015"/>
                      </a:lnTo>
                      <a:lnTo>
                        <a:pt x="839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206" name="Freeform 356"/>
                <p:cNvSpPr/>
                <p:nvPr/>
              </p:nvSpPr>
              <p:spPr>
                <a:xfrm>
                  <a:off x="12163" y="18978"/>
                  <a:ext cx="46152" cy="148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504"/>
                      </a:moveTo>
                      <a:lnTo>
                        <a:pt x="6279" y="0"/>
                      </a:lnTo>
                      <a:lnTo>
                        <a:pt x="21600" y="10800"/>
                      </a:lnTo>
                      <a:lnTo>
                        <a:pt x="15321" y="21600"/>
                      </a:lnTo>
                      <a:lnTo>
                        <a:pt x="0" y="950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207" name="Freeform 357"/>
                <p:cNvSpPr/>
                <p:nvPr/>
              </p:nvSpPr>
              <p:spPr>
                <a:xfrm>
                  <a:off x="10553" y="24119"/>
                  <a:ext cx="34704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208" name="Freeform 358"/>
                <p:cNvSpPr/>
                <p:nvPr/>
              </p:nvSpPr>
              <p:spPr>
                <a:xfrm>
                  <a:off x="50085" y="28467"/>
                  <a:ext cx="46152" cy="15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9741"/>
                      </a:moveTo>
                      <a:lnTo>
                        <a:pt x="5944" y="0"/>
                      </a:lnTo>
                      <a:lnTo>
                        <a:pt x="21600" y="11012"/>
                      </a:lnTo>
                      <a:lnTo>
                        <a:pt x="15321" y="21600"/>
                      </a:lnTo>
                      <a:lnTo>
                        <a:pt x="0" y="974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4209" name="Freeform 359"/>
                <p:cNvSpPr/>
                <p:nvPr/>
              </p:nvSpPr>
              <p:spPr>
                <a:xfrm>
                  <a:off x="48476" y="33905"/>
                  <a:ext cx="34703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336" y="0"/>
                      </a:moveTo>
                      <a:lnTo>
                        <a:pt x="21600" y="18171"/>
                      </a:lnTo>
                      <a:lnTo>
                        <a:pt x="20041" y="21600"/>
                      </a:lnTo>
                      <a:lnTo>
                        <a:pt x="0" y="3086"/>
                      </a:lnTo>
                      <a:lnTo>
                        <a:pt x="133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4211" name="Freeform 360"/>
              <p:cNvSpPr/>
              <p:nvPr/>
            </p:nvSpPr>
            <p:spPr>
              <a:xfrm>
                <a:off x="451041" y="421647"/>
                <a:ext cx="162907" cy="106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5" y="20127"/>
                    </a:moveTo>
                    <a:lnTo>
                      <a:pt x="21600" y="0"/>
                    </a:lnTo>
                    <a:lnTo>
                      <a:pt x="21535" y="1636"/>
                    </a:lnTo>
                    <a:lnTo>
                      <a:pt x="0" y="21600"/>
                    </a:lnTo>
                    <a:lnTo>
                      <a:pt x="65" y="20127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12" name="Freeform 361"/>
              <p:cNvSpPr/>
              <p:nvPr/>
            </p:nvSpPr>
            <p:spPr>
              <a:xfrm>
                <a:off x="35287" y="430142"/>
                <a:ext cx="416816" cy="971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13" name="Freeform 362"/>
              <p:cNvSpPr/>
              <p:nvPr/>
            </p:nvSpPr>
            <p:spPr>
              <a:xfrm>
                <a:off x="31457" y="412323"/>
                <a:ext cx="12701" cy="196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469"/>
                    </a:moveTo>
                    <a:lnTo>
                      <a:pt x="19108" y="21600"/>
                    </a:lnTo>
                    <a:lnTo>
                      <a:pt x="0" y="21159"/>
                    </a:lnTo>
                    <a:lnTo>
                      <a:pt x="2492" y="0"/>
                    </a:lnTo>
                    <a:lnTo>
                      <a:pt x="21600" y="1469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14" name="Freeform 363"/>
              <p:cNvSpPr/>
              <p:nvPr/>
            </p:nvSpPr>
            <p:spPr>
              <a:xfrm>
                <a:off x="35817" y="332137"/>
                <a:ext cx="193684" cy="814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90" y="0"/>
                    </a:moveTo>
                    <a:lnTo>
                      <a:pt x="0" y="21279"/>
                    </a:lnTo>
                    <a:lnTo>
                      <a:pt x="551" y="21600"/>
                    </a:lnTo>
                    <a:lnTo>
                      <a:pt x="21600" y="642"/>
                    </a:lnTo>
                    <a:lnTo>
                      <a:pt x="21490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15" name="Freeform 364"/>
              <p:cNvSpPr/>
              <p:nvPr/>
            </p:nvSpPr>
            <p:spPr>
              <a:xfrm>
                <a:off x="48818" y="416467"/>
                <a:ext cx="395326" cy="934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16" name="Freeform 365"/>
              <p:cNvSpPr/>
              <p:nvPr/>
            </p:nvSpPr>
            <p:spPr>
              <a:xfrm flipH="1" rot="10800000">
                <a:off x="443612" y="409836"/>
                <a:ext cx="161315" cy="967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51" y="0"/>
                    </a:moveTo>
                    <a:cubicBezTo>
                      <a:pt x="136" y="0"/>
                      <a:pt x="222" y="0"/>
                      <a:pt x="307" y="0"/>
                    </a:cubicBezTo>
                    <a:lnTo>
                      <a:pt x="21600" y="20256"/>
                    </a:lnTo>
                    <a:lnTo>
                      <a:pt x="21574" y="21600"/>
                    </a:lnTo>
                    <a:lnTo>
                      <a:pt x="0" y="71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4218" name="Line 444"/>
            <p:cNvSpPr/>
            <p:nvPr/>
          </p:nvSpPr>
          <p:spPr>
            <a:xfrm>
              <a:off x="2265003" y="3908087"/>
              <a:ext cx="629347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19" name="Text Box 447"/>
            <p:cNvSpPr txBox="1"/>
            <p:nvPr/>
          </p:nvSpPr>
          <p:spPr>
            <a:xfrm>
              <a:off x="2655515" y="3831421"/>
              <a:ext cx="108350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/>
              </a:lvl1pPr>
            </a:lstStyle>
            <a:p>
              <a:pPr/>
              <a:r>
                <a:t>to Internet</a:t>
              </a:r>
            </a:p>
          </p:txBody>
        </p:sp>
        <p:sp>
          <p:nvSpPr>
            <p:cNvPr id="4220" name="Rectangle 3"/>
            <p:cNvSpPr txBox="1"/>
            <p:nvPr/>
          </p:nvSpPr>
          <p:spPr>
            <a:xfrm>
              <a:off x="0" y="0"/>
              <a:ext cx="5352110" cy="23585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indent="-342900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65000"/>
                <a:buChar char="❖"/>
                <a:defRPr sz="2400">
                  <a:latin typeface="Gill Sans MT"/>
                  <a:ea typeface="Gill Sans MT"/>
                  <a:cs typeface="Gill Sans MT"/>
                  <a:sym typeface="Gill Sans MT"/>
                </a:defRPr>
              </a:pPr>
            </a:p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defRPr sz="2800">
                  <a:solidFill>
                    <a:srgbClr val="CC0000"/>
                  </a:solidFill>
                </a:defRPr>
              </a:pPr>
              <a:r>
                <a:t>Wide-area cellular access networks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lvl="1" marL="457200" indent="-249238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Char char="▪"/>
                <a:defRPr sz="2400"/>
              </a:pPr>
              <a:r>
                <a:t>provided by mobile, cellular network operator (10’s km)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lvl="1" marL="457200" indent="-249238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Char char="▪"/>
                <a:defRPr sz="2400"/>
              </a:pPr>
              <a:r>
                <a:t>10’s Mbps 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lvl="1" marL="457200" indent="-249238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Char char="▪"/>
                <a:defRPr sz="2400"/>
              </a:pPr>
              <a:r>
                <a:t>4G/5G cellular networks</a:t>
              </a:r>
            </a:p>
          </p:txBody>
        </p:sp>
        <p:grpSp>
          <p:nvGrpSpPr>
            <p:cNvPr id="4232" name="Group 527"/>
            <p:cNvGrpSpPr/>
            <p:nvPr/>
          </p:nvGrpSpPr>
          <p:grpSpPr>
            <a:xfrm>
              <a:off x="1849109" y="3690868"/>
              <a:ext cx="499293" cy="419118"/>
              <a:chOff x="0" y="0"/>
              <a:chExt cx="499292" cy="419116"/>
            </a:xfrm>
          </p:grpSpPr>
          <p:grpSp>
            <p:nvGrpSpPr>
              <p:cNvPr id="4223" name="Freeform 528"/>
              <p:cNvGrpSpPr/>
              <p:nvPr/>
            </p:nvGrpSpPr>
            <p:grpSpPr>
              <a:xfrm>
                <a:off x="-1" y="86029"/>
                <a:ext cx="499293" cy="333088"/>
                <a:chOff x="0" y="0"/>
                <a:chExt cx="499292" cy="333087"/>
              </a:xfrm>
            </p:grpSpPr>
            <p:sp>
              <p:nvSpPr>
                <p:cNvPr id="4221" name="Shape"/>
                <p:cNvSpPr/>
                <p:nvPr/>
              </p:nvSpPr>
              <p:spPr>
                <a:xfrm>
                  <a:off x="0" y="86046"/>
                  <a:ext cx="499292" cy="1609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222" name="Text"/>
                <p:cNvSpPr txBox="1"/>
                <p:nvPr/>
              </p:nvSpPr>
              <p:spPr>
                <a:xfrm>
                  <a:off x="48894" y="0"/>
                  <a:ext cx="401503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4226" name="Oval 529"/>
              <p:cNvGrpSpPr/>
              <p:nvPr/>
            </p:nvGrpSpPr>
            <p:grpSpPr>
              <a:xfrm>
                <a:off x="287" y="-1"/>
                <a:ext cx="498689" cy="333089"/>
                <a:chOff x="0" y="0"/>
                <a:chExt cx="498688" cy="333087"/>
              </a:xfrm>
            </p:grpSpPr>
            <p:sp>
              <p:nvSpPr>
                <p:cNvPr id="4224" name="Oval"/>
                <p:cNvSpPr/>
                <p:nvPr/>
              </p:nvSpPr>
              <p:spPr>
                <a:xfrm>
                  <a:off x="0" y="86846"/>
                  <a:ext cx="498689" cy="159397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225" name="Text"/>
                <p:cNvSpPr txBox="1"/>
                <p:nvPr/>
              </p:nvSpPr>
              <p:spPr>
                <a:xfrm>
                  <a:off x="121926" y="0"/>
                  <a:ext cx="254836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4231" name="Group 530"/>
              <p:cNvGrpSpPr/>
              <p:nvPr/>
            </p:nvGrpSpPr>
            <p:grpSpPr>
              <a:xfrm>
                <a:off x="74049" y="107105"/>
                <a:ext cx="351101" cy="117122"/>
                <a:chOff x="0" y="0"/>
                <a:chExt cx="351100" cy="117121"/>
              </a:xfrm>
            </p:grpSpPr>
            <p:sp>
              <p:nvSpPr>
                <p:cNvPr id="4227" name="Freeform 531"/>
                <p:cNvSpPr/>
                <p:nvPr/>
              </p:nvSpPr>
              <p:spPr>
                <a:xfrm>
                  <a:off x="9711" y="-1"/>
                  <a:ext cx="332135" cy="655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228" name="Freeform 532"/>
                <p:cNvSpPr/>
                <p:nvPr/>
              </p:nvSpPr>
              <p:spPr>
                <a:xfrm>
                  <a:off x="227094" y="56080"/>
                  <a:ext cx="124007" cy="564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229" name="Freeform 533"/>
                <p:cNvSpPr/>
                <p:nvPr/>
              </p:nvSpPr>
              <p:spPr>
                <a:xfrm>
                  <a:off x="0" y="56080"/>
                  <a:ext cx="121765" cy="557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230" name="Freeform 534"/>
                <p:cNvSpPr/>
                <p:nvPr/>
              </p:nvSpPr>
              <p:spPr>
                <a:xfrm>
                  <a:off x="42270" y="28514"/>
                  <a:ext cx="264756" cy="886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sp>
        <p:nvSpPr>
          <p:cNvPr id="423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xit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0" dur="500" fill="hold"/>
                                        <p:tgtEl>
                                          <p:spTgt spid="4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68" grpId="2"/>
      <p:bldP build="whole" bldLvl="1" animBg="1" rev="0" advAuto="0" spid="423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6" name="Title 1"/>
          <p:cNvSpPr txBox="1"/>
          <p:nvPr>
            <p:ph type="title"/>
          </p:nvPr>
        </p:nvSpPr>
        <p:spPr>
          <a:xfrm>
            <a:off x="848710" y="273145"/>
            <a:ext cx="10867040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Access networks: enterprise networks</a:t>
            </a:r>
          </a:p>
        </p:txBody>
      </p:sp>
      <p:sp>
        <p:nvSpPr>
          <p:cNvPr id="4237" name="Content Placeholder 52"/>
          <p:cNvSpPr txBox="1"/>
          <p:nvPr/>
        </p:nvSpPr>
        <p:spPr>
          <a:xfrm>
            <a:off x="1061908" y="3974372"/>
            <a:ext cx="10756150" cy="2401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companies, universities, etc.</a:t>
            </a:r>
          </a:p>
          <a:p>
            <a:pPr lvl="1" marL="287338" indent="-287338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2800"/>
            </a:pPr>
            <a:r>
              <a:t>mix of wired, wireless link technologies, connecting a mix of switches and routers </a:t>
            </a:r>
            <a:r>
              <a:rPr sz="2400"/>
              <a:t>(we’ll cover differences shortly)</a:t>
            </a:r>
          </a:p>
          <a:p>
            <a:pPr lvl="2" marL="735012" indent="-287337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2800"/>
            </a:pPr>
            <a:r>
              <a:t>Ethernet: wired access at 100Mbps, 1Gbps, 10Gbps </a:t>
            </a:r>
            <a:endParaRPr sz="2000"/>
          </a:p>
          <a:p>
            <a:pPr lvl="2" marL="735012" indent="-287337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2800"/>
            </a:pPr>
            <a:r>
              <a:t>WiFi: wireless access points at 11, 54, 450 Mbps </a:t>
            </a:r>
          </a:p>
        </p:txBody>
      </p:sp>
      <p:sp>
        <p:nvSpPr>
          <p:cNvPr id="4238" name="Line 2"/>
          <p:cNvSpPr/>
          <p:nvPr/>
        </p:nvSpPr>
        <p:spPr>
          <a:xfrm>
            <a:off x="4170166" y="2675819"/>
            <a:ext cx="1" cy="3065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39" name="Line 3"/>
          <p:cNvSpPr/>
          <p:nvPr/>
        </p:nvSpPr>
        <p:spPr>
          <a:xfrm>
            <a:off x="4478096" y="2681014"/>
            <a:ext cx="1" cy="36581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0" name="Line 4"/>
          <p:cNvSpPr/>
          <p:nvPr/>
        </p:nvSpPr>
        <p:spPr>
          <a:xfrm flipH="1">
            <a:off x="3726932" y="2663348"/>
            <a:ext cx="512051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1" name="Line 59"/>
          <p:cNvSpPr/>
          <p:nvPr/>
        </p:nvSpPr>
        <p:spPr>
          <a:xfrm flipH="1">
            <a:off x="3354851" y="2518892"/>
            <a:ext cx="780324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2" name="Line 61"/>
          <p:cNvSpPr/>
          <p:nvPr/>
        </p:nvSpPr>
        <p:spPr>
          <a:xfrm flipV="1">
            <a:off x="4296136" y="2114630"/>
            <a:ext cx="1" cy="3512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245" name="Group 62"/>
          <p:cNvGrpSpPr/>
          <p:nvPr/>
        </p:nvGrpSpPr>
        <p:grpSpPr>
          <a:xfrm>
            <a:off x="4075686" y="1818446"/>
            <a:ext cx="641522" cy="410500"/>
            <a:chOff x="0" y="0"/>
            <a:chExt cx="641520" cy="410499"/>
          </a:xfrm>
        </p:grpSpPr>
        <p:pic>
          <p:nvPicPr>
            <p:cNvPr id="4243" name="Picture 63" descr="Picture 6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6635" y="53200"/>
              <a:ext cx="468930" cy="3573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44" name="Picture 64" descr="Picture 6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-1"/>
              <a:ext cx="641521" cy="1234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269" name="Group 65"/>
          <p:cNvGrpSpPr/>
          <p:nvPr/>
        </p:nvGrpSpPr>
        <p:grpSpPr>
          <a:xfrm>
            <a:off x="4558577" y="1396516"/>
            <a:ext cx="457230" cy="468342"/>
            <a:chOff x="0" y="0"/>
            <a:chExt cx="457229" cy="468341"/>
          </a:xfrm>
        </p:grpSpPr>
        <p:pic>
          <p:nvPicPr>
            <p:cNvPr id="4246" name="Picture 66" descr="Picture 66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453568" cy="2536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47" name="Picture 67" descr="Picture 67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 flipH="1" rot="109063">
              <a:off x="21970" y="281653"/>
              <a:ext cx="373674" cy="1808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48" name="Freeform 68"/>
            <p:cNvSpPr/>
            <p:nvPr/>
          </p:nvSpPr>
          <p:spPr>
            <a:xfrm>
              <a:off x="145807" y="106200"/>
              <a:ext cx="300770" cy="235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pic>
          <p:nvPicPr>
            <p:cNvPr id="4249" name="Picture 69" descr="Picture 69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60621" y="112268"/>
              <a:ext cx="273306" cy="214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50" name="Freeform 70"/>
            <p:cNvSpPr/>
            <p:nvPr/>
          </p:nvSpPr>
          <p:spPr>
            <a:xfrm>
              <a:off x="200568" y="99239"/>
              <a:ext cx="254831" cy="43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51" name="Freeform 71"/>
            <p:cNvSpPr/>
            <p:nvPr/>
          </p:nvSpPr>
          <p:spPr>
            <a:xfrm>
              <a:off x="143144" y="98882"/>
              <a:ext cx="70740" cy="1827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52" name="Freeform 72"/>
            <p:cNvSpPr/>
            <p:nvPr/>
          </p:nvSpPr>
          <p:spPr>
            <a:xfrm>
              <a:off x="377334" y="131545"/>
              <a:ext cx="76234" cy="210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53" name="Freeform 73"/>
            <p:cNvSpPr/>
            <p:nvPr/>
          </p:nvSpPr>
          <p:spPr>
            <a:xfrm>
              <a:off x="142311" y="272371"/>
              <a:ext cx="260788" cy="71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54" name="Freeform 74"/>
            <p:cNvSpPr/>
            <p:nvPr/>
          </p:nvSpPr>
          <p:spPr>
            <a:xfrm>
              <a:off x="385823" y="133330"/>
              <a:ext cx="71407" cy="211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55" name="Freeform 75"/>
            <p:cNvSpPr/>
            <p:nvPr/>
          </p:nvSpPr>
          <p:spPr>
            <a:xfrm>
              <a:off x="142644" y="281831"/>
              <a:ext cx="248673" cy="70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4262" name="Group 76"/>
            <p:cNvGrpSpPr/>
            <p:nvPr/>
          </p:nvGrpSpPr>
          <p:grpSpPr>
            <a:xfrm>
              <a:off x="138483" y="356974"/>
              <a:ext cx="84390" cy="41767"/>
              <a:chOff x="0" y="0"/>
              <a:chExt cx="84388" cy="41766"/>
            </a:xfrm>
          </p:grpSpPr>
          <p:sp>
            <p:nvSpPr>
              <p:cNvPr id="4256" name="Freeform 77"/>
              <p:cNvSpPr/>
              <p:nvPr/>
            </p:nvSpPr>
            <p:spPr>
              <a:xfrm>
                <a:off x="0" y="-1"/>
                <a:ext cx="84389" cy="417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57" name="Freeform 78"/>
              <p:cNvSpPr/>
              <p:nvPr/>
            </p:nvSpPr>
            <p:spPr>
              <a:xfrm>
                <a:off x="1571" y="894"/>
                <a:ext cx="81471" cy="397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58" name="Freeform 79"/>
              <p:cNvSpPr/>
              <p:nvPr/>
            </p:nvSpPr>
            <p:spPr>
              <a:xfrm>
                <a:off x="7630" y="16348"/>
                <a:ext cx="28954" cy="127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59" name="Freeform 80"/>
              <p:cNvSpPr/>
              <p:nvPr/>
            </p:nvSpPr>
            <p:spPr>
              <a:xfrm>
                <a:off x="6620" y="19897"/>
                <a:ext cx="21772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60" name="Freeform 81"/>
              <p:cNvSpPr/>
              <p:nvPr/>
            </p:nvSpPr>
            <p:spPr>
              <a:xfrm>
                <a:off x="31421" y="24523"/>
                <a:ext cx="28953" cy="130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61" name="Freeform 82"/>
              <p:cNvSpPr/>
              <p:nvPr/>
            </p:nvSpPr>
            <p:spPr>
              <a:xfrm>
                <a:off x="30411" y="28327"/>
                <a:ext cx="21771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</p:grpSp>
        <p:sp>
          <p:nvSpPr>
            <p:cNvPr id="4263" name="Freeform 83"/>
            <p:cNvSpPr/>
            <p:nvPr/>
          </p:nvSpPr>
          <p:spPr>
            <a:xfrm>
              <a:off x="282959" y="363221"/>
              <a:ext cx="102199" cy="91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64" name="Freeform 84"/>
            <p:cNvSpPr/>
            <p:nvPr/>
          </p:nvSpPr>
          <p:spPr>
            <a:xfrm>
              <a:off x="22137" y="370539"/>
              <a:ext cx="261489" cy="837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65" name="Freeform 85"/>
            <p:cNvSpPr/>
            <p:nvPr/>
          </p:nvSpPr>
          <p:spPr>
            <a:xfrm>
              <a:off x="17368" y="355190"/>
              <a:ext cx="12701" cy="16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66" name="Freeform 86"/>
            <p:cNvSpPr/>
            <p:nvPr/>
          </p:nvSpPr>
          <p:spPr>
            <a:xfrm>
              <a:off x="22470" y="286115"/>
              <a:ext cx="121507" cy="7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67" name="Freeform 87"/>
            <p:cNvSpPr/>
            <p:nvPr/>
          </p:nvSpPr>
          <p:spPr>
            <a:xfrm>
              <a:off x="30626" y="358759"/>
              <a:ext cx="248006" cy="804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68" name="Freeform 88"/>
            <p:cNvSpPr/>
            <p:nvPr/>
          </p:nvSpPr>
          <p:spPr>
            <a:xfrm flipH="1" rot="10800000">
              <a:off x="278298" y="353048"/>
              <a:ext cx="101201" cy="83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</p:grpSp>
      <p:grpSp>
        <p:nvGrpSpPr>
          <p:cNvPr id="4293" name="Group 89"/>
          <p:cNvGrpSpPr/>
          <p:nvPr/>
        </p:nvGrpSpPr>
        <p:grpSpPr>
          <a:xfrm>
            <a:off x="3434165" y="1579421"/>
            <a:ext cx="416407" cy="414819"/>
            <a:chOff x="0" y="0"/>
            <a:chExt cx="416405" cy="414817"/>
          </a:xfrm>
        </p:grpSpPr>
        <p:pic>
          <p:nvPicPr>
            <p:cNvPr id="4270" name="Picture 90" descr="Picture 90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413072" cy="2245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71" name="Picture 91" descr="Picture 91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 flipH="1" rot="109063">
              <a:off x="20009" y="249373"/>
              <a:ext cx="340311" cy="16008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72" name="Freeform 92"/>
            <p:cNvSpPr/>
            <p:nvPr/>
          </p:nvSpPr>
          <p:spPr>
            <a:xfrm>
              <a:off x="132789" y="94028"/>
              <a:ext cx="273916" cy="208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pic>
          <p:nvPicPr>
            <p:cNvPr id="4273" name="Picture 93" descr="Picture 93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46280" y="99401"/>
              <a:ext cx="248904" cy="190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74" name="Freeform 94"/>
            <p:cNvSpPr/>
            <p:nvPr/>
          </p:nvSpPr>
          <p:spPr>
            <a:xfrm>
              <a:off x="182660" y="87865"/>
              <a:ext cx="232079" cy="38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75" name="Freeform 95"/>
            <p:cNvSpPr/>
            <p:nvPr/>
          </p:nvSpPr>
          <p:spPr>
            <a:xfrm>
              <a:off x="130363" y="87549"/>
              <a:ext cx="64425" cy="161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76" name="Freeform 96"/>
            <p:cNvSpPr/>
            <p:nvPr/>
          </p:nvSpPr>
          <p:spPr>
            <a:xfrm>
              <a:off x="343644" y="116469"/>
              <a:ext cx="69428" cy="186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77" name="Freeform 97"/>
            <p:cNvSpPr/>
            <p:nvPr/>
          </p:nvSpPr>
          <p:spPr>
            <a:xfrm>
              <a:off x="129605" y="241156"/>
              <a:ext cx="237504" cy="63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78" name="Freeform 98"/>
            <p:cNvSpPr/>
            <p:nvPr/>
          </p:nvSpPr>
          <p:spPr>
            <a:xfrm>
              <a:off x="351375" y="118049"/>
              <a:ext cx="65031" cy="1875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79" name="Freeform 99"/>
            <p:cNvSpPr/>
            <p:nvPr/>
          </p:nvSpPr>
          <p:spPr>
            <a:xfrm>
              <a:off x="129908" y="249531"/>
              <a:ext cx="226471" cy="62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4286" name="Group 100"/>
            <p:cNvGrpSpPr/>
            <p:nvPr/>
          </p:nvGrpSpPr>
          <p:grpSpPr>
            <a:xfrm>
              <a:off x="126119" y="316063"/>
              <a:ext cx="76855" cy="37054"/>
              <a:chOff x="0" y="0"/>
              <a:chExt cx="76853" cy="37053"/>
            </a:xfrm>
          </p:grpSpPr>
          <p:sp>
            <p:nvSpPr>
              <p:cNvPr id="4280" name="Freeform 101"/>
              <p:cNvSpPr/>
              <p:nvPr/>
            </p:nvSpPr>
            <p:spPr>
              <a:xfrm>
                <a:off x="0" y="0"/>
                <a:ext cx="76854" cy="369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81" name="Freeform 102"/>
              <p:cNvSpPr/>
              <p:nvPr/>
            </p:nvSpPr>
            <p:spPr>
              <a:xfrm>
                <a:off x="1430" y="791"/>
                <a:ext cx="74198" cy="351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82" name="Freeform 103"/>
              <p:cNvSpPr/>
              <p:nvPr/>
            </p:nvSpPr>
            <p:spPr>
              <a:xfrm>
                <a:off x="6949" y="13779"/>
                <a:ext cx="26369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83" name="Freeform 104"/>
              <p:cNvSpPr/>
              <p:nvPr/>
            </p:nvSpPr>
            <p:spPr>
              <a:xfrm>
                <a:off x="6029" y="16889"/>
                <a:ext cx="19828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84" name="Freeform 105"/>
              <p:cNvSpPr/>
              <p:nvPr/>
            </p:nvSpPr>
            <p:spPr>
              <a:xfrm>
                <a:off x="28615" y="21130"/>
                <a:ext cx="26369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285" name="Freeform 106"/>
              <p:cNvSpPr/>
              <p:nvPr/>
            </p:nvSpPr>
            <p:spPr>
              <a:xfrm>
                <a:off x="27696" y="24353"/>
                <a:ext cx="19827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</p:grpSp>
        <p:sp>
          <p:nvSpPr>
            <p:cNvPr id="4287" name="Freeform 107"/>
            <p:cNvSpPr/>
            <p:nvPr/>
          </p:nvSpPr>
          <p:spPr>
            <a:xfrm>
              <a:off x="257695" y="321594"/>
              <a:ext cx="93075" cy="812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88" name="Freeform 108"/>
            <p:cNvSpPr/>
            <p:nvPr/>
          </p:nvSpPr>
          <p:spPr>
            <a:xfrm>
              <a:off x="20160" y="328073"/>
              <a:ext cx="238143" cy="741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89" name="Freeform 109"/>
            <p:cNvSpPr/>
            <p:nvPr/>
          </p:nvSpPr>
          <p:spPr>
            <a:xfrm>
              <a:off x="15250" y="314482"/>
              <a:ext cx="12701" cy="15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90" name="Freeform 110"/>
            <p:cNvSpPr/>
            <p:nvPr/>
          </p:nvSpPr>
          <p:spPr>
            <a:xfrm>
              <a:off x="20464" y="253324"/>
              <a:ext cx="110658" cy="62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91" name="Freeform 111"/>
            <p:cNvSpPr/>
            <p:nvPr/>
          </p:nvSpPr>
          <p:spPr>
            <a:xfrm>
              <a:off x="27891" y="317643"/>
              <a:ext cx="225864" cy="712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92" name="Freeform 112"/>
            <p:cNvSpPr/>
            <p:nvPr/>
          </p:nvSpPr>
          <p:spPr>
            <a:xfrm flipH="1" rot="10800000">
              <a:off x="253451" y="312586"/>
              <a:ext cx="92165" cy="73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</p:grpSp>
      <p:grpSp>
        <p:nvGrpSpPr>
          <p:cNvPr id="4317" name="Group 113"/>
          <p:cNvGrpSpPr/>
          <p:nvPr/>
        </p:nvGrpSpPr>
        <p:grpSpPr>
          <a:xfrm>
            <a:off x="3983542" y="1377809"/>
            <a:ext cx="466562" cy="409233"/>
            <a:chOff x="0" y="0"/>
            <a:chExt cx="466561" cy="409231"/>
          </a:xfrm>
        </p:grpSpPr>
        <p:pic>
          <p:nvPicPr>
            <p:cNvPr id="4294" name="Picture 114" descr="Picture 114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0"/>
              <a:ext cx="462825" cy="2211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95" name="Picture 115" descr="Picture 115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 rot="109063">
              <a:off x="22419" y="245576"/>
              <a:ext cx="381300" cy="1576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96" name="Freeform 116"/>
            <p:cNvSpPr/>
            <p:nvPr/>
          </p:nvSpPr>
          <p:spPr>
            <a:xfrm>
              <a:off x="148783" y="92596"/>
              <a:ext cx="306909" cy="205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pic>
          <p:nvPicPr>
            <p:cNvPr id="4297" name="Picture 117" descr="Picture 117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163899" y="97888"/>
              <a:ext cx="278884" cy="187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98" name="Freeform 118"/>
            <p:cNvSpPr/>
            <p:nvPr/>
          </p:nvSpPr>
          <p:spPr>
            <a:xfrm>
              <a:off x="204661" y="86527"/>
              <a:ext cx="260032" cy="38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299" name="Freeform 119"/>
            <p:cNvSpPr/>
            <p:nvPr/>
          </p:nvSpPr>
          <p:spPr>
            <a:xfrm>
              <a:off x="146065" y="86216"/>
              <a:ext cx="72185" cy="1593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00" name="Freeform 120"/>
            <p:cNvSpPr/>
            <p:nvPr/>
          </p:nvSpPr>
          <p:spPr>
            <a:xfrm>
              <a:off x="385035" y="114695"/>
              <a:ext cx="77790" cy="183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01" name="Freeform 121"/>
            <p:cNvSpPr/>
            <p:nvPr/>
          </p:nvSpPr>
          <p:spPr>
            <a:xfrm>
              <a:off x="145216" y="237483"/>
              <a:ext cx="266110" cy="62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02" name="Freeform 122"/>
            <p:cNvSpPr/>
            <p:nvPr/>
          </p:nvSpPr>
          <p:spPr>
            <a:xfrm>
              <a:off x="393698" y="116251"/>
              <a:ext cx="72864" cy="184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03" name="Freeform 123"/>
            <p:cNvSpPr/>
            <p:nvPr/>
          </p:nvSpPr>
          <p:spPr>
            <a:xfrm>
              <a:off x="145556" y="245731"/>
              <a:ext cx="253747" cy="61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4310" name="Group 124"/>
            <p:cNvGrpSpPr/>
            <p:nvPr/>
          </p:nvGrpSpPr>
          <p:grpSpPr>
            <a:xfrm>
              <a:off x="141310" y="311249"/>
              <a:ext cx="86111" cy="36587"/>
              <a:chOff x="0" y="0"/>
              <a:chExt cx="86110" cy="36585"/>
            </a:xfrm>
          </p:grpSpPr>
          <p:sp>
            <p:nvSpPr>
              <p:cNvPr id="4304" name="Freeform 125"/>
              <p:cNvSpPr/>
              <p:nvPr/>
            </p:nvSpPr>
            <p:spPr>
              <a:xfrm>
                <a:off x="0" y="0"/>
                <a:ext cx="86111" cy="364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305" name="Freeform 126"/>
              <p:cNvSpPr/>
              <p:nvPr/>
            </p:nvSpPr>
            <p:spPr>
              <a:xfrm>
                <a:off x="1603" y="779"/>
                <a:ext cx="83134" cy="346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306" name="Freeform 127"/>
              <p:cNvSpPr/>
              <p:nvPr/>
            </p:nvSpPr>
            <p:spPr>
              <a:xfrm>
                <a:off x="7786" y="13472"/>
                <a:ext cx="29544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307" name="Freeform 128"/>
              <p:cNvSpPr/>
              <p:nvPr/>
            </p:nvSpPr>
            <p:spPr>
              <a:xfrm>
                <a:off x="6756" y="16535"/>
                <a:ext cx="22215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308" name="Freeform 129"/>
              <p:cNvSpPr/>
              <p:nvPr/>
            </p:nvSpPr>
            <p:spPr>
              <a:xfrm>
                <a:off x="32062" y="20711"/>
                <a:ext cx="29544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  <p:sp>
            <p:nvSpPr>
              <p:cNvPr id="4309" name="Freeform 130"/>
              <p:cNvSpPr/>
              <p:nvPr/>
            </p:nvSpPr>
            <p:spPr>
              <a:xfrm>
                <a:off x="31031" y="23885"/>
                <a:ext cx="22216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600"/>
                </a:pPr>
              </a:p>
            </p:txBody>
          </p:sp>
        </p:grpSp>
        <p:sp>
          <p:nvSpPr>
            <p:cNvPr id="4311" name="Freeform 131"/>
            <p:cNvSpPr/>
            <p:nvPr/>
          </p:nvSpPr>
          <p:spPr>
            <a:xfrm>
              <a:off x="288734" y="316696"/>
              <a:ext cx="104285" cy="799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12" name="Freeform 132"/>
            <p:cNvSpPr/>
            <p:nvPr/>
          </p:nvSpPr>
          <p:spPr>
            <a:xfrm>
              <a:off x="22589" y="323077"/>
              <a:ext cx="266825" cy="72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13" name="Freeform 133"/>
            <p:cNvSpPr/>
            <p:nvPr/>
          </p:nvSpPr>
          <p:spPr>
            <a:xfrm>
              <a:off x="17852" y="309693"/>
              <a:ext cx="12701" cy="14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14" name="Freeform 134"/>
            <p:cNvSpPr/>
            <p:nvPr/>
          </p:nvSpPr>
          <p:spPr>
            <a:xfrm>
              <a:off x="22928" y="249466"/>
              <a:ext cx="123987" cy="611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15" name="Freeform 135"/>
            <p:cNvSpPr/>
            <p:nvPr/>
          </p:nvSpPr>
          <p:spPr>
            <a:xfrm>
              <a:off x="31251" y="312805"/>
              <a:ext cx="253068" cy="70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16" name="Freeform 136"/>
            <p:cNvSpPr/>
            <p:nvPr/>
          </p:nvSpPr>
          <p:spPr>
            <a:xfrm flipH="1" rot="10800000">
              <a:off x="283978" y="307825"/>
              <a:ext cx="103266" cy="72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</p:grpSp>
      <p:sp>
        <p:nvSpPr>
          <p:cNvPr id="4318" name="Line 305"/>
          <p:cNvSpPr/>
          <p:nvPr/>
        </p:nvSpPr>
        <p:spPr>
          <a:xfrm flipV="1">
            <a:off x="4581904" y="1972254"/>
            <a:ext cx="1225889" cy="501953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9" name="Line 306"/>
          <p:cNvSpPr/>
          <p:nvPr/>
        </p:nvSpPr>
        <p:spPr>
          <a:xfrm>
            <a:off x="5916269" y="2557345"/>
            <a:ext cx="1" cy="427127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20" name="Line 340"/>
          <p:cNvSpPr/>
          <p:nvPr/>
        </p:nvSpPr>
        <p:spPr>
          <a:xfrm>
            <a:off x="6196205" y="2552149"/>
            <a:ext cx="1" cy="427127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353" name="Group 230"/>
          <p:cNvGrpSpPr/>
          <p:nvPr/>
        </p:nvGrpSpPr>
        <p:grpSpPr>
          <a:xfrm>
            <a:off x="5797296" y="2957452"/>
            <a:ext cx="269917" cy="501953"/>
            <a:chOff x="0" y="0"/>
            <a:chExt cx="269915" cy="501952"/>
          </a:xfrm>
        </p:grpSpPr>
        <p:sp>
          <p:nvSpPr>
            <p:cNvPr id="4321" name="Freeform 231"/>
            <p:cNvSpPr/>
            <p:nvPr/>
          </p:nvSpPr>
          <p:spPr>
            <a:xfrm>
              <a:off x="212358" y="838"/>
              <a:ext cx="53279" cy="47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22" name="Rectangle 232"/>
            <p:cNvSpPr/>
            <p:nvPr/>
          </p:nvSpPr>
          <p:spPr>
            <a:xfrm>
              <a:off x="12801" y="0"/>
              <a:ext cx="197110" cy="478070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23" name="Freeform 233"/>
            <p:cNvSpPr/>
            <p:nvPr/>
          </p:nvSpPr>
          <p:spPr>
            <a:xfrm>
              <a:off x="223391" y="29538"/>
              <a:ext cx="30762" cy="436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24" name="Freeform 234"/>
            <p:cNvSpPr/>
            <p:nvPr/>
          </p:nvSpPr>
          <p:spPr>
            <a:xfrm>
              <a:off x="215370" y="253699"/>
              <a:ext cx="49514" cy="39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25" name="Rectangle 235"/>
            <p:cNvSpPr/>
            <p:nvPr/>
          </p:nvSpPr>
          <p:spPr>
            <a:xfrm>
              <a:off x="13931" y="53984"/>
              <a:ext cx="112016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328" name="Group 236"/>
            <p:cNvGrpSpPr/>
            <p:nvPr/>
          </p:nvGrpSpPr>
          <p:grpSpPr>
            <a:xfrm>
              <a:off x="114349" y="49850"/>
              <a:ext cx="109682" cy="30160"/>
              <a:chOff x="0" y="0"/>
              <a:chExt cx="109681" cy="30158"/>
            </a:xfrm>
          </p:grpSpPr>
          <p:sp>
            <p:nvSpPr>
              <p:cNvPr id="4326" name="AutoShape 237"/>
              <p:cNvSpPr/>
              <p:nvPr/>
            </p:nvSpPr>
            <p:spPr>
              <a:xfrm>
                <a:off x="0" y="0"/>
                <a:ext cx="109682" cy="3015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327" name="AutoShape 238"/>
              <p:cNvSpPr/>
              <p:nvPr/>
            </p:nvSpPr>
            <p:spPr>
              <a:xfrm>
                <a:off x="2263" y="3059"/>
                <a:ext cx="105005" cy="2294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329" name="Rectangle 239"/>
            <p:cNvSpPr/>
            <p:nvPr/>
          </p:nvSpPr>
          <p:spPr>
            <a:xfrm>
              <a:off x="16378" y="121966"/>
              <a:ext cx="112016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332" name="Group 240"/>
            <p:cNvGrpSpPr/>
            <p:nvPr/>
          </p:nvGrpSpPr>
          <p:grpSpPr>
            <a:xfrm>
              <a:off x="114274" y="118567"/>
              <a:ext cx="109682" cy="28073"/>
              <a:chOff x="0" y="0"/>
              <a:chExt cx="109681" cy="28072"/>
            </a:xfrm>
          </p:grpSpPr>
          <p:sp>
            <p:nvSpPr>
              <p:cNvPr id="4330" name="AutoShape 241"/>
              <p:cNvSpPr/>
              <p:nvPr/>
            </p:nvSpPr>
            <p:spPr>
              <a:xfrm>
                <a:off x="0" y="0"/>
                <a:ext cx="109682" cy="2807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331" name="AutoShape 242"/>
              <p:cNvSpPr/>
              <p:nvPr/>
            </p:nvSpPr>
            <p:spPr>
              <a:xfrm>
                <a:off x="2413" y="3029"/>
                <a:ext cx="105006" cy="2181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333" name="Rectangle 243"/>
            <p:cNvSpPr/>
            <p:nvPr/>
          </p:nvSpPr>
          <p:spPr>
            <a:xfrm>
              <a:off x="13931" y="193299"/>
              <a:ext cx="113145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34" name="Rectangle 244"/>
            <p:cNvSpPr/>
            <p:nvPr/>
          </p:nvSpPr>
          <p:spPr>
            <a:xfrm>
              <a:off x="16378" y="255519"/>
              <a:ext cx="112016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337" name="Group 245"/>
            <p:cNvGrpSpPr/>
            <p:nvPr/>
          </p:nvGrpSpPr>
          <p:grpSpPr>
            <a:xfrm>
              <a:off x="112015" y="251431"/>
              <a:ext cx="109569" cy="31179"/>
              <a:chOff x="0" y="0"/>
              <a:chExt cx="109567" cy="31178"/>
            </a:xfrm>
          </p:grpSpPr>
          <p:sp>
            <p:nvSpPr>
              <p:cNvPr id="4335" name="AutoShape 246"/>
              <p:cNvSpPr/>
              <p:nvPr/>
            </p:nvSpPr>
            <p:spPr>
              <a:xfrm>
                <a:off x="0" y="0"/>
                <a:ext cx="109568" cy="3117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336" name="AutoShape 247"/>
              <p:cNvSpPr/>
              <p:nvPr/>
            </p:nvSpPr>
            <p:spPr>
              <a:xfrm>
                <a:off x="2266" y="3186"/>
                <a:ext cx="105036" cy="2389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338" name="Freeform 248"/>
            <p:cNvSpPr/>
            <p:nvPr/>
          </p:nvSpPr>
          <p:spPr>
            <a:xfrm>
              <a:off x="216123" y="193783"/>
              <a:ext cx="49514" cy="393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4341" name="Group 249"/>
            <p:cNvGrpSpPr/>
            <p:nvPr/>
          </p:nvGrpSpPr>
          <p:grpSpPr>
            <a:xfrm>
              <a:off x="113070" y="188127"/>
              <a:ext cx="109569" cy="29121"/>
              <a:chOff x="0" y="0"/>
              <a:chExt cx="109567" cy="29119"/>
            </a:xfrm>
          </p:grpSpPr>
          <p:sp>
            <p:nvSpPr>
              <p:cNvPr id="4339" name="AutoShape 250"/>
              <p:cNvSpPr/>
              <p:nvPr/>
            </p:nvSpPr>
            <p:spPr>
              <a:xfrm>
                <a:off x="0" y="0"/>
                <a:ext cx="109568" cy="29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340" name="AutoShape 251"/>
              <p:cNvSpPr/>
              <p:nvPr/>
            </p:nvSpPr>
            <p:spPr>
              <a:xfrm>
                <a:off x="2418" y="3142"/>
                <a:ext cx="105035" cy="228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342" name="Rectangle 252"/>
            <p:cNvSpPr/>
            <p:nvPr/>
          </p:nvSpPr>
          <p:spPr>
            <a:xfrm>
              <a:off x="208781" y="0"/>
              <a:ext cx="12802" cy="47911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43" name="Freeform 253"/>
            <p:cNvSpPr/>
            <p:nvPr/>
          </p:nvSpPr>
          <p:spPr>
            <a:xfrm>
              <a:off x="220641" y="121088"/>
              <a:ext cx="44619" cy="446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44" name="Freeform 254"/>
            <p:cNvSpPr/>
            <p:nvPr/>
          </p:nvSpPr>
          <p:spPr>
            <a:xfrm>
              <a:off x="221206" y="52583"/>
              <a:ext cx="45937" cy="50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45" name="Oval 255"/>
            <p:cNvSpPr/>
            <p:nvPr/>
          </p:nvSpPr>
          <p:spPr>
            <a:xfrm>
              <a:off x="257215" y="457329"/>
              <a:ext cx="12701" cy="19693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46" name="Freeform 256"/>
            <p:cNvSpPr/>
            <p:nvPr/>
          </p:nvSpPr>
          <p:spPr>
            <a:xfrm>
              <a:off x="218759" y="457748"/>
              <a:ext cx="46125" cy="41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47" name="AutoShape 257"/>
            <p:cNvSpPr/>
            <p:nvPr/>
          </p:nvSpPr>
          <p:spPr>
            <a:xfrm>
              <a:off x="0" y="470737"/>
              <a:ext cx="226290" cy="3121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48" name="AutoShape 258"/>
            <p:cNvSpPr/>
            <p:nvPr/>
          </p:nvSpPr>
          <p:spPr>
            <a:xfrm>
              <a:off x="12801" y="478069"/>
              <a:ext cx="200688" cy="1759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49" name="Oval 259"/>
            <p:cNvSpPr/>
            <p:nvPr/>
          </p:nvSpPr>
          <p:spPr>
            <a:xfrm>
              <a:off x="31439" y="409354"/>
              <a:ext cx="30311" cy="30169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50" name="Oval 260"/>
            <p:cNvSpPr/>
            <p:nvPr/>
          </p:nvSpPr>
          <p:spPr>
            <a:xfrm>
              <a:off x="65326" y="409354"/>
              <a:ext cx="30311" cy="30169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51" name="Oval 261"/>
            <p:cNvSpPr/>
            <p:nvPr/>
          </p:nvSpPr>
          <p:spPr>
            <a:xfrm>
              <a:off x="97895" y="408516"/>
              <a:ext cx="30311" cy="30169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52" name="Rectangle 262"/>
            <p:cNvSpPr/>
            <p:nvPr/>
          </p:nvSpPr>
          <p:spPr>
            <a:xfrm>
              <a:off x="173764" y="294132"/>
              <a:ext cx="16379" cy="160055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4354" name="Text Box 343"/>
          <p:cNvSpPr txBox="1"/>
          <p:nvPr/>
        </p:nvSpPr>
        <p:spPr>
          <a:xfrm>
            <a:off x="4746057" y="2906528"/>
            <a:ext cx="964070" cy="588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85000"/>
              </a:lnSpc>
            </a:pPr>
            <a:r>
              <a:t>Ethernet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5000"/>
              </a:lnSpc>
            </a:pPr>
            <a:r>
              <a:t>switch</a:t>
            </a:r>
          </a:p>
        </p:txBody>
      </p:sp>
      <p:sp>
        <p:nvSpPr>
          <p:cNvPr id="4355" name="Line 344"/>
          <p:cNvSpPr/>
          <p:nvPr/>
        </p:nvSpPr>
        <p:spPr>
          <a:xfrm>
            <a:off x="6439982" y="3178810"/>
            <a:ext cx="386080" cy="1"/>
          </a:xfrm>
          <a:prstGeom prst="line">
            <a:avLst/>
          </a:prstGeom>
          <a:ln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56" name="Text Box 345"/>
          <p:cNvSpPr txBox="1"/>
          <p:nvPr/>
        </p:nvSpPr>
        <p:spPr>
          <a:xfrm>
            <a:off x="6599001" y="2915882"/>
            <a:ext cx="1726665" cy="58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85000"/>
              </a:lnSpc>
            </a:pPr>
            <a:r>
              <a:t>institutional mail,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5000"/>
              </a:lnSpc>
            </a:pPr>
            <a:r>
              <a:t>web servers</a:t>
            </a:r>
          </a:p>
        </p:txBody>
      </p:sp>
      <p:sp>
        <p:nvSpPr>
          <p:cNvPr id="4357" name="Text Box 346"/>
          <p:cNvSpPr txBox="1"/>
          <p:nvPr/>
        </p:nvSpPr>
        <p:spPr>
          <a:xfrm>
            <a:off x="7199943" y="2511681"/>
            <a:ext cx="185681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85000"/>
              </a:lnSpc>
            </a:lvl1pPr>
          </a:lstStyle>
          <a:p>
            <a:pPr/>
            <a:r>
              <a:t>institutional router</a:t>
            </a:r>
          </a:p>
        </p:txBody>
      </p:sp>
      <p:sp>
        <p:nvSpPr>
          <p:cNvPr id="4358" name="Line 347"/>
          <p:cNvSpPr/>
          <p:nvPr/>
        </p:nvSpPr>
        <p:spPr>
          <a:xfrm>
            <a:off x="6585783" y="2140611"/>
            <a:ext cx="739500" cy="434402"/>
          </a:xfrm>
          <a:prstGeom prst="line">
            <a:avLst/>
          </a:prstGeom>
          <a:ln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59" name="Line 348"/>
          <p:cNvSpPr/>
          <p:nvPr/>
        </p:nvSpPr>
        <p:spPr>
          <a:xfrm>
            <a:off x="6639438" y="1920292"/>
            <a:ext cx="713839" cy="1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60" name="Line 349"/>
          <p:cNvSpPr/>
          <p:nvPr/>
        </p:nvSpPr>
        <p:spPr>
          <a:xfrm>
            <a:off x="7396433" y="1918213"/>
            <a:ext cx="713839" cy="1"/>
          </a:xfrm>
          <a:prstGeom prst="line">
            <a:avLst/>
          </a:prstGeom>
          <a:ln w="28575">
            <a:solidFill>
              <a:srgbClr val="000000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4361" name="Line 350"/>
          <p:cNvSpPr/>
          <p:nvPr/>
        </p:nvSpPr>
        <p:spPr>
          <a:xfrm>
            <a:off x="6948534" y="1976410"/>
            <a:ext cx="369750" cy="217202"/>
          </a:xfrm>
          <a:prstGeom prst="line">
            <a:avLst/>
          </a:prstGeom>
          <a:ln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62" name="Text Box 351"/>
          <p:cNvSpPr txBox="1"/>
          <p:nvPr/>
        </p:nvSpPr>
        <p:spPr>
          <a:xfrm>
            <a:off x="7260552" y="2109434"/>
            <a:ext cx="1735595" cy="948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85000"/>
              </a:lnSpc>
            </a:pPr>
            <a:r>
              <a:t>Enterprise link to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5000"/>
              </a:lnSpc>
            </a:pPr>
            <a:r>
              <a:t>ISP (Internet)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3" name="Line 359"/>
          <p:cNvSpPr/>
          <p:nvPr/>
        </p:nvSpPr>
        <p:spPr>
          <a:xfrm>
            <a:off x="6202036" y="2116708"/>
            <a:ext cx="1" cy="194338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396" name="Group 360"/>
          <p:cNvGrpSpPr/>
          <p:nvPr/>
        </p:nvGrpSpPr>
        <p:grpSpPr>
          <a:xfrm>
            <a:off x="6120388" y="2953294"/>
            <a:ext cx="269917" cy="501953"/>
            <a:chOff x="0" y="0"/>
            <a:chExt cx="269915" cy="501952"/>
          </a:xfrm>
        </p:grpSpPr>
        <p:sp>
          <p:nvSpPr>
            <p:cNvPr id="4364" name="Freeform 361"/>
            <p:cNvSpPr/>
            <p:nvPr/>
          </p:nvSpPr>
          <p:spPr>
            <a:xfrm>
              <a:off x="212358" y="838"/>
              <a:ext cx="53279" cy="47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65" name="Rectangle 362"/>
            <p:cNvSpPr/>
            <p:nvPr/>
          </p:nvSpPr>
          <p:spPr>
            <a:xfrm>
              <a:off x="12801" y="0"/>
              <a:ext cx="197110" cy="478070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66" name="Freeform 363"/>
            <p:cNvSpPr/>
            <p:nvPr/>
          </p:nvSpPr>
          <p:spPr>
            <a:xfrm>
              <a:off x="223391" y="29538"/>
              <a:ext cx="30762" cy="436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67" name="Freeform 364"/>
            <p:cNvSpPr/>
            <p:nvPr/>
          </p:nvSpPr>
          <p:spPr>
            <a:xfrm>
              <a:off x="215370" y="253699"/>
              <a:ext cx="49514" cy="39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68" name="Rectangle 365"/>
            <p:cNvSpPr/>
            <p:nvPr/>
          </p:nvSpPr>
          <p:spPr>
            <a:xfrm>
              <a:off x="13931" y="53984"/>
              <a:ext cx="112016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371" name="Group 366"/>
            <p:cNvGrpSpPr/>
            <p:nvPr/>
          </p:nvGrpSpPr>
          <p:grpSpPr>
            <a:xfrm>
              <a:off x="114349" y="49850"/>
              <a:ext cx="109682" cy="30160"/>
              <a:chOff x="0" y="0"/>
              <a:chExt cx="109681" cy="30158"/>
            </a:xfrm>
          </p:grpSpPr>
          <p:sp>
            <p:nvSpPr>
              <p:cNvPr id="4369" name="AutoShape 367"/>
              <p:cNvSpPr/>
              <p:nvPr/>
            </p:nvSpPr>
            <p:spPr>
              <a:xfrm>
                <a:off x="0" y="0"/>
                <a:ext cx="109682" cy="3015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370" name="AutoShape 368"/>
              <p:cNvSpPr/>
              <p:nvPr/>
            </p:nvSpPr>
            <p:spPr>
              <a:xfrm>
                <a:off x="2263" y="3059"/>
                <a:ext cx="105005" cy="22948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372" name="Rectangle 369"/>
            <p:cNvSpPr/>
            <p:nvPr/>
          </p:nvSpPr>
          <p:spPr>
            <a:xfrm>
              <a:off x="16378" y="121966"/>
              <a:ext cx="112016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375" name="Group 370"/>
            <p:cNvGrpSpPr/>
            <p:nvPr/>
          </p:nvGrpSpPr>
          <p:grpSpPr>
            <a:xfrm>
              <a:off x="114274" y="118567"/>
              <a:ext cx="109682" cy="28073"/>
              <a:chOff x="0" y="0"/>
              <a:chExt cx="109681" cy="28072"/>
            </a:xfrm>
          </p:grpSpPr>
          <p:sp>
            <p:nvSpPr>
              <p:cNvPr id="4373" name="AutoShape 371"/>
              <p:cNvSpPr/>
              <p:nvPr/>
            </p:nvSpPr>
            <p:spPr>
              <a:xfrm>
                <a:off x="0" y="0"/>
                <a:ext cx="109682" cy="2807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374" name="AutoShape 372"/>
              <p:cNvSpPr/>
              <p:nvPr/>
            </p:nvSpPr>
            <p:spPr>
              <a:xfrm>
                <a:off x="2413" y="3029"/>
                <a:ext cx="105006" cy="2181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376" name="Rectangle 373"/>
            <p:cNvSpPr/>
            <p:nvPr/>
          </p:nvSpPr>
          <p:spPr>
            <a:xfrm>
              <a:off x="13931" y="193299"/>
              <a:ext cx="113145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77" name="Rectangle 374"/>
            <p:cNvSpPr/>
            <p:nvPr/>
          </p:nvSpPr>
          <p:spPr>
            <a:xfrm>
              <a:off x="16378" y="255519"/>
              <a:ext cx="112016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380" name="Group 375"/>
            <p:cNvGrpSpPr/>
            <p:nvPr/>
          </p:nvGrpSpPr>
          <p:grpSpPr>
            <a:xfrm>
              <a:off x="112015" y="251431"/>
              <a:ext cx="109569" cy="31179"/>
              <a:chOff x="0" y="0"/>
              <a:chExt cx="109567" cy="31178"/>
            </a:xfrm>
          </p:grpSpPr>
          <p:sp>
            <p:nvSpPr>
              <p:cNvPr id="4378" name="AutoShape 376"/>
              <p:cNvSpPr/>
              <p:nvPr/>
            </p:nvSpPr>
            <p:spPr>
              <a:xfrm>
                <a:off x="0" y="0"/>
                <a:ext cx="109568" cy="3117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379" name="AutoShape 377"/>
              <p:cNvSpPr/>
              <p:nvPr/>
            </p:nvSpPr>
            <p:spPr>
              <a:xfrm>
                <a:off x="2266" y="3186"/>
                <a:ext cx="105036" cy="2389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381" name="Freeform 378"/>
            <p:cNvSpPr/>
            <p:nvPr/>
          </p:nvSpPr>
          <p:spPr>
            <a:xfrm>
              <a:off x="216123" y="193783"/>
              <a:ext cx="49514" cy="393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grpSp>
          <p:nvGrpSpPr>
            <p:cNvPr id="4384" name="Group 379"/>
            <p:cNvGrpSpPr/>
            <p:nvPr/>
          </p:nvGrpSpPr>
          <p:grpSpPr>
            <a:xfrm>
              <a:off x="113070" y="188127"/>
              <a:ext cx="109569" cy="29121"/>
              <a:chOff x="0" y="0"/>
              <a:chExt cx="109567" cy="29119"/>
            </a:xfrm>
          </p:grpSpPr>
          <p:sp>
            <p:nvSpPr>
              <p:cNvPr id="4382" name="AutoShape 380"/>
              <p:cNvSpPr/>
              <p:nvPr/>
            </p:nvSpPr>
            <p:spPr>
              <a:xfrm>
                <a:off x="0" y="0"/>
                <a:ext cx="109568" cy="2912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383" name="AutoShape 381"/>
              <p:cNvSpPr/>
              <p:nvPr/>
            </p:nvSpPr>
            <p:spPr>
              <a:xfrm>
                <a:off x="2418" y="3142"/>
                <a:ext cx="105035" cy="228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0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385" name="Rectangle 382"/>
            <p:cNvSpPr/>
            <p:nvPr/>
          </p:nvSpPr>
          <p:spPr>
            <a:xfrm>
              <a:off x="208781" y="0"/>
              <a:ext cx="12802" cy="47911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86" name="Freeform 383"/>
            <p:cNvSpPr/>
            <p:nvPr/>
          </p:nvSpPr>
          <p:spPr>
            <a:xfrm>
              <a:off x="220641" y="121088"/>
              <a:ext cx="44619" cy="446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87" name="Freeform 384"/>
            <p:cNvSpPr/>
            <p:nvPr/>
          </p:nvSpPr>
          <p:spPr>
            <a:xfrm>
              <a:off x="221206" y="52583"/>
              <a:ext cx="45937" cy="50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88" name="Oval 385"/>
            <p:cNvSpPr/>
            <p:nvPr/>
          </p:nvSpPr>
          <p:spPr>
            <a:xfrm>
              <a:off x="257215" y="457329"/>
              <a:ext cx="12701" cy="19693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89" name="Freeform 386"/>
            <p:cNvSpPr/>
            <p:nvPr/>
          </p:nvSpPr>
          <p:spPr>
            <a:xfrm>
              <a:off x="218759" y="457748"/>
              <a:ext cx="46125" cy="41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4390" name="AutoShape 387"/>
            <p:cNvSpPr/>
            <p:nvPr/>
          </p:nvSpPr>
          <p:spPr>
            <a:xfrm>
              <a:off x="0" y="470737"/>
              <a:ext cx="226290" cy="3121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1" name="AutoShape 388"/>
            <p:cNvSpPr/>
            <p:nvPr/>
          </p:nvSpPr>
          <p:spPr>
            <a:xfrm>
              <a:off x="12801" y="478069"/>
              <a:ext cx="200688" cy="1759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2" name="Oval 389"/>
            <p:cNvSpPr/>
            <p:nvPr/>
          </p:nvSpPr>
          <p:spPr>
            <a:xfrm>
              <a:off x="31439" y="409354"/>
              <a:ext cx="30311" cy="30169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3" name="Oval 390"/>
            <p:cNvSpPr/>
            <p:nvPr/>
          </p:nvSpPr>
          <p:spPr>
            <a:xfrm>
              <a:off x="65326" y="409354"/>
              <a:ext cx="30311" cy="30169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4" name="Oval 391"/>
            <p:cNvSpPr/>
            <p:nvPr/>
          </p:nvSpPr>
          <p:spPr>
            <a:xfrm>
              <a:off x="97895" y="408516"/>
              <a:ext cx="30311" cy="30169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5" name="Rectangle 392"/>
            <p:cNvSpPr/>
            <p:nvPr/>
          </p:nvSpPr>
          <p:spPr>
            <a:xfrm>
              <a:off x="173764" y="294132"/>
              <a:ext cx="16379" cy="160055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0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4399" name="Group 395"/>
          <p:cNvGrpSpPr/>
          <p:nvPr/>
        </p:nvGrpSpPr>
        <p:grpSpPr>
          <a:xfrm>
            <a:off x="2986267" y="2270516"/>
            <a:ext cx="531880" cy="435441"/>
            <a:chOff x="0" y="0"/>
            <a:chExt cx="531879" cy="435439"/>
          </a:xfrm>
        </p:grpSpPr>
        <p:pic>
          <p:nvPicPr>
            <p:cNvPr id="4397" name="Picture 396" descr="Picture 396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 flipH="1">
              <a:off x="0" y="0"/>
              <a:ext cx="531880" cy="4354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98" name="Freeform 397"/>
            <p:cNvSpPr/>
            <p:nvPr/>
          </p:nvSpPr>
          <p:spPr>
            <a:xfrm flipH="1">
              <a:off x="226631" y="41770"/>
              <a:ext cx="258621" cy="199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</p:grpSp>
      <p:grpSp>
        <p:nvGrpSpPr>
          <p:cNvPr id="4402" name="Group 398"/>
          <p:cNvGrpSpPr/>
          <p:nvPr/>
        </p:nvGrpSpPr>
        <p:grpSpPr>
          <a:xfrm>
            <a:off x="3275536" y="2564620"/>
            <a:ext cx="531880" cy="435442"/>
            <a:chOff x="0" y="0"/>
            <a:chExt cx="531879" cy="435441"/>
          </a:xfrm>
        </p:grpSpPr>
        <p:pic>
          <p:nvPicPr>
            <p:cNvPr id="4400" name="Picture 399" descr="Picture 399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 flipH="1">
              <a:off x="0" y="0"/>
              <a:ext cx="531880" cy="4354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01" name="Freeform 400"/>
            <p:cNvSpPr/>
            <p:nvPr/>
          </p:nvSpPr>
          <p:spPr>
            <a:xfrm flipH="1">
              <a:off x="226631" y="41770"/>
              <a:ext cx="258621" cy="199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</p:grpSp>
      <p:grpSp>
        <p:nvGrpSpPr>
          <p:cNvPr id="4405" name="Group 401"/>
          <p:cNvGrpSpPr/>
          <p:nvPr/>
        </p:nvGrpSpPr>
        <p:grpSpPr>
          <a:xfrm>
            <a:off x="3724600" y="2941863"/>
            <a:ext cx="531880" cy="435441"/>
            <a:chOff x="0" y="0"/>
            <a:chExt cx="531879" cy="435439"/>
          </a:xfrm>
        </p:grpSpPr>
        <p:pic>
          <p:nvPicPr>
            <p:cNvPr id="4403" name="Picture 402" descr="Picture 402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 flipH="1">
              <a:off x="0" y="0"/>
              <a:ext cx="531880" cy="4354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04" name="Freeform 403"/>
            <p:cNvSpPr/>
            <p:nvPr/>
          </p:nvSpPr>
          <p:spPr>
            <a:xfrm flipH="1">
              <a:off x="226631" y="41770"/>
              <a:ext cx="258621" cy="199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</p:grpSp>
      <p:grpSp>
        <p:nvGrpSpPr>
          <p:cNvPr id="4408" name="Group 404"/>
          <p:cNvGrpSpPr/>
          <p:nvPr/>
        </p:nvGrpSpPr>
        <p:grpSpPr>
          <a:xfrm>
            <a:off x="4145670" y="2951215"/>
            <a:ext cx="531881" cy="435442"/>
            <a:chOff x="0" y="0"/>
            <a:chExt cx="531879" cy="435441"/>
          </a:xfrm>
        </p:grpSpPr>
        <p:pic>
          <p:nvPicPr>
            <p:cNvPr id="4406" name="Picture 405" descr="Picture 405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 flipH="1">
              <a:off x="0" y="0"/>
              <a:ext cx="531880" cy="4354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07" name="Freeform 406"/>
            <p:cNvSpPr/>
            <p:nvPr/>
          </p:nvSpPr>
          <p:spPr>
            <a:xfrm flipH="1">
              <a:off x="226631" y="41770"/>
              <a:ext cx="258621" cy="199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600"/>
              </a:pPr>
            </a:p>
          </p:txBody>
        </p:sp>
      </p:grpSp>
      <p:grpSp>
        <p:nvGrpSpPr>
          <p:cNvPr id="4420" name="Group 394"/>
          <p:cNvGrpSpPr/>
          <p:nvPr/>
        </p:nvGrpSpPr>
        <p:grpSpPr>
          <a:xfrm>
            <a:off x="5763476" y="1731813"/>
            <a:ext cx="875962" cy="434138"/>
            <a:chOff x="0" y="0"/>
            <a:chExt cx="875960" cy="434136"/>
          </a:xfrm>
        </p:grpSpPr>
        <p:grpSp>
          <p:nvGrpSpPr>
            <p:cNvPr id="4411" name="Freeform 403"/>
            <p:cNvGrpSpPr/>
            <p:nvPr/>
          </p:nvGrpSpPr>
          <p:grpSpPr>
            <a:xfrm>
              <a:off x="-1" y="133543"/>
              <a:ext cx="875962" cy="300594"/>
              <a:chOff x="0" y="0"/>
              <a:chExt cx="875960" cy="300593"/>
            </a:xfrm>
          </p:grpSpPr>
          <p:sp>
            <p:nvSpPr>
              <p:cNvPr id="4409" name="Shape"/>
              <p:cNvSpPr/>
              <p:nvPr/>
            </p:nvSpPr>
            <p:spPr>
              <a:xfrm>
                <a:off x="0" y="25340"/>
                <a:ext cx="875961" cy="24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10" name="Text"/>
              <p:cNvSpPr txBox="1"/>
              <p:nvPr/>
            </p:nvSpPr>
            <p:spPr>
              <a:xfrm>
                <a:off x="48894" y="0"/>
                <a:ext cx="778172" cy="3005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414" name="Oval 404"/>
            <p:cNvGrpSpPr/>
            <p:nvPr/>
          </p:nvGrpSpPr>
          <p:grpSpPr>
            <a:xfrm>
              <a:off x="504" y="-1"/>
              <a:ext cx="874901" cy="300595"/>
              <a:chOff x="0" y="0"/>
              <a:chExt cx="874899" cy="300593"/>
            </a:xfrm>
          </p:grpSpPr>
          <p:sp>
            <p:nvSpPr>
              <p:cNvPr id="4412" name="Oval"/>
              <p:cNvSpPr/>
              <p:nvPr/>
            </p:nvSpPr>
            <p:spPr>
              <a:xfrm>
                <a:off x="0" y="26582"/>
                <a:ext cx="874900" cy="24743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13" name="Text"/>
              <p:cNvSpPr txBox="1"/>
              <p:nvPr/>
            </p:nvSpPr>
            <p:spPr>
              <a:xfrm>
                <a:off x="177020" y="0"/>
                <a:ext cx="520859" cy="3005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419" name="Group 405"/>
            <p:cNvGrpSpPr/>
            <p:nvPr/>
          </p:nvGrpSpPr>
          <p:grpSpPr>
            <a:xfrm>
              <a:off x="129912" y="58030"/>
              <a:ext cx="615973" cy="181808"/>
              <a:chOff x="0" y="0"/>
              <a:chExt cx="615972" cy="181807"/>
            </a:xfrm>
          </p:grpSpPr>
          <p:sp>
            <p:nvSpPr>
              <p:cNvPr id="4415" name="Freeform 406"/>
              <p:cNvSpPr/>
              <p:nvPr/>
            </p:nvSpPr>
            <p:spPr>
              <a:xfrm>
                <a:off x="17037" y="0"/>
                <a:ext cx="582699" cy="101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16" name="Freeform 407"/>
              <p:cNvSpPr/>
              <p:nvPr/>
            </p:nvSpPr>
            <p:spPr>
              <a:xfrm>
                <a:off x="398416" y="87054"/>
                <a:ext cx="217557" cy="876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17" name="Freeform 408"/>
              <p:cNvSpPr/>
              <p:nvPr/>
            </p:nvSpPr>
            <p:spPr>
              <a:xfrm>
                <a:off x="0" y="87054"/>
                <a:ext cx="213625" cy="866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18" name="Freeform 409"/>
              <p:cNvSpPr/>
              <p:nvPr/>
            </p:nvSpPr>
            <p:spPr>
              <a:xfrm>
                <a:off x="74159" y="44263"/>
                <a:ext cx="464489" cy="137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428" name="Group 395"/>
          <p:cNvGrpSpPr/>
          <p:nvPr/>
        </p:nvGrpSpPr>
        <p:grpSpPr>
          <a:xfrm>
            <a:off x="5810082" y="2299754"/>
            <a:ext cx="881871" cy="312529"/>
            <a:chOff x="0" y="0"/>
            <a:chExt cx="881869" cy="312527"/>
          </a:xfrm>
        </p:grpSpPr>
        <p:sp>
          <p:nvSpPr>
            <p:cNvPr id="4421" name="Rectangle 396"/>
            <p:cNvSpPr/>
            <p:nvPr/>
          </p:nvSpPr>
          <p:spPr>
            <a:xfrm>
              <a:off x="0" y="186567"/>
              <a:ext cx="878699" cy="125961"/>
            </a:xfrm>
            <a:prstGeom prst="rect">
              <a:avLst/>
            </a:prstGeom>
            <a:gradFill flip="none" rotWithShape="1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22" name="Freeform 397"/>
            <p:cNvSpPr/>
            <p:nvPr/>
          </p:nvSpPr>
          <p:spPr>
            <a:xfrm>
              <a:off x="2442" y="-1"/>
              <a:ext cx="879428" cy="191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429"/>
                  </a:moveTo>
                  <a:lnTo>
                    <a:pt x="1440" y="0"/>
                  </a:lnTo>
                  <a:lnTo>
                    <a:pt x="19500" y="343"/>
                  </a:lnTo>
                  <a:lnTo>
                    <a:pt x="21600" y="21600"/>
                  </a:lnTo>
                  <a:lnTo>
                    <a:pt x="0" y="21429"/>
                  </a:lnTo>
                  <a:close/>
                </a:path>
              </a:pathLst>
            </a:custGeom>
            <a:solidFill>
              <a:srgbClr val="B8C2C9"/>
            </a:solidFill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4427" name="Group 398"/>
            <p:cNvGrpSpPr/>
            <p:nvPr/>
          </p:nvGrpSpPr>
          <p:grpSpPr>
            <a:xfrm>
              <a:off x="63513" y="22277"/>
              <a:ext cx="744236" cy="153890"/>
              <a:chOff x="0" y="0"/>
              <a:chExt cx="744234" cy="153888"/>
            </a:xfrm>
          </p:grpSpPr>
          <p:sp>
            <p:nvSpPr>
              <p:cNvPr id="4423" name="Freeform 399"/>
              <p:cNvSpPr/>
              <p:nvPr/>
            </p:nvSpPr>
            <p:spPr>
              <a:xfrm>
                <a:off x="20585" y="-1"/>
                <a:ext cx="704032" cy="861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24" name="Freeform 400"/>
              <p:cNvSpPr/>
              <p:nvPr/>
            </p:nvSpPr>
            <p:spPr>
              <a:xfrm>
                <a:off x="481377" y="73686"/>
                <a:ext cx="262858" cy="741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25" name="Freeform 401"/>
              <p:cNvSpPr/>
              <p:nvPr/>
            </p:nvSpPr>
            <p:spPr>
              <a:xfrm>
                <a:off x="0" y="73686"/>
                <a:ext cx="258107" cy="733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26" name="Freeform 402"/>
              <p:cNvSpPr/>
              <p:nvPr/>
            </p:nvSpPr>
            <p:spPr>
              <a:xfrm>
                <a:off x="89601" y="37466"/>
                <a:ext cx="561208" cy="1164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4429" name="Line 342"/>
          <p:cNvSpPr/>
          <p:nvPr/>
        </p:nvSpPr>
        <p:spPr>
          <a:xfrm>
            <a:off x="4758032" y="2690367"/>
            <a:ext cx="369750" cy="217201"/>
          </a:xfrm>
          <a:prstGeom prst="line">
            <a:avLst/>
          </a:prstGeom>
          <a:ln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30" name="Line 393"/>
          <p:cNvSpPr/>
          <p:nvPr/>
        </p:nvSpPr>
        <p:spPr>
          <a:xfrm flipH="1">
            <a:off x="5214094" y="2587482"/>
            <a:ext cx="579703" cy="329440"/>
          </a:xfrm>
          <a:prstGeom prst="line">
            <a:avLst/>
          </a:prstGeom>
          <a:ln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438" name="Group 418"/>
          <p:cNvGrpSpPr/>
          <p:nvPr/>
        </p:nvGrpSpPr>
        <p:grpSpPr>
          <a:xfrm>
            <a:off x="4009166" y="2420865"/>
            <a:ext cx="881871" cy="312529"/>
            <a:chOff x="0" y="0"/>
            <a:chExt cx="881869" cy="312527"/>
          </a:xfrm>
        </p:grpSpPr>
        <p:sp>
          <p:nvSpPr>
            <p:cNvPr id="4431" name="Rectangle 419"/>
            <p:cNvSpPr/>
            <p:nvPr/>
          </p:nvSpPr>
          <p:spPr>
            <a:xfrm>
              <a:off x="0" y="186567"/>
              <a:ext cx="878699" cy="125961"/>
            </a:xfrm>
            <a:prstGeom prst="rect">
              <a:avLst/>
            </a:prstGeom>
            <a:gradFill flip="none" rotWithShape="1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32" name="Freeform 420"/>
            <p:cNvSpPr/>
            <p:nvPr/>
          </p:nvSpPr>
          <p:spPr>
            <a:xfrm>
              <a:off x="2442" y="-1"/>
              <a:ext cx="879428" cy="191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429"/>
                  </a:moveTo>
                  <a:lnTo>
                    <a:pt x="1440" y="0"/>
                  </a:lnTo>
                  <a:lnTo>
                    <a:pt x="19500" y="343"/>
                  </a:lnTo>
                  <a:lnTo>
                    <a:pt x="21600" y="21600"/>
                  </a:lnTo>
                  <a:lnTo>
                    <a:pt x="0" y="21429"/>
                  </a:lnTo>
                  <a:close/>
                </a:path>
              </a:pathLst>
            </a:custGeom>
            <a:solidFill>
              <a:srgbClr val="B8C2C9"/>
            </a:solidFill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4437" name="Group 421"/>
            <p:cNvGrpSpPr/>
            <p:nvPr/>
          </p:nvGrpSpPr>
          <p:grpSpPr>
            <a:xfrm>
              <a:off x="63513" y="22277"/>
              <a:ext cx="744236" cy="153890"/>
              <a:chOff x="0" y="0"/>
              <a:chExt cx="744234" cy="153888"/>
            </a:xfrm>
          </p:grpSpPr>
          <p:sp>
            <p:nvSpPr>
              <p:cNvPr id="4433" name="Freeform 422"/>
              <p:cNvSpPr/>
              <p:nvPr/>
            </p:nvSpPr>
            <p:spPr>
              <a:xfrm>
                <a:off x="20585" y="-1"/>
                <a:ext cx="704032" cy="861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34" name="Freeform 423"/>
              <p:cNvSpPr/>
              <p:nvPr/>
            </p:nvSpPr>
            <p:spPr>
              <a:xfrm>
                <a:off x="481377" y="73686"/>
                <a:ext cx="262858" cy="741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35" name="Freeform 424"/>
              <p:cNvSpPr/>
              <p:nvPr/>
            </p:nvSpPr>
            <p:spPr>
              <a:xfrm>
                <a:off x="0" y="73686"/>
                <a:ext cx="258107" cy="733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36" name="Freeform 425"/>
              <p:cNvSpPr/>
              <p:nvPr/>
            </p:nvSpPr>
            <p:spPr>
              <a:xfrm>
                <a:off x="89601" y="37466"/>
                <a:ext cx="561208" cy="1164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4439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1" name="Title 1"/>
          <p:cNvSpPr txBox="1"/>
          <p:nvPr>
            <p:ph type="title"/>
          </p:nvPr>
        </p:nvSpPr>
        <p:spPr>
          <a:xfrm>
            <a:off x="848710" y="273145"/>
            <a:ext cx="10867040" cy="894624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Access networks: data center networks</a:t>
            </a:r>
          </a:p>
        </p:txBody>
      </p:sp>
      <p:sp>
        <p:nvSpPr>
          <p:cNvPr id="4442" name="Content Placeholder 52"/>
          <p:cNvSpPr txBox="1"/>
          <p:nvPr/>
        </p:nvSpPr>
        <p:spPr>
          <a:xfrm>
            <a:off x="744407" y="1650272"/>
            <a:ext cx="6146702" cy="1297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lvl1pPr>
          </a:lstStyle>
          <a:p>
            <a:pPr/>
            <a:r>
              <a:t>high-bandwidth links (10s to 100s Gbps) connect hundreds to thousands of servers together, and to Internet</a:t>
            </a:r>
          </a:p>
        </p:txBody>
      </p:sp>
      <p:sp>
        <p:nvSpPr>
          <p:cNvPr id="4443" name="Rectangle 419"/>
          <p:cNvSpPr/>
          <p:nvPr/>
        </p:nvSpPr>
        <p:spPr>
          <a:xfrm>
            <a:off x="7439073" y="3553078"/>
            <a:ext cx="986999" cy="669623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444" name="Freeform 274"/>
          <p:cNvSpPr/>
          <p:nvPr/>
        </p:nvSpPr>
        <p:spPr>
          <a:xfrm>
            <a:off x="8985187" y="3065777"/>
            <a:ext cx="1124809" cy="1337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49" h="20510" fill="norm" stroke="1" extrusionOk="0">
                <a:moveTo>
                  <a:pt x="4338" y="7022"/>
                </a:moveTo>
                <a:cubicBezTo>
                  <a:pt x="2763" y="8848"/>
                  <a:pt x="1382" y="9254"/>
                  <a:pt x="902" y="11320"/>
                </a:cubicBezTo>
                <a:cubicBezTo>
                  <a:pt x="422" y="13386"/>
                  <a:pt x="-1132" y="17789"/>
                  <a:pt x="1456" y="19418"/>
                </a:cubicBezTo>
                <a:cubicBezTo>
                  <a:pt x="4045" y="21047"/>
                  <a:pt x="14587" y="20622"/>
                  <a:pt x="17527" y="19646"/>
                </a:cubicBezTo>
                <a:cubicBezTo>
                  <a:pt x="20468" y="18669"/>
                  <a:pt x="19432" y="15068"/>
                  <a:pt x="19100" y="13560"/>
                </a:cubicBezTo>
                <a:cubicBezTo>
                  <a:pt x="18768" y="12052"/>
                  <a:pt x="15646" y="13090"/>
                  <a:pt x="15536" y="10596"/>
                </a:cubicBezTo>
                <a:cubicBezTo>
                  <a:pt x="15746" y="7905"/>
                  <a:pt x="18905" y="7477"/>
                  <a:pt x="19045" y="5962"/>
                </a:cubicBezTo>
                <a:cubicBezTo>
                  <a:pt x="19184" y="4446"/>
                  <a:pt x="18059" y="3477"/>
                  <a:pt x="16373" y="1502"/>
                </a:cubicBezTo>
                <a:cubicBezTo>
                  <a:pt x="15001" y="420"/>
                  <a:pt x="12357" y="-553"/>
                  <a:pt x="10351" y="367"/>
                </a:cubicBezTo>
                <a:cubicBezTo>
                  <a:pt x="8345" y="1287"/>
                  <a:pt x="5912" y="5197"/>
                  <a:pt x="4338" y="7022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5" name="Freeform 417"/>
          <p:cNvSpPr/>
          <p:nvPr/>
        </p:nvSpPr>
        <p:spPr>
          <a:xfrm>
            <a:off x="7282395" y="1831266"/>
            <a:ext cx="1715493" cy="130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6" h="21326" fill="norm" stroke="1" extrusionOk="0">
                <a:moveTo>
                  <a:pt x="13407" y="266"/>
                </a:moveTo>
                <a:cubicBezTo>
                  <a:pt x="12073" y="522"/>
                  <a:pt x="9571" y="970"/>
                  <a:pt x="8028" y="1610"/>
                </a:cubicBezTo>
                <a:cubicBezTo>
                  <a:pt x="6485" y="2250"/>
                  <a:pt x="5026" y="3114"/>
                  <a:pt x="4192" y="4042"/>
                </a:cubicBezTo>
                <a:cubicBezTo>
                  <a:pt x="3358" y="4970"/>
                  <a:pt x="3712" y="6346"/>
                  <a:pt x="3066" y="7242"/>
                </a:cubicBezTo>
                <a:cubicBezTo>
                  <a:pt x="2420" y="8138"/>
                  <a:pt x="814" y="8202"/>
                  <a:pt x="356" y="9418"/>
                </a:cubicBezTo>
                <a:cubicBezTo>
                  <a:pt x="-103" y="10634"/>
                  <a:pt x="-103" y="13578"/>
                  <a:pt x="272" y="14602"/>
                </a:cubicBezTo>
                <a:cubicBezTo>
                  <a:pt x="648" y="15626"/>
                  <a:pt x="1127" y="15402"/>
                  <a:pt x="2649" y="15562"/>
                </a:cubicBezTo>
                <a:cubicBezTo>
                  <a:pt x="4171" y="15722"/>
                  <a:pt x="7820" y="15210"/>
                  <a:pt x="9446" y="15562"/>
                </a:cubicBezTo>
                <a:cubicBezTo>
                  <a:pt x="11072" y="15914"/>
                  <a:pt x="11343" y="16778"/>
                  <a:pt x="12365" y="17674"/>
                </a:cubicBezTo>
                <a:cubicBezTo>
                  <a:pt x="13387" y="18570"/>
                  <a:pt x="14638" y="20362"/>
                  <a:pt x="15576" y="20938"/>
                </a:cubicBezTo>
                <a:cubicBezTo>
                  <a:pt x="16514" y="21514"/>
                  <a:pt x="17348" y="21354"/>
                  <a:pt x="18036" y="21066"/>
                </a:cubicBezTo>
                <a:cubicBezTo>
                  <a:pt x="18724" y="20778"/>
                  <a:pt x="19329" y="20362"/>
                  <a:pt x="19746" y="19210"/>
                </a:cubicBezTo>
                <a:cubicBezTo>
                  <a:pt x="20163" y="18058"/>
                  <a:pt x="20350" y="15818"/>
                  <a:pt x="20580" y="14154"/>
                </a:cubicBezTo>
                <a:cubicBezTo>
                  <a:pt x="20809" y="12490"/>
                  <a:pt x="21017" y="11018"/>
                  <a:pt x="21122" y="9226"/>
                </a:cubicBezTo>
                <a:cubicBezTo>
                  <a:pt x="21226" y="7434"/>
                  <a:pt x="21497" y="4810"/>
                  <a:pt x="21205" y="3338"/>
                </a:cubicBezTo>
                <a:cubicBezTo>
                  <a:pt x="20913" y="1866"/>
                  <a:pt x="20225" y="1002"/>
                  <a:pt x="19370" y="458"/>
                </a:cubicBezTo>
                <a:cubicBezTo>
                  <a:pt x="18516" y="-86"/>
                  <a:pt x="17077" y="42"/>
                  <a:pt x="16076" y="10"/>
                </a:cubicBezTo>
                <a:cubicBezTo>
                  <a:pt x="15075" y="-22"/>
                  <a:pt x="14742" y="10"/>
                  <a:pt x="13407" y="266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46" name="AutoShape 420"/>
          <p:cNvSpPr/>
          <p:nvPr/>
        </p:nvSpPr>
        <p:spPr>
          <a:xfrm>
            <a:off x="7205350" y="3289251"/>
            <a:ext cx="1458912" cy="317851"/>
          </a:xfrm>
          <a:prstGeom prst="triangle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447" name="Freeform 427"/>
          <p:cNvSpPr/>
          <p:nvPr/>
        </p:nvSpPr>
        <p:spPr>
          <a:xfrm>
            <a:off x="7728466" y="4694461"/>
            <a:ext cx="3042747" cy="163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257" fill="norm" stroke="1" extrusionOk="0">
                <a:moveTo>
                  <a:pt x="10487" y="388"/>
                </a:moveTo>
                <a:cubicBezTo>
                  <a:pt x="9540" y="780"/>
                  <a:pt x="9151" y="2283"/>
                  <a:pt x="8293" y="2427"/>
                </a:cubicBezTo>
                <a:cubicBezTo>
                  <a:pt x="7436" y="2571"/>
                  <a:pt x="6423" y="1336"/>
                  <a:pt x="5320" y="1253"/>
                </a:cubicBezTo>
                <a:cubicBezTo>
                  <a:pt x="4218" y="1171"/>
                  <a:pt x="2526" y="841"/>
                  <a:pt x="1646" y="1933"/>
                </a:cubicBezTo>
                <a:cubicBezTo>
                  <a:pt x="767" y="3024"/>
                  <a:pt x="199" y="5989"/>
                  <a:pt x="43" y="7863"/>
                </a:cubicBezTo>
                <a:cubicBezTo>
                  <a:pt x="-113" y="9737"/>
                  <a:pt x="165" y="12105"/>
                  <a:pt x="678" y="13196"/>
                </a:cubicBezTo>
                <a:cubicBezTo>
                  <a:pt x="1190" y="14287"/>
                  <a:pt x="2169" y="13546"/>
                  <a:pt x="3094" y="14390"/>
                </a:cubicBezTo>
                <a:cubicBezTo>
                  <a:pt x="4018" y="15235"/>
                  <a:pt x="4897" y="17191"/>
                  <a:pt x="6211" y="18241"/>
                </a:cubicBezTo>
                <a:cubicBezTo>
                  <a:pt x="7525" y="19291"/>
                  <a:pt x="9373" y="20259"/>
                  <a:pt x="10976" y="20732"/>
                </a:cubicBezTo>
                <a:cubicBezTo>
                  <a:pt x="12580" y="21185"/>
                  <a:pt x="14461" y="21453"/>
                  <a:pt x="15842" y="21082"/>
                </a:cubicBezTo>
                <a:cubicBezTo>
                  <a:pt x="17223" y="20691"/>
                  <a:pt x="18336" y="19620"/>
                  <a:pt x="19249" y="18529"/>
                </a:cubicBezTo>
                <a:cubicBezTo>
                  <a:pt x="20162" y="17458"/>
                  <a:pt x="21108" y="16820"/>
                  <a:pt x="21298" y="14555"/>
                </a:cubicBezTo>
                <a:cubicBezTo>
                  <a:pt x="21487" y="12290"/>
                  <a:pt x="21019" y="7060"/>
                  <a:pt x="20362" y="5021"/>
                </a:cubicBezTo>
                <a:cubicBezTo>
                  <a:pt x="19706" y="2962"/>
                  <a:pt x="18392" y="3003"/>
                  <a:pt x="17323" y="2200"/>
                </a:cubicBezTo>
                <a:cubicBezTo>
                  <a:pt x="16254" y="1418"/>
                  <a:pt x="15085" y="471"/>
                  <a:pt x="13949" y="162"/>
                </a:cubicBezTo>
                <a:cubicBezTo>
                  <a:pt x="12814" y="-147"/>
                  <a:pt x="11433" y="18"/>
                  <a:pt x="10487" y="388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48" name="Text Box 580"/>
          <p:cNvSpPr txBox="1"/>
          <p:nvPr/>
        </p:nvSpPr>
        <p:spPr>
          <a:xfrm>
            <a:off x="7724993" y="1488460"/>
            <a:ext cx="12461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mobile network</a:t>
            </a:r>
          </a:p>
        </p:txBody>
      </p:sp>
      <p:sp>
        <p:nvSpPr>
          <p:cNvPr id="4449" name="Text Box 580"/>
          <p:cNvSpPr txBox="1"/>
          <p:nvPr/>
        </p:nvSpPr>
        <p:spPr>
          <a:xfrm>
            <a:off x="7376554" y="4191922"/>
            <a:ext cx="186420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0000"/>
              </a:lnSpc>
              <a:defRPr sz="1400"/>
            </a:lvl1pPr>
          </a:lstStyle>
          <a:p>
            <a:pPr/>
            <a:r>
              <a:t>home network</a:t>
            </a:r>
          </a:p>
        </p:txBody>
      </p:sp>
      <p:sp>
        <p:nvSpPr>
          <p:cNvPr id="4450" name="Text Box 580"/>
          <p:cNvSpPr txBox="1"/>
          <p:nvPr/>
        </p:nvSpPr>
        <p:spPr>
          <a:xfrm>
            <a:off x="7352628" y="5779775"/>
            <a:ext cx="1108607" cy="47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80000"/>
              </a:lnSpc>
              <a:defRPr sz="1400"/>
            </a:pPr>
            <a:r>
              <a:t>enterprise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lnSpc>
                <a:spcPct val="80000"/>
              </a:lnSpc>
              <a:defRPr sz="1400"/>
            </a:pPr>
            <a:r>
              <a:t>          network</a:t>
            </a:r>
          </a:p>
        </p:txBody>
      </p:sp>
      <p:sp>
        <p:nvSpPr>
          <p:cNvPr id="4451" name="Freeform 281"/>
          <p:cNvSpPr/>
          <p:nvPr/>
        </p:nvSpPr>
        <p:spPr>
          <a:xfrm>
            <a:off x="10222145" y="3179539"/>
            <a:ext cx="1273169" cy="1935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7" h="20945" fill="norm" stroke="1" extrusionOk="0">
                <a:moveTo>
                  <a:pt x="518" y="4719"/>
                </a:moveTo>
                <a:cubicBezTo>
                  <a:pt x="-13" y="6632"/>
                  <a:pt x="-204" y="10040"/>
                  <a:pt x="271" y="12041"/>
                </a:cubicBezTo>
                <a:cubicBezTo>
                  <a:pt x="746" y="14041"/>
                  <a:pt x="685" y="15290"/>
                  <a:pt x="3366" y="16725"/>
                </a:cubicBezTo>
                <a:cubicBezTo>
                  <a:pt x="6048" y="18159"/>
                  <a:pt x="13461" y="20187"/>
                  <a:pt x="16360" y="20649"/>
                </a:cubicBezTo>
                <a:cubicBezTo>
                  <a:pt x="19260" y="21111"/>
                  <a:pt x="20132" y="21234"/>
                  <a:pt x="20764" y="19498"/>
                </a:cubicBezTo>
                <a:cubicBezTo>
                  <a:pt x="21396" y="17761"/>
                  <a:pt x="20190" y="13347"/>
                  <a:pt x="20153" y="10230"/>
                </a:cubicBezTo>
                <a:cubicBezTo>
                  <a:pt x="20116" y="7114"/>
                  <a:pt x="21104" y="1964"/>
                  <a:pt x="20540" y="799"/>
                </a:cubicBezTo>
                <a:cubicBezTo>
                  <a:pt x="19976" y="-366"/>
                  <a:pt x="6793" y="-88"/>
                  <a:pt x="3456" y="566"/>
                </a:cubicBezTo>
                <a:cubicBezTo>
                  <a:pt x="119" y="1219"/>
                  <a:pt x="1048" y="2807"/>
                  <a:pt x="518" y="471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460" name="Group 328"/>
          <p:cNvGrpSpPr/>
          <p:nvPr/>
        </p:nvGrpSpPr>
        <p:grpSpPr>
          <a:xfrm>
            <a:off x="10837699" y="3928050"/>
            <a:ext cx="687394" cy="721549"/>
            <a:chOff x="0" y="0"/>
            <a:chExt cx="687392" cy="721548"/>
          </a:xfrm>
        </p:grpSpPr>
        <p:sp>
          <p:nvSpPr>
            <p:cNvPr id="4452" name="Freeform 329"/>
            <p:cNvSpPr/>
            <p:nvPr/>
          </p:nvSpPr>
          <p:spPr>
            <a:xfrm>
              <a:off x="267227" y="-1"/>
              <a:ext cx="420166" cy="72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53" name="Freeform 330"/>
            <p:cNvSpPr/>
            <p:nvPr/>
          </p:nvSpPr>
          <p:spPr>
            <a:xfrm>
              <a:off x="0" y="185234"/>
              <a:ext cx="521585" cy="5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54" name="Straight Connector 331"/>
            <p:cNvSpPr/>
            <p:nvPr/>
          </p:nvSpPr>
          <p:spPr>
            <a:xfrm flipV="1">
              <a:off x="54006" y="303213"/>
              <a:ext cx="236450" cy="8002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55" name="Straight Connector 332"/>
            <p:cNvSpPr/>
            <p:nvPr/>
          </p:nvSpPr>
          <p:spPr>
            <a:xfrm flipV="1">
              <a:off x="57914" y="556094"/>
              <a:ext cx="232542" cy="18248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56" name="Straight Connector 333"/>
            <p:cNvSpPr/>
            <p:nvPr/>
          </p:nvSpPr>
          <p:spPr>
            <a:xfrm flipV="1">
              <a:off x="57914" y="436343"/>
              <a:ext cx="232542" cy="52723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57" name="Straight Connector 381"/>
            <p:cNvSpPr/>
            <p:nvPr/>
          </p:nvSpPr>
          <p:spPr>
            <a:xfrm>
              <a:off x="53660" y="656716"/>
              <a:ext cx="236796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58" name="Straight Connector 382"/>
            <p:cNvSpPr/>
            <p:nvPr/>
          </p:nvSpPr>
          <p:spPr>
            <a:xfrm flipV="1">
              <a:off x="598356" y="126039"/>
              <a:ext cx="1" cy="506809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59" name="Straight Connector 383"/>
            <p:cNvSpPr/>
            <p:nvPr/>
          </p:nvSpPr>
          <p:spPr>
            <a:xfrm flipH="1">
              <a:off x="340761" y="202125"/>
              <a:ext cx="1" cy="519424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469" name="Group 384"/>
          <p:cNvGrpSpPr/>
          <p:nvPr/>
        </p:nvGrpSpPr>
        <p:grpSpPr>
          <a:xfrm>
            <a:off x="10771171" y="3194170"/>
            <a:ext cx="594614" cy="648337"/>
            <a:chOff x="0" y="0"/>
            <a:chExt cx="594613" cy="648335"/>
          </a:xfrm>
        </p:grpSpPr>
        <p:sp>
          <p:nvSpPr>
            <p:cNvPr id="4461" name="Freeform 385"/>
            <p:cNvSpPr/>
            <p:nvPr/>
          </p:nvSpPr>
          <p:spPr>
            <a:xfrm>
              <a:off x="231158" y="0"/>
              <a:ext cx="363455" cy="64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62" name="Freeform 386"/>
            <p:cNvSpPr/>
            <p:nvPr/>
          </p:nvSpPr>
          <p:spPr>
            <a:xfrm>
              <a:off x="-1" y="166439"/>
              <a:ext cx="451186" cy="48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63" name="Straight Connector 387"/>
            <p:cNvSpPr/>
            <p:nvPr/>
          </p:nvSpPr>
          <p:spPr>
            <a:xfrm flipV="1">
              <a:off x="46717" y="272447"/>
              <a:ext cx="204536" cy="7190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64" name="Straight Connector 388"/>
            <p:cNvSpPr/>
            <p:nvPr/>
          </p:nvSpPr>
          <p:spPr>
            <a:xfrm flipV="1">
              <a:off x="50097" y="499671"/>
              <a:ext cx="201155" cy="16396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65" name="Straight Connector 389"/>
            <p:cNvSpPr/>
            <p:nvPr/>
          </p:nvSpPr>
          <p:spPr>
            <a:xfrm flipV="1">
              <a:off x="50097" y="392068"/>
              <a:ext cx="201155" cy="47374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66" name="Straight Connector 390"/>
            <p:cNvSpPr/>
            <p:nvPr/>
          </p:nvSpPr>
          <p:spPr>
            <a:xfrm>
              <a:off x="46418" y="590082"/>
              <a:ext cx="204835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67" name="Straight Connector 391"/>
            <p:cNvSpPr/>
            <p:nvPr/>
          </p:nvSpPr>
          <p:spPr>
            <a:xfrm flipV="1">
              <a:off x="517593" y="113251"/>
              <a:ext cx="1" cy="455385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68" name="Straight Connector 392"/>
            <p:cNvSpPr/>
            <p:nvPr/>
          </p:nvSpPr>
          <p:spPr>
            <a:xfrm flipH="1">
              <a:off x="294767" y="181616"/>
              <a:ext cx="1" cy="466720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470" name="Freeform 393"/>
          <p:cNvSpPr/>
          <p:nvPr/>
        </p:nvSpPr>
        <p:spPr>
          <a:xfrm>
            <a:off x="9540812" y="1782042"/>
            <a:ext cx="1497866" cy="1386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83" h="20611" fill="norm" stroke="1" extrusionOk="0">
                <a:moveTo>
                  <a:pt x="1755" y="1299"/>
                </a:moveTo>
                <a:cubicBezTo>
                  <a:pt x="-1661" y="2817"/>
                  <a:pt x="832" y="7519"/>
                  <a:pt x="1567" y="10647"/>
                </a:cubicBezTo>
                <a:cubicBezTo>
                  <a:pt x="2301" y="13775"/>
                  <a:pt x="4122" y="18876"/>
                  <a:pt x="6162" y="20070"/>
                </a:cubicBezTo>
                <a:cubicBezTo>
                  <a:pt x="8201" y="21264"/>
                  <a:pt x="12080" y="20470"/>
                  <a:pt x="13806" y="17812"/>
                </a:cubicBezTo>
                <a:cubicBezTo>
                  <a:pt x="15532" y="15155"/>
                  <a:pt x="18183" y="18900"/>
                  <a:pt x="19061" y="17194"/>
                </a:cubicBezTo>
                <a:cubicBezTo>
                  <a:pt x="19939" y="15489"/>
                  <a:pt x="19192" y="10293"/>
                  <a:pt x="19074" y="7579"/>
                </a:cubicBezTo>
                <a:cubicBezTo>
                  <a:pt x="18955" y="4865"/>
                  <a:pt x="18817" y="2156"/>
                  <a:pt x="18352" y="910"/>
                </a:cubicBezTo>
                <a:cubicBezTo>
                  <a:pt x="17887" y="-336"/>
                  <a:pt x="14336" y="38"/>
                  <a:pt x="11570" y="103"/>
                </a:cubicBezTo>
                <a:cubicBezTo>
                  <a:pt x="8804" y="167"/>
                  <a:pt x="5171" y="-218"/>
                  <a:pt x="1755" y="129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1" name="TextBox 410"/>
          <p:cNvSpPr txBox="1"/>
          <p:nvPr/>
        </p:nvSpPr>
        <p:spPr>
          <a:xfrm>
            <a:off x="9472921" y="1851194"/>
            <a:ext cx="16269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national or global ISP</a:t>
            </a:r>
          </a:p>
        </p:txBody>
      </p:sp>
      <p:sp>
        <p:nvSpPr>
          <p:cNvPr id="4472" name="Rectangle 411"/>
          <p:cNvSpPr/>
          <p:nvPr/>
        </p:nvSpPr>
        <p:spPr>
          <a:xfrm>
            <a:off x="9279067" y="3677908"/>
            <a:ext cx="305750" cy="197848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3" name="TextBox 412"/>
          <p:cNvSpPr txBox="1"/>
          <p:nvPr/>
        </p:nvSpPr>
        <p:spPr>
          <a:xfrm>
            <a:off x="8811881" y="3447918"/>
            <a:ext cx="949200" cy="490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local or regional ISP</a:t>
            </a:r>
          </a:p>
        </p:txBody>
      </p:sp>
      <p:sp>
        <p:nvSpPr>
          <p:cNvPr id="4474" name="TextBox 413"/>
          <p:cNvSpPr txBox="1"/>
          <p:nvPr/>
        </p:nvSpPr>
        <p:spPr>
          <a:xfrm>
            <a:off x="10963486" y="4677936"/>
            <a:ext cx="692137" cy="37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000"/>
            </a:pPr>
            <a:r>
              <a:t>datacenter </a:t>
            </a:r>
          </a:p>
          <a:p>
            <a:pPr>
              <a:lnSpc>
                <a:spcPct val="90000"/>
              </a:lnSpc>
              <a:defRPr sz="1000"/>
            </a:pPr>
            <a:r>
              <a:t>network</a:t>
            </a:r>
          </a:p>
        </p:txBody>
      </p:sp>
      <p:sp>
        <p:nvSpPr>
          <p:cNvPr id="4475" name="TextBox 414"/>
          <p:cNvSpPr txBox="1"/>
          <p:nvPr/>
        </p:nvSpPr>
        <p:spPr>
          <a:xfrm>
            <a:off x="10108738" y="4228248"/>
            <a:ext cx="754830" cy="700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400"/>
            </a:pPr>
            <a:r>
              <a:t>content </a:t>
            </a:r>
          </a:p>
          <a:p>
            <a:pPr>
              <a:lnSpc>
                <a:spcPct val="90000"/>
              </a:lnSpc>
              <a:defRPr sz="1400"/>
            </a:pPr>
            <a:r>
              <a:t>provider </a:t>
            </a:r>
          </a:p>
          <a:p>
            <a:pPr>
              <a:lnSpc>
                <a:spcPct val="90000"/>
              </a:lnSpc>
              <a:defRPr sz="1400"/>
            </a:pPr>
            <a:r>
              <a:t>network</a:t>
            </a:r>
          </a:p>
        </p:txBody>
      </p:sp>
      <p:sp>
        <p:nvSpPr>
          <p:cNvPr id="4476" name="Straight Connector 415"/>
          <p:cNvSpPr/>
          <p:nvPr/>
        </p:nvSpPr>
        <p:spPr>
          <a:xfrm flipH="1" flipV="1">
            <a:off x="10559919" y="3580124"/>
            <a:ext cx="412965" cy="63713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77" name="Straight Connector 416"/>
          <p:cNvSpPr/>
          <p:nvPr/>
        </p:nvSpPr>
        <p:spPr>
          <a:xfrm flipH="1" flipV="1">
            <a:off x="10660835" y="3640683"/>
            <a:ext cx="345867" cy="738976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78" name="Straight Connector 417"/>
          <p:cNvSpPr/>
          <p:nvPr/>
        </p:nvSpPr>
        <p:spPr>
          <a:xfrm flipV="1">
            <a:off x="10636897" y="3633420"/>
            <a:ext cx="335988" cy="39534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79" name="Straight Connector 426"/>
          <p:cNvSpPr/>
          <p:nvPr/>
        </p:nvSpPr>
        <p:spPr>
          <a:xfrm flipH="1" flipV="1">
            <a:off x="10570774" y="3594896"/>
            <a:ext cx="2" cy="485749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0" name="Straight Connector 427"/>
          <p:cNvSpPr/>
          <p:nvPr/>
        </p:nvSpPr>
        <p:spPr>
          <a:xfrm flipH="1" flipV="1">
            <a:off x="10550620" y="4071642"/>
            <a:ext cx="508544" cy="348648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1" name="Straight Connector 428"/>
          <p:cNvSpPr/>
          <p:nvPr/>
        </p:nvSpPr>
        <p:spPr>
          <a:xfrm flipH="1">
            <a:off x="9895195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2" name="Straight Connector 429"/>
          <p:cNvSpPr/>
          <p:nvPr/>
        </p:nvSpPr>
        <p:spPr>
          <a:xfrm flipH="1">
            <a:off x="9219616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3" name="Straight Connector 430"/>
          <p:cNvSpPr/>
          <p:nvPr/>
        </p:nvSpPr>
        <p:spPr>
          <a:xfrm flipH="1">
            <a:off x="9276867" y="3507671"/>
            <a:ext cx="382425" cy="51705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4" name="Straight Connector 431"/>
          <p:cNvSpPr/>
          <p:nvPr/>
        </p:nvSpPr>
        <p:spPr>
          <a:xfrm>
            <a:off x="9733068" y="3507671"/>
            <a:ext cx="1" cy="54029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5" name="Straight Connector 432"/>
          <p:cNvSpPr/>
          <p:nvPr/>
        </p:nvSpPr>
        <p:spPr>
          <a:xfrm>
            <a:off x="10137668" y="2754691"/>
            <a:ext cx="488174" cy="83933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6" name="Straight Connector 433"/>
          <p:cNvSpPr/>
          <p:nvPr/>
        </p:nvSpPr>
        <p:spPr>
          <a:xfrm flipH="1">
            <a:off x="9798718" y="2695013"/>
            <a:ext cx="380433" cy="694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7" name="Straight Connector 434"/>
          <p:cNvSpPr/>
          <p:nvPr/>
        </p:nvSpPr>
        <p:spPr>
          <a:xfrm flipH="1">
            <a:off x="10100634" y="2169431"/>
            <a:ext cx="761468" cy="577356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8" name="Straight Connector 435"/>
          <p:cNvSpPr/>
          <p:nvPr/>
        </p:nvSpPr>
        <p:spPr>
          <a:xfrm flipH="1">
            <a:off x="10100634" y="2268313"/>
            <a:ext cx="3971" cy="51846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9" name="Straight Connector 436"/>
          <p:cNvSpPr/>
          <p:nvPr/>
        </p:nvSpPr>
        <p:spPr>
          <a:xfrm flipH="1">
            <a:off x="10672134" y="2200505"/>
            <a:ext cx="149361" cy="51846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90" name="Straight Connector 437"/>
          <p:cNvSpPr/>
          <p:nvPr/>
        </p:nvSpPr>
        <p:spPr>
          <a:xfrm flipH="1">
            <a:off x="10142166" y="2718966"/>
            <a:ext cx="574284" cy="2782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91" name="Straight Connector 438"/>
          <p:cNvSpPr/>
          <p:nvPr/>
        </p:nvSpPr>
        <p:spPr>
          <a:xfrm flipH="1">
            <a:off x="10069541" y="2169431"/>
            <a:ext cx="788590" cy="9888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92" name="Straight Connector 439"/>
          <p:cNvSpPr/>
          <p:nvPr/>
        </p:nvSpPr>
        <p:spPr>
          <a:xfrm flipH="1">
            <a:off x="10862102" y="2127324"/>
            <a:ext cx="279003" cy="421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93" name="Straight Connector 440"/>
          <p:cNvSpPr/>
          <p:nvPr/>
        </p:nvSpPr>
        <p:spPr>
          <a:xfrm flipH="1" flipV="1">
            <a:off x="10681993" y="2718966"/>
            <a:ext cx="353542" cy="67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94" name="Straight Connector 441"/>
          <p:cNvSpPr/>
          <p:nvPr/>
        </p:nvSpPr>
        <p:spPr>
          <a:xfrm flipH="1">
            <a:off x="8769222" y="2268313"/>
            <a:ext cx="1300320" cy="60662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95" name="Line 541"/>
          <p:cNvSpPr/>
          <p:nvPr/>
        </p:nvSpPr>
        <p:spPr>
          <a:xfrm flipV="1">
            <a:off x="9378705" y="4113379"/>
            <a:ext cx="429325" cy="70560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6" name="Line 424"/>
          <p:cNvSpPr/>
          <p:nvPr/>
        </p:nvSpPr>
        <p:spPr>
          <a:xfrm flipV="1">
            <a:off x="8244554" y="4047456"/>
            <a:ext cx="969052" cy="31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7" name="Oval 800"/>
          <p:cNvSpPr/>
          <p:nvPr/>
        </p:nvSpPr>
        <p:spPr>
          <a:xfrm>
            <a:off x="8174541" y="2292994"/>
            <a:ext cx="52389" cy="49487"/>
          </a:xfrm>
          <a:prstGeom prst="ellipse">
            <a:avLst/>
          </a:prstGeom>
          <a:solidFill>
            <a:srgbClr val="44546A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4509" name="Group 445"/>
          <p:cNvGrpSpPr/>
          <p:nvPr/>
        </p:nvGrpSpPr>
        <p:grpSpPr>
          <a:xfrm>
            <a:off x="10410608" y="3393794"/>
            <a:ext cx="353679" cy="402388"/>
            <a:chOff x="0" y="0"/>
            <a:chExt cx="353677" cy="402387"/>
          </a:xfrm>
        </p:grpSpPr>
        <p:grpSp>
          <p:nvGrpSpPr>
            <p:cNvPr id="4500" name="Freeform 446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4498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99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03" name="Oval 447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4501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02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508" name="Group 448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4504" name="Freeform 449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05" name="Freeform 450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06" name="Freeform 451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07" name="Freeform 452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521" name="Group 453"/>
          <p:cNvGrpSpPr/>
          <p:nvPr/>
        </p:nvGrpSpPr>
        <p:grpSpPr>
          <a:xfrm>
            <a:off x="9948723" y="2099947"/>
            <a:ext cx="353679" cy="402389"/>
            <a:chOff x="0" y="0"/>
            <a:chExt cx="353677" cy="402387"/>
          </a:xfrm>
        </p:grpSpPr>
        <p:grpSp>
          <p:nvGrpSpPr>
            <p:cNvPr id="4512" name="Freeform 454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4510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11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15" name="Oval 455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4513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14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520" name="Group 456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4516" name="Freeform 457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17" name="Freeform 458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18" name="Freeform 459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19" name="Freeform 460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533" name="Group 461"/>
          <p:cNvGrpSpPr/>
          <p:nvPr/>
        </p:nvGrpSpPr>
        <p:grpSpPr>
          <a:xfrm>
            <a:off x="10527214" y="2511022"/>
            <a:ext cx="353679" cy="402389"/>
            <a:chOff x="0" y="0"/>
            <a:chExt cx="353677" cy="402387"/>
          </a:xfrm>
        </p:grpSpPr>
        <p:grpSp>
          <p:nvGrpSpPr>
            <p:cNvPr id="4524" name="Freeform 462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4522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23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27" name="Oval 463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4525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26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532" name="Group 464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4528" name="Freeform 465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29" name="Freeform 466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30" name="Freeform 467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31" name="Freeform 468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545" name="Group 469"/>
          <p:cNvGrpSpPr/>
          <p:nvPr/>
        </p:nvGrpSpPr>
        <p:grpSpPr>
          <a:xfrm>
            <a:off x="10643824" y="2005618"/>
            <a:ext cx="353679" cy="402389"/>
            <a:chOff x="0" y="0"/>
            <a:chExt cx="353677" cy="402387"/>
          </a:xfrm>
        </p:grpSpPr>
        <p:grpSp>
          <p:nvGrpSpPr>
            <p:cNvPr id="4536" name="Freeform 470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4534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35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39" name="Oval 471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4537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38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544" name="Group 472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4540" name="Freeform 473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41" name="Freeform 474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42" name="Freeform 475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43" name="Freeform 476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557" name="Group 477"/>
          <p:cNvGrpSpPr/>
          <p:nvPr/>
        </p:nvGrpSpPr>
        <p:grpSpPr>
          <a:xfrm>
            <a:off x="9098788" y="3867861"/>
            <a:ext cx="367225" cy="417049"/>
            <a:chOff x="0" y="0"/>
            <a:chExt cx="367223" cy="417048"/>
          </a:xfrm>
        </p:grpSpPr>
        <p:grpSp>
          <p:nvGrpSpPr>
            <p:cNvPr id="4548" name="Freeform 478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4546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47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51" name="Oval 479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4549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50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556" name="Group 480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4552" name="Freeform 481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53" name="Freeform 482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54" name="Freeform 483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55" name="Freeform 484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569" name="Group 485"/>
          <p:cNvGrpSpPr/>
          <p:nvPr/>
        </p:nvGrpSpPr>
        <p:grpSpPr>
          <a:xfrm>
            <a:off x="9980125" y="2559220"/>
            <a:ext cx="353679" cy="402389"/>
            <a:chOff x="0" y="0"/>
            <a:chExt cx="353677" cy="402387"/>
          </a:xfrm>
        </p:grpSpPr>
        <p:grpSp>
          <p:nvGrpSpPr>
            <p:cNvPr id="4560" name="Freeform 486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4558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59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63" name="Oval 487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4561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62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568" name="Group 488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4564" name="Freeform 489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65" name="Freeform 490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66" name="Freeform 491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67" name="Freeform 492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581" name="Group 493"/>
          <p:cNvGrpSpPr/>
          <p:nvPr/>
        </p:nvGrpSpPr>
        <p:grpSpPr>
          <a:xfrm>
            <a:off x="9497138" y="3305269"/>
            <a:ext cx="367225" cy="417049"/>
            <a:chOff x="0" y="0"/>
            <a:chExt cx="367223" cy="417048"/>
          </a:xfrm>
        </p:grpSpPr>
        <p:grpSp>
          <p:nvGrpSpPr>
            <p:cNvPr id="4572" name="Freeform 494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4570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71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75" name="Oval 495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4573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74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580" name="Group 496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4576" name="Freeform 497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77" name="Freeform 498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78" name="Freeform 499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79" name="Freeform 500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593" name="Group 501"/>
          <p:cNvGrpSpPr/>
          <p:nvPr/>
        </p:nvGrpSpPr>
        <p:grpSpPr>
          <a:xfrm>
            <a:off x="9601554" y="3911000"/>
            <a:ext cx="367225" cy="417049"/>
            <a:chOff x="0" y="0"/>
            <a:chExt cx="367223" cy="417048"/>
          </a:xfrm>
        </p:grpSpPr>
        <p:grpSp>
          <p:nvGrpSpPr>
            <p:cNvPr id="4584" name="Freeform 502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4582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83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87" name="Oval 503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4585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86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592" name="Group 504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4588" name="Freeform 505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89" name="Freeform 506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90" name="Freeform 507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91" name="Freeform 508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4605" name="Group 509"/>
          <p:cNvGrpSpPr/>
          <p:nvPr/>
        </p:nvGrpSpPr>
        <p:grpSpPr>
          <a:xfrm>
            <a:off x="10375258" y="3889980"/>
            <a:ext cx="353679" cy="402389"/>
            <a:chOff x="0" y="0"/>
            <a:chExt cx="353677" cy="402387"/>
          </a:xfrm>
        </p:grpSpPr>
        <p:grpSp>
          <p:nvGrpSpPr>
            <p:cNvPr id="4596" name="Freeform 510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4594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95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4599" name="Oval 511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4597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598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4604" name="Group 512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4600" name="Freeform 513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601" name="Freeform 514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602" name="Freeform 515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603" name="Freeform 516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pic>
        <p:nvPicPr>
          <p:cNvPr id="4606" name="Picture 653" descr="Picture 6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09572" y="1917025"/>
            <a:ext cx="136842" cy="328464"/>
          </a:xfrm>
          <a:prstGeom prst="rect">
            <a:avLst/>
          </a:prstGeom>
          <a:ln w="12700">
            <a:miter lim="400000"/>
          </a:ln>
        </p:spPr>
      </p:pic>
      <p:pic>
        <p:nvPicPr>
          <p:cNvPr id="4607" name="Picture 1018" descr="Picture 10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 rot="109063">
            <a:off x="7464780" y="2605090"/>
            <a:ext cx="437222" cy="159512"/>
          </a:xfrm>
          <a:prstGeom prst="rect">
            <a:avLst/>
          </a:prstGeom>
          <a:ln w="12700">
            <a:miter lim="400000"/>
          </a:ln>
        </p:spPr>
      </p:pic>
      <p:sp>
        <p:nvSpPr>
          <p:cNvPr id="4608" name="Freeform 1019"/>
          <p:cNvSpPr/>
          <p:nvPr/>
        </p:nvSpPr>
        <p:spPr>
          <a:xfrm>
            <a:off x="7609678" y="2450303"/>
            <a:ext cx="351920" cy="208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609" name="Picture 1020" descr="Picture 10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27011" y="2455658"/>
            <a:ext cx="319786" cy="189430"/>
          </a:xfrm>
          <a:prstGeom prst="rect">
            <a:avLst/>
          </a:prstGeom>
          <a:ln w="12700">
            <a:miter lim="400000"/>
          </a:ln>
        </p:spPr>
      </p:pic>
      <p:sp>
        <p:nvSpPr>
          <p:cNvPr id="4610" name="Freeform 1021"/>
          <p:cNvSpPr/>
          <p:nvPr/>
        </p:nvSpPr>
        <p:spPr>
          <a:xfrm>
            <a:off x="7673751" y="2444163"/>
            <a:ext cx="298168" cy="38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11" name="Freeform 1022"/>
          <p:cNvSpPr/>
          <p:nvPr/>
        </p:nvSpPr>
        <p:spPr>
          <a:xfrm>
            <a:off x="7606562" y="2443847"/>
            <a:ext cx="82771" cy="161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12" name="Freeform 1023"/>
          <p:cNvSpPr/>
          <p:nvPr/>
        </p:nvSpPr>
        <p:spPr>
          <a:xfrm>
            <a:off x="7880578" y="2472663"/>
            <a:ext cx="89198" cy="186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13" name="Freeform 1024"/>
          <p:cNvSpPr/>
          <p:nvPr/>
        </p:nvSpPr>
        <p:spPr>
          <a:xfrm>
            <a:off x="7605587" y="2596901"/>
            <a:ext cx="305138" cy="62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14" name="Freeform 1025"/>
          <p:cNvSpPr/>
          <p:nvPr/>
        </p:nvSpPr>
        <p:spPr>
          <a:xfrm>
            <a:off x="7890512" y="2474237"/>
            <a:ext cx="83550" cy="18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15" name="Freeform 1026"/>
          <p:cNvSpPr/>
          <p:nvPr/>
        </p:nvSpPr>
        <p:spPr>
          <a:xfrm>
            <a:off x="7605976" y="2605247"/>
            <a:ext cx="290962" cy="620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622" name="Group 1027"/>
          <p:cNvGrpSpPr/>
          <p:nvPr/>
        </p:nvGrpSpPr>
        <p:grpSpPr>
          <a:xfrm>
            <a:off x="7601108" y="2671540"/>
            <a:ext cx="98741" cy="36943"/>
            <a:chOff x="0" y="0"/>
            <a:chExt cx="98739" cy="36942"/>
          </a:xfrm>
        </p:grpSpPr>
        <p:sp>
          <p:nvSpPr>
            <p:cNvPr id="4616" name="Freeform 1028"/>
            <p:cNvSpPr/>
            <p:nvPr/>
          </p:nvSpPr>
          <p:spPr>
            <a:xfrm>
              <a:off x="0" y="0"/>
              <a:ext cx="98740" cy="36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17" name="Freeform 1029"/>
            <p:cNvSpPr/>
            <p:nvPr/>
          </p:nvSpPr>
          <p:spPr>
            <a:xfrm>
              <a:off x="1838" y="788"/>
              <a:ext cx="95327" cy="35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18" name="Freeform 1030"/>
            <p:cNvSpPr/>
            <p:nvPr/>
          </p:nvSpPr>
          <p:spPr>
            <a:xfrm>
              <a:off x="8928" y="13706"/>
              <a:ext cx="3387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19" name="Freeform 1031"/>
            <p:cNvSpPr/>
            <p:nvPr/>
          </p:nvSpPr>
          <p:spPr>
            <a:xfrm>
              <a:off x="7746" y="16805"/>
              <a:ext cx="2547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20" name="Freeform 1032"/>
            <p:cNvSpPr/>
            <p:nvPr/>
          </p:nvSpPr>
          <p:spPr>
            <a:xfrm>
              <a:off x="36764" y="21030"/>
              <a:ext cx="3387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21" name="Freeform 1033"/>
            <p:cNvSpPr/>
            <p:nvPr/>
          </p:nvSpPr>
          <p:spPr>
            <a:xfrm>
              <a:off x="35583" y="24242"/>
              <a:ext cx="2547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623" name="Freeform 1034"/>
          <p:cNvSpPr/>
          <p:nvPr/>
        </p:nvSpPr>
        <p:spPr>
          <a:xfrm>
            <a:off x="7770153" y="2677050"/>
            <a:ext cx="119579" cy="809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24" name="Freeform 1035"/>
          <p:cNvSpPr/>
          <p:nvPr/>
        </p:nvSpPr>
        <p:spPr>
          <a:xfrm>
            <a:off x="7464976" y="2683506"/>
            <a:ext cx="305958" cy="73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25" name="Freeform 1036"/>
          <p:cNvSpPr/>
          <p:nvPr/>
        </p:nvSpPr>
        <p:spPr>
          <a:xfrm>
            <a:off x="7460476" y="2669964"/>
            <a:ext cx="12701" cy="14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26" name="Freeform 1037"/>
          <p:cNvSpPr/>
          <p:nvPr/>
        </p:nvSpPr>
        <p:spPr>
          <a:xfrm>
            <a:off x="7465366" y="2609026"/>
            <a:ext cx="142171" cy="61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27" name="Freeform 1038"/>
          <p:cNvSpPr/>
          <p:nvPr/>
        </p:nvSpPr>
        <p:spPr>
          <a:xfrm>
            <a:off x="7474908" y="2673114"/>
            <a:ext cx="290183" cy="71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28" name="Freeform 1039"/>
          <p:cNvSpPr/>
          <p:nvPr/>
        </p:nvSpPr>
        <p:spPr>
          <a:xfrm flipV="1">
            <a:off x="7764701" y="2668075"/>
            <a:ext cx="118411" cy="7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629" name="Picture 568" descr="Picture 56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8831667" y="2392289"/>
            <a:ext cx="92773" cy="405448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0" name="Picture 603" descr="Picture 60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99539" y="2116957"/>
            <a:ext cx="849313" cy="168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1" name="Picture 1116" descr="Picture 11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flipH="1" rot="109063">
            <a:off x="7510374" y="3605209"/>
            <a:ext cx="286700" cy="119449"/>
          </a:xfrm>
          <a:prstGeom prst="rect">
            <a:avLst/>
          </a:prstGeom>
          <a:ln w="12700">
            <a:miter lim="400000"/>
          </a:ln>
        </p:spPr>
      </p:pic>
      <p:sp>
        <p:nvSpPr>
          <p:cNvPr id="4632" name="Freeform 1117"/>
          <p:cNvSpPr/>
          <p:nvPr/>
        </p:nvSpPr>
        <p:spPr>
          <a:xfrm>
            <a:off x="7605387" y="3489299"/>
            <a:ext cx="230765" cy="155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633" name="Picture 1118" descr="Picture 111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616753" y="3493308"/>
            <a:ext cx="209693" cy="141852"/>
          </a:xfrm>
          <a:prstGeom prst="rect">
            <a:avLst/>
          </a:prstGeom>
          <a:ln w="12700">
            <a:miter lim="400000"/>
          </a:ln>
        </p:spPr>
      </p:pic>
      <p:sp>
        <p:nvSpPr>
          <p:cNvPr id="4634" name="Freeform 1119"/>
          <p:cNvSpPr/>
          <p:nvPr/>
        </p:nvSpPr>
        <p:spPr>
          <a:xfrm>
            <a:off x="7647402" y="3484700"/>
            <a:ext cx="195518" cy="29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35" name="Freeform 1120"/>
          <p:cNvSpPr/>
          <p:nvPr/>
        </p:nvSpPr>
        <p:spPr>
          <a:xfrm>
            <a:off x="7603345" y="3484464"/>
            <a:ext cx="54276" cy="1207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36" name="Freeform 1121"/>
          <p:cNvSpPr/>
          <p:nvPr/>
        </p:nvSpPr>
        <p:spPr>
          <a:xfrm>
            <a:off x="7783025" y="3506042"/>
            <a:ext cx="58490" cy="13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37" name="Freeform 1122"/>
          <p:cNvSpPr/>
          <p:nvPr/>
        </p:nvSpPr>
        <p:spPr>
          <a:xfrm>
            <a:off x="7602705" y="3599077"/>
            <a:ext cx="200088" cy="4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38" name="Freeform 1123"/>
          <p:cNvSpPr/>
          <p:nvPr/>
        </p:nvSpPr>
        <p:spPr>
          <a:xfrm>
            <a:off x="7789539" y="3507221"/>
            <a:ext cx="54787" cy="139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39" name="Freeform 1124"/>
          <p:cNvSpPr/>
          <p:nvPr/>
        </p:nvSpPr>
        <p:spPr>
          <a:xfrm>
            <a:off x="7602962" y="3605326"/>
            <a:ext cx="190793" cy="46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646" name="Group 1125"/>
          <p:cNvGrpSpPr/>
          <p:nvPr/>
        </p:nvGrpSpPr>
        <p:grpSpPr>
          <a:xfrm>
            <a:off x="7599768" y="3654969"/>
            <a:ext cx="64748" cy="29260"/>
            <a:chOff x="0" y="0"/>
            <a:chExt cx="64746" cy="29258"/>
          </a:xfrm>
        </p:grpSpPr>
        <p:sp>
          <p:nvSpPr>
            <p:cNvPr id="4640" name="Freeform 1126"/>
            <p:cNvSpPr/>
            <p:nvPr/>
          </p:nvSpPr>
          <p:spPr>
            <a:xfrm>
              <a:off x="0" y="0"/>
              <a:ext cx="64747" cy="27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41" name="Freeform 1127"/>
            <p:cNvSpPr/>
            <p:nvPr/>
          </p:nvSpPr>
          <p:spPr>
            <a:xfrm>
              <a:off x="1205" y="590"/>
              <a:ext cx="62509" cy="26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42" name="Freeform 1128"/>
            <p:cNvSpPr/>
            <p:nvPr/>
          </p:nvSpPr>
          <p:spPr>
            <a:xfrm>
              <a:off x="5854" y="8669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43" name="Freeform 1129"/>
            <p:cNvSpPr/>
            <p:nvPr/>
          </p:nvSpPr>
          <p:spPr>
            <a:xfrm>
              <a:off x="5079" y="10989"/>
              <a:ext cx="1670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44" name="Freeform 1130"/>
            <p:cNvSpPr/>
            <p:nvPr/>
          </p:nvSpPr>
          <p:spPr>
            <a:xfrm>
              <a:off x="24107" y="14154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45" name="Freeform 1131"/>
            <p:cNvSpPr/>
            <p:nvPr/>
          </p:nvSpPr>
          <p:spPr>
            <a:xfrm>
              <a:off x="23333" y="16558"/>
              <a:ext cx="1670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647" name="Freeform 1132"/>
          <p:cNvSpPr/>
          <p:nvPr/>
        </p:nvSpPr>
        <p:spPr>
          <a:xfrm>
            <a:off x="7710616" y="3659096"/>
            <a:ext cx="78412" cy="60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48" name="Freeform 1133"/>
          <p:cNvSpPr/>
          <p:nvPr/>
        </p:nvSpPr>
        <p:spPr>
          <a:xfrm>
            <a:off x="7510502" y="3663931"/>
            <a:ext cx="200626" cy="55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49" name="Freeform 1134"/>
          <p:cNvSpPr/>
          <p:nvPr/>
        </p:nvSpPr>
        <p:spPr>
          <a:xfrm>
            <a:off x="7505366" y="3653041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50" name="Freeform 1135"/>
          <p:cNvSpPr/>
          <p:nvPr/>
        </p:nvSpPr>
        <p:spPr>
          <a:xfrm>
            <a:off x="7510757" y="3608156"/>
            <a:ext cx="93226" cy="46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51" name="Freeform 1136"/>
          <p:cNvSpPr/>
          <p:nvPr/>
        </p:nvSpPr>
        <p:spPr>
          <a:xfrm>
            <a:off x="7517016" y="3656148"/>
            <a:ext cx="190282" cy="531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52" name="Freeform 1137"/>
          <p:cNvSpPr/>
          <p:nvPr/>
        </p:nvSpPr>
        <p:spPr>
          <a:xfrm flipV="1">
            <a:off x="7707041" y="3652375"/>
            <a:ext cx="77646" cy="55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653" name="Picture 1140" descr="Picture 114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flipH="1">
            <a:off x="7991995" y="3567143"/>
            <a:ext cx="359262" cy="342046"/>
          </a:xfrm>
          <a:prstGeom prst="rect">
            <a:avLst/>
          </a:prstGeom>
          <a:ln w="12700">
            <a:miter lim="400000"/>
          </a:ln>
        </p:spPr>
      </p:pic>
      <p:sp>
        <p:nvSpPr>
          <p:cNvPr id="4654" name="Freeform 1141"/>
          <p:cNvSpPr/>
          <p:nvPr/>
        </p:nvSpPr>
        <p:spPr>
          <a:xfrm flipH="1">
            <a:off x="8145216" y="3599941"/>
            <a:ext cx="169401" cy="15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8202" y="822"/>
                </a:lnTo>
                <a:lnTo>
                  <a:pt x="21600" y="17257"/>
                </a:lnTo>
                <a:lnTo>
                  <a:pt x="4733" y="21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655" name="Picture 571" descr="Picture 571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903198" y="3385017"/>
            <a:ext cx="189579" cy="3370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88" name="Group 950"/>
          <p:cNvGrpSpPr/>
          <p:nvPr/>
        </p:nvGrpSpPr>
        <p:grpSpPr>
          <a:xfrm>
            <a:off x="10288915" y="5273950"/>
            <a:ext cx="180435" cy="330834"/>
            <a:chOff x="0" y="0"/>
            <a:chExt cx="180433" cy="330833"/>
          </a:xfrm>
        </p:grpSpPr>
        <p:sp>
          <p:nvSpPr>
            <p:cNvPr id="4656" name="Freeform 951"/>
            <p:cNvSpPr/>
            <p:nvPr/>
          </p:nvSpPr>
          <p:spPr>
            <a:xfrm>
              <a:off x="140261" y="552"/>
              <a:ext cx="35191" cy="31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57" name="Rectangle 952"/>
            <p:cNvSpPr/>
            <p:nvPr/>
          </p:nvSpPr>
          <p:spPr>
            <a:xfrm>
              <a:off x="8704" y="0"/>
              <a:ext cx="130066" cy="315507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58" name="Freeform 953"/>
            <p:cNvSpPr/>
            <p:nvPr/>
          </p:nvSpPr>
          <p:spPr>
            <a:xfrm>
              <a:off x="147548" y="19468"/>
              <a:ext cx="20319" cy="287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59" name="Freeform 954"/>
            <p:cNvSpPr/>
            <p:nvPr/>
          </p:nvSpPr>
          <p:spPr>
            <a:xfrm>
              <a:off x="142250" y="167211"/>
              <a:ext cx="32704" cy="26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60" name="Rectangle 955"/>
            <p:cNvSpPr/>
            <p:nvPr/>
          </p:nvSpPr>
          <p:spPr>
            <a:xfrm>
              <a:off x="8704" y="32932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663" name="Group 956"/>
            <p:cNvGrpSpPr/>
            <p:nvPr/>
          </p:nvGrpSpPr>
          <p:grpSpPr>
            <a:xfrm>
              <a:off x="75626" y="32712"/>
              <a:ext cx="71847" cy="20742"/>
              <a:chOff x="0" y="0"/>
              <a:chExt cx="71846" cy="20741"/>
            </a:xfrm>
          </p:grpSpPr>
          <p:sp>
            <p:nvSpPr>
              <p:cNvPr id="4661" name="AutoShape 957"/>
              <p:cNvSpPr/>
              <p:nvPr/>
            </p:nvSpPr>
            <p:spPr>
              <a:xfrm>
                <a:off x="0" y="0"/>
                <a:ext cx="71847" cy="207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662" name="AutoShape 958"/>
              <p:cNvSpPr/>
              <p:nvPr/>
            </p:nvSpPr>
            <p:spPr>
              <a:xfrm>
                <a:off x="1195" y="2160"/>
                <a:ext cx="69356" cy="164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664" name="Rectangle 959"/>
            <p:cNvSpPr/>
            <p:nvPr/>
          </p:nvSpPr>
          <p:spPr>
            <a:xfrm>
              <a:off x="9947" y="78774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667" name="Group 960"/>
            <p:cNvGrpSpPr/>
            <p:nvPr/>
          </p:nvGrpSpPr>
          <p:grpSpPr>
            <a:xfrm>
              <a:off x="75577" y="77481"/>
              <a:ext cx="71847" cy="18503"/>
              <a:chOff x="0" y="0"/>
              <a:chExt cx="71846" cy="18502"/>
            </a:xfrm>
          </p:grpSpPr>
          <p:sp>
            <p:nvSpPr>
              <p:cNvPr id="4665" name="AutoShape 961"/>
              <p:cNvSpPr/>
              <p:nvPr/>
            </p:nvSpPr>
            <p:spPr>
              <a:xfrm>
                <a:off x="0" y="0"/>
                <a:ext cx="71847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666" name="AutoShape 962"/>
              <p:cNvSpPr/>
              <p:nvPr/>
            </p:nvSpPr>
            <p:spPr>
              <a:xfrm>
                <a:off x="1295" y="2262"/>
                <a:ext cx="69356" cy="1424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668" name="Rectangle 963"/>
            <p:cNvSpPr/>
            <p:nvPr/>
          </p:nvSpPr>
          <p:spPr>
            <a:xfrm>
              <a:off x="9947" y="124615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69" name="Rectangle 964"/>
            <p:cNvSpPr/>
            <p:nvPr/>
          </p:nvSpPr>
          <p:spPr>
            <a:xfrm>
              <a:off x="11191" y="166177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672" name="Group 965"/>
            <p:cNvGrpSpPr/>
            <p:nvPr/>
          </p:nvGrpSpPr>
          <p:grpSpPr>
            <a:xfrm>
              <a:off x="74384" y="168116"/>
              <a:ext cx="71871" cy="18601"/>
              <a:chOff x="0" y="0"/>
              <a:chExt cx="71869" cy="18599"/>
            </a:xfrm>
          </p:grpSpPr>
          <p:sp>
            <p:nvSpPr>
              <p:cNvPr id="4670" name="AutoShape 966"/>
              <p:cNvSpPr/>
              <p:nvPr/>
            </p:nvSpPr>
            <p:spPr>
              <a:xfrm>
                <a:off x="0" y="0"/>
                <a:ext cx="71870" cy="186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671" name="AutoShape 967"/>
              <p:cNvSpPr/>
              <p:nvPr/>
            </p:nvSpPr>
            <p:spPr>
              <a:xfrm>
                <a:off x="1197" y="0"/>
                <a:ext cx="69376" cy="1635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673" name="Freeform 968"/>
            <p:cNvSpPr/>
            <p:nvPr/>
          </p:nvSpPr>
          <p:spPr>
            <a:xfrm>
              <a:off x="142748" y="127721"/>
              <a:ext cx="32704" cy="25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4676" name="Group 969"/>
            <p:cNvGrpSpPr/>
            <p:nvPr/>
          </p:nvGrpSpPr>
          <p:grpSpPr>
            <a:xfrm>
              <a:off x="74382" y="124407"/>
              <a:ext cx="73069" cy="18503"/>
              <a:chOff x="0" y="0"/>
              <a:chExt cx="73067" cy="18502"/>
            </a:xfrm>
          </p:grpSpPr>
          <p:sp>
            <p:nvSpPr>
              <p:cNvPr id="4674" name="AutoShape 970"/>
              <p:cNvSpPr/>
              <p:nvPr/>
            </p:nvSpPr>
            <p:spPr>
              <a:xfrm>
                <a:off x="0" y="0"/>
                <a:ext cx="73068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675" name="AutoShape 971"/>
              <p:cNvSpPr/>
              <p:nvPr/>
            </p:nvSpPr>
            <p:spPr>
              <a:xfrm>
                <a:off x="1197" y="2209"/>
                <a:ext cx="71871" cy="1422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677" name="Rectangle 972"/>
            <p:cNvSpPr/>
            <p:nvPr/>
          </p:nvSpPr>
          <p:spPr>
            <a:xfrm>
              <a:off x="135527" y="0"/>
              <a:ext cx="12701" cy="31550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78" name="Freeform 973"/>
            <p:cNvSpPr/>
            <p:nvPr/>
          </p:nvSpPr>
          <p:spPr>
            <a:xfrm>
              <a:off x="145732" y="79808"/>
              <a:ext cx="29471" cy="29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7"/>
                    <a:pt x="21308" y="12150"/>
                  </a:cubicBezTo>
                  <a:cubicBezTo>
                    <a:pt x="21162" y="15019"/>
                    <a:pt x="21600" y="15863"/>
                    <a:pt x="21600" y="21600"/>
                  </a:cubicBezTo>
                  <a:cubicBezTo>
                    <a:pt x="21600" y="21600"/>
                    <a:pt x="11676" y="14850"/>
                    <a:pt x="0" y="8437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79" name="Freeform 974"/>
            <p:cNvSpPr/>
            <p:nvPr/>
          </p:nvSpPr>
          <p:spPr>
            <a:xfrm>
              <a:off x="146105" y="34657"/>
              <a:ext cx="30341" cy="33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80" name="Oval 975"/>
            <p:cNvSpPr/>
            <p:nvPr/>
          </p:nvSpPr>
          <p:spPr>
            <a:xfrm>
              <a:off x="167733" y="301284"/>
              <a:ext cx="12701" cy="13119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81" name="Freeform 976"/>
            <p:cNvSpPr/>
            <p:nvPr/>
          </p:nvSpPr>
          <p:spPr>
            <a:xfrm>
              <a:off x="144489" y="301698"/>
              <a:ext cx="30465" cy="2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82" name="AutoShape 977"/>
            <p:cNvSpPr/>
            <p:nvPr/>
          </p:nvSpPr>
          <p:spPr>
            <a:xfrm>
              <a:off x="0" y="310121"/>
              <a:ext cx="148717" cy="2071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83" name="AutoShape 978"/>
            <p:cNvSpPr/>
            <p:nvPr/>
          </p:nvSpPr>
          <p:spPr>
            <a:xfrm>
              <a:off x="8704" y="314610"/>
              <a:ext cx="13255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398" y="0"/>
                    <a:pt x="889" y="0"/>
                  </a:cubicBezTo>
                  <a:lnTo>
                    <a:pt x="20711" y="0"/>
                  </a:lnTo>
                  <a:cubicBezTo>
                    <a:pt x="21202" y="0"/>
                    <a:pt x="21600" y="4835"/>
                    <a:pt x="21600" y="10800"/>
                  </a:cubicBezTo>
                  <a:cubicBezTo>
                    <a:pt x="21600" y="16765"/>
                    <a:pt x="21202" y="21600"/>
                    <a:pt x="20711" y="21600"/>
                  </a:cubicBezTo>
                  <a:lnTo>
                    <a:pt x="889" y="21600"/>
                  </a:lnTo>
                  <a:cubicBezTo>
                    <a:pt x="398" y="21600"/>
                    <a:pt x="0" y="16765"/>
                    <a:pt x="0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84" name="Oval 979"/>
            <p:cNvSpPr/>
            <p:nvPr/>
          </p:nvSpPr>
          <p:spPr>
            <a:xfrm>
              <a:off x="21014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85" name="Oval 980"/>
            <p:cNvSpPr/>
            <p:nvPr/>
          </p:nvSpPr>
          <p:spPr>
            <a:xfrm>
              <a:off x="43396" y="269664"/>
              <a:ext cx="19771" cy="19607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86" name="Oval 981"/>
            <p:cNvSpPr/>
            <p:nvPr/>
          </p:nvSpPr>
          <p:spPr>
            <a:xfrm>
              <a:off x="64410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87" name="Rectangle 982"/>
            <p:cNvSpPr/>
            <p:nvPr/>
          </p:nvSpPr>
          <p:spPr>
            <a:xfrm>
              <a:off x="113891" y="194412"/>
              <a:ext cx="12701" cy="104801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4691" name="Group 590"/>
          <p:cNvGrpSpPr/>
          <p:nvPr/>
        </p:nvGrpSpPr>
        <p:grpSpPr>
          <a:xfrm>
            <a:off x="7980854" y="4900160"/>
            <a:ext cx="345631" cy="320303"/>
            <a:chOff x="0" y="0"/>
            <a:chExt cx="345629" cy="320302"/>
          </a:xfrm>
        </p:grpSpPr>
        <p:pic>
          <p:nvPicPr>
            <p:cNvPr id="4689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690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4692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216586" y="6040273"/>
            <a:ext cx="253502" cy="120344"/>
          </a:xfrm>
          <a:prstGeom prst="rect">
            <a:avLst/>
          </a:prstGeom>
          <a:ln w="12700">
            <a:miter lim="400000"/>
          </a:ln>
        </p:spPr>
      </p:pic>
      <p:sp>
        <p:nvSpPr>
          <p:cNvPr id="4693" name="Freeform 1067"/>
          <p:cNvSpPr/>
          <p:nvPr/>
        </p:nvSpPr>
        <p:spPr>
          <a:xfrm>
            <a:off x="9300596" y="5923493"/>
            <a:ext cx="204044" cy="157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694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310647" y="5927533"/>
            <a:ext cx="185413" cy="142916"/>
          </a:xfrm>
          <a:prstGeom prst="rect">
            <a:avLst/>
          </a:prstGeom>
          <a:ln w="12700">
            <a:miter lim="400000"/>
          </a:ln>
        </p:spPr>
      </p:pic>
      <p:sp>
        <p:nvSpPr>
          <p:cNvPr id="4695" name="Freeform 1069"/>
          <p:cNvSpPr/>
          <p:nvPr/>
        </p:nvSpPr>
        <p:spPr>
          <a:xfrm>
            <a:off x="9337747" y="5918860"/>
            <a:ext cx="172879" cy="29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96" name="Freeform 1070"/>
          <p:cNvSpPr/>
          <p:nvPr/>
        </p:nvSpPr>
        <p:spPr>
          <a:xfrm>
            <a:off x="9298791" y="5918624"/>
            <a:ext cx="47991" cy="12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97" name="Freeform 1071"/>
          <p:cNvSpPr/>
          <p:nvPr/>
        </p:nvSpPr>
        <p:spPr>
          <a:xfrm>
            <a:off x="9457666" y="5940364"/>
            <a:ext cx="51717" cy="140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98" name="Freeform 1072"/>
          <p:cNvSpPr/>
          <p:nvPr/>
        </p:nvSpPr>
        <p:spPr>
          <a:xfrm>
            <a:off x="9298226" y="6034096"/>
            <a:ext cx="176919" cy="47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99" name="Freeform 1073"/>
          <p:cNvSpPr/>
          <p:nvPr/>
        </p:nvSpPr>
        <p:spPr>
          <a:xfrm>
            <a:off x="9463424" y="5941552"/>
            <a:ext cx="48443" cy="141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00" name="Freeform 1074"/>
          <p:cNvSpPr/>
          <p:nvPr/>
        </p:nvSpPr>
        <p:spPr>
          <a:xfrm>
            <a:off x="9298451" y="6040392"/>
            <a:ext cx="168701" cy="46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707" name="Group 1075"/>
          <p:cNvGrpSpPr/>
          <p:nvPr/>
        </p:nvGrpSpPr>
        <p:grpSpPr>
          <a:xfrm>
            <a:off x="9295628" y="6090406"/>
            <a:ext cx="57250" cy="29432"/>
            <a:chOff x="0" y="0"/>
            <a:chExt cx="57249" cy="29430"/>
          </a:xfrm>
        </p:grpSpPr>
        <p:sp>
          <p:nvSpPr>
            <p:cNvPr id="4701" name="Freeform 1076"/>
            <p:cNvSpPr/>
            <p:nvPr/>
          </p:nvSpPr>
          <p:spPr>
            <a:xfrm>
              <a:off x="0" y="0"/>
              <a:ext cx="57250" cy="27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02" name="Freeform 1077"/>
            <p:cNvSpPr/>
            <p:nvPr/>
          </p:nvSpPr>
          <p:spPr>
            <a:xfrm>
              <a:off x="1065" y="595"/>
              <a:ext cx="55271" cy="26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03" name="Freeform 1078"/>
            <p:cNvSpPr/>
            <p:nvPr/>
          </p:nvSpPr>
          <p:spPr>
            <a:xfrm>
              <a:off x="5176" y="8782"/>
              <a:ext cx="1964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04" name="Freeform 1079"/>
            <p:cNvSpPr/>
            <p:nvPr/>
          </p:nvSpPr>
          <p:spPr>
            <a:xfrm>
              <a:off x="4491" y="1112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05" name="Freeform 1080"/>
            <p:cNvSpPr/>
            <p:nvPr/>
          </p:nvSpPr>
          <p:spPr>
            <a:xfrm>
              <a:off x="21316" y="14307"/>
              <a:ext cx="1964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06" name="Freeform 1081"/>
            <p:cNvSpPr/>
            <p:nvPr/>
          </p:nvSpPr>
          <p:spPr>
            <a:xfrm>
              <a:off x="20630" y="1673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708" name="Freeform 1082"/>
          <p:cNvSpPr/>
          <p:nvPr/>
        </p:nvSpPr>
        <p:spPr>
          <a:xfrm>
            <a:off x="9393642" y="6094564"/>
            <a:ext cx="69333" cy="61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09" name="Freeform 1083"/>
          <p:cNvSpPr/>
          <p:nvPr/>
        </p:nvSpPr>
        <p:spPr>
          <a:xfrm>
            <a:off x="9216698" y="6099435"/>
            <a:ext cx="177395" cy="55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10" name="Freeform 1084"/>
          <p:cNvSpPr/>
          <p:nvPr/>
        </p:nvSpPr>
        <p:spPr>
          <a:xfrm>
            <a:off x="9211421" y="6088512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11" name="Freeform 1085"/>
          <p:cNvSpPr/>
          <p:nvPr/>
        </p:nvSpPr>
        <p:spPr>
          <a:xfrm>
            <a:off x="9216925" y="6043243"/>
            <a:ext cx="82431" cy="4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12" name="Freeform 1086"/>
          <p:cNvSpPr/>
          <p:nvPr/>
        </p:nvSpPr>
        <p:spPr>
          <a:xfrm>
            <a:off x="9222457" y="6091594"/>
            <a:ext cx="168250" cy="53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13" name="Freeform 1087"/>
          <p:cNvSpPr/>
          <p:nvPr/>
        </p:nvSpPr>
        <p:spPr>
          <a:xfrm flipV="1">
            <a:off x="9390480" y="6087793"/>
            <a:ext cx="68655" cy="55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716" name="Group 590"/>
          <p:cNvGrpSpPr/>
          <p:nvPr/>
        </p:nvGrpSpPr>
        <p:grpSpPr>
          <a:xfrm>
            <a:off x="8153909" y="5504657"/>
            <a:ext cx="345631" cy="320303"/>
            <a:chOff x="0" y="0"/>
            <a:chExt cx="345629" cy="320302"/>
          </a:xfrm>
        </p:grpSpPr>
        <p:pic>
          <p:nvPicPr>
            <p:cNvPr id="4714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15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719" name="Group 590"/>
          <p:cNvGrpSpPr/>
          <p:nvPr/>
        </p:nvGrpSpPr>
        <p:grpSpPr>
          <a:xfrm>
            <a:off x="8552133" y="5526130"/>
            <a:ext cx="345631" cy="320303"/>
            <a:chOff x="0" y="0"/>
            <a:chExt cx="345629" cy="320302"/>
          </a:xfrm>
        </p:grpSpPr>
        <p:pic>
          <p:nvPicPr>
            <p:cNvPr id="4717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18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4720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550086" y="5949453"/>
            <a:ext cx="260921" cy="99064"/>
          </a:xfrm>
          <a:prstGeom prst="rect">
            <a:avLst/>
          </a:prstGeom>
          <a:ln w="12700">
            <a:miter lim="400000"/>
          </a:ln>
        </p:spPr>
      </p:pic>
      <p:sp>
        <p:nvSpPr>
          <p:cNvPr id="4721" name="Freeform 1067"/>
          <p:cNvSpPr/>
          <p:nvPr/>
        </p:nvSpPr>
        <p:spPr>
          <a:xfrm>
            <a:off x="9636556" y="5853324"/>
            <a:ext cx="210016" cy="129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722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646901" y="5856649"/>
            <a:ext cx="190839" cy="117645"/>
          </a:xfrm>
          <a:prstGeom prst="rect">
            <a:avLst/>
          </a:prstGeom>
          <a:ln w="12700">
            <a:miter lim="400000"/>
          </a:ln>
        </p:spPr>
      </p:pic>
      <p:sp>
        <p:nvSpPr>
          <p:cNvPr id="4723" name="Freeform 1069"/>
          <p:cNvSpPr/>
          <p:nvPr/>
        </p:nvSpPr>
        <p:spPr>
          <a:xfrm>
            <a:off x="9674793" y="5849510"/>
            <a:ext cx="177938" cy="240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24" name="Freeform 1070"/>
          <p:cNvSpPr/>
          <p:nvPr/>
        </p:nvSpPr>
        <p:spPr>
          <a:xfrm>
            <a:off x="9634697" y="5849315"/>
            <a:ext cx="49396" cy="100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25" name="Freeform 1071"/>
          <p:cNvSpPr/>
          <p:nvPr/>
        </p:nvSpPr>
        <p:spPr>
          <a:xfrm>
            <a:off x="9798222" y="5867210"/>
            <a:ext cx="53231" cy="1155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26" name="Freeform 1072"/>
          <p:cNvSpPr/>
          <p:nvPr/>
        </p:nvSpPr>
        <p:spPr>
          <a:xfrm>
            <a:off x="9634115" y="5944368"/>
            <a:ext cx="182098" cy="39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27" name="Freeform 1073"/>
          <p:cNvSpPr/>
          <p:nvPr/>
        </p:nvSpPr>
        <p:spPr>
          <a:xfrm>
            <a:off x="9804149" y="5868189"/>
            <a:ext cx="49861" cy="116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28" name="Freeform 1074"/>
          <p:cNvSpPr/>
          <p:nvPr/>
        </p:nvSpPr>
        <p:spPr>
          <a:xfrm>
            <a:off x="9634349" y="5949551"/>
            <a:ext cx="173638" cy="385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735" name="Group 1075"/>
          <p:cNvGrpSpPr/>
          <p:nvPr/>
        </p:nvGrpSpPr>
        <p:grpSpPr>
          <a:xfrm>
            <a:off x="9631443" y="5990721"/>
            <a:ext cx="58926" cy="25351"/>
            <a:chOff x="0" y="0"/>
            <a:chExt cx="58925" cy="25349"/>
          </a:xfrm>
        </p:grpSpPr>
        <p:sp>
          <p:nvSpPr>
            <p:cNvPr id="4729" name="Freeform 1076"/>
            <p:cNvSpPr/>
            <p:nvPr/>
          </p:nvSpPr>
          <p:spPr>
            <a:xfrm>
              <a:off x="0" y="0"/>
              <a:ext cx="58926" cy="22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30" name="Freeform 1077"/>
            <p:cNvSpPr/>
            <p:nvPr/>
          </p:nvSpPr>
          <p:spPr>
            <a:xfrm>
              <a:off x="1097" y="489"/>
              <a:ext cx="56888" cy="21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31" name="Freeform 1078"/>
            <p:cNvSpPr/>
            <p:nvPr/>
          </p:nvSpPr>
          <p:spPr>
            <a:xfrm>
              <a:off x="5328" y="6106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32" name="Freeform 1079"/>
            <p:cNvSpPr/>
            <p:nvPr/>
          </p:nvSpPr>
          <p:spPr>
            <a:xfrm>
              <a:off x="4623" y="8030"/>
              <a:ext cx="1520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33" name="Freeform 1080"/>
            <p:cNvSpPr/>
            <p:nvPr/>
          </p:nvSpPr>
          <p:spPr>
            <a:xfrm>
              <a:off x="21940" y="10654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34" name="Freeform 1081"/>
            <p:cNvSpPr/>
            <p:nvPr/>
          </p:nvSpPr>
          <p:spPr>
            <a:xfrm>
              <a:off x="21234" y="12649"/>
              <a:ext cx="1520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736" name="Freeform 1082"/>
          <p:cNvSpPr/>
          <p:nvPr/>
        </p:nvSpPr>
        <p:spPr>
          <a:xfrm>
            <a:off x="9732325" y="5994144"/>
            <a:ext cx="71362" cy="50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37" name="Freeform 1083"/>
          <p:cNvSpPr/>
          <p:nvPr/>
        </p:nvSpPr>
        <p:spPr>
          <a:xfrm>
            <a:off x="9550203" y="5998154"/>
            <a:ext cx="182587" cy="45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38" name="Freeform 1084"/>
          <p:cNvSpPr/>
          <p:nvPr/>
        </p:nvSpPr>
        <p:spPr>
          <a:xfrm>
            <a:off x="9544958" y="5988039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39" name="Freeform 1085"/>
          <p:cNvSpPr/>
          <p:nvPr/>
        </p:nvSpPr>
        <p:spPr>
          <a:xfrm>
            <a:off x="9550435" y="5951899"/>
            <a:ext cx="84844" cy="38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40" name="Freeform 1086"/>
          <p:cNvSpPr/>
          <p:nvPr/>
        </p:nvSpPr>
        <p:spPr>
          <a:xfrm>
            <a:off x="9556130" y="5991700"/>
            <a:ext cx="173173" cy="44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41" name="Freeform 1087"/>
          <p:cNvSpPr/>
          <p:nvPr/>
        </p:nvSpPr>
        <p:spPr>
          <a:xfrm flipV="1">
            <a:off x="9729071" y="5988570"/>
            <a:ext cx="70664" cy="45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4774" name="Group 983"/>
          <p:cNvGrpSpPr/>
          <p:nvPr/>
        </p:nvGrpSpPr>
        <p:grpSpPr>
          <a:xfrm>
            <a:off x="10017876" y="5636388"/>
            <a:ext cx="174794" cy="348945"/>
            <a:chOff x="0" y="0"/>
            <a:chExt cx="174792" cy="348944"/>
          </a:xfrm>
        </p:grpSpPr>
        <p:sp>
          <p:nvSpPr>
            <p:cNvPr id="4742" name="Freeform 984"/>
            <p:cNvSpPr/>
            <p:nvPr/>
          </p:nvSpPr>
          <p:spPr>
            <a:xfrm>
              <a:off x="135716" y="582"/>
              <a:ext cx="34050" cy="332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43" name="Rectangle 985"/>
            <p:cNvSpPr/>
            <p:nvPr/>
          </p:nvSpPr>
          <p:spPr>
            <a:xfrm>
              <a:off x="8422" y="0"/>
              <a:ext cx="125851" cy="332779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44" name="Freeform 986"/>
            <p:cNvSpPr/>
            <p:nvPr/>
          </p:nvSpPr>
          <p:spPr>
            <a:xfrm>
              <a:off x="142767" y="20534"/>
              <a:ext cx="19660" cy="303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45" name="Freeform 987"/>
            <p:cNvSpPr/>
            <p:nvPr/>
          </p:nvSpPr>
          <p:spPr>
            <a:xfrm>
              <a:off x="137641" y="176365"/>
              <a:ext cx="31644" cy="27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46" name="Rectangle 988"/>
            <p:cNvSpPr/>
            <p:nvPr/>
          </p:nvSpPr>
          <p:spPr>
            <a:xfrm>
              <a:off x="8422" y="35083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749" name="Group 989"/>
            <p:cNvGrpSpPr/>
            <p:nvPr/>
          </p:nvGrpSpPr>
          <p:grpSpPr>
            <a:xfrm>
              <a:off x="73175" y="34503"/>
              <a:ext cx="69519" cy="21878"/>
              <a:chOff x="0" y="0"/>
              <a:chExt cx="69517" cy="21876"/>
            </a:xfrm>
          </p:grpSpPr>
          <p:sp>
            <p:nvSpPr>
              <p:cNvPr id="4747" name="AutoShape 990"/>
              <p:cNvSpPr/>
              <p:nvPr/>
            </p:nvSpPr>
            <p:spPr>
              <a:xfrm>
                <a:off x="0" y="0"/>
                <a:ext cx="69518" cy="2187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748" name="AutoShape 991"/>
              <p:cNvSpPr/>
              <p:nvPr/>
            </p:nvSpPr>
            <p:spPr>
              <a:xfrm>
                <a:off x="1157" y="2278"/>
                <a:ext cx="67108" cy="173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750" name="Rectangle 992"/>
            <p:cNvSpPr/>
            <p:nvPr/>
          </p:nvSpPr>
          <p:spPr>
            <a:xfrm>
              <a:off x="9625" y="83434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753" name="Group 993"/>
            <p:cNvGrpSpPr/>
            <p:nvPr/>
          </p:nvGrpSpPr>
          <p:grpSpPr>
            <a:xfrm>
              <a:off x="73128" y="81722"/>
              <a:ext cx="69518" cy="19517"/>
              <a:chOff x="0" y="0"/>
              <a:chExt cx="69517" cy="19515"/>
            </a:xfrm>
          </p:grpSpPr>
          <p:sp>
            <p:nvSpPr>
              <p:cNvPr id="4751" name="AutoShape 994"/>
              <p:cNvSpPr/>
              <p:nvPr/>
            </p:nvSpPr>
            <p:spPr>
              <a:xfrm>
                <a:off x="0" y="0"/>
                <a:ext cx="69518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752" name="AutoShape 995"/>
              <p:cNvSpPr/>
              <p:nvPr/>
            </p:nvSpPr>
            <p:spPr>
              <a:xfrm>
                <a:off x="1253" y="2386"/>
                <a:ext cx="67108" cy="1502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754" name="Rectangle 996"/>
            <p:cNvSpPr/>
            <p:nvPr/>
          </p:nvSpPr>
          <p:spPr>
            <a:xfrm>
              <a:off x="9625" y="131785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55" name="Rectangle 997"/>
            <p:cNvSpPr/>
            <p:nvPr/>
          </p:nvSpPr>
          <p:spPr>
            <a:xfrm>
              <a:off x="10828" y="175621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4758" name="Group 998"/>
            <p:cNvGrpSpPr/>
            <p:nvPr/>
          </p:nvGrpSpPr>
          <p:grpSpPr>
            <a:xfrm>
              <a:off x="71974" y="177319"/>
              <a:ext cx="69542" cy="19619"/>
              <a:chOff x="0" y="0"/>
              <a:chExt cx="69540" cy="19617"/>
            </a:xfrm>
          </p:grpSpPr>
          <p:sp>
            <p:nvSpPr>
              <p:cNvPr id="4756" name="AutoShape 999"/>
              <p:cNvSpPr/>
              <p:nvPr/>
            </p:nvSpPr>
            <p:spPr>
              <a:xfrm>
                <a:off x="0" y="0"/>
                <a:ext cx="69541" cy="1961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757" name="AutoShape 1000"/>
              <p:cNvSpPr/>
              <p:nvPr/>
            </p:nvSpPr>
            <p:spPr>
              <a:xfrm>
                <a:off x="1159" y="0"/>
                <a:ext cx="67127" cy="172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759" name="Freeform 1001"/>
            <p:cNvSpPr/>
            <p:nvPr/>
          </p:nvSpPr>
          <p:spPr>
            <a:xfrm>
              <a:off x="138122" y="134713"/>
              <a:ext cx="31644" cy="27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4762" name="Group 1002"/>
            <p:cNvGrpSpPr/>
            <p:nvPr/>
          </p:nvGrpSpPr>
          <p:grpSpPr>
            <a:xfrm>
              <a:off x="71972" y="131218"/>
              <a:ext cx="70701" cy="19516"/>
              <a:chOff x="0" y="0"/>
              <a:chExt cx="70699" cy="19515"/>
            </a:xfrm>
          </p:grpSpPr>
          <p:sp>
            <p:nvSpPr>
              <p:cNvPr id="4760" name="AutoShape 1003"/>
              <p:cNvSpPr/>
              <p:nvPr/>
            </p:nvSpPr>
            <p:spPr>
              <a:xfrm>
                <a:off x="0" y="0"/>
                <a:ext cx="70700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761" name="AutoShape 1004"/>
              <p:cNvSpPr/>
              <p:nvPr/>
            </p:nvSpPr>
            <p:spPr>
              <a:xfrm>
                <a:off x="1159" y="2330"/>
                <a:ext cx="69541" cy="1500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4763" name="Rectangle 1005"/>
            <p:cNvSpPr/>
            <p:nvPr/>
          </p:nvSpPr>
          <p:spPr>
            <a:xfrm>
              <a:off x="130930" y="0"/>
              <a:ext cx="12701" cy="332779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64" name="Freeform 1006"/>
            <p:cNvSpPr/>
            <p:nvPr/>
          </p:nvSpPr>
          <p:spPr>
            <a:xfrm>
              <a:off x="141010" y="84177"/>
              <a:ext cx="28515" cy="31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65" name="Freeform 1007"/>
            <p:cNvSpPr/>
            <p:nvPr/>
          </p:nvSpPr>
          <p:spPr>
            <a:xfrm>
              <a:off x="141371" y="36554"/>
              <a:ext cx="29358" cy="34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66" name="Oval 1008"/>
            <p:cNvSpPr/>
            <p:nvPr/>
          </p:nvSpPr>
          <p:spPr>
            <a:xfrm>
              <a:off x="162092" y="317777"/>
              <a:ext cx="12701" cy="1383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67" name="Freeform 1009"/>
            <p:cNvSpPr/>
            <p:nvPr/>
          </p:nvSpPr>
          <p:spPr>
            <a:xfrm>
              <a:off x="139806" y="318214"/>
              <a:ext cx="29479" cy="29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68" name="AutoShape 1010"/>
            <p:cNvSpPr/>
            <p:nvPr/>
          </p:nvSpPr>
          <p:spPr>
            <a:xfrm>
              <a:off x="0" y="327098"/>
              <a:ext cx="143898" cy="218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69" name="AutoShape 1011"/>
            <p:cNvSpPr/>
            <p:nvPr/>
          </p:nvSpPr>
          <p:spPr>
            <a:xfrm>
              <a:off x="8422" y="332181"/>
              <a:ext cx="1282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434" y="0"/>
                    <a:pt x="969" y="0"/>
                  </a:cubicBezTo>
                  <a:lnTo>
                    <a:pt x="20631" y="0"/>
                  </a:lnTo>
                  <a:cubicBezTo>
                    <a:pt x="21166" y="0"/>
                    <a:pt x="21600" y="4835"/>
                    <a:pt x="21600" y="10800"/>
                  </a:cubicBezTo>
                  <a:lnTo>
                    <a:pt x="21600" y="10800"/>
                  </a:lnTo>
                  <a:cubicBezTo>
                    <a:pt x="21600" y="16765"/>
                    <a:pt x="21166" y="21600"/>
                    <a:pt x="20631" y="21600"/>
                  </a:cubicBezTo>
                  <a:lnTo>
                    <a:pt x="969" y="21598"/>
                  </a:lnTo>
                  <a:cubicBezTo>
                    <a:pt x="434" y="21598"/>
                    <a:pt x="0" y="16763"/>
                    <a:pt x="0" y="10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70" name="Oval 1012"/>
            <p:cNvSpPr/>
            <p:nvPr/>
          </p:nvSpPr>
          <p:spPr>
            <a:xfrm>
              <a:off x="2033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71" name="Oval 1013"/>
            <p:cNvSpPr/>
            <p:nvPr/>
          </p:nvSpPr>
          <p:spPr>
            <a:xfrm>
              <a:off x="41990" y="284427"/>
              <a:ext cx="19131" cy="2068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72" name="Oval 1014"/>
            <p:cNvSpPr/>
            <p:nvPr/>
          </p:nvSpPr>
          <p:spPr>
            <a:xfrm>
              <a:off x="6232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73" name="Rectangle 1015"/>
            <p:cNvSpPr/>
            <p:nvPr/>
          </p:nvSpPr>
          <p:spPr>
            <a:xfrm>
              <a:off x="109995" y="205055"/>
              <a:ext cx="12701" cy="110538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4777" name="Group 590"/>
          <p:cNvGrpSpPr/>
          <p:nvPr/>
        </p:nvGrpSpPr>
        <p:grpSpPr>
          <a:xfrm>
            <a:off x="7773981" y="5281059"/>
            <a:ext cx="345631" cy="320303"/>
            <a:chOff x="0" y="0"/>
            <a:chExt cx="345629" cy="320302"/>
          </a:xfrm>
        </p:grpSpPr>
        <p:pic>
          <p:nvPicPr>
            <p:cNvPr id="4775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76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812" name="Group 692"/>
          <p:cNvGrpSpPr/>
          <p:nvPr/>
        </p:nvGrpSpPr>
        <p:grpSpPr>
          <a:xfrm>
            <a:off x="7439073" y="1859725"/>
            <a:ext cx="1802648" cy="1232389"/>
            <a:chOff x="0" y="0"/>
            <a:chExt cx="1802647" cy="1232388"/>
          </a:xfrm>
        </p:grpSpPr>
        <p:pic>
          <p:nvPicPr>
            <p:cNvPr id="4778" name="Picture 799" descr="Picture 799"/>
            <p:cNvPicPr>
              <a:picLocks noChangeAspect="1"/>
            </p:cNvPicPr>
            <p:nvPr/>
          </p:nvPicPr>
          <p:blipFill>
            <a:blip r:embed="rId14">
              <a:extLst/>
            </a:blip>
            <a:stretch>
              <a:fillRect/>
            </a:stretch>
          </p:blipFill>
          <p:spPr>
            <a:xfrm>
              <a:off x="541792" y="298442"/>
              <a:ext cx="457201" cy="33276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79" name="Line 426"/>
            <p:cNvSpPr/>
            <p:nvPr/>
          </p:nvSpPr>
          <p:spPr>
            <a:xfrm>
              <a:off x="768786" y="840634"/>
              <a:ext cx="227965" cy="1743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4795" name="Group 783"/>
            <p:cNvGrpSpPr/>
            <p:nvPr/>
          </p:nvGrpSpPr>
          <p:grpSpPr>
            <a:xfrm>
              <a:off x="611624" y="449651"/>
              <a:ext cx="298451" cy="464008"/>
              <a:chOff x="0" y="0"/>
              <a:chExt cx="298450" cy="464007"/>
            </a:xfrm>
          </p:grpSpPr>
          <p:sp>
            <p:nvSpPr>
              <p:cNvPr id="4780" name="Line 270"/>
              <p:cNvSpPr/>
              <p:nvPr/>
            </p:nvSpPr>
            <p:spPr>
              <a:xfrm flipH="1">
                <a:off x="-1" y="0"/>
                <a:ext cx="149226" cy="42023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1" name="Line 271"/>
              <p:cNvSpPr/>
              <p:nvPr/>
            </p:nvSpPr>
            <p:spPr>
              <a:xfrm>
                <a:off x="149225" y="0"/>
                <a:ext cx="149226" cy="41835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2" name="Line 272"/>
              <p:cNvSpPr/>
              <p:nvPr/>
            </p:nvSpPr>
            <p:spPr>
              <a:xfrm>
                <a:off x="-1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3" name="Line 273"/>
              <p:cNvSpPr/>
              <p:nvPr/>
            </p:nvSpPr>
            <p:spPr>
              <a:xfrm flipH="1">
                <a:off x="149224" y="418357"/>
                <a:ext cx="149227" cy="45651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4" name="Line 274"/>
              <p:cNvSpPr/>
              <p:nvPr/>
            </p:nvSpPr>
            <p:spPr>
              <a:xfrm flipH="1">
                <a:off x="149224" y="9380"/>
                <a:ext cx="1" cy="45462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5" name="Line 275"/>
              <p:cNvSpPr/>
              <p:nvPr/>
            </p:nvSpPr>
            <p:spPr>
              <a:xfrm flipV="1">
                <a:off x="-1" y="375208"/>
                <a:ext cx="149227" cy="45026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6" name="Line 276"/>
              <p:cNvSpPr/>
              <p:nvPr/>
            </p:nvSpPr>
            <p:spPr>
              <a:xfrm flipH="1" flipV="1">
                <a:off x="149224" y="375209"/>
                <a:ext cx="149227" cy="4314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7" name="Line 277"/>
              <p:cNvSpPr/>
              <p:nvPr/>
            </p:nvSpPr>
            <p:spPr>
              <a:xfrm>
                <a:off x="63329" y="237632"/>
                <a:ext cx="85896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8" name="Line 278"/>
              <p:cNvSpPr/>
              <p:nvPr/>
            </p:nvSpPr>
            <p:spPr>
              <a:xfrm flipV="1">
                <a:off x="149224" y="237632"/>
                <a:ext cx="90264" cy="3439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89" name="Line 279"/>
              <p:cNvSpPr/>
              <p:nvPr/>
            </p:nvSpPr>
            <p:spPr>
              <a:xfrm>
                <a:off x="34940" y="298916"/>
                <a:ext cx="110645" cy="4690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90" name="Line 280"/>
              <p:cNvSpPr/>
              <p:nvPr/>
            </p:nvSpPr>
            <p:spPr>
              <a:xfrm flipV="1">
                <a:off x="149224" y="308297"/>
                <a:ext cx="111374" cy="4127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91" name="Line 281"/>
              <p:cNvSpPr/>
              <p:nvPr/>
            </p:nvSpPr>
            <p:spPr>
              <a:xfrm flipV="1">
                <a:off x="149224" y="174472"/>
                <a:ext cx="56780" cy="1688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92" name="Line 282"/>
              <p:cNvSpPr/>
              <p:nvPr/>
            </p:nvSpPr>
            <p:spPr>
              <a:xfrm flipV="1">
                <a:off x="149225" y="87548"/>
                <a:ext cx="35669" cy="1313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93" name="Line 283"/>
              <p:cNvSpPr/>
              <p:nvPr/>
            </p:nvSpPr>
            <p:spPr>
              <a:xfrm>
                <a:off x="85167" y="168843"/>
                <a:ext cx="69154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794" name="Line 284"/>
              <p:cNvSpPr/>
              <p:nvPr/>
            </p:nvSpPr>
            <p:spPr>
              <a:xfrm>
                <a:off x="115740" y="83796"/>
                <a:ext cx="40036" cy="2251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4807" name="Group 800"/>
            <p:cNvGrpSpPr/>
            <p:nvPr/>
          </p:nvGrpSpPr>
          <p:grpSpPr>
            <a:xfrm>
              <a:off x="1000753" y="840507"/>
              <a:ext cx="353679" cy="391882"/>
              <a:chOff x="0" y="0"/>
              <a:chExt cx="353677" cy="391881"/>
            </a:xfrm>
          </p:grpSpPr>
          <p:grpSp>
            <p:nvGrpSpPr>
              <p:cNvPr id="4798" name="Freeform 805"/>
              <p:cNvGrpSpPr/>
              <p:nvPr/>
            </p:nvGrpSpPr>
            <p:grpSpPr>
              <a:xfrm>
                <a:off x="-1" y="58793"/>
                <a:ext cx="353679" cy="333089"/>
                <a:chOff x="0" y="0"/>
                <a:chExt cx="353677" cy="333087"/>
              </a:xfrm>
            </p:grpSpPr>
            <p:sp>
              <p:nvSpPr>
                <p:cNvPr id="4796" name="Shape"/>
                <p:cNvSpPr/>
                <p:nvPr/>
              </p:nvSpPr>
              <p:spPr>
                <a:xfrm>
                  <a:off x="0" y="111530"/>
                  <a:ext cx="353678" cy="110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797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4801" name="Oval 806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4799" name="Oval"/>
                <p:cNvSpPr/>
                <p:nvPr/>
              </p:nvSpPr>
              <p:spPr>
                <a:xfrm>
                  <a:off x="0" y="112076"/>
                  <a:ext cx="353250" cy="108935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800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4806" name="Group 807"/>
              <p:cNvGrpSpPr/>
              <p:nvPr/>
            </p:nvGrpSpPr>
            <p:grpSpPr>
              <a:xfrm>
                <a:off x="52453" y="125922"/>
                <a:ext cx="248706" cy="80044"/>
                <a:chOff x="0" y="0"/>
                <a:chExt cx="248704" cy="80043"/>
              </a:xfrm>
            </p:grpSpPr>
            <p:sp>
              <p:nvSpPr>
                <p:cNvPr id="4802" name="Freeform 808"/>
                <p:cNvSpPr/>
                <p:nvPr/>
              </p:nvSpPr>
              <p:spPr>
                <a:xfrm>
                  <a:off x="6879" y="0"/>
                  <a:ext cx="235271" cy="448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803" name="Freeform 809"/>
                <p:cNvSpPr/>
                <p:nvPr/>
              </p:nvSpPr>
              <p:spPr>
                <a:xfrm>
                  <a:off x="160864" y="38326"/>
                  <a:ext cx="87841" cy="385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804" name="Freeform 810"/>
                <p:cNvSpPr/>
                <p:nvPr/>
              </p:nvSpPr>
              <p:spPr>
                <a:xfrm>
                  <a:off x="0" y="38326"/>
                  <a:ext cx="86253" cy="381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805" name="Freeform 811"/>
                <p:cNvSpPr/>
                <p:nvPr/>
              </p:nvSpPr>
              <p:spPr>
                <a:xfrm>
                  <a:off x="29942" y="19487"/>
                  <a:ext cx="187543" cy="605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pic>
          <p:nvPicPr>
            <p:cNvPr id="4808" name="Picture 654" descr="Picture 654"/>
            <p:cNvPicPr>
              <a:picLocks noChangeAspect="1"/>
            </p:cNvPicPr>
            <p:nvPr/>
          </p:nvPicPr>
          <p:blipFill>
            <a:blip r:embed="rId15">
              <a:extLst/>
            </a:blip>
            <a:stretch>
              <a:fillRect/>
            </a:stretch>
          </p:blipFill>
          <p:spPr>
            <a:xfrm>
              <a:off x="311150" y="0"/>
              <a:ext cx="415926" cy="887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09" name="Picture 1017" descr="Picture 1017"/>
            <p:cNvPicPr>
              <a:picLocks noChangeAspect="1"/>
            </p:cNvPicPr>
            <p:nvPr/>
          </p:nvPicPr>
          <p:blipFill>
            <a:blip r:embed="rId16">
              <a:extLst/>
            </a:blip>
            <a:stretch>
              <a:fillRect/>
            </a:stretch>
          </p:blipFill>
          <p:spPr>
            <a:xfrm>
              <a:off x="0" y="496888"/>
              <a:ext cx="530703" cy="2237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10" name="Picture 1017" descr="Picture 1017"/>
            <p:cNvPicPr>
              <a:picLocks noChangeAspect="1"/>
            </p:cNvPicPr>
            <p:nvPr/>
          </p:nvPicPr>
          <p:blipFill>
            <a:blip r:embed="rId16">
              <a:extLst/>
            </a:blip>
            <a:stretch>
              <a:fillRect/>
            </a:stretch>
          </p:blipFill>
          <p:spPr>
            <a:xfrm>
              <a:off x="1198707" y="460002"/>
              <a:ext cx="530703" cy="2237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11" name="Picture 1017" descr="Picture 1017"/>
            <p:cNvPicPr>
              <a:picLocks noChangeAspect="1"/>
            </p:cNvPicPr>
            <p:nvPr/>
          </p:nvPicPr>
          <p:blipFill>
            <a:blip r:embed="rId16">
              <a:extLst/>
            </a:blip>
            <a:stretch>
              <a:fillRect/>
            </a:stretch>
          </p:blipFill>
          <p:spPr>
            <a:xfrm>
              <a:off x="1271945" y="199398"/>
              <a:ext cx="530703" cy="2237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832" name="Group 693"/>
          <p:cNvGrpSpPr/>
          <p:nvPr/>
        </p:nvGrpSpPr>
        <p:grpSpPr>
          <a:xfrm>
            <a:off x="7493517" y="3325424"/>
            <a:ext cx="911539" cy="925351"/>
            <a:chOff x="0" y="0"/>
            <a:chExt cx="911537" cy="925350"/>
          </a:xfrm>
        </p:grpSpPr>
        <p:pic>
          <p:nvPicPr>
            <p:cNvPr id="4813" name="Picture 777" descr="Picture 777"/>
            <p:cNvPicPr>
              <a:picLocks noChangeAspect="1"/>
            </p:cNvPicPr>
            <p:nvPr/>
          </p:nvPicPr>
          <p:blipFill>
            <a:blip r:embed="rId17">
              <a:extLst/>
            </a:blip>
            <a:stretch>
              <a:fillRect/>
            </a:stretch>
          </p:blipFill>
          <p:spPr>
            <a:xfrm>
              <a:off x="120363" y="536474"/>
              <a:ext cx="370170" cy="3067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831" name="Group 783"/>
            <p:cNvGrpSpPr/>
            <p:nvPr/>
          </p:nvGrpSpPr>
          <p:grpSpPr>
            <a:xfrm>
              <a:off x="-1" y="0"/>
              <a:ext cx="911539" cy="925351"/>
              <a:chOff x="0" y="0"/>
              <a:chExt cx="911537" cy="925350"/>
            </a:xfrm>
          </p:grpSpPr>
          <p:sp>
            <p:nvSpPr>
              <p:cNvPr id="4814" name="Line 443"/>
              <p:cNvSpPr/>
              <p:nvPr/>
            </p:nvSpPr>
            <p:spPr>
              <a:xfrm>
                <a:off x="754259" y="504545"/>
                <a:ext cx="1" cy="13176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15" name="Line 449"/>
              <p:cNvSpPr/>
              <p:nvPr/>
            </p:nvSpPr>
            <p:spPr>
              <a:xfrm flipV="1">
                <a:off x="363734" y="715683"/>
                <a:ext cx="168275" cy="31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4816" name="Picture 778" descr="Picture 778"/>
              <p:cNvPicPr>
                <a:picLocks noChangeAspect="1"/>
              </p:cNvPicPr>
              <p:nvPr/>
            </p:nvPicPr>
            <p:blipFill>
              <a:blip r:embed="rId18">
                <a:extLst/>
              </a:blip>
              <a:stretch>
                <a:fillRect/>
              </a:stretch>
            </p:blipFill>
            <p:spPr>
              <a:xfrm>
                <a:off x="68719" y="488505"/>
                <a:ext cx="506413" cy="10601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4828" name="Group 787"/>
              <p:cNvGrpSpPr/>
              <p:nvPr/>
            </p:nvGrpSpPr>
            <p:grpSpPr>
              <a:xfrm>
                <a:off x="556551" y="530885"/>
                <a:ext cx="354987" cy="394466"/>
                <a:chOff x="0" y="0"/>
                <a:chExt cx="354985" cy="394464"/>
              </a:xfrm>
            </p:grpSpPr>
            <p:grpSp>
              <p:nvGrpSpPr>
                <p:cNvPr id="4819" name="Freeform 790"/>
                <p:cNvGrpSpPr/>
                <p:nvPr/>
              </p:nvGrpSpPr>
              <p:grpSpPr>
                <a:xfrm>
                  <a:off x="-1" y="61377"/>
                  <a:ext cx="354987" cy="333088"/>
                  <a:chOff x="0" y="0"/>
                  <a:chExt cx="354985" cy="333087"/>
                </a:xfrm>
              </p:grpSpPr>
              <p:sp>
                <p:nvSpPr>
                  <p:cNvPr id="4817" name="Shape"/>
                  <p:cNvSpPr/>
                  <p:nvPr/>
                </p:nvSpPr>
                <p:spPr>
                  <a:xfrm>
                    <a:off x="0" y="109113"/>
                    <a:ext cx="354986" cy="11486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18" name="Text"/>
                  <p:cNvSpPr txBox="1"/>
                  <p:nvPr/>
                </p:nvSpPr>
                <p:spPr>
                  <a:xfrm>
                    <a:off x="48894" y="0"/>
                    <a:ext cx="257196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4822" name="Oval 791"/>
                <p:cNvGrpSpPr/>
                <p:nvPr/>
              </p:nvGrpSpPr>
              <p:grpSpPr>
                <a:xfrm>
                  <a:off x="204" y="-1"/>
                  <a:ext cx="354557" cy="333089"/>
                  <a:chOff x="0" y="0"/>
                  <a:chExt cx="354555" cy="333087"/>
                </a:xfrm>
              </p:grpSpPr>
              <p:sp>
                <p:nvSpPr>
                  <p:cNvPr id="4820" name="Oval"/>
                  <p:cNvSpPr/>
                  <p:nvPr/>
                </p:nvSpPr>
                <p:spPr>
                  <a:xfrm>
                    <a:off x="0" y="109684"/>
                    <a:ext cx="354556" cy="113721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21" name="Text"/>
                  <p:cNvSpPr txBox="1"/>
                  <p:nvPr/>
                </p:nvSpPr>
                <p:spPr>
                  <a:xfrm>
                    <a:off x="100818" y="0"/>
                    <a:ext cx="152920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4827" name="Group 792"/>
                <p:cNvGrpSpPr/>
                <p:nvPr/>
              </p:nvGrpSpPr>
              <p:grpSpPr>
                <a:xfrm>
                  <a:off x="52647" y="124137"/>
                  <a:ext cx="249626" cy="83561"/>
                  <a:chOff x="0" y="0"/>
                  <a:chExt cx="249624" cy="83559"/>
                </a:xfrm>
              </p:grpSpPr>
              <p:sp>
                <p:nvSpPr>
                  <p:cNvPr id="4823" name="Freeform 793"/>
                  <p:cNvSpPr/>
                  <p:nvPr/>
                </p:nvSpPr>
                <p:spPr>
                  <a:xfrm>
                    <a:off x="6904" y="-1"/>
                    <a:ext cx="236141" cy="4677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24" name="Freeform 794"/>
                  <p:cNvSpPr/>
                  <p:nvPr/>
                </p:nvSpPr>
                <p:spPr>
                  <a:xfrm>
                    <a:off x="161459" y="40010"/>
                    <a:ext cx="88166" cy="4027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25" name="Freeform 795"/>
                  <p:cNvSpPr/>
                  <p:nvPr/>
                </p:nvSpPr>
                <p:spPr>
                  <a:xfrm>
                    <a:off x="0" y="40010"/>
                    <a:ext cx="86572" cy="3980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26" name="Freeform 796"/>
                  <p:cNvSpPr/>
                  <p:nvPr/>
                </p:nvSpPr>
                <p:spPr>
                  <a:xfrm>
                    <a:off x="30053" y="20343"/>
                    <a:ext cx="188236" cy="6321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pic>
            <p:nvPicPr>
              <p:cNvPr id="4829" name="Picture 1115" descr="Picture 1115"/>
              <p:cNvPicPr>
                <a:picLocks noChangeAspect="1"/>
              </p:cNvPicPr>
              <p:nvPr/>
            </p:nvPicPr>
            <p:blipFill>
              <a:blip r:embed="rId19">
                <a:extLst/>
              </a:blip>
              <a:stretch>
                <a:fillRect/>
              </a:stretch>
            </p:blipFill>
            <p:spPr>
              <a:xfrm>
                <a:off x="0" y="93715"/>
                <a:ext cx="347997" cy="16755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830" name="Picture 1115" descr="Picture 1115"/>
              <p:cNvPicPr>
                <a:picLocks noChangeAspect="1"/>
              </p:cNvPicPr>
              <p:nvPr/>
            </p:nvPicPr>
            <p:blipFill>
              <a:blip r:embed="rId19">
                <a:extLst/>
              </a:blip>
              <a:stretch>
                <a:fillRect/>
              </a:stretch>
            </p:blipFill>
            <p:spPr>
              <a:xfrm>
                <a:off x="309916" y="0"/>
                <a:ext cx="347998" cy="1675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4902" name="Group 695"/>
          <p:cNvGrpSpPr/>
          <p:nvPr/>
        </p:nvGrpSpPr>
        <p:grpSpPr>
          <a:xfrm>
            <a:off x="7975881" y="4645471"/>
            <a:ext cx="2319345" cy="1341732"/>
            <a:chOff x="0" y="0"/>
            <a:chExt cx="2319344" cy="1341730"/>
          </a:xfrm>
        </p:grpSpPr>
        <p:sp>
          <p:nvSpPr>
            <p:cNvPr id="4833" name="Line 428"/>
            <p:cNvSpPr/>
            <p:nvPr/>
          </p:nvSpPr>
          <p:spPr>
            <a:xfrm flipH="1" flipV="1">
              <a:off x="2031493" y="381596"/>
              <a:ext cx="7561" cy="38806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834" name="Line 435"/>
            <p:cNvSpPr/>
            <p:nvPr/>
          </p:nvSpPr>
          <p:spPr>
            <a:xfrm>
              <a:off x="261839" y="437442"/>
              <a:ext cx="226801" cy="1270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835" name="Line 440"/>
            <p:cNvSpPr/>
            <p:nvPr/>
          </p:nvSpPr>
          <p:spPr>
            <a:xfrm flipV="1">
              <a:off x="511057" y="356670"/>
              <a:ext cx="404238" cy="20777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4901" name="Group 714"/>
            <p:cNvGrpSpPr/>
            <p:nvPr/>
          </p:nvGrpSpPr>
          <p:grpSpPr>
            <a:xfrm>
              <a:off x="-1" y="-1"/>
              <a:ext cx="2319346" cy="1341732"/>
              <a:chOff x="0" y="0"/>
              <a:chExt cx="2319344" cy="1341730"/>
            </a:xfrm>
          </p:grpSpPr>
          <p:sp>
            <p:nvSpPr>
              <p:cNvPr id="4836" name="Line 430"/>
              <p:cNvSpPr/>
              <p:nvPr/>
            </p:nvSpPr>
            <p:spPr>
              <a:xfrm>
                <a:off x="2205044" y="783179"/>
                <a:ext cx="11430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37" name="Line 431"/>
              <p:cNvSpPr/>
              <p:nvPr/>
            </p:nvSpPr>
            <p:spPr>
              <a:xfrm>
                <a:off x="1484592" y="158625"/>
                <a:ext cx="524484" cy="26153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38" name="Line 432"/>
              <p:cNvSpPr/>
              <p:nvPr/>
            </p:nvSpPr>
            <p:spPr>
              <a:xfrm flipV="1">
                <a:off x="901698" y="158625"/>
                <a:ext cx="569256" cy="24626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39" name="Line 433"/>
              <p:cNvSpPr/>
              <p:nvPr/>
            </p:nvSpPr>
            <p:spPr>
              <a:xfrm>
                <a:off x="873376" y="430254"/>
                <a:ext cx="1030504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40" name="Line 436"/>
              <p:cNvSpPr/>
              <p:nvPr/>
            </p:nvSpPr>
            <p:spPr>
              <a:xfrm flipV="1">
                <a:off x="-1" y="610578"/>
                <a:ext cx="412752" cy="1270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41" name="Line 439"/>
              <p:cNvSpPr/>
              <p:nvPr/>
            </p:nvSpPr>
            <p:spPr>
              <a:xfrm flipH="1">
                <a:off x="425450" y="602360"/>
                <a:ext cx="68081" cy="29396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42" name="Line 440"/>
              <p:cNvSpPr/>
              <p:nvPr/>
            </p:nvSpPr>
            <p:spPr>
              <a:xfrm flipH="1" flipV="1">
                <a:off x="540363" y="628039"/>
                <a:ext cx="280376" cy="2698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43" name="Line 441"/>
              <p:cNvSpPr/>
              <p:nvPr/>
            </p:nvSpPr>
            <p:spPr>
              <a:xfrm>
                <a:off x="540363" y="578156"/>
                <a:ext cx="914186" cy="46862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44" name="Line 428"/>
              <p:cNvSpPr/>
              <p:nvPr/>
            </p:nvSpPr>
            <p:spPr>
              <a:xfrm flipH="1" flipV="1">
                <a:off x="2119833" y="720924"/>
                <a:ext cx="1483" cy="36679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4845" name="Picture 781" descr="Picture 781"/>
              <p:cNvPicPr>
                <a:picLocks noChangeAspect="1"/>
              </p:cNvPicPr>
              <p:nvPr/>
            </p:nvPicPr>
            <p:blipFill>
              <a:blip r:embed="rId20">
                <a:extLst/>
              </a:blip>
              <a:stretch>
                <a:fillRect/>
              </a:stretch>
            </p:blipFill>
            <p:spPr>
              <a:xfrm>
                <a:off x="1293706" y="801046"/>
                <a:ext cx="452015" cy="9516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846" name="Picture 780" descr="Picture 780"/>
              <p:cNvPicPr>
                <a:picLocks noChangeAspect="1"/>
              </p:cNvPicPr>
              <p:nvPr/>
            </p:nvPicPr>
            <p:blipFill>
              <a:blip r:embed="rId17">
                <a:extLst/>
              </a:blip>
              <a:stretch>
                <a:fillRect/>
              </a:stretch>
            </p:blipFill>
            <p:spPr>
              <a:xfrm>
                <a:off x="1342243" y="844340"/>
                <a:ext cx="380936" cy="31746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4858" name="Group 726"/>
              <p:cNvGrpSpPr/>
              <p:nvPr/>
            </p:nvGrpSpPr>
            <p:grpSpPr>
              <a:xfrm>
                <a:off x="1835191" y="214296"/>
                <a:ext cx="393761" cy="409458"/>
                <a:chOff x="0" y="0"/>
                <a:chExt cx="393760" cy="409456"/>
              </a:xfrm>
            </p:grpSpPr>
            <p:grpSp>
              <p:nvGrpSpPr>
                <p:cNvPr id="4849" name="Freeform 761"/>
                <p:cNvGrpSpPr/>
                <p:nvPr/>
              </p:nvGrpSpPr>
              <p:grpSpPr>
                <a:xfrm>
                  <a:off x="0" y="76369"/>
                  <a:ext cx="393761" cy="333088"/>
                  <a:chOff x="0" y="0"/>
                  <a:chExt cx="393760" cy="333087"/>
                </a:xfrm>
              </p:grpSpPr>
              <p:sp>
                <p:nvSpPr>
                  <p:cNvPr id="4847" name="Shape"/>
                  <p:cNvSpPr/>
                  <p:nvPr/>
                </p:nvSpPr>
                <p:spPr>
                  <a:xfrm>
                    <a:off x="0" y="95084"/>
                    <a:ext cx="393761" cy="14292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48" name="Text"/>
                  <p:cNvSpPr txBox="1"/>
                  <p:nvPr/>
                </p:nvSpPr>
                <p:spPr>
                  <a:xfrm>
                    <a:off x="48894" y="0"/>
                    <a:ext cx="295971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4852" name="Oval 762"/>
                <p:cNvGrpSpPr/>
                <p:nvPr/>
              </p:nvGrpSpPr>
              <p:grpSpPr>
                <a:xfrm>
                  <a:off x="226" y="-1"/>
                  <a:ext cx="393285" cy="333089"/>
                  <a:chOff x="0" y="0"/>
                  <a:chExt cx="393284" cy="333087"/>
                </a:xfrm>
              </p:grpSpPr>
              <p:sp>
                <p:nvSpPr>
                  <p:cNvPr id="4850" name="Oval"/>
                  <p:cNvSpPr/>
                  <p:nvPr/>
                </p:nvSpPr>
                <p:spPr>
                  <a:xfrm>
                    <a:off x="0" y="95794"/>
                    <a:ext cx="393285" cy="141499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51" name="Text"/>
                  <p:cNvSpPr txBox="1"/>
                  <p:nvPr/>
                </p:nvSpPr>
                <p:spPr>
                  <a:xfrm>
                    <a:off x="106490" y="0"/>
                    <a:ext cx="180304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4857" name="Group 763"/>
                <p:cNvGrpSpPr/>
                <p:nvPr/>
              </p:nvGrpSpPr>
              <p:grpSpPr>
                <a:xfrm>
                  <a:off x="58397" y="113778"/>
                  <a:ext cx="276892" cy="103972"/>
                  <a:chOff x="0" y="0"/>
                  <a:chExt cx="276890" cy="103970"/>
                </a:xfrm>
              </p:grpSpPr>
              <p:sp>
                <p:nvSpPr>
                  <p:cNvPr id="4853" name="Freeform 764"/>
                  <p:cNvSpPr/>
                  <p:nvPr/>
                </p:nvSpPr>
                <p:spPr>
                  <a:xfrm>
                    <a:off x="7658" y="0"/>
                    <a:ext cx="261934" cy="582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54" name="Freeform 765"/>
                  <p:cNvSpPr/>
                  <p:nvPr/>
                </p:nvSpPr>
                <p:spPr>
                  <a:xfrm>
                    <a:off x="179095" y="49783"/>
                    <a:ext cx="97796" cy="5010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55" name="Freeform 766"/>
                  <p:cNvSpPr/>
                  <p:nvPr/>
                </p:nvSpPr>
                <p:spPr>
                  <a:xfrm>
                    <a:off x="0" y="49783"/>
                    <a:ext cx="96028" cy="4952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56" name="Freeform 767"/>
                  <p:cNvSpPr/>
                  <p:nvPr/>
                </p:nvSpPr>
                <p:spPr>
                  <a:xfrm>
                    <a:off x="33336" y="25312"/>
                    <a:ext cx="208796" cy="7865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4866" name="Group 727"/>
              <p:cNvGrpSpPr/>
              <p:nvPr/>
            </p:nvGrpSpPr>
            <p:grpSpPr>
              <a:xfrm>
                <a:off x="1900998" y="659145"/>
                <a:ext cx="309741" cy="190839"/>
                <a:chOff x="0" y="0"/>
                <a:chExt cx="309739" cy="190837"/>
              </a:xfrm>
            </p:grpSpPr>
            <p:sp>
              <p:nvSpPr>
                <p:cNvPr id="4859" name="Rectangle 754"/>
                <p:cNvSpPr/>
                <p:nvPr/>
              </p:nvSpPr>
              <p:spPr>
                <a:xfrm>
                  <a:off x="0" y="113922"/>
                  <a:ext cx="308626" cy="76916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32538F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860" name="Freeform 755"/>
                <p:cNvSpPr/>
                <p:nvPr/>
              </p:nvSpPr>
              <p:spPr>
                <a:xfrm>
                  <a:off x="857" y="-1"/>
                  <a:ext cx="308883" cy="1167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21429"/>
                      </a:moveTo>
                      <a:lnTo>
                        <a:pt x="1440" y="0"/>
                      </a:lnTo>
                      <a:lnTo>
                        <a:pt x="19500" y="343"/>
                      </a:lnTo>
                      <a:lnTo>
                        <a:pt x="21600" y="21600"/>
                      </a:lnTo>
                      <a:lnTo>
                        <a:pt x="0" y="21429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grpSp>
              <p:nvGrpSpPr>
                <p:cNvPr id="4865" name="Group 756"/>
                <p:cNvGrpSpPr/>
                <p:nvPr/>
              </p:nvGrpSpPr>
              <p:grpSpPr>
                <a:xfrm>
                  <a:off x="22308" y="13603"/>
                  <a:ext cx="261399" cy="93969"/>
                  <a:chOff x="0" y="0"/>
                  <a:chExt cx="261398" cy="93968"/>
                </a:xfrm>
              </p:grpSpPr>
              <p:sp>
                <p:nvSpPr>
                  <p:cNvPr id="4861" name="Freeform 757"/>
                  <p:cNvSpPr/>
                  <p:nvPr/>
                </p:nvSpPr>
                <p:spPr>
                  <a:xfrm>
                    <a:off x="7230" y="-1"/>
                    <a:ext cx="247278" cy="5260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62" name="Freeform 758"/>
                  <p:cNvSpPr/>
                  <p:nvPr/>
                </p:nvSpPr>
                <p:spPr>
                  <a:xfrm>
                    <a:off x="169074" y="44994"/>
                    <a:ext cx="92325" cy="4528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63" name="Freeform 759"/>
                  <p:cNvSpPr/>
                  <p:nvPr/>
                </p:nvSpPr>
                <p:spPr>
                  <a:xfrm>
                    <a:off x="-1" y="44994"/>
                    <a:ext cx="90657" cy="4476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64" name="Freeform 760"/>
                  <p:cNvSpPr/>
                  <p:nvPr/>
                </p:nvSpPr>
                <p:spPr>
                  <a:xfrm>
                    <a:off x="31470" y="22877"/>
                    <a:ext cx="197115" cy="7109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4878" name="Group 728"/>
              <p:cNvGrpSpPr/>
              <p:nvPr/>
            </p:nvGrpSpPr>
            <p:grpSpPr>
              <a:xfrm>
                <a:off x="728252" y="191733"/>
                <a:ext cx="393761" cy="409458"/>
                <a:chOff x="0" y="0"/>
                <a:chExt cx="393760" cy="409456"/>
              </a:xfrm>
            </p:grpSpPr>
            <p:grpSp>
              <p:nvGrpSpPr>
                <p:cNvPr id="4869" name="Freeform 747"/>
                <p:cNvGrpSpPr/>
                <p:nvPr/>
              </p:nvGrpSpPr>
              <p:grpSpPr>
                <a:xfrm>
                  <a:off x="0" y="76369"/>
                  <a:ext cx="393761" cy="333088"/>
                  <a:chOff x="0" y="0"/>
                  <a:chExt cx="393760" cy="333087"/>
                </a:xfrm>
              </p:grpSpPr>
              <p:sp>
                <p:nvSpPr>
                  <p:cNvPr id="4867" name="Shape"/>
                  <p:cNvSpPr/>
                  <p:nvPr/>
                </p:nvSpPr>
                <p:spPr>
                  <a:xfrm>
                    <a:off x="0" y="95084"/>
                    <a:ext cx="393761" cy="14292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68" name="Text"/>
                  <p:cNvSpPr txBox="1"/>
                  <p:nvPr/>
                </p:nvSpPr>
                <p:spPr>
                  <a:xfrm>
                    <a:off x="48894" y="0"/>
                    <a:ext cx="295971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4872" name="Oval 748"/>
                <p:cNvGrpSpPr/>
                <p:nvPr/>
              </p:nvGrpSpPr>
              <p:grpSpPr>
                <a:xfrm>
                  <a:off x="226" y="-1"/>
                  <a:ext cx="393285" cy="333089"/>
                  <a:chOff x="0" y="0"/>
                  <a:chExt cx="393284" cy="333087"/>
                </a:xfrm>
              </p:grpSpPr>
              <p:sp>
                <p:nvSpPr>
                  <p:cNvPr id="4870" name="Oval"/>
                  <p:cNvSpPr/>
                  <p:nvPr/>
                </p:nvSpPr>
                <p:spPr>
                  <a:xfrm>
                    <a:off x="0" y="95794"/>
                    <a:ext cx="393285" cy="141499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71" name="Text"/>
                  <p:cNvSpPr txBox="1"/>
                  <p:nvPr/>
                </p:nvSpPr>
                <p:spPr>
                  <a:xfrm>
                    <a:off x="106490" y="0"/>
                    <a:ext cx="180304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4877" name="Group 749"/>
                <p:cNvGrpSpPr/>
                <p:nvPr/>
              </p:nvGrpSpPr>
              <p:grpSpPr>
                <a:xfrm>
                  <a:off x="58397" y="113778"/>
                  <a:ext cx="276892" cy="103972"/>
                  <a:chOff x="0" y="0"/>
                  <a:chExt cx="276890" cy="103970"/>
                </a:xfrm>
              </p:grpSpPr>
              <p:sp>
                <p:nvSpPr>
                  <p:cNvPr id="4873" name="Freeform 750"/>
                  <p:cNvSpPr/>
                  <p:nvPr/>
                </p:nvSpPr>
                <p:spPr>
                  <a:xfrm>
                    <a:off x="7658" y="0"/>
                    <a:ext cx="261934" cy="582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74" name="Freeform 751"/>
                  <p:cNvSpPr/>
                  <p:nvPr/>
                </p:nvSpPr>
                <p:spPr>
                  <a:xfrm>
                    <a:off x="179095" y="49783"/>
                    <a:ext cx="97796" cy="5010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75" name="Freeform 752"/>
                  <p:cNvSpPr/>
                  <p:nvPr/>
                </p:nvSpPr>
                <p:spPr>
                  <a:xfrm>
                    <a:off x="0" y="49783"/>
                    <a:ext cx="96028" cy="4952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76" name="Freeform 753"/>
                  <p:cNvSpPr/>
                  <p:nvPr/>
                </p:nvSpPr>
                <p:spPr>
                  <a:xfrm>
                    <a:off x="33336" y="25312"/>
                    <a:ext cx="208796" cy="7865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4886" name="Group 729"/>
              <p:cNvGrpSpPr/>
              <p:nvPr/>
            </p:nvGrpSpPr>
            <p:grpSpPr>
              <a:xfrm>
                <a:off x="363152" y="514541"/>
                <a:ext cx="309741" cy="190839"/>
                <a:chOff x="0" y="0"/>
                <a:chExt cx="309739" cy="190837"/>
              </a:xfrm>
            </p:grpSpPr>
            <p:sp>
              <p:nvSpPr>
                <p:cNvPr id="4879" name="Rectangle 740"/>
                <p:cNvSpPr/>
                <p:nvPr/>
              </p:nvSpPr>
              <p:spPr>
                <a:xfrm>
                  <a:off x="0" y="113922"/>
                  <a:ext cx="308626" cy="76916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32538F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880" name="Freeform 741"/>
                <p:cNvSpPr/>
                <p:nvPr/>
              </p:nvSpPr>
              <p:spPr>
                <a:xfrm>
                  <a:off x="857" y="-1"/>
                  <a:ext cx="308883" cy="1167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21429"/>
                      </a:moveTo>
                      <a:lnTo>
                        <a:pt x="1440" y="0"/>
                      </a:lnTo>
                      <a:lnTo>
                        <a:pt x="19500" y="343"/>
                      </a:lnTo>
                      <a:lnTo>
                        <a:pt x="21600" y="21600"/>
                      </a:lnTo>
                      <a:lnTo>
                        <a:pt x="0" y="21429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grpSp>
              <p:nvGrpSpPr>
                <p:cNvPr id="4885" name="Group 742"/>
                <p:cNvGrpSpPr/>
                <p:nvPr/>
              </p:nvGrpSpPr>
              <p:grpSpPr>
                <a:xfrm>
                  <a:off x="22308" y="13603"/>
                  <a:ext cx="261399" cy="93969"/>
                  <a:chOff x="0" y="0"/>
                  <a:chExt cx="261398" cy="93968"/>
                </a:xfrm>
              </p:grpSpPr>
              <p:sp>
                <p:nvSpPr>
                  <p:cNvPr id="4881" name="Freeform 743"/>
                  <p:cNvSpPr/>
                  <p:nvPr/>
                </p:nvSpPr>
                <p:spPr>
                  <a:xfrm>
                    <a:off x="7230" y="-1"/>
                    <a:ext cx="247278" cy="5260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82" name="Freeform 744"/>
                  <p:cNvSpPr/>
                  <p:nvPr/>
                </p:nvSpPr>
                <p:spPr>
                  <a:xfrm>
                    <a:off x="169074" y="44994"/>
                    <a:ext cx="92325" cy="4528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83" name="Freeform 745"/>
                  <p:cNvSpPr/>
                  <p:nvPr/>
                </p:nvSpPr>
                <p:spPr>
                  <a:xfrm>
                    <a:off x="-1" y="44994"/>
                    <a:ext cx="90657" cy="4476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84" name="Freeform 746"/>
                  <p:cNvSpPr/>
                  <p:nvPr/>
                </p:nvSpPr>
                <p:spPr>
                  <a:xfrm>
                    <a:off x="31470" y="22877"/>
                    <a:ext cx="197115" cy="7109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4898" name="Group 730"/>
              <p:cNvGrpSpPr/>
              <p:nvPr/>
            </p:nvGrpSpPr>
            <p:grpSpPr>
              <a:xfrm>
                <a:off x="1299526" y="-1"/>
                <a:ext cx="393761" cy="409458"/>
                <a:chOff x="0" y="0"/>
                <a:chExt cx="393760" cy="409456"/>
              </a:xfrm>
            </p:grpSpPr>
            <p:grpSp>
              <p:nvGrpSpPr>
                <p:cNvPr id="4889" name="Freeform 733"/>
                <p:cNvGrpSpPr/>
                <p:nvPr/>
              </p:nvGrpSpPr>
              <p:grpSpPr>
                <a:xfrm>
                  <a:off x="0" y="76369"/>
                  <a:ext cx="393761" cy="333088"/>
                  <a:chOff x="0" y="0"/>
                  <a:chExt cx="393760" cy="333087"/>
                </a:xfrm>
              </p:grpSpPr>
              <p:sp>
                <p:nvSpPr>
                  <p:cNvPr id="4887" name="Shape"/>
                  <p:cNvSpPr/>
                  <p:nvPr/>
                </p:nvSpPr>
                <p:spPr>
                  <a:xfrm>
                    <a:off x="0" y="95084"/>
                    <a:ext cx="393761" cy="14292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88" name="Text"/>
                  <p:cNvSpPr txBox="1"/>
                  <p:nvPr/>
                </p:nvSpPr>
                <p:spPr>
                  <a:xfrm>
                    <a:off x="48894" y="0"/>
                    <a:ext cx="295971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4892" name="Oval 734"/>
                <p:cNvGrpSpPr/>
                <p:nvPr/>
              </p:nvGrpSpPr>
              <p:grpSpPr>
                <a:xfrm>
                  <a:off x="226" y="-1"/>
                  <a:ext cx="393285" cy="333089"/>
                  <a:chOff x="0" y="0"/>
                  <a:chExt cx="393284" cy="333087"/>
                </a:xfrm>
              </p:grpSpPr>
              <p:sp>
                <p:nvSpPr>
                  <p:cNvPr id="4890" name="Oval"/>
                  <p:cNvSpPr/>
                  <p:nvPr/>
                </p:nvSpPr>
                <p:spPr>
                  <a:xfrm>
                    <a:off x="0" y="95794"/>
                    <a:ext cx="393285" cy="141499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91" name="Text"/>
                  <p:cNvSpPr txBox="1"/>
                  <p:nvPr/>
                </p:nvSpPr>
                <p:spPr>
                  <a:xfrm>
                    <a:off x="106490" y="0"/>
                    <a:ext cx="180304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4897" name="Group 735"/>
                <p:cNvGrpSpPr/>
                <p:nvPr/>
              </p:nvGrpSpPr>
              <p:grpSpPr>
                <a:xfrm>
                  <a:off x="58397" y="113778"/>
                  <a:ext cx="276892" cy="103972"/>
                  <a:chOff x="0" y="0"/>
                  <a:chExt cx="276890" cy="103970"/>
                </a:xfrm>
              </p:grpSpPr>
              <p:sp>
                <p:nvSpPr>
                  <p:cNvPr id="4893" name="Freeform 736"/>
                  <p:cNvSpPr/>
                  <p:nvPr/>
                </p:nvSpPr>
                <p:spPr>
                  <a:xfrm>
                    <a:off x="7658" y="0"/>
                    <a:ext cx="261934" cy="582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94" name="Freeform 737"/>
                  <p:cNvSpPr/>
                  <p:nvPr/>
                </p:nvSpPr>
                <p:spPr>
                  <a:xfrm>
                    <a:off x="179095" y="49783"/>
                    <a:ext cx="97796" cy="5010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95" name="Freeform 738"/>
                  <p:cNvSpPr/>
                  <p:nvPr/>
                </p:nvSpPr>
                <p:spPr>
                  <a:xfrm>
                    <a:off x="0" y="49783"/>
                    <a:ext cx="96028" cy="4952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96" name="Freeform 739"/>
                  <p:cNvSpPr/>
                  <p:nvPr/>
                </p:nvSpPr>
                <p:spPr>
                  <a:xfrm>
                    <a:off x="33336" y="25312"/>
                    <a:ext cx="208796" cy="7865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pic>
            <p:nvPicPr>
              <p:cNvPr id="4899" name="Picture 1065" descr="Picture 1065"/>
              <p:cNvPicPr>
                <a:picLocks noChangeAspect="1"/>
              </p:cNvPicPr>
              <p:nvPr/>
            </p:nvPicPr>
            <p:blipFill>
              <a:blip r:embed="rId21">
                <a:extLst/>
              </a:blip>
              <a:stretch>
                <a:fillRect/>
              </a:stretch>
            </p:blipFill>
            <p:spPr>
              <a:xfrm>
                <a:off x="1253314" y="1172917"/>
                <a:ext cx="307703" cy="16881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900" name="Picture 1065" descr="Picture 1065"/>
              <p:cNvPicPr>
                <a:picLocks noChangeAspect="1"/>
              </p:cNvPicPr>
              <p:nvPr/>
            </p:nvPicPr>
            <p:blipFill>
              <a:blip r:embed="rId21">
                <a:extLst/>
              </a:blip>
              <a:stretch>
                <a:fillRect/>
              </a:stretch>
            </p:blipFill>
            <p:spPr>
              <a:xfrm>
                <a:off x="1586379" y="1115246"/>
                <a:ext cx="316708" cy="13896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4903" name="Rectangle 690"/>
          <p:cNvSpPr/>
          <p:nvPr/>
        </p:nvSpPr>
        <p:spPr>
          <a:xfrm>
            <a:off x="7165427" y="1458055"/>
            <a:ext cx="4771885" cy="4954628"/>
          </a:xfrm>
          <a:prstGeom prst="rect">
            <a:avLst/>
          </a:prstGeom>
          <a:solidFill>
            <a:srgbClr val="FFFFFF">
              <a:alpha val="68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906" name="Group 2"/>
          <p:cNvGrpSpPr/>
          <p:nvPr/>
        </p:nvGrpSpPr>
        <p:grpSpPr>
          <a:xfrm>
            <a:off x="10812888" y="3368642"/>
            <a:ext cx="890574" cy="1290087"/>
            <a:chOff x="0" y="0"/>
            <a:chExt cx="890572" cy="1290086"/>
          </a:xfrm>
        </p:grpSpPr>
        <p:sp>
          <p:nvSpPr>
            <p:cNvPr id="4904" name="Oval 841"/>
            <p:cNvSpPr/>
            <p:nvPr/>
          </p:nvSpPr>
          <p:spPr>
            <a:xfrm>
              <a:off x="0" y="-1"/>
              <a:ext cx="813044" cy="510072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05" name="Oval 842"/>
            <p:cNvSpPr/>
            <p:nvPr/>
          </p:nvSpPr>
          <p:spPr>
            <a:xfrm>
              <a:off x="77529" y="780015"/>
              <a:ext cx="813044" cy="510072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925" name="Group 696"/>
          <p:cNvGrpSpPr/>
          <p:nvPr/>
        </p:nvGrpSpPr>
        <p:grpSpPr>
          <a:xfrm>
            <a:off x="10925981" y="4188910"/>
            <a:ext cx="657414" cy="451817"/>
            <a:chOff x="0" y="0"/>
            <a:chExt cx="657412" cy="451815"/>
          </a:xfrm>
        </p:grpSpPr>
        <p:grpSp>
          <p:nvGrpSpPr>
            <p:cNvPr id="4912" name="Group 697"/>
            <p:cNvGrpSpPr/>
            <p:nvPr/>
          </p:nvGrpSpPr>
          <p:grpSpPr>
            <a:xfrm>
              <a:off x="167574" y="0"/>
              <a:ext cx="489840" cy="451816"/>
              <a:chOff x="0" y="0"/>
              <a:chExt cx="489839" cy="451815"/>
            </a:xfrm>
          </p:grpSpPr>
          <p:sp>
            <p:nvSpPr>
              <p:cNvPr id="4907" name="Straight Connector 706"/>
              <p:cNvSpPr/>
              <p:nvPr/>
            </p:nvSpPr>
            <p:spPr>
              <a:xfrm>
                <a:off x="-1" y="240564"/>
                <a:ext cx="186245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4911" name="Group 707"/>
              <p:cNvGrpSpPr/>
              <p:nvPr/>
            </p:nvGrpSpPr>
            <p:grpSpPr>
              <a:xfrm>
                <a:off x="137494" y="0"/>
                <a:ext cx="352346" cy="451816"/>
                <a:chOff x="0" y="0"/>
                <a:chExt cx="352344" cy="451815"/>
              </a:xfrm>
            </p:grpSpPr>
            <p:pic>
              <p:nvPicPr>
                <p:cNvPr id="4908" name="Picture 708" descr="Picture 708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203776" y="66104"/>
                  <a:ext cx="148569" cy="34914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4909" name="Picture 709" descr="Picture 709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0" y="58546"/>
                  <a:ext cx="148568" cy="34914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4910" name="Picture 710" descr="Picture 710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85777" y="0"/>
                  <a:ext cx="192259" cy="45181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4924" name="Group 698"/>
            <p:cNvGrpSpPr/>
            <p:nvPr/>
          </p:nvGrpSpPr>
          <p:grpSpPr>
            <a:xfrm>
              <a:off x="0" y="94708"/>
              <a:ext cx="228296" cy="333088"/>
              <a:chOff x="0" y="0"/>
              <a:chExt cx="228295" cy="333087"/>
            </a:xfrm>
          </p:grpSpPr>
          <p:grpSp>
            <p:nvGrpSpPr>
              <p:cNvPr id="4915" name="Freeform 699"/>
              <p:cNvGrpSpPr/>
              <p:nvPr/>
            </p:nvGrpSpPr>
            <p:grpSpPr>
              <a:xfrm>
                <a:off x="0" y="-1"/>
                <a:ext cx="228296" cy="333089"/>
                <a:chOff x="0" y="0"/>
                <a:chExt cx="228295" cy="333087"/>
              </a:xfrm>
            </p:grpSpPr>
            <p:sp>
              <p:nvSpPr>
                <p:cNvPr id="4913" name="Shape"/>
                <p:cNvSpPr/>
                <p:nvPr/>
              </p:nvSpPr>
              <p:spPr>
                <a:xfrm>
                  <a:off x="0" y="127181"/>
                  <a:ext cx="228296" cy="787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14" name="Text"/>
                <p:cNvSpPr txBox="1"/>
                <p:nvPr/>
              </p:nvSpPr>
              <p:spPr>
                <a:xfrm>
                  <a:off x="47307" y="0"/>
                  <a:ext cx="133681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4918" name="Oval 700"/>
              <p:cNvGrpSpPr/>
              <p:nvPr/>
            </p:nvGrpSpPr>
            <p:grpSpPr>
              <a:xfrm>
                <a:off x="131" y="60976"/>
                <a:ext cx="228019" cy="127001"/>
                <a:chOff x="0" y="0"/>
                <a:chExt cx="228018" cy="127000"/>
              </a:xfrm>
            </p:grpSpPr>
            <p:sp>
              <p:nvSpPr>
                <p:cNvPr id="4916" name="Oval"/>
                <p:cNvSpPr/>
                <p:nvPr/>
              </p:nvSpPr>
              <p:spPr>
                <a:xfrm>
                  <a:off x="0" y="24529"/>
                  <a:ext cx="228019" cy="77943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17" name="Text"/>
                <p:cNvSpPr txBox="1"/>
                <p:nvPr/>
              </p:nvSpPr>
              <p:spPr>
                <a:xfrm>
                  <a:off x="80699" y="0"/>
                  <a:ext cx="66620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4923" name="Group 701"/>
              <p:cNvGrpSpPr/>
              <p:nvPr/>
            </p:nvGrpSpPr>
            <p:grpSpPr>
              <a:xfrm>
                <a:off x="33858" y="95412"/>
                <a:ext cx="160537" cy="57271"/>
                <a:chOff x="0" y="0"/>
                <a:chExt cx="160536" cy="57270"/>
              </a:xfrm>
            </p:grpSpPr>
            <p:sp>
              <p:nvSpPr>
                <p:cNvPr id="4919" name="Freeform 702"/>
                <p:cNvSpPr/>
                <p:nvPr/>
              </p:nvSpPr>
              <p:spPr>
                <a:xfrm>
                  <a:off x="4440" y="0"/>
                  <a:ext cx="151865" cy="320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20" name="Freeform 703"/>
                <p:cNvSpPr/>
                <p:nvPr/>
              </p:nvSpPr>
              <p:spPr>
                <a:xfrm>
                  <a:off x="103836" y="27422"/>
                  <a:ext cx="56701" cy="276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21" name="Freeform 704"/>
                <p:cNvSpPr/>
                <p:nvPr/>
              </p:nvSpPr>
              <p:spPr>
                <a:xfrm>
                  <a:off x="-1" y="27422"/>
                  <a:ext cx="55677" cy="272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22" name="Freeform 705"/>
                <p:cNvSpPr/>
                <p:nvPr/>
              </p:nvSpPr>
              <p:spPr>
                <a:xfrm>
                  <a:off x="19327" y="13943"/>
                  <a:ext cx="121057" cy="43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grpSp>
        <p:nvGrpSpPr>
          <p:cNvPr id="4944" name="Group 694"/>
          <p:cNvGrpSpPr/>
          <p:nvPr/>
        </p:nvGrpSpPr>
        <p:grpSpPr>
          <a:xfrm>
            <a:off x="10884085" y="3428484"/>
            <a:ext cx="604587" cy="405974"/>
            <a:chOff x="0" y="0"/>
            <a:chExt cx="604585" cy="405973"/>
          </a:xfrm>
        </p:grpSpPr>
        <p:grpSp>
          <p:nvGrpSpPr>
            <p:cNvPr id="4937" name="Group 768"/>
            <p:cNvGrpSpPr/>
            <p:nvPr/>
          </p:nvGrpSpPr>
          <p:grpSpPr>
            <a:xfrm>
              <a:off x="0" y="140793"/>
              <a:ext cx="170989" cy="160910"/>
              <a:chOff x="0" y="0"/>
              <a:chExt cx="170988" cy="160909"/>
            </a:xfrm>
          </p:grpSpPr>
          <p:grpSp>
            <p:nvGrpSpPr>
              <p:cNvPr id="4928" name="Freeform 775"/>
              <p:cNvGrpSpPr/>
              <p:nvPr/>
            </p:nvGrpSpPr>
            <p:grpSpPr>
              <a:xfrm>
                <a:off x="0" y="33909"/>
                <a:ext cx="170989" cy="127001"/>
                <a:chOff x="0" y="0"/>
                <a:chExt cx="170988" cy="127000"/>
              </a:xfrm>
            </p:grpSpPr>
            <p:sp>
              <p:nvSpPr>
                <p:cNvPr id="4926" name="Shape"/>
                <p:cNvSpPr/>
                <p:nvPr/>
              </p:nvSpPr>
              <p:spPr>
                <a:xfrm>
                  <a:off x="0" y="31770"/>
                  <a:ext cx="170989" cy="634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27" name="Text"/>
                <p:cNvSpPr txBox="1"/>
                <p:nvPr/>
              </p:nvSpPr>
              <p:spPr>
                <a:xfrm>
                  <a:off x="47307" y="0"/>
                  <a:ext cx="76375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4931" name="Oval 776"/>
              <p:cNvGrpSpPr/>
              <p:nvPr/>
            </p:nvGrpSpPr>
            <p:grpSpPr>
              <a:xfrm>
                <a:off x="98" y="0"/>
                <a:ext cx="170783" cy="127000"/>
                <a:chOff x="0" y="0"/>
                <a:chExt cx="170782" cy="127000"/>
              </a:xfrm>
            </p:grpSpPr>
            <p:sp>
              <p:nvSpPr>
                <p:cNvPr id="4929" name="Oval"/>
                <p:cNvSpPr/>
                <p:nvPr/>
              </p:nvSpPr>
              <p:spPr>
                <a:xfrm>
                  <a:off x="0" y="32086"/>
                  <a:ext cx="170783" cy="62829"/>
                </a:xfrm>
                <a:prstGeom prst="ellipse">
                  <a:avLst/>
                </a:prstGeom>
                <a:solidFill>
                  <a:srgbClr val="B8C2C9"/>
                </a:solidFill>
                <a:ln w="317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30" name="Text"/>
                <p:cNvSpPr txBox="1"/>
                <p:nvPr/>
              </p:nvSpPr>
              <p:spPr>
                <a:xfrm>
                  <a:off x="72317" y="0"/>
                  <a:ext cx="26147" cy="127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4936" name="Group 777"/>
              <p:cNvGrpSpPr/>
              <p:nvPr/>
            </p:nvGrpSpPr>
            <p:grpSpPr>
              <a:xfrm>
                <a:off x="25359" y="40071"/>
                <a:ext cx="120239" cy="46166"/>
                <a:chOff x="0" y="0"/>
                <a:chExt cx="120238" cy="46164"/>
              </a:xfrm>
            </p:grpSpPr>
            <p:sp>
              <p:nvSpPr>
                <p:cNvPr id="4932" name="Freeform 778"/>
                <p:cNvSpPr/>
                <p:nvPr/>
              </p:nvSpPr>
              <p:spPr>
                <a:xfrm>
                  <a:off x="3325" y="-1"/>
                  <a:ext cx="113745" cy="258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33" name="Freeform 779"/>
                <p:cNvSpPr/>
                <p:nvPr/>
              </p:nvSpPr>
              <p:spPr>
                <a:xfrm>
                  <a:off x="77771" y="22104"/>
                  <a:ext cx="42468" cy="22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34" name="Freeform 780"/>
                <p:cNvSpPr/>
                <p:nvPr/>
              </p:nvSpPr>
              <p:spPr>
                <a:xfrm>
                  <a:off x="0" y="22104"/>
                  <a:ext cx="41700" cy="219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35" name="Freeform 781"/>
                <p:cNvSpPr/>
                <p:nvPr/>
              </p:nvSpPr>
              <p:spPr>
                <a:xfrm>
                  <a:off x="14476" y="11239"/>
                  <a:ext cx="90669" cy="34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4943" name="Group 769"/>
            <p:cNvGrpSpPr/>
            <p:nvPr/>
          </p:nvGrpSpPr>
          <p:grpSpPr>
            <a:xfrm>
              <a:off x="180862" y="-1"/>
              <a:ext cx="423725" cy="405975"/>
              <a:chOff x="0" y="0"/>
              <a:chExt cx="423723" cy="405973"/>
            </a:xfrm>
          </p:grpSpPr>
          <p:sp>
            <p:nvSpPr>
              <p:cNvPr id="4938" name="Straight Connector 770"/>
              <p:cNvSpPr/>
              <p:nvPr/>
            </p:nvSpPr>
            <p:spPr>
              <a:xfrm>
                <a:off x="0" y="216155"/>
                <a:ext cx="16110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4942" name="Group 771"/>
              <p:cNvGrpSpPr/>
              <p:nvPr/>
            </p:nvGrpSpPr>
            <p:grpSpPr>
              <a:xfrm>
                <a:off x="118936" y="0"/>
                <a:ext cx="304788" cy="405974"/>
                <a:chOff x="0" y="0"/>
                <a:chExt cx="304787" cy="405973"/>
              </a:xfrm>
            </p:grpSpPr>
            <p:pic>
              <p:nvPicPr>
                <p:cNvPr id="4939" name="Picture 772" descr="Picture 772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76272" y="59397"/>
                  <a:ext cx="128516" cy="3137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4940" name="Picture 773" descr="Picture 773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-1" y="52605"/>
                  <a:ext cx="128517" cy="3137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4941" name="Picture 774" descr="Picture 774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74200" y="0"/>
                  <a:ext cx="166308" cy="40597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</p:grpSp>
      <p:pic>
        <p:nvPicPr>
          <p:cNvPr id="4945" name="Picture 2" descr="Picture 2"/>
          <p:cNvPicPr>
            <a:picLocks noChangeAspect="1"/>
          </p:cNvPicPr>
          <p:nvPr/>
        </p:nvPicPr>
        <p:blipFill>
          <a:blip r:embed="rId23">
            <a:extLst/>
          </a:blip>
          <a:stretch>
            <a:fillRect/>
          </a:stretch>
        </p:blipFill>
        <p:spPr>
          <a:xfrm>
            <a:off x="927848" y="3263334"/>
            <a:ext cx="4773706" cy="2363234"/>
          </a:xfrm>
          <a:prstGeom prst="rect">
            <a:avLst/>
          </a:prstGeom>
          <a:ln w="12700">
            <a:miter lim="400000"/>
          </a:ln>
        </p:spPr>
      </p:pic>
      <p:sp>
        <p:nvSpPr>
          <p:cNvPr id="4946" name="TextBox 3"/>
          <p:cNvSpPr txBox="1"/>
          <p:nvPr/>
        </p:nvSpPr>
        <p:spPr>
          <a:xfrm>
            <a:off x="906330" y="5688105"/>
            <a:ext cx="5018444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400"/>
            </a:pPr>
            <a:r>
              <a:t>Courtesy: </a:t>
            </a:r>
            <a:r>
              <a:rPr i="0"/>
              <a:t>Massachusetts Green High Performance Computing Center (mghpcc.org)</a:t>
            </a:r>
          </a:p>
        </p:txBody>
      </p:sp>
      <p:sp>
        <p:nvSpPr>
          <p:cNvPr id="4947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9" name="Title 1"/>
          <p:cNvSpPr txBox="1"/>
          <p:nvPr>
            <p:ph type="title"/>
          </p:nvPr>
        </p:nvSpPr>
        <p:spPr>
          <a:xfrm>
            <a:off x="848710" y="273145"/>
            <a:ext cx="10515601" cy="894624"/>
          </a:xfrm>
          <a:prstGeom prst="rect">
            <a:avLst/>
          </a:prstGeom>
        </p:spPr>
        <p:txBody>
          <a:bodyPr/>
          <a:lstStyle/>
          <a:p>
            <a:pPr>
              <a:defRPr sz="5400"/>
            </a:pPr>
            <a:r>
              <a:t>Host: sends </a:t>
            </a:r>
            <a:r>
              <a:rPr i="1"/>
              <a:t>packets</a:t>
            </a:r>
            <a:r>
              <a:t> of data</a:t>
            </a:r>
          </a:p>
        </p:txBody>
      </p:sp>
      <p:sp>
        <p:nvSpPr>
          <p:cNvPr id="4950" name="Content Placeholder 52"/>
          <p:cNvSpPr txBox="1"/>
          <p:nvPr/>
        </p:nvSpPr>
        <p:spPr>
          <a:xfrm>
            <a:off x="894429" y="1286476"/>
            <a:ext cx="5410181" cy="467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  <a:r>
              <a:t>host sending function: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takes application message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breaks into smaller chunks, known as </a:t>
            </a:r>
            <a:r>
              <a:rPr i="1">
                <a:solidFill>
                  <a:srgbClr val="C00000"/>
                </a:solidFill>
              </a:rPr>
              <a:t>packets</a:t>
            </a:r>
            <a:r>
              <a:t>, of length </a:t>
            </a:r>
            <a:r>
              <a:rPr i="1">
                <a:solidFill>
                  <a:srgbClr val="C00000"/>
                </a:solidFill>
              </a:rPr>
              <a:t>L</a:t>
            </a:r>
            <a:r>
              <a:t> bits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transmits packet into access network at </a:t>
            </a:r>
            <a:r>
              <a:rPr i="1">
                <a:solidFill>
                  <a:srgbClr val="C00000"/>
                </a:solidFill>
              </a:rPr>
              <a:t>transmission rate R</a:t>
            </a:r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link transmission rate, aka link </a:t>
            </a:r>
            <a:r>
              <a:rPr i="1">
                <a:solidFill>
                  <a:srgbClr val="C00000"/>
                </a:solidFill>
              </a:rPr>
              <a:t>capacity, aka link bandwidth</a:t>
            </a:r>
          </a:p>
        </p:txBody>
      </p:sp>
      <p:grpSp>
        <p:nvGrpSpPr>
          <p:cNvPr id="4954" name="Group 219"/>
          <p:cNvGrpSpPr/>
          <p:nvPr/>
        </p:nvGrpSpPr>
        <p:grpSpPr>
          <a:xfrm>
            <a:off x="7825116" y="3017234"/>
            <a:ext cx="409576" cy="565150"/>
            <a:chOff x="0" y="0"/>
            <a:chExt cx="409574" cy="565149"/>
          </a:xfrm>
        </p:grpSpPr>
        <p:sp>
          <p:nvSpPr>
            <p:cNvPr id="4951" name="Freeform 111"/>
            <p:cNvSpPr/>
            <p:nvPr/>
          </p:nvSpPr>
          <p:spPr>
            <a:xfrm>
              <a:off x="-1" y="-1"/>
              <a:ext cx="317501" cy="563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12027"/>
                  </a:lnTo>
                  <a:lnTo>
                    <a:pt x="21600" y="21600"/>
                  </a:lnTo>
                  <a:cubicBezTo>
                    <a:pt x="21565" y="16902"/>
                    <a:pt x="21529" y="12203"/>
                    <a:pt x="21494" y="75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52" name="Freeform 112"/>
            <p:cNvSpPr/>
            <p:nvPr/>
          </p:nvSpPr>
          <p:spPr>
            <a:xfrm>
              <a:off x="-1" y="3174"/>
              <a:ext cx="407988" cy="203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1" fill="norm" stroke="1" extrusionOk="0">
                  <a:moveTo>
                    <a:pt x="4214" y="16"/>
                  </a:moveTo>
                  <a:cubicBezTo>
                    <a:pt x="2809" y="11"/>
                    <a:pt x="4075" y="189"/>
                    <a:pt x="0" y="0"/>
                  </a:cubicBezTo>
                  <a:lnTo>
                    <a:pt x="16656" y="21446"/>
                  </a:lnTo>
                  <a:cubicBezTo>
                    <a:pt x="19288" y="21600"/>
                    <a:pt x="18084" y="21401"/>
                    <a:pt x="21600" y="21581"/>
                  </a:cubicBezTo>
                  <a:lnTo>
                    <a:pt x="4214" y="16"/>
                  </a:lnTo>
                  <a:close/>
                </a:path>
              </a:pathLst>
            </a:custGeom>
            <a:solidFill>
              <a:srgbClr val="0099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53" name="Rectangle 113"/>
            <p:cNvSpPr/>
            <p:nvPr/>
          </p:nvSpPr>
          <p:spPr>
            <a:xfrm>
              <a:off x="312736" y="206375"/>
              <a:ext cx="96839" cy="358775"/>
            </a:xfrm>
            <a:prstGeom prst="rect">
              <a:avLst/>
            </a:prstGeom>
            <a:solidFill>
              <a:srgbClr val="DAE3F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955" name="Line 305"/>
          <p:cNvSpPr/>
          <p:nvPr/>
        </p:nvSpPr>
        <p:spPr>
          <a:xfrm>
            <a:off x="8248978" y="3941159"/>
            <a:ext cx="2454276" cy="1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56" name="TextBox 1"/>
          <p:cNvSpPr txBox="1"/>
          <p:nvPr/>
        </p:nvSpPr>
        <p:spPr>
          <a:xfrm>
            <a:off x="8582698" y="4435964"/>
            <a:ext cx="3060314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 sz="2400">
                <a:solidFill>
                  <a:srgbClr val="C00000"/>
                </a:solidFill>
              </a:defRPr>
            </a:pPr>
            <a:r>
              <a:t>R: </a:t>
            </a:r>
            <a:r>
              <a:rPr i="0">
                <a:solidFill>
                  <a:srgbClr val="000000"/>
                </a:solidFill>
              </a:rPr>
              <a:t>link transmission rate</a:t>
            </a:r>
          </a:p>
        </p:txBody>
      </p:sp>
      <p:grpSp>
        <p:nvGrpSpPr>
          <p:cNvPr id="4960" name="Group 201"/>
          <p:cNvGrpSpPr/>
          <p:nvPr/>
        </p:nvGrpSpPr>
        <p:grpSpPr>
          <a:xfrm>
            <a:off x="7577466" y="3023584"/>
            <a:ext cx="409576" cy="565151"/>
            <a:chOff x="0" y="0"/>
            <a:chExt cx="409574" cy="565150"/>
          </a:xfrm>
        </p:grpSpPr>
        <p:sp>
          <p:nvSpPr>
            <p:cNvPr id="4957" name="Freeform 123"/>
            <p:cNvSpPr/>
            <p:nvPr/>
          </p:nvSpPr>
          <p:spPr>
            <a:xfrm>
              <a:off x="-1" y="-1"/>
              <a:ext cx="317501" cy="565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12027"/>
                  </a:lnTo>
                  <a:lnTo>
                    <a:pt x="21600" y="21600"/>
                  </a:lnTo>
                  <a:cubicBezTo>
                    <a:pt x="21565" y="16902"/>
                    <a:pt x="21529" y="12203"/>
                    <a:pt x="21494" y="75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58" name="Freeform 124"/>
            <p:cNvSpPr/>
            <p:nvPr/>
          </p:nvSpPr>
          <p:spPr>
            <a:xfrm>
              <a:off x="-1" y="3174"/>
              <a:ext cx="407988" cy="203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1" fill="norm" stroke="1" extrusionOk="0">
                  <a:moveTo>
                    <a:pt x="4214" y="16"/>
                  </a:moveTo>
                  <a:cubicBezTo>
                    <a:pt x="2809" y="11"/>
                    <a:pt x="4075" y="189"/>
                    <a:pt x="0" y="0"/>
                  </a:cubicBezTo>
                  <a:lnTo>
                    <a:pt x="16656" y="21446"/>
                  </a:lnTo>
                  <a:cubicBezTo>
                    <a:pt x="19288" y="21600"/>
                    <a:pt x="18084" y="21401"/>
                    <a:pt x="21600" y="21581"/>
                  </a:cubicBezTo>
                  <a:lnTo>
                    <a:pt x="4214" y="16"/>
                  </a:lnTo>
                  <a:close/>
                </a:path>
              </a:pathLst>
            </a:custGeom>
            <a:solidFill>
              <a:srgbClr val="0099C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59" name="Rectangle 125"/>
            <p:cNvSpPr/>
            <p:nvPr/>
          </p:nvSpPr>
          <p:spPr>
            <a:xfrm>
              <a:off x="312736" y="203199"/>
              <a:ext cx="96839" cy="360364"/>
            </a:xfrm>
            <a:prstGeom prst="rect">
              <a:avLst/>
            </a:prstGeom>
            <a:solidFill>
              <a:srgbClr val="DAE3F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961" name="TextBox 205"/>
          <p:cNvSpPr txBox="1"/>
          <p:nvPr/>
        </p:nvSpPr>
        <p:spPr>
          <a:xfrm>
            <a:off x="7380298" y="4199921"/>
            <a:ext cx="553106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host</a:t>
            </a:r>
          </a:p>
        </p:txBody>
      </p:sp>
      <p:grpSp>
        <p:nvGrpSpPr>
          <p:cNvPr id="4964" name="Group 206"/>
          <p:cNvGrpSpPr/>
          <p:nvPr/>
        </p:nvGrpSpPr>
        <p:grpSpPr>
          <a:xfrm>
            <a:off x="7102803" y="3582073"/>
            <a:ext cx="1295401" cy="673411"/>
            <a:chOff x="0" y="0"/>
            <a:chExt cx="1295400" cy="673410"/>
          </a:xfrm>
        </p:grpSpPr>
        <p:pic>
          <p:nvPicPr>
            <p:cNvPr id="4962" name="Picture 8" descr="Picture 8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182873"/>
              <a:ext cx="1295400" cy="4905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963" name="Rectangle 129"/>
            <p:cNvSpPr/>
            <p:nvPr/>
          </p:nvSpPr>
          <p:spPr>
            <a:xfrm rot="1049095">
              <a:off x="92075" y="166998"/>
              <a:ext cx="1160463" cy="317500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FFFFFF">
                    <a:alpha val="4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967" name="Group 209"/>
          <p:cNvGrpSpPr/>
          <p:nvPr/>
        </p:nvGrpSpPr>
        <p:grpSpPr>
          <a:xfrm>
            <a:off x="7228015" y="2132996"/>
            <a:ext cx="1438677" cy="1009881"/>
            <a:chOff x="0" y="0"/>
            <a:chExt cx="1438675" cy="1009879"/>
          </a:xfrm>
        </p:grpSpPr>
        <p:pic>
          <p:nvPicPr>
            <p:cNvPr id="4965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70062" y="0"/>
              <a:ext cx="1022352" cy="8778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966" name="Rectangle 132"/>
            <p:cNvSpPr/>
            <p:nvPr/>
          </p:nvSpPr>
          <p:spPr>
            <a:xfrm rot="11601822">
              <a:off x="14487" y="560386"/>
              <a:ext cx="1409701" cy="290514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FFFFFF">
                    <a:alpha val="4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968" name="TextBox 215"/>
          <p:cNvSpPr txBox="1"/>
          <p:nvPr/>
        </p:nvSpPr>
        <p:spPr>
          <a:xfrm>
            <a:off x="8037523" y="3555396"/>
            <a:ext cx="20713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1</a:t>
            </a:r>
          </a:p>
        </p:txBody>
      </p:sp>
      <p:sp>
        <p:nvSpPr>
          <p:cNvPr id="4969" name="TextBox 216"/>
          <p:cNvSpPr txBox="1"/>
          <p:nvPr/>
        </p:nvSpPr>
        <p:spPr>
          <a:xfrm>
            <a:off x="7796223" y="3563334"/>
            <a:ext cx="20713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2</a:t>
            </a:r>
          </a:p>
        </p:txBody>
      </p:sp>
      <p:sp>
        <p:nvSpPr>
          <p:cNvPr id="4970" name="Straight Connector 3"/>
          <p:cNvSpPr/>
          <p:nvPr/>
        </p:nvSpPr>
        <p:spPr>
          <a:xfrm flipV="1">
            <a:off x="8241041" y="2577496"/>
            <a:ext cx="1225551" cy="5651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71" name="TextBox 234"/>
          <p:cNvSpPr txBox="1"/>
          <p:nvPr/>
        </p:nvSpPr>
        <p:spPr>
          <a:xfrm>
            <a:off x="9450398" y="2228246"/>
            <a:ext cx="1730981" cy="760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/>
            </a:pPr>
            <a:r>
              <a:t>two packets,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i="1" sz="2400">
                <a:solidFill>
                  <a:srgbClr val="C00000"/>
                </a:solidFill>
              </a:defRPr>
            </a:pPr>
            <a:r>
              <a:t>L</a:t>
            </a:r>
            <a:r>
              <a:rPr i="0">
                <a:solidFill>
                  <a:srgbClr val="000000"/>
                </a:solidFill>
              </a:rPr>
              <a:t> bits each</a:t>
            </a:r>
          </a:p>
        </p:txBody>
      </p:sp>
      <p:grpSp>
        <p:nvGrpSpPr>
          <p:cNvPr id="4979" name="Group 137"/>
          <p:cNvGrpSpPr/>
          <p:nvPr/>
        </p:nvGrpSpPr>
        <p:grpSpPr>
          <a:xfrm>
            <a:off x="10506147" y="3669119"/>
            <a:ext cx="1200247" cy="477407"/>
            <a:chOff x="0" y="0"/>
            <a:chExt cx="1200246" cy="477405"/>
          </a:xfrm>
        </p:grpSpPr>
        <p:sp>
          <p:nvSpPr>
            <p:cNvPr id="4972" name="Rectangle 138"/>
            <p:cNvSpPr/>
            <p:nvPr/>
          </p:nvSpPr>
          <p:spPr>
            <a:xfrm>
              <a:off x="-1" y="284992"/>
              <a:ext cx="1195931" cy="192414"/>
            </a:xfrm>
            <a:prstGeom prst="rect">
              <a:avLst/>
            </a:prstGeom>
            <a:gradFill flip="none" rotWithShape="1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73" name="Freeform 139"/>
            <p:cNvSpPr/>
            <p:nvPr/>
          </p:nvSpPr>
          <p:spPr>
            <a:xfrm>
              <a:off x="3324" y="0"/>
              <a:ext cx="1196922" cy="292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429"/>
                  </a:moveTo>
                  <a:lnTo>
                    <a:pt x="1440" y="0"/>
                  </a:lnTo>
                  <a:lnTo>
                    <a:pt x="19500" y="343"/>
                  </a:lnTo>
                  <a:lnTo>
                    <a:pt x="21600" y="21600"/>
                  </a:lnTo>
                  <a:lnTo>
                    <a:pt x="0" y="21429"/>
                  </a:lnTo>
                  <a:close/>
                </a:path>
              </a:pathLst>
            </a:custGeom>
            <a:solidFill>
              <a:srgbClr val="B8C2C9"/>
            </a:solidFill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4978" name="Group 140"/>
            <p:cNvGrpSpPr/>
            <p:nvPr/>
          </p:nvGrpSpPr>
          <p:grpSpPr>
            <a:xfrm>
              <a:off x="86444" y="34030"/>
              <a:ext cx="1012922" cy="235075"/>
              <a:chOff x="0" y="0"/>
              <a:chExt cx="1012921" cy="235074"/>
            </a:xfrm>
          </p:grpSpPr>
          <p:sp>
            <p:nvSpPr>
              <p:cNvPr id="4974" name="Freeform 141"/>
              <p:cNvSpPr/>
              <p:nvPr/>
            </p:nvSpPr>
            <p:spPr>
              <a:xfrm>
                <a:off x="28017" y="-1"/>
                <a:ext cx="958204" cy="1315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975" name="Freeform 142"/>
              <p:cNvSpPr/>
              <p:nvPr/>
            </p:nvSpPr>
            <p:spPr>
              <a:xfrm>
                <a:off x="655166" y="112560"/>
                <a:ext cx="357756" cy="1132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976" name="Freeform 143"/>
              <p:cNvSpPr/>
              <p:nvPr/>
            </p:nvSpPr>
            <p:spPr>
              <a:xfrm>
                <a:off x="0" y="112560"/>
                <a:ext cx="351290" cy="111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977" name="Freeform 144"/>
              <p:cNvSpPr/>
              <p:nvPr/>
            </p:nvSpPr>
            <p:spPr>
              <a:xfrm>
                <a:off x="121950" y="57231"/>
                <a:ext cx="763816" cy="177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4980" name="Straight Connector 3"/>
          <p:cNvSpPr/>
          <p:nvPr/>
        </p:nvSpPr>
        <p:spPr>
          <a:xfrm flipV="1">
            <a:off x="9264978" y="4020904"/>
            <a:ext cx="1" cy="45831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81" name="Right Arrow 2"/>
          <p:cNvSpPr/>
          <p:nvPr/>
        </p:nvSpPr>
        <p:spPr>
          <a:xfrm>
            <a:off x="8311694" y="3223689"/>
            <a:ext cx="978410" cy="260094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F6F8FC"/>
              </a:gs>
              <a:gs pos="35000">
                <a:srgbClr val="DAE3F3"/>
              </a:gs>
              <a:gs pos="68000">
                <a:srgbClr val="ABC0E4"/>
              </a:gs>
              <a:gs pos="100000">
                <a:srgbClr val="0000A8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988" name="Group 1"/>
          <p:cNvGrpSpPr/>
          <p:nvPr/>
        </p:nvGrpSpPr>
        <p:grpSpPr>
          <a:xfrm>
            <a:off x="2589672" y="5251753"/>
            <a:ext cx="6345339" cy="1078370"/>
            <a:chOff x="0" y="0"/>
            <a:chExt cx="6345338" cy="1078368"/>
          </a:xfrm>
        </p:grpSpPr>
        <p:sp>
          <p:nvSpPr>
            <p:cNvPr id="4982" name="TextBox 235"/>
            <p:cNvSpPr txBox="1"/>
            <p:nvPr/>
          </p:nvSpPr>
          <p:spPr>
            <a:xfrm>
              <a:off x="0" y="8057"/>
              <a:ext cx="1674277" cy="1038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r">
                <a:lnSpc>
                  <a:spcPct val="85000"/>
                </a:lnSpc>
                <a:defRPr sz="2400"/>
              </a:pPr>
              <a:r>
                <a:t>packet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r">
                <a:lnSpc>
                  <a:spcPct val="85000"/>
                </a:lnSpc>
                <a:defRPr sz="2400"/>
              </a:pPr>
              <a:r>
                <a:t>transmission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r">
                <a:lnSpc>
                  <a:spcPct val="85000"/>
                </a:lnSpc>
                <a:defRPr sz="2400"/>
              </a:pPr>
              <a:r>
                <a:t>delay</a:t>
              </a:r>
            </a:p>
          </p:txBody>
        </p:sp>
        <p:sp>
          <p:nvSpPr>
            <p:cNvPr id="4983" name="TextBox 237"/>
            <p:cNvSpPr txBox="1"/>
            <p:nvPr/>
          </p:nvSpPr>
          <p:spPr>
            <a:xfrm>
              <a:off x="2238432" y="39607"/>
              <a:ext cx="2004379" cy="1038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ct val="85000"/>
                </a:lnSpc>
                <a:defRPr sz="2400"/>
              </a:pPr>
              <a:r>
                <a:t>time needed to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  <a:defRPr sz="2400"/>
              </a:pPr>
              <a:r>
                <a:t>transmit </a:t>
              </a:r>
              <a:r>
                <a:rPr i="1"/>
                <a:t>L</a:t>
              </a:r>
              <a:r>
                <a:t>-bit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  <a:defRPr sz="2400"/>
              </a:pPr>
              <a:r>
                <a:t>packet into link</a:t>
              </a:r>
            </a:p>
          </p:txBody>
        </p:sp>
        <p:sp>
          <p:nvSpPr>
            <p:cNvPr id="4984" name="TextBox 4"/>
            <p:cNvSpPr txBox="1"/>
            <p:nvPr/>
          </p:nvSpPr>
          <p:spPr>
            <a:xfrm>
              <a:off x="4972066" y="0"/>
              <a:ext cx="1373273" cy="9923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i="1" sz="3200"/>
              </a:pPr>
              <a:r>
                <a:t>L</a:t>
              </a:r>
              <a:r>
                <a:rPr i="0"/>
                <a:t> </a:t>
              </a:r>
              <a:r>
                <a:rPr i="0" sz="2000"/>
                <a:t>(bits)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>
                <a:defRPr i="1" sz="3200"/>
              </a:pPr>
              <a:r>
                <a:t>R</a:t>
              </a:r>
              <a:r>
                <a:rPr i="0"/>
                <a:t> </a:t>
              </a:r>
              <a:r>
                <a:rPr i="0" sz="2000"/>
                <a:t>(bits/sec)</a:t>
              </a:r>
            </a:p>
          </p:txBody>
        </p:sp>
        <p:sp>
          <p:nvSpPr>
            <p:cNvPr id="4985" name="Straight Connector 9"/>
            <p:cNvSpPr/>
            <p:nvPr/>
          </p:nvSpPr>
          <p:spPr>
            <a:xfrm>
              <a:off x="5013658" y="545219"/>
              <a:ext cx="28687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86" name="TextBox 10"/>
            <p:cNvSpPr txBox="1"/>
            <p:nvPr/>
          </p:nvSpPr>
          <p:spPr>
            <a:xfrm>
              <a:off x="1792554" y="225860"/>
              <a:ext cx="306548" cy="497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pPr/>
              <a:r>
                <a:t>=</a:t>
              </a:r>
            </a:p>
          </p:txBody>
        </p:sp>
        <p:sp>
          <p:nvSpPr>
            <p:cNvPr id="4987" name="TextBox 245"/>
            <p:cNvSpPr txBox="1"/>
            <p:nvPr/>
          </p:nvSpPr>
          <p:spPr>
            <a:xfrm>
              <a:off x="4375166" y="233142"/>
              <a:ext cx="306548" cy="497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/>
              </a:lvl1pPr>
            </a:lstStyle>
            <a:p>
              <a:pPr/>
              <a:r>
                <a:t>=</a:t>
              </a:r>
            </a:p>
          </p:txBody>
        </p:sp>
      </p:grpSp>
      <p:sp>
        <p:nvSpPr>
          <p:cNvPr id="4989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9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49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988" grpId="2"/>
      <p:bldP build="p" bldLvl="5" animBg="1" rev="0" advAuto="0" spid="495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1" name="Title 1"/>
          <p:cNvSpPr txBox="1"/>
          <p:nvPr>
            <p:ph type="title"/>
          </p:nvPr>
        </p:nvSpPr>
        <p:spPr>
          <a:xfrm>
            <a:off x="848710" y="273145"/>
            <a:ext cx="10515601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Links: physical media</a:t>
            </a:r>
          </a:p>
        </p:txBody>
      </p:sp>
      <p:sp>
        <p:nvSpPr>
          <p:cNvPr id="4992" name="Rectangle 3"/>
          <p:cNvSpPr txBox="1"/>
          <p:nvPr/>
        </p:nvSpPr>
        <p:spPr>
          <a:xfrm>
            <a:off x="998220" y="1671910"/>
            <a:ext cx="4547563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81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CC0000"/>
                </a:solidFill>
              </a:defRPr>
            </a:pPr>
            <a:r>
              <a:t>bit:</a:t>
            </a:r>
            <a:r>
              <a:rPr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propagates between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transmitter/receiver pairs</a:t>
            </a:r>
            <a:endParaRPr>
              <a:solidFill>
                <a:srgbClr val="FF0000"/>
              </a:solidFill>
            </a:endParaRPr>
          </a:p>
          <a:p>
            <a:pPr marL="287338" indent="-287338">
              <a:lnSpc>
                <a:spcPct val="81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CC0000"/>
                </a:solidFill>
              </a:defRPr>
            </a:pPr>
            <a:r>
              <a:t>physical link:</a:t>
            </a:r>
            <a:r>
              <a:rPr>
                <a:solidFill>
                  <a:srgbClr val="000000"/>
                </a:solidFill>
              </a:rPr>
              <a:t> what lies between transmitter &amp; receiver</a:t>
            </a:r>
          </a:p>
          <a:p>
            <a:pPr marL="287338" indent="-287338">
              <a:lnSpc>
                <a:spcPct val="81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CC0000"/>
                </a:solidFill>
              </a:defRPr>
            </a:pPr>
            <a:r>
              <a:t>guided media: </a:t>
            </a:r>
          </a:p>
          <a:p>
            <a:pPr lvl="1" marL="682625" indent="-225425">
              <a:lnSpc>
                <a:spcPct val="81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signals propagate in solid media: copper, fiber, coax</a:t>
            </a:r>
            <a:endParaRPr sz="2400"/>
          </a:p>
          <a:p>
            <a:pPr marL="287338" indent="-287338">
              <a:lnSpc>
                <a:spcPct val="81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CC0000"/>
                </a:solidFill>
              </a:defRPr>
            </a:pPr>
            <a:r>
              <a:t>unguided media:</a:t>
            </a:r>
            <a:r>
              <a:rPr>
                <a:solidFill>
                  <a:srgbClr val="000000"/>
                </a:solidFill>
              </a:rPr>
              <a:t> </a:t>
            </a:r>
          </a:p>
          <a:p>
            <a:pPr lvl="1" marL="682625" indent="-225425">
              <a:lnSpc>
                <a:spcPct val="81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signals propagate freely, e.g., radio</a:t>
            </a:r>
          </a:p>
        </p:txBody>
      </p:sp>
      <p:grpSp>
        <p:nvGrpSpPr>
          <p:cNvPr id="4996" name="Group 1"/>
          <p:cNvGrpSpPr/>
          <p:nvPr/>
        </p:nvGrpSpPr>
        <p:grpSpPr>
          <a:xfrm>
            <a:off x="6333223" y="1671910"/>
            <a:ext cx="5077333" cy="3611288"/>
            <a:chOff x="0" y="0"/>
            <a:chExt cx="5077331" cy="3611286"/>
          </a:xfrm>
        </p:grpSpPr>
        <p:sp>
          <p:nvSpPr>
            <p:cNvPr id="4993" name="Rectangle 4"/>
            <p:cNvSpPr txBox="1"/>
            <p:nvPr/>
          </p:nvSpPr>
          <p:spPr>
            <a:xfrm>
              <a:off x="123533" y="0"/>
              <a:ext cx="4953800" cy="3346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 marL="342900" indent="-333375">
                <a:lnSpc>
                  <a:spcPct val="90000"/>
                </a:lnSpc>
                <a:spcBef>
                  <a:spcPts val="1000"/>
                </a:spcBef>
                <a:defRPr sz="3200">
                  <a:solidFill>
                    <a:srgbClr val="CC0000"/>
                  </a:solidFill>
                </a:defRPr>
              </a:pPr>
              <a:r>
                <a:t>Twisted pair (TP</a:t>
              </a:r>
              <a:r>
                <a:rPr>
                  <a:solidFill>
                    <a:srgbClr val="FF0000"/>
                  </a:solidFill>
                </a:rPr>
                <a:t>)</a:t>
              </a:r>
            </a:p>
            <a:p>
              <a:pPr marL="228600" indent="-228600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SzPct val="100000"/>
                <a:buChar char="▪"/>
                <a:defRPr sz="2400"/>
              </a:pPr>
              <a:r>
                <a:t>two insulated copper wires</a:t>
              </a:r>
              <a:endParaRPr sz="2800"/>
            </a:p>
            <a:p>
              <a:pPr lvl="1" marL="682625" indent="-231775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SzPct val="100000"/>
                <a:buFont typeface="Arial"/>
                <a:buChar char="•"/>
                <a:defRPr sz="2000"/>
              </a:pPr>
              <a:r>
                <a:t>Category 5: 100 Mbps, 1 Gbps Ethernet</a:t>
              </a:r>
              <a:endParaRPr sz="2400"/>
            </a:p>
            <a:p>
              <a:pPr lvl="1" marL="682625" indent="-231775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SzPct val="100000"/>
                <a:buFont typeface="Arial"/>
                <a:buChar char="•"/>
                <a:defRPr sz="2000"/>
              </a:pPr>
              <a:r>
                <a:t>Category 6: 10Gbps Ethernet</a:t>
              </a:r>
            </a:p>
          </p:txBody>
        </p:sp>
        <p:pic>
          <p:nvPicPr>
            <p:cNvPr id="4994" name="Picture 2" descr="Picture 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1804750"/>
              <a:ext cx="2220036" cy="17094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95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671953" y="1922460"/>
              <a:ext cx="2359135" cy="16888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997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996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9" name="Title 1"/>
          <p:cNvSpPr txBox="1"/>
          <p:nvPr>
            <p:ph type="title"/>
          </p:nvPr>
        </p:nvSpPr>
        <p:spPr>
          <a:xfrm>
            <a:off x="848710" y="273145"/>
            <a:ext cx="10515601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Links: physical media</a:t>
            </a:r>
          </a:p>
        </p:txBody>
      </p:sp>
      <p:sp>
        <p:nvSpPr>
          <p:cNvPr id="5000" name="Rectangle 3"/>
          <p:cNvSpPr txBox="1"/>
          <p:nvPr/>
        </p:nvSpPr>
        <p:spPr>
          <a:xfrm>
            <a:off x="1027981" y="1320919"/>
            <a:ext cx="4787535" cy="4327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19075" indent="-209550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CC0000"/>
                </a:solidFill>
              </a:defRPr>
            </a:pPr>
            <a:r>
              <a:t>Coaxial cable:</a:t>
            </a:r>
            <a:endParaRPr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two concentric copper conductors</a:t>
            </a:r>
            <a:endParaRPr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bidirectional</a:t>
            </a:r>
            <a:endParaRPr sz="28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broadband:</a:t>
            </a:r>
            <a:endParaRPr sz="2800"/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000"/>
            </a:pPr>
            <a:r>
              <a:t>multiple frequency channels on cable</a:t>
            </a:r>
            <a:endParaRPr sz="2400"/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000"/>
            </a:pPr>
            <a:r>
              <a:t>100’s Mbps per channel</a:t>
            </a:r>
          </a:p>
        </p:txBody>
      </p:sp>
      <p:pic>
        <p:nvPicPr>
          <p:cNvPr id="500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2692153">
            <a:off x="1742089" y="3834600"/>
            <a:ext cx="1854420" cy="185442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04" name="Group 1"/>
          <p:cNvGrpSpPr/>
          <p:nvPr/>
        </p:nvGrpSpPr>
        <p:grpSpPr>
          <a:xfrm>
            <a:off x="6406246" y="1276574"/>
            <a:ext cx="5510850" cy="5319639"/>
            <a:chOff x="0" y="0"/>
            <a:chExt cx="5510848" cy="5319638"/>
          </a:xfrm>
        </p:grpSpPr>
        <p:sp>
          <p:nvSpPr>
            <p:cNvPr id="5002" name="Rectangle 5"/>
            <p:cNvSpPr txBox="1"/>
            <p:nvPr/>
          </p:nvSpPr>
          <p:spPr>
            <a:xfrm>
              <a:off x="0" y="0"/>
              <a:ext cx="5510850" cy="3588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indent="-342900">
                <a:spcBef>
                  <a:spcPts val="700"/>
                </a:spcBef>
                <a:defRPr sz="3200">
                  <a:solidFill>
                    <a:srgbClr val="CC0000"/>
                  </a:solidFill>
                </a:defRPr>
              </a:pPr>
              <a:r>
                <a:t>Fiber optic cable: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marL="342900" indent="-342900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Char char="▪"/>
                <a:defRPr sz="2400"/>
              </a:pPr>
              <a:r>
                <a:t>glass fiber carrying light pulses, each pulse a bit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marL="342900" indent="-342900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Char char="▪"/>
                <a:defRPr sz="2400"/>
              </a:pPr>
              <a:r>
                <a:t>high-speed operation: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lvl="1" marL="682625" indent="-225425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Arial"/>
                <a:buChar char="•"/>
                <a:defRPr sz="2400"/>
              </a:pPr>
              <a:r>
                <a:t>high-speed point-to-point transmission (10’s-100’s Gbps)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marL="342900" indent="-342900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Char char="▪"/>
                <a:defRPr sz="2400"/>
              </a:pPr>
              <a:r>
                <a:t>low error rate: 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lvl="1" marL="682625" indent="-225425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Arial"/>
                <a:buChar char="•"/>
                <a:defRPr sz="2400"/>
              </a:pPr>
              <a:r>
                <a:t>repeaters spaced far apart 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lvl="1" marL="682625" indent="-225425">
                <a:lnSpc>
                  <a:spcPct val="85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Arial"/>
                <a:buChar char="•"/>
                <a:defRPr sz="2400"/>
              </a:pPr>
              <a:r>
                <a:t>immune to electromagnetic noise</a:t>
              </a:r>
            </a:p>
          </p:txBody>
        </p:sp>
        <p:pic>
          <p:nvPicPr>
            <p:cNvPr id="5003" name="Picture 2" descr="Picture 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8871" y="3424103"/>
              <a:ext cx="2872375" cy="18955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00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0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" name="Title 1"/>
          <p:cNvSpPr txBox="1"/>
          <p:nvPr>
            <p:ph type="title"/>
          </p:nvPr>
        </p:nvSpPr>
        <p:spPr>
          <a:xfrm>
            <a:off x="848710" y="273145"/>
            <a:ext cx="10515601" cy="894624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Links: physical media</a:t>
            </a:r>
          </a:p>
        </p:txBody>
      </p:sp>
      <p:sp>
        <p:nvSpPr>
          <p:cNvPr id="5008" name="Rectangle 3"/>
          <p:cNvSpPr txBox="1"/>
          <p:nvPr/>
        </p:nvSpPr>
        <p:spPr>
          <a:xfrm>
            <a:off x="998219" y="1354420"/>
            <a:ext cx="4859320" cy="487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886968">
              <a:lnSpc>
                <a:spcPct val="81000"/>
              </a:lnSpc>
              <a:spcBef>
                <a:spcPts val="900"/>
              </a:spcBef>
              <a:defRPr sz="3104">
                <a:solidFill>
                  <a:srgbClr val="C00000"/>
                </a:solidFill>
              </a:defRPr>
            </a:pPr>
            <a:r>
              <a:t>Wireless radio</a:t>
            </a:r>
            <a:endParaRPr sz="2716"/>
          </a:p>
          <a:p>
            <a:pPr marL="335692" indent="-275638" defTabSz="886968">
              <a:lnSpc>
                <a:spcPct val="81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sz="2716"/>
            </a:pPr>
            <a:r>
              <a:t>signal carried in various “bands” in electromagnetic spectrum</a:t>
            </a:r>
          </a:p>
          <a:p>
            <a:pPr marL="335692" indent="-275638" defTabSz="886968">
              <a:lnSpc>
                <a:spcPct val="81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sz="2716"/>
            </a:pPr>
            <a:r>
              <a:t>no physical “wire”</a:t>
            </a:r>
          </a:p>
          <a:p>
            <a:pPr marL="335692" indent="-275638" defTabSz="886968">
              <a:lnSpc>
                <a:spcPct val="81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sz="2716"/>
            </a:pPr>
            <a:r>
              <a:t>broadcast, “half-duplex” </a:t>
            </a:r>
            <a:r>
              <a:rPr sz="2328"/>
              <a:t>(sender to receiver)</a:t>
            </a:r>
          </a:p>
          <a:p>
            <a:pPr marL="335692" indent="-275638" defTabSz="886968">
              <a:lnSpc>
                <a:spcPct val="81000"/>
              </a:lnSpc>
              <a:spcBef>
                <a:spcPts val="500"/>
              </a:spcBef>
              <a:buClr>
                <a:srgbClr val="0000A3"/>
              </a:buClr>
              <a:buSzPct val="100000"/>
              <a:buChar char="▪"/>
              <a:defRPr sz="2716"/>
            </a:pPr>
            <a:r>
              <a:t>propagation environment effects:</a:t>
            </a:r>
          </a:p>
          <a:p>
            <a:pPr lvl="1" marL="615950" indent="-223282" defTabSz="886968">
              <a:lnSpc>
                <a:spcPct val="81000"/>
              </a:lnSpc>
              <a:spcBef>
                <a:spcPts val="200"/>
              </a:spcBef>
              <a:buClr>
                <a:srgbClr val="0000A8"/>
              </a:buClr>
              <a:buSzPct val="100000"/>
              <a:buFont typeface="Arial"/>
              <a:buChar char="•"/>
              <a:defRPr sz="2716"/>
            </a:pPr>
            <a:r>
              <a:t>reflection </a:t>
            </a:r>
            <a:endParaRPr sz="2328"/>
          </a:p>
          <a:p>
            <a:pPr lvl="1" marL="615950" indent="-223282" defTabSz="886968">
              <a:lnSpc>
                <a:spcPct val="81000"/>
              </a:lnSpc>
              <a:spcBef>
                <a:spcPts val="200"/>
              </a:spcBef>
              <a:buClr>
                <a:srgbClr val="0000A8"/>
              </a:buClr>
              <a:buSzPct val="100000"/>
              <a:buFont typeface="Arial"/>
              <a:buChar char="•"/>
              <a:defRPr sz="2716"/>
            </a:pPr>
            <a:r>
              <a:t>obstruction by objects</a:t>
            </a:r>
            <a:endParaRPr sz="2328"/>
          </a:p>
          <a:p>
            <a:pPr lvl="1" marL="615950" indent="-223282" defTabSz="886968">
              <a:lnSpc>
                <a:spcPct val="81000"/>
              </a:lnSpc>
              <a:spcBef>
                <a:spcPts val="200"/>
              </a:spcBef>
              <a:buClr>
                <a:srgbClr val="0000A8"/>
              </a:buClr>
              <a:buSzPct val="100000"/>
              <a:buFont typeface="Arial"/>
              <a:buChar char="•"/>
              <a:defRPr sz="2716"/>
            </a:pPr>
            <a:r>
              <a:t>Interference/noise</a:t>
            </a:r>
          </a:p>
        </p:txBody>
      </p:sp>
      <p:sp>
        <p:nvSpPr>
          <p:cNvPr id="5009" name="Rectangle 3"/>
          <p:cNvSpPr txBox="1"/>
          <p:nvPr/>
        </p:nvSpPr>
        <p:spPr>
          <a:xfrm>
            <a:off x="6395281" y="1354420"/>
            <a:ext cx="5521816" cy="5118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332613" indent="-332613" defTabSz="886968">
              <a:lnSpc>
                <a:spcPct val="90000"/>
              </a:lnSpc>
              <a:spcBef>
                <a:spcPts val="700"/>
              </a:spcBef>
              <a:defRPr sz="3104">
                <a:solidFill>
                  <a:srgbClr val="CC0000"/>
                </a:solidFill>
              </a:defRPr>
            </a:pPr>
            <a:r>
              <a:t>Radio link types:</a:t>
            </a:r>
            <a:endParaRPr sz="2716"/>
          </a:p>
          <a:p>
            <a:pPr marL="332613" indent="-272558" defTabSz="886968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Wireless LAN</a:t>
            </a:r>
            <a:r>
              <a:rPr>
                <a:solidFill>
                  <a:srgbClr val="000000"/>
                </a:solidFill>
              </a:rPr>
              <a:t> (WiFi)</a:t>
            </a:r>
          </a:p>
          <a:p>
            <a:pPr lvl="1" marL="615950" indent="-223282" defTabSz="886968">
              <a:lnSpc>
                <a:spcPct val="85000"/>
              </a:lnSpc>
              <a:spcBef>
                <a:spcPts val="500"/>
              </a:spcBef>
              <a:buClr>
                <a:srgbClr val="000099"/>
              </a:buClr>
              <a:buSzPct val="100000"/>
              <a:buFont typeface="Arial"/>
              <a:buChar char="•"/>
              <a:defRPr sz="2328"/>
            </a:pPr>
            <a:r>
              <a:t>10-100’s Mbps; 10’s of meters</a:t>
            </a:r>
          </a:p>
          <a:p>
            <a:pPr marL="332613" indent="-272558" defTabSz="886968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wide-area</a:t>
            </a:r>
            <a:r>
              <a:rPr>
                <a:solidFill>
                  <a:srgbClr val="000000"/>
                </a:solidFill>
              </a:rPr>
              <a:t> (e.g., 4G/5G cellular)</a:t>
            </a:r>
          </a:p>
          <a:p>
            <a:pPr lvl="1" marL="615950" indent="-223282" defTabSz="886968">
              <a:lnSpc>
                <a:spcPct val="85000"/>
              </a:lnSpc>
              <a:spcBef>
                <a:spcPts val="500"/>
              </a:spcBef>
              <a:buClr>
                <a:srgbClr val="000099"/>
              </a:buClr>
              <a:buSzPct val="100000"/>
              <a:buFont typeface="Arial"/>
              <a:buChar char="•"/>
              <a:defRPr sz="2328"/>
            </a:pPr>
            <a:r>
              <a:t>100’s Mbps (4G/5G) over ~10 Km </a:t>
            </a:r>
          </a:p>
          <a:p>
            <a:pPr marL="335692" indent="-277177" defTabSz="886968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Bluetooth: </a:t>
            </a:r>
            <a:r>
              <a:rPr>
                <a:solidFill>
                  <a:srgbClr val="000000"/>
                </a:solidFill>
              </a:rPr>
              <a:t>cable replacement</a:t>
            </a:r>
          </a:p>
          <a:p>
            <a:pPr lvl="1" marL="725280" indent="-332613" defTabSz="886968">
              <a:lnSpc>
                <a:spcPct val="85000"/>
              </a:lnSpc>
              <a:spcBef>
                <a:spcPts val="500"/>
              </a:spcBef>
              <a:buClr>
                <a:srgbClr val="0D0D0D"/>
              </a:buClr>
              <a:buSzPct val="100000"/>
              <a:buFont typeface="Arial"/>
              <a:buChar char="•"/>
              <a:defRPr sz="2328">
                <a:solidFill>
                  <a:srgbClr val="000099"/>
                </a:solidFill>
              </a:defRPr>
            </a:pPr>
            <a:r>
              <a:t>short distances, limited rates</a:t>
            </a:r>
          </a:p>
          <a:p>
            <a:pPr marL="332613" indent="-272558" defTabSz="886968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terrestrial  microwave</a:t>
            </a:r>
          </a:p>
          <a:p>
            <a:pPr lvl="1" marL="615950" indent="-223282" defTabSz="886968">
              <a:lnSpc>
                <a:spcPct val="85000"/>
              </a:lnSpc>
              <a:spcBef>
                <a:spcPts val="500"/>
              </a:spcBef>
              <a:buClr>
                <a:srgbClr val="000099"/>
              </a:buClr>
              <a:buSzPct val="100000"/>
              <a:buFont typeface="Arial"/>
              <a:buChar char="•"/>
              <a:defRPr sz="2328"/>
            </a:pPr>
            <a:r>
              <a:t>point-to-point; 45 Mbps channels</a:t>
            </a:r>
          </a:p>
          <a:p>
            <a:pPr marL="332613" indent="-272558" defTabSz="886968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satellite</a:t>
            </a:r>
          </a:p>
          <a:p>
            <a:pPr lvl="1" marL="665226" indent="-221742" defTabSz="886968">
              <a:lnSpc>
                <a:spcPct val="85000"/>
              </a:lnSpc>
              <a:spcBef>
                <a:spcPts val="500"/>
              </a:spcBef>
              <a:buClr>
                <a:srgbClr val="000099"/>
              </a:buClr>
              <a:buSzPct val="100000"/>
              <a:buFont typeface="Arial"/>
              <a:buChar char="•"/>
              <a:defRPr sz="2328"/>
            </a:pPr>
            <a:r>
              <a:t>up to &lt; 100 Mbps (Starlink) downlink</a:t>
            </a:r>
          </a:p>
          <a:p>
            <a:pPr lvl="1" marL="665226" indent="-221742" defTabSz="886968">
              <a:lnSpc>
                <a:spcPct val="85000"/>
              </a:lnSpc>
              <a:spcBef>
                <a:spcPts val="500"/>
              </a:spcBef>
              <a:buClr>
                <a:srgbClr val="000099"/>
              </a:buClr>
              <a:buSzPct val="100000"/>
              <a:buFont typeface="Arial"/>
              <a:buChar char="•"/>
              <a:defRPr sz="2328"/>
            </a:pPr>
            <a:r>
              <a:t>270 msec end-end delay </a:t>
            </a:r>
            <a:r>
              <a:rPr sz="1940"/>
              <a:t>(geostationary)</a:t>
            </a:r>
          </a:p>
        </p:txBody>
      </p:sp>
      <p:sp>
        <p:nvSpPr>
          <p:cNvPr id="5010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00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5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" dur="500"/>
                                        <p:tgtEl>
                                          <p:spTgt spid="5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0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500"/>
                                        <p:tgtEl>
                                          <p:spTgt spid="50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0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500"/>
                                        <p:tgtEl>
                                          <p:spTgt spid="50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0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50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0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500"/>
                                        <p:tgtEl>
                                          <p:spTgt spid="50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0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50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0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50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0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500"/>
                                        <p:tgtEl>
                                          <p:spTgt spid="500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5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5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5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3" dur="500"/>
                                        <p:tgtEl>
                                          <p:spTgt spid="5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50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7" dur="500"/>
                                        <p:tgtEl>
                                          <p:spTgt spid="50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50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2" dur="500"/>
                                        <p:tgtEl>
                                          <p:spTgt spid="50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50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500"/>
                                        <p:tgtEl>
                                          <p:spTgt spid="50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50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1" dur="500"/>
                                        <p:tgtEl>
                                          <p:spTgt spid="50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50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5" dur="500"/>
                                        <p:tgtEl>
                                          <p:spTgt spid="50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50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0" dur="500"/>
                                        <p:tgtEl>
                                          <p:spTgt spid="50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50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4" dur="500"/>
                                        <p:tgtEl>
                                          <p:spTgt spid="50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50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9" dur="500"/>
                                        <p:tgtEl>
                                          <p:spTgt spid="50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50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3" dur="500"/>
                                        <p:tgtEl>
                                          <p:spTgt spid="50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50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7" dur="500"/>
                                        <p:tgtEl>
                                          <p:spTgt spid="50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008" grpId="1"/>
      <p:bldP build="p" bldLvl="5" animBg="1" rev="0" advAuto="0" spid="5009" grpId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2" name="Title 1"/>
          <p:cNvSpPr txBox="1"/>
          <p:nvPr>
            <p:ph type="title"/>
          </p:nvPr>
        </p:nvSpPr>
        <p:spPr>
          <a:xfrm>
            <a:off x="798690" y="289324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Chapter 1: roadmap</a:t>
            </a:r>
          </a:p>
        </p:txBody>
      </p:sp>
      <p:sp>
        <p:nvSpPr>
          <p:cNvPr id="5013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014" name="Rectangle 4"/>
          <p:cNvSpPr txBox="1"/>
          <p:nvPr>
            <p:ph type="body" sz="half" idx="1"/>
          </p:nvPr>
        </p:nvSpPr>
        <p:spPr>
          <a:xfrm>
            <a:off x="798689" y="1414011"/>
            <a:ext cx="6618111" cy="5029078"/>
          </a:xfrm>
          <a:prstGeom prst="rect">
            <a:avLst/>
          </a:prstGeom>
        </p:spPr>
        <p:txBody>
          <a:bodyPr/>
          <a:lstStyle/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 </a:t>
            </a:r>
            <a:r>
              <a:rPr i="1"/>
              <a:t>is</a:t>
            </a:r>
            <a:r>
              <a:t> the Internet?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</a:t>
            </a:r>
            <a:r>
              <a:rPr i="1"/>
              <a:t> is </a:t>
            </a:r>
            <a:r>
              <a:t>a protocol?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BFBFBF"/>
                </a:solidFill>
              </a:defRPr>
            </a:pPr>
            <a:r>
              <a:t>Network edge: hosts, access network, physical media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0000A8"/>
              </a:buClr>
              <a:defRPr sz="2900">
                <a:solidFill>
                  <a:srgbClr val="0000A8"/>
                </a:solidFill>
              </a:defRPr>
            </a:pPr>
            <a:r>
              <a:t>Network core: </a:t>
            </a:r>
            <a:r>
              <a:rPr>
                <a:solidFill>
                  <a:srgbClr val="000000"/>
                </a:solidFill>
              </a:rPr>
              <a:t>packet/circuit switching, internet structure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Performance: loss, delay, throughput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Security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Protocol layers, service models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History</a:t>
            </a:r>
          </a:p>
        </p:txBody>
      </p:sp>
      <p:grpSp>
        <p:nvGrpSpPr>
          <p:cNvPr id="5017" name="Group 2"/>
          <p:cNvGrpSpPr/>
          <p:nvPr/>
        </p:nvGrpSpPr>
        <p:grpSpPr>
          <a:xfrm>
            <a:off x="8080171" y="1371942"/>
            <a:ext cx="3313139" cy="2488927"/>
            <a:chOff x="0" y="0"/>
            <a:chExt cx="3313138" cy="2488925"/>
          </a:xfrm>
        </p:grpSpPr>
        <p:pic>
          <p:nvPicPr>
            <p:cNvPr id="5015" name="Picture 3" descr="Picture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48603"/>
              <a:ext cx="3313139" cy="2440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016" name="Rectangle 4"/>
            <p:cNvSpPr/>
            <p:nvPr/>
          </p:nvSpPr>
          <p:spPr>
            <a:xfrm>
              <a:off x="-1" y="-1"/>
              <a:ext cx="3313140" cy="244550"/>
            </a:xfrm>
            <a:prstGeom prst="rect">
              <a:avLst/>
            </a:prstGeom>
            <a:solidFill>
              <a:srgbClr val="559BD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" name="Rectangle 419"/>
          <p:cNvSpPr/>
          <p:nvPr/>
        </p:nvSpPr>
        <p:spPr>
          <a:xfrm>
            <a:off x="7439073" y="3553078"/>
            <a:ext cx="986999" cy="669623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020" name="Title 1"/>
          <p:cNvSpPr txBox="1"/>
          <p:nvPr>
            <p:ph type="title"/>
          </p:nvPr>
        </p:nvSpPr>
        <p:spPr>
          <a:xfrm>
            <a:off x="763272" y="413682"/>
            <a:ext cx="10515601" cy="894624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The network core</a:t>
            </a:r>
          </a:p>
        </p:txBody>
      </p:sp>
      <p:sp>
        <p:nvSpPr>
          <p:cNvPr id="5021" name="Content Placeholder 2"/>
          <p:cNvSpPr txBox="1"/>
          <p:nvPr>
            <p:ph type="body" sz="half" idx="1"/>
          </p:nvPr>
        </p:nvSpPr>
        <p:spPr>
          <a:xfrm>
            <a:off x="676091" y="1531645"/>
            <a:ext cx="6282649" cy="4617464"/>
          </a:xfrm>
          <a:prstGeom prst="rect">
            <a:avLst/>
          </a:prstGeom>
        </p:spPr>
        <p:txBody>
          <a:bodyPr/>
          <a:lstStyle/>
          <a:p>
            <a:pPr marL="412750" indent="-282575"/>
            <a:r>
              <a:t>mesh of interconnected routers</a:t>
            </a:r>
          </a:p>
          <a:p>
            <a:pPr marL="412750" indent="-282575">
              <a:defRPr>
                <a:solidFill>
                  <a:srgbClr val="CC0000"/>
                </a:solidFill>
              </a:defRPr>
            </a:pPr>
            <a:r>
              <a:t>packet-switching: </a:t>
            </a:r>
            <a:r>
              <a:rPr>
                <a:solidFill>
                  <a:srgbClr val="000000"/>
                </a:solidFill>
              </a:rPr>
              <a:t>hosts break application-layer messages into </a:t>
            </a:r>
            <a:r>
              <a:rPr i="1"/>
              <a:t>packets</a:t>
            </a:r>
            <a:endParaRPr i="1"/>
          </a:p>
          <a:p>
            <a:pPr lvl="1" marL="695325" indent="-231775">
              <a:spcBef>
                <a:spcPts val="500"/>
              </a:spcBef>
              <a:buClr>
                <a:srgbClr val="0000A8"/>
              </a:buClr>
              <a:buFont typeface="Arial"/>
            </a:pPr>
            <a:r>
              <a:t>network </a:t>
            </a:r>
            <a:r>
              <a:rPr>
                <a:solidFill>
                  <a:srgbClr val="0000A3"/>
                </a:solidFill>
              </a:rPr>
              <a:t>forwards</a:t>
            </a:r>
            <a:r>
              <a:t> packets</a:t>
            </a:r>
            <a:r>
              <a:rPr i="1"/>
              <a:t> </a:t>
            </a:r>
            <a:r>
              <a:t>from one router to the next, across links on path from </a:t>
            </a:r>
            <a:r>
              <a:rPr>
                <a:solidFill>
                  <a:srgbClr val="0000A3"/>
                </a:solidFill>
              </a:rPr>
              <a:t>source to destination</a:t>
            </a:r>
          </a:p>
        </p:txBody>
      </p:sp>
      <p:sp>
        <p:nvSpPr>
          <p:cNvPr id="5022" name="Freeform 370"/>
          <p:cNvSpPr/>
          <p:nvPr/>
        </p:nvSpPr>
        <p:spPr>
          <a:xfrm>
            <a:off x="8985187" y="3065777"/>
            <a:ext cx="1124809" cy="1337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49" h="20510" fill="norm" stroke="1" extrusionOk="0">
                <a:moveTo>
                  <a:pt x="4338" y="7022"/>
                </a:moveTo>
                <a:cubicBezTo>
                  <a:pt x="2763" y="8848"/>
                  <a:pt x="1382" y="9254"/>
                  <a:pt x="902" y="11320"/>
                </a:cubicBezTo>
                <a:cubicBezTo>
                  <a:pt x="422" y="13386"/>
                  <a:pt x="-1132" y="17789"/>
                  <a:pt x="1456" y="19418"/>
                </a:cubicBezTo>
                <a:cubicBezTo>
                  <a:pt x="4045" y="21047"/>
                  <a:pt x="14587" y="20622"/>
                  <a:pt x="17527" y="19646"/>
                </a:cubicBezTo>
                <a:cubicBezTo>
                  <a:pt x="20468" y="18669"/>
                  <a:pt x="19432" y="15068"/>
                  <a:pt x="19100" y="13560"/>
                </a:cubicBezTo>
                <a:cubicBezTo>
                  <a:pt x="18768" y="12052"/>
                  <a:pt x="15646" y="13090"/>
                  <a:pt x="15536" y="10596"/>
                </a:cubicBezTo>
                <a:cubicBezTo>
                  <a:pt x="15746" y="7905"/>
                  <a:pt x="18905" y="7477"/>
                  <a:pt x="19045" y="5962"/>
                </a:cubicBezTo>
                <a:cubicBezTo>
                  <a:pt x="19184" y="4446"/>
                  <a:pt x="18059" y="3477"/>
                  <a:pt x="16373" y="1502"/>
                </a:cubicBezTo>
                <a:cubicBezTo>
                  <a:pt x="15001" y="420"/>
                  <a:pt x="12357" y="-553"/>
                  <a:pt x="10351" y="367"/>
                </a:cubicBezTo>
                <a:cubicBezTo>
                  <a:pt x="8345" y="1287"/>
                  <a:pt x="5912" y="5197"/>
                  <a:pt x="4338" y="7022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3" name="Freeform 417"/>
          <p:cNvSpPr/>
          <p:nvPr/>
        </p:nvSpPr>
        <p:spPr>
          <a:xfrm>
            <a:off x="7282395" y="1831266"/>
            <a:ext cx="1715493" cy="130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6" h="21326" fill="norm" stroke="1" extrusionOk="0">
                <a:moveTo>
                  <a:pt x="13407" y="266"/>
                </a:moveTo>
                <a:cubicBezTo>
                  <a:pt x="12073" y="522"/>
                  <a:pt x="9571" y="970"/>
                  <a:pt x="8028" y="1610"/>
                </a:cubicBezTo>
                <a:cubicBezTo>
                  <a:pt x="6485" y="2250"/>
                  <a:pt x="5026" y="3114"/>
                  <a:pt x="4192" y="4042"/>
                </a:cubicBezTo>
                <a:cubicBezTo>
                  <a:pt x="3358" y="4970"/>
                  <a:pt x="3712" y="6346"/>
                  <a:pt x="3066" y="7242"/>
                </a:cubicBezTo>
                <a:cubicBezTo>
                  <a:pt x="2420" y="8138"/>
                  <a:pt x="814" y="8202"/>
                  <a:pt x="356" y="9418"/>
                </a:cubicBezTo>
                <a:cubicBezTo>
                  <a:pt x="-103" y="10634"/>
                  <a:pt x="-103" y="13578"/>
                  <a:pt x="272" y="14602"/>
                </a:cubicBezTo>
                <a:cubicBezTo>
                  <a:pt x="648" y="15626"/>
                  <a:pt x="1127" y="15402"/>
                  <a:pt x="2649" y="15562"/>
                </a:cubicBezTo>
                <a:cubicBezTo>
                  <a:pt x="4171" y="15722"/>
                  <a:pt x="7820" y="15210"/>
                  <a:pt x="9446" y="15562"/>
                </a:cubicBezTo>
                <a:cubicBezTo>
                  <a:pt x="11072" y="15914"/>
                  <a:pt x="11343" y="16778"/>
                  <a:pt x="12365" y="17674"/>
                </a:cubicBezTo>
                <a:cubicBezTo>
                  <a:pt x="13387" y="18570"/>
                  <a:pt x="14638" y="20362"/>
                  <a:pt x="15576" y="20938"/>
                </a:cubicBezTo>
                <a:cubicBezTo>
                  <a:pt x="16514" y="21514"/>
                  <a:pt x="17348" y="21354"/>
                  <a:pt x="18036" y="21066"/>
                </a:cubicBezTo>
                <a:cubicBezTo>
                  <a:pt x="18724" y="20778"/>
                  <a:pt x="19329" y="20362"/>
                  <a:pt x="19746" y="19210"/>
                </a:cubicBezTo>
                <a:cubicBezTo>
                  <a:pt x="20163" y="18058"/>
                  <a:pt x="20350" y="15818"/>
                  <a:pt x="20580" y="14154"/>
                </a:cubicBezTo>
                <a:cubicBezTo>
                  <a:pt x="20809" y="12490"/>
                  <a:pt x="21017" y="11018"/>
                  <a:pt x="21122" y="9226"/>
                </a:cubicBezTo>
                <a:cubicBezTo>
                  <a:pt x="21226" y="7434"/>
                  <a:pt x="21497" y="4810"/>
                  <a:pt x="21205" y="3338"/>
                </a:cubicBezTo>
                <a:cubicBezTo>
                  <a:pt x="20913" y="1866"/>
                  <a:pt x="20225" y="1002"/>
                  <a:pt x="19370" y="458"/>
                </a:cubicBezTo>
                <a:cubicBezTo>
                  <a:pt x="18516" y="-86"/>
                  <a:pt x="17077" y="42"/>
                  <a:pt x="16076" y="10"/>
                </a:cubicBezTo>
                <a:cubicBezTo>
                  <a:pt x="15075" y="-22"/>
                  <a:pt x="14742" y="10"/>
                  <a:pt x="13407" y="266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24" name="AutoShape 420"/>
          <p:cNvSpPr/>
          <p:nvPr/>
        </p:nvSpPr>
        <p:spPr>
          <a:xfrm>
            <a:off x="7205350" y="3289251"/>
            <a:ext cx="1458912" cy="317851"/>
          </a:xfrm>
          <a:prstGeom prst="triangle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025" name="Freeform 427"/>
          <p:cNvSpPr/>
          <p:nvPr/>
        </p:nvSpPr>
        <p:spPr>
          <a:xfrm>
            <a:off x="7728466" y="4694461"/>
            <a:ext cx="3042747" cy="16388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0" h="21257" fill="norm" stroke="1" extrusionOk="0">
                <a:moveTo>
                  <a:pt x="10487" y="388"/>
                </a:moveTo>
                <a:cubicBezTo>
                  <a:pt x="9540" y="780"/>
                  <a:pt x="9151" y="2283"/>
                  <a:pt x="8293" y="2427"/>
                </a:cubicBezTo>
                <a:cubicBezTo>
                  <a:pt x="7436" y="2571"/>
                  <a:pt x="6423" y="1336"/>
                  <a:pt x="5320" y="1253"/>
                </a:cubicBezTo>
                <a:cubicBezTo>
                  <a:pt x="4218" y="1171"/>
                  <a:pt x="2526" y="841"/>
                  <a:pt x="1646" y="1933"/>
                </a:cubicBezTo>
                <a:cubicBezTo>
                  <a:pt x="767" y="3024"/>
                  <a:pt x="199" y="5989"/>
                  <a:pt x="43" y="7863"/>
                </a:cubicBezTo>
                <a:cubicBezTo>
                  <a:pt x="-113" y="9737"/>
                  <a:pt x="165" y="12105"/>
                  <a:pt x="678" y="13196"/>
                </a:cubicBezTo>
                <a:cubicBezTo>
                  <a:pt x="1190" y="14287"/>
                  <a:pt x="2169" y="13546"/>
                  <a:pt x="3094" y="14390"/>
                </a:cubicBezTo>
                <a:cubicBezTo>
                  <a:pt x="4018" y="15235"/>
                  <a:pt x="4897" y="17191"/>
                  <a:pt x="6211" y="18241"/>
                </a:cubicBezTo>
                <a:cubicBezTo>
                  <a:pt x="7525" y="19291"/>
                  <a:pt x="9373" y="20259"/>
                  <a:pt x="10976" y="20732"/>
                </a:cubicBezTo>
                <a:cubicBezTo>
                  <a:pt x="12580" y="21185"/>
                  <a:pt x="14461" y="21453"/>
                  <a:pt x="15842" y="21082"/>
                </a:cubicBezTo>
                <a:cubicBezTo>
                  <a:pt x="17223" y="20691"/>
                  <a:pt x="18336" y="19620"/>
                  <a:pt x="19249" y="18529"/>
                </a:cubicBezTo>
                <a:cubicBezTo>
                  <a:pt x="20162" y="17458"/>
                  <a:pt x="21108" y="16820"/>
                  <a:pt x="21298" y="14555"/>
                </a:cubicBezTo>
                <a:cubicBezTo>
                  <a:pt x="21487" y="12290"/>
                  <a:pt x="21019" y="7060"/>
                  <a:pt x="20362" y="5021"/>
                </a:cubicBezTo>
                <a:cubicBezTo>
                  <a:pt x="19706" y="2962"/>
                  <a:pt x="18392" y="3003"/>
                  <a:pt x="17323" y="2200"/>
                </a:cubicBezTo>
                <a:cubicBezTo>
                  <a:pt x="16254" y="1418"/>
                  <a:pt x="15085" y="471"/>
                  <a:pt x="13949" y="162"/>
                </a:cubicBezTo>
                <a:cubicBezTo>
                  <a:pt x="12814" y="-147"/>
                  <a:pt x="11433" y="18"/>
                  <a:pt x="10487" y="388"/>
                </a:cubicBezTo>
                <a:close/>
              </a:path>
            </a:pathLst>
          </a:custGeom>
          <a:solidFill>
            <a:srgbClr val="9CDF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26" name="Text Box 580"/>
          <p:cNvSpPr txBox="1"/>
          <p:nvPr/>
        </p:nvSpPr>
        <p:spPr>
          <a:xfrm>
            <a:off x="7724993" y="1488460"/>
            <a:ext cx="12461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pPr/>
            <a:r>
              <a:t>mobile network</a:t>
            </a:r>
          </a:p>
        </p:txBody>
      </p:sp>
      <p:sp>
        <p:nvSpPr>
          <p:cNvPr id="5027" name="Text Box 580"/>
          <p:cNvSpPr txBox="1"/>
          <p:nvPr/>
        </p:nvSpPr>
        <p:spPr>
          <a:xfrm>
            <a:off x="7376554" y="4191922"/>
            <a:ext cx="186420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0000"/>
              </a:lnSpc>
              <a:defRPr sz="1400"/>
            </a:lvl1pPr>
          </a:lstStyle>
          <a:p>
            <a:pPr/>
            <a:r>
              <a:t>home network</a:t>
            </a:r>
          </a:p>
        </p:txBody>
      </p:sp>
      <p:sp>
        <p:nvSpPr>
          <p:cNvPr id="5028" name="Text Box 580"/>
          <p:cNvSpPr txBox="1"/>
          <p:nvPr/>
        </p:nvSpPr>
        <p:spPr>
          <a:xfrm>
            <a:off x="7352628" y="5779775"/>
            <a:ext cx="1108607" cy="47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80000"/>
              </a:lnSpc>
              <a:defRPr sz="1400"/>
            </a:pPr>
            <a:r>
              <a:t>enterprise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lnSpc>
                <a:spcPct val="80000"/>
              </a:lnSpc>
              <a:defRPr sz="1400"/>
            </a:pPr>
            <a:r>
              <a:t>          network</a:t>
            </a:r>
          </a:p>
        </p:txBody>
      </p:sp>
      <p:sp>
        <p:nvSpPr>
          <p:cNvPr id="5029" name="Freeform 371"/>
          <p:cNvSpPr/>
          <p:nvPr/>
        </p:nvSpPr>
        <p:spPr>
          <a:xfrm>
            <a:off x="10222145" y="3179539"/>
            <a:ext cx="1273169" cy="1935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7" h="20945" fill="norm" stroke="1" extrusionOk="0">
                <a:moveTo>
                  <a:pt x="518" y="4719"/>
                </a:moveTo>
                <a:cubicBezTo>
                  <a:pt x="-13" y="6632"/>
                  <a:pt x="-204" y="10040"/>
                  <a:pt x="271" y="12041"/>
                </a:cubicBezTo>
                <a:cubicBezTo>
                  <a:pt x="746" y="14041"/>
                  <a:pt x="685" y="15290"/>
                  <a:pt x="3366" y="16725"/>
                </a:cubicBezTo>
                <a:cubicBezTo>
                  <a:pt x="6048" y="18159"/>
                  <a:pt x="13461" y="20187"/>
                  <a:pt x="16360" y="20649"/>
                </a:cubicBezTo>
                <a:cubicBezTo>
                  <a:pt x="19260" y="21111"/>
                  <a:pt x="20132" y="21234"/>
                  <a:pt x="20764" y="19498"/>
                </a:cubicBezTo>
                <a:cubicBezTo>
                  <a:pt x="21396" y="17761"/>
                  <a:pt x="20190" y="13347"/>
                  <a:pt x="20153" y="10230"/>
                </a:cubicBezTo>
                <a:cubicBezTo>
                  <a:pt x="20116" y="7114"/>
                  <a:pt x="21104" y="1964"/>
                  <a:pt x="20540" y="799"/>
                </a:cubicBezTo>
                <a:cubicBezTo>
                  <a:pt x="19976" y="-366"/>
                  <a:pt x="6793" y="-88"/>
                  <a:pt x="3456" y="566"/>
                </a:cubicBezTo>
                <a:cubicBezTo>
                  <a:pt x="119" y="1219"/>
                  <a:pt x="1048" y="2807"/>
                  <a:pt x="518" y="471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038" name="Group 373"/>
          <p:cNvGrpSpPr/>
          <p:nvPr/>
        </p:nvGrpSpPr>
        <p:grpSpPr>
          <a:xfrm>
            <a:off x="10837699" y="3928050"/>
            <a:ext cx="687394" cy="721549"/>
            <a:chOff x="0" y="0"/>
            <a:chExt cx="687392" cy="721548"/>
          </a:xfrm>
        </p:grpSpPr>
        <p:sp>
          <p:nvSpPr>
            <p:cNvPr id="5030" name="Freeform 381"/>
            <p:cNvSpPr/>
            <p:nvPr/>
          </p:nvSpPr>
          <p:spPr>
            <a:xfrm>
              <a:off x="267227" y="-1"/>
              <a:ext cx="420166" cy="72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31" name="Freeform 382"/>
            <p:cNvSpPr/>
            <p:nvPr/>
          </p:nvSpPr>
          <p:spPr>
            <a:xfrm>
              <a:off x="0" y="185234"/>
              <a:ext cx="521585" cy="5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32" name="Straight Connector 383"/>
            <p:cNvSpPr/>
            <p:nvPr/>
          </p:nvSpPr>
          <p:spPr>
            <a:xfrm flipV="1">
              <a:off x="54006" y="303213"/>
              <a:ext cx="236450" cy="8002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33" name="Straight Connector 384"/>
            <p:cNvSpPr/>
            <p:nvPr/>
          </p:nvSpPr>
          <p:spPr>
            <a:xfrm flipV="1">
              <a:off x="57914" y="556094"/>
              <a:ext cx="232542" cy="18248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34" name="Straight Connector 385"/>
            <p:cNvSpPr/>
            <p:nvPr/>
          </p:nvSpPr>
          <p:spPr>
            <a:xfrm flipV="1">
              <a:off x="57914" y="436343"/>
              <a:ext cx="232542" cy="52723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35" name="Straight Connector 386"/>
            <p:cNvSpPr/>
            <p:nvPr/>
          </p:nvSpPr>
          <p:spPr>
            <a:xfrm>
              <a:off x="53660" y="656716"/>
              <a:ext cx="236796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36" name="Straight Connector 387"/>
            <p:cNvSpPr/>
            <p:nvPr/>
          </p:nvSpPr>
          <p:spPr>
            <a:xfrm flipV="1">
              <a:off x="598356" y="126039"/>
              <a:ext cx="1" cy="506809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37" name="Straight Connector 388"/>
            <p:cNvSpPr/>
            <p:nvPr/>
          </p:nvSpPr>
          <p:spPr>
            <a:xfrm flipH="1">
              <a:off x="340761" y="202125"/>
              <a:ext cx="1" cy="519424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5047" name="Group 390"/>
          <p:cNvGrpSpPr/>
          <p:nvPr/>
        </p:nvGrpSpPr>
        <p:grpSpPr>
          <a:xfrm>
            <a:off x="10771171" y="3194170"/>
            <a:ext cx="594614" cy="648337"/>
            <a:chOff x="0" y="0"/>
            <a:chExt cx="594613" cy="648335"/>
          </a:xfrm>
        </p:grpSpPr>
        <p:sp>
          <p:nvSpPr>
            <p:cNvPr id="5039" name="Freeform 398"/>
            <p:cNvSpPr/>
            <p:nvPr/>
          </p:nvSpPr>
          <p:spPr>
            <a:xfrm>
              <a:off x="231158" y="0"/>
              <a:ext cx="363455" cy="64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47" y="21482"/>
                  </a:moveTo>
                  <a:cubicBezTo>
                    <a:pt x="348" y="15108"/>
                    <a:pt x="99" y="9089"/>
                    <a:pt x="0" y="2715"/>
                  </a:cubicBezTo>
                  <a:lnTo>
                    <a:pt x="10279" y="0"/>
                  </a:lnTo>
                  <a:lnTo>
                    <a:pt x="21451" y="2243"/>
                  </a:lnTo>
                  <a:lnTo>
                    <a:pt x="21600" y="21600"/>
                  </a:lnTo>
                  <a:lnTo>
                    <a:pt x="447" y="21482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40" name="Freeform 399"/>
            <p:cNvSpPr/>
            <p:nvPr/>
          </p:nvSpPr>
          <p:spPr>
            <a:xfrm>
              <a:off x="-1" y="166439"/>
              <a:ext cx="451186" cy="48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21600"/>
                  </a:moveTo>
                  <a:lnTo>
                    <a:pt x="0" y="6194"/>
                  </a:lnTo>
                  <a:lnTo>
                    <a:pt x="14040" y="0"/>
                  </a:lnTo>
                  <a:lnTo>
                    <a:pt x="21480" y="2541"/>
                  </a:lnTo>
                  <a:lnTo>
                    <a:pt x="21600" y="21600"/>
                  </a:lnTo>
                  <a:lnTo>
                    <a:pt x="120" y="21600"/>
                  </a:lnTo>
                  <a:close/>
                </a:path>
              </a:pathLst>
            </a:custGeom>
            <a:solidFill>
              <a:srgbClr val="E0EBF1"/>
            </a:solidFill>
            <a:ln w="12700" cap="flat">
              <a:solidFill>
                <a:srgbClr val="0000A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41" name="Straight Connector 400"/>
            <p:cNvSpPr/>
            <p:nvPr/>
          </p:nvSpPr>
          <p:spPr>
            <a:xfrm flipV="1">
              <a:off x="46717" y="272447"/>
              <a:ext cx="204536" cy="71907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42" name="Straight Connector 401"/>
            <p:cNvSpPr/>
            <p:nvPr/>
          </p:nvSpPr>
          <p:spPr>
            <a:xfrm flipV="1">
              <a:off x="50097" y="499671"/>
              <a:ext cx="201155" cy="16396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43" name="Straight Connector 402"/>
            <p:cNvSpPr/>
            <p:nvPr/>
          </p:nvSpPr>
          <p:spPr>
            <a:xfrm flipV="1">
              <a:off x="50097" y="392068"/>
              <a:ext cx="201155" cy="47374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44" name="Straight Connector 403"/>
            <p:cNvSpPr/>
            <p:nvPr/>
          </p:nvSpPr>
          <p:spPr>
            <a:xfrm>
              <a:off x="46418" y="590082"/>
              <a:ext cx="204835" cy="1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45" name="Straight Connector 404"/>
            <p:cNvSpPr/>
            <p:nvPr/>
          </p:nvSpPr>
          <p:spPr>
            <a:xfrm flipV="1">
              <a:off x="517593" y="113251"/>
              <a:ext cx="1" cy="455385"/>
            </a:xfrm>
            <a:prstGeom prst="line">
              <a:avLst/>
            </a:prstGeom>
            <a:noFill/>
            <a:ln w="44450" cap="flat">
              <a:solidFill>
                <a:srgbClr val="FFFFFF"/>
              </a:solidFill>
              <a:prstDash val="sys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46" name="Straight Connector 405"/>
            <p:cNvSpPr/>
            <p:nvPr/>
          </p:nvSpPr>
          <p:spPr>
            <a:xfrm flipH="1">
              <a:off x="294767" y="181616"/>
              <a:ext cx="1" cy="466720"/>
            </a:xfrm>
            <a:prstGeom prst="line">
              <a:avLst/>
            </a:prstGeom>
            <a:noFill/>
            <a:ln w="15875" cap="flat">
              <a:solidFill>
                <a:srgbClr val="0000A8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5048" name="Freeform 561"/>
          <p:cNvSpPr/>
          <p:nvPr/>
        </p:nvSpPr>
        <p:spPr>
          <a:xfrm>
            <a:off x="9540812" y="1782042"/>
            <a:ext cx="1497866" cy="1386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83" h="20611" fill="norm" stroke="1" extrusionOk="0">
                <a:moveTo>
                  <a:pt x="1755" y="1299"/>
                </a:moveTo>
                <a:cubicBezTo>
                  <a:pt x="-1661" y="2817"/>
                  <a:pt x="832" y="7519"/>
                  <a:pt x="1567" y="10647"/>
                </a:cubicBezTo>
                <a:cubicBezTo>
                  <a:pt x="2301" y="13775"/>
                  <a:pt x="4122" y="18876"/>
                  <a:pt x="6162" y="20070"/>
                </a:cubicBezTo>
                <a:cubicBezTo>
                  <a:pt x="8201" y="21264"/>
                  <a:pt x="12080" y="20470"/>
                  <a:pt x="13806" y="17812"/>
                </a:cubicBezTo>
                <a:cubicBezTo>
                  <a:pt x="15532" y="15155"/>
                  <a:pt x="18183" y="18900"/>
                  <a:pt x="19061" y="17194"/>
                </a:cubicBezTo>
                <a:cubicBezTo>
                  <a:pt x="19939" y="15489"/>
                  <a:pt x="19192" y="10293"/>
                  <a:pt x="19074" y="7579"/>
                </a:cubicBezTo>
                <a:cubicBezTo>
                  <a:pt x="18955" y="4865"/>
                  <a:pt x="18817" y="2156"/>
                  <a:pt x="18352" y="910"/>
                </a:cubicBezTo>
                <a:cubicBezTo>
                  <a:pt x="17887" y="-336"/>
                  <a:pt x="14336" y="38"/>
                  <a:pt x="11570" y="103"/>
                </a:cubicBezTo>
                <a:cubicBezTo>
                  <a:pt x="8804" y="167"/>
                  <a:pt x="5171" y="-218"/>
                  <a:pt x="1755" y="1299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EEBF7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9" name="TextBox 572"/>
          <p:cNvSpPr txBox="1"/>
          <p:nvPr/>
        </p:nvSpPr>
        <p:spPr>
          <a:xfrm>
            <a:off x="9472921" y="1851194"/>
            <a:ext cx="16269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national or global ISP</a:t>
            </a:r>
          </a:p>
        </p:txBody>
      </p:sp>
      <p:sp>
        <p:nvSpPr>
          <p:cNvPr id="5050" name="Rectangle 654"/>
          <p:cNvSpPr/>
          <p:nvPr/>
        </p:nvSpPr>
        <p:spPr>
          <a:xfrm>
            <a:off x="9279067" y="3677908"/>
            <a:ext cx="305750" cy="197848"/>
          </a:xfrm>
          <a:prstGeom prst="rect">
            <a:avLst/>
          </a:prstGeom>
          <a:solidFill>
            <a:srgbClr val="9CDFF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51" name="TextBox 652"/>
          <p:cNvSpPr txBox="1"/>
          <p:nvPr/>
        </p:nvSpPr>
        <p:spPr>
          <a:xfrm>
            <a:off x="8811881" y="3447918"/>
            <a:ext cx="949200" cy="490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400"/>
            </a:lvl1pPr>
          </a:lstStyle>
          <a:p>
            <a:pPr/>
            <a:r>
              <a:t>local or regional ISP</a:t>
            </a:r>
          </a:p>
        </p:txBody>
      </p:sp>
      <p:sp>
        <p:nvSpPr>
          <p:cNvPr id="5052" name="TextBox 656"/>
          <p:cNvSpPr txBox="1"/>
          <p:nvPr/>
        </p:nvSpPr>
        <p:spPr>
          <a:xfrm>
            <a:off x="10963486" y="4677936"/>
            <a:ext cx="692137" cy="37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000"/>
            </a:pPr>
            <a:r>
              <a:t>datacenter </a:t>
            </a:r>
          </a:p>
          <a:p>
            <a:pPr>
              <a:lnSpc>
                <a:spcPct val="90000"/>
              </a:lnSpc>
              <a:defRPr sz="1000"/>
            </a:pPr>
            <a:r>
              <a:t>network</a:t>
            </a:r>
          </a:p>
        </p:txBody>
      </p:sp>
      <p:sp>
        <p:nvSpPr>
          <p:cNvPr id="5053" name="TextBox 657"/>
          <p:cNvSpPr txBox="1"/>
          <p:nvPr/>
        </p:nvSpPr>
        <p:spPr>
          <a:xfrm>
            <a:off x="10108738" y="4228248"/>
            <a:ext cx="754830" cy="700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defRPr sz="1400"/>
            </a:pPr>
            <a:r>
              <a:t>content </a:t>
            </a:r>
          </a:p>
          <a:p>
            <a:pPr>
              <a:lnSpc>
                <a:spcPct val="90000"/>
              </a:lnSpc>
              <a:defRPr sz="1400"/>
            </a:pPr>
            <a:r>
              <a:t>provider </a:t>
            </a:r>
          </a:p>
          <a:p>
            <a:pPr>
              <a:lnSpc>
                <a:spcPct val="90000"/>
              </a:lnSpc>
              <a:defRPr sz="1400"/>
            </a:pPr>
            <a:r>
              <a:t>network</a:t>
            </a:r>
          </a:p>
        </p:txBody>
      </p:sp>
      <p:sp>
        <p:nvSpPr>
          <p:cNvPr id="5054" name="Straight Connector 829"/>
          <p:cNvSpPr/>
          <p:nvPr/>
        </p:nvSpPr>
        <p:spPr>
          <a:xfrm flipH="1" flipV="1">
            <a:off x="10559919" y="3580124"/>
            <a:ext cx="412965" cy="63713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55" name="Straight Connector 826"/>
          <p:cNvSpPr/>
          <p:nvPr/>
        </p:nvSpPr>
        <p:spPr>
          <a:xfrm flipH="1" flipV="1">
            <a:off x="10660835" y="3640683"/>
            <a:ext cx="345867" cy="738976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56" name="Straight Connector 824"/>
          <p:cNvSpPr/>
          <p:nvPr/>
        </p:nvSpPr>
        <p:spPr>
          <a:xfrm flipV="1">
            <a:off x="10636897" y="3633420"/>
            <a:ext cx="335988" cy="39534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57" name="Straight Connector 822"/>
          <p:cNvSpPr/>
          <p:nvPr/>
        </p:nvSpPr>
        <p:spPr>
          <a:xfrm flipH="1" flipV="1">
            <a:off x="10570774" y="3594896"/>
            <a:ext cx="2" cy="485749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58" name="Straight Connector 818"/>
          <p:cNvSpPr/>
          <p:nvPr/>
        </p:nvSpPr>
        <p:spPr>
          <a:xfrm flipH="1" flipV="1">
            <a:off x="10550620" y="4071642"/>
            <a:ext cx="508544" cy="348648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59" name="Straight Connector 817"/>
          <p:cNvSpPr/>
          <p:nvPr/>
        </p:nvSpPr>
        <p:spPr>
          <a:xfrm flipH="1">
            <a:off x="9895195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0" name="Straight Connector 815"/>
          <p:cNvSpPr/>
          <p:nvPr/>
        </p:nvSpPr>
        <p:spPr>
          <a:xfrm flipH="1">
            <a:off x="9219616" y="4087741"/>
            <a:ext cx="655426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1" name="Straight Connector 812"/>
          <p:cNvSpPr/>
          <p:nvPr/>
        </p:nvSpPr>
        <p:spPr>
          <a:xfrm flipH="1">
            <a:off x="9276867" y="3507671"/>
            <a:ext cx="382425" cy="517050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2" name="Straight Connector 810"/>
          <p:cNvSpPr/>
          <p:nvPr/>
        </p:nvSpPr>
        <p:spPr>
          <a:xfrm>
            <a:off x="9733068" y="3507671"/>
            <a:ext cx="1" cy="540295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3" name="Straight Connector 807"/>
          <p:cNvSpPr/>
          <p:nvPr/>
        </p:nvSpPr>
        <p:spPr>
          <a:xfrm>
            <a:off x="10137668" y="2754691"/>
            <a:ext cx="488174" cy="83933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4" name="Straight Connector 562"/>
          <p:cNvSpPr/>
          <p:nvPr/>
        </p:nvSpPr>
        <p:spPr>
          <a:xfrm flipH="1">
            <a:off x="9798718" y="2695013"/>
            <a:ext cx="380433" cy="694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5" name="Straight Connector 563"/>
          <p:cNvSpPr/>
          <p:nvPr/>
        </p:nvSpPr>
        <p:spPr>
          <a:xfrm flipH="1">
            <a:off x="10100634" y="2169431"/>
            <a:ext cx="761468" cy="577356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6" name="Straight Connector 564"/>
          <p:cNvSpPr/>
          <p:nvPr/>
        </p:nvSpPr>
        <p:spPr>
          <a:xfrm flipH="1">
            <a:off x="10100634" y="2268313"/>
            <a:ext cx="3971" cy="51846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7" name="Straight Connector 565"/>
          <p:cNvSpPr/>
          <p:nvPr/>
        </p:nvSpPr>
        <p:spPr>
          <a:xfrm flipH="1">
            <a:off x="10672134" y="2200505"/>
            <a:ext cx="149361" cy="51846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8" name="Straight Connector 566"/>
          <p:cNvSpPr/>
          <p:nvPr/>
        </p:nvSpPr>
        <p:spPr>
          <a:xfrm flipH="1">
            <a:off x="10142166" y="2718966"/>
            <a:ext cx="574284" cy="2782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69" name="Straight Connector 567"/>
          <p:cNvSpPr/>
          <p:nvPr/>
        </p:nvSpPr>
        <p:spPr>
          <a:xfrm flipH="1">
            <a:off x="10069541" y="2169431"/>
            <a:ext cx="788590" cy="98882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70" name="Straight Connector 568"/>
          <p:cNvSpPr/>
          <p:nvPr/>
        </p:nvSpPr>
        <p:spPr>
          <a:xfrm flipH="1">
            <a:off x="10862102" y="2127324"/>
            <a:ext cx="279003" cy="421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71" name="Straight Connector 569"/>
          <p:cNvSpPr/>
          <p:nvPr/>
        </p:nvSpPr>
        <p:spPr>
          <a:xfrm flipH="1" flipV="1">
            <a:off x="10681993" y="2718966"/>
            <a:ext cx="353542" cy="67808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72" name="Straight Connector 573"/>
          <p:cNvSpPr/>
          <p:nvPr/>
        </p:nvSpPr>
        <p:spPr>
          <a:xfrm flipH="1">
            <a:off x="8769222" y="2268313"/>
            <a:ext cx="1300320" cy="60662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073" name="Line 541"/>
          <p:cNvSpPr/>
          <p:nvPr/>
        </p:nvSpPr>
        <p:spPr>
          <a:xfrm flipV="1">
            <a:off x="9378705" y="4113379"/>
            <a:ext cx="429325" cy="70560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4" name="Line 424"/>
          <p:cNvSpPr/>
          <p:nvPr/>
        </p:nvSpPr>
        <p:spPr>
          <a:xfrm flipV="1">
            <a:off x="8244554" y="4047456"/>
            <a:ext cx="969052" cy="31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5" name="Oval 800"/>
          <p:cNvSpPr/>
          <p:nvPr/>
        </p:nvSpPr>
        <p:spPr>
          <a:xfrm>
            <a:off x="8174541" y="2292994"/>
            <a:ext cx="52389" cy="49487"/>
          </a:xfrm>
          <a:prstGeom prst="ellipse">
            <a:avLst/>
          </a:prstGeom>
          <a:solidFill>
            <a:srgbClr val="44546A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5087" name="Group 614"/>
          <p:cNvGrpSpPr/>
          <p:nvPr/>
        </p:nvGrpSpPr>
        <p:grpSpPr>
          <a:xfrm>
            <a:off x="10410608" y="3393794"/>
            <a:ext cx="353679" cy="402388"/>
            <a:chOff x="0" y="0"/>
            <a:chExt cx="353677" cy="402387"/>
          </a:xfrm>
        </p:grpSpPr>
        <p:grpSp>
          <p:nvGrpSpPr>
            <p:cNvPr id="5078" name="Freeform 615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5076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77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081" name="Oval 616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5079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80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086" name="Group 617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5082" name="Freeform 618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83" name="Freeform 619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84" name="Freeform 620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85" name="Freeform 621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099" name="Group 576"/>
          <p:cNvGrpSpPr/>
          <p:nvPr/>
        </p:nvGrpSpPr>
        <p:grpSpPr>
          <a:xfrm>
            <a:off x="9948723" y="2099947"/>
            <a:ext cx="353679" cy="402389"/>
            <a:chOff x="0" y="0"/>
            <a:chExt cx="353677" cy="402387"/>
          </a:xfrm>
        </p:grpSpPr>
        <p:grpSp>
          <p:nvGrpSpPr>
            <p:cNvPr id="5090" name="Freeform 577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5088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89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093" name="Oval 578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5091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92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098" name="Group 579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5094" name="Freeform 580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95" name="Freeform 581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96" name="Freeform 582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97" name="Freeform 583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111" name="Group 592"/>
          <p:cNvGrpSpPr/>
          <p:nvPr/>
        </p:nvGrpSpPr>
        <p:grpSpPr>
          <a:xfrm>
            <a:off x="10527214" y="2511022"/>
            <a:ext cx="353679" cy="402389"/>
            <a:chOff x="0" y="0"/>
            <a:chExt cx="353677" cy="402387"/>
          </a:xfrm>
        </p:grpSpPr>
        <p:grpSp>
          <p:nvGrpSpPr>
            <p:cNvPr id="5102" name="Freeform 593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5100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01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105" name="Oval 594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5103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04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110" name="Group 595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5106" name="Freeform 596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07" name="Freeform 597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08" name="Freeform 598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09" name="Freeform 599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123" name="Group 600"/>
          <p:cNvGrpSpPr/>
          <p:nvPr/>
        </p:nvGrpSpPr>
        <p:grpSpPr>
          <a:xfrm>
            <a:off x="10643824" y="2005618"/>
            <a:ext cx="353679" cy="402389"/>
            <a:chOff x="0" y="0"/>
            <a:chExt cx="353677" cy="402387"/>
          </a:xfrm>
        </p:grpSpPr>
        <p:grpSp>
          <p:nvGrpSpPr>
            <p:cNvPr id="5114" name="Freeform 601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5112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13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117" name="Oval 602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5115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16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122" name="Group 603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5118" name="Freeform 604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19" name="Freeform 605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20" name="Freeform 606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21" name="Freeform 607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135" name="Group 553"/>
          <p:cNvGrpSpPr/>
          <p:nvPr/>
        </p:nvGrpSpPr>
        <p:grpSpPr>
          <a:xfrm>
            <a:off x="9098788" y="3867861"/>
            <a:ext cx="367225" cy="417049"/>
            <a:chOff x="0" y="0"/>
            <a:chExt cx="367223" cy="417048"/>
          </a:xfrm>
        </p:grpSpPr>
        <p:grpSp>
          <p:nvGrpSpPr>
            <p:cNvPr id="5126" name="Freeform 554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5124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25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129" name="Oval 555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5127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28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134" name="Group 556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5130" name="Freeform 557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31" name="Freeform 558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32" name="Freeform 559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33" name="Freeform 560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147" name="Group 584"/>
          <p:cNvGrpSpPr/>
          <p:nvPr/>
        </p:nvGrpSpPr>
        <p:grpSpPr>
          <a:xfrm>
            <a:off x="9980125" y="2559220"/>
            <a:ext cx="353679" cy="402389"/>
            <a:chOff x="0" y="0"/>
            <a:chExt cx="353677" cy="402387"/>
          </a:xfrm>
        </p:grpSpPr>
        <p:grpSp>
          <p:nvGrpSpPr>
            <p:cNvPr id="5138" name="Freeform 585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5136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37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141" name="Oval 586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5139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40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146" name="Group 587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5142" name="Freeform 588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43" name="Freeform 589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44" name="Freeform 590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45" name="Freeform 591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159" name="Group 537"/>
          <p:cNvGrpSpPr/>
          <p:nvPr/>
        </p:nvGrpSpPr>
        <p:grpSpPr>
          <a:xfrm>
            <a:off x="9497138" y="3305269"/>
            <a:ext cx="367225" cy="417049"/>
            <a:chOff x="0" y="0"/>
            <a:chExt cx="367223" cy="417048"/>
          </a:xfrm>
        </p:grpSpPr>
        <p:grpSp>
          <p:nvGrpSpPr>
            <p:cNvPr id="5150" name="Freeform 538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5148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49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153" name="Oval 539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5151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52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158" name="Group 540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5154" name="Freeform 541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55" name="Freeform 542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56" name="Freeform 543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57" name="Freeform 544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171" name="Group 545"/>
          <p:cNvGrpSpPr/>
          <p:nvPr/>
        </p:nvGrpSpPr>
        <p:grpSpPr>
          <a:xfrm>
            <a:off x="9601554" y="3911000"/>
            <a:ext cx="367225" cy="417049"/>
            <a:chOff x="0" y="0"/>
            <a:chExt cx="367223" cy="417048"/>
          </a:xfrm>
        </p:grpSpPr>
        <p:grpSp>
          <p:nvGrpSpPr>
            <p:cNvPr id="5162" name="Freeform 546"/>
            <p:cNvGrpSpPr/>
            <p:nvPr/>
          </p:nvGrpSpPr>
          <p:grpSpPr>
            <a:xfrm>
              <a:off x="0" y="83960"/>
              <a:ext cx="367224" cy="333089"/>
              <a:chOff x="0" y="0"/>
              <a:chExt cx="367223" cy="333087"/>
            </a:xfrm>
          </p:grpSpPr>
          <p:sp>
            <p:nvSpPr>
              <p:cNvPr id="5160" name="Shape"/>
              <p:cNvSpPr/>
              <p:nvPr/>
            </p:nvSpPr>
            <p:spPr>
              <a:xfrm>
                <a:off x="0" y="87981"/>
                <a:ext cx="367224" cy="157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61" name="Text"/>
              <p:cNvSpPr txBox="1"/>
              <p:nvPr/>
            </p:nvSpPr>
            <p:spPr>
              <a:xfrm>
                <a:off x="48894" y="0"/>
                <a:ext cx="26943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165" name="Oval 547"/>
            <p:cNvGrpSpPr/>
            <p:nvPr/>
          </p:nvGrpSpPr>
          <p:grpSpPr>
            <a:xfrm>
              <a:off x="211" y="-1"/>
              <a:ext cx="366781" cy="333089"/>
              <a:chOff x="0" y="0"/>
              <a:chExt cx="366780" cy="333087"/>
            </a:xfrm>
          </p:grpSpPr>
          <p:sp>
            <p:nvSpPr>
              <p:cNvPr id="5163" name="Oval"/>
              <p:cNvSpPr/>
              <p:nvPr/>
            </p:nvSpPr>
            <p:spPr>
              <a:xfrm>
                <a:off x="0" y="88762"/>
                <a:ext cx="366781" cy="155563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64" name="Text"/>
              <p:cNvSpPr txBox="1"/>
              <p:nvPr/>
            </p:nvSpPr>
            <p:spPr>
              <a:xfrm>
                <a:off x="102609" y="0"/>
                <a:ext cx="16156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170" name="Group 548"/>
            <p:cNvGrpSpPr/>
            <p:nvPr/>
          </p:nvGrpSpPr>
          <p:grpSpPr>
            <a:xfrm>
              <a:off x="54462" y="108534"/>
              <a:ext cx="258231" cy="114306"/>
              <a:chOff x="0" y="0"/>
              <a:chExt cx="258230" cy="114304"/>
            </a:xfrm>
          </p:grpSpPr>
          <p:sp>
            <p:nvSpPr>
              <p:cNvPr id="5166" name="Freeform 549"/>
              <p:cNvSpPr/>
              <p:nvPr/>
            </p:nvSpPr>
            <p:spPr>
              <a:xfrm>
                <a:off x="7142" y="-1"/>
                <a:ext cx="244282" cy="639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67" name="Freeform 550"/>
              <p:cNvSpPr/>
              <p:nvPr/>
            </p:nvSpPr>
            <p:spPr>
              <a:xfrm>
                <a:off x="167025" y="54732"/>
                <a:ext cx="91206" cy="55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68" name="Freeform 551"/>
              <p:cNvSpPr/>
              <p:nvPr/>
            </p:nvSpPr>
            <p:spPr>
              <a:xfrm>
                <a:off x="-1" y="54732"/>
                <a:ext cx="89558" cy="54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69" name="Freeform 552"/>
              <p:cNvSpPr/>
              <p:nvPr/>
            </p:nvSpPr>
            <p:spPr>
              <a:xfrm>
                <a:off x="31089" y="27828"/>
                <a:ext cx="194725" cy="864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183" name="Group 622"/>
          <p:cNvGrpSpPr/>
          <p:nvPr/>
        </p:nvGrpSpPr>
        <p:grpSpPr>
          <a:xfrm>
            <a:off x="10375258" y="3889980"/>
            <a:ext cx="353679" cy="402389"/>
            <a:chOff x="0" y="0"/>
            <a:chExt cx="353677" cy="402387"/>
          </a:xfrm>
        </p:grpSpPr>
        <p:grpSp>
          <p:nvGrpSpPr>
            <p:cNvPr id="5174" name="Freeform 623"/>
            <p:cNvGrpSpPr/>
            <p:nvPr/>
          </p:nvGrpSpPr>
          <p:grpSpPr>
            <a:xfrm>
              <a:off x="-1" y="69300"/>
              <a:ext cx="353679" cy="333088"/>
              <a:chOff x="0" y="0"/>
              <a:chExt cx="353677" cy="333087"/>
            </a:xfrm>
          </p:grpSpPr>
          <p:sp>
            <p:nvSpPr>
              <p:cNvPr id="5172" name="Shape"/>
              <p:cNvSpPr/>
              <p:nvPr/>
            </p:nvSpPr>
            <p:spPr>
              <a:xfrm>
                <a:off x="0" y="101699"/>
                <a:ext cx="353678" cy="129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73" name="Text"/>
              <p:cNvSpPr txBox="1"/>
              <p:nvPr/>
            </p:nvSpPr>
            <p:spPr>
              <a:xfrm>
                <a:off x="48894" y="0"/>
                <a:ext cx="25588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177" name="Oval 624"/>
            <p:cNvGrpSpPr/>
            <p:nvPr/>
          </p:nvGrpSpPr>
          <p:grpSpPr>
            <a:xfrm>
              <a:off x="203" y="-1"/>
              <a:ext cx="353251" cy="333089"/>
              <a:chOff x="0" y="0"/>
              <a:chExt cx="353249" cy="333087"/>
            </a:xfrm>
          </p:grpSpPr>
          <p:sp>
            <p:nvSpPr>
              <p:cNvPr id="5175" name="Oval"/>
              <p:cNvSpPr/>
              <p:nvPr/>
            </p:nvSpPr>
            <p:spPr>
              <a:xfrm>
                <a:off x="0" y="102344"/>
                <a:ext cx="353250" cy="128401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76" name="Text"/>
              <p:cNvSpPr txBox="1"/>
              <p:nvPr/>
            </p:nvSpPr>
            <p:spPr>
              <a:xfrm>
                <a:off x="100627" y="0"/>
                <a:ext cx="15199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182" name="Group 625"/>
            <p:cNvGrpSpPr/>
            <p:nvPr/>
          </p:nvGrpSpPr>
          <p:grpSpPr>
            <a:xfrm>
              <a:off x="52453" y="118663"/>
              <a:ext cx="248706" cy="94347"/>
              <a:chOff x="0" y="0"/>
              <a:chExt cx="248704" cy="94345"/>
            </a:xfrm>
          </p:grpSpPr>
          <p:sp>
            <p:nvSpPr>
              <p:cNvPr id="5178" name="Freeform 626"/>
              <p:cNvSpPr/>
              <p:nvPr/>
            </p:nvSpPr>
            <p:spPr>
              <a:xfrm>
                <a:off x="6879" y="0"/>
                <a:ext cx="235271" cy="52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79" name="Freeform 627"/>
              <p:cNvSpPr/>
              <p:nvPr/>
            </p:nvSpPr>
            <p:spPr>
              <a:xfrm>
                <a:off x="160864" y="45175"/>
                <a:ext cx="87841" cy="454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80" name="Freeform 628"/>
              <p:cNvSpPr/>
              <p:nvPr/>
            </p:nvSpPr>
            <p:spPr>
              <a:xfrm>
                <a:off x="0" y="45175"/>
                <a:ext cx="86253" cy="449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81" name="Freeform 629"/>
              <p:cNvSpPr/>
              <p:nvPr/>
            </p:nvSpPr>
            <p:spPr>
              <a:xfrm>
                <a:off x="29942" y="22969"/>
                <a:ext cx="187543" cy="71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pic>
        <p:nvPicPr>
          <p:cNvPr id="5184" name="Picture 653" descr="Picture 6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09572" y="1917025"/>
            <a:ext cx="136842" cy="3284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5" name="Picture 1018" descr="Picture 10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 rot="109063">
            <a:off x="7464780" y="2605090"/>
            <a:ext cx="437222" cy="159512"/>
          </a:xfrm>
          <a:prstGeom prst="rect">
            <a:avLst/>
          </a:prstGeom>
          <a:ln w="12700">
            <a:miter lim="400000"/>
          </a:ln>
        </p:spPr>
      </p:pic>
      <p:sp>
        <p:nvSpPr>
          <p:cNvPr id="5186" name="Freeform 1019"/>
          <p:cNvSpPr/>
          <p:nvPr/>
        </p:nvSpPr>
        <p:spPr>
          <a:xfrm>
            <a:off x="7609678" y="2450303"/>
            <a:ext cx="351920" cy="208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187" name="Picture 1020" descr="Picture 10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27011" y="2455658"/>
            <a:ext cx="319786" cy="189430"/>
          </a:xfrm>
          <a:prstGeom prst="rect">
            <a:avLst/>
          </a:prstGeom>
          <a:ln w="12700">
            <a:miter lim="400000"/>
          </a:ln>
        </p:spPr>
      </p:pic>
      <p:sp>
        <p:nvSpPr>
          <p:cNvPr id="5188" name="Freeform 1021"/>
          <p:cNvSpPr/>
          <p:nvPr/>
        </p:nvSpPr>
        <p:spPr>
          <a:xfrm>
            <a:off x="7673751" y="2444163"/>
            <a:ext cx="298168" cy="38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89" name="Freeform 1022"/>
          <p:cNvSpPr/>
          <p:nvPr/>
        </p:nvSpPr>
        <p:spPr>
          <a:xfrm>
            <a:off x="7606562" y="2443847"/>
            <a:ext cx="82771" cy="161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90" name="Freeform 1023"/>
          <p:cNvSpPr/>
          <p:nvPr/>
        </p:nvSpPr>
        <p:spPr>
          <a:xfrm>
            <a:off x="7880578" y="2472663"/>
            <a:ext cx="89198" cy="1861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91" name="Freeform 1024"/>
          <p:cNvSpPr/>
          <p:nvPr/>
        </p:nvSpPr>
        <p:spPr>
          <a:xfrm>
            <a:off x="7605587" y="2596901"/>
            <a:ext cx="305138" cy="628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92" name="Freeform 1025"/>
          <p:cNvSpPr/>
          <p:nvPr/>
        </p:nvSpPr>
        <p:spPr>
          <a:xfrm>
            <a:off x="7890512" y="2474237"/>
            <a:ext cx="83550" cy="186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93" name="Freeform 1026"/>
          <p:cNvSpPr/>
          <p:nvPr/>
        </p:nvSpPr>
        <p:spPr>
          <a:xfrm>
            <a:off x="7605976" y="2605247"/>
            <a:ext cx="290962" cy="620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200" name="Group 1027"/>
          <p:cNvGrpSpPr/>
          <p:nvPr/>
        </p:nvGrpSpPr>
        <p:grpSpPr>
          <a:xfrm>
            <a:off x="7601108" y="2671540"/>
            <a:ext cx="98741" cy="36943"/>
            <a:chOff x="0" y="0"/>
            <a:chExt cx="98739" cy="36942"/>
          </a:xfrm>
        </p:grpSpPr>
        <p:sp>
          <p:nvSpPr>
            <p:cNvPr id="5194" name="Freeform 1028"/>
            <p:cNvSpPr/>
            <p:nvPr/>
          </p:nvSpPr>
          <p:spPr>
            <a:xfrm>
              <a:off x="0" y="0"/>
              <a:ext cx="98740" cy="36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195" name="Freeform 1029"/>
            <p:cNvSpPr/>
            <p:nvPr/>
          </p:nvSpPr>
          <p:spPr>
            <a:xfrm>
              <a:off x="1838" y="788"/>
              <a:ext cx="95327" cy="35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196" name="Freeform 1030"/>
            <p:cNvSpPr/>
            <p:nvPr/>
          </p:nvSpPr>
          <p:spPr>
            <a:xfrm>
              <a:off x="8928" y="13706"/>
              <a:ext cx="3387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197" name="Freeform 1031"/>
            <p:cNvSpPr/>
            <p:nvPr/>
          </p:nvSpPr>
          <p:spPr>
            <a:xfrm>
              <a:off x="7746" y="16805"/>
              <a:ext cx="2547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198" name="Freeform 1032"/>
            <p:cNvSpPr/>
            <p:nvPr/>
          </p:nvSpPr>
          <p:spPr>
            <a:xfrm>
              <a:off x="36764" y="21030"/>
              <a:ext cx="3387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199" name="Freeform 1033"/>
            <p:cNvSpPr/>
            <p:nvPr/>
          </p:nvSpPr>
          <p:spPr>
            <a:xfrm>
              <a:off x="35583" y="24242"/>
              <a:ext cx="2547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5201" name="Freeform 1034"/>
          <p:cNvSpPr/>
          <p:nvPr/>
        </p:nvSpPr>
        <p:spPr>
          <a:xfrm>
            <a:off x="7770153" y="2677050"/>
            <a:ext cx="119579" cy="809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02" name="Freeform 1035"/>
          <p:cNvSpPr/>
          <p:nvPr/>
        </p:nvSpPr>
        <p:spPr>
          <a:xfrm>
            <a:off x="7464976" y="2683506"/>
            <a:ext cx="305958" cy="73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03" name="Freeform 1036"/>
          <p:cNvSpPr/>
          <p:nvPr/>
        </p:nvSpPr>
        <p:spPr>
          <a:xfrm>
            <a:off x="7460476" y="2669964"/>
            <a:ext cx="12701" cy="14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04" name="Freeform 1037"/>
          <p:cNvSpPr/>
          <p:nvPr/>
        </p:nvSpPr>
        <p:spPr>
          <a:xfrm>
            <a:off x="7465366" y="2609026"/>
            <a:ext cx="142171" cy="61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05" name="Freeform 1038"/>
          <p:cNvSpPr/>
          <p:nvPr/>
        </p:nvSpPr>
        <p:spPr>
          <a:xfrm>
            <a:off x="7474908" y="2673114"/>
            <a:ext cx="290183" cy="71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06" name="Freeform 1039"/>
          <p:cNvSpPr/>
          <p:nvPr/>
        </p:nvSpPr>
        <p:spPr>
          <a:xfrm flipV="1">
            <a:off x="7764701" y="2668075"/>
            <a:ext cx="118411" cy="73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207" name="Picture 568" descr="Picture 56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8831667" y="2392289"/>
            <a:ext cx="92773" cy="405448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8" name="Picture 603" descr="Picture 60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99539" y="2116957"/>
            <a:ext cx="849313" cy="168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9" name="Picture 1116" descr="Picture 11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flipH="1" rot="109063">
            <a:off x="7510374" y="3605209"/>
            <a:ext cx="286700" cy="119449"/>
          </a:xfrm>
          <a:prstGeom prst="rect">
            <a:avLst/>
          </a:prstGeom>
          <a:ln w="12700">
            <a:miter lim="400000"/>
          </a:ln>
        </p:spPr>
      </p:pic>
      <p:sp>
        <p:nvSpPr>
          <p:cNvPr id="5210" name="Freeform 1117"/>
          <p:cNvSpPr/>
          <p:nvPr/>
        </p:nvSpPr>
        <p:spPr>
          <a:xfrm>
            <a:off x="7605387" y="3489299"/>
            <a:ext cx="230765" cy="155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211" name="Picture 1118" descr="Picture 111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616753" y="3493308"/>
            <a:ext cx="209693" cy="141852"/>
          </a:xfrm>
          <a:prstGeom prst="rect">
            <a:avLst/>
          </a:prstGeom>
          <a:ln w="12700">
            <a:miter lim="400000"/>
          </a:ln>
        </p:spPr>
      </p:pic>
      <p:sp>
        <p:nvSpPr>
          <p:cNvPr id="5212" name="Freeform 1119"/>
          <p:cNvSpPr/>
          <p:nvPr/>
        </p:nvSpPr>
        <p:spPr>
          <a:xfrm>
            <a:off x="7647402" y="3484700"/>
            <a:ext cx="195518" cy="29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13" name="Freeform 1120"/>
          <p:cNvSpPr/>
          <p:nvPr/>
        </p:nvSpPr>
        <p:spPr>
          <a:xfrm>
            <a:off x="7603345" y="3484464"/>
            <a:ext cx="54276" cy="1207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14" name="Freeform 1121"/>
          <p:cNvSpPr/>
          <p:nvPr/>
        </p:nvSpPr>
        <p:spPr>
          <a:xfrm>
            <a:off x="7783025" y="3506042"/>
            <a:ext cx="58490" cy="13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15" name="Freeform 1122"/>
          <p:cNvSpPr/>
          <p:nvPr/>
        </p:nvSpPr>
        <p:spPr>
          <a:xfrm>
            <a:off x="7602705" y="3599077"/>
            <a:ext cx="200088" cy="4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16" name="Freeform 1123"/>
          <p:cNvSpPr/>
          <p:nvPr/>
        </p:nvSpPr>
        <p:spPr>
          <a:xfrm>
            <a:off x="7789539" y="3507221"/>
            <a:ext cx="54787" cy="1399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17" name="Freeform 1124"/>
          <p:cNvSpPr/>
          <p:nvPr/>
        </p:nvSpPr>
        <p:spPr>
          <a:xfrm>
            <a:off x="7602962" y="3605326"/>
            <a:ext cx="190793" cy="46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224" name="Group 1125"/>
          <p:cNvGrpSpPr/>
          <p:nvPr/>
        </p:nvGrpSpPr>
        <p:grpSpPr>
          <a:xfrm>
            <a:off x="7599768" y="3654969"/>
            <a:ext cx="64748" cy="29260"/>
            <a:chOff x="0" y="0"/>
            <a:chExt cx="64746" cy="29258"/>
          </a:xfrm>
        </p:grpSpPr>
        <p:sp>
          <p:nvSpPr>
            <p:cNvPr id="5218" name="Freeform 1126"/>
            <p:cNvSpPr/>
            <p:nvPr/>
          </p:nvSpPr>
          <p:spPr>
            <a:xfrm>
              <a:off x="0" y="0"/>
              <a:ext cx="64747" cy="27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19" name="Freeform 1127"/>
            <p:cNvSpPr/>
            <p:nvPr/>
          </p:nvSpPr>
          <p:spPr>
            <a:xfrm>
              <a:off x="1205" y="590"/>
              <a:ext cx="62509" cy="26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20" name="Freeform 1128"/>
            <p:cNvSpPr/>
            <p:nvPr/>
          </p:nvSpPr>
          <p:spPr>
            <a:xfrm>
              <a:off x="5854" y="8669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21" name="Freeform 1129"/>
            <p:cNvSpPr/>
            <p:nvPr/>
          </p:nvSpPr>
          <p:spPr>
            <a:xfrm>
              <a:off x="5079" y="10989"/>
              <a:ext cx="1670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22" name="Freeform 1130"/>
            <p:cNvSpPr/>
            <p:nvPr/>
          </p:nvSpPr>
          <p:spPr>
            <a:xfrm>
              <a:off x="24107" y="14154"/>
              <a:ext cx="22215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23" name="Freeform 1131"/>
            <p:cNvSpPr/>
            <p:nvPr/>
          </p:nvSpPr>
          <p:spPr>
            <a:xfrm>
              <a:off x="23333" y="16558"/>
              <a:ext cx="16704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5225" name="Freeform 1132"/>
          <p:cNvSpPr/>
          <p:nvPr/>
        </p:nvSpPr>
        <p:spPr>
          <a:xfrm>
            <a:off x="7710616" y="3659096"/>
            <a:ext cx="78412" cy="60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26" name="Freeform 1133"/>
          <p:cNvSpPr/>
          <p:nvPr/>
        </p:nvSpPr>
        <p:spPr>
          <a:xfrm>
            <a:off x="7510502" y="3663931"/>
            <a:ext cx="200626" cy="553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27" name="Freeform 1134"/>
          <p:cNvSpPr/>
          <p:nvPr/>
        </p:nvSpPr>
        <p:spPr>
          <a:xfrm>
            <a:off x="7505366" y="3653041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28" name="Freeform 1135"/>
          <p:cNvSpPr/>
          <p:nvPr/>
        </p:nvSpPr>
        <p:spPr>
          <a:xfrm>
            <a:off x="7510757" y="3608156"/>
            <a:ext cx="93226" cy="46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29" name="Freeform 1136"/>
          <p:cNvSpPr/>
          <p:nvPr/>
        </p:nvSpPr>
        <p:spPr>
          <a:xfrm>
            <a:off x="7517016" y="3656148"/>
            <a:ext cx="190282" cy="531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30" name="Freeform 1137"/>
          <p:cNvSpPr/>
          <p:nvPr/>
        </p:nvSpPr>
        <p:spPr>
          <a:xfrm flipV="1">
            <a:off x="7707041" y="3652375"/>
            <a:ext cx="77646" cy="55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231" name="Picture 1140" descr="Picture 114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flipH="1">
            <a:off x="7991995" y="3567143"/>
            <a:ext cx="359262" cy="342046"/>
          </a:xfrm>
          <a:prstGeom prst="rect">
            <a:avLst/>
          </a:prstGeom>
          <a:ln w="12700">
            <a:miter lim="400000"/>
          </a:ln>
        </p:spPr>
      </p:pic>
      <p:sp>
        <p:nvSpPr>
          <p:cNvPr id="5232" name="Freeform 1141"/>
          <p:cNvSpPr/>
          <p:nvPr/>
        </p:nvSpPr>
        <p:spPr>
          <a:xfrm flipH="1">
            <a:off x="8145216" y="3599941"/>
            <a:ext cx="169401" cy="15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8202" y="822"/>
                </a:lnTo>
                <a:lnTo>
                  <a:pt x="21600" y="17257"/>
                </a:lnTo>
                <a:lnTo>
                  <a:pt x="4733" y="21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233" name="Picture 571" descr="Picture 571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903198" y="3385017"/>
            <a:ext cx="189579" cy="3370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66" name="Group 950"/>
          <p:cNvGrpSpPr/>
          <p:nvPr/>
        </p:nvGrpSpPr>
        <p:grpSpPr>
          <a:xfrm>
            <a:off x="10288915" y="5273950"/>
            <a:ext cx="180435" cy="330834"/>
            <a:chOff x="0" y="0"/>
            <a:chExt cx="180433" cy="330833"/>
          </a:xfrm>
        </p:grpSpPr>
        <p:sp>
          <p:nvSpPr>
            <p:cNvPr id="5234" name="Freeform 951"/>
            <p:cNvSpPr/>
            <p:nvPr/>
          </p:nvSpPr>
          <p:spPr>
            <a:xfrm>
              <a:off x="140261" y="552"/>
              <a:ext cx="35191" cy="31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35" name="Rectangle 952"/>
            <p:cNvSpPr/>
            <p:nvPr/>
          </p:nvSpPr>
          <p:spPr>
            <a:xfrm>
              <a:off x="8704" y="0"/>
              <a:ext cx="130066" cy="315507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36" name="Freeform 953"/>
            <p:cNvSpPr/>
            <p:nvPr/>
          </p:nvSpPr>
          <p:spPr>
            <a:xfrm>
              <a:off x="147548" y="19468"/>
              <a:ext cx="20319" cy="287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37" name="Freeform 954"/>
            <p:cNvSpPr/>
            <p:nvPr/>
          </p:nvSpPr>
          <p:spPr>
            <a:xfrm>
              <a:off x="142250" y="167211"/>
              <a:ext cx="32704" cy="26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38" name="Rectangle 955"/>
            <p:cNvSpPr/>
            <p:nvPr/>
          </p:nvSpPr>
          <p:spPr>
            <a:xfrm>
              <a:off x="8704" y="32932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241" name="Group 956"/>
            <p:cNvGrpSpPr/>
            <p:nvPr/>
          </p:nvGrpSpPr>
          <p:grpSpPr>
            <a:xfrm>
              <a:off x="75626" y="32712"/>
              <a:ext cx="71847" cy="20742"/>
              <a:chOff x="0" y="0"/>
              <a:chExt cx="71846" cy="20741"/>
            </a:xfrm>
          </p:grpSpPr>
          <p:sp>
            <p:nvSpPr>
              <p:cNvPr id="5239" name="AutoShape 957"/>
              <p:cNvSpPr/>
              <p:nvPr/>
            </p:nvSpPr>
            <p:spPr>
              <a:xfrm>
                <a:off x="0" y="0"/>
                <a:ext cx="71847" cy="207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240" name="AutoShape 958"/>
              <p:cNvSpPr/>
              <p:nvPr/>
            </p:nvSpPr>
            <p:spPr>
              <a:xfrm>
                <a:off x="1195" y="2160"/>
                <a:ext cx="69356" cy="164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5242" name="Rectangle 959"/>
            <p:cNvSpPr/>
            <p:nvPr/>
          </p:nvSpPr>
          <p:spPr>
            <a:xfrm>
              <a:off x="9947" y="78774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245" name="Group 960"/>
            <p:cNvGrpSpPr/>
            <p:nvPr/>
          </p:nvGrpSpPr>
          <p:grpSpPr>
            <a:xfrm>
              <a:off x="75577" y="77481"/>
              <a:ext cx="71847" cy="18503"/>
              <a:chOff x="0" y="0"/>
              <a:chExt cx="71846" cy="18502"/>
            </a:xfrm>
          </p:grpSpPr>
          <p:sp>
            <p:nvSpPr>
              <p:cNvPr id="5243" name="AutoShape 961"/>
              <p:cNvSpPr/>
              <p:nvPr/>
            </p:nvSpPr>
            <p:spPr>
              <a:xfrm>
                <a:off x="0" y="0"/>
                <a:ext cx="71847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244" name="AutoShape 962"/>
              <p:cNvSpPr/>
              <p:nvPr/>
            </p:nvSpPr>
            <p:spPr>
              <a:xfrm>
                <a:off x="1295" y="2262"/>
                <a:ext cx="69356" cy="1424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5246" name="Rectangle 963"/>
            <p:cNvSpPr/>
            <p:nvPr/>
          </p:nvSpPr>
          <p:spPr>
            <a:xfrm>
              <a:off x="9947" y="124615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47" name="Rectangle 964"/>
            <p:cNvSpPr/>
            <p:nvPr/>
          </p:nvSpPr>
          <p:spPr>
            <a:xfrm>
              <a:off x="11191" y="166177"/>
              <a:ext cx="7435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250" name="Group 965"/>
            <p:cNvGrpSpPr/>
            <p:nvPr/>
          </p:nvGrpSpPr>
          <p:grpSpPr>
            <a:xfrm>
              <a:off x="74384" y="168116"/>
              <a:ext cx="71871" cy="18601"/>
              <a:chOff x="0" y="0"/>
              <a:chExt cx="71869" cy="18599"/>
            </a:xfrm>
          </p:grpSpPr>
          <p:sp>
            <p:nvSpPr>
              <p:cNvPr id="5248" name="AutoShape 966"/>
              <p:cNvSpPr/>
              <p:nvPr/>
            </p:nvSpPr>
            <p:spPr>
              <a:xfrm>
                <a:off x="0" y="0"/>
                <a:ext cx="71870" cy="1860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249" name="AutoShape 967"/>
              <p:cNvSpPr/>
              <p:nvPr/>
            </p:nvSpPr>
            <p:spPr>
              <a:xfrm>
                <a:off x="1197" y="0"/>
                <a:ext cx="69376" cy="1635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5251" name="Freeform 968"/>
            <p:cNvSpPr/>
            <p:nvPr/>
          </p:nvSpPr>
          <p:spPr>
            <a:xfrm>
              <a:off x="142748" y="127721"/>
              <a:ext cx="32704" cy="25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5254" name="Group 969"/>
            <p:cNvGrpSpPr/>
            <p:nvPr/>
          </p:nvGrpSpPr>
          <p:grpSpPr>
            <a:xfrm>
              <a:off x="74382" y="124407"/>
              <a:ext cx="73069" cy="18503"/>
              <a:chOff x="0" y="0"/>
              <a:chExt cx="73067" cy="18502"/>
            </a:xfrm>
          </p:grpSpPr>
          <p:sp>
            <p:nvSpPr>
              <p:cNvPr id="5252" name="AutoShape 970"/>
              <p:cNvSpPr/>
              <p:nvPr/>
            </p:nvSpPr>
            <p:spPr>
              <a:xfrm>
                <a:off x="0" y="0"/>
                <a:ext cx="73068" cy="1850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253" name="AutoShape 971"/>
              <p:cNvSpPr/>
              <p:nvPr/>
            </p:nvSpPr>
            <p:spPr>
              <a:xfrm>
                <a:off x="1197" y="2209"/>
                <a:ext cx="71871" cy="1422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5255" name="Rectangle 972"/>
            <p:cNvSpPr/>
            <p:nvPr/>
          </p:nvSpPr>
          <p:spPr>
            <a:xfrm>
              <a:off x="135527" y="0"/>
              <a:ext cx="12701" cy="315507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56" name="Freeform 973"/>
            <p:cNvSpPr/>
            <p:nvPr/>
          </p:nvSpPr>
          <p:spPr>
            <a:xfrm>
              <a:off x="145732" y="79808"/>
              <a:ext cx="29471" cy="29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7"/>
                    <a:pt x="21308" y="12150"/>
                  </a:cubicBezTo>
                  <a:cubicBezTo>
                    <a:pt x="21162" y="15019"/>
                    <a:pt x="21600" y="15863"/>
                    <a:pt x="21600" y="21600"/>
                  </a:cubicBezTo>
                  <a:cubicBezTo>
                    <a:pt x="21600" y="21600"/>
                    <a:pt x="11676" y="14850"/>
                    <a:pt x="0" y="8437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57" name="Freeform 974"/>
            <p:cNvSpPr/>
            <p:nvPr/>
          </p:nvSpPr>
          <p:spPr>
            <a:xfrm>
              <a:off x="146105" y="34657"/>
              <a:ext cx="30341" cy="33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58" name="Oval 975"/>
            <p:cNvSpPr/>
            <p:nvPr/>
          </p:nvSpPr>
          <p:spPr>
            <a:xfrm>
              <a:off x="167733" y="301284"/>
              <a:ext cx="12701" cy="13119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59" name="Freeform 976"/>
            <p:cNvSpPr/>
            <p:nvPr/>
          </p:nvSpPr>
          <p:spPr>
            <a:xfrm>
              <a:off x="144489" y="301698"/>
              <a:ext cx="30465" cy="2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60" name="AutoShape 977"/>
            <p:cNvSpPr/>
            <p:nvPr/>
          </p:nvSpPr>
          <p:spPr>
            <a:xfrm>
              <a:off x="0" y="310121"/>
              <a:ext cx="148717" cy="2071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61" name="AutoShape 978"/>
            <p:cNvSpPr/>
            <p:nvPr/>
          </p:nvSpPr>
          <p:spPr>
            <a:xfrm>
              <a:off x="8704" y="314610"/>
              <a:ext cx="13255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398" y="0"/>
                    <a:pt x="889" y="0"/>
                  </a:cubicBezTo>
                  <a:lnTo>
                    <a:pt x="20711" y="0"/>
                  </a:lnTo>
                  <a:cubicBezTo>
                    <a:pt x="21202" y="0"/>
                    <a:pt x="21600" y="4835"/>
                    <a:pt x="21600" y="10800"/>
                  </a:cubicBezTo>
                  <a:cubicBezTo>
                    <a:pt x="21600" y="16765"/>
                    <a:pt x="21202" y="21600"/>
                    <a:pt x="20711" y="21600"/>
                  </a:cubicBezTo>
                  <a:lnTo>
                    <a:pt x="889" y="21600"/>
                  </a:lnTo>
                  <a:cubicBezTo>
                    <a:pt x="398" y="21600"/>
                    <a:pt x="0" y="16765"/>
                    <a:pt x="0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62" name="Oval 979"/>
            <p:cNvSpPr/>
            <p:nvPr/>
          </p:nvSpPr>
          <p:spPr>
            <a:xfrm>
              <a:off x="21014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63" name="Oval 980"/>
            <p:cNvSpPr/>
            <p:nvPr/>
          </p:nvSpPr>
          <p:spPr>
            <a:xfrm>
              <a:off x="43396" y="269664"/>
              <a:ext cx="19771" cy="19607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64" name="Oval 981"/>
            <p:cNvSpPr/>
            <p:nvPr/>
          </p:nvSpPr>
          <p:spPr>
            <a:xfrm>
              <a:off x="64410" y="269664"/>
              <a:ext cx="19771" cy="19607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65" name="Rectangle 982"/>
            <p:cNvSpPr/>
            <p:nvPr/>
          </p:nvSpPr>
          <p:spPr>
            <a:xfrm>
              <a:off x="113891" y="194412"/>
              <a:ext cx="12701" cy="104801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5269" name="Group 590"/>
          <p:cNvGrpSpPr/>
          <p:nvPr/>
        </p:nvGrpSpPr>
        <p:grpSpPr>
          <a:xfrm>
            <a:off x="7980854" y="4900160"/>
            <a:ext cx="345631" cy="320303"/>
            <a:chOff x="0" y="0"/>
            <a:chExt cx="345629" cy="320302"/>
          </a:xfrm>
        </p:grpSpPr>
        <p:pic>
          <p:nvPicPr>
            <p:cNvPr id="5267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268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5270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216586" y="6040273"/>
            <a:ext cx="253502" cy="120344"/>
          </a:xfrm>
          <a:prstGeom prst="rect">
            <a:avLst/>
          </a:prstGeom>
          <a:ln w="12700">
            <a:miter lim="400000"/>
          </a:ln>
        </p:spPr>
      </p:pic>
      <p:sp>
        <p:nvSpPr>
          <p:cNvPr id="5271" name="Freeform 1067"/>
          <p:cNvSpPr/>
          <p:nvPr/>
        </p:nvSpPr>
        <p:spPr>
          <a:xfrm>
            <a:off x="9300596" y="5923493"/>
            <a:ext cx="204044" cy="1570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272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310647" y="5927533"/>
            <a:ext cx="185413" cy="142916"/>
          </a:xfrm>
          <a:prstGeom prst="rect">
            <a:avLst/>
          </a:prstGeom>
          <a:ln w="12700">
            <a:miter lim="400000"/>
          </a:ln>
        </p:spPr>
      </p:pic>
      <p:sp>
        <p:nvSpPr>
          <p:cNvPr id="5273" name="Freeform 1069"/>
          <p:cNvSpPr/>
          <p:nvPr/>
        </p:nvSpPr>
        <p:spPr>
          <a:xfrm>
            <a:off x="9337747" y="5918860"/>
            <a:ext cx="172879" cy="292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4" name="Freeform 1070"/>
          <p:cNvSpPr/>
          <p:nvPr/>
        </p:nvSpPr>
        <p:spPr>
          <a:xfrm>
            <a:off x="9298791" y="5918624"/>
            <a:ext cx="47991" cy="12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5" name="Freeform 1071"/>
          <p:cNvSpPr/>
          <p:nvPr/>
        </p:nvSpPr>
        <p:spPr>
          <a:xfrm>
            <a:off x="9457666" y="5940364"/>
            <a:ext cx="51717" cy="140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6" name="Freeform 1072"/>
          <p:cNvSpPr/>
          <p:nvPr/>
        </p:nvSpPr>
        <p:spPr>
          <a:xfrm>
            <a:off x="9298226" y="6034096"/>
            <a:ext cx="176919" cy="47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7" name="Freeform 1073"/>
          <p:cNvSpPr/>
          <p:nvPr/>
        </p:nvSpPr>
        <p:spPr>
          <a:xfrm>
            <a:off x="9463424" y="5941552"/>
            <a:ext cx="48443" cy="141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8" name="Freeform 1074"/>
          <p:cNvSpPr/>
          <p:nvPr/>
        </p:nvSpPr>
        <p:spPr>
          <a:xfrm>
            <a:off x="9298451" y="6040392"/>
            <a:ext cx="168701" cy="46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285" name="Group 1075"/>
          <p:cNvGrpSpPr/>
          <p:nvPr/>
        </p:nvGrpSpPr>
        <p:grpSpPr>
          <a:xfrm>
            <a:off x="9295628" y="6090406"/>
            <a:ext cx="57250" cy="29432"/>
            <a:chOff x="0" y="0"/>
            <a:chExt cx="57249" cy="29430"/>
          </a:xfrm>
        </p:grpSpPr>
        <p:sp>
          <p:nvSpPr>
            <p:cNvPr id="5279" name="Freeform 1076"/>
            <p:cNvSpPr/>
            <p:nvPr/>
          </p:nvSpPr>
          <p:spPr>
            <a:xfrm>
              <a:off x="0" y="0"/>
              <a:ext cx="57250" cy="27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80" name="Freeform 1077"/>
            <p:cNvSpPr/>
            <p:nvPr/>
          </p:nvSpPr>
          <p:spPr>
            <a:xfrm>
              <a:off x="1065" y="595"/>
              <a:ext cx="55271" cy="26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81" name="Freeform 1078"/>
            <p:cNvSpPr/>
            <p:nvPr/>
          </p:nvSpPr>
          <p:spPr>
            <a:xfrm>
              <a:off x="5176" y="8782"/>
              <a:ext cx="1964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82" name="Freeform 1079"/>
            <p:cNvSpPr/>
            <p:nvPr/>
          </p:nvSpPr>
          <p:spPr>
            <a:xfrm>
              <a:off x="4491" y="1112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83" name="Freeform 1080"/>
            <p:cNvSpPr/>
            <p:nvPr/>
          </p:nvSpPr>
          <p:spPr>
            <a:xfrm>
              <a:off x="21316" y="14307"/>
              <a:ext cx="1964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84" name="Freeform 1081"/>
            <p:cNvSpPr/>
            <p:nvPr/>
          </p:nvSpPr>
          <p:spPr>
            <a:xfrm>
              <a:off x="20630" y="16730"/>
              <a:ext cx="14770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5286" name="Freeform 1082"/>
          <p:cNvSpPr/>
          <p:nvPr/>
        </p:nvSpPr>
        <p:spPr>
          <a:xfrm>
            <a:off x="9393642" y="6094564"/>
            <a:ext cx="69333" cy="61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87" name="Freeform 1083"/>
          <p:cNvSpPr/>
          <p:nvPr/>
        </p:nvSpPr>
        <p:spPr>
          <a:xfrm>
            <a:off x="9216698" y="6099435"/>
            <a:ext cx="177395" cy="55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88" name="Freeform 1084"/>
          <p:cNvSpPr/>
          <p:nvPr/>
        </p:nvSpPr>
        <p:spPr>
          <a:xfrm>
            <a:off x="9211421" y="6088512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89" name="Freeform 1085"/>
          <p:cNvSpPr/>
          <p:nvPr/>
        </p:nvSpPr>
        <p:spPr>
          <a:xfrm>
            <a:off x="9216925" y="6043243"/>
            <a:ext cx="82431" cy="46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90" name="Freeform 1086"/>
          <p:cNvSpPr/>
          <p:nvPr/>
        </p:nvSpPr>
        <p:spPr>
          <a:xfrm>
            <a:off x="9222457" y="6091594"/>
            <a:ext cx="168250" cy="53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91" name="Freeform 1087"/>
          <p:cNvSpPr/>
          <p:nvPr/>
        </p:nvSpPr>
        <p:spPr>
          <a:xfrm flipV="1">
            <a:off x="9390480" y="6087793"/>
            <a:ext cx="68655" cy="55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294" name="Group 590"/>
          <p:cNvGrpSpPr/>
          <p:nvPr/>
        </p:nvGrpSpPr>
        <p:grpSpPr>
          <a:xfrm>
            <a:off x="8153909" y="5504657"/>
            <a:ext cx="345631" cy="320303"/>
            <a:chOff x="0" y="0"/>
            <a:chExt cx="345629" cy="320302"/>
          </a:xfrm>
        </p:grpSpPr>
        <p:pic>
          <p:nvPicPr>
            <p:cNvPr id="5292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293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5297" name="Group 590"/>
          <p:cNvGrpSpPr/>
          <p:nvPr/>
        </p:nvGrpSpPr>
        <p:grpSpPr>
          <a:xfrm>
            <a:off x="8552133" y="5526130"/>
            <a:ext cx="345631" cy="320303"/>
            <a:chOff x="0" y="0"/>
            <a:chExt cx="345629" cy="320302"/>
          </a:xfrm>
        </p:grpSpPr>
        <p:pic>
          <p:nvPicPr>
            <p:cNvPr id="5295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296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5298" name="Picture 1066" descr="Picture 1066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flipH="1" rot="109063">
            <a:off x="9550086" y="5949453"/>
            <a:ext cx="260921" cy="99064"/>
          </a:xfrm>
          <a:prstGeom prst="rect">
            <a:avLst/>
          </a:prstGeom>
          <a:ln w="12700">
            <a:miter lim="400000"/>
          </a:ln>
        </p:spPr>
      </p:pic>
      <p:sp>
        <p:nvSpPr>
          <p:cNvPr id="5299" name="Freeform 1067"/>
          <p:cNvSpPr/>
          <p:nvPr/>
        </p:nvSpPr>
        <p:spPr>
          <a:xfrm>
            <a:off x="9636556" y="5853324"/>
            <a:ext cx="210016" cy="129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911" y="0"/>
                </a:moveTo>
                <a:lnTo>
                  <a:pt x="0" y="15338"/>
                </a:lnTo>
                <a:lnTo>
                  <a:pt x="17341" y="21600"/>
                </a:lnTo>
                <a:lnTo>
                  <a:pt x="21600" y="2813"/>
                </a:lnTo>
                <a:lnTo>
                  <a:pt x="3911" y="0"/>
                </a:lnTo>
                <a:close/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300" name="Picture 1068" descr="Picture 106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646901" y="5856649"/>
            <a:ext cx="190839" cy="117645"/>
          </a:xfrm>
          <a:prstGeom prst="rect">
            <a:avLst/>
          </a:prstGeom>
          <a:ln w="12700">
            <a:miter lim="400000"/>
          </a:ln>
        </p:spPr>
      </p:pic>
      <p:sp>
        <p:nvSpPr>
          <p:cNvPr id="5301" name="Freeform 1069"/>
          <p:cNvSpPr/>
          <p:nvPr/>
        </p:nvSpPr>
        <p:spPr>
          <a:xfrm>
            <a:off x="9674793" y="5849510"/>
            <a:ext cx="177938" cy="240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0" y="0"/>
                </a:moveTo>
                <a:lnTo>
                  <a:pt x="21600" y="16188"/>
                </a:lnTo>
                <a:lnTo>
                  <a:pt x="21190" y="21600"/>
                </a:lnTo>
                <a:lnTo>
                  <a:pt x="0" y="4083"/>
                </a:lnTo>
                <a:lnTo>
                  <a:pt x="12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02" name="Freeform 1070"/>
          <p:cNvSpPr/>
          <p:nvPr/>
        </p:nvSpPr>
        <p:spPr>
          <a:xfrm>
            <a:off x="9634697" y="5849315"/>
            <a:ext cx="49396" cy="100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815" y="0"/>
                </a:moveTo>
                <a:lnTo>
                  <a:pt x="0" y="21326"/>
                </a:lnTo>
                <a:lnTo>
                  <a:pt x="3508" y="21600"/>
                </a:lnTo>
                <a:lnTo>
                  <a:pt x="21600" y="582"/>
                </a:lnTo>
                <a:lnTo>
                  <a:pt x="17815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03" name="Freeform 1071"/>
          <p:cNvSpPr/>
          <p:nvPr/>
        </p:nvSpPr>
        <p:spPr>
          <a:xfrm>
            <a:off x="9798222" y="5867210"/>
            <a:ext cx="53231" cy="1155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3943" y="21600"/>
                </a:lnTo>
                <a:lnTo>
                  <a:pt x="0" y="21244"/>
                </a:lnTo>
                <a:lnTo>
                  <a:pt x="17314" y="771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04" name="Freeform 1072"/>
          <p:cNvSpPr/>
          <p:nvPr/>
        </p:nvSpPr>
        <p:spPr>
          <a:xfrm>
            <a:off x="9634115" y="5944368"/>
            <a:ext cx="182098" cy="39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44" h="21600" fill="norm" stroke="1" extrusionOk="0">
                <a:moveTo>
                  <a:pt x="257" y="0"/>
                </a:moveTo>
                <a:lnTo>
                  <a:pt x="0" y="2898"/>
                </a:lnTo>
                <a:lnTo>
                  <a:pt x="18975" y="21600"/>
                </a:lnTo>
                <a:cubicBezTo>
                  <a:pt x="19466" y="14663"/>
                  <a:pt x="21600" y="21278"/>
                  <a:pt x="18484" y="17649"/>
                </a:cubicBezTo>
                <a:lnTo>
                  <a:pt x="257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05" name="Freeform 1073"/>
          <p:cNvSpPr/>
          <p:nvPr/>
        </p:nvSpPr>
        <p:spPr>
          <a:xfrm>
            <a:off x="9804149" y="5868189"/>
            <a:ext cx="49861" cy="1160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854" y="0"/>
                </a:moveTo>
                <a:lnTo>
                  <a:pt x="21600" y="0"/>
                </a:lnTo>
                <a:lnTo>
                  <a:pt x="2306" y="21600"/>
                </a:lnTo>
                <a:lnTo>
                  <a:pt x="0" y="21444"/>
                </a:lnTo>
                <a:lnTo>
                  <a:pt x="20854" y="0"/>
                </a:lnTo>
                <a:close/>
              </a:path>
            </a:pathLst>
          </a:custGeom>
          <a:solidFill>
            <a:srgbClr val="4D4D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06" name="Freeform 1074"/>
          <p:cNvSpPr/>
          <p:nvPr/>
        </p:nvSpPr>
        <p:spPr>
          <a:xfrm>
            <a:off x="9634349" y="5949551"/>
            <a:ext cx="173638" cy="385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8" y="2239"/>
                </a:lnTo>
                <a:lnTo>
                  <a:pt x="21093" y="21600"/>
                </a:lnTo>
                <a:lnTo>
                  <a:pt x="21600" y="194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313" name="Group 1075"/>
          <p:cNvGrpSpPr/>
          <p:nvPr/>
        </p:nvGrpSpPr>
        <p:grpSpPr>
          <a:xfrm>
            <a:off x="9631443" y="5990721"/>
            <a:ext cx="58926" cy="25351"/>
            <a:chOff x="0" y="0"/>
            <a:chExt cx="58925" cy="25349"/>
          </a:xfrm>
        </p:grpSpPr>
        <p:sp>
          <p:nvSpPr>
            <p:cNvPr id="5307" name="Freeform 1076"/>
            <p:cNvSpPr/>
            <p:nvPr/>
          </p:nvSpPr>
          <p:spPr>
            <a:xfrm>
              <a:off x="0" y="0"/>
              <a:ext cx="58926" cy="22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16" y="0"/>
                  </a:moveTo>
                  <a:lnTo>
                    <a:pt x="21600" y="8191"/>
                  </a:lnTo>
                  <a:lnTo>
                    <a:pt x="13500" y="21600"/>
                  </a:lnTo>
                  <a:lnTo>
                    <a:pt x="0" y="12088"/>
                  </a:lnTo>
                  <a:lnTo>
                    <a:pt x="841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08" name="Freeform 1077"/>
            <p:cNvSpPr/>
            <p:nvPr/>
          </p:nvSpPr>
          <p:spPr>
            <a:xfrm>
              <a:off x="1097" y="489"/>
              <a:ext cx="56888" cy="21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390" y="0"/>
                  </a:moveTo>
                  <a:lnTo>
                    <a:pt x="21600" y="8265"/>
                  </a:lnTo>
                  <a:lnTo>
                    <a:pt x="13597" y="21600"/>
                  </a:lnTo>
                  <a:lnTo>
                    <a:pt x="0" y="12015"/>
                  </a:lnTo>
                  <a:lnTo>
                    <a:pt x="839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09" name="Freeform 1078"/>
            <p:cNvSpPr/>
            <p:nvPr/>
          </p:nvSpPr>
          <p:spPr>
            <a:xfrm>
              <a:off x="5328" y="6106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04"/>
                  </a:moveTo>
                  <a:lnTo>
                    <a:pt x="6279" y="0"/>
                  </a:lnTo>
                  <a:lnTo>
                    <a:pt x="21600" y="10800"/>
                  </a:lnTo>
                  <a:lnTo>
                    <a:pt x="15321" y="21600"/>
                  </a:lnTo>
                  <a:lnTo>
                    <a:pt x="0" y="9504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10" name="Freeform 1079"/>
            <p:cNvSpPr/>
            <p:nvPr/>
          </p:nvSpPr>
          <p:spPr>
            <a:xfrm>
              <a:off x="4623" y="8030"/>
              <a:ext cx="15202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11" name="Freeform 1080"/>
            <p:cNvSpPr/>
            <p:nvPr/>
          </p:nvSpPr>
          <p:spPr>
            <a:xfrm>
              <a:off x="21940" y="10654"/>
              <a:ext cx="20217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741"/>
                  </a:moveTo>
                  <a:lnTo>
                    <a:pt x="5944" y="0"/>
                  </a:lnTo>
                  <a:lnTo>
                    <a:pt x="21600" y="11012"/>
                  </a:lnTo>
                  <a:lnTo>
                    <a:pt x="15321" y="21600"/>
                  </a:lnTo>
                  <a:lnTo>
                    <a:pt x="0" y="9741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12" name="Freeform 1081"/>
            <p:cNvSpPr/>
            <p:nvPr/>
          </p:nvSpPr>
          <p:spPr>
            <a:xfrm>
              <a:off x="21234" y="12649"/>
              <a:ext cx="15203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36" y="0"/>
                  </a:moveTo>
                  <a:lnTo>
                    <a:pt x="21600" y="18171"/>
                  </a:lnTo>
                  <a:lnTo>
                    <a:pt x="20041" y="21600"/>
                  </a:lnTo>
                  <a:lnTo>
                    <a:pt x="0" y="3086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5314" name="Freeform 1082"/>
          <p:cNvSpPr/>
          <p:nvPr/>
        </p:nvSpPr>
        <p:spPr>
          <a:xfrm>
            <a:off x="9732325" y="5994144"/>
            <a:ext cx="71362" cy="50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5" y="20127"/>
                </a:moveTo>
                <a:lnTo>
                  <a:pt x="21600" y="0"/>
                </a:lnTo>
                <a:lnTo>
                  <a:pt x="21535" y="1636"/>
                </a:lnTo>
                <a:lnTo>
                  <a:pt x="0" y="21600"/>
                </a:lnTo>
                <a:lnTo>
                  <a:pt x="65" y="20127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15" name="Freeform 1083"/>
          <p:cNvSpPr/>
          <p:nvPr/>
        </p:nvSpPr>
        <p:spPr>
          <a:xfrm>
            <a:off x="9550203" y="5998154"/>
            <a:ext cx="182587" cy="45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16" name="Freeform 1084"/>
          <p:cNvSpPr/>
          <p:nvPr/>
        </p:nvSpPr>
        <p:spPr>
          <a:xfrm>
            <a:off x="9544958" y="5988039"/>
            <a:ext cx="1270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9"/>
                </a:moveTo>
                <a:lnTo>
                  <a:pt x="19108" y="21600"/>
                </a:lnTo>
                <a:lnTo>
                  <a:pt x="0" y="21159"/>
                </a:lnTo>
                <a:lnTo>
                  <a:pt x="2492" y="0"/>
                </a:lnTo>
                <a:lnTo>
                  <a:pt x="21600" y="1469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17" name="Freeform 1085"/>
          <p:cNvSpPr/>
          <p:nvPr/>
        </p:nvSpPr>
        <p:spPr>
          <a:xfrm>
            <a:off x="9550435" y="5951899"/>
            <a:ext cx="84844" cy="38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90" y="0"/>
                </a:moveTo>
                <a:lnTo>
                  <a:pt x="0" y="21279"/>
                </a:lnTo>
                <a:lnTo>
                  <a:pt x="551" y="21600"/>
                </a:lnTo>
                <a:lnTo>
                  <a:pt x="21600" y="642"/>
                </a:lnTo>
                <a:lnTo>
                  <a:pt x="21490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18" name="Freeform 1086"/>
          <p:cNvSpPr/>
          <p:nvPr/>
        </p:nvSpPr>
        <p:spPr>
          <a:xfrm>
            <a:off x="9556130" y="5991700"/>
            <a:ext cx="173173" cy="44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19" name="Freeform 1087"/>
          <p:cNvSpPr/>
          <p:nvPr/>
        </p:nvSpPr>
        <p:spPr>
          <a:xfrm flipV="1">
            <a:off x="9729071" y="5988570"/>
            <a:ext cx="70664" cy="45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1" y="0"/>
                </a:moveTo>
                <a:cubicBezTo>
                  <a:pt x="136" y="0"/>
                  <a:pt x="222" y="0"/>
                  <a:pt x="307" y="0"/>
                </a:cubicBezTo>
                <a:lnTo>
                  <a:pt x="21600" y="20256"/>
                </a:lnTo>
                <a:lnTo>
                  <a:pt x="21574" y="21600"/>
                </a:lnTo>
                <a:lnTo>
                  <a:pt x="0" y="717"/>
                </a:lnTo>
                <a:lnTo>
                  <a:pt x="51" y="0"/>
                </a:lnTo>
                <a:close/>
              </a:path>
            </a:pathLst>
          </a:custGeom>
          <a:solidFill>
            <a:srgbClr val="0000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352" name="Group 983"/>
          <p:cNvGrpSpPr/>
          <p:nvPr/>
        </p:nvGrpSpPr>
        <p:grpSpPr>
          <a:xfrm>
            <a:off x="10017876" y="5636388"/>
            <a:ext cx="174794" cy="348945"/>
            <a:chOff x="0" y="0"/>
            <a:chExt cx="174792" cy="348944"/>
          </a:xfrm>
        </p:grpSpPr>
        <p:sp>
          <p:nvSpPr>
            <p:cNvPr id="5320" name="Freeform 984"/>
            <p:cNvSpPr/>
            <p:nvPr/>
          </p:nvSpPr>
          <p:spPr>
            <a:xfrm>
              <a:off x="135716" y="582"/>
              <a:ext cx="34050" cy="332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21" name="Rectangle 985"/>
            <p:cNvSpPr/>
            <p:nvPr/>
          </p:nvSpPr>
          <p:spPr>
            <a:xfrm>
              <a:off x="8422" y="0"/>
              <a:ext cx="125851" cy="332779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22" name="Freeform 986"/>
            <p:cNvSpPr/>
            <p:nvPr/>
          </p:nvSpPr>
          <p:spPr>
            <a:xfrm>
              <a:off x="142767" y="20534"/>
              <a:ext cx="19660" cy="3037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23" name="Freeform 987"/>
            <p:cNvSpPr/>
            <p:nvPr/>
          </p:nvSpPr>
          <p:spPr>
            <a:xfrm>
              <a:off x="137641" y="176365"/>
              <a:ext cx="31644" cy="27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24" name="Rectangle 988"/>
            <p:cNvSpPr/>
            <p:nvPr/>
          </p:nvSpPr>
          <p:spPr>
            <a:xfrm>
              <a:off x="8422" y="35083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327" name="Group 989"/>
            <p:cNvGrpSpPr/>
            <p:nvPr/>
          </p:nvGrpSpPr>
          <p:grpSpPr>
            <a:xfrm>
              <a:off x="73175" y="34503"/>
              <a:ext cx="69519" cy="21878"/>
              <a:chOff x="0" y="0"/>
              <a:chExt cx="69517" cy="21876"/>
            </a:xfrm>
          </p:grpSpPr>
          <p:sp>
            <p:nvSpPr>
              <p:cNvPr id="5325" name="AutoShape 990"/>
              <p:cNvSpPr/>
              <p:nvPr/>
            </p:nvSpPr>
            <p:spPr>
              <a:xfrm>
                <a:off x="0" y="0"/>
                <a:ext cx="69518" cy="2187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326" name="AutoShape 991"/>
              <p:cNvSpPr/>
              <p:nvPr/>
            </p:nvSpPr>
            <p:spPr>
              <a:xfrm>
                <a:off x="1157" y="2278"/>
                <a:ext cx="67108" cy="1732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5328" name="Rectangle 992"/>
            <p:cNvSpPr/>
            <p:nvPr/>
          </p:nvSpPr>
          <p:spPr>
            <a:xfrm>
              <a:off x="9625" y="83434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331" name="Group 993"/>
            <p:cNvGrpSpPr/>
            <p:nvPr/>
          </p:nvGrpSpPr>
          <p:grpSpPr>
            <a:xfrm>
              <a:off x="73128" y="81722"/>
              <a:ext cx="69518" cy="19517"/>
              <a:chOff x="0" y="0"/>
              <a:chExt cx="69517" cy="19515"/>
            </a:xfrm>
          </p:grpSpPr>
          <p:sp>
            <p:nvSpPr>
              <p:cNvPr id="5329" name="AutoShape 994"/>
              <p:cNvSpPr/>
              <p:nvPr/>
            </p:nvSpPr>
            <p:spPr>
              <a:xfrm>
                <a:off x="0" y="0"/>
                <a:ext cx="69518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330" name="AutoShape 995"/>
              <p:cNvSpPr/>
              <p:nvPr/>
            </p:nvSpPr>
            <p:spPr>
              <a:xfrm>
                <a:off x="1253" y="2386"/>
                <a:ext cx="67108" cy="1502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5332" name="Rectangle 996"/>
            <p:cNvSpPr/>
            <p:nvPr/>
          </p:nvSpPr>
          <p:spPr>
            <a:xfrm>
              <a:off x="9625" y="131785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33" name="Rectangle 997"/>
            <p:cNvSpPr/>
            <p:nvPr/>
          </p:nvSpPr>
          <p:spPr>
            <a:xfrm>
              <a:off x="10828" y="175621"/>
              <a:ext cx="71949" cy="12701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336" name="Group 998"/>
            <p:cNvGrpSpPr/>
            <p:nvPr/>
          </p:nvGrpSpPr>
          <p:grpSpPr>
            <a:xfrm>
              <a:off x="71974" y="177319"/>
              <a:ext cx="69542" cy="19619"/>
              <a:chOff x="0" y="0"/>
              <a:chExt cx="69540" cy="19617"/>
            </a:xfrm>
          </p:grpSpPr>
          <p:sp>
            <p:nvSpPr>
              <p:cNvPr id="5334" name="AutoShape 999"/>
              <p:cNvSpPr/>
              <p:nvPr/>
            </p:nvSpPr>
            <p:spPr>
              <a:xfrm>
                <a:off x="0" y="0"/>
                <a:ext cx="69541" cy="1961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335" name="AutoShape 1000"/>
              <p:cNvSpPr/>
              <p:nvPr/>
            </p:nvSpPr>
            <p:spPr>
              <a:xfrm>
                <a:off x="1159" y="0"/>
                <a:ext cx="67127" cy="172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5337" name="Freeform 1001"/>
            <p:cNvSpPr/>
            <p:nvPr/>
          </p:nvSpPr>
          <p:spPr>
            <a:xfrm>
              <a:off x="138122" y="134713"/>
              <a:ext cx="31644" cy="27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5340" name="Group 1002"/>
            <p:cNvGrpSpPr/>
            <p:nvPr/>
          </p:nvGrpSpPr>
          <p:grpSpPr>
            <a:xfrm>
              <a:off x="71972" y="131218"/>
              <a:ext cx="70701" cy="19516"/>
              <a:chOff x="0" y="0"/>
              <a:chExt cx="70699" cy="19515"/>
            </a:xfrm>
          </p:grpSpPr>
          <p:sp>
            <p:nvSpPr>
              <p:cNvPr id="5338" name="AutoShape 1003"/>
              <p:cNvSpPr/>
              <p:nvPr/>
            </p:nvSpPr>
            <p:spPr>
              <a:xfrm>
                <a:off x="0" y="0"/>
                <a:ext cx="70700" cy="1951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339" name="AutoShape 1004"/>
              <p:cNvSpPr/>
              <p:nvPr/>
            </p:nvSpPr>
            <p:spPr>
              <a:xfrm>
                <a:off x="1159" y="2330"/>
                <a:ext cx="69541" cy="1500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5341" name="Rectangle 1005"/>
            <p:cNvSpPr/>
            <p:nvPr/>
          </p:nvSpPr>
          <p:spPr>
            <a:xfrm>
              <a:off x="130930" y="0"/>
              <a:ext cx="12701" cy="332779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42" name="Freeform 1006"/>
            <p:cNvSpPr/>
            <p:nvPr/>
          </p:nvSpPr>
          <p:spPr>
            <a:xfrm>
              <a:off x="141010" y="84177"/>
              <a:ext cx="28515" cy="31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43" name="Freeform 1007"/>
            <p:cNvSpPr/>
            <p:nvPr/>
          </p:nvSpPr>
          <p:spPr>
            <a:xfrm>
              <a:off x="141371" y="36554"/>
              <a:ext cx="29358" cy="34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44" name="Oval 1008"/>
            <p:cNvSpPr/>
            <p:nvPr/>
          </p:nvSpPr>
          <p:spPr>
            <a:xfrm>
              <a:off x="162092" y="317777"/>
              <a:ext cx="12701" cy="1383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45" name="Freeform 1009"/>
            <p:cNvSpPr/>
            <p:nvPr/>
          </p:nvSpPr>
          <p:spPr>
            <a:xfrm>
              <a:off x="139806" y="318214"/>
              <a:ext cx="29479" cy="29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46" name="AutoShape 1010"/>
            <p:cNvSpPr/>
            <p:nvPr/>
          </p:nvSpPr>
          <p:spPr>
            <a:xfrm>
              <a:off x="0" y="327098"/>
              <a:ext cx="143898" cy="218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47" name="AutoShape 1011"/>
            <p:cNvSpPr/>
            <p:nvPr/>
          </p:nvSpPr>
          <p:spPr>
            <a:xfrm>
              <a:off x="8422" y="332181"/>
              <a:ext cx="128258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434" y="0"/>
                    <a:pt x="969" y="0"/>
                  </a:cubicBezTo>
                  <a:lnTo>
                    <a:pt x="20631" y="0"/>
                  </a:lnTo>
                  <a:cubicBezTo>
                    <a:pt x="21166" y="0"/>
                    <a:pt x="21600" y="4835"/>
                    <a:pt x="21600" y="10800"/>
                  </a:cubicBezTo>
                  <a:lnTo>
                    <a:pt x="21600" y="10800"/>
                  </a:lnTo>
                  <a:cubicBezTo>
                    <a:pt x="21600" y="16765"/>
                    <a:pt x="21166" y="21600"/>
                    <a:pt x="20631" y="21600"/>
                  </a:cubicBezTo>
                  <a:lnTo>
                    <a:pt x="969" y="21598"/>
                  </a:lnTo>
                  <a:cubicBezTo>
                    <a:pt x="434" y="21598"/>
                    <a:pt x="0" y="16763"/>
                    <a:pt x="0" y="10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48" name="Oval 1012"/>
            <p:cNvSpPr/>
            <p:nvPr/>
          </p:nvSpPr>
          <p:spPr>
            <a:xfrm>
              <a:off x="2033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49" name="Oval 1013"/>
            <p:cNvSpPr/>
            <p:nvPr/>
          </p:nvSpPr>
          <p:spPr>
            <a:xfrm>
              <a:off x="41990" y="284427"/>
              <a:ext cx="19131" cy="2068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50" name="Oval 1014"/>
            <p:cNvSpPr/>
            <p:nvPr/>
          </p:nvSpPr>
          <p:spPr>
            <a:xfrm>
              <a:off x="62323" y="284427"/>
              <a:ext cx="19131" cy="2068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51" name="Rectangle 1015"/>
            <p:cNvSpPr/>
            <p:nvPr/>
          </p:nvSpPr>
          <p:spPr>
            <a:xfrm>
              <a:off x="109995" y="205055"/>
              <a:ext cx="12701" cy="110538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5355" name="Group 590"/>
          <p:cNvGrpSpPr/>
          <p:nvPr/>
        </p:nvGrpSpPr>
        <p:grpSpPr>
          <a:xfrm>
            <a:off x="7773981" y="5281059"/>
            <a:ext cx="345631" cy="320303"/>
            <a:chOff x="0" y="0"/>
            <a:chExt cx="345629" cy="320302"/>
          </a:xfrm>
        </p:grpSpPr>
        <p:pic>
          <p:nvPicPr>
            <p:cNvPr id="5353" name="Picture 591" descr="Picture 591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 flipH="1">
              <a:off x="0" y="0"/>
              <a:ext cx="345630" cy="3203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354" name="Freeform 592"/>
            <p:cNvSpPr/>
            <p:nvPr/>
          </p:nvSpPr>
          <p:spPr>
            <a:xfrm flipH="1">
              <a:off x="147407" y="30713"/>
              <a:ext cx="162974" cy="146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5519" name="Group 19"/>
          <p:cNvGrpSpPr/>
          <p:nvPr/>
        </p:nvGrpSpPr>
        <p:grpSpPr>
          <a:xfrm>
            <a:off x="7439073" y="1859725"/>
            <a:ext cx="4144322" cy="4127478"/>
            <a:chOff x="0" y="0"/>
            <a:chExt cx="4144321" cy="4127477"/>
          </a:xfrm>
        </p:grpSpPr>
        <p:grpSp>
          <p:nvGrpSpPr>
            <p:cNvPr id="5390" name="Group 14"/>
            <p:cNvGrpSpPr/>
            <p:nvPr/>
          </p:nvGrpSpPr>
          <p:grpSpPr>
            <a:xfrm>
              <a:off x="0" y="0"/>
              <a:ext cx="1802647" cy="1232389"/>
              <a:chOff x="0" y="0"/>
              <a:chExt cx="1802647" cy="1232388"/>
            </a:xfrm>
          </p:grpSpPr>
          <p:pic>
            <p:nvPicPr>
              <p:cNvPr id="5356" name="Picture 799" descr="Picture 799"/>
              <p:cNvPicPr>
                <a:picLocks noChangeAspect="1"/>
              </p:cNvPicPr>
              <p:nvPr/>
            </p:nvPicPr>
            <p:blipFill>
              <a:blip r:embed="rId14">
                <a:extLst/>
              </a:blip>
              <a:stretch>
                <a:fillRect/>
              </a:stretch>
            </p:blipFill>
            <p:spPr>
              <a:xfrm>
                <a:off x="541792" y="298442"/>
                <a:ext cx="457201" cy="3327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357" name="Line 426"/>
              <p:cNvSpPr/>
              <p:nvPr/>
            </p:nvSpPr>
            <p:spPr>
              <a:xfrm>
                <a:off x="768786" y="840634"/>
                <a:ext cx="227965" cy="17435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5373" name="Group 783"/>
              <p:cNvGrpSpPr/>
              <p:nvPr/>
            </p:nvGrpSpPr>
            <p:grpSpPr>
              <a:xfrm>
                <a:off x="611624" y="449651"/>
                <a:ext cx="298451" cy="464008"/>
                <a:chOff x="0" y="0"/>
                <a:chExt cx="298450" cy="464007"/>
              </a:xfrm>
            </p:grpSpPr>
            <p:sp>
              <p:nvSpPr>
                <p:cNvPr id="5358" name="Line 270"/>
                <p:cNvSpPr/>
                <p:nvPr/>
              </p:nvSpPr>
              <p:spPr>
                <a:xfrm flipH="1">
                  <a:off x="-1" y="0"/>
                  <a:ext cx="149226" cy="420234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59" name="Line 271"/>
                <p:cNvSpPr/>
                <p:nvPr/>
              </p:nvSpPr>
              <p:spPr>
                <a:xfrm>
                  <a:off x="149225" y="0"/>
                  <a:ext cx="149226" cy="41835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0" name="Line 272"/>
                <p:cNvSpPr/>
                <p:nvPr/>
              </p:nvSpPr>
              <p:spPr>
                <a:xfrm>
                  <a:off x="-1" y="418357"/>
                  <a:ext cx="149227" cy="4565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1" name="Line 273"/>
                <p:cNvSpPr/>
                <p:nvPr/>
              </p:nvSpPr>
              <p:spPr>
                <a:xfrm flipH="1">
                  <a:off x="149224" y="418357"/>
                  <a:ext cx="149227" cy="4565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2" name="Line 274"/>
                <p:cNvSpPr/>
                <p:nvPr/>
              </p:nvSpPr>
              <p:spPr>
                <a:xfrm flipH="1">
                  <a:off x="149224" y="9380"/>
                  <a:ext cx="1" cy="45462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3" name="Line 275"/>
                <p:cNvSpPr/>
                <p:nvPr/>
              </p:nvSpPr>
              <p:spPr>
                <a:xfrm flipV="1">
                  <a:off x="-1" y="375208"/>
                  <a:ext cx="149227" cy="45026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4" name="Line 276"/>
                <p:cNvSpPr/>
                <p:nvPr/>
              </p:nvSpPr>
              <p:spPr>
                <a:xfrm flipH="1" flipV="1">
                  <a:off x="149224" y="375209"/>
                  <a:ext cx="149227" cy="4314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5" name="Line 277"/>
                <p:cNvSpPr/>
                <p:nvPr/>
              </p:nvSpPr>
              <p:spPr>
                <a:xfrm>
                  <a:off x="63329" y="237632"/>
                  <a:ext cx="85896" cy="3439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6" name="Line 278"/>
                <p:cNvSpPr/>
                <p:nvPr/>
              </p:nvSpPr>
              <p:spPr>
                <a:xfrm flipV="1">
                  <a:off x="149224" y="237632"/>
                  <a:ext cx="90264" cy="3439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7" name="Line 279"/>
                <p:cNvSpPr/>
                <p:nvPr/>
              </p:nvSpPr>
              <p:spPr>
                <a:xfrm>
                  <a:off x="34940" y="298916"/>
                  <a:ext cx="110645" cy="46902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8" name="Line 280"/>
                <p:cNvSpPr/>
                <p:nvPr/>
              </p:nvSpPr>
              <p:spPr>
                <a:xfrm flipV="1">
                  <a:off x="149224" y="308297"/>
                  <a:ext cx="111374" cy="4127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69" name="Line 281"/>
                <p:cNvSpPr/>
                <p:nvPr/>
              </p:nvSpPr>
              <p:spPr>
                <a:xfrm flipV="1">
                  <a:off x="149224" y="174472"/>
                  <a:ext cx="56780" cy="16885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70" name="Line 282"/>
                <p:cNvSpPr/>
                <p:nvPr/>
              </p:nvSpPr>
              <p:spPr>
                <a:xfrm flipV="1">
                  <a:off x="149225" y="87548"/>
                  <a:ext cx="35669" cy="1313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71" name="Line 283"/>
                <p:cNvSpPr/>
                <p:nvPr/>
              </p:nvSpPr>
              <p:spPr>
                <a:xfrm>
                  <a:off x="85167" y="168843"/>
                  <a:ext cx="69154" cy="2251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72" name="Line 284"/>
                <p:cNvSpPr/>
                <p:nvPr/>
              </p:nvSpPr>
              <p:spPr>
                <a:xfrm>
                  <a:off x="115740" y="83796"/>
                  <a:ext cx="40036" cy="22513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5385" name="Group 406"/>
              <p:cNvGrpSpPr/>
              <p:nvPr/>
            </p:nvGrpSpPr>
            <p:grpSpPr>
              <a:xfrm>
                <a:off x="1000753" y="840507"/>
                <a:ext cx="353679" cy="391882"/>
                <a:chOff x="0" y="0"/>
                <a:chExt cx="353677" cy="391881"/>
              </a:xfrm>
            </p:grpSpPr>
            <p:grpSp>
              <p:nvGrpSpPr>
                <p:cNvPr id="5376" name="Freeform 407"/>
                <p:cNvGrpSpPr/>
                <p:nvPr/>
              </p:nvGrpSpPr>
              <p:grpSpPr>
                <a:xfrm>
                  <a:off x="-1" y="58793"/>
                  <a:ext cx="353679" cy="333089"/>
                  <a:chOff x="0" y="0"/>
                  <a:chExt cx="353677" cy="333087"/>
                </a:xfrm>
              </p:grpSpPr>
              <p:sp>
                <p:nvSpPr>
                  <p:cNvPr id="5374" name="Shape"/>
                  <p:cNvSpPr/>
                  <p:nvPr/>
                </p:nvSpPr>
                <p:spPr>
                  <a:xfrm>
                    <a:off x="0" y="111530"/>
                    <a:ext cx="353678" cy="1100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375" name="Text"/>
                  <p:cNvSpPr txBox="1"/>
                  <p:nvPr/>
                </p:nvSpPr>
                <p:spPr>
                  <a:xfrm>
                    <a:off x="48894" y="0"/>
                    <a:ext cx="255889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5379" name="Oval 408"/>
                <p:cNvGrpSpPr/>
                <p:nvPr/>
              </p:nvGrpSpPr>
              <p:grpSpPr>
                <a:xfrm>
                  <a:off x="203" y="-1"/>
                  <a:ext cx="353251" cy="333089"/>
                  <a:chOff x="0" y="0"/>
                  <a:chExt cx="353249" cy="333087"/>
                </a:xfrm>
              </p:grpSpPr>
              <p:sp>
                <p:nvSpPr>
                  <p:cNvPr id="5377" name="Oval"/>
                  <p:cNvSpPr/>
                  <p:nvPr/>
                </p:nvSpPr>
                <p:spPr>
                  <a:xfrm>
                    <a:off x="0" y="112076"/>
                    <a:ext cx="353250" cy="108935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378" name="Text"/>
                  <p:cNvSpPr txBox="1"/>
                  <p:nvPr/>
                </p:nvSpPr>
                <p:spPr>
                  <a:xfrm>
                    <a:off x="100627" y="0"/>
                    <a:ext cx="151995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5384" name="Group 409"/>
                <p:cNvGrpSpPr/>
                <p:nvPr/>
              </p:nvGrpSpPr>
              <p:grpSpPr>
                <a:xfrm>
                  <a:off x="52453" y="125922"/>
                  <a:ext cx="248706" cy="80044"/>
                  <a:chOff x="0" y="0"/>
                  <a:chExt cx="248704" cy="80043"/>
                </a:xfrm>
              </p:grpSpPr>
              <p:sp>
                <p:nvSpPr>
                  <p:cNvPr id="5380" name="Freeform 410"/>
                  <p:cNvSpPr/>
                  <p:nvPr/>
                </p:nvSpPr>
                <p:spPr>
                  <a:xfrm>
                    <a:off x="6879" y="0"/>
                    <a:ext cx="235271" cy="4480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381" name="Freeform 411"/>
                  <p:cNvSpPr/>
                  <p:nvPr/>
                </p:nvSpPr>
                <p:spPr>
                  <a:xfrm>
                    <a:off x="160864" y="38326"/>
                    <a:ext cx="87841" cy="3857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382" name="Freeform 412"/>
                  <p:cNvSpPr/>
                  <p:nvPr/>
                </p:nvSpPr>
                <p:spPr>
                  <a:xfrm>
                    <a:off x="0" y="38326"/>
                    <a:ext cx="86253" cy="3812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383" name="Freeform 413"/>
                  <p:cNvSpPr/>
                  <p:nvPr/>
                </p:nvSpPr>
                <p:spPr>
                  <a:xfrm>
                    <a:off x="29942" y="19487"/>
                    <a:ext cx="187543" cy="6055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pic>
            <p:nvPicPr>
              <p:cNvPr id="5386" name="Picture 654" descr="Picture 654"/>
              <p:cNvPicPr>
                <a:picLocks noChangeAspect="1"/>
              </p:cNvPicPr>
              <p:nvPr/>
            </p:nvPicPr>
            <p:blipFill>
              <a:blip r:embed="rId15">
                <a:extLst/>
              </a:blip>
              <a:stretch>
                <a:fillRect/>
              </a:stretch>
            </p:blipFill>
            <p:spPr>
              <a:xfrm>
                <a:off x="311150" y="0"/>
                <a:ext cx="415926" cy="8877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387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0" y="496888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388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1198707" y="460002"/>
                <a:ext cx="530703" cy="2237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389" name="Picture 1017" descr="Picture 1017"/>
              <p:cNvPicPr>
                <a:picLocks noChangeAspect="1"/>
              </p:cNvPicPr>
              <p:nvPr/>
            </p:nvPicPr>
            <p:blipFill>
              <a:blip r:embed="rId16">
                <a:extLst/>
              </a:blip>
              <a:stretch>
                <a:fillRect/>
              </a:stretch>
            </p:blipFill>
            <p:spPr>
              <a:xfrm>
                <a:off x="1271945" y="199398"/>
                <a:ext cx="530703" cy="22375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5410" name="Group 11"/>
            <p:cNvGrpSpPr/>
            <p:nvPr/>
          </p:nvGrpSpPr>
          <p:grpSpPr>
            <a:xfrm>
              <a:off x="54444" y="1465699"/>
              <a:ext cx="911538" cy="925351"/>
              <a:chOff x="0" y="0"/>
              <a:chExt cx="911537" cy="925350"/>
            </a:xfrm>
          </p:grpSpPr>
          <p:pic>
            <p:nvPicPr>
              <p:cNvPr id="5391" name="Picture 777" descr="Picture 777"/>
              <p:cNvPicPr>
                <a:picLocks noChangeAspect="1"/>
              </p:cNvPicPr>
              <p:nvPr/>
            </p:nvPicPr>
            <p:blipFill>
              <a:blip r:embed="rId17">
                <a:extLst/>
              </a:blip>
              <a:stretch>
                <a:fillRect/>
              </a:stretch>
            </p:blipFill>
            <p:spPr>
              <a:xfrm>
                <a:off x="120363" y="536474"/>
                <a:ext cx="370170" cy="3067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5409" name="Group 10"/>
              <p:cNvGrpSpPr/>
              <p:nvPr/>
            </p:nvGrpSpPr>
            <p:grpSpPr>
              <a:xfrm>
                <a:off x="-1" y="0"/>
                <a:ext cx="911539" cy="925351"/>
                <a:chOff x="0" y="0"/>
                <a:chExt cx="911537" cy="925350"/>
              </a:xfrm>
            </p:grpSpPr>
            <p:sp>
              <p:nvSpPr>
                <p:cNvPr id="5392" name="Line 443"/>
                <p:cNvSpPr/>
                <p:nvPr/>
              </p:nvSpPr>
              <p:spPr>
                <a:xfrm>
                  <a:off x="754259" y="504545"/>
                  <a:ext cx="1" cy="13176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393" name="Line 449"/>
                <p:cNvSpPr/>
                <p:nvPr/>
              </p:nvSpPr>
              <p:spPr>
                <a:xfrm flipV="1">
                  <a:off x="363734" y="715683"/>
                  <a:ext cx="168275" cy="317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5394" name="Picture 778" descr="Picture 778"/>
                <p:cNvPicPr>
                  <a:picLocks noChangeAspect="1"/>
                </p:cNvPicPr>
                <p:nvPr/>
              </p:nvPicPr>
              <p:blipFill>
                <a:blip r:embed="rId18">
                  <a:extLst/>
                </a:blip>
                <a:stretch>
                  <a:fillRect/>
                </a:stretch>
              </p:blipFill>
              <p:spPr>
                <a:xfrm>
                  <a:off x="68719" y="488505"/>
                  <a:ext cx="506413" cy="10601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5406" name="Group 414"/>
                <p:cNvGrpSpPr/>
                <p:nvPr/>
              </p:nvGrpSpPr>
              <p:grpSpPr>
                <a:xfrm>
                  <a:off x="556551" y="530885"/>
                  <a:ext cx="354987" cy="394466"/>
                  <a:chOff x="0" y="0"/>
                  <a:chExt cx="354985" cy="394464"/>
                </a:xfrm>
              </p:grpSpPr>
              <p:grpSp>
                <p:nvGrpSpPr>
                  <p:cNvPr id="5397" name="Freeform 415"/>
                  <p:cNvGrpSpPr/>
                  <p:nvPr/>
                </p:nvGrpSpPr>
                <p:grpSpPr>
                  <a:xfrm>
                    <a:off x="-1" y="61377"/>
                    <a:ext cx="354987" cy="333088"/>
                    <a:chOff x="0" y="0"/>
                    <a:chExt cx="354985" cy="333087"/>
                  </a:xfrm>
                </p:grpSpPr>
                <p:sp>
                  <p:nvSpPr>
                    <p:cNvPr id="5395" name="Shape"/>
                    <p:cNvSpPr/>
                    <p:nvPr/>
                  </p:nvSpPr>
                  <p:spPr>
                    <a:xfrm>
                      <a:off x="0" y="109113"/>
                      <a:ext cx="354986" cy="1148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396" name="Text"/>
                    <p:cNvSpPr txBox="1"/>
                    <p:nvPr/>
                  </p:nvSpPr>
                  <p:spPr>
                    <a:xfrm>
                      <a:off x="48894" y="0"/>
                      <a:ext cx="257196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5400" name="Oval 416"/>
                  <p:cNvGrpSpPr/>
                  <p:nvPr/>
                </p:nvGrpSpPr>
                <p:grpSpPr>
                  <a:xfrm>
                    <a:off x="204" y="-1"/>
                    <a:ext cx="354557" cy="333089"/>
                    <a:chOff x="0" y="0"/>
                    <a:chExt cx="354555" cy="333087"/>
                  </a:xfrm>
                </p:grpSpPr>
                <p:sp>
                  <p:nvSpPr>
                    <p:cNvPr id="5398" name="Oval"/>
                    <p:cNvSpPr/>
                    <p:nvPr/>
                  </p:nvSpPr>
                  <p:spPr>
                    <a:xfrm>
                      <a:off x="0" y="109684"/>
                      <a:ext cx="354556" cy="113721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399" name="Text"/>
                    <p:cNvSpPr txBox="1"/>
                    <p:nvPr/>
                  </p:nvSpPr>
                  <p:spPr>
                    <a:xfrm>
                      <a:off x="100818" y="0"/>
                      <a:ext cx="152920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5405" name="Group 417"/>
                  <p:cNvGrpSpPr/>
                  <p:nvPr/>
                </p:nvGrpSpPr>
                <p:grpSpPr>
                  <a:xfrm>
                    <a:off x="52647" y="124137"/>
                    <a:ext cx="249626" cy="83561"/>
                    <a:chOff x="0" y="0"/>
                    <a:chExt cx="249624" cy="83559"/>
                  </a:xfrm>
                </p:grpSpPr>
                <p:sp>
                  <p:nvSpPr>
                    <p:cNvPr id="5401" name="Freeform 418"/>
                    <p:cNvSpPr/>
                    <p:nvPr/>
                  </p:nvSpPr>
                  <p:spPr>
                    <a:xfrm>
                      <a:off x="6904" y="-1"/>
                      <a:ext cx="236141" cy="467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02" name="Freeform 419"/>
                    <p:cNvSpPr/>
                    <p:nvPr/>
                  </p:nvSpPr>
                  <p:spPr>
                    <a:xfrm>
                      <a:off x="161459" y="40010"/>
                      <a:ext cx="88166" cy="4027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03" name="Freeform 420"/>
                    <p:cNvSpPr/>
                    <p:nvPr/>
                  </p:nvSpPr>
                  <p:spPr>
                    <a:xfrm>
                      <a:off x="0" y="40010"/>
                      <a:ext cx="86572" cy="39804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04" name="Freeform 421"/>
                    <p:cNvSpPr/>
                    <p:nvPr/>
                  </p:nvSpPr>
                  <p:spPr>
                    <a:xfrm>
                      <a:off x="30053" y="20343"/>
                      <a:ext cx="188236" cy="6321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5407" name="Picture 1115" descr="Picture 1115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>
                  <a:off x="0" y="93715"/>
                  <a:ext cx="347997" cy="16755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408" name="Picture 1115" descr="Picture 1115"/>
                <p:cNvPicPr>
                  <a:picLocks noChangeAspect="1"/>
                </p:cNvPicPr>
                <p:nvPr/>
              </p:nvPicPr>
              <p:blipFill>
                <a:blip r:embed="rId19">
                  <a:extLst/>
                </a:blip>
                <a:stretch>
                  <a:fillRect/>
                </a:stretch>
              </p:blipFill>
              <p:spPr>
                <a:xfrm>
                  <a:off x="309916" y="0"/>
                  <a:ext cx="347998" cy="1675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5429" name="Group 15"/>
            <p:cNvGrpSpPr/>
            <p:nvPr/>
          </p:nvGrpSpPr>
          <p:grpSpPr>
            <a:xfrm>
              <a:off x="3445011" y="1568760"/>
              <a:ext cx="604587" cy="405974"/>
              <a:chOff x="0" y="0"/>
              <a:chExt cx="604585" cy="405973"/>
            </a:xfrm>
          </p:grpSpPr>
          <p:grpSp>
            <p:nvGrpSpPr>
              <p:cNvPr id="5422" name="Group 454"/>
              <p:cNvGrpSpPr/>
              <p:nvPr/>
            </p:nvGrpSpPr>
            <p:grpSpPr>
              <a:xfrm>
                <a:off x="0" y="140793"/>
                <a:ext cx="170989" cy="160910"/>
                <a:chOff x="0" y="0"/>
                <a:chExt cx="170988" cy="160909"/>
              </a:xfrm>
            </p:grpSpPr>
            <p:grpSp>
              <p:nvGrpSpPr>
                <p:cNvPr id="5413" name="Freeform 455"/>
                <p:cNvGrpSpPr/>
                <p:nvPr/>
              </p:nvGrpSpPr>
              <p:grpSpPr>
                <a:xfrm>
                  <a:off x="0" y="33909"/>
                  <a:ext cx="170989" cy="127001"/>
                  <a:chOff x="0" y="0"/>
                  <a:chExt cx="170988" cy="127000"/>
                </a:xfrm>
              </p:grpSpPr>
              <p:sp>
                <p:nvSpPr>
                  <p:cNvPr id="5411" name="Shape"/>
                  <p:cNvSpPr/>
                  <p:nvPr/>
                </p:nvSpPr>
                <p:spPr>
                  <a:xfrm>
                    <a:off x="0" y="31770"/>
                    <a:ext cx="170989" cy="634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412" name="Text"/>
                  <p:cNvSpPr txBox="1"/>
                  <p:nvPr/>
                </p:nvSpPr>
                <p:spPr>
                  <a:xfrm>
                    <a:off x="47307" y="0"/>
                    <a:ext cx="76375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5416" name="Oval 456"/>
                <p:cNvGrpSpPr/>
                <p:nvPr/>
              </p:nvGrpSpPr>
              <p:grpSpPr>
                <a:xfrm>
                  <a:off x="98" y="0"/>
                  <a:ext cx="170783" cy="127000"/>
                  <a:chOff x="0" y="0"/>
                  <a:chExt cx="170782" cy="127000"/>
                </a:xfrm>
              </p:grpSpPr>
              <p:sp>
                <p:nvSpPr>
                  <p:cNvPr id="5414" name="Oval"/>
                  <p:cNvSpPr/>
                  <p:nvPr/>
                </p:nvSpPr>
                <p:spPr>
                  <a:xfrm>
                    <a:off x="0" y="32086"/>
                    <a:ext cx="170783" cy="62829"/>
                  </a:xfrm>
                  <a:prstGeom prst="ellipse">
                    <a:avLst/>
                  </a:prstGeom>
                  <a:solidFill>
                    <a:srgbClr val="B8C2C9"/>
                  </a:soli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415" name="Text"/>
                  <p:cNvSpPr txBox="1"/>
                  <p:nvPr/>
                </p:nvSpPr>
                <p:spPr>
                  <a:xfrm>
                    <a:off x="72317" y="0"/>
                    <a:ext cx="26147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5421" name="Group 457"/>
                <p:cNvGrpSpPr/>
                <p:nvPr/>
              </p:nvGrpSpPr>
              <p:grpSpPr>
                <a:xfrm>
                  <a:off x="25359" y="40071"/>
                  <a:ext cx="120239" cy="46166"/>
                  <a:chOff x="0" y="0"/>
                  <a:chExt cx="120238" cy="46164"/>
                </a:xfrm>
              </p:grpSpPr>
              <p:sp>
                <p:nvSpPr>
                  <p:cNvPr id="5417" name="Freeform 458"/>
                  <p:cNvSpPr/>
                  <p:nvPr/>
                </p:nvSpPr>
                <p:spPr>
                  <a:xfrm>
                    <a:off x="3325" y="-1"/>
                    <a:ext cx="113745" cy="2584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418" name="Freeform 459"/>
                  <p:cNvSpPr/>
                  <p:nvPr/>
                </p:nvSpPr>
                <p:spPr>
                  <a:xfrm>
                    <a:off x="77771" y="22104"/>
                    <a:ext cx="42468" cy="222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419" name="Freeform 460"/>
                  <p:cNvSpPr/>
                  <p:nvPr/>
                </p:nvSpPr>
                <p:spPr>
                  <a:xfrm>
                    <a:off x="0" y="22104"/>
                    <a:ext cx="41700" cy="2199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420" name="Freeform 461"/>
                  <p:cNvSpPr/>
                  <p:nvPr/>
                </p:nvSpPr>
                <p:spPr>
                  <a:xfrm>
                    <a:off x="14476" y="11239"/>
                    <a:ext cx="90669" cy="3492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  <p:grpSp>
            <p:nvGrpSpPr>
              <p:cNvPr id="5428" name="Group 391"/>
              <p:cNvGrpSpPr/>
              <p:nvPr/>
            </p:nvGrpSpPr>
            <p:grpSpPr>
              <a:xfrm>
                <a:off x="180862" y="0"/>
                <a:ext cx="423725" cy="405974"/>
                <a:chOff x="0" y="0"/>
                <a:chExt cx="423723" cy="405973"/>
              </a:xfrm>
            </p:grpSpPr>
            <p:sp>
              <p:nvSpPr>
                <p:cNvPr id="5423" name="Straight Connector 392"/>
                <p:cNvSpPr/>
                <p:nvPr/>
              </p:nvSpPr>
              <p:spPr>
                <a:xfrm>
                  <a:off x="0" y="216155"/>
                  <a:ext cx="16110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5427" name="Group 394"/>
                <p:cNvGrpSpPr/>
                <p:nvPr/>
              </p:nvGrpSpPr>
              <p:grpSpPr>
                <a:xfrm>
                  <a:off x="118936" y="0"/>
                  <a:ext cx="304788" cy="405974"/>
                  <a:chOff x="0" y="0"/>
                  <a:chExt cx="304787" cy="405973"/>
                </a:xfrm>
              </p:grpSpPr>
              <p:pic>
                <p:nvPicPr>
                  <p:cNvPr id="5424" name="Picture 395" descr="Picture 395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176272" y="59397"/>
                    <a:ext cx="128516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5425" name="Picture 396" descr="Picture 396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-1" y="52605"/>
                    <a:ext cx="128517" cy="313719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5426" name="Picture 397" descr="Picture 397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74200" y="0"/>
                    <a:ext cx="166308" cy="40597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</p:grpSp>
        <p:grpSp>
          <p:nvGrpSpPr>
            <p:cNvPr id="5499" name="Group 9"/>
            <p:cNvGrpSpPr/>
            <p:nvPr/>
          </p:nvGrpSpPr>
          <p:grpSpPr>
            <a:xfrm>
              <a:off x="536806" y="2785746"/>
              <a:ext cx="2319346" cy="1341732"/>
              <a:chOff x="0" y="0"/>
              <a:chExt cx="2319344" cy="1341730"/>
            </a:xfrm>
          </p:grpSpPr>
          <p:sp>
            <p:nvSpPr>
              <p:cNvPr id="5430" name="Line 428"/>
              <p:cNvSpPr/>
              <p:nvPr/>
            </p:nvSpPr>
            <p:spPr>
              <a:xfrm flipH="1" flipV="1">
                <a:off x="2031493" y="381596"/>
                <a:ext cx="7561" cy="38806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431" name="Line 435"/>
              <p:cNvSpPr/>
              <p:nvPr/>
            </p:nvSpPr>
            <p:spPr>
              <a:xfrm>
                <a:off x="261839" y="437442"/>
                <a:ext cx="226801" cy="1270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432" name="Line 440"/>
              <p:cNvSpPr/>
              <p:nvPr/>
            </p:nvSpPr>
            <p:spPr>
              <a:xfrm flipV="1">
                <a:off x="511057" y="356670"/>
                <a:ext cx="404238" cy="20777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5498" name="Group 3"/>
              <p:cNvGrpSpPr/>
              <p:nvPr/>
            </p:nvGrpSpPr>
            <p:grpSpPr>
              <a:xfrm>
                <a:off x="-1" y="-1"/>
                <a:ext cx="2319346" cy="1341732"/>
                <a:chOff x="0" y="0"/>
                <a:chExt cx="2319344" cy="1341730"/>
              </a:xfrm>
            </p:grpSpPr>
            <p:sp>
              <p:nvSpPr>
                <p:cNvPr id="5433" name="Line 430"/>
                <p:cNvSpPr/>
                <p:nvPr/>
              </p:nvSpPr>
              <p:spPr>
                <a:xfrm>
                  <a:off x="2205044" y="783179"/>
                  <a:ext cx="11430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434" name="Line 431"/>
                <p:cNvSpPr/>
                <p:nvPr/>
              </p:nvSpPr>
              <p:spPr>
                <a:xfrm>
                  <a:off x="1484592" y="158625"/>
                  <a:ext cx="524484" cy="261538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435" name="Line 432"/>
                <p:cNvSpPr/>
                <p:nvPr/>
              </p:nvSpPr>
              <p:spPr>
                <a:xfrm flipV="1">
                  <a:off x="901698" y="158625"/>
                  <a:ext cx="569256" cy="24626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436" name="Line 433"/>
                <p:cNvSpPr/>
                <p:nvPr/>
              </p:nvSpPr>
              <p:spPr>
                <a:xfrm>
                  <a:off x="873376" y="430254"/>
                  <a:ext cx="1030504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437" name="Line 436"/>
                <p:cNvSpPr/>
                <p:nvPr/>
              </p:nvSpPr>
              <p:spPr>
                <a:xfrm flipV="1">
                  <a:off x="-1" y="610578"/>
                  <a:ext cx="412752" cy="12700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438" name="Line 439"/>
                <p:cNvSpPr/>
                <p:nvPr/>
              </p:nvSpPr>
              <p:spPr>
                <a:xfrm flipH="1">
                  <a:off x="425450" y="602360"/>
                  <a:ext cx="68081" cy="29396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439" name="Line 440"/>
                <p:cNvSpPr/>
                <p:nvPr/>
              </p:nvSpPr>
              <p:spPr>
                <a:xfrm flipH="1" flipV="1">
                  <a:off x="540363" y="628039"/>
                  <a:ext cx="280376" cy="269877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440" name="Line 441"/>
                <p:cNvSpPr/>
                <p:nvPr/>
              </p:nvSpPr>
              <p:spPr>
                <a:xfrm>
                  <a:off x="540363" y="578156"/>
                  <a:ext cx="914186" cy="46862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5441" name="Line 428"/>
                <p:cNvSpPr/>
                <p:nvPr/>
              </p:nvSpPr>
              <p:spPr>
                <a:xfrm flipH="1" flipV="1">
                  <a:off x="2119833" y="720924"/>
                  <a:ext cx="1483" cy="36679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pic>
              <p:nvPicPr>
                <p:cNvPr id="5442" name="Picture 781" descr="Picture 781"/>
                <p:cNvPicPr>
                  <a:picLocks noChangeAspect="1"/>
                </p:cNvPicPr>
                <p:nvPr/>
              </p:nvPicPr>
              <p:blipFill>
                <a:blip r:embed="rId21">
                  <a:extLst/>
                </a:blip>
                <a:stretch>
                  <a:fillRect/>
                </a:stretch>
              </p:blipFill>
              <p:spPr>
                <a:xfrm>
                  <a:off x="1293706" y="801046"/>
                  <a:ext cx="452015" cy="9516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443" name="Picture 780" descr="Picture 780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1342243" y="844340"/>
                  <a:ext cx="380936" cy="3174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5455" name="Group 470"/>
                <p:cNvGrpSpPr/>
                <p:nvPr/>
              </p:nvGrpSpPr>
              <p:grpSpPr>
                <a:xfrm>
                  <a:off x="1835191" y="214296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5446" name="Freeform 471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5444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45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5449" name="Oval 472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5447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48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5454" name="Group 473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5450" name="Freeform 474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51" name="Freeform 475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52" name="Freeform 476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53" name="Freeform 477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5463" name="Group 519"/>
                <p:cNvGrpSpPr/>
                <p:nvPr/>
              </p:nvGrpSpPr>
              <p:grpSpPr>
                <a:xfrm>
                  <a:off x="1900998" y="659145"/>
                  <a:ext cx="309741" cy="190839"/>
                  <a:chOff x="0" y="0"/>
                  <a:chExt cx="309739" cy="190837"/>
                </a:xfrm>
              </p:grpSpPr>
              <p:sp>
                <p:nvSpPr>
                  <p:cNvPr id="5456" name="Rectangle 520"/>
                  <p:cNvSpPr/>
                  <p:nvPr/>
                </p:nvSpPr>
                <p:spPr>
                  <a:xfrm>
                    <a:off x="0" y="113922"/>
                    <a:ext cx="308626" cy="7691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32538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457" name="Freeform 521"/>
                  <p:cNvSpPr/>
                  <p:nvPr/>
                </p:nvSpPr>
                <p:spPr>
                  <a:xfrm>
                    <a:off x="857" y="-1"/>
                    <a:ext cx="308883" cy="1167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429"/>
                        </a:moveTo>
                        <a:lnTo>
                          <a:pt x="1440" y="0"/>
                        </a:lnTo>
                        <a:lnTo>
                          <a:pt x="19500" y="343"/>
                        </a:lnTo>
                        <a:lnTo>
                          <a:pt x="21600" y="21600"/>
                        </a:lnTo>
                        <a:lnTo>
                          <a:pt x="0" y="21429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grpSp>
                <p:nvGrpSpPr>
                  <p:cNvPr id="5462" name="Group 522"/>
                  <p:cNvGrpSpPr/>
                  <p:nvPr/>
                </p:nvGrpSpPr>
                <p:grpSpPr>
                  <a:xfrm>
                    <a:off x="22308" y="13603"/>
                    <a:ext cx="261399" cy="93969"/>
                    <a:chOff x="0" y="0"/>
                    <a:chExt cx="261398" cy="93968"/>
                  </a:xfrm>
                </p:grpSpPr>
                <p:sp>
                  <p:nvSpPr>
                    <p:cNvPr id="5458" name="Freeform 523"/>
                    <p:cNvSpPr/>
                    <p:nvPr/>
                  </p:nvSpPr>
                  <p:spPr>
                    <a:xfrm>
                      <a:off x="7230" y="-1"/>
                      <a:ext cx="247278" cy="5260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59" name="Freeform 524"/>
                    <p:cNvSpPr/>
                    <p:nvPr/>
                  </p:nvSpPr>
                  <p:spPr>
                    <a:xfrm>
                      <a:off x="169074" y="44994"/>
                      <a:ext cx="92325" cy="4528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60" name="Freeform 525"/>
                    <p:cNvSpPr/>
                    <p:nvPr/>
                  </p:nvSpPr>
                  <p:spPr>
                    <a:xfrm>
                      <a:off x="-1" y="44994"/>
                      <a:ext cx="90657" cy="447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61" name="Freeform 526"/>
                    <p:cNvSpPr/>
                    <p:nvPr/>
                  </p:nvSpPr>
                  <p:spPr>
                    <a:xfrm>
                      <a:off x="31470" y="22877"/>
                      <a:ext cx="197115" cy="7109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5475" name="Group 478"/>
                <p:cNvGrpSpPr/>
                <p:nvPr/>
              </p:nvGrpSpPr>
              <p:grpSpPr>
                <a:xfrm>
                  <a:off x="728252" y="191733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5466" name="Freeform 479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5464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65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5469" name="Oval 480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5467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68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5474" name="Group 481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5470" name="Freeform 482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71" name="Freeform 483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72" name="Freeform 484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73" name="Freeform 485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5483" name="Group 528"/>
                <p:cNvGrpSpPr/>
                <p:nvPr/>
              </p:nvGrpSpPr>
              <p:grpSpPr>
                <a:xfrm>
                  <a:off x="363152" y="514541"/>
                  <a:ext cx="309741" cy="190839"/>
                  <a:chOff x="0" y="0"/>
                  <a:chExt cx="309739" cy="190837"/>
                </a:xfrm>
              </p:grpSpPr>
              <p:sp>
                <p:nvSpPr>
                  <p:cNvPr id="5476" name="Rectangle 529"/>
                  <p:cNvSpPr/>
                  <p:nvPr/>
                </p:nvSpPr>
                <p:spPr>
                  <a:xfrm>
                    <a:off x="0" y="113922"/>
                    <a:ext cx="308626" cy="7691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 cap="flat">
                    <a:solidFill>
                      <a:srgbClr val="32538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477" name="Freeform 530"/>
                  <p:cNvSpPr/>
                  <p:nvPr/>
                </p:nvSpPr>
                <p:spPr>
                  <a:xfrm>
                    <a:off x="857" y="-1"/>
                    <a:ext cx="308883" cy="1167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429"/>
                        </a:moveTo>
                        <a:lnTo>
                          <a:pt x="1440" y="0"/>
                        </a:lnTo>
                        <a:lnTo>
                          <a:pt x="19500" y="343"/>
                        </a:lnTo>
                        <a:lnTo>
                          <a:pt x="21600" y="21600"/>
                        </a:lnTo>
                        <a:lnTo>
                          <a:pt x="0" y="21429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grpSp>
                <p:nvGrpSpPr>
                  <p:cNvPr id="5482" name="Group 531"/>
                  <p:cNvGrpSpPr/>
                  <p:nvPr/>
                </p:nvGrpSpPr>
                <p:grpSpPr>
                  <a:xfrm>
                    <a:off x="22308" y="13603"/>
                    <a:ext cx="261399" cy="93969"/>
                    <a:chOff x="0" y="0"/>
                    <a:chExt cx="261398" cy="93968"/>
                  </a:xfrm>
                </p:grpSpPr>
                <p:sp>
                  <p:nvSpPr>
                    <p:cNvPr id="5478" name="Freeform 532"/>
                    <p:cNvSpPr/>
                    <p:nvPr/>
                  </p:nvSpPr>
                  <p:spPr>
                    <a:xfrm>
                      <a:off x="7230" y="-1"/>
                      <a:ext cx="247278" cy="5260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79" name="Freeform 533"/>
                    <p:cNvSpPr/>
                    <p:nvPr/>
                  </p:nvSpPr>
                  <p:spPr>
                    <a:xfrm>
                      <a:off x="169074" y="44994"/>
                      <a:ext cx="92325" cy="4528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80" name="Freeform 534"/>
                    <p:cNvSpPr/>
                    <p:nvPr/>
                  </p:nvSpPr>
                  <p:spPr>
                    <a:xfrm>
                      <a:off x="-1" y="44994"/>
                      <a:ext cx="90657" cy="447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81" name="Freeform 535"/>
                    <p:cNvSpPr/>
                    <p:nvPr/>
                  </p:nvSpPr>
                  <p:spPr>
                    <a:xfrm>
                      <a:off x="31470" y="22877"/>
                      <a:ext cx="197115" cy="7109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5495" name="Group 462"/>
                <p:cNvGrpSpPr/>
                <p:nvPr/>
              </p:nvGrpSpPr>
              <p:grpSpPr>
                <a:xfrm>
                  <a:off x="1299526" y="-1"/>
                  <a:ext cx="393761" cy="409458"/>
                  <a:chOff x="0" y="0"/>
                  <a:chExt cx="393760" cy="409456"/>
                </a:xfrm>
              </p:grpSpPr>
              <p:grpSp>
                <p:nvGrpSpPr>
                  <p:cNvPr id="5486" name="Freeform 463"/>
                  <p:cNvGrpSpPr/>
                  <p:nvPr/>
                </p:nvGrpSpPr>
                <p:grpSpPr>
                  <a:xfrm>
                    <a:off x="0" y="76369"/>
                    <a:ext cx="393761" cy="333088"/>
                    <a:chOff x="0" y="0"/>
                    <a:chExt cx="393760" cy="333087"/>
                  </a:xfrm>
                </p:grpSpPr>
                <p:sp>
                  <p:nvSpPr>
                    <p:cNvPr id="5484" name="Shape"/>
                    <p:cNvSpPr/>
                    <p:nvPr/>
                  </p:nvSpPr>
                  <p:spPr>
                    <a:xfrm>
                      <a:off x="0" y="95084"/>
                      <a:ext cx="393761" cy="14292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85" name="Text"/>
                    <p:cNvSpPr txBox="1"/>
                    <p:nvPr/>
                  </p:nvSpPr>
                  <p:spPr>
                    <a:xfrm>
                      <a:off x="48894" y="0"/>
                      <a:ext cx="29597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5489" name="Oval 464"/>
                  <p:cNvGrpSpPr/>
                  <p:nvPr/>
                </p:nvGrpSpPr>
                <p:grpSpPr>
                  <a:xfrm>
                    <a:off x="226" y="-1"/>
                    <a:ext cx="393285" cy="333089"/>
                    <a:chOff x="0" y="0"/>
                    <a:chExt cx="393284" cy="333087"/>
                  </a:xfrm>
                </p:grpSpPr>
                <p:sp>
                  <p:nvSpPr>
                    <p:cNvPr id="5487" name="Oval"/>
                    <p:cNvSpPr/>
                    <p:nvPr/>
                  </p:nvSpPr>
                  <p:spPr>
                    <a:xfrm>
                      <a:off x="0" y="95794"/>
                      <a:ext cx="393285" cy="14149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88" name="Text"/>
                    <p:cNvSpPr txBox="1"/>
                    <p:nvPr/>
                  </p:nvSpPr>
                  <p:spPr>
                    <a:xfrm>
                      <a:off x="106490" y="0"/>
                      <a:ext cx="180304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5494" name="Group 465"/>
                  <p:cNvGrpSpPr/>
                  <p:nvPr/>
                </p:nvGrpSpPr>
                <p:grpSpPr>
                  <a:xfrm>
                    <a:off x="58397" y="113778"/>
                    <a:ext cx="276892" cy="103972"/>
                    <a:chOff x="0" y="0"/>
                    <a:chExt cx="276890" cy="103970"/>
                  </a:xfrm>
                </p:grpSpPr>
                <p:sp>
                  <p:nvSpPr>
                    <p:cNvPr id="5490" name="Freeform 466"/>
                    <p:cNvSpPr/>
                    <p:nvPr/>
                  </p:nvSpPr>
                  <p:spPr>
                    <a:xfrm>
                      <a:off x="7658" y="0"/>
                      <a:ext cx="261934" cy="582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91" name="Freeform 467"/>
                    <p:cNvSpPr/>
                    <p:nvPr/>
                  </p:nvSpPr>
                  <p:spPr>
                    <a:xfrm>
                      <a:off x="179095" y="49783"/>
                      <a:ext cx="97796" cy="5010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92" name="Freeform 468"/>
                    <p:cNvSpPr/>
                    <p:nvPr/>
                  </p:nvSpPr>
                  <p:spPr>
                    <a:xfrm>
                      <a:off x="0" y="49783"/>
                      <a:ext cx="96028" cy="495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5493" name="Freeform 469"/>
                    <p:cNvSpPr/>
                    <p:nvPr/>
                  </p:nvSpPr>
                  <p:spPr>
                    <a:xfrm>
                      <a:off x="33336" y="25312"/>
                      <a:ext cx="208796" cy="7865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5496" name="Picture 1065" descr="Picture 1065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253314" y="1172917"/>
                  <a:ext cx="307703" cy="16881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497" name="Picture 1065" descr="Picture 1065"/>
                <p:cNvPicPr>
                  <a:picLocks noChangeAspect="1"/>
                </p:cNvPicPr>
                <p:nvPr/>
              </p:nvPicPr>
              <p:blipFill>
                <a:blip r:embed="rId22">
                  <a:extLst/>
                </a:blip>
                <a:stretch>
                  <a:fillRect/>
                </a:stretch>
              </p:blipFill>
              <p:spPr>
                <a:xfrm>
                  <a:off x="1586379" y="1115246"/>
                  <a:ext cx="316708" cy="13896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grpSp>
          <p:nvGrpSpPr>
            <p:cNvPr id="5518" name="Group 16"/>
            <p:cNvGrpSpPr/>
            <p:nvPr/>
          </p:nvGrpSpPr>
          <p:grpSpPr>
            <a:xfrm>
              <a:off x="3486908" y="2329186"/>
              <a:ext cx="657414" cy="451817"/>
              <a:chOff x="0" y="0"/>
              <a:chExt cx="657412" cy="451816"/>
            </a:xfrm>
          </p:grpSpPr>
          <p:grpSp>
            <p:nvGrpSpPr>
              <p:cNvPr id="5505" name="Group 374"/>
              <p:cNvGrpSpPr/>
              <p:nvPr/>
            </p:nvGrpSpPr>
            <p:grpSpPr>
              <a:xfrm>
                <a:off x="167574" y="0"/>
                <a:ext cx="489840" cy="451817"/>
                <a:chOff x="0" y="0"/>
                <a:chExt cx="489839" cy="451816"/>
              </a:xfrm>
            </p:grpSpPr>
            <p:sp>
              <p:nvSpPr>
                <p:cNvPr id="5500" name="Straight Connector 375"/>
                <p:cNvSpPr/>
                <p:nvPr/>
              </p:nvSpPr>
              <p:spPr>
                <a:xfrm>
                  <a:off x="-1" y="240564"/>
                  <a:ext cx="186245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5504" name="Group 377"/>
                <p:cNvGrpSpPr/>
                <p:nvPr/>
              </p:nvGrpSpPr>
              <p:grpSpPr>
                <a:xfrm>
                  <a:off x="137494" y="0"/>
                  <a:ext cx="352346" cy="451817"/>
                  <a:chOff x="0" y="0"/>
                  <a:chExt cx="352344" cy="451816"/>
                </a:xfrm>
              </p:grpSpPr>
              <p:pic>
                <p:nvPicPr>
                  <p:cNvPr id="5501" name="Picture 378" descr="Picture 378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203776" y="66104"/>
                    <a:ext cx="148569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5502" name="Picture 379" descr="Picture 379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0" y="58546"/>
                    <a:ext cx="148568" cy="34914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5503" name="Picture 380" descr="Picture 380"/>
                  <p:cNvPicPr>
                    <a:picLocks noChangeAspect="1"/>
                  </p:cNvPicPr>
                  <p:nvPr/>
                </p:nvPicPr>
                <p:blipFill>
                  <a:blip r:embed="rId20">
                    <a:extLst/>
                  </a:blip>
                  <a:stretch>
                    <a:fillRect/>
                  </a:stretch>
                </p:blipFill>
                <p:spPr>
                  <a:xfrm>
                    <a:off x="85777" y="0"/>
                    <a:ext cx="192259" cy="451817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  <p:grpSp>
            <p:nvGrpSpPr>
              <p:cNvPr id="5517" name="Group 446"/>
              <p:cNvGrpSpPr/>
              <p:nvPr/>
            </p:nvGrpSpPr>
            <p:grpSpPr>
              <a:xfrm>
                <a:off x="0" y="94708"/>
                <a:ext cx="228296" cy="333088"/>
                <a:chOff x="0" y="0"/>
                <a:chExt cx="228295" cy="333087"/>
              </a:xfrm>
            </p:grpSpPr>
            <p:grpSp>
              <p:nvGrpSpPr>
                <p:cNvPr id="5508" name="Freeform 447"/>
                <p:cNvGrpSpPr/>
                <p:nvPr/>
              </p:nvGrpSpPr>
              <p:grpSpPr>
                <a:xfrm>
                  <a:off x="0" y="-1"/>
                  <a:ext cx="228296" cy="333089"/>
                  <a:chOff x="0" y="0"/>
                  <a:chExt cx="228295" cy="333087"/>
                </a:xfrm>
              </p:grpSpPr>
              <p:sp>
                <p:nvSpPr>
                  <p:cNvPr id="5506" name="Shape"/>
                  <p:cNvSpPr/>
                  <p:nvPr/>
                </p:nvSpPr>
                <p:spPr>
                  <a:xfrm>
                    <a:off x="0" y="127181"/>
                    <a:ext cx="228296" cy="787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3" h="21598" fill="norm" stroke="1" extrusionOk="0">
                        <a:moveTo>
                          <a:pt x="21591" y="51"/>
                        </a:moveTo>
                        <a:lnTo>
                          <a:pt x="21593" y="11403"/>
                        </a:lnTo>
                        <a:cubicBezTo>
                          <a:pt x="20935" y="19011"/>
                          <a:pt x="14479" y="21600"/>
                          <a:pt x="10884" y="21598"/>
                        </a:cubicBezTo>
                        <a:cubicBezTo>
                          <a:pt x="7289" y="21596"/>
                          <a:pt x="649" y="19123"/>
                          <a:pt x="23" y="11390"/>
                        </a:cubicBezTo>
                        <a:cubicBezTo>
                          <a:pt x="32" y="8472"/>
                          <a:pt x="-7" y="2919"/>
                          <a:pt x="1" y="0"/>
                        </a:cubicBezTo>
                        <a:cubicBezTo>
                          <a:pt x="1019" y="6646"/>
                          <a:pt x="7140" y="10014"/>
                          <a:pt x="10738" y="10023"/>
                        </a:cubicBezTo>
                        <a:cubicBezTo>
                          <a:pt x="14336" y="10031"/>
                          <a:pt x="20606" y="7591"/>
                          <a:pt x="21591" y="51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B8C2C9"/>
                      </a:gs>
                      <a:gs pos="21000">
                        <a:srgbClr val="FFFFFF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507" name="Text"/>
                  <p:cNvSpPr txBox="1"/>
                  <p:nvPr/>
                </p:nvSpPr>
                <p:spPr>
                  <a:xfrm>
                    <a:off x="47307" y="0"/>
                    <a:ext cx="133681" cy="3330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     </a:t>
                    </a:r>
                  </a:p>
                </p:txBody>
              </p:sp>
            </p:grpSp>
            <p:grpSp>
              <p:nvGrpSpPr>
                <p:cNvPr id="5511" name="Oval 448"/>
                <p:cNvGrpSpPr/>
                <p:nvPr/>
              </p:nvGrpSpPr>
              <p:grpSpPr>
                <a:xfrm>
                  <a:off x="131" y="60976"/>
                  <a:ext cx="228019" cy="127001"/>
                  <a:chOff x="0" y="0"/>
                  <a:chExt cx="228018" cy="127000"/>
                </a:xfrm>
              </p:grpSpPr>
              <p:sp>
                <p:nvSpPr>
                  <p:cNvPr id="5509" name="Oval"/>
                  <p:cNvSpPr/>
                  <p:nvPr/>
                </p:nvSpPr>
                <p:spPr>
                  <a:xfrm>
                    <a:off x="0" y="24529"/>
                    <a:ext cx="228019" cy="77943"/>
                  </a:xfrm>
                  <a:prstGeom prst="ellipse">
                    <a:avLst/>
                  </a:prstGeom>
                  <a:solidFill>
                    <a:srgbClr val="B8C2C9"/>
                  </a:solidFill>
                  <a:ln w="3175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510" name="Text"/>
                  <p:cNvSpPr txBox="1"/>
                  <p:nvPr/>
                </p:nvSpPr>
                <p:spPr>
                  <a:xfrm>
                    <a:off x="80699" y="0"/>
                    <a:ext cx="66620" cy="1270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ctr">
                    <a:spAutoFit/>
                  </a:bodyPr>
                  <a:lstStyle>
                    <a:lvl1pPr algn="ctr">
                      <a:defRPr>
                        <a:solidFill>
                          <a:srgbClr val="FFFFFF"/>
                        </a:solidFill>
                      </a:defRPr>
                    </a:lvl1pPr>
                  </a:lstStyle>
                  <a:p>
                    <a:pPr/>
                    <a:r>
                      <a:t>              </a:t>
                    </a:r>
                  </a:p>
                </p:txBody>
              </p:sp>
            </p:grpSp>
            <p:grpSp>
              <p:nvGrpSpPr>
                <p:cNvPr id="5516" name="Group 449"/>
                <p:cNvGrpSpPr/>
                <p:nvPr/>
              </p:nvGrpSpPr>
              <p:grpSpPr>
                <a:xfrm>
                  <a:off x="33858" y="95412"/>
                  <a:ext cx="160537" cy="57271"/>
                  <a:chOff x="0" y="0"/>
                  <a:chExt cx="160536" cy="57270"/>
                </a:xfrm>
              </p:grpSpPr>
              <p:sp>
                <p:nvSpPr>
                  <p:cNvPr id="5512" name="Freeform 450"/>
                  <p:cNvSpPr/>
                  <p:nvPr/>
                </p:nvSpPr>
                <p:spPr>
                  <a:xfrm>
                    <a:off x="4440" y="-1"/>
                    <a:ext cx="151865" cy="320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7365" y="0"/>
                        </a:moveTo>
                        <a:lnTo>
                          <a:pt x="21600" y="4925"/>
                        </a:lnTo>
                        <a:lnTo>
                          <a:pt x="18461" y="11148"/>
                        </a:lnTo>
                        <a:lnTo>
                          <a:pt x="17638" y="9623"/>
                        </a:lnTo>
                        <a:lnTo>
                          <a:pt x="10634" y="21600"/>
                        </a:lnTo>
                        <a:lnTo>
                          <a:pt x="4216" y="9406"/>
                        </a:lnTo>
                        <a:lnTo>
                          <a:pt x="2885" y="11148"/>
                        </a:lnTo>
                        <a:lnTo>
                          <a:pt x="0" y="5658"/>
                        </a:lnTo>
                        <a:lnTo>
                          <a:pt x="4216" y="348"/>
                        </a:lnTo>
                        <a:lnTo>
                          <a:pt x="10742" y="12674"/>
                        </a:lnTo>
                        <a:lnTo>
                          <a:pt x="17365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513" name="Freeform 451"/>
                  <p:cNvSpPr/>
                  <p:nvPr/>
                </p:nvSpPr>
                <p:spPr>
                  <a:xfrm>
                    <a:off x="103836" y="27422"/>
                    <a:ext cx="56701" cy="276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60" y="0"/>
                        </a:moveTo>
                        <a:lnTo>
                          <a:pt x="21600" y="16577"/>
                        </a:lnTo>
                        <a:lnTo>
                          <a:pt x="14183" y="21600"/>
                        </a:lnTo>
                        <a:lnTo>
                          <a:pt x="0" y="10800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514" name="Freeform 452"/>
                  <p:cNvSpPr/>
                  <p:nvPr/>
                </p:nvSpPr>
                <p:spPr>
                  <a:xfrm>
                    <a:off x="-1" y="27422"/>
                    <a:ext cx="55677" cy="2728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21467" y="0"/>
                        </a:moveTo>
                        <a:lnTo>
                          <a:pt x="21600" y="11435"/>
                        </a:lnTo>
                        <a:lnTo>
                          <a:pt x="7288" y="21600"/>
                        </a:lnTo>
                        <a:lnTo>
                          <a:pt x="0" y="16772"/>
                        </a:lnTo>
                        <a:lnTo>
                          <a:pt x="21467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5515" name="Freeform 453"/>
                  <p:cNvSpPr/>
                  <p:nvPr/>
                </p:nvSpPr>
                <p:spPr>
                  <a:xfrm>
                    <a:off x="19327" y="13943"/>
                    <a:ext cx="121057" cy="4332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939" y="1120"/>
                        </a:moveTo>
                        <a:lnTo>
                          <a:pt x="2585" y="0"/>
                        </a:lnTo>
                        <a:lnTo>
                          <a:pt x="10744" y="9007"/>
                        </a:lnTo>
                        <a:lnTo>
                          <a:pt x="19467" y="0"/>
                        </a:lnTo>
                        <a:lnTo>
                          <a:pt x="20747" y="1120"/>
                        </a:lnTo>
                        <a:lnTo>
                          <a:pt x="15265" y="6833"/>
                        </a:lnTo>
                        <a:lnTo>
                          <a:pt x="15222" y="13740"/>
                        </a:lnTo>
                        <a:lnTo>
                          <a:pt x="21600" y="20480"/>
                        </a:lnTo>
                        <a:lnTo>
                          <a:pt x="19954" y="21440"/>
                        </a:lnTo>
                        <a:lnTo>
                          <a:pt x="10813" y="11360"/>
                        </a:lnTo>
                        <a:lnTo>
                          <a:pt x="1488" y="21600"/>
                        </a:lnTo>
                        <a:lnTo>
                          <a:pt x="0" y="20263"/>
                        </a:lnTo>
                        <a:lnTo>
                          <a:pt x="6457" y="13760"/>
                        </a:lnTo>
                        <a:cubicBezTo>
                          <a:pt x="6457" y="11573"/>
                          <a:pt x="6392" y="9067"/>
                          <a:pt x="6392" y="6880"/>
                        </a:cubicBezTo>
                        <a:lnTo>
                          <a:pt x="1061" y="1280"/>
                        </a:lnTo>
                        <a:cubicBezTo>
                          <a:pt x="153" y="320"/>
                          <a:pt x="980" y="1173"/>
                          <a:pt x="939" y="1120"/>
                        </a:cubicBezTo>
                        <a:close/>
                      </a:path>
                    </a:pathLst>
                  </a:custGeom>
                  <a:solidFill>
                    <a:srgbClr val="8FAAD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</p:grpSp>
        </p:grpSp>
      </p:grpSp>
      <p:grpSp>
        <p:nvGrpSpPr>
          <p:cNvPr id="5522" name="Group 6"/>
          <p:cNvGrpSpPr/>
          <p:nvPr/>
        </p:nvGrpSpPr>
        <p:grpSpPr>
          <a:xfrm>
            <a:off x="8694911" y="1702617"/>
            <a:ext cx="2658890" cy="2831441"/>
            <a:chOff x="0" y="0"/>
            <a:chExt cx="2658889" cy="2831440"/>
          </a:xfrm>
        </p:grpSpPr>
        <p:sp>
          <p:nvSpPr>
            <p:cNvPr id="5520" name="Oval 639"/>
            <p:cNvSpPr/>
            <p:nvPr/>
          </p:nvSpPr>
          <p:spPr>
            <a:xfrm>
              <a:off x="605681" y="-1"/>
              <a:ext cx="2053209" cy="1399515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521" name="Oval 610"/>
            <p:cNvSpPr/>
            <p:nvPr/>
          </p:nvSpPr>
          <p:spPr>
            <a:xfrm>
              <a:off x="-1" y="1323556"/>
              <a:ext cx="2173776" cy="1507885"/>
            </a:xfrm>
            <a:prstGeom prst="ellipse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523" name="Freeform 4"/>
          <p:cNvSpPr/>
          <p:nvPr/>
        </p:nvSpPr>
        <p:spPr>
          <a:xfrm>
            <a:off x="7157545" y="1523999"/>
            <a:ext cx="4550980" cy="4897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0" y="788"/>
                </a:moveTo>
                <a:cubicBezTo>
                  <a:pt x="4889" y="185"/>
                  <a:pt x="6901" y="239"/>
                  <a:pt x="10775" y="0"/>
                </a:cubicBezTo>
                <a:cubicBezTo>
                  <a:pt x="10875" y="2101"/>
                  <a:pt x="9029" y="4249"/>
                  <a:pt x="11074" y="6304"/>
                </a:cubicBezTo>
                <a:lnTo>
                  <a:pt x="7533" y="8297"/>
                </a:lnTo>
                <a:lnTo>
                  <a:pt x="6884" y="10707"/>
                </a:lnTo>
                <a:cubicBezTo>
                  <a:pt x="7982" y="13226"/>
                  <a:pt x="12359" y="13863"/>
                  <a:pt x="14759" y="13096"/>
                </a:cubicBezTo>
                <a:cubicBezTo>
                  <a:pt x="15411" y="12855"/>
                  <a:pt x="15836" y="12633"/>
                  <a:pt x="16364" y="12353"/>
                </a:cubicBezTo>
                <a:lnTo>
                  <a:pt x="17559" y="11264"/>
                </a:lnTo>
                <a:lnTo>
                  <a:pt x="17659" y="9780"/>
                </a:lnTo>
                <a:lnTo>
                  <a:pt x="17460" y="8900"/>
                </a:lnTo>
                <a:lnTo>
                  <a:pt x="17011" y="8112"/>
                </a:lnTo>
                <a:lnTo>
                  <a:pt x="15863" y="7416"/>
                </a:lnTo>
                <a:lnTo>
                  <a:pt x="20852" y="6814"/>
                </a:lnTo>
                <a:lnTo>
                  <a:pt x="21600" y="12700"/>
                </a:lnTo>
                <a:lnTo>
                  <a:pt x="20902" y="19931"/>
                </a:lnTo>
                <a:lnTo>
                  <a:pt x="16113" y="21600"/>
                </a:lnTo>
                <a:lnTo>
                  <a:pt x="0" y="21415"/>
                </a:lnTo>
                <a:cubicBezTo>
                  <a:pt x="33" y="14539"/>
                  <a:pt x="67" y="7664"/>
                  <a:pt x="100" y="788"/>
                </a:cubicBezTo>
                <a:close/>
              </a:path>
            </a:pathLst>
          </a:custGeom>
          <a:solidFill>
            <a:srgbClr val="FFFFFF">
              <a:alpha val="71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5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021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6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Two key network-core functions</a:t>
            </a:r>
          </a:p>
        </p:txBody>
      </p:sp>
      <p:sp>
        <p:nvSpPr>
          <p:cNvPr id="5527" name="Freeform 2"/>
          <p:cNvSpPr/>
          <p:nvPr/>
        </p:nvSpPr>
        <p:spPr>
          <a:xfrm>
            <a:off x="5013807" y="4287672"/>
            <a:ext cx="2753573" cy="14381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77" h="20976" fill="norm" stroke="1" extrusionOk="0">
                <a:moveTo>
                  <a:pt x="13" y="10650"/>
                </a:moveTo>
                <a:cubicBezTo>
                  <a:pt x="-59" y="7918"/>
                  <a:pt x="134" y="3844"/>
                  <a:pt x="1241" y="2362"/>
                </a:cubicBezTo>
                <a:cubicBezTo>
                  <a:pt x="2349" y="880"/>
                  <a:pt x="4625" y="2154"/>
                  <a:pt x="6671" y="1783"/>
                </a:cubicBezTo>
                <a:cubicBezTo>
                  <a:pt x="8718" y="1413"/>
                  <a:pt x="11199" y="-532"/>
                  <a:pt x="13522" y="139"/>
                </a:cubicBezTo>
                <a:cubicBezTo>
                  <a:pt x="15846" y="811"/>
                  <a:pt x="19663" y="2755"/>
                  <a:pt x="20602" y="5835"/>
                </a:cubicBezTo>
                <a:cubicBezTo>
                  <a:pt x="21541" y="8914"/>
                  <a:pt x="19831" y="16160"/>
                  <a:pt x="19157" y="18614"/>
                </a:cubicBezTo>
                <a:cubicBezTo>
                  <a:pt x="18483" y="21068"/>
                  <a:pt x="18073" y="20165"/>
                  <a:pt x="16556" y="20559"/>
                </a:cubicBezTo>
                <a:cubicBezTo>
                  <a:pt x="15039" y="20952"/>
                  <a:pt x="11993" y="20975"/>
                  <a:pt x="10055" y="20975"/>
                </a:cubicBezTo>
                <a:cubicBezTo>
                  <a:pt x="8116" y="20975"/>
                  <a:pt x="6322" y="20929"/>
                  <a:pt x="4926" y="20559"/>
                </a:cubicBezTo>
                <a:cubicBezTo>
                  <a:pt x="3529" y="20188"/>
                  <a:pt x="2481" y="20373"/>
                  <a:pt x="1663" y="18730"/>
                </a:cubicBezTo>
                <a:cubicBezTo>
                  <a:pt x="844" y="17086"/>
                  <a:pt x="-11" y="13914"/>
                  <a:pt x="13" y="10650"/>
                </a:cubicBezTo>
                <a:close/>
              </a:path>
            </a:pathLst>
          </a:custGeom>
          <a:solidFill>
            <a:srgbClr val="66CC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528" name="Freeform 6"/>
          <p:cNvSpPr/>
          <p:nvPr/>
        </p:nvSpPr>
        <p:spPr>
          <a:xfrm flipV="1">
            <a:off x="5644427" y="4554392"/>
            <a:ext cx="543097" cy="29523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29" name="Freeform 91"/>
          <p:cNvSpPr/>
          <p:nvPr/>
        </p:nvSpPr>
        <p:spPr>
          <a:xfrm>
            <a:off x="6686154" y="4548044"/>
            <a:ext cx="504985" cy="307928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30" name="Freeform 92"/>
          <p:cNvSpPr/>
          <p:nvPr/>
        </p:nvSpPr>
        <p:spPr>
          <a:xfrm>
            <a:off x="5620606" y="4940094"/>
            <a:ext cx="481165" cy="238089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31" name="Freeform 93"/>
          <p:cNvSpPr/>
          <p:nvPr/>
        </p:nvSpPr>
        <p:spPr>
          <a:xfrm flipV="1">
            <a:off x="6568643" y="4916285"/>
            <a:ext cx="628849" cy="24761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32" name="Freeform 94"/>
          <p:cNvSpPr/>
          <p:nvPr/>
        </p:nvSpPr>
        <p:spPr>
          <a:xfrm flipV="1">
            <a:off x="7235603" y="4970252"/>
            <a:ext cx="206441" cy="50792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33" name="Freeform 95"/>
          <p:cNvSpPr/>
          <p:nvPr/>
        </p:nvSpPr>
        <p:spPr>
          <a:xfrm flipH="1" flipV="1">
            <a:off x="6000139" y="5503569"/>
            <a:ext cx="736833" cy="7460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34" name="Freeform 96"/>
          <p:cNvSpPr/>
          <p:nvPr/>
        </p:nvSpPr>
        <p:spPr>
          <a:xfrm>
            <a:off x="5463394" y="4963903"/>
            <a:ext cx="193737" cy="425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882" y="21390"/>
                </a:moveTo>
                <a:lnTo>
                  <a:pt x="21600" y="21600"/>
                </a:ln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5538" name="Group 11"/>
          <p:cNvGrpSpPr/>
          <p:nvPr/>
        </p:nvGrpSpPr>
        <p:grpSpPr>
          <a:xfrm>
            <a:off x="5285928" y="4473412"/>
            <a:ext cx="544031" cy="800663"/>
            <a:chOff x="0" y="0"/>
            <a:chExt cx="544029" cy="800661"/>
          </a:xfrm>
        </p:grpSpPr>
        <p:sp>
          <p:nvSpPr>
            <p:cNvPr id="5535" name="Text Box 100"/>
            <p:cNvSpPr txBox="1"/>
            <p:nvPr/>
          </p:nvSpPr>
          <p:spPr>
            <a:xfrm>
              <a:off x="312753" y="0"/>
              <a:ext cx="231277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536" name="Text Box 101"/>
            <p:cNvSpPr txBox="1"/>
            <p:nvPr/>
          </p:nvSpPr>
          <p:spPr>
            <a:xfrm>
              <a:off x="250837" y="414258"/>
              <a:ext cx="217151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5537" name="Text Box 102"/>
            <p:cNvSpPr txBox="1"/>
            <p:nvPr/>
          </p:nvSpPr>
          <p:spPr>
            <a:xfrm>
              <a:off x="0" y="487269"/>
              <a:ext cx="217151" cy="313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5539" name="Line 107"/>
          <p:cNvSpPr/>
          <p:nvPr/>
        </p:nvSpPr>
        <p:spPr>
          <a:xfrm flipH="1">
            <a:off x="3738362" y="4863862"/>
            <a:ext cx="1408180" cy="91422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547" name="Group 10"/>
          <p:cNvGrpSpPr/>
          <p:nvPr/>
        </p:nvGrpSpPr>
        <p:grpSpPr>
          <a:xfrm>
            <a:off x="2795269" y="5137689"/>
            <a:ext cx="2591456" cy="1453705"/>
            <a:chOff x="0" y="0"/>
            <a:chExt cx="2591454" cy="1453703"/>
          </a:xfrm>
        </p:grpSpPr>
        <p:grpSp>
          <p:nvGrpSpPr>
            <p:cNvPr id="5544" name="Group 1"/>
            <p:cNvGrpSpPr/>
            <p:nvPr/>
          </p:nvGrpSpPr>
          <p:grpSpPr>
            <a:xfrm>
              <a:off x="1017326" y="0"/>
              <a:ext cx="1279387" cy="886898"/>
              <a:chOff x="0" y="0"/>
              <a:chExt cx="1279385" cy="886897"/>
            </a:xfrm>
          </p:grpSpPr>
          <p:sp>
            <p:nvSpPr>
              <p:cNvPr id="5540" name="Rectangle 98"/>
              <p:cNvSpPr/>
              <p:nvPr/>
            </p:nvSpPr>
            <p:spPr>
              <a:xfrm rot="19587632">
                <a:off x="-29783" y="351547"/>
                <a:ext cx="1147817" cy="238079"/>
              </a:xfrm>
              <a:prstGeom prst="rect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41" name="Line 99"/>
              <p:cNvSpPr/>
              <p:nvPr/>
            </p:nvSpPr>
            <p:spPr>
              <a:xfrm flipV="1">
                <a:off x="927401" y="0"/>
                <a:ext cx="351985" cy="233323"/>
              </a:xfrm>
              <a:prstGeom prst="line">
                <a:avLst/>
              </a:prstGeom>
              <a:noFill/>
              <a:ln w="9525" cap="flat">
                <a:solidFill>
                  <a:srgbClr val="3333CC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42" name="Rectangle 104"/>
              <p:cNvSpPr/>
              <p:nvPr/>
            </p:nvSpPr>
            <p:spPr>
              <a:xfrm rot="19587632">
                <a:off x="557620" y="205490"/>
                <a:ext cx="427058" cy="239667"/>
              </a:xfrm>
              <a:prstGeom prst="rect">
                <a:avLst/>
              </a:prstGeom>
              <a:solidFill>
                <a:srgbClr val="00CC9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43" name="Text Box 105"/>
              <p:cNvSpPr txBox="1"/>
              <p:nvPr/>
            </p:nvSpPr>
            <p:spPr>
              <a:xfrm rot="19877567">
                <a:off x="549007" y="184415"/>
                <a:ext cx="420549" cy="2642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2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0111</a:t>
                </a:r>
              </a:p>
            </p:txBody>
          </p:sp>
        </p:grpSp>
        <p:sp>
          <p:nvSpPr>
            <p:cNvPr id="5545" name="Text Box 106"/>
            <p:cNvSpPr txBox="1"/>
            <p:nvPr/>
          </p:nvSpPr>
          <p:spPr>
            <a:xfrm>
              <a:off x="0" y="899110"/>
              <a:ext cx="2591455" cy="554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600"/>
              </a:pPr>
              <a:r>
                <a:t>destination address in arriving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>
                <a:defRPr sz="1600"/>
              </a:pPr>
              <a:r>
                <a:t>packet’s header</a:t>
              </a:r>
            </a:p>
          </p:txBody>
        </p:sp>
        <p:sp>
          <p:nvSpPr>
            <p:cNvPr id="5546" name="Line 119"/>
            <p:cNvSpPr/>
            <p:nvPr/>
          </p:nvSpPr>
          <p:spPr>
            <a:xfrm flipV="1">
              <a:off x="1838654" y="484924"/>
              <a:ext cx="1" cy="50157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5557" name="Group 7"/>
          <p:cNvGrpSpPr/>
          <p:nvPr/>
        </p:nvGrpSpPr>
        <p:grpSpPr>
          <a:xfrm>
            <a:off x="6355851" y="3632199"/>
            <a:ext cx="578033" cy="807611"/>
            <a:chOff x="0" y="0"/>
            <a:chExt cx="578032" cy="807609"/>
          </a:xfrm>
        </p:grpSpPr>
        <p:sp>
          <p:nvSpPr>
            <p:cNvPr id="5548" name="Freeform 122"/>
            <p:cNvSpPr/>
            <p:nvPr/>
          </p:nvSpPr>
          <p:spPr>
            <a:xfrm flipH="1">
              <a:off x="0" y="444430"/>
              <a:ext cx="578033" cy="363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21" fill="norm" stroke="1" extrusionOk="0">
                  <a:moveTo>
                    <a:pt x="0" y="0"/>
                  </a:moveTo>
                  <a:cubicBezTo>
                    <a:pt x="8547" y="7544"/>
                    <a:pt x="12813" y="10800"/>
                    <a:pt x="16106" y="20700"/>
                  </a:cubicBezTo>
                  <a:cubicBezTo>
                    <a:pt x="17738" y="20515"/>
                    <a:pt x="18262" y="21600"/>
                    <a:pt x="19759" y="20859"/>
                  </a:cubicBezTo>
                  <a:cubicBezTo>
                    <a:pt x="18921" y="9185"/>
                    <a:pt x="19100" y="9318"/>
                    <a:pt x="21600" y="132"/>
                  </a:cubicBezTo>
                  <a:cubicBezTo>
                    <a:pt x="12978" y="132"/>
                    <a:pt x="3488" y="0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9D9D9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556" name="Group 126"/>
            <p:cNvGrpSpPr/>
            <p:nvPr/>
          </p:nvGrpSpPr>
          <p:grpSpPr>
            <a:xfrm>
              <a:off x="7940" y="0"/>
              <a:ext cx="551037" cy="452368"/>
              <a:chOff x="0" y="0"/>
              <a:chExt cx="551035" cy="452367"/>
            </a:xfrm>
          </p:grpSpPr>
          <p:sp>
            <p:nvSpPr>
              <p:cNvPr id="5549" name="Rectangle 127"/>
              <p:cNvSpPr/>
              <p:nvPr/>
            </p:nvSpPr>
            <p:spPr>
              <a:xfrm>
                <a:off x="0" y="-1"/>
                <a:ext cx="551036" cy="452369"/>
              </a:xfrm>
              <a:prstGeom prst="rect">
                <a:avLst/>
              </a:prstGeom>
              <a:solidFill>
                <a:srgbClr val="D9D9D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50" name="Oval 128"/>
              <p:cNvSpPr/>
              <p:nvPr/>
            </p:nvSpPr>
            <p:spPr>
              <a:xfrm>
                <a:off x="30171" y="9523"/>
                <a:ext cx="498633" cy="11745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51" name="Rectangle 129"/>
              <p:cNvSpPr/>
              <p:nvPr/>
            </p:nvSpPr>
            <p:spPr>
              <a:xfrm>
                <a:off x="42876" y="185708"/>
                <a:ext cx="476400" cy="247612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52" name="Line 130"/>
              <p:cNvSpPr/>
              <p:nvPr/>
            </p:nvSpPr>
            <p:spPr>
              <a:xfrm>
                <a:off x="311247" y="226977"/>
                <a:ext cx="1589" cy="20634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53" name="Line 131"/>
              <p:cNvSpPr/>
              <p:nvPr/>
            </p:nvSpPr>
            <p:spPr>
              <a:xfrm>
                <a:off x="42876" y="276181"/>
                <a:ext cx="4764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54" name="Line 132"/>
              <p:cNvSpPr/>
              <p:nvPr/>
            </p:nvSpPr>
            <p:spPr>
              <a:xfrm>
                <a:off x="41288" y="228564"/>
                <a:ext cx="4764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55" name="AutoShape 133"/>
              <p:cNvSpPr/>
              <p:nvPr/>
            </p:nvSpPr>
            <p:spPr>
              <a:xfrm rot="5400000">
                <a:off x="262030" y="122203"/>
                <a:ext cx="46032" cy="65109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  <p:grpSp>
        <p:nvGrpSpPr>
          <p:cNvPr id="5567" name="Group 8"/>
          <p:cNvGrpSpPr/>
          <p:nvPr/>
        </p:nvGrpSpPr>
        <p:grpSpPr>
          <a:xfrm>
            <a:off x="7355160" y="3958273"/>
            <a:ext cx="578033" cy="814642"/>
            <a:chOff x="0" y="0"/>
            <a:chExt cx="578032" cy="814640"/>
          </a:xfrm>
        </p:grpSpPr>
        <p:sp>
          <p:nvSpPr>
            <p:cNvPr id="5558" name="Freeform 121"/>
            <p:cNvSpPr/>
            <p:nvPr/>
          </p:nvSpPr>
          <p:spPr>
            <a:xfrm flipH="1">
              <a:off x="-1" y="451460"/>
              <a:ext cx="578034" cy="363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21" fill="norm" stroke="1" extrusionOk="0">
                  <a:moveTo>
                    <a:pt x="0" y="0"/>
                  </a:moveTo>
                  <a:cubicBezTo>
                    <a:pt x="8547" y="7544"/>
                    <a:pt x="12813" y="10800"/>
                    <a:pt x="16106" y="20700"/>
                  </a:cubicBezTo>
                  <a:cubicBezTo>
                    <a:pt x="17738" y="20515"/>
                    <a:pt x="18262" y="21600"/>
                    <a:pt x="19759" y="20859"/>
                  </a:cubicBezTo>
                  <a:cubicBezTo>
                    <a:pt x="18921" y="9185"/>
                    <a:pt x="19100" y="9318"/>
                    <a:pt x="21600" y="132"/>
                  </a:cubicBezTo>
                  <a:cubicBezTo>
                    <a:pt x="12978" y="132"/>
                    <a:pt x="3488" y="0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9D9D9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566" name="Group 134"/>
            <p:cNvGrpSpPr/>
            <p:nvPr/>
          </p:nvGrpSpPr>
          <p:grpSpPr>
            <a:xfrm>
              <a:off x="5446" y="0"/>
              <a:ext cx="551037" cy="452366"/>
              <a:chOff x="0" y="0"/>
              <a:chExt cx="551035" cy="452365"/>
            </a:xfrm>
          </p:grpSpPr>
          <p:sp>
            <p:nvSpPr>
              <p:cNvPr id="5559" name="Rectangle 135"/>
              <p:cNvSpPr/>
              <p:nvPr/>
            </p:nvSpPr>
            <p:spPr>
              <a:xfrm>
                <a:off x="0" y="0"/>
                <a:ext cx="551036" cy="452366"/>
              </a:xfrm>
              <a:prstGeom prst="rect">
                <a:avLst/>
              </a:prstGeom>
              <a:solidFill>
                <a:srgbClr val="D9D9D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60" name="Oval 136"/>
              <p:cNvSpPr/>
              <p:nvPr/>
            </p:nvSpPr>
            <p:spPr>
              <a:xfrm>
                <a:off x="30171" y="9523"/>
                <a:ext cx="498633" cy="11745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61" name="Rectangle 137"/>
              <p:cNvSpPr/>
              <p:nvPr/>
            </p:nvSpPr>
            <p:spPr>
              <a:xfrm>
                <a:off x="42876" y="185708"/>
                <a:ext cx="476400" cy="247612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62" name="Line 138"/>
              <p:cNvSpPr/>
              <p:nvPr/>
            </p:nvSpPr>
            <p:spPr>
              <a:xfrm>
                <a:off x="311247" y="226977"/>
                <a:ext cx="1589" cy="20634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63" name="Line 139"/>
              <p:cNvSpPr/>
              <p:nvPr/>
            </p:nvSpPr>
            <p:spPr>
              <a:xfrm>
                <a:off x="42876" y="276181"/>
                <a:ext cx="4764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64" name="Line 140"/>
              <p:cNvSpPr/>
              <p:nvPr/>
            </p:nvSpPr>
            <p:spPr>
              <a:xfrm>
                <a:off x="41288" y="228564"/>
                <a:ext cx="4764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65" name="AutoShape 141"/>
              <p:cNvSpPr/>
              <p:nvPr/>
            </p:nvSpPr>
            <p:spPr>
              <a:xfrm rot="5400000">
                <a:off x="262030" y="122203"/>
                <a:ext cx="46032" cy="65109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  <p:grpSp>
        <p:nvGrpSpPr>
          <p:cNvPr id="5576" name="Group 3"/>
          <p:cNvGrpSpPr/>
          <p:nvPr/>
        </p:nvGrpSpPr>
        <p:grpSpPr>
          <a:xfrm>
            <a:off x="7006931" y="5630850"/>
            <a:ext cx="560564" cy="802850"/>
            <a:chOff x="0" y="0"/>
            <a:chExt cx="560563" cy="802848"/>
          </a:xfrm>
        </p:grpSpPr>
        <p:sp>
          <p:nvSpPr>
            <p:cNvPr id="5568" name="Freeform 123"/>
            <p:cNvSpPr/>
            <p:nvPr/>
          </p:nvSpPr>
          <p:spPr>
            <a:xfrm rot="10800000">
              <a:off x="17466" y="-1"/>
              <a:ext cx="543098" cy="363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21" fill="norm" stroke="1" extrusionOk="0">
                  <a:moveTo>
                    <a:pt x="0" y="0"/>
                  </a:moveTo>
                  <a:cubicBezTo>
                    <a:pt x="8547" y="7544"/>
                    <a:pt x="12813" y="10800"/>
                    <a:pt x="16106" y="20700"/>
                  </a:cubicBezTo>
                  <a:cubicBezTo>
                    <a:pt x="17738" y="20515"/>
                    <a:pt x="18262" y="21600"/>
                    <a:pt x="19759" y="20859"/>
                  </a:cubicBezTo>
                  <a:cubicBezTo>
                    <a:pt x="18921" y="9185"/>
                    <a:pt x="19100" y="9318"/>
                    <a:pt x="21600" y="132"/>
                  </a:cubicBezTo>
                  <a:cubicBezTo>
                    <a:pt x="12978" y="132"/>
                    <a:pt x="3488" y="0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9D9D9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69" name="Rectangle 143"/>
            <p:cNvSpPr/>
            <p:nvPr/>
          </p:nvSpPr>
          <p:spPr>
            <a:xfrm>
              <a:off x="0" y="350481"/>
              <a:ext cx="551036" cy="452368"/>
            </a:xfrm>
            <a:prstGeom prst="rect">
              <a:avLst/>
            </a:prstGeom>
            <a:solidFill>
              <a:srgbClr val="D9D9D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70" name="Oval 144"/>
            <p:cNvSpPr/>
            <p:nvPr/>
          </p:nvSpPr>
          <p:spPr>
            <a:xfrm>
              <a:off x="30171" y="360005"/>
              <a:ext cx="498633" cy="117459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71" name="Rectangle 145"/>
            <p:cNvSpPr/>
            <p:nvPr/>
          </p:nvSpPr>
          <p:spPr>
            <a:xfrm>
              <a:off x="42875" y="536190"/>
              <a:ext cx="476401" cy="247612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72" name="Line 146"/>
            <p:cNvSpPr/>
            <p:nvPr/>
          </p:nvSpPr>
          <p:spPr>
            <a:xfrm>
              <a:off x="311247" y="577458"/>
              <a:ext cx="1589" cy="2063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573" name="Line 147"/>
            <p:cNvSpPr/>
            <p:nvPr/>
          </p:nvSpPr>
          <p:spPr>
            <a:xfrm>
              <a:off x="42875" y="626663"/>
              <a:ext cx="47640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574" name="Line 148"/>
            <p:cNvSpPr/>
            <p:nvPr/>
          </p:nvSpPr>
          <p:spPr>
            <a:xfrm>
              <a:off x="41287" y="579045"/>
              <a:ext cx="47640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575" name="AutoShape 149"/>
            <p:cNvSpPr/>
            <p:nvPr/>
          </p:nvSpPr>
          <p:spPr>
            <a:xfrm rot="5400000">
              <a:off x="262030" y="472684"/>
              <a:ext cx="46031" cy="65109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5586" name="Group 5"/>
          <p:cNvGrpSpPr/>
          <p:nvPr/>
        </p:nvGrpSpPr>
        <p:grpSpPr>
          <a:xfrm>
            <a:off x="6311386" y="5299825"/>
            <a:ext cx="553610" cy="931617"/>
            <a:chOff x="0" y="-15"/>
            <a:chExt cx="553608" cy="931616"/>
          </a:xfrm>
        </p:grpSpPr>
        <p:sp>
          <p:nvSpPr>
            <p:cNvPr id="5577" name="Freeform 125"/>
            <p:cNvSpPr/>
            <p:nvPr/>
          </p:nvSpPr>
          <p:spPr>
            <a:xfrm rot="10800000">
              <a:off x="1008" y="-16"/>
              <a:ext cx="552601" cy="477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56" fill="norm" stroke="1" extrusionOk="0">
                  <a:moveTo>
                    <a:pt x="0" y="18"/>
                  </a:moveTo>
                  <a:cubicBezTo>
                    <a:pt x="8400" y="7016"/>
                    <a:pt x="12841" y="11582"/>
                    <a:pt x="16078" y="20765"/>
                  </a:cubicBezTo>
                  <a:cubicBezTo>
                    <a:pt x="17681" y="20594"/>
                    <a:pt x="18197" y="21600"/>
                    <a:pt x="19668" y="20913"/>
                  </a:cubicBezTo>
                  <a:cubicBezTo>
                    <a:pt x="18845" y="10084"/>
                    <a:pt x="19144" y="8521"/>
                    <a:pt x="21600" y="0"/>
                  </a:cubicBezTo>
                  <a:lnTo>
                    <a:pt x="0" y="1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9D9D9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585" name="Group 150"/>
            <p:cNvGrpSpPr/>
            <p:nvPr/>
          </p:nvGrpSpPr>
          <p:grpSpPr>
            <a:xfrm>
              <a:off x="0" y="479233"/>
              <a:ext cx="551036" cy="452368"/>
              <a:chOff x="0" y="0"/>
              <a:chExt cx="551035" cy="452367"/>
            </a:xfrm>
          </p:grpSpPr>
          <p:sp>
            <p:nvSpPr>
              <p:cNvPr id="5578" name="Rectangle 151"/>
              <p:cNvSpPr/>
              <p:nvPr/>
            </p:nvSpPr>
            <p:spPr>
              <a:xfrm>
                <a:off x="0" y="-1"/>
                <a:ext cx="551036" cy="452369"/>
              </a:xfrm>
              <a:prstGeom prst="rect">
                <a:avLst/>
              </a:prstGeom>
              <a:solidFill>
                <a:srgbClr val="D9D9D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79" name="Oval 152"/>
              <p:cNvSpPr/>
              <p:nvPr/>
            </p:nvSpPr>
            <p:spPr>
              <a:xfrm>
                <a:off x="30171" y="9523"/>
                <a:ext cx="498633" cy="11745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80" name="Rectangle 153"/>
              <p:cNvSpPr/>
              <p:nvPr/>
            </p:nvSpPr>
            <p:spPr>
              <a:xfrm>
                <a:off x="42876" y="185708"/>
                <a:ext cx="476400" cy="247612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81" name="Line 154"/>
              <p:cNvSpPr/>
              <p:nvPr/>
            </p:nvSpPr>
            <p:spPr>
              <a:xfrm>
                <a:off x="311247" y="226977"/>
                <a:ext cx="1589" cy="20634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82" name="Line 155"/>
              <p:cNvSpPr/>
              <p:nvPr/>
            </p:nvSpPr>
            <p:spPr>
              <a:xfrm>
                <a:off x="42876" y="276181"/>
                <a:ext cx="4764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83" name="Line 156"/>
              <p:cNvSpPr/>
              <p:nvPr/>
            </p:nvSpPr>
            <p:spPr>
              <a:xfrm>
                <a:off x="41288" y="228564"/>
                <a:ext cx="4764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84" name="AutoShape 157"/>
              <p:cNvSpPr/>
              <p:nvPr/>
            </p:nvSpPr>
            <p:spPr>
              <a:xfrm rot="5400000">
                <a:off x="262030" y="122203"/>
                <a:ext cx="46032" cy="65109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  <p:grpSp>
        <p:nvGrpSpPr>
          <p:cNvPr id="5596" name="Group 6"/>
          <p:cNvGrpSpPr/>
          <p:nvPr/>
        </p:nvGrpSpPr>
        <p:grpSpPr>
          <a:xfrm>
            <a:off x="5655543" y="5614978"/>
            <a:ext cx="562153" cy="791738"/>
            <a:chOff x="0" y="0"/>
            <a:chExt cx="562152" cy="791736"/>
          </a:xfrm>
        </p:grpSpPr>
        <p:sp>
          <p:nvSpPr>
            <p:cNvPr id="5587" name="Freeform 124"/>
            <p:cNvSpPr/>
            <p:nvPr/>
          </p:nvSpPr>
          <p:spPr>
            <a:xfrm rot="10800000">
              <a:off x="19055" y="-1"/>
              <a:ext cx="543098" cy="363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21" fill="norm" stroke="1" extrusionOk="0">
                  <a:moveTo>
                    <a:pt x="0" y="0"/>
                  </a:moveTo>
                  <a:cubicBezTo>
                    <a:pt x="8547" y="7544"/>
                    <a:pt x="12813" y="10800"/>
                    <a:pt x="16106" y="20700"/>
                  </a:cubicBezTo>
                  <a:cubicBezTo>
                    <a:pt x="17738" y="20515"/>
                    <a:pt x="18262" y="21600"/>
                    <a:pt x="19759" y="20859"/>
                  </a:cubicBezTo>
                  <a:cubicBezTo>
                    <a:pt x="18921" y="9185"/>
                    <a:pt x="19100" y="9318"/>
                    <a:pt x="21600" y="132"/>
                  </a:cubicBezTo>
                  <a:cubicBezTo>
                    <a:pt x="12978" y="132"/>
                    <a:pt x="3488" y="0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D9D9D9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5595" name="Group 158"/>
            <p:cNvGrpSpPr/>
            <p:nvPr/>
          </p:nvGrpSpPr>
          <p:grpSpPr>
            <a:xfrm>
              <a:off x="0" y="339369"/>
              <a:ext cx="551036" cy="452368"/>
              <a:chOff x="0" y="0"/>
              <a:chExt cx="551035" cy="452367"/>
            </a:xfrm>
          </p:grpSpPr>
          <p:sp>
            <p:nvSpPr>
              <p:cNvPr id="5588" name="Rectangle 159"/>
              <p:cNvSpPr/>
              <p:nvPr/>
            </p:nvSpPr>
            <p:spPr>
              <a:xfrm>
                <a:off x="0" y="-1"/>
                <a:ext cx="551036" cy="452369"/>
              </a:xfrm>
              <a:prstGeom prst="rect">
                <a:avLst/>
              </a:prstGeom>
              <a:solidFill>
                <a:srgbClr val="D9D9D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89" name="Oval 160"/>
              <p:cNvSpPr/>
              <p:nvPr/>
            </p:nvSpPr>
            <p:spPr>
              <a:xfrm>
                <a:off x="30171" y="9523"/>
                <a:ext cx="498633" cy="117457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90" name="Rectangle 161"/>
              <p:cNvSpPr/>
              <p:nvPr/>
            </p:nvSpPr>
            <p:spPr>
              <a:xfrm>
                <a:off x="42876" y="185708"/>
                <a:ext cx="476400" cy="247612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5591" name="Line 162"/>
              <p:cNvSpPr/>
              <p:nvPr/>
            </p:nvSpPr>
            <p:spPr>
              <a:xfrm>
                <a:off x="311247" y="226977"/>
                <a:ext cx="1589" cy="20634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92" name="Line 163"/>
              <p:cNvSpPr/>
              <p:nvPr/>
            </p:nvSpPr>
            <p:spPr>
              <a:xfrm>
                <a:off x="42876" y="276181"/>
                <a:ext cx="4764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93" name="Line 164"/>
              <p:cNvSpPr/>
              <p:nvPr/>
            </p:nvSpPr>
            <p:spPr>
              <a:xfrm>
                <a:off x="41288" y="228564"/>
                <a:ext cx="4764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594" name="AutoShape 165"/>
              <p:cNvSpPr/>
              <p:nvPr/>
            </p:nvSpPr>
            <p:spPr>
              <a:xfrm rot="5400000">
                <a:off x="262030" y="122203"/>
                <a:ext cx="46032" cy="65109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  <p:grpSp>
        <p:nvGrpSpPr>
          <p:cNvPr id="5608" name="Group 767"/>
          <p:cNvGrpSpPr/>
          <p:nvPr/>
        </p:nvGrpSpPr>
        <p:grpSpPr>
          <a:xfrm>
            <a:off x="7049868" y="4664446"/>
            <a:ext cx="578033" cy="432912"/>
            <a:chOff x="0" y="0"/>
            <a:chExt cx="578031" cy="432911"/>
          </a:xfrm>
        </p:grpSpPr>
        <p:grpSp>
          <p:nvGrpSpPr>
            <p:cNvPr id="5599" name="Freeform 768"/>
            <p:cNvGrpSpPr/>
            <p:nvPr/>
          </p:nvGrpSpPr>
          <p:grpSpPr>
            <a:xfrm>
              <a:off x="0" y="99823"/>
              <a:ext cx="578032" cy="333089"/>
              <a:chOff x="0" y="0"/>
              <a:chExt cx="578031" cy="333087"/>
            </a:xfrm>
          </p:grpSpPr>
          <p:sp>
            <p:nvSpPr>
              <p:cNvPr id="5597" name="Shape"/>
              <p:cNvSpPr/>
              <p:nvPr/>
            </p:nvSpPr>
            <p:spPr>
              <a:xfrm>
                <a:off x="0" y="73138"/>
                <a:ext cx="578032" cy="1868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598" name="Text"/>
              <p:cNvSpPr txBox="1"/>
              <p:nvPr/>
            </p:nvSpPr>
            <p:spPr>
              <a:xfrm>
                <a:off x="48895" y="0"/>
                <a:ext cx="48024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602" name="Oval 769"/>
            <p:cNvGrpSpPr/>
            <p:nvPr/>
          </p:nvGrpSpPr>
          <p:grpSpPr>
            <a:xfrm>
              <a:off x="332" y="-1"/>
              <a:ext cx="577333" cy="333089"/>
              <a:chOff x="0" y="0"/>
              <a:chExt cx="577332" cy="333087"/>
            </a:xfrm>
          </p:grpSpPr>
          <p:sp>
            <p:nvSpPr>
              <p:cNvPr id="5600" name="Oval"/>
              <p:cNvSpPr/>
              <p:nvPr/>
            </p:nvSpPr>
            <p:spPr>
              <a:xfrm>
                <a:off x="0" y="74067"/>
                <a:ext cx="577333" cy="18495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01" name="Text"/>
              <p:cNvSpPr txBox="1"/>
              <p:nvPr/>
            </p:nvSpPr>
            <p:spPr>
              <a:xfrm>
                <a:off x="133442" y="0"/>
                <a:ext cx="31044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607" name="Group 770"/>
            <p:cNvGrpSpPr/>
            <p:nvPr/>
          </p:nvGrpSpPr>
          <p:grpSpPr>
            <a:xfrm>
              <a:off x="85727" y="97574"/>
              <a:ext cx="406470" cy="135902"/>
              <a:chOff x="0" y="0"/>
              <a:chExt cx="406469" cy="135901"/>
            </a:xfrm>
          </p:grpSpPr>
          <p:sp>
            <p:nvSpPr>
              <p:cNvPr id="5603" name="Freeform 771"/>
              <p:cNvSpPr/>
              <p:nvPr/>
            </p:nvSpPr>
            <p:spPr>
              <a:xfrm>
                <a:off x="11242" y="-1"/>
                <a:ext cx="384514" cy="76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04" name="Freeform 772"/>
              <p:cNvSpPr/>
              <p:nvPr/>
            </p:nvSpPr>
            <p:spPr>
              <a:xfrm>
                <a:off x="262908" y="65073"/>
                <a:ext cx="143562" cy="654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05" name="Freeform 773"/>
              <p:cNvSpPr/>
              <p:nvPr/>
            </p:nvSpPr>
            <p:spPr>
              <a:xfrm>
                <a:off x="-1" y="65073"/>
                <a:ext cx="140969" cy="647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06" name="Freeform 774"/>
              <p:cNvSpPr/>
              <p:nvPr/>
            </p:nvSpPr>
            <p:spPr>
              <a:xfrm>
                <a:off x="48936" y="33086"/>
                <a:ext cx="306509" cy="102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620" name="Group 775"/>
          <p:cNvGrpSpPr/>
          <p:nvPr/>
        </p:nvGrpSpPr>
        <p:grpSpPr>
          <a:xfrm>
            <a:off x="6681740" y="5318206"/>
            <a:ext cx="578033" cy="432912"/>
            <a:chOff x="0" y="0"/>
            <a:chExt cx="578031" cy="432911"/>
          </a:xfrm>
        </p:grpSpPr>
        <p:grpSp>
          <p:nvGrpSpPr>
            <p:cNvPr id="5611" name="Freeform 776"/>
            <p:cNvGrpSpPr/>
            <p:nvPr/>
          </p:nvGrpSpPr>
          <p:grpSpPr>
            <a:xfrm>
              <a:off x="0" y="99823"/>
              <a:ext cx="578032" cy="333089"/>
              <a:chOff x="0" y="0"/>
              <a:chExt cx="578031" cy="333087"/>
            </a:xfrm>
          </p:grpSpPr>
          <p:sp>
            <p:nvSpPr>
              <p:cNvPr id="5609" name="Shape"/>
              <p:cNvSpPr/>
              <p:nvPr/>
            </p:nvSpPr>
            <p:spPr>
              <a:xfrm>
                <a:off x="0" y="73138"/>
                <a:ext cx="578032" cy="1868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10" name="Text"/>
              <p:cNvSpPr txBox="1"/>
              <p:nvPr/>
            </p:nvSpPr>
            <p:spPr>
              <a:xfrm>
                <a:off x="48895" y="0"/>
                <a:ext cx="48024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614" name="Oval 777"/>
            <p:cNvGrpSpPr/>
            <p:nvPr/>
          </p:nvGrpSpPr>
          <p:grpSpPr>
            <a:xfrm>
              <a:off x="332" y="-1"/>
              <a:ext cx="577333" cy="333089"/>
              <a:chOff x="0" y="0"/>
              <a:chExt cx="577332" cy="333087"/>
            </a:xfrm>
          </p:grpSpPr>
          <p:sp>
            <p:nvSpPr>
              <p:cNvPr id="5612" name="Oval"/>
              <p:cNvSpPr/>
              <p:nvPr/>
            </p:nvSpPr>
            <p:spPr>
              <a:xfrm>
                <a:off x="0" y="74067"/>
                <a:ext cx="577333" cy="18495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13" name="Text"/>
              <p:cNvSpPr txBox="1"/>
              <p:nvPr/>
            </p:nvSpPr>
            <p:spPr>
              <a:xfrm>
                <a:off x="133442" y="0"/>
                <a:ext cx="31044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619" name="Group 778"/>
            <p:cNvGrpSpPr/>
            <p:nvPr/>
          </p:nvGrpSpPr>
          <p:grpSpPr>
            <a:xfrm>
              <a:off x="85727" y="97574"/>
              <a:ext cx="406470" cy="135902"/>
              <a:chOff x="0" y="0"/>
              <a:chExt cx="406469" cy="135901"/>
            </a:xfrm>
          </p:grpSpPr>
          <p:sp>
            <p:nvSpPr>
              <p:cNvPr id="5615" name="Freeform 779"/>
              <p:cNvSpPr/>
              <p:nvPr/>
            </p:nvSpPr>
            <p:spPr>
              <a:xfrm>
                <a:off x="11242" y="-1"/>
                <a:ext cx="384514" cy="76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16" name="Freeform 780"/>
              <p:cNvSpPr/>
              <p:nvPr/>
            </p:nvSpPr>
            <p:spPr>
              <a:xfrm>
                <a:off x="262908" y="65073"/>
                <a:ext cx="143562" cy="654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17" name="Freeform 781"/>
              <p:cNvSpPr/>
              <p:nvPr/>
            </p:nvSpPr>
            <p:spPr>
              <a:xfrm>
                <a:off x="-1" y="65073"/>
                <a:ext cx="140969" cy="647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18" name="Freeform 782"/>
              <p:cNvSpPr/>
              <p:nvPr/>
            </p:nvSpPr>
            <p:spPr>
              <a:xfrm>
                <a:off x="48936" y="33086"/>
                <a:ext cx="306509" cy="102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632" name="Group 783"/>
          <p:cNvGrpSpPr/>
          <p:nvPr/>
        </p:nvGrpSpPr>
        <p:grpSpPr>
          <a:xfrm>
            <a:off x="5525265" y="5269537"/>
            <a:ext cx="578033" cy="432912"/>
            <a:chOff x="0" y="0"/>
            <a:chExt cx="578031" cy="432911"/>
          </a:xfrm>
        </p:grpSpPr>
        <p:grpSp>
          <p:nvGrpSpPr>
            <p:cNvPr id="5623" name="Freeform 784"/>
            <p:cNvGrpSpPr/>
            <p:nvPr/>
          </p:nvGrpSpPr>
          <p:grpSpPr>
            <a:xfrm>
              <a:off x="0" y="99823"/>
              <a:ext cx="578032" cy="333089"/>
              <a:chOff x="0" y="0"/>
              <a:chExt cx="578031" cy="333087"/>
            </a:xfrm>
          </p:grpSpPr>
          <p:sp>
            <p:nvSpPr>
              <p:cNvPr id="5621" name="Shape"/>
              <p:cNvSpPr/>
              <p:nvPr/>
            </p:nvSpPr>
            <p:spPr>
              <a:xfrm>
                <a:off x="0" y="73138"/>
                <a:ext cx="578032" cy="1868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22" name="Text"/>
              <p:cNvSpPr txBox="1"/>
              <p:nvPr/>
            </p:nvSpPr>
            <p:spPr>
              <a:xfrm>
                <a:off x="48895" y="0"/>
                <a:ext cx="48024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626" name="Oval 785"/>
            <p:cNvGrpSpPr/>
            <p:nvPr/>
          </p:nvGrpSpPr>
          <p:grpSpPr>
            <a:xfrm>
              <a:off x="332" y="-1"/>
              <a:ext cx="577333" cy="333089"/>
              <a:chOff x="0" y="0"/>
              <a:chExt cx="577332" cy="333087"/>
            </a:xfrm>
          </p:grpSpPr>
          <p:sp>
            <p:nvSpPr>
              <p:cNvPr id="5624" name="Oval"/>
              <p:cNvSpPr/>
              <p:nvPr/>
            </p:nvSpPr>
            <p:spPr>
              <a:xfrm>
                <a:off x="0" y="74067"/>
                <a:ext cx="577333" cy="18495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25" name="Text"/>
              <p:cNvSpPr txBox="1"/>
              <p:nvPr/>
            </p:nvSpPr>
            <p:spPr>
              <a:xfrm>
                <a:off x="133442" y="0"/>
                <a:ext cx="31044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631" name="Group 786"/>
            <p:cNvGrpSpPr/>
            <p:nvPr/>
          </p:nvGrpSpPr>
          <p:grpSpPr>
            <a:xfrm>
              <a:off x="85727" y="97574"/>
              <a:ext cx="406470" cy="135902"/>
              <a:chOff x="0" y="0"/>
              <a:chExt cx="406469" cy="135901"/>
            </a:xfrm>
          </p:grpSpPr>
          <p:sp>
            <p:nvSpPr>
              <p:cNvPr id="5627" name="Freeform 787"/>
              <p:cNvSpPr/>
              <p:nvPr/>
            </p:nvSpPr>
            <p:spPr>
              <a:xfrm>
                <a:off x="11242" y="-1"/>
                <a:ext cx="384514" cy="76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28" name="Freeform 788"/>
              <p:cNvSpPr/>
              <p:nvPr/>
            </p:nvSpPr>
            <p:spPr>
              <a:xfrm>
                <a:off x="262908" y="65073"/>
                <a:ext cx="143562" cy="654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29" name="Freeform 789"/>
              <p:cNvSpPr/>
              <p:nvPr/>
            </p:nvSpPr>
            <p:spPr>
              <a:xfrm>
                <a:off x="-1" y="65073"/>
                <a:ext cx="140969" cy="647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30" name="Freeform 790"/>
              <p:cNvSpPr/>
              <p:nvPr/>
            </p:nvSpPr>
            <p:spPr>
              <a:xfrm>
                <a:off x="48936" y="33086"/>
                <a:ext cx="306509" cy="102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644" name="Group 791"/>
          <p:cNvGrpSpPr/>
          <p:nvPr/>
        </p:nvGrpSpPr>
        <p:grpSpPr>
          <a:xfrm>
            <a:off x="6130766" y="4354138"/>
            <a:ext cx="578033" cy="432913"/>
            <a:chOff x="0" y="0"/>
            <a:chExt cx="578031" cy="432911"/>
          </a:xfrm>
        </p:grpSpPr>
        <p:grpSp>
          <p:nvGrpSpPr>
            <p:cNvPr id="5635" name="Freeform 792"/>
            <p:cNvGrpSpPr/>
            <p:nvPr/>
          </p:nvGrpSpPr>
          <p:grpSpPr>
            <a:xfrm>
              <a:off x="0" y="99823"/>
              <a:ext cx="578032" cy="333089"/>
              <a:chOff x="0" y="0"/>
              <a:chExt cx="578031" cy="333087"/>
            </a:xfrm>
          </p:grpSpPr>
          <p:sp>
            <p:nvSpPr>
              <p:cNvPr id="5633" name="Shape"/>
              <p:cNvSpPr/>
              <p:nvPr/>
            </p:nvSpPr>
            <p:spPr>
              <a:xfrm>
                <a:off x="0" y="73138"/>
                <a:ext cx="578032" cy="1868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34" name="Text"/>
              <p:cNvSpPr txBox="1"/>
              <p:nvPr/>
            </p:nvSpPr>
            <p:spPr>
              <a:xfrm>
                <a:off x="48895" y="0"/>
                <a:ext cx="48024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638" name="Oval 793"/>
            <p:cNvGrpSpPr/>
            <p:nvPr/>
          </p:nvGrpSpPr>
          <p:grpSpPr>
            <a:xfrm>
              <a:off x="332" y="-1"/>
              <a:ext cx="577333" cy="333089"/>
              <a:chOff x="0" y="0"/>
              <a:chExt cx="577332" cy="333087"/>
            </a:xfrm>
          </p:grpSpPr>
          <p:sp>
            <p:nvSpPr>
              <p:cNvPr id="5636" name="Oval"/>
              <p:cNvSpPr/>
              <p:nvPr/>
            </p:nvSpPr>
            <p:spPr>
              <a:xfrm>
                <a:off x="0" y="74067"/>
                <a:ext cx="577333" cy="18495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37" name="Text"/>
              <p:cNvSpPr txBox="1"/>
              <p:nvPr/>
            </p:nvSpPr>
            <p:spPr>
              <a:xfrm>
                <a:off x="133442" y="0"/>
                <a:ext cx="31044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643" name="Group 794"/>
            <p:cNvGrpSpPr/>
            <p:nvPr/>
          </p:nvGrpSpPr>
          <p:grpSpPr>
            <a:xfrm>
              <a:off x="85727" y="97574"/>
              <a:ext cx="406470" cy="135902"/>
              <a:chOff x="0" y="0"/>
              <a:chExt cx="406469" cy="135901"/>
            </a:xfrm>
          </p:grpSpPr>
          <p:sp>
            <p:nvSpPr>
              <p:cNvPr id="5639" name="Freeform 795"/>
              <p:cNvSpPr/>
              <p:nvPr/>
            </p:nvSpPr>
            <p:spPr>
              <a:xfrm>
                <a:off x="11242" y="-1"/>
                <a:ext cx="384514" cy="76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40" name="Freeform 796"/>
              <p:cNvSpPr/>
              <p:nvPr/>
            </p:nvSpPr>
            <p:spPr>
              <a:xfrm>
                <a:off x="262908" y="65073"/>
                <a:ext cx="143562" cy="654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41" name="Freeform 797"/>
              <p:cNvSpPr/>
              <p:nvPr/>
            </p:nvSpPr>
            <p:spPr>
              <a:xfrm>
                <a:off x="-1" y="65073"/>
                <a:ext cx="140969" cy="647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42" name="Freeform 798"/>
              <p:cNvSpPr/>
              <p:nvPr/>
            </p:nvSpPr>
            <p:spPr>
              <a:xfrm>
                <a:off x="48936" y="33086"/>
                <a:ext cx="306509" cy="102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656" name="Group 799"/>
          <p:cNvGrpSpPr/>
          <p:nvPr/>
        </p:nvGrpSpPr>
        <p:grpSpPr>
          <a:xfrm>
            <a:off x="6041427" y="4951978"/>
            <a:ext cx="578032" cy="432912"/>
            <a:chOff x="0" y="0"/>
            <a:chExt cx="578031" cy="432911"/>
          </a:xfrm>
        </p:grpSpPr>
        <p:grpSp>
          <p:nvGrpSpPr>
            <p:cNvPr id="5647" name="Freeform 800"/>
            <p:cNvGrpSpPr/>
            <p:nvPr/>
          </p:nvGrpSpPr>
          <p:grpSpPr>
            <a:xfrm>
              <a:off x="0" y="99823"/>
              <a:ext cx="578032" cy="333089"/>
              <a:chOff x="0" y="0"/>
              <a:chExt cx="578031" cy="333087"/>
            </a:xfrm>
          </p:grpSpPr>
          <p:sp>
            <p:nvSpPr>
              <p:cNvPr id="5645" name="Shape"/>
              <p:cNvSpPr/>
              <p:nvPr/>
            </p:nvSpPr>
            <p:spPr>
              <a:xfrm>
                <a:off x="0" y="73138"/>
                <a:ext cx="578032" cy="1868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46" name="Text"/>
              <p:cNvSpPr txBox="1"/>
              <p:nvPr/>
            </p:nvSpPr>
            <p:spPr>
              <a:xfrm>
                <a:off x="48895" y="0"/>
                <a:ext cx="48024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650" name="Oval 801"/>
            <p:cNvGrpSpPr/>
            <p:nvPr/>
          </p:nvGrpSpPr>
          <p:grpSpPr>
            <a:xfrm>
              <a:off x="332" y="-1"/>
              <a:ext cx="577333" cy="333089"/>
              <a:chOff x="0" y="0"/>
              <a:chExt cx="577332" cy="333087"/>
            </a:xfrm>
          </p:grpSpPr>
          <p:sp>
            <p:nvSpPr>
              <p:cNvPr id="5648" name="Oval"/>
              <p:cNvSpPr/>
              <p:nvPr/>
            </p:nvSpPr>
            <p:spPr>
              <a:xfrm>
                <a:off x="0" y="74067"/>
                <a:ext cx="577333" cy="18495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49" name="Text"/>
              <p:cNvSpPr txBox="1"/>
              <p:nvPr/>
            </p:nvSpPr>
            <p:spPr>
              <a:xfrm>
                <a:off x="133442" y="0"/>
                <a:ext cx="31044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655" name="Group 802"/>
            <p:cNvGrpSpPr/>
            <p:nvPr/>
          </p:nvGrpSpPr>
          <p:grpSpPr>
            <a:xfrm>
              <a:off x="85727" y="97574"/>
              <a:ext cx="406470" cy="135902"/>
              <a:chOff x="0" y="0"/>
              <a:chExt cx="406469" cy="135901"/>
            </a:xfrm>
          </p:grpSpPr>
          <p:sp>
            <p:nvSpPr>
              <p:cNvPr id="5651" name="Freeform 803"/>
              <p:cNvSpPr/>
              <p:nvPr/>
            </p:nvSpPr>
            <p:spPr>
              <a:xfrm>
                <a:off x="11242" y="-1"/>
                <a:ext cx="384514" cy="76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52" name="Freeform 804"/>
              <p:cNvSpPr/>
              <p:nvPr/>
            </p:nvSpPr>
            <p:spPr>
              <a:xfrm>
                <a:off x="262908" y="65073"/>
                <a:ext cx="143562" cy="654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53" name="Freeform 805"/>
              <p:cNvSpPr/>
              <p:nvPr/>
            </p:nvSpPr>
            <p:spPr>
              <a:xfrm>
                <a:off x="-1" y="65073"/>
                <a:ext cx="140969" cy="647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54" name="Freeform 806"/>
              <p:cNvSpPr/>
              <p:nvPr/>
            </p:nvSpPr>
            <p:spPr>
              <a:xfrm>
                <a:off x="48936" y="33086"/>
                <a:ext cx="306509" cy="102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668" name="Group 807"/>
          <p:cNvGrpSpPr/>
          <p:nvPr/>
        </p:nvGrpSpPr>
        <p:grpSpPr>
          <a:xfrm>
            <a:off x="5094747" y="4662274"/>
            <a:ext cx="578033" cy="432912"/>
            <a:chOff x="0" y="0"/>
            <a:chExt cx="578031" cy="432911"/>
          </a:xfrm>
        </p:grpSpPr>
        <p:grpSp>
          <p:nvGrpSpPr>
            <p:cNvPr id="5659" name="Freeform 808"/>
            <p:cNvGrpSpPr/>
            <p:nvPr/>
          </p:nvGrpSpPr>
          <p:grpSpPr>
            <a:xfrm>
              <a:off x="0" y="99823"/>
              <a:ext cx="578032" cy="333089"/>
              <a:chOff x="0" y="0"/>
              <a:chExt cx="578031" cy="333087"/>
            </a:xfrm>
          </p:grpSpPr>
          <p:sp>
            <p:nvSpPr>
              <p:cNvPr id="5657" name="Shape"/>
              <p:cNvSpPr/>
              <p:nvPr/>
            </p:nvSpPr>
            <p:spPr>
              <a:xfrm>
                <a:off x="0" y="73138"/>
                <a:ext cx="578032" cy="1868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58" name="Text"/>
              <p:cNvSpPr txBox="1"/>
              <p:nvPr/>
            </p:nvSpPr>
            <p:spPr>
              <a:xfrm>
                <a:off x="48895" y="0"/>
                <a:ext cx="48024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662" name="Oval 809"/>
            <p:cNvGrpSpPr/>
            <p:nvPr/>
          </p:nvGrpSpPr>
          <p:grpSpPr>
            <a:xfrm>
              <a:off x="332" y="-1"/>
              <a:ext cx="577333" cy="333089"/>
              <a:chOff x="0" y="0"/>
              <a:chExt cx="577332" cy="333087"/>
            </a:xfrm>
          </p:grpSpPr>
          <p:sp>
            <p:nvSpPr>
              <p:cNvPr id="5660" name="Oval"/>
              <p:cNvSpPr/>
              <p:nvPr/>
            </p:nvSpPr>
            <p:spPr>
              <a:xfrm>
                <a:off x="0" y="74067"/>
                <a:ext cx="577333" cy="18495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61" name="Text"/>
              <p:cNvSpPr txBox="1"/>
              <p:nvPr/>
            </p:nvSpPr>
            <p:spPr>
              <a:xfrm>
                <a:off x="133442" y="0"/>
                <a:ext cx="31044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667" name="Group 810"/>
            <p:cNvGrpSpPr/>
            <p:nvPr/>
          </p:nvGrpSpPr>
          <p:grpSpPr>
            <a:xfrm>
              <a:off x="85727" y="97574"/>
              <a:ext cx="406470" cy="135902"/>
              <a:chOff x="0" y="0"/>
              <a:chExt cx="406469" cy="135901"/>
            </a:xfrm>
          </p:grpSpPr>
          <p:sp>
            <p:nvSpPr>
              <p:cNvPr id="5663" name="Freeform 811"/>
              <p:cNvSpPr/>
              <p:nvPr/>
            </p:nvSpPr>
            <p:spPr>
              <a:xfrm>
                <a:off x="11242" y="-1"/>
                <a:ext cx="384514" cy="76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64" name="Freeform 812"/>
              <p:cNvSpPr/>
              <p:nvPr/>
            </p:nvSpPr>
            <p:spPr>
              <a:xfrm>
                <a:off x="262908" y="65073"/>
                <a:ext cx="143562" cy="654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65" name="Freeform 813"/>
              <p:cNvSpPr/>
              <p:nvPr/>
            </p:nvSpPr>
            <p:spPr>
              <a:xfrm>
                <a:off x="-1" y="65073"/>
                <a:ext cx="140969" cy="647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666" name="Freeform 814"/>
              <p:cNvSpPr/>
              <p:nvPr/>
            </p:nvSpPr>
            <p:spPr>
              <a:xfrm>
                <a:off x="48936" y="33086"/>
                <a:ext cx="306509" cy="102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683" name="Group 2"/>
          <p:cNvGrpSpPr/>
          <p:nvPr/>
        </p:nvGrpSpPr>
        <p:grpSpPr>
          <a:xfrm>
            <a:off x="3563785" y="1706808"/>
            <a:ext cx="2317751" cy="3038266"/>
            <a:chOff x="0" y="0"/>
            <a:chExt cx="2317750" cy="3038265"/>
          </a:xfrm>
        </p:grpSpPr>
        <p:sp>
          <p:nvSpPr>
            <p:cNvPr id="5669" name="Freeform 3"/>
            <p:cNvSpPr/>
            <p:nvPr/>
          </p:nvSpPr>
          <p:spPr>
            <a:xfrm rot="16200000">
              <a:off x="791218" y="1530139"/>
              <a:ext cx="721491" cy="22947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5" h="21600" fill="norm" stroke="1" extrusionOk="0">
                  <a:moveTo>
                    <a:pt x="20488" y="0"/>
                  </a:moveTo>
                  <a:cubicBezTo>
                    <a:pt x="13669" y="7353"/>
                    <a:pt x="9380" y="10115"/>
                    <a:pt x="0" y="16030"/>
                  </a:cubicBezTo>
                  <a:cubicBezTo>
                    <a:pt x="41" y="16617"/>
                    <a:pt x="77" y="17208"/>
                    <a:pt x="118" y="17797"/>
                  </a:cubicBezTo>
                  <a:cubicBezTo>
                    <a:pt x="7696" y="18673"/>
                    <a:pt x="14541" y="18170"/>
                    <a:pt x="20591" y="21600"/>
                  </a:cubicBezTo>
                  <a:cubicBezTo>
                    <a:pt x="20524" y="10079"/>
                    <a:pt x="21600" y="7639"/>
                    <a:pt x="2048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FBFBF"/>
                </a:gs>
                <a:gs pos="75000">
                  <a:srgbClr val="D9D9D9"/>
                </a:gs>
                <a:gs pos="100000">
                  <a:srgbClr val="FFFFFF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70" name="Rectangle 4"/>
            <p:cNvSpPr/>
            <p:nvPr/>
          </p:nvSpPr>
          <p:spPr>
            <a:xfrm>
              <a:off x="0" y="0"/>
              <a:ext cx="2317750" cy="2333625"/>
            </a:xfrm>
            <a:prstGeom prst="rect">
              <a:avLst/>
            </a:prstGeom>
            <a:solidFill>
              <a:srgbClr val="D9D9D9"/>
            </a:solidFill>
            <a:ln w="190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71" name="Oval 5"/>
            <p:cNvSpPr/>
            <p:nvPr/>
          </p:nvSpPr>
          <p:spPr>
            <a:xfrm>
              <a:off x="125412" y="52388"/>
              <a:ext cx="2095501" cy="60483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72" name="Text Box 108"/>
            <p:cNvSpPr txBox="1"/>
            <p:nvPr/>
          </p:nvSpPr>
          <p:spPr>
            <a:xfrm>
              <a:off x="294349" y="159373"/>
              <a:ext cx="1772287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/>
            </a:lstStyle>
            <a:p>
              <a:pPr/>
              <a:r>
                <a:t>routing algorithm</a:t>
              </a:r>
            </a:p>
          </p:txBody>
        </p:sp>
        <p:sp>
          <p:nvSpPr>
            <p:cNvPr id="5673" name="Rectangle 109"/>
            <p:cNvSpPr/>
            <p:nvPr/>
          </p:nvSpPr>
          <p:spPr>
            <a:xfrm>
              <a:off x="179386" y="879410"/>
              <a:ext cx="2005015" cy="1357379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74" name="Text Box 111"/>
            <p:cNvSpPr txBox="1"/>
            <p:nvPr/>
          </p:nvSpPr>
          <p:spPr>
            <a:xfrm>
              <a:off x="188594" y="1157287"/>
              <a:ext cx="1121411" cy="288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header value</a:t>
              </a:r>
            </a:p>
          </p:txBody>
        </p:sp>
        <p:sp>
          <p:nvSpPr>
            <p:cNvPr id="5675" name="Text Box 112"/>
            <p:cNvSpPr txBox="1"/>
            <p:nvPr/>
          </p:nvSpPr>
          <p:spPr>
            <a:xfrm>
              <a:off x="1255395" y="1158874"/>
              <a:ext cx="949961" cy="288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output link</a:t>
              </a:r>
            </a:p>
          </p:txBody>
        </p:sp>
        <p:sp>
          <p:nvSpPr>
            <p:cNvPr id="5676" name="Line 113"/>
            <p:cNvSpPr/>
            <p:nvPr/>
          </p:nvSpPr>
          <p:spPr>
            <a:xfrm>
              <a:off x="1308100" y="1169987"/>
              <a:ext cx="7938" cy="1066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677" name="Text Box 114"/>
            <p:cNvSpPr txBox="1"/>
            <p:nvPr/>
          </p:nvSpPr>
          <p:spPr>
            <a:xfrm>
              <a:off x="830321" y="1441449"/>
              <a:ext cx="443171" cy="7976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r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t>0100</a:t>
              </a:r>
              <a:endParaRPr sz="2400"/>
            </a:p>
            <a:p>
              <a:pPr algn="r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t>0101</a:t>
              </a:r>
              <a:endParaRPr sz="2400"/>
            </a:p>
            <a:p>
              <a:pPr algn="r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t>0111</a:t>
              </a:r>
              <a:endParaRPr sz="2400"/>
            </a:p>
            <a:p>
              <a:pPr algn="r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t>1001</a:t>
              </a:r>
            </a:p>
          </p:txBody>
        </p:sp>
        <p:sp>
          <p:nvSpPr>
            <p:cNvPr id="5678" name="Text Box 115"/>
            <p:cNvSpPr txBox="1"/>
            <p:nvPr/>
          </p:nvSpPr>
          <p:spPr>
            <a:xfrm>
              <a:off x="1363669" y="1441449"/>
              <a:ext cx="188899" cy="7976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t>3</a:t>
              </a:r>
              <a:endParaRPr sz="2400"/>
            </a:p>
            <a:p>
              <a:pPr algn="ctr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t>2</a:t>
              </a:r>
              <a:endParaRPr sz="2400"/>
            </a:p>
            <a:p>
              <a:pPr algn="ctr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t>2</a:t>
              </a:r>
              <a:endParaRPr sz="2400"/>
            </a:p>
            <a:p>
              <a:pPr algn="ctr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r>
                <a:t>1</a:t>
              </a:r>
            </a:p>
          </p:txBody>
        </p:sp>
        <p:sp>
          <p:nvSpPr>
            <p:cNvPr id="5679" name="Line 116"/>
            <p:cNvSpPr/>
            <p:nvPr/>
          </p:nvSpPr>
          <p:spPr>
            <a:xfrm>
              <a:off x="179387" y="1427162"/>
              <a:ext cx="2006601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680" name="Line 117"/>
            <p:cNvSpPr/>
            <p:nvPr/>
          </p:nvSpPr>
          <p:spPr>
            <a:xfrm>
              <a:off x="171450" y="1179512"/>
              <a:ext cx="2006601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681" name="Text Box 108"/>
            <p:cNvSpPr txBox="1"/>
            <p:nvPr/>
          </p:nvSpPr>
          <p:spPr>
            <a:xfrm>
              <a:off x="153355" y="881322"/>
              <a:ext cx="2090414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600"/>
              </a:lvl1pPr>
            </a:lstStyle>
            <a:p>
              <a:pPr/>
              <a:r>
                <a:t>local forwarding table</a:t>
              </a:r>
            </a:p>
          </p:txBody>
        </p:sp>
        <p:sp>
          <p:nvSpPr>
            <p:cNvPr id="5682" name="AutoShape 118"/>
            <p:cNvSpPr/>
            <p:nvPr/>
          </p:nvSpPr>
          <p:spPr>
            <a:xfrm rot="5400000">
              <a:off x="1077912" y="649288"/>
              <a:ext cx="241300" cy="27305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5684" name="Content Placeholder 4"/>
          <p:cNvSpPr txBox="1"/>
          <p:nvPr>
            <p:ph type="body" sz="quarter" idx="1"/>
          </p:nvPr>
        </p:nvSpPr>
        <p:spPr>
          <a:xfrm>
            <a:off x="332533" y="2514905"/>
            <a:ext cx="2930613" cy="3063265"/>
          </a:xfrm>
          <a:prstGeom prst="rect">
            <a:avLst/>
          </a:prstGeom>
        </p:spPr>
        <p:txBody>
          <a:bodyPr/>
          <a:lstStyle/>
          <a:p>
            <a:pPr marL="0" indent="130175">
              <a:lnSpc>
                <a:spcPct val="81000"/>
              </a:lnSpc>
              <a:buSzTx/>
              <a:buFont typeface="Wingdings"/>
              <a:buNone/>
              <a:defRPr i="1" sz="2700">
                <a:solidFill>
                  <a:srgbClr val="C00000"/>
                </a:solidFill>
              </a:defRPr>
            </a:pPr>
            <a:r>
              <a:t>Forwarding</a:t>
            </a:r>
            <a:r>
              <a:rPr sz="2500"/>
              <a:t>:</a:t>
            </a:r>
            <a:r>
              <a:rPr i="0" sz="2500"/>
              <a:t> </a:t>
            </a:r>
            <a:endParaRPr sz="2500"/>
          </a:p>
          <a:p>
            <a:pPr>
              <a:lnSpc>
                <a:spcPct val="81000"/>
              </a:lnSpc>
              <a:defRPr sz="2500"/>
            </a:pPr>
            <a:r>
              <a:t>aka “switching”</a:t>
            </a:r>
          </a:p>
          <a:p>
            <a:pPr>
              <a:lnSpc>
                <a:spcPct val="81000"/>
              </a:lnSpc>
              <a:defRPr i="1" sz="2500">
                <a:solidFill>
                  <a:srgbClr val="C00000"/>
                </a:solidFill>
              </a:defRPr>
            </a:pPr>
            <a:r>
              <a:t>local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 i="0">
                <a:solidFill>
                  <a:srgbClr val="000000"/>
                </a:solidFill>
              </a:rPr>
              <a:t>action: move arriving packets from router’s input link to appropriate router output link</a:t>
            </a:r>
          </a:p>
        </p:txBody>
      </p:sp>
      <p:sp>
        <p:nvSpPr>
          <p:cNvPr id="5685" name="Straight Connector 421888"/>
          <p:cNvSpPr/>
          <p:nvPr/>
        </p:nvSpPr>
        <p:spPr>
          <a:xfrm>
            <a:off x="2389757" y="2757407"/>
            <a:ext cx="1281665" cy="1"/>
          </a:xfrm>
          <a:prstGeom prst="line">
            <a:avLst/>
          </a:prstGeom>
          <a:ln w="19050">
            <a:solidFill>
              <a:srgbClr val="C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688" name="Group 172"/>
          <p:cNvGrpSpPr/>
          <p:nvPr/>
        </p:nvGrpSpPr>
        <p:grpSpPr>
          <a:xfrm>
            <a:off x="3755715" y="2580320"/>
            <a:ext cx="2006601" cy="307551"/>
            <a:chOff x="0" y="0"/>
            <a:chExt cx="2006600" cy="307550"/>
          </a:xfrm>
        </p:grpSpPr>
        <p:sp>
          <p:nvSpPr>
            <p:cNvPr id="5686" name="Rectangle 173"/>
            <p:cNvSpPr/>
            <p:nvPr/>
          </p:nvSpPr>
          <p:spPr>
            <a:xfrm>
              <a:off x="0" y="11575"/>
              <a:ext cx="2006600" cy="295975"/>
            </a:xfrm>
            <a:prstGeom prst="rect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87" name="Text Box 110"/>
            <p:cNvSpPr txBox="1"/>
            <p:nvPr/>
          </p:nvSpPr>
          <p:spPr>
            <a:xfrm>
              <a:off x="34800" y="0"/>
              <a:ext cx="1896428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local forwarding table</a:t>
              </a:r>
            </a:p>
          </p:txBody>
        </p:sp>
      </p:grpSp>
      <p:grpSp>
        <p:nvGrpSpPr>
          <p:cNvPr id="5694" name="Group 175"/>
          <p:cNvGrpSpPr/>
          <p:nvPr/>
        </p:nvGrpSpPr>
        <p:grpSpPr>
          <a:xfrm>
            <a:off x="5698975" y="3819688"/>
            <a:ext cx="2183402" cy="2394972"/>
            <a:chOff x="0" y="0"/>
            <a:chExt cx="2183401" cy="2394971"/>
          </a:xfrm>
        </p:grpSpPr>
        <p:sp>
          <p:nvSpPr>
            <p:cNvPr id="5689" name="Rectangle 176"/>
            <p:cNvSpPr/>
            <p:nvPr/>
          </p:nvSpPr>
          <p:spPr>
            <a:xfrm>
              <a:off x="1351725" y="2349252"/>
              <a:ext cx="476402" cy="45720"/>
            </a:xfrm>
            <a:prstGeom prst="rect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90" name="Rectangle 177"/>
            <p:cNvSpPr/>
            <p:nvPr/>
          </p:nvSpPr>
          <p:spPr>
            <a:xfrm>
              <a:off x="660946" y="2149080"/>
              <a:ext cx="476402" cy="45720"/>
            </a:xfrm>
            <a:prstGeom prst="rect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91" name="Rectangle 178"/>
            <p:cNvSpPr/>
            <p:nvPr/>
          </p:nvSpPr>
          <p:spPr>
            <a:xfrm>
              <a:off x="-1" y="2321853"/>
              <a:ext cx="476403" cy="45720"/>
            </a:xfrm>
            <a:prstGeom prst="rect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92" name="Rectangle 179"/>
            <p:cNvSpPr/>
            <p:nvPr/>
          </p:nvSpPr>
          <p:spPr>
            <a:xfrm>
              <a:off x="1707000" y="326344"/>
              <a:ext cx="476402" cy="45720"/>
            </a:xfrm>
            <a:prstGeom prst="rect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93" name="Rectangle 180"/>
            <p:cNvSpPr/>
            <p:nvPr/>
          </p:nvSpPr>
          <p:spPr>
            <a:xfrm>
              <a:off x="708542" y="0"/>
              <a:ext cx="476402" cy="45720"/>
            </a:xfrm>
            <a:prstGeom prst="rect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695" name="Content Placeholder 4"/>
          <p:cNvSpPr txBox="1"/>
          <p:nvPr/>
        </p:nvSpPr>
        <p:spPr>
          <a:xfrm>
            <a:off x="8476003" y="1824270"/>
            <a:ext cx="3463975" cy="3006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indent="10223" defTabSz="841247">
              <a:lnSpc>
                <a:spcPct val="90000"/>
              </a:lnSpc>
              <a:spcBef>
                <a:spcPts val="900"/>
              </a:spcBef>
              <a:defRPr i="1" sz="2760">
                <a:solidFill>
                  <a:srgbClr val="C00000"/>
                </a:solidFill>
              </a:defRPr>
            </a:pPr>
            <a:r>
              <a:t>Routing: </a:t>
            </a:r>
            <a:endParaRPr sz="2576"/>
          </a:p>
          <a:p>
            <a:pPr marL="368046" indent="-262890" defTabSz="841247">
              <a:lnSpc>
                <a:spcPct val="90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i="1" sz="2576">
                <a:solidFill>
                  <a:srgbClr val="C00000"/>
                </a:solidFill>
              </a:defRPr>
            </a:pPr>
            <a:r>
              <a:t>global</a:t>
            </a:r>
            <a:r>
              <a:rPr i="0">
                <a:solidFill>
                  <a:srgbClr val="000000"/>
                </a:solidFill>
              </a:rPr>
              <a:t> action: determine source-destination paths taken by packets</a:t>
            </a:r>
          </a:p>
          <a:p>
            <a:pPr marL="368046" indent="-262890" defTabSz="841247">
              <a:lnSpc>
                <a:spcPct val="90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sz="2576"/>
            </a:pPr>
            <a:r>
              <a:t>routing algorithms</a:t>
            </a:r>
          </a:p>
        </p:txBody>
      </p:sp>
      <p:sp>
        <p:nvSpPr>
          <p:cNvPr id="5696" name="Freeform 120"/>
          <p:cNvSpPr/>
          <p:nvPr/>
        </p:nvSpPr>
        <p:spPr>
          <a:xfrm>
            <a:off x="4869343" y="4824327"/>
            <a:ext cx="1041868" cy="336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17" fill="norm" stroke="1" extrusionOk="0">
                <a:moveTo>
                  <a:pt x="0" y="19817"/>
                </a:moveTo>
                <a:cubicBezTo>
                  <a:pt x="4318" y="12746"/>
                  <a:pt x="11262" y="-1783"/>
                  <a:pt x="14027" y="180"/>
                </a:cubicBezTo>
                <a:cubicBezTo>
                  <a:pt x="17057" y="2611"/>
                  <a:pt x="19887" y="8970"/>
                  <a:pt x="21600" y="13363"/>
                </a:cubicBezTo>
              </a:path>
            </a:pathLst>
          </a:custGeom>
          <a:ln w="57150">
            <a:solidFill>
              <a:srgbClr val="FF3300"/>
            </a:solidFill>
            <a:tailEnd type="triangle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grpSp>
        <p:nvGrpSpPr>
          <p:cNvPr id="5699" name="Group 192"/>
          <p:cNvGrpSpPr/>
          <p:nvPr/>
        </p:nvGrpSpPr>
        <p:grpSpPr>
          <a:xfrm>
            <a:off x="3689196" y="1759194"/>
            <a:ext cx="2095501" cy="604839"/>
            <a:chOff x="0" y="0"/>
            <a:chExt cx="2095500" cy="604838"/>
          </a:xfrm>
        </p:grpSpPr>
        <p:sp>
          <p:nvSpPr>
            <p:cNvPr id="5697" name="Oval 5"/>
            <p:cNvSpPr/>
            <p:nvPr/>
          </p:nvSpPr>
          <p:spPr>
            <a:xfrm>
              <a:off x="0" y="-1"/>
              <a:ext cx="2095500" cy="604840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98" name="Text Box 108"/>
            <p:cNvSpPr txBox="1"/>
            <p:nvPr/>
          </p:nvSpPr>
          <p:spPr>
            <a:xfrm>
              <a:off x="170955" y="106490"/>
              <a:ext cx="1772287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routing algorithm</a:t>
              </a:r>
            </a:p>
          </p:txBody>
        </p:sp>
      </p:grpSp>
      <p:sp>
        <p:nvSpPr>
          <p:cNvPr id="5700" name="Freeform 195"/>
          <p:cNvSpPr/>
          <p:nvPr/>
        </p:nvSpPr>
        <p:spPr>
          <a:xfrm>
            <a:off x="5748185" y="4775202"/>
            <a:ext cx="2423481" cy="399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78" fill="norm" stroke="1" extrusionOk="0">
                <a:moveTo>
                  <a:pt x="0" y="7077"/>
                </a:moveTo>
                <a:cubicBezTo>
                  <a:pt x="1563" y="13843"/>
                  <a:pt x="3125" y="20610"/>
                  <a:pt x="5471" y="19814"/>
                </a:cubicBezTo>
                <a:cubicBezTo>
                  <a:pt x="7817" y="19018"/>
                  <a:pt x="11389" y="5591"/>
                  <a:pt x="14077" y="2300"/>
                </a:cubicBezTo>
                <a:cubicBezTo>
                  <a:pt x="16765" y="-990"/>
                  <a:pt x="18408" y="284"/>
                  <a:pt x="21600" y="71"/>
                </a:cubicBezTo>
              </a:path>
            </a:pathLst>
          </a:custGeom>
          <a:ln w="44450">
            <a:solidFill>
              <a:srgbClr val="FF0000"/>
            </a:solidFill>
            <a:miter/>
            <a:tailEnd type="triangle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708" name="Group 196"/>
          <p:cNvGrpSpPr/>
          <p:nvPr/>
        </p:nvGrpSpPr>
        <p:grpSpPr>
          <a:xfrm>
            <a:off x="5600948" y="2059246"/>
            <a:ext cx="2852523" cy="3990340"/>
            <a:chOff x="0" y="0"/>
            <a:chExt cx="2852522" cy="3990339"/>
          </a:xfrm>
        </p:grpSpPr>
        <p:sp>
          <p:nvSpPr>
            <p:cNvPr id="5701" name="Straight Connector 421894"/>
            <p:cNvSpPr/>
            <p:nvPr/>
          </p:nvSpPr>
          <p:spPr>
            <a:xfrm flipH="1" flipV="1">
              <a:off x="-1" y="3565"/>
              <a:ext cx="2852524" cy="1"/>
            </a:xfrm>
            <a:prstGeom prst="line">
              <a:avLst/>
            </a:prstGeom>
            <a:noFill/>
            <a:ln w="1905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702" name="Straight Connector 421894"/>
            <p:cNvSpPr/>
            <p:nvPr/>
          </p:nvSpPr>
          <p:spPr>
            <a:xfrm flipH="1">
              <a:off x="1042330" y="13090"/>
              <a:ext cx="1781931" cy="1569388"/>
            </a:xfrm>
            <a:prstGeom prst="line">
              <a:avLst/>
            </a:prstGeom>
            <a:noFill/>
            <a:ln w="1905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703" name="Straight Connector 421894"/>
            <p:cNvSpPr/>
            <p:nvPr/>
          </p:nvSpPr>
          <p:spPr>
            <a:xfrm flipH="1">
              <a:off x="2039146" y="0"/>
              <a:ext cx="802723" cy="1908552"/>
            </a:xfrm>
            <a:prstGeom prst="line">
              <a:avLst/>
            </a:prstGeom>
            <a:noFill/>
            <a:ln w="1905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5707" name="Group 200"/>
            <p:cNvGrpSpPr/>
            <p:nvPr/>
          </p:nvGrpSpPr>
          <p:grpSpPr>
            <a:xfrm>
              <a:off x="577824" y="1047"/>
              <a:ext cx="2270748" cy="3989293"/>
              <a:chOff x="0" y="0"/>
              <a:chExt cx="2270746" cy="3989291"/>
            </a:xfrm>
          </p:grpSpPr>
          <p:sp>
            <p:nvSpPr>
              <p:cNvPr id="5704" name="Freeform 201"/>
              <p:cNvSpPr/>
              <p:nvPr/>
            </p:nvSpPr>
            <p:spPr>
              <a:xfrm>
                <a:off x="673440" y="-1"/>
                <a:ext cx="1597307" cy="37964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12522" y="21534"/>
                    </a:lnTo>
                    <a:lnTo>
                      <a:pt x="0" y="21600"/>
                    </a:lnTo>
                  </a:path>
                </a:pathLst>
              </a:custGeom>
              <a:noFill/>
              <a:ln w="19050" cap="flat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05" name="Straight Connector 421894"/>
              <p:cNvSpPr/>
              <p:nvPr/>
            </p:nvSpPr>
            <p:spPr>
              <a:xfrm flipH="1">
                <a:off x="1356962" y="3784921"/>
                <a:ext cx="242453" cy="204371"/>
              </a:xfrm>
              <a:prstGeom prst="line">
                <a:avLst/>
              </a:prstGeom>
              <a:noFill/>
              <a:ln w="19050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706" name="Straight Connector 421894"/>
              <p:cNvSpPr/>
              <p:nvPr/>
            </p:nvSpPr>
            <p:spPr>
              <a:xfrm flipH="1">
                <a:off x="0" y="3784921"/>
                <a:ext cx="1599415" cy="182259"/>
              </a:xfrm>
              <a:prstGeom prst="line">
                <a:avLst/>
              </a:prstGeom>
              <a:noFill/>
              <a:ln w="19050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5714" name="Group 204"/>
          <p:cNvGrpSpPr/>
          <p:nvPr/>
        </p:nvGrpSpPr>
        <p:grpSpPr>
          <a:xfrm>
            <a:off x="5679271" y="3642935"/>
            <a:ext cx="2210122" cy="2467076"/>
            <a:chOff x="0" y="0"/>
            <a:chExt cx="2210120" cy="2467076"/>
          </a:xfrm>
        </p:grpSpPr>
        <p:sp>
          <p:nvSpPr>
            <p:cNvPr id="5709" name="Oval 144"/>
            <p:cNvSpPr/>
            <p:nvPr/>
          </p:nvSpPr>
          <p:spPr>
            <a:xfrm>
              <a:off x="1365078" y="2349618"/>
              <a:ext cx="498633" cy="117459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10" name="Oval 144"/>
            <p:cNvSpPr/>
            <p:nvPr/>
          </p:nvSpPr>
          <p:spPr>
            <a:xfrm>
              <a:off x="665039" y="2149522"/>
              <a:ext cx="498633" cy="117459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11" name="Oval 144"/>
            <p:cNvSpPr/>
            <p:nvPr/>
          </p:nvSpPr>
          <p:spPr>
            <a:xfrm>
              <a:off x="0" y="2325833"/>
              <a:ext cx="498633" cy="117459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12" name="Oval 144"/>
            <p:cNvSpPr/>
            <p:nvPr/>
          </p:nvSpPr>
          <p:spPr>
            <a:xfrm>
              <a:off x="1711488" y="326907"/>
              <a:ext cx="498633" cy="117459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13" name="Oval 144"/>
            <p:cNvSpPr/>
            <p:nvPr/>
          </p:nvSpPr>
          <p:spPr>
            <a:xfrm>
              <a:off x="716279" y="-1"/>
              <a:ext cx="498633" cy="117459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571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500"/>
                                        <p:tgtEl>
                                          <p:spTgt spid="5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1" dur="500"/>
                                        <p:tgtEl>
                                          <p:spTgt spid="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5" dur="500"/>
                                        <p:tgtEl>
                                          <p:spTgt spid="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Class="entr" nodeType="afterEffect" presetSubtype="1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9" dur="500"/>
                                        <p:tgtEl>
                                          <p:spTgt spid="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Class="entr" nodeType="afterEffect" presetSubtype="1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3" dur="500"/>
                                        <p:tgtEl>
                                          <p:spTgt spid="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Class="entr" nodeType="afterEffect" presetSubtype="1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7"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500"/>
                                        <p:tgtEl>
                                          <p:spTgt spid="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5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Class="entr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8" dur="500"/>
                                        <p:tgtEl>
                                          <p:spTgt spid="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xit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52" dur="500" fill="hold"/>
                                        <p:tgtEl>
                                          <p:spTgt spid="56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Class="exit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56" dur="500" fill="hold"/>
                                        <p:tgtEl>
                                          <p:spTgt spid="5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Class="entr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500"/>
                                        <p:tgtEl>
                                          <p:spTgt spid="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Class="entr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5" dur="500"/>
                                        <p:tgtEl>
                                          <p:spTgt spid="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Class="entr" nodeType="afterEffect" presetID="10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9" dur="500"/>
                                        <p:tgtEl>
                                          <p:spTgt spid="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Class="entr" nodeType="afterEffect" presetID="10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3" dur="500"/>
                                        <p:tgtEl>
                                          <p:spTgt spid="5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7" dur="500"/>
                                        <p:tgtEl>
                                          <p:spTgt spid="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Class="entr" nodeType="afterEffect" presetID="10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1" dur="500"/>
                                        <p:tgtEl>
                                          <p:spTgt spid="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000"/>
                            </p:stCondLst>
                            <p:childTnLst>
                              <p:par>
                                <p:cTn id="83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56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5" dur="500"/>
                                        <p:tgtEl>
                                          <p:spTgt spid="56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Class="entr" nodeType="withEffect" presetSubtype="0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5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8" dur="500"/>
                                        <p:tgtEl>
                                          <p:spTgt spid="5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5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2" dur="500"/>
                                        <p:tgtEl>
                                          <p:spTgt spid="5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0"/>
                            </p:stCondLst>
                            <p:childTnLst>
                              <p:par>
                                <p:cTn id="94" presetClass="entr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5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6" dur="500"/>
                                        <p:tgtEl>
                                          <p:spTgt spid="5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688" grpId="8"/>
      <p:bldP build="whole" bldLvl="1" animBg="1" rev="0" advAuto="0" spid="5695" grpId="17"/>
      <p:bldP build="whole" bldLvl="1" animBg="1" rev="0" advAuto="0" spid="5714" grpId="19"/>
      <p:bldP build="whole" bldLvl="1" animBg="1" rev="0" advAuto="0" spid="5538" grpId="7"/>
      <p:bldP build="whole" bldLvl="1" animBg="1" rev="0" advAuto="0" spid="5685" grpId="9"/>
      <p:bldP build="whole" bldLvl="1" animBg="1" rev="0" advAuto="0" spid="5688" grpId="12"/>
      <p:bldP build="whole" bldLvl="1" animBg="1" rev="0" advAuto="0" spid="5586" grpId="5"/>
      <p:bldP build="whole" bldLvl="1" animBg="1" rev="0" advAuto="0" spid="5557" grpId="2"/>
      <p:bldP build="whole" bldLvl="1" animBg="1" rev="0" advAuto="0" spid="5708" grpId="16"/>
      <p:bldP build="p" bldLvl="1" animBg="1" rev="0" advAuto="0" spid="5684" grpId="20"/>
      <p:bldP build="whole" bldLvl="1" animBg="1" rev="0" advAuto="0" spid="5694" grpId="10"/>
      <p:bldP build="whole" bldLvl="1" animBg="1" rev="0" advAuto="0" spid="5683" grpId="1"/>
      <p:bldP build="whole" bldLvl="1" animBg="1" rev="0" advAuto="0" spid="5567" grpId="3"/>
      <p:bldP build="whole" bldLvl="1" animBg="1" rev="0" advAuto="0" spid="5694" grpId="13"/>
      <p:bldP build="whole" bldLvl="1" animBg="1" rev="0" advAuto="0" spid="5576" grpId="6"/>
      <p:bldP build="whole" bldLvl="1" animBg="1" rev="0" advAuto="0" spid="5699" grpId="15"/>
      <p:bldP build="whole" bldLvl="1" animBg="1" rev="0" advAuto="0" spid="5547" grpId="11"/>
      <p:bldP build="whole" bldLvl="1" animBg="1" rev="0" advAuto="0" spid="5700" grpId="18"/>
      <p:bldP build="whole" bldLvl="1" animBg="1" rev="0" advAuto="0" spid="5696" grpId="14"/>
      <p:bldP build="whole" bldLvl="1" animBg="1" rev="0" advAuto="0" spid="5596" grpId="4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5093" y="671088"/>
            <a:ext cx="10922759" cy="5252744"/>
          </a:xfrm>
          <a:prstGeom prst="rect">
            <a:avLst/>
          </a:prstGeom>
          <a:ln w="12700">
            <a:miter lim="400000"/>
          </a:ln>
        </p:spPr>
      </p:pic>
      <p:sp>
        <p:nvSpPr>
          <p:cNvPr id="5718" name="Freeform 11"/>
          <p:cNvSpPr/>
          <p:nvPr/>
        </p:nvSpPr>
        <p:spPr>
          <a:xfrm>
            <a:off x="1445846" y="2196122"/>
            <a:ext cx="9159632" cy="1414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2" y="21600"/>
                </a:moveTo>
                <a:lnTo>
                  <a:pt x="74" y="19691"/>
                </a:lnTo>
                <a:lnTo>
                  <a:pt x="0" y="18497"/>
                </a:lnTo>
                <a:lnTo>
                  <a:pt x="92" y="17543"/>
                </a:lnTo>
                <a:lnTo>
                  <a:pt x="313" y="16946"/>
                </a:lnTo>
                <a:lnTo>
                  <a:pt x="571" y="15036"/>
                </a:lnTo>
                <a:lnTo>
                  <a:pt x="700" y="14320"/>
                </a:lnTo>
                <a:lnTo>
                  <a:pt x="885" y="14201"/>
                </a:lnTo>
                <a:lnTo>
                  <a:pt x="1051" y="13724"/>
                </a:lnTo>
                <a:lnTo>
                  <a:pt x="1235" y="13485"/>
                </a:lnTo>
                <a:lnTo>
                  <a:pt x="1419" y="12292"/>
                </a:lnTo>
                <a:lnTo>
                  <a:pt x="1622" y="11218"/>
                </a:lnTo>
                <a:lnTo>
                  <a:pt x="1714" y="9547"/>
                </a:lnTo>
                <a:lnTo>
                  <a:pt x="1898" y="8473"/>
                </a:lnTo>
                <a:lnTo>
                  <a:pt x="1954" y="8115"/>
                </a:lnTo>
                <a:lnTo>
                  <a:pt x="2193" y="8831"/>
                </a:lnTo>
                <a:lnTo>
                  <a:pt x="2433" y="9428"/>
                </a:lnTo>
                <a:lnTo>
                  <a:pt x="2709" y="9189"/>
                </a:lnTo>
                <a:lnTo>
                  <a:pt x="2986" y="7757"/>
                </a:lnTo>
                <a:lnTo>
                  <a:pt x="3354" y="7996"/>
                </a:lnTo>
                <a:lnTo>
                  <a:pt x="3520" y="9070"/>
                </a:lnTo>
                <a:lnTo>
                  <a:pt x="3944" y="9189"/>
                </a:lnTo>
                <a:lnTo>
                  <a:pt x="4349" y="9308"/>
                </a:lnTo>
                <a:lnTo>
                  <a:pt x="4644" y="9070"/>
                </a:lnTo>
                <a:lnTo>
                  <a:pt x="4737" y="8712"/>
                </a:lnTo>
                <a:lnTo>
                  <a:pt x="4755" y="7757"/>
                </a:lnTo>
                <a:lnTo>
                  <a:pt x="4902" y="7041"/>
                </a:lnTo>
                <a:lnTo>
                  <a:pt x="5179" y="6922"/>
                </a:lnTo>
                <a:lnTo>
                  <a:pt x="5363" y="6086"/>
                </a:lnTo>
                <a:lnTo>
                  <a:pt x="5529" y="6086"/>
                </a:lnTo>
                <a:lnTo>
                  <a:pt x="5621" y="6206"/>
                </a:lnTo>
                <a:lnTo>
                  <a:pt x="5787" y="5609"/>
                </a:lnTo>
                <a:lnTo>
                  <a:pt x="6045" y="5848"/>
                </a:lnTo>
                <a:lnTo>
                  <a:pt x="6451" y="5490"/>
                </a:lnTo>
                <a:lnTo>
                  <a:pt x="6838" y="5370"/>
                </a:lnTo>
                <a:lnTo>
                  <a:pt x="7354" y="7399"/>
                </a:lnTo>
                <a:lnTo>
                  <a:pt x="7409" y="8115"/>
                </a:lnTo>
                <a:lnTo>
                  <a:pt x="8220" y="7399"/>
                </a:lnTo>
                <a:lnTo>
                  <a:pt x="8681" y="7876"/>
                </a:lnTo>
                <a:lnTo>
                  <a:pt x="9233" y="7638"/>
                </a:lnTo>
                <a:lnTo>
                  <a:pt x="9620" y="8354"/>
                </a:lnTo>
                <a:lnTo>
                  <a:pt x="9897" y="9189"/>
                </a:lnTo>
                <a:lnTo>
                  <a:pt x="10210" y="9428"/>
                </a:lnTo>
                <a:lnTo>
                  <a:pt x="10413" y="8712"/>
                </a:lnTo>
                <a:lnTo>
                  <a:pt x="11113" y="8831"/>
                </a:lnTo>
                <a:lnTo>
                  <a:pt x="11408" y="7518"/>
                </a:lnTo>
                <a:lnTo>
                  <a:pt x="11556" y="7160"/>
                </a:lnTo>
                <a:lnTo>
                  <a:pt x="11648" y="6325"/>
                </a:lnTo>
                <a:lnTo>
                  <a:pt x="12274" y="6206"/>
                </a:lnTo>
                <a:lnTo>
                  <a:pt x="12569" y="5490"/>
                </a:lnTo>
                <a:lnTo>
                  <a:pt x="13454" y="5609"/>
                </a:lnTo>
                <a:lnTo>
                  <a:pt x="13767" y="5967"/>
                </a:lnTo>
                <a:lnTo>
                  <a:pt x="13915" y="6564"/>
                </a:lnTo>
                <a:lnTo>
                  <a:pt x="14744" y="6922"/>
                </a:lnTo>
                <a:lnTo>
                  <a:pt x="15076" y="5848"/>
                </a:lnTo>
                <a:lnTo>
                  <a:pt x="15463" y="5967"/>
                </a:lnTo>
                <a:lnTo>
                  <a:pt x="15610" y="5370"/>
                </a:lnTo>
                <a:lnTo>
                  <a:pt x="16274" y="5370"/>
                </a:lnTo>
                <a:lnTo>
                  <a:pt x="16495" y="5848"/>
                </a:lnTo>
                <a:lnTo>
                  <a:pt x="16790" y="5967"/>
                </a:lnTo>
                <a:lnTo>
                  <a:pt x="17029" y="6086"/>
                </a:lnTo>
                <a:lnTo>
                  <a:pt x="17269" y="6922"/>
                </a:lnTo>
                <a:lnTo>
                  <a:pt x="17564" y="6802"/>
                </a:lnTo>
                <a:lnTo>
                  <a:pt x="18209" y="5012"/>
                </a:lnTo>
                <a:lnTo>
                  <a:pt x="18780" y="2864"/>
                </a:lnTo>
                <a:lnTo>
                  <a:pt x="19038" y="1313"/>
                </a:lnTo>
                <a:lnTo>
                  <a:pt x="19075" y="477"/>
                </a:lnTo>
                <a:lnTo>
                  <a:pt x="19462" y="477"/>
                </a:lnTo>
                <a:lnTo>
                  <a:pt x="19683" y="239"/>
                </a:lnTo>
                <a:lnTo>
                  <a:pt x="19997" y="597"/>
                </a:lnTo>
                <a:lnTo>
                  <a:pt x="20199" y="0"/>
                </a:lnTo>
                <a:lnTo>
                  <a:pt x="20568" y="119"/>
                </a:lnTo>
                <a:lnTo>
                  <a:pt x="20900" y="716"/>
                </a:lnTo>
                <a:lnTo>
                  <a:pt x="21066" y="716"/>
                </a:lnTo>
                <a:lnTo>
                  <a:pt x="21231" y="1671"/>
                </a:lnTo>
                <a:lnTo>
                  <a:pt x="21268" y="2745"/>
                </a:lnTo>
                <a:lnTo>
                  <a:pt x="21453" y="3222"/>
                </a:lnTo>
                <a:lnTo>
                  <a:pt x="21600" y="3699"/>
                </a:lnTo>
              </a:path>
            </a:pathLst>
          </a:custGeom>
          <a:ln w="76200"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19" name="TextBox 12"/>
          <p:cNvSpPr txBox="1"/>
          <p:nvPr/>
        </p:nvSpPr>
        <p:spPr>
          <a:xfrm>
            <a:off x="5039750" y="2985477"/>
            <a:ext cx="1899901" cy="70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800">
                <a:solidFill>
                  <a:srgbClr val="C00000"/>
                </a:solidFill>
              </a:defRPr>
            </a:lvl1pPr>
          </a:lstStyle>
          <a:p>
            <a:pPr/>
            <a:r>
              <a:t>routing</a:t>
            </a:r>
          </a:p>
        </p:txBody>
      </p:sp>
      <p:sp>
        <p:nvSpPr>
          <p:cNvPr id="5720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3000"/>
                                        <p:tgtEl>
                                          <p:spTgt spid="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18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5093" y="671088"/>
            <a:ext cx="10922759" cy="5252744"/>
          </a:xfrm>
          <a:prstGeom prst="rect">
            <a:avLst/>
          </a:prstGeom>
          <a:ln w="12700">
            <a:miter lim="400000"/>
          </a:ln>
        </p:spPr>
      </p:pic>
      <p:sp>
        <p:nvSpPr>
          <p:cNvPr id="5723" name="Freeform 13"/>
          <p:cNvSpPr/>
          <p:nvPr/>
        </p:nvSpPr>
        <p:spPr>
          <a:xfrm>
            <a:off x="1445846" y="2196122"/>
            <a:ext cx="9159632" cy="1414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2" y="21600"/>
                </a:moveTo>
                <a:lnTo>
                  <a:pt x="74" y="19691"/>
                </a:lnTo>
                <a:lnTo>
                  <a:pt x="0" y="18497"/>
                </a:lnTo>
                <a:lnTo>
                  <a:pt x="92" y="17543"/>
                </a:lnTo>
                <a:lnTo>
                  <a:pt x="313" y="16946"/>
                </a:lnTo>
                <a:lnTo>
                  <a:pt x="571" y="15036"/>
                </a:lnTo>
                <a:lnTo>
                  <a:pt x="700" y="14320"/>
                </a:lnTo>
                <a:lnTo>
                  <a:pt x="885" y="14201"/>
                </a:lnTo>
                <a:lnTo>
                  <a:pt x="1051" y="13724"/>
                </a:lnTo>
                <a:lnTo>
                  <a:pt x="1235" y="13485"/>
                </a:lnTo>
                <a:lnTo>
                  <a:pt x="1419" y="12292"/>
                </a:lnTo>
                <a:lnTo>
                  <a:pt x="1622" y="11218"/>
                </a:lnTo>
                <a:lnTo>
                  <a:pt x="1714" y="9547"/>
                </a:lnTo>
                <a:lnTo>
                  <a:pt x="1898" y="8473"/>
                </a:lnTo>
                <a:lnTo>
                  <a:pt x="1954" y="8115"/>
                </a:lnTo>
                <a:lnTo>
                  <a:pt x="2193" y="8831"/>
                </a:lnTo>
                <a:lnTo>
                  <a:pt x="2433" y="9428"/>
                </a:lnTo>
                <a:lnTo>
                  <a:pt x="2709" y="9189"/>
                </a:lnTo>
                <a:lnTo>
                  <a:pt x="2986" y="7757"/>
                </a:lnTo>
                <a:lnTo>
                  <a:pt x="3354" y="7996"/>
                </a:lnTo>
                <a:lnTo>
                  <a:pt x="3520" y="9070"/>
                </a:lnTo>
                <a:lnTo>
                  <a:pt x="3944" y="9189"/>
                </a:lnTo>
                <a:lnTo>
                  <a:pt x="4349" y="9308"/>
                </a:lnTo>
                <a:lnTo>
                  <a:pt x="4644" y="9070"/>
                </a:lnTo>
                <a:lnTo>
                  <a:pt x="4737" y="8712"/>
                </a:lnTo>
                <a:lnTo>
                  <a:pt x="4755" y="7757"/>
                </a:lnTo>
                <a:lnTo>
                  <a:pt x="4902" y="7041"/>
                </a:lnTo>
                <a:lnTo>
                  <a:pt x="5179" y="6922"/>
                </a:lnTo>
                <a:lnTo>
                  <a:pt x="5363" y="6086"/>
                </a:lnTo>
                <a:lnTo>
                  <a:pt x="5529" y="6086"/>
                </a:lnTo>
                <a:lnTo>
                  <a:pt x="5621" y="6206"/>
                </a:lnTo>
                <a:lnTo>
                  <a:pt x="5787" y="5609"/>
                </a:lnTo>
                <a:lnTo>
                  <a:pt x="6045" y="5848"/>
                </a:lnTo>
                <a:lnTo>
                  <a:pt x="6451" y="5490"/>
                </a:lnTo>
                <a:lnTo>
                  <a:pt x="6838" y="5370"/>
                </a:lnTo>
                <a:lnTo>
                  <a:pt x="7354" y="7399"/>
                </a:lnTo>
                <a:lnTo>
                  <a:pt x="7409" y="8115"/>
                </a:lnTo>
                <a:lnTo>
                  <a:pt x="8220" y="7399"/>
                </a:lnTo>
                <a:lnTo>
                  <a:pt x="8681" y="7876"/>
                </a:lnTo>
                <a:lnTo>
                  <a:pt x="9233" y="7638"/>
                </a:lnTo>
                <a:lnTo>
                  <a:pt x="9620" y="8354"/>
                </a:lnTo>
                <a:lnTo>
                  <a:pt x="9897" y="9189"/>
                </a:lnTo>
                <a:lnTo>
                  <a:pt x="10210" y="9428"/>
                </a:lnTo>
                <a:lnTo>
                  <a:pt x="10413" y="8712"/>
                </a:lnTo>
                <a:lnTo>
                  <a:pt x="11113" y="8831"/>
                </a:lnTo>
                <a:lnTo>
                  <a:pt x="11408" y="7518"/>
                </a:lnTo>
                <a:lnTo>
                  <a:pt x="11556" y="7160"/>
                </a:lnTo>
                <a:lnTo>
                  <a:pt x="11648" y="6325"/>
                </a:lnTo>
                <a:lnTo>
                  <a:pt x="12274" y="6206"/>
                </a:lnTo>
                <a:lnTo>
                  <a:pt x="12569" y="5490"/>
                </a:lnTo>
                <a:lnTo>
                  <a:pt x="13454" y="5609"/>
                </a:lnTo>
                <a:lnTo>
                  <a:pt x="13767" y="5967"/>
                </a:lnTo>
                <a:lnTo>
                  <a:pt x="13915" y="6564"/>
                </a:lnTo>
                <a:lnTo>
                  <a:pt x="14744" y="6922"/>
                </a:lnTo>
                <a:lnTo>
                  <a:pt x="15076" y="5848"/>
                </a:lnTo>
                <a:lnTo>
                  <a:pt x="15463" y="5967"/>
                </a:lnTo>
                <a:lnTo>
                  <a:pt x="15610" y="5370"/>
                </a:lnTo>
                <a:lnTo>
                  <a:pt x="16274" y="5370"/>
                </a:lnTo>
                <a:lnTo>
                  <a:pt x="16495" y="5848"/>
                </a:lnTo>
                <a:lnTo>
                  <a:pt x="16790" y="5967"/>
                </a:lnTo>
                <a:lnTo>
                  <a:pt x="17029" y="6086"/>
                </a:lnTo>
                <a:lnTo>
                  <a:pt x="17269" y="6922"/>
                </a:lnTo>
                <a:lnTo>
                  <a:pt x="17564" y="6802"/>
                </a:lnTo>
                <a:lnTo>
                  <a:pt x="18209" y="5012"/>
                </a:lnTo>
                <a:lnTo>
                  <a:pt x="18780" y="2864"/>
                </a:lnTo>
                <a:lnTo>
                  <a:pt x="19038" y="1313"/>
                </a:lnTo>
                <a:lnTo>
                  <a:pt x="19075" y="477"/>
                </a:lnTo>
                <a:lnTo>
                  <a:pt x="19462" y="477"/>
                </a:lnTo>
                <a:lnTo>
                  <a:pt x="19683" y="239"/>
                </a:lnTo>
                <a:lnTo>
                  <a:pt x="19997" y="597"/>
                </a:lnTo>
                <a:lnTo>
                  <a:pt x="20199" y="0"/>
                </a:lnTo>
                <a:lnTo>
                  <a:pt x="20568" y="119"/>
                </a:lnTo>
                <a:lnTo>
                  <a:pt x="20900" y="716"/>
                </a:lnTo>
                <a:lnTo>
                  <a:pt x="21066" y="716"/>
                </a:lnTo>
                <a:lnTo>
                  <a:pt x="21231" y="1671"/>
                </a:lnTo>
                <a:lnTo>
                  <a:pt x="21268" y="2745"/>
                </a:lnTo>
                <a:lnTo>
                  <a:pt x="21453" y="3222"/>
                </a:lnTo>
                <a:lnTo>
                  <a:pt x="21600" y="3699"/>
                </a:lnTo>
              </a:path>
            </a:pathLst>
          </a:custGeom>
          <a:ln w="76200">
            <a:solidFill>
              <a:srgbClr val="C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726" name="Group 9"/>
          <p:cNvGrpSpPr/>
          <p:nvPr/>
        </p:nvGrpSpPr>
        <p:grpSpPr>
          <a:xfrm>
            <a:off x="1527142" y="1131216"/>
            <a:ext cx="2243580" cy="2158740"/>
            <a:chOff x="0" y="0"/>
            <a:chExt cx="2243579" cy="2158738"/>
          </a:xfrm>
        </p:grpSpPr>
        <p:pic>
          <p:nvPicPr>
            <p:cNvPr id="5724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41401" y="32344"/>
              <a:ext cx="2078994" cy="17870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25" name="Freeform 8"/>
            <p:cNvSpPr/>
            <p:nvPr/>
          </p:nvSpPr>
          <p:spPr>
            <a:xfrm>
              <a:off x="0" y="0"/>
              <a:ext cx="2243580" cy="2158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817" y="15532"/>
                    <a:pt x="908" y="7200"/>
                    <a:pt x="1361" y="0"/>
                  </a:cubicBezTo>
                  <a:lnTo>
                    <a:pt x="1543" y="18016"/>
                  </a:lnTo>
                  <a:lnTo>
                    <a:pt x="21600" y="17827"/>
                  </a:lnTo>
                  <a:cubicBezTo>
                    <a:pt x="6323" y="19745"/>
                    <a:pt x="5476" y="19965"/>
                    <a:pt x="0" y="216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48000">
                  <a:srgbClr val="D6DCE0"/>
                </a:gs>
                <a:gs pos="100000">
                  <a:srgbClr val="595959"/>
                </a:gs>
              </a:gsLst>
              <a:lin ang="14400000" scaled="0"/>
            </a:gradFill>
            <a:ln w="1270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727" name="TextBox 5"/>
          <p:cNvSpPr txBox="1"/>
          <p:nvPr/>
        </p:nvSpPr>
        <p:spPr>
          <a:xfrm>
            <a:off x="1694766" y="2813538"/>
            <a:ext cx="2131404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rgbClr val="C00000"/>
                </a:solidFill>
              </a:defRPr>
            </a:lvl1pPr>
          </a:lstStyle>
          <a:p>
            <a:pPr/>
            <a:r>
              <a:t>forwarding</a:t>
            </a:r>
          </a:p>
        </p:txBody>
      </p:sp>
      <p:grpSp>
        <p:nvGrpSpPr>
          <p:cNvPr id="5730" name="Group 6"/>
          <p:cNvGrpSpPr/>
          <p:nvPr/>
        </p:nvGrpSpPr>
        <p:grpSpPr>
          <a:xfrm>
            <a:off x="8758797" y="2608289"/>
            <a:ext cx="2771819" cy="2930577"/>
            <a:chOff x="0" y="0"/>
            <a:chExt cx="2771818" cy="2930576"/>
          </a:xfrm>
        </p:grpSpPr>
        <p:pic>
          <p:nvPicPr>
            <p:cNvPr id="5728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389742"/>
              <a:ext cx="2771819" cy="25408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29" name="Freeform 11"/>
            <p:cNvSpPr/>
            <p:nvPr/>
          </p:nvSpPr>
          <p:spPr>
            <a:xfrm>
              <a:off x="10449" y="-1"/>
              <a:ext cx="2683239" cy="404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31" y="0"/>
                  </a:moveTo>
                  <a:cubicBezTo>
                    <a:pt x="1891" y="8800"/>
                    <a:pt x="2092" y="11200"/>
                    <a:pt x="0" y="21600"/>
                  </a:cubicBezTo>
                  <a:lnTo>
                    <a:pt x="21600" y="20800"/>
                  </a:lnTo>
                  <a:cubicBezTo>
                    <a:pt x="7803" y="13067"/>
                    <a:pt x="8487" y="10133"/>
                    <a:pt x="193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6F8FC"/>
                </a:gs>
                <a:gs pos="100000">
                  <a:srgbClr val="A6A6A6"/>
                </a:gs>
              </a:gsLst>
              <a:lin ang="5400000" scaled="0"/>
            </a:gradFill>
            <a:ln w="1270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731" name="TextBox 12"/>
          <p:cNvSpPr txBox="1"/>
          <p:nvPr/>
        </p:nvSpPr>
        <p:spPr>
          <a:xfrm>
            <a:off x="9078146" y="2448580"/>
            <a:ext cx="2131403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rgbClr val="C00000"/>
                </a:solidFill>
              </a:defRPr>
            </a:lvl1pPr>
          </a:lstStyle>
          <a:p>
            <a:pPr/>
            <a:r>
              <a:t>forwarding</a:t>
            </a:r>
          </a:p>
        </p:txBody>
      </p:sp>
      <p:sp>
        <p:nvSpPr>
          <p:cNvPr id="5732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1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2" dur="500"/>
                                        <p:tgtEl>
                                          <p:spTgt spid="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500"/>
                                        <p:tgtEl>
                                          <p:spTgt spid="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27" grpId="4"/>
      <p:bldP build="whole" bldLvl="1" animBg="1" rev="0" advAuto="0" spid="5730" grpId="2"/>
      <p:bldP build="whole" bldLvl="1" animBg="1" rev="0" advAuto="0" spid="5731" grpId="3"/>
      <p:bldP build="whole" bldLvl="1" animBg="1" rev="0" advAuto="0" spid="5726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Packet-switching: store-and-forward</a:t>
            </a:r>
          </a:p>
        </p:txBody>
      </p:sp>
      <p:sp>
        <p:nvSpPr>
          <p:cNvPr id="5735" name="Content Placeholder 2"/>
          <p:cNvSpPr txBox="1"/>
          <p:nvPr>
            <p:ph type="body" sz="quarter" idx="1"/>
          </p:nvPr>
        </p:nvSpPr>
        <p:spPr>
          <a:xfrm>
            <a:off x="546246" y="3960083"/>
            <a:ext cx="7063421" cy="1805286"/>
          </a:xfrm>
          <a:prstGeom prst="rect">
            <a:avLst/>
          </a:prstGeom>
        </p:spPr>
        <p:txBody>
          <a:bodyPr/>
          <a:lstStyle/>
          <a:p>
            <a:pPr marL="287338" indent="-287338">
              <a:defRPr sz="2600">
                <a:solidFill>
                  <a:srgbClr val="C00000"/>
                </a:solidFill>
              </a:defRPr>
            </a:pPr>
            <a:r>
              <a:t>packet transmission delay: </a:t>
            </a:r>
            <a:r>
              <a:rPr>
                <a:solidFill>
                  <a:srgbClr val="000000"/>
                </a:solidFill>
              </a:rPr>
              <a:t>takes </a:t>
            </a:r>
            <a:r>
              <a:rPr i="1">
                <a:solidFill>
                  <a:srgbClr val="000000"/>
                </a:solidFill>
              </a:rPr>
              <a:t>L</a:t>
            </a:r>
            <a:r>
              <a:rPr>
                <a:solidFill>
                  <a:srgbClr val="000000"/>
                </a:solidFill>
              </a:rPr>
              <a:t>/</a:t>
            </a:r>
            <a:r>
              <a:rPr i="1">
                <a:solidFill>
                  <a:srgbClr val="000000"/>
                </a:solidFill>
              </a:rPr>
              <a:t>R</a:t>
            </a:r>
            <a:r>
              <a:rPr>
                <a:solidFill>
                  <a:srgbClr val="000000"/>
                </a:solidFill>
              </a:rPr>
              <a:t> seconds to transmit (push out) </a:t>
            </a:r>
            <a:r>
              <a:rPr i="1">
                <a:solidFill>
                  <a:srgbClr val="000000"/>
                </a:solidFill>
              </a:rPr>
              <a:t>L</a:t>
            </a:r>
            <a:r>
              <a:rPr>
                <a:solidFill>
                  <a:srgbClr val="000000"/>
                </a:solidFill>
              </a:rPr>
              <a:t>-bit packet into link at </a:t>
            </a:r>
            <a:r>
              <a:rPr i="1">
                <a:solidFill>
                  <a:srgbClr val="000000"/>
                </a:solidFill>
              </a:rPr>
              <a:t>R</a:t>
            </a:r>
            <a:r>
              <a:rPr>
                <a:solidFill>
                  <a:srgbClr val="000000"/>
                </a:solidFill>
              </a:rPr>
              <a:t> bps</a:t>
            </a:r>
            <a:endParaRPr>
              <a:solidFill>
                <a:srgbClr val="000000"/>
              </a:solidFill>
            </a:endParaRPr>
          </a:p>
          <a:p>
            <a:pPr marL="287338" indent="-287338">
              <a:defRPr i="1" sz="2600">
                <a:solidFill>
                  <a:srgbClr val="CC0000"/>
                </a:solidFill>
              </a:defRPr>
            </a:pPr>
            <a:r>
              <a:t>store and forward:</a:t>
            </a:r>
            <a:r>
              <a:rPr>
                <a:solidFill>
                  <a:srgbClr val="FF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entire</a:t>
            </a:r>
            <a:r>
              <a:rPr i="0">
                <a:solidFill>
                  <a:srgbClr val="000000"/>
                </a:solidFill>
              </a:rPr>
              <a:t> packet must  arrive at router before it can be transmitted on next link</a:t>
            </a:r>
          </a:p>
        </p:txBody>
      </p:sp>
      <p:sp>
        <p:nvSpPr>
          <p:cNvPr id="5736" name="TextBox 443"/>
          <p:cNvSpPr txBox="1"/>
          <p:nvPr/>
        </p:nvSpPr>
        <p:spPr>
          <a:xfrm>
            <a:off x="2375203" y="2650663"/>
            <a:ext cx="789494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source</a:t>
            </a:r>
          </a:p>
        </p:txBody>
      </p:sp>
      <p:grpSp>
        <p:nvGrpSpPr>
          <p:cNvPr id="5739" name="Group 41"/>
          <p:cNvGrpSpPr/>
          <p:nvPr/>
        </p:nvGrpSpPr>
        <p:grpSpPr>
          <a:xfrm>
            <a:off x="3152333" y="2571703"/>
            <a:ext cx="1074739" cy="588550"/>
            <a:chOff x="0" y="0"/>
            <a:chExt cx="1074737" cy="588548"/>
          </a:xfrm>
        </p:grpSpPr>
        <p:pic>
          <p:nvPicPr>
            <p:cNvPr id="5737" name="Picture 8" descr="Picture 8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153341"/>
              <a:ext cx="1074738" cy="4352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38" name="Rectangle 495"/>
            <p:cNvSpPr/>
            <p:nvPr/>
          </p:nvSpPr>
          <p:spPr>
            <a:xfrm rot="1049095">
              <a:off x="76528" y="138040"/>
              <a:ext cx="962247" cy="28200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FFFFFF">
                    <a:alpha val="4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740" name="Straight Connector 42"/>
          <p:cNvSpPr/>
          <p:nvPr/>
        </p:nvSpPr>
        <p:spPr>
          <a:xfrm>
            <a:off x="4115946" y="2847197"/>
            <a:ext cx="1738312" cy="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748" name="Group 43"/>
          <p:cNvGrpSpPr/>
          <p:nvPr/>
        </p:nvGrpSpPr>
        <p:grpSpPr>
          <a:xfrm>
            <a:off x="5462146" y="2658602"/>
            <a:ext cx="1058863" cy="384176"/>
            <a:chOff x="0" y="0"/>
            <a:chExt cx="1058862" cy="384174"/>
          </a:xfrm>
        </p:grpSpPr>
        <p:grpSp>
          <p:nvGrpSpPr>
            <p:cNvPr id="5745" name="Group 92"/>
            <p:cNvGrpSpPr/>
            <p:nvPr/>
          </p:nvGrpSpPr>
          <p:grpSpPr>
            <a:xfrm>
              <a:off x="4072" y="0"/>
              <a:ext cx="1035978" cy="384175"/>
              <a:chOff x="0" y="0"/>
              <a:chExt cx="1035976" cy="384174"/>
            </a:xfrm>
          </p:grpSpPr>
          <p:pic>
            <p:nvPicPr>
              <p:cNvPr id="5741" name="Picture 95" descr="Picture 95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51142"/>
                <a:ext cx="1035977" cy="3330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742" name="Rectangle 96"/>
              <p:cNvSpPr/>
              <p:nvPr/>
            </p:nvSpPr>
            <p:spPr>
              <a:xfrm>
                <a:off x="880163" y="195262"/>
                <a:ext cx="36514" cy="123825"/>
              </a:xfrm>
              <a:prstGeom prst="rect">
                <a:avLst/>
              </a:prstGeom>
              <a:solidFill>
                <a:srgbClr val="BFBFB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43" name="Rectangle 97"/>
              <p:cNvSpPr/>
              <p:nvPr/>
            </p:nvSpPr>
            <p:spPr>
              <a:xfrm>
                <a:off x="159439" y="207962"/>
                <a:ext cx="50801" cy="123825"/>
              </a:xfrm>
              <a:prstGeom prst="rect">
                <a:avLst/>
              </a:prstGeom>
              <a:solidFill>
                <a:srgbClr val="BFBFB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44" name="Oval 98"/>
              <p:cNvSpPr/>
              <p:nvPr/>
            </p:nvSpPr>
            <p:spPr>
              <a:xfrm>
                <a:off x="34026" y="-1"/>
                <a:ext cx="971551" cy="273051"/>
              </a:xfrm>
              <a:prstGeom prst="ellipse">
                <a:avLst/>
              </a:prstGeom>
              <a:solidFill>
                <a:srgbClr val="EAEA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5746" name="Rectangle 93"/>
            <p:cNvSpPr/>
            <p:nvPr/>
          </p:nvSpPr>
          <p:spPr>
            <a:xfrm>
              <a:off x="989012" y="25399"/>
              <a:ext cx="69851" cy="698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47" name="Rectangle 94"/>
            <p:cNvSpPr/>
            <p:nvPr/>
          </p:nvSpPr>
          <p:spPr>
            <a:xfrm>
              <a:off x="-1" y="28574"/>
              <a:ext cx="69851" cy="698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5752" name="Group 44"/>
          <p:cNvGrpSpPr/>
          <p:nvPr/>
        </p:nvGrpSpPr>
        <p:grpSpPr>
          <a:xfrm>
            <a:off x="5416108" y="1579101"/>
            <a:ext cx="1092201" cy="303212"/>
            <a:chOff x="0" y="0"/>
            <a:chExt cx="1092200" cy="303210"/>
          </a:xfrm>
        </p:grpSpPr>
        <p:pic>
          <p:nvPicPr>
            <p:cNvPr id="5749" name="Picture 2" descr="Picture 2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-1"/>
              <a:ext cx="1092200" cy="2809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50" name="Rectangle 90"/>
            <p:cNvSpPr/>
            <p:nvPr/>
          </p:nvSpPr>
          <p:spPr>
            <a:xfrm>
              <a:off x="1006475" y="217486"/>
              <a:ext cx="73025" cy="7302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51" name="Rectangle 91"/>
            <p:cNvSpPr/>
            <p:nvPr/>
          </p:nvSpPr>
          <p:spPr>
            <a:xfrm>
              <a:off x="25400" y="230186"/>
              <a:ext cx="73025" cy="7302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5755" name="Group 45"/>
          <p:cNvGrpSpPr/>
          <p:nvPr/>
        </p:nvGrpSpPr>
        <p:grpSpPr>
          <a:xfrm>
            <a:off x="3323087" y="1241761"/>
            <a:ext cx="1112642" cy="759172"/>
            <a:chOff x="0" y="0"/>
            <a:chExt cx="1112641" cy="759171"/>
          </a:xfrm>
        </p:grpSpPr>
        <p:pic>
          <p:nvPicPr>
            <p:cNvPr id="5753" name="Picture 9" descr="Picture 9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30739" y="0"/>
              <a:ext cx="792412" cy="6564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54" name="Rectangle 636"/>
            <p:cNvSpPr/>
            <p:nvPr/>
          </p:nvSpPr>
          <p:spPr>
            <a:xfrm rot="11601822">
              <a:off x="10220" y="419486"/>
              <a:ext cx="1092201" cy="216395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FFFFFF">
                    <a:alpha val="4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756" name="TextBox 637"/>
          <p:cNvSpPr txBox="1"/>
          <p:nvPr/>
        </p:nvSpPr>
        <p:spPr>
          <a:xfrm>
            <a:off x="4520441" y="2879263"/>
            <a:ext cx="66447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 sz="2000"/>
            </a:pPr>
            <a:r>
              <a:t>R</a:t>
            </a:r>
            <a:r>
              <a:rPr i="0"/>
              <a:t> bps</a:t>
            </a:r>
          </a:p>
        </p:txBody>
      </p:sp>
      <p:sp>
        <p:nvSpPr>
          <p:cNvPr id="5757" name="Straight Connector 47"/>
          <p:cNvSpPr/>
          <p:nvPr/>
        </p:nvSpPr>
        <p:spPr>
          <a:xfrm>
            <a:off x="6506720" y="2851958"/>
            <a:ext cx="1738312" cy="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760" name="Group 100"/>
          <p:cNvGrpSpPr/>
          <p:nvPr/>
        </p:nvGrpSpPr>
        <p:grpSpPr>
          <a:xfrm>
            <a:off x="7484620" y="2042652"/>
            <a:ext cx="1477963" cy="1284288"/>
            <a:chOff x="0" y="0"/>
            <a:chExt cx="1477962" cy="1284287"/>
          </a:xfrm>
        </p:grpSpPr>
        <p:pic>
          <p:nvPicPr>
            <p:cNvPr id="5758" name="Picture 101" descr="Picture 10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 flipH="1">
              <a:off x="0" y="0"/>
              <a:ext cx="1477963" cy="12842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59" name="Freeform 102"/>
            <p:cNvSpPr/>
            <p:nvPr/>
          </p:nvSpPr>
          <p:spPr>
            <a:xfrm flipH="1">
              <a:off x="629753" y="124360"/>
              <a:ext cx="714123" cy="586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5761" name="TextBox 643"/>
          <p:cNvSpPr txBox="1"/>
          <p:nvPr/>
        </p:nvSpPr>
        <p:spPr>
          <a:xfrm>
            <a:off x="9013065" y="2656489"/>
            <a:ext cx="1267357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destination</a:t>
            </a:r>
          </a:p>
        </p:txBody>
      </p:sp>
      <p:sp>
        <p:nvSpPr>
          <p:cNvPr id="5762" name="TextBox 52"/>
          <p:cNvSpPr txBox="1"/>
          <p:nvPr/>
        </p:nvSpPr>
        <p:spPr>
          <a:xfrm>
            <a:off x="3980691" y="2545888"/>
            <a:ext cx="20713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1</a:t>
            </a:r>
          </a:p>
        </p:txBody>
      </p:sp>
      <p:sp>
        <p:nvSpPr>
          <p:cNvPr id="5763" name="TextBox 53"/>
          <p:cNvSpPr txBox="1"/>
          <p:nvPr/>
        </p:nvSpPr>
        <p:spPr>
          <a:xfrm>
            <a:off x="3783841" y="2552238"/>
            <a:ext cx="20713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2</a:t>
            </a:r>
          </a:p>
        </p:txBody>
      </p:sp>
      <p:sp>
        <p:nvSpPr>
          <p:cNvPr id="5764" name="TextBox 54"/>
          <p:cNvSpPr txBox="1"/>
          <p:nvPr/>
        </p:nvSpPr>
        <p:spPr>
          <a:xfrm>
            <a:off x="3596516" y="2549063"/>
            <a:ext cx="20713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/>
            </a:lvl1pPr>
          </a:lstStyle>
          <a:p>
            <a:pPr/>
            <a:r>
              <a:t>3</a:t>
            </a:r>
          </a:p>
        </p:txBody>
      </p:sp>
      <p:grpSp>
        <p:nvGrpSpPr>
          <p:cNvPr id="5794" name="Group 55"/>
          <p:cNvGrpSpPr/>
          <p:nvPr/>
        </p:nvGrpSpPr>
        <p:grpSpPr>
          <a:xfrm>
            <a:off x="3284096" y="1844213"/>
            <a:ext cx="2940177" cy="841376"/>
            <a:chOff x="0" y="0"/>
            <a:chExt cx="2940176" cy="841375"/>
          </a:xfrm>
        </p:grpSpPr>
        <p:grpSp>
          <p:nvGrpSpPr>
            <p:cNvPr id="5773" name="Group 56"/>
            <p:cNvGrpSpPr/>
            <p:nvPr/>
          </p:nvGrpSpPr>
          <p:grpSpPr>
            <a:xfrm>
              <a:off x="2393950" y="-1"/>
              <a:ext cx="503237" cy="771526"/>
              <a:chOff x="0" y="0"/>
              <a:chExt cx="503236" cy="771524"/>
            </a:xfrm>
          </p:grpSpPr>
          <p:sp>
            <p:nvSpPr>
              <p:cNvPr id="5765" name="Rectangle 77"/>
              <p:cNvSpPr/>
              <p:nvPr/>
            </p:nvSpPr>
            <p:spPr>
              <a:xfrm>
                <a:off x="384174" y="550862"/>
                <a:ext cx="114300" cy="220663"/>
              </a:xfrm>
              <a:prstGeom prst="rect">
                <a:avLst/>
              </a:prstGeom>
              <a:solidFill>
                <a:srgbClr val="33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66" name="Freeform 674"/>
              <p:cNvSpPr/>
              <p:nvPr/>
            </p:nvSpPr>
            <p:spPr>
              <a:xfrm>
                <a:off x="3174" y="265113"/>
                <a:ext cx="381001" cy="5064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3" h="21600" fill="norm" stroke="1" extrusionOk="0">
                    <a:moveTo>
                      <a:pt x="0" y="0"/>
                    </a:moveTo>
                    <a:lnTo>
                      <a:pt x="0" y="7225"/>
                    </a:lnTo>
                    <a:lnTo>
                      <a:pt x="21546" y="21600"/>
                    </a:lnTo>
                    <a:cubicBezTo>
                      <a:pt x="21511" y="14545"/>
                      <a:pt x="21600" y="18899"/>
                      <a:pt x="21565" y="118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67" name="Freeform 675"/>
              <p:cNvSpPr/>
              <p:nvPr/>
            </p:nvSpPr>
            <p:spPr>
              <a:xfrm>
                <a:off x="0" y="250825"/>
                <a:ext cx="503237" cy="295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946" y="0"/>
                    </a:moveTo>
                    <a:lnTo>
                      <a:pt x="0" y="250"/>
                    </a:lnTo>
                    <a:lnTo>
                      <a:pt x="16579" y="21600"/>
                    </a:lnTo>
                    <a:cubicBezTo>
                      <a:pt x="18404" y="21390"/>
                      <a:pt x="18164" y="21393"/>
                      <a:pt x="21600" y="21562"/>
                    </a:cubicBezTo>
                    <a:lnTo>
                      <a:pt x="3946" y="0"/>
                    </a:lnTo>
                    <a:close/>
                  </a:path>
                </a:pathLst>
              </a:custGeom>
              <a:solidFill>
                <a:srgbClr val="0099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68" name="Freeform 676"/>
              <p:cNvSpPr/>
              <p:nvPr/>
            </p:nvSpPr>
            <p:spPr>
              <a:xfrm>
                <a:off x="6349" y="7938"/>
                <a:ext cx="485775" cy="5381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95" y="452"/>
                    </a:moveTo>
                    <a:lnTo>
                      <a:pt x="0" y="10213"/>
                    </a:lnTo>
                    <a:lnTo>
                      <a:pt x="16518" y="21600"/>
                    </a:lnTo>
                    <a:lnTo>
                      <a:pt x="21600" y="21600"/>
                    </a:lnTo>
                    <a:cubicBezTo>
                      <a:pt x="21567" y="17985"/>
                      <a:pt x="21535" y="14370"/>
                      <a:pt x="21502" y="10755"/>
                    </a:cubicBezTo>
                    <a:lnTo>
                      <a:pt x="4007" y="0"/>
                    </a:lnTo>
                    <a:lnTo>
                      <a:pt x="195" y="45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69" name="Straight Connector 81"/>
              <p:cNvSpPr/>
              <p:nvPr/>
            </p:nvSpPr>
            <p:spPr>
              <a:xfrm>
                <a:off x="9720" y="19499"/>
                <a:ext cx="364249" cy="25873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770" name="Straight Connector 82"/>
              <p:cNvSpPr/>
              <p:nvPr/>
            </p:nvSpPr>
            <p:spPr>
              <a:xfrm flipV="1">
                <a:off x="376176" y="275986"/>
                <a:ext cx="114794" cy="225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771" name="Straight Connector 83"/>
              <p:cNvSpPr/>
              <p:nvPr/>
            </p:nvSpPr>
            <p:spPr>
              <a:xfrm flipH="1">
                <a:off x="378384" y="278235"/>
                <a:ext cx="2208" cy="26773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772" name="Straight Connector 84"/>
              <p:cNvSpPr/>
              <p:nvPr/>
            </p:nvSpPr>
            <p:spPr>
              <a:xfrm flipH="1">
                <a:off x="94343" y="0"/>
                <a:ext cx="2208" cy="26773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5782" name="Group 57"/>
            <p:cNvGrpSpPr/>
            <p:nvPr/>
          </p:nvGrpSpPr>
          <p:grpSpPr>
            <a:xfrm>
              <a:off x="598487" y="7921"/>
              <a:ext cx="503239" cy="771543"/>
              <a:chOff x="0" y="0"/>
              <a:chExt cx="503238" cy="771542"/>
            </a:xfrm>
          </p:grpSpPr>
          <p:sp>
            <p:nvSpPr>
              <p:cNvPr id="5774" name="Freeform 665"/>
              <p:cNvSpPr/>
              <p:nvPr/>
            </p:nvSpPr>
            <p:spPr>
              <a:xfrm>
                <a:off x="3175" y="265128"/>
                <a:ext cx="381001" cy="5064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3" h="21600" fill="norm" stroke="1" extrusionOk="0">
                    <a:moveTo>
                      <a:pt x="0" y="0"/>
                    </a:moveTo>
                    <a:lnTo>
                      <a:pt x="0" y="7225"/>
                    </a:lnTo>
                    <a:lnTo>
                      <a:pt x="21546" y="21600"/>
                    </a:lnTo>
                    <a:cubicBezTo>
                      <a:pt x="21511" y="14545"/>
                      <a:pt x="21600" y="18899"/>
                      <a:pt x="21565" y="118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75" name="Freeform 666"/>
              <p:cNvSpPr/>
              <p:nvPr/>
            </p:nvSpPr>
            <p:spPr>
              <a:xfrm>
                <a:off x="0" y="250841"/>
                <a:ext cx="503239" cy="2952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946" y="0"/>
                    </a:moveTo>
                    <a:lnTo>
                      <a:pt x="0" y="250"/>
                    </a:lnTo>
                    <a:lnTo>
                      <a:pt x="16579" y="21600"/>
                    </a:lnTo>
                    <a:cubicBezTo>
                      <a:pt x="18404" y="21390"/>
                      <a:pt x="18164" y="21393"/>
                      <a:pt x="21600" y="21562"/>
                    </a:cubicBezTo>
                    <a:lnTo>
                      <a:pt x="3946" y="0"/>
                    </a:lnTo>
                    <a:close/>
                  </a:path>
                </a:pathLst>
              </a:custGeom>
              <a:solidFill>
                <a:srgbClr val="0099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76" name="Rectangle 71"/>
              <p:cNvSpPr/>
              <p:nvPr/>
            </p:nvSpPr>
            <p:spPr>
              <a:xfrm>
                <a:off x="384175" y="550879"/>
                <a:ext cx="114300" cy="220664"/>
              </a:xfrm>
              <a:prstGeom prst="rect">
                <a:avLst/>
              </a:prstGeom>
              <a:solidFill>
                <a:srgbClr val="33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77" name="Freeform 668"/>
              <p:cNvSpPr/>
              <p:nvPr/>
            </p:nvSpPr>
            <p:spPr>
              <a:xfrm>
                <a:off x="6350" y="7953"/>
                <a:ext cx="485775" cy="5381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95" y="452"/>
                    </a:moveTo>
                    <a:lnTo>
                      <a:pt x="0" y="10213"/>
                    </a:lnTo>
                    <a:lnTo>
                      <a:pt x="16518" y="21600"/>
                    </a:lnTo>
                    <a:lnTo>
                      <a:pt x="21600" y="21600"/>
                    </a:lnTo>
                    <a:cubicBezTo>
                      <a:pt x="21567" y="17985"/>
                      <a:pt x="21535" y="14370"/>
                      <a:pt x="21502" y="10755"/>
                    </a:cubicBezTo>
                    <a:lnTo>
                      <a:pt x="4007" y="0"/>
                    </a:lnTo>
                    <a:lnTo>
                      <a:pt x="195" y="45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78" name="Straight Connector 73"/>
              <p:cNvSpPr/>
              <p:nvPr/>
            </p:nvSpPr>
            <p:spPr>
              <a:xfrm>
                <a:off x="9740" y="19499"/>
                <a:ext cx="364249" cy="25873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779" name="Straight Connector 74"/>
              <p:cNvSpPr/>
              <p:nvPr/>
            </p:nvSpPr>
            <p:spPr>
              <a:xfrm flipV="1">
                <a:off x="376196" y="275986"/>
                <a:ext cx="114794" cy="225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780" name="Straight Connector 75"/>
              <p:cNvSpPr/>
              <p:nvPr/>
            </p:nvSpPr>
            <p:spPr>
              <a:xfrm flipH="1">
                <a:off x="378404" y="278235"/>
                <a:ext cx="2208" cy="26773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781" name="Straight Connector 76"/>
              <p:cNvSpPr/>
              <p:nvPr/>
            </p:nvSpPr>
            <p:spPr>
              <a:xfrm flipH="1">
                <a:off x="94364" y="0"/>
                <a:ext cx="2208" cy="267737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5786" name="Group 58"/>
            <p:cNvGrpSpPr/>
            <p:nvPr/>
          </p:nvGrpSpPr>
          <p:grpSpPr>
            <a:xfrm>
              <a:off x="307975" y="25399"/>
              <a:ext cx="495301" cy="760414"/>
              <a:chOff x="0" y="0"/>
              <a:chExt cx="495300" cy="760412"/>
            </a:xfrm>
          </p:grpSpPr>
          <p:sp>
            <p:nvSpPr>
              <p:cNvPr id="5783" name="Freeform 662"/>
              <p:cNvSpPr/>
              <p:nvPr/>
            </p:nvSpPr>
            <p:spPr>
              <a:xfrm>
                <a:off x="0" y="0"/>
                <a:ext cx="382588" cy="7604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2027"/>
                    </a:lnTo>
                    <a:lnTo>
                      <a:pt x="21600" y="21600"/>
                    </a:lnTo>
                    <a:cubicBezTo>
                      <a:pt x="21565" y="16902"/>
                      <a:pt x="21529" y="12203"/>
                      <a:pt x="21494" y="750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84" name="Freeform 663"/>
              <p:cNvSpPr/>
              <p:nvPr/>
            </p:nvSpPr>
            <p:spPr>
              <a:xfrm>
                <a:off x="6350" y="1588"/>
                <a:ext cx="488951" cy="274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071" y="0"/>
                    </a:moveTo>
                    <a:lnTo>
                      <a:pt x="0" y="269"/>
                    </a:lnTo>
                    <a:lnTo>
                      <a:pt x="16615" y="21464"/>
                    </a:lnTo>
                    <a:cubicBezTo>
                      <a:pt x="18498" y="21238"/>
                      <a:pt x="18055" y="21419"/>
                      <a:pt x="21600" y="21600"/>
                    </a:cubicBezTo>
                    <a:lnTo>
                      <a:pt x="4071" y="0"/>
                    </a:lnTo>
                    <a:close/>
                  </a:path>
                </a:pathLst>
              </a:custGeom>
              <a:solidFill>
                <a:srgbClr val="0099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85" name="Rectangle 68"/>
              <p:cNvSpPr/>
              <p:nvPr/>
            </p:nvSpPr>
            <p:spPr>
              <a:xfrm>
                <a:off x="381000" y="274637"/>
                <a:ext cx="114301" cy="481012"/>
              </a:xfrm>
              <a:prstGeom prst="rect">
                <a:avLst/>
              </a:prstGeom>
              <a:solidFill>
                <a:srgbClr val="33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5787" name="Rectangle 59"/>
            <p:cNvSpPr/>
            <p:nvPr/>
          </p:nvSpPr>
          <p:spPr>
            <a:xfrm>
              <a:off x="1015999" y="717549"/>
              <a:ext cx="1779587" cy="53975"/>
            </a:xfrm>
            <a:prstGeom prst="rect">
              <a:avLst/>
            </a:prstGeom>
            <a:solidFill>
              <a:srgbClr val="33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88" name="Right Arrow 60"/>
            <p:cNvSpPr/>
            <p:nvPr/>
          </p:nvSpPr>
          <p:spPr>
            <a:xfrm>
              <a:off x="1601786" y="658813"/>
              <a:ext cx="217489" cy="182563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5792" name="Group 61"/>
            <p:cNvGrpSpPr/>
            <p:nvPr/>
          </p:nvGrpSpPr>
          <p:grpSpPr>
            <a:xfrm>
              <a:off x="-1" y="17462"/>
              <a:ext cx="493714" cy="760413"/>
              <a:chOff x="0" y="0"/>
              <a:chExt cx="493712" cy="760411"/>
            </a:xfrm>
          </p:grpSpPr>
          <p:sp>
            <p:nvSpPr>
              <p:cNvPr id="5789" name="Freeform 659"/>
              <p:cNvSpPr/>
              <p:nvPr/>
            </p:nvSpPr>
            <p:spPr>
              <a:xfrm>
                <a:off x="0" y="0"/>
                <a:ext cx="381001" cy="7604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2027"/>
                    </a:lnTo>
                    <a:lnTo>
                      <a:pt x="21600" y="21600"/>
                    </a:lnTo>
                    <a:cubicBezTo>
                      <a:pt x="21565" y="16902"/>
                      <a:pt x="21529" y="12203"/>
                      <a:pt x="21494" y="750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90" name="Freeform 660"/>
              <p:cNvSpPr/>
              <p:nvPr/>
            </p:nvSpPr>
            <p:spPr>
              <a:xfrm>
                <a:off x="6350" y="1587"/>
                <a:ext cx="487363" cy="2746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071" y="0"/>
                    </a:moveTo>
                    <a:lnTo>
                      <a:pt x="0" y="269"/>
                    </a:lnTo>
                    <a:lnTo>
                      <a:pt x="16615" y="21464"/>
                    </a:lnTo>
                    <a:cubicBezTo>
                      <a:pt x="18498" y="21238"/>
                      <a:pt x="18055" y="21419"/>
                      <a:pt x="21600" y="21600"/>
                    </a:cubicBezTo>
                    <a:lnTo>
                      <a:pt x="4071" y="0"/>
                    </a:lnTo>
                    <a:close/>
                  </a:path>
                </a:pathLst>
              </a:custGeom>
              <a:solidFill>
                <a:srgbClr val="0099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791" name="Rectangle 65"/>
              <p:cNvSpPr/>
              <p:nvPr/>
            </p:nvSpPr>
            <p:spPr>
              <a:xfrm>
                <a:off x="379411" y="274636"/>
                <a:ext cx="114301" cy="481013"/>
              </a:xfrm>
              <a:prstGeom prst="rect">
                <a:avLst/>
              </a:prstGeom>
              <a:solidFill>
                <a:srgbClr val="33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5793" name="Right Arrow 62"/>
            <p:cNvSpPr/>
            <p:nvPr/>
          </p:nvSpPr>
          <p:spPr>
            <a:xfrm rot="16354074">
              <a:off x="2734468" y="351631"/>
              <a:ext cx="222251" cy="179388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795" name="TextBox 681"/>
          <p:cNvSpPr txBox="1"/>
          <p:nvPr/>
        </p:nvSpPr>
        <p:spPr>
          <a:xfrm>
            <a:off x="1977035" y="1919105"/>
            <a:ext cx="1189842" cy="543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ts val="1700"/>
              </a:lnSpc>
              <a:defRPr i="1" sz="2000"/>
            </a:pPr>
            <a:r>
              <a:t>L</a:t>
            </a:r>
            <a:r>
              <a:rPr i="0"/>
              <a:t> bits</a:t>
            </a:r>
            <a:endParaRPr i="0"/>
          </a:p>
          <a:p>
            <a:pPr>
              <a:lnSpc>
                <a:spcPts val="1700"/>
              </a:lnSpc>
              <a:defRPr sz="2000"/>
            </a:pPr>
            <a:r>
              <a:t>per packet</a:t>
            </a:r>
          </a:p>
        </p:txBody>
      </p:sp>
      <p:sp>
        <p:nvSpPr>
          <p:cNvPr id="5796" name="TextBox 682"/>
          <p:cNvSpPr txBox="1"/>
          <p:nvPr/>
        </p:nvSpPr>
        <p:spPr>
          <a:xfrm>
            <a:off x="6919153" y="2869738"/>
            <a:ext cx="66447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 sz="2000"/>
            </a:pPr>
            <a:r>
              <a:t>R</a:t>
            </a:r>
            <a:r>
              <a:rPr i="0"/>
              <a:t> bps</a:t>
            </a:r>
          </a:p>
        </p:txBody>
      </p:sp>
      <p:grpSp>
        <p:nvGrpSpPr>
          <p:cNvPr id="5799" name="Group 8"/>
          <p:cNvGrpSpPr/>
          <p:nvPr/>
        </p:nvGrpSpPr>
        <p:grpSpPr>
          <a:xfrm>
            <a:off x="7945714" y="3980381"/>
            <a:ext cx="3831221" cy="2295281"/>
            <a:chOff x="0" y="0"/>
            <a:chExt cx="3831220" cy="2295279"/>
          </a:xfrm>
        </p:grpSpPr>
        <p:sp>
          <p:nvSpPr>
            <p:cNvPr id="5797" name="Rectangle 7"/>
            <p:cNvSpPr/>
            <p:nvPr/>
          </p:nvSpPr>
          <p:spPr>
            <a:xfrm>
              <a:off x="0" y="0"/>
              <a:ext cx="3831221" cy="1969006"/>
            </a:xfrm>
            <a:prstGeom prst="rect">
              <a:avLst/>
            </a:prstGeom>
            <a:solidFill>
              <a:srgbClr val="DAE3F3">
                <a:alpha val="47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98" name="Rectangle 4"/>
            <p:cNvSpPr txBox="1"/>
            <p:nvPr/>
          </p:nvSpPr>
          <p:spPr>
            <a:xfrm>
              <a:off x="45720" y="63254"/>
              <a:ext cx="3763840" cy="2232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 marL="341313" indent="-330201">
                <a:lnSpc>
                  <a:spcPct val="90000"/>
                </a:lnSpc>
                <a:spcBef>
                  <a:spcPts val="1000"/>
                </a:spcBef>
                <a:defRPr i="1" sz="2400">
                  <a:solidFill>
                    <a:srgbClr val="000099"/>
                  </a:solidFill>
                </a:defRPr>
              </a:pPr>
              <a:r>
                <a:t>One-hop numerical example:</a:t>
              </a:r>
              <a:endParaRPr sz="2800"/>
            </a:p>
            <a:p>
              <a:pPr marL="231775" indent="-231775">
                <a:lnSpc>
                  <a:spcPct val="90000"/>
                </a:lnSpc>
                <a:spcBef>
                  <a:spcPts val="400"/>
                </a:spcBef>
                <a:buClr>
                  <a:srgbClr val="0000A3"/>
                </a:buClr>
                <a:buSzPct val="100000"/>
                <a:buChar char="▪"/>
                <a:defRPr i="1" sz="2400"/>
              </a:pPr>
              <a:r>
                <a:t>L</a:t>
              </a:r>
              <a:r>
                <a:rPr i="0"/>
                <a:t> = 10 Kbits</a:t>
              </a:r>
              <a:endParaRPr sz="2800"/>
            </a:p>
            <a:p>
              <a:pPr marL="231775" indent="-231775">
                <a:lnSpc>
                  <a:spcPct val="90000"/>
                </a:lnSpc>
                <a:spcBef>
                  <a:spcPts val="400"/>
                </a:spcBef>
                <a:buClr>
                  <a:srgbClr val="0000A3"/>
                </a:buClr>
                <a:buSzPct val="100000"/>
                <a:buChar char="▪"/>
                <a:defRPr i="1" sz="2400"/>
              </a:pPr>
              <a:r>
                <a:t>R</a:t>
              </a:r>
              <a:r>
                <a:rPr i="0"/>
                <a:t> = 100 Mbps</a:t>
              </a:r>
              <a:endParaRPr sz="2800"/>
            </a:p>
            <a:p>
              <a:pPr marL="231775" indent="-231775">
                <a:lnSpc>
                  <a:spcPct val="90000"/>
                </a:lnSpc>
                <a:spcBef>
                  <a:spcPts val="400"/>
                </a:spcBef>
                <a:buClr>
                  <a:srgbClr val="0000A3"/>
                </a:buClr>
                <a:buSzPct val="100000"/>
                <a:buChar char="▪"/>
                <a:defRPr sz="2400"/>
              </a:pPr>
              <a:r>
                <a:t>one-hop transmission delay = 0.1 msec</a:t>
              </a:r>
            </a:p>
          </p:txBody>
        </p:sp>
      </p:grpSp>
      <p:sp>
        <p:nvSpPr>
          <p:cNvPr id="5800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35" grpId="2"/>
      <p:bldP build="whole" bldLvl="1" animBg="1" rev="0" advAuto="0" spid="5799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2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Packet-switching: queueing</a:t>
            </a:r>
          </a:p>
        </p:txBody>
      </p:sp>
      <p:grpSp>
        <p:nvGrpSpPr>
          <p:cNvPr id="5805" name="Group 105"/>
          <p:cNvGrpSpPr/>
          <p:nvPr/>
        </p:nvGrpSpPr>
        <p:grpSpPr>
          <a:xfrm>
            <a:off x="8836206" y="2201231"/>
            <a:ext cx="779463" cy="679451"/>
            <a:chOff x="0" y="0"/>
            <a:chExt cx="779462" cy="679450"/>
          </a:xfrm>
        </p:grpSpPr>
        <p:pic>
          <p:nvPicPr>
            <p:cNvPr id="5803" name="Picture 106" descr="Picture 10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804" name="Freeform 107"/>
            <p:cNvSpPr/>
            <p:nvPr/>
          </p:nvSpPr>
          <p:spPr>
            <a:xfrm flipH="1">
              <a:off x="332125" y="65177"/>
              <a:ext cx="379005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5806" name="Line 276"/>
          <p:cNvSpPr/>
          <p:nvPr/>
        </p:nvSpPr>
        <p:spPr>
          <a:xfrm>
            <a:off x="3422622" y="1813031"/>
            <a:ext cx="984460" cy="431063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07" name="Line 277"/>
          <p:cNvSpPr/>
          <p:nvPr/>
        </p:nvSpPr>
        <p:spPr>
          <a:xfrm flipV="1">
            <a:off x="3807004" y="2371932"/>
            <a:ext cx="722174" cy="476999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08" name="Line 278"/>
          <p:cNvSpPr/>
          <p:nvPr/>
        </p:nvSpPr>
        <p:spPr>
          <a:xfrm>
            <a:off x="5504043" y="2285369"/>
            <a:ext cx="2287169" cy="2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09" name="Line 279"/>
          <p:cNvSpPr/>
          <p:nvPr/>
        </p:nvSpPr>
        <p:spPr>
          <a:xfrm flipH="1" flipV="1">
            <a:off x="8165417" y="2467931"/>
            <a:ext cx="9526" cy="363539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10" name="Line 280"/>
          <p:cNvSpPr/>
          <p:nvPr/>
        </p:nvSpPr>
        <p:spPr>
          <a:xfrm flipV="1">
            <a:off x="8684793" y="1917069"/>
            <a:ext cx="604839" cy="307976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11" name="Rectangle 287"/>
          <p:cNvSpPr/>
          <p:nvPr/>
        </p:nvSpPr>
        <p:spPr>
          <a:xfrm>
            <a:off x="5702480" y="2072644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12" name="Rectangle 288"/>
          <p:cNvSpPr/>
          <p:nvPr/>
        </p:nvSpPr>
        <p:spPr>
          <a:xfrm>
            <a:off x="5864405" y="2072644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13" name="Rectangle 289"/>
          <p:cNvSpPr/>
          <p:nvPr/>
        </p:nvSpPr>
        <p:spPr>
          <a:xfrm>
            <a:off x="6026330" y="2072644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14" name="Rectangle 290"/>
          <p:cNvSpPr/>
          <p:nvPr/>
        </p:nvSpPr>
        <p:spPr>
          <a:xfrm>
            <a:off x="6188255" y="2072644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15" name="Rectangle 291"/>
          <p:cNvSpPr/>
          <p:nvPr/>
        </p:nvSpPr>
        <p:spPr>
          <a:xfrm>
            <a:off x="6350180" y="2072644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16" name="Rectangle 292"/>
          <p:cNvSpPr/>
          <p:nvPr/>
        </p:nvSpPr>
        <p:spPr>
          <a:xfrm>
            <a:off x="6721656" y="2072644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17" name="Rectangle 293"/>
          <p:cNvSpPr/>
          <p:nvPr/>
        </p:nvSpPr>
        <p:spPr>
          <a:xfrm>
            <a:off x="7263980" y="2067881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18" name="Rectangle 299"/>
          <p:cNvSpPr/>
          <p:nvPr/>
        </p:nvSpPr>
        <p:spPr>
          <a:xfrm>
            <a:off x="4062595" y="2529818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19" name="Line 302"/>
          <p:cNvSpPr/>
          <p:nvPr/>
        </p:nvSpPr>
        <p:spPr>
          <a:xfrm>
            <a:off x="6083480" y="1963106"/>
            <a:ext cx="1062039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820" name="Text Box 303"/>
          <p:cNvSpPr txBox="1"/>
          <p:nvPr/>
        </p:nvSpPr>
        <p:spPr>
          <a:xfrm>
            <a:off x="2873129" y="1545541"/>
            <a:ext cx="25110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00B050"/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821" name="Text Box 304"/>
          <p:cNvSpPr txBox="1"/>
          <p:nvPr/>
        </p:nvSpPr>
        <p:spPr>
          <a:xfrm>
            <a:off x="3179357" y="2494764"/>
            <a:ext cx="24230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000099"/>
                </a:solid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5822" name="Text Box 305"/>
          <p:cNvSpPr txBox="1"/>
          <p:nvPr/>
        </p:nvSpPr>
        <p:spPr>
          <a:xfrm>
            <a:off x="9621016" y="1479153"/>
            <a:ext cx="239574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00B050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5823" name="Text Box 308"/>
          <p:cNvSpPr txBox="1"/>
          <p:nvPr/>
        </p:nvSpPr>
        <p:spPr>
          <a:xfrm>
            <a:off x="3668250" y="1345723"/>
            <a:ext cx="147025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 sz="2000"/>
            </a:pPr>
            <a:r>
              <a:t>R</a:t>
            </a:r>
            <a:r>
              <a:rPr i="0"/>
              <a:t> = 100 Mb/s</a:t>
            </a:r>
          </a:p>
        </p:txBody>
      </p:sp>
      <p:sp>
        <p:nvSpPr>
          <p:cNvPr id="5824" name="Text Box 309"/>
          <p:cNvSpPr txBox="1"/>
          <p:nvPr/>
        </p:nvSpPr>
        <p:spPr>
          <a:xfrm>
            <a:off x="5743438" y="2382932"/>
            <a:ext cx="140564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 sz="2000"/>
            </a:pPr>
            <a:r>
              <a:t>R</a:t>
            </a:r>
            <a:r>
              <a:rPr i="0"/>
              <a:t> = 1.5 Mb/s</a:t>
            </a:r>
          </a:p>
        </p:txBody>
      </p:sp>
      <p:sp>
        <p:nvSpPr>
          <p:cNvPr id="5825" name="Line 281"/>
          <p:cNvSpPr/>
          <p:nvPr/>
        </p:nvSpPr>
        <p:spPr>
          <a:xfrm>
            <a:off x="8734606" y="3034351"/>
            <a:ext cx="984251" cy="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26" name="Line 283"/>
          <p:cNvSpPr/>
          <p:nvPr/>
        </p:nvSpPr>
        <p:spPr>
          <a:xfrm flipH="1">
            <a:off x="8244205" y="2736220"/>
            <a:ext cx="950176" cy="168377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27" name="Text Box 306"/>
          <p:cNvSpPr txBox="1"/>
          <p:nvPr/>
        </p:nvSpPr>
        <p:spPr>
          <a:xfrm>
            <a:off x="9545402" y="2250194"/>
            <a:ext cx="31337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D</a:t>
            </a:r>
          </a:p>
        </p:txBody>
      </p:sp>
      <p:sp>
        <p:nvSpPr>
          <p:cNvPr id="5828" name="Text Box 307"/>
          <p:cNvSpPr txBox="1"/>
          <p:nvPr/>
        </p:nvSpPr>
        <p:spPr>
          <a:xfrm>
            <a:off x="10371567" y="2632972"/>
            <a:ext cx="22816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0000A8"/>
                </a:solid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5829" name="Text Box 330"/>
          <p:cNvSpPr txBox="1"/>
          <p:nvPr/>
        </p:nvSpPr>
        <p:spPr>
          <a:xfrm>
            <a:off x="3914917" y="3030215"/>
            <a:ext cx="2595147" cy="844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85000"/>
              </a:lnSpc>
              <a:defRPr>
                <a:solidFill>
                  <a:srgbClr val="C00000"/>
                </a:solidFill>
              </a:defRPr>
            </a:pPr>
            <a:r>
              <a:t>queue</a:t>
            </a:r>
            <a:r>
              <a:rPr>
                <a:solidFill>
                  <a:srgbClr val="000000"/>
                </a:solidFill>
              </a:rPr>
              <a:t> of packets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5000"/>
              </a:lnSpc>
            </a:pPr>
            <a:r>
              <a:t>waiting for transmission over output link</a:t>
            </a:r>
          </a:p>
        </p:txBody>
      </p:sp>
      <p:pic>
        <p:nvPicPr>
          <p:cNvPr id="5830" name="Picture 97" descr="Picture 9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2866218" y="1537657"/>
            <a:ext cx="779464" cy="679451"/>
          </a:xfrm>
          <a:prstGeom prst="rect">
            <a:avLst/>
          </a:prstGeom>
          <a:ln w="12700">
            <a:miter lim="400000"/>
          </a:ln>
        </p:spPr>
      </p:pic>
      <p:sp>
        <p:nvSpPr>
          <p:cNvPr id="5831" name="Freeform 98"/>
          <p:cNvSpPr/>
          <p:nvPr/>
        </p:nvSpPr>
        <p:spPr>
          <a:xfrm flipH="1">
            <a:off x="3198343" y="1602835"/>
            <a:ext cx="379006" cy="311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8202" y="822"/>
                </a:lnTo>
                <a:lnTo>
                  <a:pt x="21600" y="17257"/>
                </a:lnTo>
                <a:lnTo>
                  <a:pt x="4733" y="21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2400"/>
            </a:pPr>
          </a:p>
        </p:txBody>
      </p:sp>
      <p:grpSp>
        <p:nvGrpSpPr>
          <p:cNvPr id="5834" name="Group 99"/>
          <p:cNvGrpSpPr/>
          <p:nvPr/>
        </p:nvGrpSpPr>
        <p:grpSpPr>
          <a:xfrm>
            <a:off x="3157717" y="2512381"/>
            <a:ext cx="779464" cy="679451"/>
            <a:chOff x="0" y="0"/>
            <a:chExt cx="779462" cy="679450"/>
          </a:xfrm>
        </p:grpSpPr>
        <p:pic>
          <p:nvPicPr>
            <p:cNvPr id="5832" name="Picture 100" descr="Picture 100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833" name="Freeform 101"/>
            <p:cNvSpPr/>
            <p:nvPr/>
          </p:nvSpPr>
          <p:spPr>
            <a:xfrm flipH="1">
              <a:off x="332125" y="65177"/>
              <a:ext cx="379006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5837" name="Group 102"/>
          <p:cNvGrpSpPr/>
          <p:nvPr/>
        </p:nvGrpSpPr>
        <p:grpSpPr>
          <a:xfrm>
            <a:off x="9553756" y="2572706"/>
            <a:ext cx="779463" cy="679451"/>
            <a:chOff x="0" y="0"/>
            <a:chExt cx="779462" cy="679450"/>
          </a:xfrm>
        </p:grpSpPr>
        <p:pic>
          <p:nvPicPr>
            <p:cNvPr id="5835" name="Picture 103" descr="Picture 10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836" name="Freeform 104"/>
            <p:cNvSpPr/>
            <p:nvPr/>
          </p:nvSpPr>
          <p:spPr>
            <a:xfrm flipH="1">
              <a:off x="332125" y="65177"/>
              <a:ext cx="379005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5840" name="Group 108"/>
          <p:cNvGrpSpPr/>
          <p:nvPr/>
        </p:nvGrpSpPr>
        <p:grpSpPr>
          <a:xfrm>
            <a:off x="8918756" y="1380494"/>
            <a:ext cx="779463" cy="679451"/>
            <a:chOff x="0" y="0"/>
            <a:chExt cx="779462" cy="679450"/>
          </a:xfrm>
        </p:grpSpPr>
        <p:pic>
          <p:nvPicPr>
            <p:cNvPr id="5838" name="Picture 109" descr="Picture 10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839" name="Freeform 110"/>
            <p:cNvSpPr/>
            <p:nvPr/>
          </p:nvSpPr>
          <p:spPr>
            <a:xfrm flipH="1">
              <a:off x="332125" y="65177"/>
              <a:ext cx="379005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5852" name="Group 362"/>
          <p:cNvGrpSpPr/>
          <p:nvPr/>
        </p:nvGrpSpPr>
        <p:grpSpPr>
          <a:xfrm>
            <a:off x="7595248" y="2040016"/>
            <a:ext cx="1146495" cy="507276"/>
            <a:chOff x="0" y="0"/>
            <a:chExt cx="1146493" cy="507275"/>
          </a:xfrm>
        </p:grpSpPr>
        <p:grpSp>
          <p:nvGrpSpPr>
            <p:cNvPr id="5843" name="Freeform 363"/>
            <p:cNvGrpSpPr/>
            <p:nvPr/>
          </p:nvGrpSpPr>
          <p:grpSpPr>
            <a:xfrm>
              <a:off x="0" y="174188"/>
              <a:ext cx="1146494" cy="333088"/>
              <a:chOff x="0" y="0"/>
              <a:chExt cx="1146493" cy="333087"/>
            </a:xfrm>
          </p:grpSpPr>
          <p:sp>
            <p:nvSpPr>
              <p:cNvPr id="5841" name="Shape"/>
              <p:cNvSpPr/>
              <p:nvPr/>
            </p:nvSpPr>
            <p:spPr>
              <a:xfrm>
                <a:off x="0" y="3555"/>
                <a:ext cx="1146494" cy="3259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42" name="Text"/>
              <p:cNvSpPr txBox="1"/>
              <p:nvPr/>
            </p:nvSpPr>
            <p:spPr>
              <a:xfrm>
                <a:off x="48894" y="0"/>
                <a:ext cx="104870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846" name="Oval 364"/>
            <p:cNvGrpSpPr/>
            <p:nvPr/>
          </p:nvGrpSpPr>
          <p:grpSpPr>
            <a:xfrm>
              <a:off x="659" y="-1"/>
              <a:ext cx="1145107" cy="333089"/>
              <a:chOff x="0" y="0"/>
              <a:chExt cx="1145105" cy="333087"/>
            </a:xfrm>
          </p:grpSpPr>
          <p:sp>
            <p:nvSpPr>
              <p:cNvPr id="5844" name="Oval"/>
              <p:cNvSpPr/>
              <p:nvPr/>
            </p:nvSpPr>
            <p:spPr>
              <a:xfrm>
                <a:off x="0" y="5175"/>
                <a:ext cx="1145106" cy="32273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45" name="Text"/>
              <p:cNvSpPr txBox="1"/>
              <p:nvPr/>
            </p:nvSpPr>
            <p:spPr>
              <a:xfrm>
                <a:off x="216591" y="0"/>
                <a:ext cx="71192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851" name="Group 365"/>
            <p:cNvGrpSpPr/>
            <p:nvPr/>
          </p:nvGrpSpPr>
          <p:grpSpPr>
            <a:xfrm>
              <a:off x="170034" y="46195"/>
              <a:ext cx="806211" cy="237142"/>
              <a:chOff x="0" y="0"/>
              <a:chExt cx="806210" cy="237141"/>
            </a:xfrm>
          </p:grpSpPr>
          <p:sp>
            <p:nvSpPr>
              <p:cNvPr id="5847" name="Freeform 366"/>
              <p:cNvSpPr/>
              <p:nvPr/>
            </p:nvSpPr>
            <p:spPr>
              <a:xfrm>
                <a:off x="22299" y="0"/>
                <a:ext cx="762660" cy="1327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48" name="Freeform 367"/>
              <p:cNvSpPr/>
              <p:nvPr/>
            </p:nvSpPr>
            <p:spPr>
              <a:xfrm>
                <a:off x="521463" y="113549"/>
                <a:ext cx="284748" cy="114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49" name="Freeform 368"/>
              <p:cNvSpPr/>
              <p:nvPr/>
            </p:nvSpPr>
            <p:spPr>
              <a:xfrm>
                <a:off x="-1" y="113549"/>
                <a:ext cx="279602" cy="112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50" name="Freeform 369"/>
              <p:cNvSpPr/>
              <p:nvPr/>
            </p:nvSpPr>
            <p:spPr>
              <a:xfrm>
                <a:off x="97063" y="57735"/>
                <a:ext cx="607941" cy="1794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864" name="Group 370"/>
          <p:cNvGrpSpPr/>
          <p:nvPr/>
        </p:nvGrpSpPr>
        <p:grpSpPr>
          <a:xfrm>
            <a:off x="7621178" y="2727950"/>
            <a:ext cx="1146495" cy="507276"/>
            <a:chOff x="0" y="0"/>
            <a:chExt cx="1146493" cy="507275"/>
          </a:xfrm>
        </p:grpSpPr>
        <p:grpSp>
          <p:nvGrpSpPr>
            <p:cNvPr id="5855" name="Freeform 371"/>
            <p:cNvGrpSpPr/>
            <p:nvPr/>
          </p:nvGrpSpPr>
          <p:grpSpPr>
            <a:xfrm>
              <a:off x="0" y="174188"/>
              <a:ext cx="1146494" cy="333088"/>
              <a:chOff x="0" y="0"/>
              <a:chExt cx="1146493" cy="333087"/>
            </a:xfrm>
          </p:grpSpPr>
          <p:sp>
            <p:nvSpPr>
              <p:cNvPr id="5853" name="Shape"/>
              <p:cNvSpPr/>
              <p:nvPr/>
            </p:nvSpPr>
            <p:spPr>
              <a:xfrm>
                <a:off x="0" y="3555"/>
                <a:ext cx="1146494" cy="3259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54" name="Text"/>
              <p:cNvSpPr txBox="1"/>
              <p:nvPr/>
            </p:nvSpPr>
            <p:spPr>
              <a:xfrm>
                <a:off x="48894" y="0"/>
                <a:ext cx="104870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858" name="Oval 372"/>
            <p:cNvGrpSpPr/>
            <p:nvPr/>
          </p:nvGrpSpPr>
          <p:grpSpPr>
            <a:xfrm>
              <a:off x="659" y="-1"/>
              <a:ext cx="1145107" cy="333089"/>
              <a:chOff x="0" y="0"/>
              <a:chExt cx="1145105" cy="333087"/>
            </a:xfrm>
          </p:grpSpPr>
          <p:sp>
            <p:nvSpPr>
              <p:cNvPr id="5856" name="Oval"/>
              <p:cNvSpPr/>
              <p:nvPr/>
            </p:nvSpPr>
            <p:spPr>
              <a:xfrm>
                <a:off x="0" y="5175"/>
                <a:ext cx="1145106" cy="32273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57" name="Text"/>
              <p:cNvSpPr txBox="1"/>
              <p:nvPr/>
            </p:nvSpPr>
            <p:spPr>
              <a:xfrm>
                <a:off x="216591" y="0"/>
                <a:ext cx="71192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863" name="Group 373"/>
            <p:cNvGrpSpPr/>
            <p:nvPr/>
          </p:nvGrpSpPr>
          <p:grpSpPr>
            <a:xfrm>
              <a:off x="170034" y="46195"/>
              <a:ext cx="806211" cy="237142"/>
              <a:chOff x="0" y="0"/>
              <a:chExt cx="806210" cy="237141"/>
            </a:xfrm>
          </p:grpSpPr>
          <p:sp>
            <p:nvSpPr>
              <p:cNvPr id="5859" name="Freeform 374"/>
              <p:cNvSpPr/>
              <p:nvPr/>
            </p:nvSpPr>
            <p:spPr>
              <a:xfrm>
                <a:off x="22299" y="0"/>
                <a:ext cx="762660" cy="1327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60" name="Freeform 375"/>
              <p:cNvSpPr/>
              <p:nvPr/>
            </p:nvSpPr>
            <p:spPr>
              <a:xfrm>
                <a:off x="521463" y="113549"/>
                <a:ext cx="284748" cy="114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61" name="Freeform 376"/>
              <p:cNvSpPr/>
              <p:nvPr/>
            </p:nvSpPr>
            <p:spPr>
              <a:xfrm>
                <a:off x="-1" y="113549"/>
                <a:ext cx="279602" cy="112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62" name="Freeform 377"/>
              <p:cNvSpPr/>
              <p:nvPr/>
            </p:nvSpPr>
            <p:spPr>
              <a:xfrm>
                <a:off x="97063" y="57735"/>
                <a:ext cx="607941" cy="1794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876" name="Group 378"/>
          <p:cNvGrpSpPr/>
          <p:nvPr/>
        </p:nvGrpSpPr>
        <p:grpSpPr>
          <a:xfrm>
            <a:off x="4403089" y="2018439"/>
            <a:ext cx="1146494" cy="507277"/>
            <a:chOff x="0" y="0"/>
            <a:chExt cx="1146493" cy="507275"/>
          </a:xfrm>
        </p:grpSpPr>
        <p:grpSp>
          <p:nvGrpSpPr>
            <p:cNvPr id="5867" name="Freeform 379"/>
            <p:cNvGrpSpPr/>
            <p:nvPr/>
          </p:nvGrpSpPr>
          <p:grpSpPr>
            <a:xfrm>
              <a:off x="0" y="174188"/>
              <a:ext cx="1146494" cy="333088"/>
              <a:chOff x="0" y="0"/>
              <a:chExt cx="1146493" cy="333087"/>
            </a:xfrm>
          </p:grpSpPr>
          <p:sp>
            <p:nvSpPr>
              <p:cNvPr id="5865" name="Shape"/>
              <p:cNvSpPr/>
              <p:nvPr/>
            </p:nvSpPr>
            <p:spPr>
              <a:xfrm>
                <a:off x="0" y="3555"/>
                <a:ext cx="1146494" cy="3259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66" name="Text"/>
              <p:cNvSpPr txBox="1"/>
              <p:nvPr/>
            </p:nvSpPr>
            <p:spPr>
              <a:xfrm>
                <a:off x="48894" y="0"/>
                <a:ext cx="104870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870" name="Oval 380"/>
            <p:cNvGrpSpPr/>
            <p:nvPr/>
          </p:nvGrpSpPr>
          <p:grpSpPr>
            <a:xfrm>
              <a:off x="659" y="-1"/>
              <a:ext cx="1145107" cy="333089"/>
              <a:chOff x="0" y="0"/>
              <a:chExt cx="1145105" cy="333087"/>
            </a:xfrm>
          </p:grpSpPr>
          <p:sp>
            <p:nvSpPr>
              <p:cNvPr id="5868" name="Oval"/>
              <p:cNvSpPr/>
              <p:nvPr/>
            </p:nvSpPr>
            <p:spPr>
              <a:xfrm>
                <a:off x="0" y="5175"/>
                <a:ext cx="1145106" cy="32273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69" name="Text"/>
              <p:cNvSpPr txBox="1"/>
              <p:nvPr/>
            </p:nvSpPr>
            <p:spPr>
              <a:xfrm>
                <a:off x="216591" y="0"/>
                <a:ext cx="71192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875" name="Group 381"/>
            <p:cNvGrpSpPr/>
            <p:nvPr/>
          </p:nvGrpSpPr>
          <p:grpSpPr>
            <a:xfrm>
              <a:off x="170034" y="46195"/>
              <a:ext cx="806211" cy="237142"/>
              <a:chOff x="0" y="0"/>
              <a:chExt cx="806210" cy="237141"/>
            </a:xfrm>
          </p:grpSpPr>
          <p:sp>
            <p:nvSpPr>
              <p:cNvPr id="5871" name="Freeform 382"/>
              <p:cNvSpPr/>
              <p:nvPr/>
            </p:nvSpPr>
            <p:spPr>
              <a:xfrm>
                <a:off x="22299" y="0"/>
                <a:ext cx="762660" cy="1327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72" name="Freeform 383"/>
              <p:cNvSpPr/>
              <p:nvPr/>
            </p:nvSpPr>
            <p:spPr>
              <a:xfrm>
                <a:off x="521463" y="113549"/>
                <a:ext cx="284748" cy="114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73" name="Freeform 384"/>
              <p:cNvSpPr/>
              <p:nvPr/>
            </p:nvSpPr>
            <p:spPr>
              <a:xfrm>
                <a:off x="-1" y="113549"/>
                <a:ext cx="279602" cy="112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874" name="Freeform 385"/>
              <p:cNvSpPr/>
              <p:nvPr/>
            </p:nvSpPr>
            <p:spPr>
              <a:xfrm>
                <a:off x="97063" y="57735"/>
                <a:ext cx="607941" cy="1794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881" name="Group 311"/>
          <p:cNvGrpSpPr/>
          <p:nvPr/>
        </p:nvGrpSpPr>
        <p:grpSpPr>
          <a:xfrm>
            <a:off x="4857930" y="2148844"/>
            <a:ext cx="633413" cy="200026"/>
            <a:chOff x="0" y="0"/>
            <a:chExt cx="633411" cy="200025"/>
          </a:xfrm>
        </p:grpSpPr>
        <p:sp>
          <p:nvSpPr>
            <p:cNvPr id="5877" name="Rectangle 294"/>
            <p:cNvSpPr/>
            <p:nvPr/>
          </p:nvSpPr>
          <p:spPr>
            <a:xfrm>
              <a:off x="-1" y="0"/>
              <a:ext cx="147639" cy="200025"/>
            </a:xfrm>
            <a:prstGeom prst="rect">
              <a:avLst/>
            </a:prstGeom>
            <a:solidFill>
              <a:srgbClr val="00CC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5878" name="Rectangle 295"/>
            <p:cNvSpPr/>
            <p:nvPr/>
          </p:nvSpPr>
          <p:spPr>
            <a:xfrm>
              <a:off x="161924" y="0"/>
              <a:ext cx="147638" cy="200025"/>
            </a:xfrm>
            <a:prstGeom prst="rect">
              <a:avLst/>
            </a:prstGeom>
            <a:solidFill>
              <a:srgbClr val="3333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5879" name="Rectangle 296"/>
            <p:cNvSpPr/>
            <p:nvPr/>
          </p:nvSpPr>
          <p:spPr>
            <a:xfrm>
              <a:off x="323849" y="0"/>
              <a:ext cx="147638" cy="200025"/>
            </a:xfrm>
            <a:prstGeom prst="rect">
              <a:avLst/>
            </a:prstGeom>
            <a:solidFill>
              <a:srgbClr val="00CC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5880" name="Rectangle 297"/>
            <p:cNvSpPr/>
            <p:nvPr/>
          </p:nvSpPr>
          <p:spPr>
            <a:xfrm>
              <a:off x="485774" y="0"/>
              <a:ext cx="147638" cy="200025"/>
            </a:xfrm>
            <a:prstGeom prst="rect">
              <a:avLst/>
            </a:prstGeom>
            <a:solidFill>
              <a:srgbClr val="00CC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5882" name="Rectangle 298"/>
          <p:cNvSpPr/>
          <p:nvPr/>
        </p:nvSpPr>
        <p:spPr>
          <a:xfrm>
            <a:off x="3841031" y="1971157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883" name="Line 300"/>
          <p:cNvSpPr/>
          <p:nvPr/>
        </p:nvSpPr>
        <p:spPr>
          <a:xfrm>
            <a:off x="4022857" y="2133026"/>
            <a:ext cx="227110" cy="114188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884" name="Line 301"/>
          <p:cNvSpPr/>
          <p:nvPr/>
        </p:nvSpPr>
        <p:spPr>
          <a:xfrm flipV="1">
            <a:off x="4236079" y="2486551"/>
            <a:ext cx="248237" cy="155732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885" name="Line 332"/>
          <p:cNvSpPr/>
          <p:nvPr/>
        </p:nvSpPr>
        <p:spPr>
          <a:xfrm flipV="1">
            <a:off x="5112260" y="2401254"/>
            <a:ext cx="17134" cy="641958"/>
          </a:xfrm>
          <a:prstGeom prst="line">
            <a:avLst/>
          </a:prstGeom>
          <a:ln>
            <a:solidFill>
              <a:srgbClr val="C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86" name="Line 332"/>
          <p:cNvSpPr/>
          <p:nvPr/>
        </p:nvSpPr>
        <p:spPr>
          <a:xfrm flipV="1">
            <a:off x="3757081" y="1665192"/>
            <a:ext cx="1" cy="22109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87" name="Line 332"/>
          <p:cNvSpPr/>
          <p:nvPr/>
        </p:nvSpPr>
        <p:spPr>
          <a:xfrm flipV="1">
            <a:off x="5851388" y="2346351"/>
            <a:ext cx="1" cy="12031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892" name="Group 9"/>
          <p:cNvGrpSpPr/>
          <p:nvPr/>
        </p:nvGrpSpPr>
        <p:grpSpPr>
          <a:xfrm>
            <a:off x="913625" y="3874034"/>
            <a:ext cx="9594737" cy="2270092"/>
            <a:chOff x="0" y="0"/>
            <a:chExt cx="9594736" cy="2270091"/>
          </a:xfrm>
        </p:grpSpPr>
        <p:pic>
          <p:nvPicPr>
            <p:cNvPr id="5888" name="Picture 5" descr="Picture 5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28595" y="790658"/>
              <a:ext cx="2211635" cy="14562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889" name="TextBox 6"/>
            <p:cNvSpPr txBox="1"/>
            <p:nvPr/>
          </p:nvSpPr>
          <p:spPr>
            <a:xfrm>
              <a:off x="0" y="0"/>
              <a:ext cx="959473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2800">
                  <a:solidFill>
                    <a:srgbClr val="C00000"/>
                  </a:solidFill>
                </a:defRPr>
              </a:pPr>
              <a:r>
                <a:t>Queueing</a:t>
              </a:r>
              <a:r>
                <a:rPr>
                  <a:solidFill>
                    <a:srgbClr val="000000"/>
                  </a:solidFill>
                </a:rPr>
                <a:t> occurs when work arrives faster than it can be serviced:</a:t>
              </a:r>
            </a:p>
          </p:txBody>
        </p:sp>
        <p:pic>
          <p:nvPicPr>
            <p:cNvPr id="5890" name="Picture 7" descr="Picture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573815" y="789502"/>
              <a:ext cx="2575768" cy="14805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891" name="Picture 8" descr="Picture 8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6791479" y="805148"/>
              <a:ext cx="2241535" cy="14489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893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89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5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Packet-switching: queueing</a:t>
            </a:r>
          </a:p>
        </p:txBody>
      </p:sp>
      <p:grpSp>
        <p:nvGrpSpPr>
          <p:cNvPr id="5898" name="Group 105"/>
          <p:cNvGrpSpPr/>
          <p:nvPr/>
        </p:nvGrpSpPr>
        <p:grpSpPr>
          <a:xfrm>
            <a:off x="8836206" y="2201231"/>
            <a:ext cx="779463" cy="679451"/>
            <a:chOff x="0" y="0"/>
            <a:chExt cx="779462" cy="679450"/>
          </a:xfrm>
        </p:grpSpPr>
        <p:pic>
          <p:nvPicPr>
            <p:cNvPr id="5896" name="Picture 106" descr="Picture 10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897" name="Freeform 107"/>
            <p:cNvSpPr/>
            <p:nvPr/>
          </p:nvSpPr>
          <p:spPr>
            <a:xfrm flipH="1">
              <a:off x="332125" y="65177"/>
              <a:ext cx="379005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5899" name="Line 276"/>
          <p:cNvSpPr/>
          <p:nvPr/>
        </p:nvSpPr>
        <p:spPr>
          <a:xfrm>
            <a:off x="3422622" y="1813031"/>
            <a:ext cx="984460" cy="431063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00" name="Line 277"/>
          <p:cNvSpPr/>
          <p:nvPr/>
        </p:nvSpPr>
        <p:spPr>
          <a:xfrm flipV="1">
            <a:off x="3807004" y="2371932"/>
            <a:ext cx="722174" cy="476999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01" name="Line 278"/>
          <p:cNvSpPr/>
          <p:nvPr/>
        </p:nvSpPr>
        <p:spPr>
          <a:xfrm>
            <a:off x="5504043" y="2285369"/>
            <a:ext cx="2287169" cy="2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02" name="Line 279"/>
          <p:cNvSpPr/>
          <p:nvPr/>
        </p:nvSpPr>
        <p:spPr>
          <a:xfrm flipH="1" flipV="1">
            <a:off x="8165417" y="2467931"/>
            <a:ext cx="9526" cy="363539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03" name="Line 280"/>
          <p:cNvSpPr/>
          <p:nvPr/>
        </p:nvSpPr>
        <p:spPr>
          <a:xfrm flipV="1">
            <a:off x="8684793" y="1917069"/>
            <a:ext cx="604839" cy="307976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04" name="Rectangle 287"/>
          <p:cNvSpPr/>
          <p:nvPr/>
        </p:nvSpPr>
        <p:spPr>
          <a:xfrm>
            <a:off x="5702480" y="2072644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05" name="Rectangle 288"/>
          <p:cNvSpPr/>
          <p:nvPr/>
        </p:nvSpPr>
        <p:spPr>
          <a:xfrm>
            <a:off x="5864405" y="2072644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06" name="Rectangle 289"/>
          <p:cNvSpPr/>
          <p:nvPr/>
        </p:nvSpPr>
        <p:spPr>
          <a:xfrm>
            <a:off x="6026330" y="2072644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07" name="Rectangle 290"/>
          <p:cNvSpPr/>
          <p:nvPr/>
        </p:nvSpPr>
        <p:spPr>
          <a:xfrm>
            <a:off x="6188255" y="2072644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08" name="Rectangle 291"/>
          <p:cNvSpPr/>
          <p:nvPr/>
        </p:nvSpPr>
        <p:spPr>
          <a:xfrm>
            <a:off x="6350180" y="2072644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09" name="Rectangle 292"/>
          <p:cNvSpPr/>
          <p:nvPr/>
        </p:nvSpPr>
        <p:spPr>
          <a:xfrm>
            <a:off x="6721656" y="2072644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10" name="Rectangle 293"/>
          <p:cNvSpPr/>
          <p:nvPr/>
        </p:nvSpPr>
        <p:spPr>
          <a:xfrm>
            <a:off x="7263980" y="2067881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11" name="Rectangle 299"/>
          <p:cNvSpPr/>
          <p:nvPr/>
        </p:nvSpPr>
        <p:spPr>
          <a:xfrm>
            <a:off x="4062595" y="2529818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12" name="Line 302"/>
          <p:cNvSpPr/>
          <p:nvPr/>
        </p:nvSpPr>
        <p:spPr>
          <a:xfrm>
            <a:off x="6083480" y="1963106"/>
            <a:ext cx="1062039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913" name="Text Box 303"/>
          <p:cNvSpPr txBox="1"/>
          <p:nvPr/>
        </p:nvSpPr>
        <p:spPr>
          <a:xfrm>
            <a:off x="2873129" y="1545541"/>
            <a:ext cx="25110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00B050"/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914" name="Text Box 304"/>
          <p:cNvSpPr txBox="1"/>
          <p:nvPr/>
        </p:nvSpPr>
        <p:spPr>
          <a:xfrm>
            <a:off x="3179357" y="2494764"/>
            <a:ext cx="24230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000099"/>
                </a:solid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5915" name="Text Box 305"/>
          <p:cNvSpPr txBox="1"/>
          <p:nvPr/>
        </p:nvSpPr>
        <p:spPr>
          <a:xfrm>
            <a:off x="9621016" y="1479153"/>
            <a:ext cx="239574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00B050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5916" name="Text Box 308"/>
          <p:cNvSpPr txBox="1"/>
          <p:nvPr/>
        </p:nvSpPr>
        <p:spPr>
          <a:xfrm>
            <a:off x="3668250" y="1345723"/>
            <a:ext cx="147025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 sz="2000"/>
            </a:pPr>
            <a:r>
              <a:t>R</a:t>
            </a:r>
            <a:r>
              <a:rPr i="0"/>
              <a:t> = 100 Mb/s</a:t>
            </a:r>
          </a:p>
        </p:txBody>
      </p:sp>
      <p:sp>
        <p:nvSpPr>
          <p:cNvPr id="5917" name="Text Box 309"/>
          <p:cNvSpPr txBox="1"/>
          <p:nvPr/>
        </p:nvSpPr>
        <p:spPr>
          <a:xfrm>
            <a:off x="5743438" y="2382932"/>
            <a:ext cx="140564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i="1" sz="2000"/>
            </a:pPr>
            <a:r>
              <a:t>R</a:t>
            </a:r>
            <a:r>
              <a:rPr i="0"/>
              <a:t> = 1.5 Mb/s</a:t>
            </a:r>
          </a:p>
        </p:txBody>
      </p:sp>
      <p:sp>
        <p:nvSpPr>
          <p:cNvPr id="5918" name="Line 281"/>
          <p:cNvSpPr/>
          <p:nvPr/>
        </p:nvSpPr>
        <p:spPr>
          <a:xfrm>
            <a:off x="8734606" y="3034351"/>
            <a:ext cx="984251" cy="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19" name="Line 283"/>
          <p:cNvSpPr/>
          <p:nvPr/>
        </p:nvSpPr>
        <p:spPr>
          <a:xfrm flipH="1">
            <a:off x="8244205" y="2736220"/>
            <a:ext cx="950176" cy="168377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20" name="Text Box 306"/>
          <p:cNvSpPr txBox="1"/>
          <p:nvPr/>
        </p:nvSpPr>
        <p:spPr>
          <a:xfrm>
            <a:off x="9545402" y="2250194"/>
            <a:ext cx="31337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D</a:t>
            </a:r>
          </a:p>
        </p:txBody>
      </p:sp>
      <p:sp>
        <p:nvSpPr>
          <p:cNvPr id="5921" name="Text Box 307"/>
          <p:cNvSpPr txBox="1"/>
          <p:nvPr/>
        </p:nvSpPr>
        <p:spPr>
          <a:xfrm>
            <a:off x="10371567" y="2632972"/>
            <a:ext cx="22816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0000A8"/>
                </a:solid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5922" name="Text Box 330"/>
          <p:cNvSpPr txBox="1"/>
          <p:nvPr/>
        </p:nvSpPr>
        <p:spPr>
          <a:xfrm>
            <a:off x="3914917" y="3030215"/>
            <a:ext cx="2595147" cy="844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85000"/>
              </a:lnSpc>
              <a:defRPr>
                <a:solidFill>
                  <a:srgbClr val="C00000"/>
                </a:solidFill>
              </a:defRPr>
            </a:pPr>
            <a:r>
              <a:t>queue</a:t>
            </a:r>
            <a:r>
              <a:rPr>
                <a:solidFill>
                  <a:srgbClr val="000000"/>
                </a:solidFill>
              </a:rPr>
              <a:t> of packets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5000"/>
              </a:lnSpc>
            </a:pPr>
            <a:r>
              <a:t>waiting for transmission over output link</a:t>
            </a:r>
          </a:p>
        </p:txBody>
      </p:sp>
      <p:pic>
        <p:nvPicPr>
          <p:cNvPr id="5923" name="Picture 97" descr="Picture 9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2866218" y="1537657"/>
            <a:ext cx="779464" cy="679451"/>
          </a:xfrm>
          <a:prstGeom prst="rect">
            <a:avLst/>
          </a:prstGeom>
          <a:ln w="12700">
            <a:miter lim="400000"/>
          </a:ln>
        </p:spPr>
      </p:pic>
      <p:sp>
        <p:nvSpPr>
          <p:cNvPr id="5924" name="Freeform 98"/>
          <p:cNvSpPr/>
          <p:nvPr/>
        </p:nvSpPr>
        <p:spPr>
          <a:xfrm flipH="1">
            <a:off x="3198343" y="1602835"/>
            <a:ext cx="379006" cy="311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8202" y="822"/>
                </a:lnTo>
                <a:lnTo>
                  <a:pt x="21600" y="17257"/>
                </a:lnTo>
                <a:lnTo>
                  <a:pt x="4733" y="21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2400"/>
            </a:pPr>
          </a:p>
        </p:txBody>
      </p:sp>
      <p:grpSp>
        <p:nvGrpSpPr>
          <p:cNvPr id="5927" name="Group 99"/>
          <p:cNvGrpSpPr/>
          <p:nvPr/>
        </p:nvGrpSpPr>
        <p:grpSpPr>
          <a:xfrm>
            <a:off x="3157717" y="2512381"/>
            <a:ext cx="779464" cy="679451"/>
            <a:chOff x="0" y="0"/>
            <a:chExt cx="779462" cy="679450"/>
          </a:xfrm>
        </p:grpSpPr>
        <p:pic>
          <p:nvPicPr>
            <p:cNvPr id="5925" name="Picture 100" descr="Picture 100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926" name="Freeform 101"/>
            <p:cNvSpPr/>
            <p:nvPr/>
          </p:nvSpPr>
          <p:spPr>
            <a:xfrm flipH="1">
              <a:off x="332125" y="65177"/>
              <a:ext cx="379006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5930" name="Group 102"/>
          <p:cNvGrpSpPr/>
          <p:nvPr/>
        </p:nvGrpSpPr>
        <p:grpSpPr>
          <a:xfrm>
            <a:off x="9553756" y="2572706"/>
            <a:ext cx="779463" cy="679451"/>
            <a:chOff x="0" y="0"/>
            <a:chExt cx="779462" cy="679450"/>
          </a:xfrm>
        </p:grpSpPr>
        <p:pic>
          <p:nvPicPr>
            <p:cNvPr id="5928" name="Picture 103" descr="Picture 10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929" name="Freeform 104"/>
            <p:cNvSpPr/>
            <p:nvPr/>
          </p:nvSpPr>
          <p:spPr>
            <a:xfrm flipH="1">
              <a:off x="332125" y="65177"/>
              <a:ext cx="379005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5933" name="Group 108"/>
          <p:cNvGrpSpPr/>
          <p:nvPr/>
        </p:nvGrpSpPr>
        <p:grpSpPr>
          <a:xfrm>
            <a:off x="8918756" y="1380494"/>
            <a:ext cx="779463" cy="679451"/>
            <a:chOff x="0" y="0"/>
            <a:chExt cx="779462" cy="679450"/>
          </a:xfrm>
        </p:grpSpPr>
        <p:pic>
          <p:nvPicPr>
            <p:cNvPr id="5931" name="Picture 109" descr="Picture 10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932" name="Freeform 110"/>
            <p:cNvSpPr/>
            <p:nvPr/>
          </p:nvSpPr>
          <p:spPr>
            <a:xfrm flipH="1">
              <a:off x="332125" y="65177"/>
              <a:ext cx="379005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5945" name="Group 362"/>
          <p:cNvGrpSpPr/>
          <p:nvPr/>
        </p:nvGrpSpPr>
        <p:grpSpPr>
          <a:xfrm>
            <a:off x="7595248" y="2040016"/>
            <a:ext cx="1146495" cy="507276"/>
            <a:chOff x="0" y="0"/>
            <a:chExt cx="1146493" cy="507275"/>
          </a:xfrm>
        </p:grpSpPr>
        <p:grpSp>
          <p:nvGrpSpPr>
            <p:cNvPr id="5936" name="Freeform 363"/>
            <p:cNvGrpSpPr/>
            <p:nvPr/>
          </p:nvGrpSpPr>
          <p:grpSpPr>
            <a:xfrm>
              <a:off x="0" y="174188"/>
              <a:ext cx="1146494" cy="333088"/>
              <a:chOff x="0" y="0"/>
              <a:chExt cx="1146493" cy="333087"/>
            </a:xfrm>
          </p:grpSpPr>
          <p:sp>
            <p:nvSpPr>
              <p:cNvPr id="5934" name="Shape"/>
              <p:cNvSpPr/>
              <p:nvPr/>
            </p:nvSpPr>
            <p:spPr>
              <a:xfrm>
                <a:off x="0" y="3555"/>
                <a:ext cx="1146494" cy="3259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35" name="Text"/>
              <p:cNvSpPr txBox="1"/>
              <p:nvPr/>
            </p:nvSpPr>
            <p:spPr>
              <a:xfrm>
                <a:off x="48894" y="0"/>
                <a:ext cx="104870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939" name="Oval 364"/>
            <p:cNvGrpSpPr/>
            <p:nvPr/>
          </p:nvGrpSpPr>
          <p:grpSpPr>
            <a:xfrm>
              <a:off x="659" y="-1"/>
              <a:ext cx="1145107" cy="333089"/>
              <a:chOff x="0" y="0"/>
              <a:chExt cx="1145105" cy="333087"/>
            </a:xfrm>
          </p:grpSpPr>
          <p:sp>
            <p:nvSpPr>
              <p:cNvPr id="5937" name="Oval"/>
              <p:cNvSpPr/>
              <p:nvPr/>
            </p:nvSpPr>
            <p:spPr>
              <a:xfrm>
                <a:off x="0" y="5175"/>
                <a:ext cx="1145106" cy="32273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38" name="Text"/>
              <p:cNvSpPr txBox="1"/>
              <p:nvPr/>
            </p:nvSpPr>
            <p:spPr>
              <a:xfrm>
                <a:off x="216591" y="0"/>
                <a:ext cx="71192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944" name="Group 365"/>
            <p:cNvGrpSpPr/>
            <p:nvPr/>
          </p:nvGrpSpPr>
          <p:grpSpPr>
            <a:xfrm>
              <a:off x="170034" y="46195"/>
              <a:ext cx="806211" cy="237142"/>
              <a:chOff x="0" y="0"/>
              <a:chExt cx="806210" cy="237141"/>
            </a:xfrm>
          </p:grpSpPr>
          <p:sp>
            <p:nvSpPr>
              <p:cNvPr id="5940" name="Freeform 366"/>
              <p:cNvSpPr/>
              <p:nvPr/>
            </p:nvSpPr>
            <p:spPr>
              <a:xfrm>
                <a:off x="22299" y="0"/>
                <a:ext cx="762660" cy="1327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41" name="Freeform 367"/>
              <p:cNvSpPr/>
              <p:nvPr/>
            </p:nvSpPr>
            <p:spPr>
              <a:xfrm>
                <a:off x="521463" y="113549"/>
                <a:ext cx="284748" cy="114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42" name="Freeform 368"/>
              <p:cNvSpPr/>
              <p:nvPr/>
            </p:nvSpPr>
            <p:spPr>
              <a:xfrm>
                <a:off x="-1" y="113549"/>
                <a:ext cx="279602" cy="112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43" name="Freeform 369"/>
              <p:cNvSpPr/>
              <p:nvPr/>
            </p:nvSpPr>
            <p:spPr>
              <a:xfrm>
                <a:off x="97063" y="57735"/>
                <a:ext cx="607941" cy="1794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957" name="Group 370"/>
          <p:cNvGrpSpPr/>
          <p:nvPr/>
        </p:nvGrpSpPr>
        <p:grpSpPr>
          <a:xfrm>
            <a:off x="7621178" y="2727950"/>
            <a:ext cx="1146495" cy="507276"/>
            <a:chOff x="0" y="0"/>
            <a:chExt cx="1146493" cy="507275"/>
          </a:xfrm>
        </p:grpSpPr>
        <p:grpSp>
          <p:nvGrpSpPr>
            <p:cNvPr id="5948" name="Freeform 371"/>
            <p:cNvGrpSpPr/>
            <p:nvPr/>
          </p:nvGrpSpPr>
          <p:grpSpPr>
            <a:xfrm>
              <a:off x="0" y="174188"/>
              <a:ext cx="1146494" cy="333088"/>
              <a:chOff x="0" y="0"/>
              <a:chExt cx="1146493" cy="333087"/>
            </a:xfrm>
          </p:grpSpPr>
          <p:sp>
            <p:nvSpPr>
              <p:cNvPr id="5946" name="Shape"/>
              <p:cNvSpPr/>
              <p:nvPr/>
            </p:nvSpPr>
            <p:spPr>
              <a:xfrm>
                <a:off x="0" y="3555"/>
                <a:ext cx="1146494" cy="3259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47" name="Text"/>
              <p:cNvSpPr txBox="1"/>
              <p:nvPr/>
            </p:nvSpPr>
            <p:spPr>
              <a:xfrm>
                <a:off x="48894" y="0"/>
                <a:ext cx="104870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951" name="Oval 372"/>
            <p:cNvGrpSpPr/>
            <p:nvPr/>
          </p:nvGrpSpPr>
          <p:grpSpPr>
            <a:xfrm>
              <a:off x="659" y="-1"/>
              <a:ext cx="1145107" cy="333089"/>
              <a:chOff x="0" y="0"/>
              <a:chExt cx="1145105" cy="333087"/>
            </a:xfrm>
          </p:grpSpPr>
          <p:sp>
            <p:nvSpPr>
              <p:cNvPr id="5949" name="Oval"/>
              <p:cNvSpPr/>
              <p:nvPr/>
            </p:nvSpPr>
            <p:spPr>
              <a:xfrm>
                <a:off x="0" y="5175"/>
                <a:ext cx="1145106" cy="32273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50" name="Text"/>
              <p:cNvSpPr txBox="1"/>
              <p:nvPr/>
            </p:nvSpPr>
            <p:spPr>
              <a:xfrm>
                <a:off x="216591" y="0"/>
                <a:ext cx="71192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956" name="Group 373"/>
            <p:cNvGrpSpPr/>
            <p:nvPr/>
          </p:nvGrpSpPr>
          <p:grpSpPr>
            <a:xfrm>
              <a:off x="170034" y="46195"/>
              <a:ext cx="806211" cy="237142"/>
              <a:chOff x="0" y="0"/>
              <a:chExt cx="806210" cy="237141"/>
            </a:xfrm>
          </p:grpSpPr>
          <p:sp>
            <p:nvSpPr>
              <p:cNvPr id="5952" name="Freeform 374"/>
              <p:cNvSpPr/>
              <p:nvPr/>
            </p:nvSpPr>
            <p:spPr>
              <a:xfrm>
                <a:off x="22299" y="0"/>
                <a:ext cx="762660" cy="1327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53" name="Freeform 375"/>
              <p:cNvSpPr/>
              <p:nvPr/>
            </p:nvSpPr>
            <p:spPr>
              <a:xfrm>
                <a:off x="521463" y="113549"/>
                <a:ext cx="284748" cy="114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54" name="Freeform 376"/>
              <p:cNvSpPr/>
              <p:nvPr/>
            </p:nvSpPr>
            <p:spPr>
              <a:xfrm>
                <a:off x="-1" y="113549"/>
                <a:ext cx="279602" cy="112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55" name="Freeform 377"/>
              <p:cNvSpPr/>
              <p:nvPr/>
            </p:nvSpPr>
            <p:spPr>
              <a:xfrm>
                <a:off x="97063" y="57735"/>
                <a:ext cx="607941" cy="1794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969" name="Group 378"/>
          <p:cNvGrpSpPr/>
          <p:nvPr/>
        </p:nvGrpSpPr>
        <p:grpSpPr>
          <a:xfrm>
            <a:off x="4403089" y="2018439"/>
            <a:ext cx="1146494" cy="507277"/>
            <a:chOff x="0" y="0"/>
            <a:chExt cx="1146493" cy="507275"/>
          </a:xfrm>
        </p:grpSpPr>
        <p:grpSp>
          <p:nvGrpSpPr>
            <p:cNvPr id="5960" name="Freeform 379"/>
            <p:cNvGrpSpPr/>
            <p:nvPr/>
          </p:nvGrpSpPr>
          <p:grpSpPr>
            <a:xfrm>
              <a:off x="0" y="174188"/>
              <a:ext cx="1146494" cy="333088"/>
              <a:chOff x="0" y="0"/>
              <a:chExt cx="1146493" cy="333087"/>
            </a:xfrm>
          </p:grpSpPr>
          <p:sp>
            <p:nvSpPr>
              <p:cNvPr id="5958" name="Shape"/>
              <p:cNvSpPr/>
              <p:nvPr/>
            </p:nvSpPr>
            <p:spPr>
              <a:xfrm>
                <a:off x="0" y="3555"/>
                <a:ext cx="1146494" cy="3259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59" name="Text"/>
              <p:cNvSpPr txBox="1"/>
              <p:nvPr/>
            </p:nvSpPr>
            <p:spPr>
              <a:xfrm>
                <a:off x="48894" y="0"/>
                <a:ext cx="104870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5963" name="Oval 380"/>
            <p:cNvGrpSpPr/>
            <p:nvPr/>
          </p:nvGrpSpPr>
          <p:grpSpPr>
            <a:xfrm>
              <a:off x="659" y="-1"/>
              <a:ext cx="1145107" cy="333089"/>
              <a:chOff x="0" y="0"/>
              <a:chExt cx="1145105" cy="333087"/>
            </a:xfrm>
          </p:grpSpPr>
          <p:sp>
            <p:nvSpPr>
              <p:cNvPr id="5961" name="Oval"/>
              <p:cNvSpPr/>
              <p:nvPr/>
            </p:nvSpPr>
            <p:spPr>
              <a:xfrm>
                <a:off x="0" y="5175"/>
                <a:ext cx="1145106" cy="32273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62" name="Text"/>
              <p:cNvSpPr txBox="1"/>
              <p:nvPr/>
            </p:nvSpPr>
            <p:spPr>
              <a:xfrm>
                <a:off x="216591" y="0"/>
                <a:ext cx="711922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5968" name="Group 381"/>
            <p:cNvGrpSpPr/>
            <p:nvPr/>
          </p:nvGrpSpPr>
          <p:grpSpPr>
            <a:xfrm>
              <a:off x="170034" y="46195"/>
              <a:ext cx="806211" cy="237142"/>
              <a:chOff x="0" y="0"/>
              <a:chExt cx="806210" cy="237141"/>
            </a:xfrm>
          </p:grpSpPr>
          <p:sp>
            <p:nvSpPr>
              <p:cNvPr id="5964" name="Freeform 382"/>
              <p:cNvSpPr/>
              <p:nvPr/>
            </p:nvSpPr>
            <p:spPr>
              <a:xfrm>
                <a:off x="22299" y="0"/>
                <a:ext cx="762660" cy="1327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65" name="Freeform 383"/>
              <p:cNvSpPr/>
              <p:nvPr/>
            </p:nvSpPr>
            <p:spPr>
              <a:xfrm>
                <a:off x="521463" y="113549"/>
                <a:ext cx="284748" cy="114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66" name="Freeform 384"/>
              <p:cNvSpPr/>
              <p:nvPr/>
            </p:nvSpPr>
            <p:spPr>
              <a:xfrm>
                <a:off x="-1" y="113549"/>
                <a:ext cx="279602" cy="112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67" name="Freeform 385"/>
              <p:cNvSpPr/>
              <p:nvPr/>
            </p:nvSpPr>
            <p:spPr>
              <a:xfrm>
                <a:off x="97063" y="57735"/>
                <a:ext cx="607941" cy="1794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5974" name="Group 311"/>
          <p:cNvGrpSpPr/>
          <p:nvPr/>
        </p:nvGrpSpPr>
        <p:grpSpPr>
          <a:xfrm>
            <a:off x="4857930" y="2148844"/>
            <a:ext cx="633413" cy="200026"/>
            <a:chOff x="0" y="0"/>
            <a:chExt cx="633411" cy="200025"/>
          </a:xfrm>
        </p:grpSpPr>
        <p:sp>
          <p:nvSpPr>
            <p:cNvPr id="5970" name="Rectangle 294"/>
            <p:cNvSpPr/>
            <p:nvPr/>
          </p:nvSpPr>
          <p:spPr>
            <a:xfrm>
              <a:off x="-1" y="0"/>
              <a:ext cx="147639" cy="200025"/>
            </a:xfrm>
            <a:prstGeom prst="rect">
              <a:avLst/>
            </a:prstGeom>
            <a:solidFill>
              <a:srgbClr val="00CC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5971" name="Rectangle 295"/>
            <p:cNvSpPr/>
            <p:nvPr/>
          </p:nvSpPr>
          <p:spPr>
            <a:xfrm>
              <a:off x="161924" y="0"/>
              <a:ext cx="147638" cy="200025"/>
            </a:xfrm>
            <a:prstGeom prst="rect">
              <a:avLst/>
            </a:prstGeom>
            <a:solidFill>
              <a:srgbClr val="3333CC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5972" name="Rectangle 296"/>
            <p:cNvSpPr/>
            <p:nvPr/>
          </p:nvSpPr>
          <p:spPr>
            <a:xfrm>
              <a:off x="323849" y="0"/>
              <a:ext cx="147638" cy="200025"/>
            </a:xfrm>
            <a:prstGeom prst="rect">
              <a:avLst/>
            </a:prstGeom>
            <a:solidFill>
              <a:srgbClr val="00CC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5973" name="Rectangle 297"/>
            <p:cNvSpPr/>
            <p:nvPr/>
          </p:nvSpPr>
          <p:spPr>
            <a:xfrm>
              <a:off x="485774" y="0"/>
              <a:ext cx="147638" cy="200025"/>
            </a:xfrm>
            <a:prstGeom prst="rect">
              <a:avLst/>
            </a:prstGeom>
            <a:solidFill>
              <a:srgbClr val="00CC9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5975" name="Rectangle 298"/>
          <p:cNvSpPr/>
          <p:nvPr/>
        </p:nvSpPr>
        <p:spPr>
          <a:xfrm>
            <a:off x="3841031" y="1971157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5976" name="Line 300"/>
          <p:cNvSpPr/>
          <p:nvPr/>
        </p:nvSpPr>
        <p:spPr>
          <a:xfrm>
            <a:off x="4022857" y="2133026"/>
            <a:ext cx="227110" cy="114188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977" name="Line 301"/>
          <p:cNvSpPr/>
          <p:nvPr/>
        </p:nvSpPr>
        <p:spPr>
          <a:xfrm flipV="1">
            <a:off x="4236079" y="2486551"/>
            <a:ext cx="248237" cy="155732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978" name="Line 332"/>
          <p:cNvSpPr/>
          <p:nvPr/>
        </p:nvSpPr>
        <p:spPr>
          <a:xfrm flipV="1">
            <a:off x="5112260" y="2401254"/>
            <a:ext cx="17134" cy="641958"/>
          </a:xfrm>
          <a:prstGeom prst="line">
            <a:avLst/>
          </a:prstGeom>
          <a:ln>
            <a:solidFill>
              <a:srgbClr val="C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79" name="Line 332"/>
          <p:cNvSpPr/>
          <p:nvPr/>
        </p:nvSpPr>
        <p:spPr>
          <a:xfrm flipV="1">
            <a:off x="3757081" y="1665192"/>
            <a:ext cx="1" cy="22109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80" name="Line 332"/>
          <p:cNvSpPr/>
          <p:nvPr/>
        </p:nvSpPr>
        <p:spPr>
          <a:xfrm flipV="1">
            <a:off x="5851388" y="2346351"/>
            <a:ext cx="1" cy="12031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81" name="Content Placeholder 2"/>
          <p:cNvSpPr txBox="1"/>
          <p:nvPr>
            <p:ph type="body" sz="half" idx="1"/>
          </p:nvPr>
        </p:nvSpPr>
        <p:spPr>
          <a:xfrm>
            <a:off x="1353612" y="4213228"/>
            <a:ext cx="10347609" cy="223406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"/>
              <a:buNone/>
              <a:defRPr i="1" sz="3200">
                <a:solidFill>
                  <a:srgbClr val="C00000"/>
                </a:solidFill>
              </a:defRPr>
            </a:pPr>
            <a:r>
              <a:t>Packet queuing and loss: </a:t>
            </a:r>
            <a:r>
              <a:rPr i="0">
                <a:solidFill>
                  <a:srgbClr val="000000"/>
                </a:solidFill>
              </a:rPr>
              <a:t>i</a:t>
            </a:r>
            <a:r>
              <a:rPr i="0" sz="2800">
                <a:solidFill>
                  <a:srgbClr val="000000"/>
                </a:solidFill>
              </a:rPr>
              <a:t>f arrival rate (in bps) to link exceeds transmission rate (bps) of link for some period of time:</a:t>
            </a:r>
            <a:endParaRPr i="0" sz="2800">
              <a:solidFill>
                <a:srgbClr val="000000"/>
              </a:solidFill>
            </a:endParaRPr>
          </a:p>
          <a:p>
            <a:pPr marL="287338" indent="-230188"/>
            <a:r>
              <a:t>packets will queue, waiting to be transmitted on output link </a:t>
            </a:r>
          </a:p>
          <a:p>
            <a:pPr marL="287338" indent="-230188"/>
            <a:r>
              <a:t>packets can be dropped (lost) if memory (buffer) in router fills up</a:t>
            </a:r>
          </a:p>
        </p:txBody>
      </p:sp>
      <p:sp>
        <p:nvSpPr>
          <p:cNvPr id="5982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981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4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Alternative to packet switching: circuit switching</a:t>
            </a:r>
          </a:p>
        </p:txBody>
      </p:sp>
      <p:sp>
        <p:nvSpPr>
          <p:cNvPr id="5985" name="Content Placeholder 2"/>
          <p:cNvSpPr txBox="1"/>
          <p:nvPr>
            <p:ph type="body" sz="half" idx="1"/>
          </p:nvPr>
        </p:nvSpPr>
        <p:spPr>
          <a:xfrm>
            <a:off x="895787" y="1434849"/>
            <a:ext cx="5692666" cy="5310857"/>
          </a:xfrm>
          <a:prstGeom prst="rect">
            <a:avLst/>
          </a:prstGeom>
        </p:spPr>
        <p:txBody>
          <a:bodyPr/>
          <a:lstStyle/>
          <a:p>
            <a:pPr marL="11113" indent="-11113">
              <a:buSzTx/>
              <a:buFont typeface="Wingdings"/>
              <a:buNone/>
              <a:defRPr>
                <a:solidFill>
                  <a:srgbClr val="C00000"/>
                </a:solidFill>
              </a:defRPr>
            </a:pPr>
            <a:r>
              <a:t>end-end resources allocated to, reserved for “call” between source and destination</a:t>
            </a:r>
          </a:p>
          <a:p>
            <a:pPr>
              <a:defRPr sz="2400"/>
            </a:pPr>
            <a:r>
              <a:t>in diagram, each link has four circuits. </a:t>
            </a:r>
          </a:p>
          <a:p>
            <a:pPr lvl="1" marL="682625" indent="-225425">
              <a:spcBef>
                <a:spcPts val="500"/>
              </a:spcBef>
              <a:buClr>
                <a:srgbClr val="0000A8"/>
              </a:buClr>
              <a:buFont typeface="Arial"/>
              <a:defRPr sz="2400"/>
            </a:pPr>
            <a:r>
              <a:t>call gets 2</a:t>
            </a:r>
            <a:r>
              <a:rPr baseline="30000"/>
              <a:t>nd</a:t>
            </a:r>
            <a:r>
              <a:t> circuit in top link and 1</a:t>
            </a:r>
            <a:r>
              <a:rPr baseline="30000"/>
              <a:t>st</a:t>
            </a:r>
            <a:r>
              <a:t> circuit in right link.</a:t>
            </a:r>
          </a:p>
          <a:p>
            <a:pPr>
              <a:defRPr sz="2400"/>
            </a:pPr>
            <a:r>
              <a:t>dedicated resources: no sharing</a:t>
            </a:r>
          </a:p>
          <a:p>
            <a:pPr lvl="1" marL="682625" indent="-225425">
              <a:spcBef>
                <a:spcPts val="500"/>
              </a:spcBef>
              <a:buClr>
                <a:srgbClr val="0000A8"/>
              </a:buClr>
              <a:buFont typeface="Arial"/>
              <a:defRPr sz="2400"/>
            </a:pPr>
            <a:r>
              <a:t>circuit-like (guaranteed) performance</a:t>
            </a:r>
          </a:p>
          <a:p>
            <a:pPr>
              <a:defRPr sz="2400"/>
            </a:pPr>
            <a:r>
              <a:t>circuit segment idle if not used by call </a:t>
            </a:r>
            <a:r>
              <a:rPr>
                <a:solidFill>
                  <a:srgbClr val="000099"/>
                </a:solidFill>
              </a:rPr>
              <a:t>(no sharing)</a:t>
            </a:r>
          </a:p>
        </p:txBody>
      </p:sp>
      <p:sp>
        <p:nvSpPr>
          <p:cNvPr id="5986" name="Rectangle 613"/>
          <p:cNvSpPr/>
          <p:nvPr/>
        </p:nvSpPr>
        <p:spPr>
          <a:xfrm>
            <a:off x="8424977" y="2768302"/>
            <a:ext cx="1498679" cy="62756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7" name="Rectangle 630"/>
          <p:cNvSpPr/>
          <p:nvPr/>
        </p:nvSpPr>
        <p:spPr>
          <a:xfrm>
            <a:off x="8424977" y="2831058"/>
            <a:ext cx="1498679" cy="62757"/>
          </a:xfrm>
          <a:prstGeom prst="rect">
            <a:avLst/>
          </a:prstGeom>
          <a:solidFill>
            <a:srgbClr val="FF0000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8" name="Rectangle 631"/>
          <p:cNvSpPr/>
          <p:nvPr/>
        </p:nvSpPr>
        <p:spPr>
          <a:xfrm>
            <a:off x="8424977" y="2893815"/>
            <a:ext cx="1498679" cy="62756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9" name="Rectangle 632"/>
          <p:cNvSpPr/>
          <p:nvPr/>
        </p:nvSpPr>
        <p:spPr>
          <a:xfrm>
            <a:off x="8424977" y="2956569"/>
            <a:ext cx="1498679" cy="62757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994" name="Group 75"/>
          <p:cNvGrpSpPr/>
          <p:nvPr/>
        </p:nvGrpSpPr>
        <p:grpSpPr>
          <a:xfrm>
            <a:off x="7878880" y="3073116"/>
            <a:ext cx="261561" cy="1446966"/>
            <a:chOff x="0" y="0"/>
            <a:chExt cx="261560" cy="1446964"/>
          </a:xfrm>
        </p:grpSpPr>
        <p:sp>
          <p:nvSpPr>
            <p:cNvPr id="5990" name="Rectangle 674"/>
            <p:cNvSpPr/>
            <p:nvPr/>
          </p:nvSpPr>
          <p:spPr>
            <a:xfrm rot="5400000">
              <a:off x="-494618" y="690786"/>
              <a:ext cx="1446966" cy="65392"/>
            </a:xfrm>
            <a:prstGeom prst="rect">
              <a:avLst/>
            </a:pr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91" name="Rectangle 675"/>
            <p:cNvSpPr/>
            <p:nvPr/>
          </p:nvSpPr>
          <p:spPr>
            <a:xfrm rot="5400000">
              <a:off x="-560007" y="690787"/>
              <a:ext cx="1446965" cy="65390"/>
            </a:xfrm>
            <a:prstGeom prst="rect">
              <a:avLst/>
            </a:pr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92" name="Rectangle 676"/>
            <p:cNvSpPr/>
            <p:nvPr/>
          </p:nvSpPr>
          <p:spPr>
            <a:xfrm rot="5400000">
              <a:off x="-625399" y="690786"/>
              <a:ext cx="1446966" cy="65392"/>
            </a:xfrm>
            <a:prstGeom prst="rect">
              <a:avLst/>
            </a:pr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93" name="Rectangle 677"/>
            <p:cNvSpPr/>
            <p:nvPr/>
          </p:nvSpPr>
          <p:spPr>
            <a:xfrm rot="5400000">
              <a:off x="-690788" y="690787"/>
              <a:ext cx="1446965" cy="65390"/>
            </a:xfrm>
            <a:prstGeom prst="rect">
              <a:avLst/>
            </a:pr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5999" name="Group 80"/>
          <p:cNvGrpSpPr/>
          <p:nvPr/>
        </p:nvGrpSpPr>
        <p:grpSpPr>
          <a:xfrm>
            <a:off x="8509807" y="4656351"/>
            <a:ext cx="1479239" cy="251023"/>
            <a:chOff x="0" y="0"/>
            <a:chExt cx="1479238" cy="251022"/>
          </a:xfrm>
        </p:grpSpPr>
        <p:sp>
          <p:nvSpPr>
            <p:cNvPr id="5995" name="Rectangle 670"/>
            <p:cNvSpPr/>
            <p:nvPr/>
          </p:nvSpPr>
          <p:spPr>
            <a:xfrm>
              <a:off x="-1" y="0"/>
              <a:ext cx="1479239" cy="62757"/>
            </a:xfrm>
            <a:prstGeom prst="rect">
              <a:avLst/>
            </a:pr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96" name="Rectangle 671"/>
            <p:cNvSpPr/>
            <p:nvPr/>
          </p:nvSpPr>
          <p:spPr>
            <a:xfrm>
              <a:off x="-1" y="62756"/>
              <a:ext cx="1479239" cy="62755"/>
            </a:xfrm>
            <a:prstGeom prst="rect">
              <a:avLst/>
            </a:pr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97" name="Rectangle 672"/>
            <p:cNvSpPr/>
            <p:nvPr/>
          </p:nvSpPr>
          <p:spPr>
            <a:xfrm>
              <a:off x="-1" y="125511"/>
              <a:ext cx="1479239" cy="62757"/>
            </a:xfrm>
            <a:prstGeom prst="rect">
              <a:avLst/>
            </a:pr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98" name="Rectangle 673"/>
            <p:cNvSpPr/>
            <p:nvPr/>
          </p:nvSpPr>
          <p:spPr>
            <a:xfrm>
              <a:off x="-1" y="188268"/>
              <a:ext cx="1479239" cy="62755"/>
            </a:xfrm>
            <a:prstGeom prst="rect">
              <a:avLst/>
            </a:pr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6000" name="Rectangle 636"/>
          <p:cNvSpPr/>
          <p:nvPr/>
        </p:nvSpPr>
        <p:spPr>
          <a:xfrm rot="5400000">
            <a:off x="9755989" y="3772868"/>
            <a:ext cx="1446967" cy="65392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1" name="Rectangle 637"/>
          <p:cNvSpPr/>
          <p:nvPr/>
        </p:nvSpPr>
        <p:spPr>
          <a:xfrm rot="5400000">
            <a:off x="9690599" y="3772868"/>
            <a:ext cx="1446968" cy="65391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2" name="Rectangle 638"/>
          <p:cNvSpPr/>
          <p:nvPr/>
        </p:nvSpPr>
        <p:spPr>
          <a:xfrm rot="5400000">
            <a:off x="9625209" y="3772868"/>
            <a:ext cx="1446967" cy="65392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3" name="Rectangle 640"/>
          <p:cNvSpPr/>
          <p:nvPr/>
        </p:nvSpPr>
        <p:spPr>
          <a:xfrm rot="5400000">
            <a:off x="9559818" y="3772868"/>
            <a:ext cx="1446967" cy="65391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006" name="Group 100"/>
          <p:cNvGrpSpPr/>
          <p:nvPr/>
        </p:nvGrpSpPr>
        <p:grpSpPr>
          <a:xfrm>
            <a:off x="10013909" y="1711519"/>
            <a:ext cx="701623" cy="568388"/>
            <a:chOff x="0" y="0"/>
            <a:chExt cx="701621" cy="568387"/>
          </a:xfrm>
        </p:grpSpPr>
        <p:pic>
          <p:nvPicPr>
            <p:cNvPr id="6004" name="Picture 101" descr="Picture 10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01622" cy="5683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005" name="Freeform 102"/>
            <p:cNvSpPr/>
            <p:nvPr/>
          </p:nvSpPr>
          <p:spPr>
            <a:xfrm flipH="1">
              <a:off x="298958" y="54523"/>
              <a:ext cx="341156" cy="260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6007" name="Rectangle 653"/>
          <p:cNvSpPr/>
          <p:nvPr/>
        </p:nvSpPr>
        <p:spPr>
          <a:xfrm flipV="1" rot="2465436">
            <a:off x="10213492" y="4720899"/>
            <a:ext cx="581446" cy="64549"/>
          </a:xfrm>
          <a:prstGeom prst="rect">
            <a:avLst/>
          </a:prstGeom>
          <a:solidFill>
            <a:srgbClr val="00B050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8" name="Rectangle 717"/>
          <p:cNvSpPr/>
          <p:nvPr/>
        </p:nvSpPr>
        <p:spPr>
          <a:xfrm>
            <a:off x="7105363" y="4795380"/>
            <a:ext cx="493905" cy="68331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9" name="Rectangle 718"/>
          <p:cNvSpPr/>
          <p:nvPr/>
        </p:nvSpPr>
        <p:spPr>
          <a:xfrm rot="5400000">
            <a:off x="7722581" y="2362275"/>
            <a:ext cx="513166" cy="69790"/>
          </a:xfrm>
          <a:prstGeom prst="rect">
            <a:avLst/>
          </a:prstGeom>
          <a:solidFill>
            <a:srgbClr val="FF0000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0" name="Rectangle 719"/>
          <p:cNvSpPr/>
          <p:nvPr/>
        </p:nvSpPr>
        <p:spPr>
          <a:xfrm rot="5400000">
            <a:off x="7825925" y="5242086"/>
            <a:ext cx="493905" cy="68331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1" name="Rectangle 720"/>
          <p:cNvSpPr/>
          <p:nvPr/>
        </p:nvSpPr>
        <p:spPr>
          <a:xfrm rot="5400000">
            <a:off x="10201295" y="5217274"/>
            <a:ext cx="493905" cy="68331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2" name="Rectangle 721"/>
          <p:cNvSpPr/>
          <p:nvPr/>
        </p:nvSpPr>
        <p:spPr>
          <a:xfrm rot="10800000">
            <a:off x="10882518" y="4775822"/>
            <a:ext cx="493905" cy="68331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3" name="Rectangle 722"/>
          <p:cNvSpPr/>
          <p:nvPr/>
        </p:nvSpPr>
        <p:spPr>
          <a:xfrm>
            <a:off x="7002625" y="2887815"/>
            <a:ext cx="493905" cy="68331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4" name="Rectangle 723"/>
          <p:cNvSpPr/>
          <p:nvPr/>
        </p:nvSpPr>
        <p:spPr>
          <a:xfrm>
            <a:off x="10811013" y="2867388"/>
            <a:ext cx="493905" cy="68331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5" name="Rectangle 724"/>
          <p:cNvSpPr/>
          <p:nvPr/>
        </p:nvSpPr>
        <p:spPr>
          <a:xfrm rot="5400000">
            <a:off x="10115327" y="2348119"/>
            <a:ext cx="493905" cy="68331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018" name="Group 100"/>
          <p:cNvGrpSpPr/>
          <p:nvPr/>
        </p:nvGrpSpPr>
        <p:grpSpPr>
          <a:xfrm>
            <a:off x="9946630" y="5393995"/>
            <a:ext cx="703390" cy="568388"/>
            <a:chOff x="0" y="0"/>
            <a:chExt cx="703388" cy="568387"/>
          </a:xfrm>
        </p:grpSpPr>
        <p:pic>
          <p:nvPicPr>
            <p:cNvPr id="6016" name="Picture 101" descr="Picture 10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03389" cy="5683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017" name="Freeform 102"/>
            <p:cNvSpPr/>
            <p:nvPr/>
          </p:nvSpPr>
          <p:spPr>
            <a:xfrm flipH="1">
              <a:off x="299711" y="54523"/>
              <a:ext cx="342015" cy="260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021" name="Group 100"/>
          <p:cNvGrpSpPr/>
          <p:nvPr/>
        </p:nvGrpSpPr>
        <p:grpSpPr>
          <a:xfrm>
            <a:off x="7560991" y="1744852"/>
            <a:ext cx="703390" cy="568389"/>
            <a:chOff x="0" y="0"/>
            <a:chExt cx="703388" cy="568387"/>
          </a:xfrm>
        </p:grpSpPr>
        <p:pic>
          <p:nvPicPr>
            <p:cNvPr id="6019" name="Picture 101" descr="Picture 10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03389" cy="5683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020" name="Freeform 102"/>
            <p:cNvSpPr/>
            <p:nvPr/>
          </p:nvSpPr>
          <p:spPr>
            <a:xfrm flipH="1">
              <a:off x="299711" y="54523"/>
              <a:ext cx="342015" cy="260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033" name="Group 726"/>
          <p:cNvGrpSpPr/>
          <p:nvPr/>
        </p:nvGrpSpPr>
        <p:grpSpPr>
          <a:xfrm>
            <a:off x="7484685" y="2647923"/>
            <a:ext cx="946204" cy="505656"/>
            <a:chOff x="0" y="0"/>
            <a:chExt cx="946203" cy="505654"/>
          </a:xfrm>
        </p:grpSpPr>
        <p:grpSp>
          <p:nvGrpSpPr>
            <p:cNvPr id="6024" name="Freeform 727"/>
            <p:cNvGrpSpPr/>
            <p:nvPr/>
          </p:nvGrpSpPr>
          <p:grpSpPr>
            <a:xfrm>
              <a:off x="-1" y="172567"/>
              <a:ext cx="946205" cy="333088"/>
              <a:chOff x="0" y="0"/>
              <a:chExt cx="946203" cy="333087"/>
            </a:xfrm>
          </p:grpSpPr>
          <p:sp>
            <p:nvSpPr>
              <p:cNvPr id="6022" name="Shape"/>
              <p:cNvSpPr/>
              <p:nvPr/>
            </p:nvSpPr>
            <p:spPr>
              <a:xfrm>
                <a:off x="0" y="5072"/>
                <a:ext cx="946204" cy="3229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23" name="Text"/>
              <p:cNvSpPr txBox="1"/>
              <p:nvPr/>
            </p:nvSpPr>
            <p:spPr>
              <a:xfrm>
                <a:off x="48894" y="0"/>
                <a:ext cx="84841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6027" name="Oval 728"/>
            <p:cNvGrpSpPr/>
            <p:nvPr/>
          </p:nvGrpSpPr>
          <p:grpSpPr>
            <a:xfrm>
              <a:off x="544" y="-1"/>
              <a:ext cx="945059" cy="333089"/>
              <a:chOff x="0" y="0"/>
              <a:chExt cx="945058" cy="333087"/>
            </a:xfrm>
          </p:grpSpPr>
          <p:sp>
            <p:nvSpPr>
              <p:cNvPr id="6025" name="Oval"/>
              <p:cNvSpPr/>
              <p:nvPr/>
            </p:nvSpPr>
            <p:spPr>
              <a:xfrm>
                <a:off x="0" y="6677"/>
                <a:ext cx="945059" cy="31973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26" name="Text"/>
              <p:cNvSpPr txBox="1"/>
              <p:nvPr/>
            </p:nvSpPr>
            <p:spPr>
              <a:xfrm>
                <a:off x="187294" y="0"/>
                <a:ext cx="57046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6032" name="Group 729"/>
            <p:cNvGrpSpPr/>
            <p:nvPr/>
          </p:nvGrpSpPr>
          <p:grpSpPr>
            <a:xfrm>
              <a:off x="140330" y="47314"/>
              <a:ext cx="665367" cy="234937"/>
              <a:chOff x="0" y="0"/>
              <a:chExt cx="665366" cy="234935"/>
            </a:xfrm>
          </p:grpSpPr>
          <p:sp>
            <p:nvSpPr>
              <p:cNvPr id="6028" name="Freeform 730"/>
              <p:cNvSpPr/>
              <p:nvPr/>
            </p:nvSpPr>
            <p:spPr>
              <a:xfrm>
                <a:off x="18404" y="0"/>
                <a:ext cx="629424" cy="131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29" name="Freeform 731"/>
              <p:cNvSpPr/>
              <p:nvPr/>
            </p:nvSpPr>
            <p:spPr>
              <a:xfrm>
                <a:off x="430364" y="112493"/>
                <a:ext cx="235003" cy="1132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30" name="Freeform 732"/>
              <p:cNvSpPr/>
              <p:nvPr/>
            </p:nvSpPr>
            <p:spPr>
              <a:xfrm>
                <a:off x="0" y="112493"/>
                <a:ext cx="230755" cy="1119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31" name="Freeform 733"/>
              <p:cNvSpPr/>
              <p:nvPr/>
            </p:nvSpPr>
            <p:spPr>
              <a:xfrm>
                <a:off x="80106" y="57197"/>
                <a:ext cx="501736" cy="177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6045" name="Group 734"/>
          <p:cNvGrpSpPr/>
          <p:nvPr/>
        </p:nvGrpSpPr>
        <p:grpSpPr>
          <a:xfrm>
            <a:off x="7567435" y="4513404"/>
            <a:ext cx="946204" cy="505656"/>
            <a:chOff x="0" y="0"/>
            <a:chExt cx="946203" cy="505654"/>
          </a:xfrm>
        </p:grpSpPr>
        <p:grpSp>
          <p:nvGrpSpPr>
            <p:cNvPr id="6036" name="Freeform 735"/>
            <p:cNvGrpSpPr/>
            <p:nvPr/>
          </p:nvGrpSpPr>
          <p:grpSpPr>
            <a:xfrm>
              <a:off x="-1" y="172567"/>
              <a:ext cx="946205" cy="333088"/>
              <a:chOff x="0" y="0"/>
              <a:chExt cx="946203" cy="333087"/>
            </a:xfrm>
          </p:grpSpPr>
          <p:sp>
            <p:nvSpPr>
              <p:cNvPr id="6034" name="Shape"/>
              <p:cNvSpPr/>
              <p:nvPr/>
            </p:nvSpPr>
            <p:spPr>
              <a:xfrm>
                <a:off x="0" y="5072"/>
                <a:ext cx="946204" cy="3229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35" name="Text"/>
              <p:cNvSpPr txBox="1"/>
              <p:nvPr/>
            </p:nvSpPr>
            <p:spPr>
              <a:xfrm>
                <a:off x="48894" y="0"/>
                <a:ext cx="84841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6039" name="Oval 736"/>
            <p:cNvGrpSpPr/>
            <p:nvPr/>
          </p:nvGrpSpPr>
          <p:grpSpPr>
            <a:xfrm>
              <a:off x="544" y="-1"/>
              <a:ext cx="945059" cy="333089"/>
              <a:chOff x="0" y="0"/>
              <a:chExt cx="945058" cy="333087"/>
            </a:xfrm>
          </p:grpSpPr>
          <p:sp>
            <p:nvSpPr>
              <p:cNvPr id="6037" name="Oval"/>
              <p:cNvSpPr/>
              <p:nvPr/>
            </p:nvSpPr>
            <p:spPr>
              <a:xfrm>
                <a:off x="0" y="6677"/>
                <a:ext cx="945059" cy="31973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38" name="Text"/>
              <p:cNvSpPr txBox="1"/>
              <p:nvPr/>
            </p:nvSpPr>
            <p:spPr>
              <a:xfrm>
                <a:off x="187294" y="0"/>
                <a:ext cx="57046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6044" name="Group 737"/>
            <p:cNvGrpSpPr/>
            <p:nvPr/>
          </p:nvGrpSpPr>
          <p:grpSpPr>
            <a:xfrm>
              <a:off x="140330" y="47314"/>
              <a:ext cx="665367" cy="234937"/>
              <a:chOff x="0" y="0"/>
              <a:chExt cx="665366" cy="234935"/>
            </a:xfrm>
          </p:grpSpPr>
          <p:sp>
            <p:nvSpPr>
              <p:cNvPr id="6040" name="Freeform 738"/>
              <p:cNvSpPr/>
              <p:nvPr/>
            </p:nvSpPr>
            <p:spPr>
              <a:xfrm>
                <a:off x="18404" y="0"/>
                <a:ext cx="629424" cy="131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41" name="Freeform 739"/>
              <p:cNvSpPr/>
              <p:nvPr/>
            </p:nvSpPr>
            <p:spPr>
              <a:xfrm>
                <a:off x="430364" y="112493"/>
                <a:ext cx="235003" cy="1132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42" name="Freeform 740"/>
              <p:cNvSpPr/>
              <p:nvPr/>
            </p:nvSpPr>
            <p:spPr>
              <a:xfrm>
                <a:off x="0" y="112493"/>
                <a:ext cx="230755" cy="1119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43" name="Freeform 741"/>
              <p:cNvSpPr/>
              <p:nvPr/>
            </p:nvSpPr>
            <p:spPr>
              <a:xfrm>
                <a:off x="80106" y="57197"/>
                <a:ext cx="501736" cy="177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6057" name="Group 742"/>
          <p:cNvGrpSpPr/>
          <p:nvPr/>
        </p:nvGrpSpPr>
        <p:grpSpPr>
          <a:xfrm>
            <a:off x="9940980" y="4513404"/>
            <a:ext cx="946204" cy="505656"/>
            <a:chOff x="0" y="0"/>
            <a:chExt cx="946203" cy="505654"/>
          </a:xfrm>
        </p:grpSpPr>
        <p:grpSp>
          <p:nvGrpSpPr>
            <p:cNvPr id="6048" name="Freeform 743"/>
            <p:cNvGrpSpPr/>
            <p:nvPr/>
          </p:nvGrpSpPr>
          <p:grpSpPr>
            <a:xfrm>
              <a:off x="-1" y="172567"/>
              <a:ext cx="946205" cy="333088"/>
              <a:chOff x="0" y="0"/>
              <a:chExt cx="946203" cy="333087"/>
            </a:xfrm>
          </p:grpSpPr>
          <p:sp>
            <p:nvSpPr>
              <p:cNvPr id="6046" name="Shape"/>
              <p:cNvSpPr/>
              <p:nvPr/>
            </p:nvSpPr>
            <p:spPr>
              <a:xfrm>
                <a:off x="0" y="5072"/>
                <a:ext cx="946204" cy="3229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47" name="Text"/>
              <p:cNvSpPr txBox="1"/>
              <p:nvPr/>
            </p:nvSpPr>
            <p:spPr>
              <a:xfrm>
                <a:off x="48894" y="0"/>
                <a:ext cx="84841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6051" name="Oval 744"/>
            <p:cNvGrpSpPr/>
            <p:nvPr/>
          </p:nvGrpSpPr>
          <p:grpSpPr>
            <a:xfrm>
              <a:off x="544" y="-1"/>
              <a:ext cx="945059" cy="333089"/>
              <a:chOff x="0" y="0"/>
              <a:chExt cx="945058" cy="333087"/>
            </a:xfrm>
          </p:grpSpPr>
          <p:sp>
            <p:nvSpPr>
              <p:cNvPr id="6049" name="Oval"/>
              <p:cNvSpPr/>
              <p:nvPr/>
            </p:nvSpPr>
            <p:spPr>
              <a:xfrm>
                <a:off x="0" y="6677"/>
                <a:ext cx="945059" cy="31973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50" name="Text"/>
              <p:cNvSpPr txBox="1"/>
              <p:nvPr/>
            </p:nvSpPr>
            <p:spPr>
              <a:xfrm>
                <a:off x="187294" y="0"/>
                <a:ext cx="57046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6056" name="Group 745"/>
            <p:cNvGrpSpPr/>
            <p:nvPr/>
          </p:nvGrpSpPr>
          <p:grpSpPr>
            <a:xfrm>
              <a:off x="140330" y="47314"/>
              <a:ext cx="665367" cy="234937"/>
              <a:chOff x="0" y="0"/>
              <a:chExt cx="665366" cy="234935"/>
            </a:xfrm>
          </p:grpSpPr>
          <p:sp>
            <p:nvSpPr>
              <p:cNvPr id="6052" name="Freeform 746"/>
              <p:cNvSpPr/>
              <p:nvPr/>
            </p:nvSpPr>
            <p:spPr>
              <a:xfrm>
                <a:off x="18404" y="0"/>
                <a:ext cx="629424" cy="131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53" name="Freeform 747"/>
              <p:cNvSpPr/>
              <p:nvPr/>
            </p:nvSpPr>
            <p:spPr>
              <a:xfrm>
                <a:off x="430364" y="112493"/>
                <a:ext cx="235003" cy="1132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54" name="Freeform 748"/>
              <p:cNvSpPr/>
              <p:nvPr/>
            </p:nvSpPr>
            <p:spPr>
              <a:xfrm>
                <a:off x="0" y="112493"/>
                <a:ext cx="230755" cy="1119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55" name="Freeform 749"/>
              <p:cNvSpPr/>
              <p:nvPr/>
            </p:nvSpPr>
            <p:spPr>
              <a:xfrm>
                <a:off x="80106" y="57197"/>
                <a:ext cx="501736" cy="177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6069" name="Group 750"/>
          <p:cNvGrpSpPr/>
          <p:nvPr/>
        </p:nvGrpSpPr>
        <p:grpSpPr>
          <a:xfrm>
            <a:off x="9889177" y="2627842"/>
            <a:ext cx="946204" cy="505656"/>
            <a:chOff x="0" y="0"/>
            <a:chExt cx="946203" cy="505654"/>
          </a:xfrm>
        </p:grpSpPr>
        <p:grpSp>
          <p:nvGrpSpPr>
            <p:cNvPr id="6060" name="Freeform 751"/>
            <p:cNvGrpSpPr/>
            <p:nvPr/>
          </p:nvGrpSpPr>
          <p:grpSpPr>
            <a:xfrm>
              <a:off x="-1" y="172567"/>
              <a:ext cx="946205" cy="333088"/>
              <a:chOff x="0" y="0"/>
              <a:chExt cx="946203" cy="333087"/>
            </a:xfrm>
          </p:grpSpPr>
          <p:sp>
            <p:nvSpPr>
              <p:cNvPr id="6058" name="Shape"/>
              <p:cNvSpPr/>
              <p:nvPr/>
            </p:nvSpPr>
            <p:spPr>
              <a:xfrm>
                <a:off x="0" y="5072"/>
                <a:ext cx="946204" cy="3229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59" name="Text"/>
              <p:cNvSpPr txBox="1"/>
              <p:nvPr/>
            </p:nvSpPr>
            <p:spPr>
              <a:xfrm>
                <a:off x="48894" y="0"/>
                <a:ext cx="84841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6063" name="Oval 752"/>
            <p:cNvGrpSpPr/>
            <p:nvPr/>
          </p:nvGrpSpPr>
          <p:grpSpPr>
            <a:xfrm>
              <a:off x="544" y="-1"/>
              <a:ext cx="945059" cy="333089"/>
              <a:chOff x="0" y="0"/>
              <a:chExt cx="945058" cy="333087"/>
            </a:xfrm>
          </p:grpSpPr>
          <p:sp>
            <p:nvSpPr>
              <p:cNvPr id="6061" name="Oval"/>
              <p:cNvSpPr/>
              <p:nvPr/>
            </p:nvSpPr>
            <p:spPr>
              <a:xfrm>
                <a:off x="0" y="6677"/>
                <a:ext cx="945059" cy="31973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62" name="Text"/>
              <p:cNvSpPr txBox="1"/>
              <p:nvPr/>
            </p:nvSpPr>
            <p:spPr>
              <a:xfrm>
                <a:off x="187294" y="0"/>
                <a:ext cx="57046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6068" name="Group 753"/>
            <p:cNvGrpSpPr/>
            <p:nvPr/>
          </p:nvGrpSpPr>
          <p:grpSpPr>
            <a:xfrm>
              <a:off x="140330" y="47314"/>
              <a:ext cx="665367" cy="234937"/>
              <a:chOff x="0" y="0"/>
              <a:chExt cx="665366" cy="234935"/>
            </a:xfrm>
          </p:grpSpPr>
          <p:sp>
            <p:nvSpPr>
              <p:cNvPr id="6064" name="Freeform 754"/>
              <p:cNvSpPr/>
              <p:nvPr/>
            </p:nvSpPr>
            <p:spPr>
              <a:xfrm>
                <a:off x="18404" y="0"/>
                <a:ext cx="629424" cy="131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65" name="Freeform 755"/>
              <p:cNvSpPr/>
              <p:nvPr/>
            </p:nvSpPr>
            <p:spPr>
              <a:xfrm>
                <a:off x="430364" y="112493"/>
                <a:ext cx="235003" cy="1132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66" name="Freeform 756"/>
              <p:cNvSpPr/>
              <p:nvPr/>
            </p:nvSpPr>
            <p:spPr>
              <a:xfrm>
                <a:off x="0" y="112493"/>
                <a:ext cx="230755" cy="1119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067" name="Freeform 757"/>
              <p:cNvSpPr/>
              <p:nvPr/>
            </p:nvSpPr>
            <p:spPr>
              <a:xfrm>
                <a:off x="80106" y="57197"/>
                <a:ext cx="501736" cy="177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6070" name="Rectangle 651"/>
          <p:cNvSpPr/>
          <p:nvPr/>
        </p:nvSpPr>
        <p:spPr>
          <a:xfrm rot="1634516">
            <a:off x="7940837" y="2709092"/>
            <a:ext cx="535922" cy="73183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1" name="Rectangle 758"/>
          <p:cNvSpPr/>
          <p:nvPr/>
        </p:nvSpPr>
        <p:spPr>
          <a:xfrm rot="2101064">
            <a:off x="9817292" y="2970721"/>
            <a:ext cx="535923" cy="7318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2" name="Rectangle 759"/>
          <p:cNvSpPr/>
          <p:nvPr/>
        </p:nvSpPr>
        <p:spPr>
          <a:xfrm rot="4253584">
            <a:off x="10096992" y="4729743"/>
            <a:ext cx="547684" cy="7578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3" name="TextBox 1"/>
          <p:cNvSpPr txBox="1"/>
          <p:nvPr/>
        </p:nvSpPr>
        <p:spPr>
          <a:xfrm>
            <a:off x="1036319" y="6354126"/>
            <a:ext cx="9055737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* Check out the online interactive exercises for more examples: h</a:t>
            </a:r>
            <a:r>
              <a:rPr sz="1200"/>
              <a:t>ttp://gaia.cs.umass.edu/kurose_ross/interactive</a:t>
            </a:r>
          </a:p>
        </p:txBody>
      </p:sp>
      <p:sp>
        <p:nvSpPr>
          <p:cNvPr id="6074" name="Content Placeholder 2"/>
          <p:cNvSpPr txBox="1"/>
          <p:nvPr/>
        </p:nvSpPr>
        <p:spPr>
          <a:xfrm>
            <a:off x="938922" y="5522186"/>
            <a:ext cx="6793060" cy="904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07930" indent="-131127" defTabSz="539495">
              <a:lnSpc>
                <a:spcPct val="90000"/>
              </a:lnSpc>
              <a:spcBef>
                <a:spcPts val="500"/>
              </a:spcBef>
              <a:buClr>
                <a:srgbClr val="0000A3"/>
              </a:buClr>
              <a:buSzPct val="100000"/>
              <a:buChar char="▪"/>
              <a:defRPr sz="1416"/>
            </a:pPr>
            <a:r>
              <a:t>commonly used in traditional telephone networks</a:t>
            </a:r>
            <a:endParaRPr sz="1651"/>
          </a:p>
          <a:p>
            <a:pPr indent="103028" defTabSz="539495">
              <a:lnSpc>
                <a:spcPct val="90000"/>
              </a:lnSpc>
              <a:spcBef>
                <a:spcPts val="500"/>
              </a:spcBef>
              <a:defRPr sz="1651"/>
            </a:pPr>
          </a:p>
        </p:txBody>
      </p:sp>
      <p:sp>
        <p:nvSpPr>
          <p:cNvPr id="607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9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59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59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59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59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500"/>
                                        <p:tgtEl>
                                          <p:spTgt spid="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985" grpId="1"/>
      <p:bldP build="whole" bldLvl="1" animBg="1" rev="0" advAuto="0" spid="6074" grpId="2"/>
      <p:bldP build="whole" bldLvl="1" animBg="1" rev="0" advAuto="0" spid="6073" grpId="3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7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Circuit switching: FDM and TDM</a:t>
            </a:r>
          </a:p>
        </p:txBody>
      </p:sp>
      <p:grpSp>
        <p:nvGrpSpPr>
          <p:cNvPr id="6083" name="Group 5"/>
          <p:cNvGrpSpPr/>
          <p:nvPr/>
        </p:nvGrpSpPr>
        <p:grpSpPr>
          <a:xfrm>
            <a:off x="6233237" y="2107489"/>
            <a:ext cx="5507833" cy="1662064"/>
            <a:chOff x="0" y="0"/>
            <a:chExt cx="5507831" cy="1662062"/>
          </a:xfrm>
        </p:grpSpPr>
        <p:sp>
          <p:nvSpPr>
            <p:cNvPr id="6078" name="Line 6"/>
            <p:cNvSpPr/>
            <p:nvPr/>
          </p:nvSpPr>
          <p:spPr>
            <a:xfrm flipV="1">
              <a:off x="554831" y="13781"/>
              <a:ext cx="1" cy="129540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079" name="Text Box 7"/>
            <p:cNvSpPr txBox="1"/>
            <p:nvPr/>
          </p:nvSpPr>
          <p:spPr>
            <a:xfrm rot="16200000">
              <a:off x="-478756" y="478755"/>
              <a:ext cx="1349981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frequency</a:t>
              </a:r>
            </a:p>
          </p:txBody>
        </p:sp>
        <p:sp>
          <p:nvSpPr>
            <p:cNvPr id="6080" name="Line 8"/>
            <p:cNvSpPr/>
            <p:nvPr/>
          </p:nvSpPr>
          <p:spPr>
            <a:xfrm>
              <a:off x="554831" y="1309181"/>
              <a:ext cx="4953001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081" name="Text Box 9"/>
            <p:cNvSpPr txBox="1"/>
            <p:nvPr/>
          </p:nvSpPr>
          <p:spPr>
            <a:xfrm>
              <a:off x="4804251" y="1321881"/>
              <a:ext cx="569725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000"/>
              </a:lvl1pPr>
            </a:lstStyle>
            <a:p>
              <a:pPr/>
              <a:r>
                <a:t>time</a:t>
              </a:r>
            </a:p>
          </p:txBody>
        </p:sp>
        <p:sp>
          <p:nvSpPr>
            <p:cNvPr id="6082" name="Rectangle 10"/>
            <p:cNvSpPr/>
            <p:nvPr/>
          </p:nvSpPr>
          <p:spPr>
            <a:xfrm>
              <a:off x="631031" y="318581"/>
              <a:ext cx="4572001" cy="914401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</p:grpSp>
      <p:sp>
        <p:nvSpPr>
          <p:cNvPr id="6084" name="Rectangle 11"/>
          <p:cNvSpPr/>
          <p:nvPr/>
        </p:nvSpPr>
        <p:spPr>
          <a:xfrm>
            <a:off x="6851569" y="2438769"/>
            <a:ext cx="4572001" cy="228601"/>
          </a:xfrm>
          <a:prstGeom prst="rect">
            <a:avLst/>
          </a:prstGeom>
          <a:solidFill>
            <a:srgbClr val="3366FF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6085" name="Rectangle 12"/>
          <p:cNvSpPr/>
          <p:nvPr/>
        </p:nvSpPr>
        <p:spPr>
          <a:xfrm>
            <a:off x="6851569" y="2667369"/>
            <a:ext cx="4572001" cy="228601"/>
          </a:xfrm>
          <a:prstGeom prst="rect">
            <a:avLst/>
          </a:prstGeom>
          <a:solidFill>
            <a:srgbClr val="99CC0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6086" name="Rectangle 13"/>
          <p:cNvSpPr/>
          <p:nvPr/>
        </p:nvSpPr>
        <p:spPr>
          <a:xfrm>
            <a:off x="6851569" y="2895969"/>
            <a:ext cx="4572001" cy="228601"/>
          </a:xfrm>
          <a:prstGeom prst="rect">
            <a:avLst/>
          </a:prstGeom>
          <a:solidFill>
            <a:srgbClr val="FFCC0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6087" name="Rectangle 14"/>
          <p:cNvSpPr/>
          <p:nvPr/>
        </p:nvSpPr>
        <p:spPr>
          <a:xfrm>
            <a:off x="6851569" y="3124569"/>
            <a:ext cx="4572001" cy="228601"/>
          </a:xfrm>
          <a:prstGeom prst="rect">
            <a:avLst/>
          </a:prstGeom>
          <a:solidFill>
            <a:srgbClr val="FF00FF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grpSp>
        <p:nvGrpSpPr>
          <p:cNvPr id="6093" name="Group 15"/>
          <p:cNvGrpSpPr/>
          <p:nvPr/>
        </p:nvGrpSpPr>
        <p:grpSpPr>
          <a:xfrm>
            <a:off x="6249112" y="4361235"/>
            <a:ext cx="5479258" cy="1678445"/>
            <a:chOff x="0" y="0"/>
            <a:chExt cx="5479256" cy="1678443"/>
          </a:xfrm>
        </p:grpSpPr>
        <p:sp>
          <p:nvSpPr>
            <p:cNvPr id="6088" name="Line 17"/>
            <p:cNvSpPr/>
            <p:nvPr/>
          </p:nvSpPr>
          <p:spPr>
            <a:xfrm flipV="1">
              <a:off x="526256" y="0"/>
              <a:ext cx="1" cy="129540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089" name="Text Box 18"/>
            <p:cNvSpPr txBox="1"/>
            <p:nvPr/>
          </p:nvSpPr>
          <p:spPr>
            <a:xfrm rot="16200000">
              <a:off x="-478756" y="526886"/>
              <a:ext cx="1349981" cy="392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frequency</a:t>
              </a:r>
            </a:p>
          </p:txBody>
        </p:sp>
        <p:sp>
          <p:nvSpPr>
            <p:cNvPr id="6090" name="Line 19"/>
            <p:cNvSpPr/>
            <p:nvPr/>
          </p:nvSpPr>
          <p:spPr>
            <a:xfrm>
              <a:off x="526256" y="1295400"/>
              <a:ext cx="4953001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091" name="Text Box 20"/>
            <p:cNvSpPr txBox="1"/>
            <p:nvPr/>
          </p:nvSpPr>
          <p:spPr>
            <a:xfrm>
              <a:off x="4789963" y="1338262"/>
              <a:ext cx="569725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000"/>
              </a:lvl1pPr>
            </a:lstStyle>
            <a:p>
              <a:pPr/>
              <a:r>
                <a:t>time</a:t>
              </a:r>
            </a:p>
          </p:txBody>
        </p:sp>
        <p:sp>
          <p:nvSpPr>
            <p:cNvPr id="6092" name="Rectangle 21"/>
            <p:cNvSpPr/>
            <p:nvPr/>
          </p:nvSpPr>
          <p:spPr>
            <a:xfrm>
              <a:off x="602456" y="303212"/>
              <a:ext cx="4572001" cy="914401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</p:grpSp>
      <p:grpSp>
        <p:nvGrpSpPr>
          <p:cNvPr id="6099" name="Group 22"/>
          <p:cNvGrpSpPr/>
          <p:nvPr/>
        </p:nvGrpSpPr>
        <p:grpSpPr>
          <a:xfrm>
            <a:off x="6851569" y="4664445"/>
            <a:ext cx="3886201" cy="914401"/>
            <a:chOff x="0" y="0"/>
            <a:chExt cx="3886200" cy="914400"/>
          </a:xfrm>
        </p:grpSpPr>
        <p:sp>
          <p:nvSpPr>
            <p:cNvPr id="6094" name="Rectangle 23"/>
            <p:cNvSpPr/>
            <p:nvPr/>
          </p:nvSpPr>
          <p:spPr>
            <a:xfrm>
              <a:off x="0" y="0"/>
              <a:ext cx="228600" cy="914400"/>
            </a:xfrm>
            <a:prstGeom prst="rect">
              <a:avLst/>
            </a:prstGeom>
            <a:solidFill>
              <a:srgbClr val="3366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095" name="Rectangle 24"/>
            <p:cNvSpPr/>
            <p:nvPr/>
          </p:nvSpPr>
          <p:spPr>
            <a:xfrm>
              <a:off x="914400" y="0"/>
              <a:ext cx="228600" cy="914400"/>
            </a:xfrm>
            <a:prstGeom prst="rect">
              <a:avLst/>
            </a:prstGeom>
            <a:solidFill>
              <a:srgbClr val="3366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096" name="Rectangle 25"/>
            <p:cNvSpPr/>
            <p:nvPr/>
          </p:nvSpPr>
          <p:spPr>
            <a:xfrm>
              <a:off x="1828800" y="0"/>
              <a:ext cx="228600" cy="914400"/>
            </a:xfrm>
            <a:prstGeom prst="rect">
              <a:avLst/>
            </a:prstGeom>
            <a:solidFill>
              <a:srgbClr val="3366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097" name="Rectangle 26"/>
            <p:cNvSpPr/>
            <p:nvPr/>
          </p:nvSpPr>
          <p:spPr>
            <a:xfrm>
              <a:off x="2743200" y="0"/>
              <a:ext cx="228600" cy="914400"/>
            </a:xfrm>
            <a:prstGeom prst="rect">
              <a:avLst/>
            </a:prstGeom>
            <a:solidFill>
              <a:srgbClr val="3366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098" name="Rectangle 27"/>
            <p:cNvSpPr/>
            <p:nvPr/>
          </p:nvSpPr>
          <p:spPr>
            <a:xfrm>
              <a:off x="3657600" y="0"/>
              <a:ext cx="228600" cy="914400"/>
            </a:xfrm>
            <a:prstGeom prst="rect">
              <a:avLst/>
            </a:prstGeom>
            <a:solidFill>
              <a:srgbClr val="3366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</p:grpSp>
      <p:grpSp>
        <p:nvGrpSpPr>
          <p:cNvPr id="6105" name="Group 28"/>
          <p:cNvGrpSpPr/>
          <p:nvPr/>
        </p:nvGrpSpPr>
        <p:grpSpPr>
          <a:xfrm>
            <a:off x="7080169" y="4664445"/>
            <a:ext cx="3886201" cy="914401"/>
            <a:chOff x="0" y="0"/>
            <a:chExt cx="3886200" cy="914400"/>
          </a:xfrm>
        </p:grpSpPr>
        <p:sp>
          <p:nvSpPr>
            <p:cNvPr id="6100" name="Rectangle 29"/>
            <p:cNvSpPr/>
            <p:nvPr/>
          </p:nvSpPr>
          <p:spPr>
            <a:xfrm>
              <a:off x="0" y="0"/>
              <a:ext cx="228600" cy="914400"/>
            </a:xfrm>
            <a:prstGeom prst="rect">
              <a:avLst/>
            </a:prstGeom>
            <a:solidFill>
              <a:srgbClr val="99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01" name="Rectangle 30"/>
            <p:cNvSpPr/>
            <p:nvPr/>
          </p:nvSpPr>
          <p:spPr>
            <a:xfrm>
              <a:off x="914400" y="0"/>
              <a:ext cx="228600" cy="914400"/>
            </a:xfrm>
            <a:prstGeom prst="rect">
              <a:avLst/>
            </a:prstGeom>
            <a:solidFill>
              <a:srgbClr val="99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02" name="Rectangle 31"/>
            <p:cNvSpPr/>
            <p:nvPr/>
          </p:nvSpPr>
          <p:spPr>
            <a:xfrm>
              <a:off x="1828800" y="0"/>
              <a:ext cx="228600" cy="914400"/>
            </a:xfrm>
            <a:prstGeom prst="rect">
              <a:avLst/>
            </a:prstGeom>
            <a:solidFill>
              <a:srgbClr val="99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03" name="Rectangle 32"/>
            <p:cNvSpPr/>
            <p:nvPr/>
          </p:nvSpPr>
          <p:spPr>
            <a:xfrm>
              <a:off x="2743200" y="0"/>
              <a:ext cx="228600" cy="914400"/>
            </a:xfrm>
            <a:prstGeom prst="rect">
              <a:avLst/>
            </a:prstGeom>
            <a:solidFill>
              <a:srgbClr val="99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04" name="Rectangle 33"/>
            <p:cNvSpPr/>
            <p:nvPr/>
          </p:nvSpPr>
          <p:spPr>
            <a:xfrm>
              <a:off x="3657600" y="0"/>
              <a:ext cx="228600" cy="914400"/>
            </a:xfrm>
            <a:prstGeom prst="rect">
              <a:avLst/>
            </a:prstGeom>
            <a:solidFill>
              <a:srgbClr val="99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</p:grpSp>
      <p:grpSp>
        <p:nvGrpSpPr>
          <p:cNvPr id="6111" name="Group 34"/>
          <p:cNvGrpSpPr/>
          <p:nvPr/>
        </p:nvGrpSpPr>
        <p:grpSpPr>
          <a:xfrm>
            <a:off x="7308769" y="4664445"/>
            <a:ext cx="3886201" cy="914401"/>
            <a:chOff x="0" y="0"/>
            <a:chExt cx="3886200" cy="914400"/>
          </a:xfrm>
        </p:grpSpPr>
        <p:sp>
          <p:nvSpPr>
            <p:cNvPr id="6106" name="Rectangle 35"/>
            <p:cNvSpPr/>
            <p:nvPr/>
          </p:nvSpPr>
          <p:spPr>
            <a:xfrm>
              <a:off x="0" y="0"/>
              <a:ext cx="228600" cy="914400"/>
            </a:xfrm>
            <a:prstGeom prst="rect">
              <a:avLst/>
            </a:prstGeom>
            <a:solidFill>
              <a:srgbClr val="FF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07" name="Rectangle 36"/>
            <p:cNvSpPr/>
            <p:nvPr/>
          </p:nvSpPr>
          <p:spPr>
            <a:xfrm>
              <a:off x="914400" y="0"/>
              <a:ext cx="228600" cy="914400"/>
            </a:xfrm>
            <a:prstGeom prst="rect">
              <a:avLst/>
            </a:prstGeom>
            <a:solidFill>
              <a:srgbClr val="FF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08" name="Rectangle 37"/>
            <p:cNvSpPr/>
            <p:nvPr/>
          </p:nvSpPr>
          <p:spPr>
            <a:xfrm>
              <a:off x="1828800" y="0"/>
              <a:ext cx="228600" cy="914400"/>
            </a:xfrm>
            <a:prstGeom prst="rect">
              <a:avLst/>
            </a:prstGeom>
            <a:solidFill>
              <a:srgbClr val="FF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09" name="Rectangle 38"/>
            <p:cNvSpPr/>
            <p:nvPr/>
          </p:nvSpPr>
          <p:spPr>
            <a:xfrm>
              <a:off x="2743200" y="0"/>
              <a:ext cx="228600" cy="914400"/>
            </a:xfrm>
            <a:prstGeom prst="rect">
              <a:avLst/>
            </a:prstGeom>
            <a:solidFill>
              <a:srgbClr val="FF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10" name="Rectangle 39"/>
            <p:cNvSpPr/>
            <p:nvPr/>
          </p:nvSpPr>
          <p:spPr>
            <a:xfrm>
              <a:off x="3657600" y="0"/>
              <a:ext cx="228600" cy="914400"/>
            </a:xfrm>
            <a:prstGeom prst="rect">
              <a:avLst/>
            </a:prstGeom>
            <a:solidFill>
              <a:srgbClr val="FF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</p:grpSp>
      <p:grpSp>
        <p:nvGrpSpPr>
          <p:cNvPr id="6117" name="Group 40"/>
          <p:cNvGrpSpPr/>
          <p:nvPr/>
        </p:nvGrpSpPr>
        <p:grpSpPr>
          <a:xfrm>
            <a:off x="7537369" y="4664445"/>
            <a:ext cx="3886201" cy="914401"/>
            <a:chOff x="0" y="0"/>
            <a:chExt cx="3886200" cy="914400"/>
          </a:xfrm>
        </p:grpSpPr>
        <p:sp>
          <p:nvSpPr>
            <p:cNvPr id="6112" name="Rectangle 41"/>
            <p:cNvSpPr/>
            <p:nvPr/>
          </p:nvSpPr>
          <p:spPr>
            <a:xfrm>
              <a:off x="0" y="0"/>
              <a:ext cx="228600" cy="914400"/>
            </a:xfrm>
            <a:prstGeom prst="rect">
              <a:avLst/>
            </a:prstGeom>
            <a:solidFill>
              <a:srgbClr val="FF00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13" name="Rectangle 42"/>
            <p:cNvSpPr/>
            <p:nvPr/>
          </p:nvSpPr>
          <p:spPr>
            <a:xfrm>
              <a:off x="914400" y="0"/>
              <a:ext cx="228600" cy="914400"/>
            </a:xfrm>
            <a:prstGeom prst="rect">
              <a:avLst/>
            </a:prstGeom>
            <a:solidFill>
              <a:srgbClr val="FF00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14" name="Rectangle 43"/>
            <p:cNvSpPr/>
            <p:nvPr/>
          </p:nvSpPr>
          <p:spPr>
            <a:xfrm>
              <a:off x="1828800" y="0"/>
              <a:ext cx="228600" cy="914400"/>
            </a:xfrm>
            <a:prstGeom prst="rect">
              <a:avLst/>
            </a:prstGeom>
            <a:solidFill>
              <a:srgbClr val="FF00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15" name="Rectangle 44"/>
            <p:cNvSpPr/>
            <p:nvPr/>
          </p:nvSpPr>
          <p:spPr>
            <a:xfrm>
              <a:off x="2743200" y="0"/>
              <a:ext cx="228600" cy="914400"/>
            </a:xfrm>
            <a:prstGeom prst="rect">
              <a:avLst/>
            </a:prstGeom>
            <a:solidFill>
              <a:srgbClr val="FF00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16" name="Rectangle 45"/>
            <p:cNvSpPr/>
            <p:nvPr/>
          </p:nvSpPr>
          <p:spPr>
            <a:xfrm>
              <a:off x="3657600" y="0"/>
              <a:ext cx="228600" cy="914400"/>
            </a:xfrm>
            <a:prstGeom prst="rect">
              <a:avLst/>
            </a:prstGeom>
            <a:solidFill>
              <a:srgbClr val="FF00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</p:grpSp>
      <p:grpSp>
        <p:nvGrpSpPr>
          <p:cNvPr id="6121" name="Group 46"/>
          <p:cNvGrpSpPr/>
          <p:nvPr/>
        </p:nvGrpSpPr>
        <p:grpSpPr>
          <a:xfrm>
            <a:off x="6851569" y="2668639"/>
            <a:ext cx="4572001" cy="457201"/>
            <a:chOff x="0" y="0"/>
            <a:chExt cx="4572000" cy="457200"/>
          </a:xfrm>
        </p:grpSpPr>
        <p:sp>
          <p:nvSpPr>
            <p:cNvPr id="6118" name="Line 47"/>
            <p:cNvSpPr/>
            <p:nvPr/>
          </p:nvSpPr>
          <p:spPr>
            <a:xfrm>
              <a:off x="0" y="0"/>
              <a:ext cx="45720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19" name="Line 48"/>
            <p:cNvSpPr/>
            <p:nvPr/>
          </p:nvSpPr>
          <p:spPr>
            <a:xfrm>
              <a:off x="0" y="228600"/>
              <a:ext cx="45720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20" name="Line 49"/>
            <p:cNvSpPr/>
            <p:nvPr/>
          </p:nvSpPr>
          <p:spPr>
            <a:xfrm>
              <a:off x="0" y="457200"/>
              <a:ext cx="45720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141" name="Group 50"/>
          <p:cNvGrpSpPr/>
          <p:nvPr/>
        </p:nvGrpSpPr>
        <p:grpSpPr>
          <a:xfrm>
            <a:off x="7080169" y="4664445"/>
            <a:ext cx="4114801" cy="914401"/>
            <a:chOff x="0" y="0"/>
            <a:chExt cx="4114800" cy="914400"/>
          </a:xfrm>
        </p:grpSpPr>
        <p:sp>
          <p:nvSpPr>
            <p:cNvPr id="6122" name="Line 51"/>
            <p:cNvSpPr/>
            <p:nvPr/>
          </p:nvSpPr>
          <p:spPr>
            <a:xfrm flipH="1">
              <a:off x="-1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23" name="Line 52"/>
            <p:cNvSpPr/>
            <p:nvPr/>
          </p:nvSpPr>
          <p:spPr>
            <a:xfrm flipH="1">
              <a:off x="2285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24" name="Line 53"/>
            <p:cNvSpPr/>
            <p:nvPr/>
          </p:nvSpPr>
          <p:spPr>
            <a:xfrm flipH="1">
              <a:off x="4571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25" name="Line 54"/>
            <p:cNvSpPr/>
            <p:nvPr/>
          </p:nvSpPr>
          <p:spPr>
            <a:xfrm flipH="1">
              <a:off x="6857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26" name="Line 55"/>
            <p:cNvSpPr/>
            <p:nvPr/>
          </p:nvSpPr>
          <p:spPr>
            <a:xfrm flipH="1">
              <a:off x="9143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27" name="Line 56"/>
            <p:cNvSpPr/>
            <p:nvPr/>
          </p:nvSpPr>
          <p:spPr>
            <a:xfrm flipH="1">
              <a:off x="11429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28" name="Line 57"/>
            <p:cNvSpPr/>
            <p:nvPr/>
          </p:nvSpPr>
          <p:spPr>
            <a:xfrm flipH="1">
              <a:off x="13715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29" name="Line 58"/>
            <p:cNvSpPr/>
            <p:nvPr/>
          </p:nvSpPr>
          <p:spPr>
            <a:xfrm flipH="1">
              <a:off x="16001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0" name="Line 59"/>
            <p:cNvSpPr/>
            <p:nvPr/>
          </p:nvSpPr>
          <p:spPr>
            <a:xfrm>
              <a:off x="18288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1" name="Line 60"/>
            <p:cNvSpPr/>
            <p:nvPr/>
          </p:nvSpPr>
          <p:spPr>
            <a:xfrm>
              <a:off x="20574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2" name="Line 61"/>
            <p:cNvSpPr/>
            <p:nvPr/>
          </p:nvSpPr>
          <p:spPr>
            <a:xfrm>
              <a:off x="22860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3" name="Line 62"/>
            <p:cNvSpPr/>
            <p:nvPr/>
          </p:nvSpPr>
          <p:spPr>
            <a:xfrm>
              <a:off x="25146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4" name="Line 63"/>
            <p:cNvSpPr/>
            <p:nvPr/>
          </p:nvSpPr>
          <p:spPr>
            <a:xfrm>
              <a:off x="27432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5" name="Line 64"/>
            <p:cNvSpPr/>
            <p:nvPr/>
          </p:nvSpPr>
          <p:spPr>
            <a:xfrm>
              <a:off x="29718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6" name="Line 65"/>
            <p:cNvSpPr/>
            <p:nvPr/>
          </p:nvSpPr>
          <p:spPr>
            <a:xfrm>
              <a:off x="32004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7" name="Line 66"/>
            <p:cNvSpPr/>
            <p:nvPr/>
          </p:nvSpPr>
          <p:spPr>
            <a:xfrm>
              <a:off x="34290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8" name="Line 67"/>
            <p:cNvSpPr/>
            <p:nvPr/>
          </p:nvSpPr>
          <p:spPr>
            <a:xfrm>
              <a:off x="36576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9" name="Line 68"/>
            <p:cNvSpPr/>
            <p:nvPr/>
          </p:nvSpPr>
          <p:spPr>
            <a:xfrm>
              <a:off x="38862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40" name="Line 69"/>
            <p:cNvSpPr/>
            <p:nvPr/>
          </p:nvSpPr>
          <p:spPr>
            <a:xfrm>
              <a:off x="41148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146" name="Group 70"/>
          <p:cNvGrpSpPr/>
          <p:nvPr/>
        </p:nvGrpSpPr>
        <p:grpSpPr>
          <a:xfrm>
            <a:off x="6851569" y="2553069"/>
            <a:ext cx="4572001" cy="685801"/>
            <a:chOff x="0" y="0"/>
            <a:chExt cx="4572000" cy="685800"/>
          </a:xfrm>
        </p:grpSpPr>
        <p:sp>
          <p:nvSpPr>
            <p:cNvPr id="6142" name="Line 71"/>
            <p:cNvSpPr/>
            <p:nvPr/>
          </p:nvSpPr>
          <p:spPr>
            <a:xfrm>
              <a:off x="0" y="0"/>
              <a:ext cx="45720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43" name="Line 72"/>
            <p:cNvSpPr/>
            <p:nvPr/>
          </p:nvSpPr>
          <p:spPr>
            <a:xfrm>
              <a:off x="0" y="228600"/>
              <a:ext cx="45720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44" name="Line 73"/>
            <p:cNvSpPr/>
            <p:nvPr/>
          </p:nvSpPr>
          <p:spPr>
            <a:xfrm>
              <a:off x="0" y="457200"/>
              <a:ext cx="45720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45" name="Line 74"/>
            <p:cNvSpPr/>
            <p:nvPr/>
          </p:nvSpPr>
          <p:spPr>
            <a:xfrm>
              <a:off x="0" y="685800"/>
              <a:ext cx="45720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167" name="Group 75"/>
          <p:cNvGrpSpPr/>
          <p:nvPr/>
        </p:nvGrpSpPr>
        <p:grpSpPr>
          <a:xfrm>
            <a:off x="6965869" y="4664445"/>
            <a:ext cx="4343401" cy="914401"/>
            <a:chOff x="0" y="0"/>
            <a:chExt cx="4343400" cy="914400"/>
          </a:xfrm>
        </p:grpSpPr>
        <p:sp>
          <p:nvSpPr>
            <p:cNvPr id="6147" name="Line 76"/>
            <p:cNvSpPr/>
            <p:nvPr/>
          </p:nvSpPr>
          <p:spPr>
            <a:xfrm flipH="1">
              <a:off x="-1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48" name="Line 77"/>
            <p:cNvSpPr/>
            <p:nvPr/>
          </p:nvSpPr>
          <p:spPr>
            <a:xfrm flipH="1">
              <a:off x="2285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49" name="Line 78"/>
            <p:cNvSpPr/>
            <p:nvPr/>
          </p:nvSpPr>
          <p:spPr>
            <a:xfrm flipH="1">
              <a:off x="4571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0" name="Line 79"/>
            <p:cNvSpPr/>
            <p:nvPr/>
          </p:nvSpPr>
          <p:spPr>
            <a:xfrm flipH="1">
              <a:off x="6857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1" name="Line 80"/>
            <p:cNvSpPr/>
            <p:nvPr/>
          </p:nvSpPr>
          <p:spPr>
            <a:xfrm flipH="1">
              <a:off x="9143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2" name="Line 81"/>
            <p:cNvSpPr/>
            <p:nvPr/>
          </p:nvSpPr>
          <p:spPr>
            <a:xfrm flipH="1">
              <a:off x="11429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3" name="Line 82"/>
            <p:cNvSpPr/>
            <p:nvPr/>
          </p:nvSpPr>
          <p:spPr>
            <a:xfrm flipH="1">
              <a:off x="13715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4" name="Line 83"/>
            <p:cNvSpPr/>
            <p:nvPr/>
          </p:nvSpPr>
          <p:spPr>
            <a:xfrm flipH="1">
              <a:off x="1600199" y="0"/>
              <a:ext cx="1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5" name="Line 84"/>
            <p:cNvSpPr/>
            <p:nvPr/>
          </p:nvSpPr>
          <p:spPr>
            <a:xfrm>
              <a:off x="18288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6" name="Line 85"/>
            <p:cNvSpPr/>
            <p:nvPr/>
          </p:nvSpPr>
          <p:spPr>
            <a:xfrm>
              <a:off x="20574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7" name="Line 86"/>
            <p:cNvSpPr/>
            <p:nvPr/>
          </p:nvSpPr>
          <p:spPr>
            <a:xfrm>
              <a:off x="22860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8" name="Line 87"/>
            <p:cNvSpPr/>
            <p:nvPr/>
          </p:nvSpPr>
          <p:spPr>
            <a:xfrm>
              <a:off x="25146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59" name="Line 88"/>
            <p:cNvSpPr/>
            <p:nvPr/>
          </p:nvSpPr>
          <p:spPr>
            <a:xfrm>
              <a:off x="27432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60" name="Line 89"/>
            <p:cNvSpPr/>
            <p:nvPr/>
          </p:nvSpPr>
          <p:spPr>
            <a:xfrm>
              <a:off x="29718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61" name="Line 90"/>
            <p:cNvSpPr/>
            <p:nvPr/>
          </p:nvSpPr>
          <p:spPr>
            <a:xfrm>
              <a:off x="32004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62" name="Line 91"/>
            <p:cNvSpPr/>
            <p:nvPr/>
          </p:nvSpPr>
          <p:spPr>
            <a:xfrm>
              <a:off x="34290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63" name="Line 92"/>
            <p:cNvSpPr/>
            <p:nvPr/>
          </p:nvSpPr>
          <p:spPr>
            <a:xfrm>
              <a:off x="36576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64" name="Line 93"/>
            <p:cNvSpPr/>
            <p:nvPr/>
          </p:nvSpPr>
          <p:spPr>
            <a:xfrm>
              <a:off x="38862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65" name="Line 94"/>
            <p:cNvSpPr/>
            <p:nvPr/>
          </p:nvSpPr>
          <p:spPr>
            <a:xfrm>
              <a:off x="41148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66" name="Line 95"/>
            <p:cNvSpPr/>
            <p:nvPr/>
          </p:nvSpPr>
          <p:spPr>
            <a:xfrm>
              <a:off x="4343400" y="0"/>
              <a:ext cx="0" cy="914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173" name="Group 100"/>
          <p:cNvGrpSpPr/>
          <p:nvPr/>
        </p:nvGrpSpPr>
        <p:grpSpPr>
          <a:xfrm>
            <a:off x="9030889" y="1632322"/>
            <a:ext cx="2392681" cy="444759"/>
            <a:chOff x="0" y="0"/>
            <a:chExt cx="2392679" cy="444757"/>
          </a:xfrm>
        </p:grpSpPr>
        <p:sp>
          <p:nvSpPr>
            <p:cNvPr id="6168" name="Text Box 101"/>
            <p:cNvSpPr txBox="1"/>
            <p:nvPr/>
          </p:nvSpPr>
          <p:spPr>
            <a:xfrm>
              <a:off x="0" y="0"/>
              <a:ext cx="1124581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4 users</a:t>
              </a:r>
            </a:p>
          </p:txBody>
        </p:sp>
        <p:sp>
          <p:nvSpPr>
            <p:cNvPr id="6169" name="Rectangle 102"/>
            <p:cNvSpPr/>
            <p:nvPr/>
          </p:nvSpPr>
          <p:spPr>
            <a:xfrm>
              <a:off x="1249680" y="136525"/>
              <a:ext cx="228601" cy="228601"/>
            </a:xfrm>
            <a:prstGeom prst="rect">
              <a:avLst/>
            </a:prstGeom>
            <a:solidFill>
              <a:srgbClr val="3366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70" name="Rectangle 103"/>
            <p:cNvSpPr/>
            <p:nvPr/>
          </p:nvSpPr>
          <p:spPr>
            <a:xfrm>
              <a:off x="1554480" y="136525"/>
              <a:ext cx="228601" cy="228601"/>
            </a:xfrm>
            <a:prstGeom prst="rect">
              <a:avLst/>
            </a:prstGeom>
            <a:solidFill>
              <a:srgbClr val="99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71" name="Rectangle 104"/>
            <p:cNvSpPr/>
            <p:nvPr/>
          </p:nvSpPr>
          <p:spPr>
            <a:xfrm>
              <a:off x="1859280" y="136525"/>
              <a:ext cx="228601" cy="228601"/>
            </a:xfrm>
            <a:prstGeom prst="rect">
              <a:avLst/>
            </a:prstGeom>
            <a:solidFill>
              <a:srgbClr val="FFCC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6172" name="Rectangle 105"/>
            <p:cNvSpPr/>
            <p:nvPr/>
          </p:nvSpPr>
          <p:spPr>
            <a:xfrm>
              <a:off x="2164080" y="136525"/>
              <a:ext cx="228601" cy="228601"/>
            </a:xfrm>
            <a:prstGeom prst="rect">
              <a:avLst/>
            </a:prstGeom>
            <a:solidFill>
              <a:srgbClr val="FF00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</p:grpSp>
      <p:sp>
        <p:nvSpPr>
          <p:cNvPr id="6174" name="Content Placeholder 2"/>
          <p:cNvSpPr txBox="1"/>
          <p:nvPr>
            <p:ph type="body" sz="quarter" idx="1"/>
          </p:nvPr>
        </p:nvSpPr>
        <p:spPr>
          <a:xfrm>
            <a:off x="768430" y="1448156"/>
            <a:ext cx="5265054" cy="1980844"/>
          </a:xfrm>
          <a:prstGeom prst="rect">
            <a:avLst/>
          </a:prstGeom>
        </p:spPr>
        <p:txBody>
          <a:bodyPr/>
          <a:lstStyle/>
          <a:p>
            <a:pPr marL="11113" indent="-11113">
              <a:spcBef>
                <a:spcPts val="400"/>
              </a:spcBef>
              <a:buSzTx/>
              <a:buFont typeface="Wingdings"/>
              <a:buNone/>
              <a:defRPr sz="2400">
                <a:solidFill>
                  <a:srgbClr val="CC0000"/>
                </a:solidFill>
              </a:defRPr>
            </a:pPr>
            <a:r>
              <a:t>F</a:t>
            </a:r>
            <a:r>
              <a:rPr sz="2800"/>
              <a:t>requency Division Multiplexing </a:t>
            </a:r>
            <a:r>
              <a:t>(FDM)</a:t>
            </a:r>
          </a:p>
          <a:p>
            <a:pPr>
              <a:spcBef>
                <a:spcPts val="400"/>
              </a:spcBef>
              <a:defRPr sz="2400"/>
            </a:pPr>
            <a:r>
              <a:t>optical, electromagnetic frequencies divided into (narrow) frequency bands</a:t>
            </a:r>
          </a:p>
        </p:txBody>
      </p:sp>
      <p:sp>
        <p:nvSpPr>
          <p:cNvPr id="6175" name="Content Placeholder 2"/>
          <p:cNvSpPr txBox="1"/>
          <p:nvPr/>
        </p:nvSpPr>
        <p:spPr>
          <a:xfrm>
            <a:off x="896838" y="4389639"/>
            <a:ext cx="5184663" cy="2468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1113" indent="-11113">
              <a:lnSpc>
                <a:spcPct val="90000"/>
              </a:lnSpc>
              <a:spcBef>
                <a:spcPts val="600"/>
              </a:spcBef>
              <a:defRPr sz="2800">
                <a:solidFill>
                  <a:srgbClr val="CC0000"/>
                </a:solidFill>
              </a:defRPr>
            </a:pPr>
            <a:r>
              <a:t>Time</a:t>
            </a:r>
            <a:r>
              <a:rPr sz="2400"/>
              <a:t> </a:t>
            </a:r>
            <a:r>
              <a:t>Division Multiplexing </a:t>
            </a:r>
            <a:r>
              <a:rPr sz="2400"/>
              <a:t>(TDM)</a:t>
            </a:r>
            <a:endParaRPr sz="2400"/>
          </a:p>
          <a:p>
            <a:pPr marL="352425" indent="-222250">
              <a:lnSpc>
                <a:spcPct val="90000"/>
              </a:lnSpc>
              <a:spcBef>
                <a:spcPts val="6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time divided into slots</a:t>
            </a:r>
          </a:p>
        </p:txBody>
      </p:sp>
      <p:sp>
        <p:nvSpPr>
          <p:cNvPr id="6176" name="Content Placeholder 2"/>
          <p:cNvSpPr txBox="1"/>
          <p:nvPr/>
        </p:nvSpPr>
        <p:spPr>
          <a:xfrm>
            <a:off x="803844" y="3253121"/>
            <a:ext cx="5173614" cy="1039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303085" indent="-191135" defTabSz="786384">
              <a:lnSpc>
                <a:spcPct val="81000"/>
              </a:lnSpc>
              <a:spcBef>
                <a:spcPts val="300"/>
              </a:spcBef>
              <a:buClr>
                <a:srgbClr val="0000A3"/>
              </a:buClr>
              <a:buSzPct val="100000"/>
              <a:buChar char="▪"/>
              <a:defRPr sz="2064"/>
            </a:lvl1pPr>
          </a:lstStyle>
          <a:p>
            <a:pPr/>
            <a:r>
              <a:t>each call allocated its own band, can transmit at max rate of that narrow band </a:t>
            </a:r>
            <a:endParaRPr sz="2236"/>
          </a:p>
        </p:txBody>
      </p:sp>
      <p:sp>
        <p:nvSpPr>
          <p:cNvPr id="6177" name="Content Placeholder 2"/>
          <p:cNvSpPr txBox="1"/>
          <p:nvPr/>
        </p:nvSpPr>
        <p:spPr>
          <a:xfrm>
            <a:off x="894256" y="5261674"/>
            <a:ext cx="5184662" cy="2468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352425" indent="-222250">
              <a:lnSpc>
                <a:spcPct val="90000"/>
              </a:lnSpc>
              <a:spcBef>
                <a:spcPts val="600"/>
              </a:spcBef>
              <a:buClr>
                <a:srgbClr val="0000A3"/>
              </a:buClr>
              <a:buSzPct val="100000"/>
              <a:buChar char="▪"/>
              <a:defRPr sz="2400"/>
            </a:lvl1pPr>
          </a:lstStyle>
          <a:p>
            <a:pPr/>
            <a:r>
              <a:t>each call allocated periodic slot(s), can transmit at maximum rate of (wider) frequency band (only)  during its time slot(s)</a:t>
            </a:r>
          </a:p>
        </p:txBody>
      </p:sp>
      <p:sp>
        <p:nvSpPr>
          <p:cNvPr id="617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2" grpId="1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" dur="500"/>
                                        <p:tgtEl>
                                          <p:spTgt spid="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Class="entr" nodeType="after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Class="entr" nodeType="after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" dur="500"/>
                                        <p:tgtEl>
                                          <p:spTgt spid="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Class="entr" nodeType="after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9" dur="500"/>
                                        <p:tgtEl>
                                          <p:spTgt spid="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1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2" dur="500"/>
                                        <p:tgtEl>
                                          <p:spTgt spid="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1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2" dur="500"/>
                                        <p:tgtEl>
                                          <p:spTgt spid="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Class="entr" nodeType="afterEffect" presetSubtype="1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6" dur="500"/>
                                        <p:tgtEl>
                                          <p:spTgt spid="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Class="entr" nodeType="afterEffect" presetSubtype="1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0" dur="500"/>
                                        <p:tgtEl>
                                          <p:spTgt spid="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Class="entr" nodeType="afterEffect" presetSubtype="1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4" dur="500"/>
                                        <p:tgtEl>
                                          <p:spTgt spid="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Class="entr" nodeType="click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Class="entr" nodeType="clickEffect" presetSubtype="1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74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093" grpId="7"/>
      <p:bldP build="whole" bldLvl="1" animBg="1" rev="0" advAuto="0" spid="6105" grpId="12"/>
      <p:bldP build="whole" bldLvl="1" animBg="1" rev="0" advAuto="0" spid="6099" grpId="11"/>
      <p:bldP build="whole" bldLvl="1" animBg="1" rev="0" advAuto="0" spid="6111" grpId="13"/>
      <p:bldP build="whole" bldLvl="1" animBg="1" rev="0" advAuto="0" spid="6084" grpId="3"/>
      <p:bldP build="whole" bldLvl="1" animBg="1" rev="0" advAuto="0" spid="6086" grpId="5"/>
      <p:bldP build="whole" bldLvl="1" animBg="1" rev="0" advAuto="0" spid="6175" grpId="8"/>
      <p:bldP build="whole" bldLvl="1" animBg="1" rev="0" advAuto="0" spid="6177" grpId="10"/>
      <p:bldP build="whole" bldLvl="1" animBg="1" rev="0" advAuto="0" spid="6087" grpId="6"/>
      <p:bldP build="whole" bldLvl="1" animBg="1" rev="0" advAuto="0" spid="6121" grpId="1"/>
      <p:bldP build="whole" bldLvl="1" animBg="1" rev="0" advAuto="0" spid="6146" grpId="15"/>
      <p:bldP build="whole" bldLvl="1" animBg="1" rev="0" advAuto="0" spid="6176" grpId="2"/>
      <p:bldP build="whole" bldLvl="1" animBg="1" rev="0" advAuto="0" spid="6141" grpId="9"/>
      <p:bldP build="whole" bldLvl="1" animBg="1" rev="0" advAuto="0" spid="6085" grpId="4"/>
      <p:bldP build="whole" bldLvl="1" animBg="1" rev="0" advAuto="0" spid="6167" grpId="16"/>
      <p:bldP build="whole" bldLvl="1" animBg="1" rev="0" advAuto="0" spid="6117" grpId="14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0" name="Title 1"/>
          <p:cNvSpPr txBox="1"/>
          <p:nvPr>
            <p:ph type="title"/>
          </p:nvPr>
        </p:nvSpPr>
        <p:spPr>
          <a:xfrm>
            <a:off x="838200" y="244221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 switching versus circuit switching</a:t>
            </a:r>
          </a:p>
        </p:txBody>
      </p:sp>
      <p:sp>
        <p:nvSpPr>
          <p:cNvPr id="6181" name="Rectangle 3"/>
          <p:cNvSpPr txBox="1"/>
          <p:nvPr/>
        </p:nvSpPr>
        <p:spPr>
          <a:xfrm>
            <a:off x="1843770" y="1331088"/>
            <a:ext cx="4847151" cy="1938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69195" indent="-169195" defTabSz="667512">
              <a:lnSpc>
                <a:spcPct val="81000"/>
              </a:lnSpc>
              <a:spcBef>
                <a:spcPts val="400"/>
              </a:spcBef>
              <a:tabLst>
                <a:tab pos="406400" algn="l"/>
              </a:tabLst>
              <a:defRPr sz="2044"/>
            </a:pPr>
            <a:r>
              <a:t>example:</a:t>
            </a:r>
          </a:p>
          <a:p>
            <a:pPr marL="166878" indent="-166878" defTabSz="667512">
              <a:lnSpc>
                <a:spcPct val="81000"/>
              </a:lnSpc>
              <a:spcBef>
                <a:spcPts val="400"/>
              </a:spcBef>
              <a:buClr>
                <a:srgbClr val="0000A3"/>
              </a:buClr>
              <a:buSzPct val="100000"/>
              <a:buChar char="▪"/>
              <a:tabLst>
                <a:tab pos="406400" algn="l"/>
              </a:tabLst>
              <a:defRPr sz="1752"/>
            </a:pPr>
            <a:r>
              <a:t>1 Gb/s link</a:t>
            </a:r>
            <a:endParaRPr sz="2044"/>
          </a:p>
          <a:p>
            <a:pPr marL="166878" indent="-166878" defTabSz="667512">
              <a:lnSpc>
                <a:spcPct val="81000"/>
              </a:lnSpc>
              <a:spcBef>
                <a:spcPts val="400"/>
              </a:spcBef>
              <a:buClr>
                <a:srgbClr val="0000A3"/>
              </a:buClr>
              <a:buSzPct val="100000"/>
              <a:buChar char="▪"/>
              <a:tabLst>
                <a:tab pos="406400" algn="l"/>
              </a:tabLst>
              <a:defRPr sz="1752"/>
            </a:pPr>
            <a:r>
              <a:t>each user: </a:t>
            </a:r>
            <a:endParaRPr sz="2044"/>
          </a:p>
          <a:p>
            <a:pPr lvl="1" marL="375475" indent="-158766" defTabSz="667512">
              <a:lnSpc>
                <a:spcPct val="81000"/>
              </a:lnSpc>
              <a:spcBef>
                <a:spcPts val="400"/>
              </a:spcBef>
              <a:buClr>
                <a:srgbClr val="0000A8"/>
              </a:buClr>
              <a:buSzPct val="100000"/>
              <a:buChar char="•"/>
              <a:tabLst>
                <a:tab pos="406400" algn="l"/>
              </a:tabLst>
              <a:defRPr sz="1460"/>
            </a:pPr>
            <a:r>
              <a:t>100 Mb/s when “active”</a:t>
            </a:r>
            <a:endParaRPr sz="1752"/>
          </a:p>
          <a:p>
            <a:pPr lvl="1" marL="375475" indent="-158766" defTabSz="667512">
              <a:lnSpc>
                <a:spcPct val="81000"/>
              </a:lnSpc>
              <a:spcBef>
                <a:spcPts val="400"/>
              </a:spcBef>
              <a:buClr>
                <a:srgbClr val="0000A8"/>
              </a:buClr>
              <a:buSzPct val="100000"/>
              <a:buChar char="•"/>
              <a:tabLst>
                <a:tab pos="406400" algn="l"/>
              </a:tabLst>
              <a:defRPr sz="1460"/>
            </a:pPr>
            <a:r>
              <a:t>active 10% of time</a:t>
            </a:r>
            <a:endParaRPr sz="1752"/>
          </a:p>
          <a:p>
            <a:pPr lvl="1" marL="413718" indent="-159924" defTabSz="667512">
              <a:lnSpc>
                <a:spcPct val="81000"/>
              </a:lnSpc>
              <a:spcBef>
                <a:spcPts val="300"/>
              </a:spcBef>
              <a:buClr>
                <a:srgbClr val="0000A8"/>
              </a:buClr>
              <a:buSzPct val="100000"/>
              <a:buFont typeface="Arial"/>
              <a:buChar char="•"/>
              <a:tabLst>
                <a:tab pos="406400" algn="l"/>
              </a:tabLst>
              <a:defRPr sz="1460"/>
            </a:pPr>
          </a:p>
        </p:txBody>
      </p:sp>
      <p:sp>
        <p:nvSpPr>
          <p:cNvPr id="6182" name="Rectangle 4"/>
          <p:cNvSpPr txBox="1"/>
          <p:nvPr/>
        </p:nvSpPr>
        <p:spPr>
          <a:xfrm>
            <a:off x="815739" y="3313963"/>
            <a:ext cx="10993657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2250" indent="-92075">
              <a:lnSpc>
                <a:spcPct val="90000"/>
              </a:lnSpc>
              <a:spcBef>
                <a:spcPts val="1000"/>
              </a:spcBef>
              <a:defRPr i="1" sz="2400">
                <a:solidFill>
                  <a:srgbClr val="CC0000"/>
                </a:solidFill>
              </a:defRPr>
            </a:pPr>
            <a:r>
              <a:t>Q: </a:t>
            </a:r>
            <a:r>
              <a:rPr i="0">
                <a:solidFill>
                  <a:srgbClr val="000000"/>
                </a:solidFill>
              </a:rPr>
              <a:t>how many users can use this network under circuit-switching and packet switching?</a:t>
            </a:r>
          </a:p>
        </p:txBody>
      </p:sp>
      <p:sp>
        <p:nvSpPr>
          <p:cNvPr id="6183" name="TextBox 1"/>
          <p:cNvSpPr txBox="1"/>
          <p:nvPr/>
        </p:nvSpPr>
        <p:spPr>
          <a:xfrm>
            <a:off x="922210" y="6199144"/>
            <a:ext cx="905573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* Check out the online interactive exercises for more examples: h</a:t>
            </a:r>
            <a:r>
              <a:rPr sz="1200"/>
              <a:t>ttp://gaia.cs.umass.edu/kurose_ross/interactive</a:t>
            </a:r>
          </a:p>
        </p:txBody>
      </p:sp>
      <p:grpSp>
        <p:nvGrpSpPr>
          <p:cNvPr id="6210" name="Group 3"/>
          <p:cNvGrpSpPr/>
          <p:nvPr/>
        </p:nvGrpSpPr>
        <p:grpSpPr>
          <a:xfrm>
            <a:off x="5274717" y="1427105"/>
            <a:ext cx="4452992" cy="1665012"/>
            <a:chOff x="0" y="0"/>
            <a:chExt cx="4452990" cy="1665011"/>
          </a:xfrm>
        </p:grpSpPr>
        <p:sp>
          <p:nvSpPr>
            <p:cNvPr id="6184" name="Line 15"/>
            <p:cNvSpPr/>
            <p:nvPr/>
          </p:nvSpPr>
          <p:spPr>
            <a:xfrm>
              <a:off x="614648" y="401784"/>
              <a:ext cx="702455" cy="379670"/>
            </a:xfrm>
            <a:prstGeom prst="line">
              <a:avLst/>
            </a:prstGeom>
            <a:noFill/>
            <a:ln w="28575" cap="flat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85" name="Line 16"/>
            <p:cNvSpPr/>
            <p:nvPr/>
          </p:nvSpPr>
          <p:spPr>
            <a:xfrm>
              <a:off x="1310753" y="781453"/>
              <a:ext cx="1708243" cy="1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86" name="Line 17"/>
            <p:cNvSpPr/>
            <p:nvPr/>
          </p:nvSpPr>
          <p:spPr>
            <a:xfrm>
              <a:off x="1310753" y="927061"/>
              <a:ext cx="1708243" cy="1"/>
            </a:xfrm>
            <a:prstGeom prst="line">
              <a:avLst/>
            </a:prstGeom>
            <a:noFill/>
            <a:ln w="28575" cap="flat">
              <a:solidFill>
                <a:srgbClr val="0000A8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87" name="Line 18"/>
            <p:cNvSpPr/>
            <p:nvPr/>
          </p:nvSpPr>
          <p:spPr>
            <a:xfrm flipV="1">
              <a:off x="678507" y="927062"/>
              <a:ext cx="638595" cy="506226"/>
            </a:xfrm>
            <a:prstGeom prst="line">
              <a:avLst/>
            </a:prstGeom>
            <a:noFill/>
            <a:ln w="28575" cap="flat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88" name="Text Box 19"/>
            <p:cNvSpPr txBox="1"/>
            <p:nvPr/>
          </p:nvSpPr>
          <p:spPr>
            <a:xfrm>
              <a:off x="476183" y="588195"/>
              <a:ext cx="646868" cy="583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ct val="80000"/>
                </a:lnSpc>
                <a:defRPr i="1">
                  <a:solidFill>
                    <a:srgbClr val="000099"/>
                  </a:solidFill>
                </a:defRPr>
              </a:pPr>
              <a:r>
                <a:t>N</a:t>
              </a:r>
              <a:r>
                <a:rPr i="0"/>
                <a:t> 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0000"/>
                </a:lnSpc>
                <a:defRPr sz="2000">
                  <a:solidFill>
                    <a:srgbClr val="000099"/>
                  </a:solidFill>
                </a:defRPr>
              </a:pPr>
              <a:r>
                <a:t>users</a:t>
              </a:r>
            </a:p>
          </p:txBody>
        </p:sp>
        <p:sp>
          <p:nvSpPr>
            <p:cNvPr id="6189" name="Text Box 20"/>
            <p:cNvSpPr txBox="1"/>
            <p:nvPr/>
          </p:nvSpPr>
          <p:spPr>
            <a:xfrm>
              <a:off x="3214532" y="872522"/>
              <a:ext cx="1238459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 Gbps link</a:t>
              </a:r>
            </a:p>
          </p:txBody>
        </p:sp>
        <p:sp>
          <p:nvSpPr>
            <p:cNvPr id="6190" name="Line 47"/>
            <p:cNvSpPr/>
            <p:nvPr/>
          </p:nvSpPr>
          <p:spPr>
            <a:xfrm>
              <a:off x="2384089" y="858212"/>
              <a:ext cx="1181402" cy="1"/>
            </a:xfrm>
            <a:prstGeom prst="line">
              <a:avLst/>
            </a:prstGeom>
            <a:noFill/>
            <a:ln w="444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91" name="Text Box 34"/>
            <p:cNvSpPr txBox="1"/>
            <p:nvPr/>
          </p:nvSpPr>
          <p:spPr>
            <a:xfrm rot="5273514">
              <a:off x="88681" y="625257"/>
              <a:ext cx="657335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 sz="28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…..</a:t>
              </a:r>
            </a:p>
          </p:txBody>
        </p:sp>
        <p:grpSp>
          <p:nvGrpSpPr>
            <p:cNvPr id="6194" name="Group 37"/>
            <p:cNvGrpSpPr/>
            <p:nvPr/>
          </p:nvGrpSpPr>
          <p:grpSpPr>
            <a:xfrm>
              <a:off x="0" y="0"/>
              <a:ext cx="653230" cy="564232"/>
              <a:chOff x="0" y="0"/>
              <a:chExt cx="653229" cy="564231"/>
            </a:xfrm>
          </p:grpSpPr>
          <p:pic>
            <p:nvPicPr>
              <p:cNvPr id="6192" name="Picture 38" descr="Picture 38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653230" cy="56423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193" name="Freeform 39"/>
              <p:cNvSpPr/>
              <p:nvPr/>
            </p:nvSpPr>
            <p:spPr>
              <a:xfrm flipH="1">
                <a:off x="278338" y="54125"/>
                <a:ext cx="317626" cy="2583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6197" name="Group 40"/>
            <p:cNvGrpSpPr/>
            <p:nvPr/>
          </p:nvGrpSpPr>
          <p:grpSpPr>
            <a:xfrm>
              <a:off x="3990" y="1100779"/>
              <a:ext cx="653232" cy="564233"/>
              <a:chOff x="0" y="0"/>
              <a:chExt cx="653230" cy="564231"/>
            </a:xfrm>
          </p:grpSpPr>
          <p:pic>
            <p:nvPicPr>
              <p:cNvPr id="6195" name="Picture 41" descr="Picture 41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653231" cy="56423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196" name="Freeform 42"/>
              <p:cNvSpPr/>
              <p:nvPr/>
            </p:nvSpPr>
            <p:spPr>
              <a:xfrm flipH="1">
                <a:off x="278338" y="54125"/>
                <a:ext cx="317627" cy="2583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6209" name="Group 208"/>
            <p:cNvGrpSpPr/>
            <p:nvPr/>
          </p:nvGrpSpPr>
          <p:grpSpPr>
            <a:xfrm>
              <a:off x="1516288" y="616550"/>
              <a:ext cx="971122" cy="499170"/>
              <a:chOff x="0" y="0"/>
              <a:chExt cx="971120" cy="499169"/>
            </a:xfrm>
          </p:grpSpPr>
          <p:grpSp>
            <p:nvGrpSpPr>
              <p:cNvPr id="6200" name="Freeform 209"/>
              <p:cNvGrpSpPr/>
              <p:nvPr/>
            </p:nvGrpSpPr>
            <p:grpSpPr>
              <a:xfrm>
                <a:off x="-1" y="166082"/>
                <a:ext cx="971122" cy="333088"/>
                <a:chOff x="0" y="0"/>
                <a:chExt cx="971120" cy="333087"/>
              </a:xfrm>
            </p:grpSpPr>
            <p:sp>
              <p:nvSpPr>
                <p:cNvPr id="6198" name="Shape"/>
                <p:cNvSpPr/>
                <p:nvPr/>
              </p:nvSpPr>
              <p:spPr>
                <a:xfrm>
                  <a:off x="0" y="11140"/>
                  <a:ext cx="971121" cy="3108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199" name="Text"/>
                <p:cNvSpPr txBox="1"/>
                <p:nvPr/>
              </p:nvSpPr>
              <p:spPr>
                <a:xfrm>
                  <a:off x="48895" y="0"/>
                  <a:ext cx="873330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203" name="Oval 210"/>
              <p:cNvGrpSpPr/>
              <p:nvPr/>
            </p:nvGrpSpPr>
            <p:grpSpPr>
              <a:xfrm>
                <a:off x="558" y="-1"/>
                <a:ext cx="969945" cy="333089"/>
                <a:chOff x="0" y="0"/>
                <a:chExt cx="969943" cy="333087"/>
              </a:xfrm>
            </p:grpSpPr>
            <p:sp>
              <p:nvSpPr>
                <p:cNvPr id="6201" name="Oval"/>
                <p:cNvSpPr/>
                <p:nvPr/>
              </p:nvSpPr>
              <p:spPr>
                <a:xfrm>
                  <a:off x="0" y="12685"/>
                  <a:ext cx="969944" cy="307719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02" name="Text"/>
                <p:cNvSpPr txBox="1"/>
                <p:nvPr/>
              </p:nvSpPr>
              <p:spPr>
                <a:xfrm>
                  <a:off x="190939" y="0"/>
                  <a:ext cx="588066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208" name="Group 211"/>
              <p:cNvGrpSpPr/>
              <p:nvPr/>
            </p:nvGrpSpPr>
            <p:grpSpPr>
              <a:xfrm>
                <a:off x="144025" y="51795"/>
                <a:ext cx="682889" cy="226107"/>
                <a:chOff x="0" y="0"/>
                <a:chExt cx="682888" cy="226106"/>
              </a:xfrm>
            </p:grpSpPr>
            <p:sp>
              <p:nvSpPr>
                <p:cNvPr id="6204" name="Freeform 212"/>
                <p:cNvSpPr/>
                <p:nvPr/>
              </p:nvSpPr>
              <p:spPr>
                <a:xfrm>
                  <a:off x="18888" y="-1"/>
                  <a:ext cx="646000" cy="1265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05" name="Freeform 213"/>
                <p:cNvSpPr/>
                <p:nvPr/>
              </p:nvSpPr>
              <p:spPr>
                <a:xfrm>
                  <a:off x="441697" y="108265"/>
                  <a:ext cx="241192" cy="1089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06" name="Freeform 214"/>
                <p:cNvSpPr/>
                <p:nvPr/>
              </p:nvSpPr>
              <p:spPr>
                <a:xfrm>
                  <a:off x="-1" y="108265"/>
                  <a:ext cx="236833" cy="1077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07" name="Freeform 215"/>
                <p:cNvSpPr/>
                <p:nvPr/>
              </p:nvSpPr>
              <p:spPr>
                <a:xfrm>
                  <a:off x="82215" y="55048"/>
                  <a:ext cx="514948" cy="1710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sp>
        <p:nvSpPr>
          <p:cNvPr id="6211" name="Rectangle 3"/>
          <p:cNvSpPr txBox="1"/>
          <p:nvPr/>
        </p:nvSpPr>
        <p:spPr>
          <a:xfrm>
            <a:off x="953941" y="3603661"/>
            <a:ext cx="4847151" cy="9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lvl="1" marL="391049" indent="-151161" defTabSz="630936">
              <a:lnSpc>
                <a:spcPct val="90000"/>
              </a:lnSpc>
              <a:spcBef>
                <a:spcPts val="300"/>
              </a:spcBef>
              <a:buClr>
                <a:srgbClr val="0000A8"/>
              </a:buClr>
              <a:buSzPct val="100000"/>
              <a:buFont typeface="Arial"/>
              <a:buChar char="•"/>
              <a:tabLst>
                <a:tab pos="381000" algn="l"/>
              </a:tabLst>
              <a:defRPr sz="1380"/>
            </a:pPr>
          </a:p>
          <a:p>
            <a:pPr marL="159924" indent="-159924" defTabSz="630936">
              <a:lnSpc>
                <a:spcPct val="90000"/>
              </a:lnSpc>
              <a:spcBef>
                <a:spcPts val="600"/>
              </a:spcBef>
              <a:buClr>
                <a:srgbClr val="0000A3"/>
              </a:buClr>
              <a:buSzPct val="100000"/>
              <a:buChar char="▪"/>
              <a:tabLst>
                <a:tab pos="381000" algn="l"/>
              </a:tabLst>
              <a:defRPr i="1" sz="1932">
                <a:solidFill>
                  <a:srgbClr val="CC0000"/>
                </a:solidFill>
              </a:defRPr>
            </a:pPr>
            <a:r>
              <a:t>circuit-switching:</a:t>
            </a:r>
            <a:r>
              <a:rPr i="0">
                <a:solidFill>
                  <a:srgbClr val="000000"/>
                </a:solidFill>
              </a:rPr>
              <a:t> </a:t>
            </a:r>
            <a:r>
              <a:rPr i="0" sz="1656">
                <a:solidFill>
                  <a:srgbClr val="000000"/>
                </a:solidFill>
              </a:rPr>
              <a:t>10 users</a:t>
            </a:r>
          </a:p>
        </p:txBody>
      </p:sp>
      <p:grpSp>
        <p:nvGrpSpPr>
          <p:cNvPr id="6216" name="Group 2"/>
          <p:cNvGrpSpPr/>
          <p:nvPr/>
        </p:nvGrpSpPr>
        <p:grpSpPr>
          <a:xfrm>
            <a:off x="959830" y="4198444"/>
            <a:ext cx="10083482" cy="2164115"/>
            <a:chOff x="0" y="0"/>
            <a:chExt cx="10083480" cy="2164114"/>
          </a:xfrm>
        </p:grpSpPr>
        <p:grpSp>
          <p:nvGrpSpPr>
            <p:cNvPr id="6214" name="Group 35"/>
            <p:cNvGrpSpPr/>
            <p:nvPr/>
          </p:nvGrpSpPr>
          <p:grpSpPr>
            <a:xfrm>
              <a:off x="5269897" y="397957"/>
              <a:ext cx="4813584" cy="1237120"/>
              <a:chOff x="0" y="0"/>
              <a:chExt cx="4813582" cy="1237118"/>
            </a:xfrm>
          </p:grpSpPr>
          <p:sp>
            <p:nvSpPr>
              <p:cNvPr id="6212" name="Text Box 48"/>
              <p:cNvSpPr txBox="1"/>
              <p:nvPr/>
            </p:nvSpPr>
            <p:spPr>
              <a:xfrm>
                <a:off x="0" y="0"/>
                <a:ext cx="4813583" cy="4447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i="1" sz="2800">
                    <a:solidFill>
                      <a:srgbClr val="CC0000"/>
                    </a:solidFill>
                  </a:defRPr>
                </a:pPr>
                <a:r>
                  <a:t>Q:</a:t>
                </a:r>
                <a:r>
                  <a:rPr i="0">
                    <a:solidFill>
                      <a:srgbClr val="000000"/>
                    </a:solidFill>
                  </a:rPr>
                  <a:t> how did we get value 0.0004?</a:t>
                </a:r>
              </a:p>
            </p:txBody>
          </p:sp>
          <p:sp>
            <p:nvSpPr>
              <p:cNvPr id="6213" name="Text Box 48"/>
              <p:cNvSpPr txBox="1"/>
              <p:nvPr/>
            </p:nvSpPr>
            <p:spPr>
              <a:xfrm>
                <a:off x="23812" y="465137"/>
                <a:ext cx="4648841" cy="7719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i="1" sz="2800">
                    <a:solidFill>
                      <a:srgbClr val="CC0000"/>
                    </a:solidFill>
                  </a:defRPr>
                </a:pPr>
                <a:r>
                  <a:t>A:</a:t>
                </a:r>
                <a:r>
                  <a:rPr i="0">
                    <a:solidFill>
                      <a:srgbClr val="000000"/>
                    </a:solidFill>
                  </a:rPr>
                  <a:t> HW problem </a:t>
                </a:r>
                <a:r>
                  <a:rPr i="0" sz="2000">
                    <a:solidFill>
                      <a:srgbClr val="000000"/>
                    </a:solidFill>
                  </a:rPr>
                  <a:t>(for those with course in probability only)</a:t>
                </a:r>
              </a:p>
            </p:txBody>
          </p:sp>
        </p:grpSp>
        <p:sp>
          <p:nvSpPr>
            <p:cNvPr id="6215" name="Rectangle 3"/>
            <p:cNvSpPr txBox="1"/>
            <p:nvPr/>
          </p:nvSpPr>
          <p:spPr>
            <a:xfrm>
              <a:off x="0" y="0"/>
              <a:ext cx="4847150" cy="21641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 lvl="1" marL="566737" indent="-219075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SzPct val="100000"/>
                <a:buFont typeface="Arial"/>
                <a:buChar char="•"/>
                <a:tabLst>
                  <a:tab pos="558800" algn="l"/>
                </a:tabLst>
                <a:defRPr sz="2000"/>
              </a:pPr>
            </a:p>
            <a:p>
              <a:pPr marL="231775" indent="-231775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SzPct val="100000"/>
                <a:buChar char="▪"/>
                <a:tabLst>
                  <a:tab pos="558800" algn="l"/>
                </a:tabLst>
                <a:defRPr i="1" sz="2800">
                  <a:solidFill>
                    <a:srgbClr val="CC0000"/>
                  </a:solidFill>
                </a:defRPr>
              </a:pPr>
              <a:r>
                <a:t>packet switching:</a:t>
              </a:r>
              <a:r>
                <a:rPr i="0">
                  <a:solidFill>
                    <a:srgbClr val="000000"/>
                  </a:solidFill>
                </a:rPr>
                <a:t>  </a:t>
              </a:r>
              <a:r>
                <a:rPr i="0" sz="2400">
                  <a:solidFill>
                    <a:srgbClr val="000000"/>
                  </a:solidFill>
                </a:rPr>
                <a:t>with 35 users, probability &gt; 10 active at same time is less than .0004 *</a:t>
              </a:r>
            </a:p>
          </p:txBody>
        </p:sp>
      </p:grpSp>
      <p:sp>
        <p:nvSpPr>
          <p:cNvPr id="6217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183" grpId="3"/>
      <p:bldP build="whole" bldLvl="1" animBg="1" rev="0" advAuto="0" spid="6211" grpId="1"/>
      <p:bldP build="whole" bldLvl="1" animBg="1" rev="0" advAuto="0" spid="6216" grpId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9" name="Title 1"/>
          <p:cNvSpPr txBox="1"/>
          <p:nvPr>
            <p:ph type="title"/>
          </p:nvPr>
        </p:nvSpPr>
        <p:spPr>
          <a:xfrm>
            <a:off x="838200" y="244221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 switching versus circuit switching</a:t>
            </a:r>
          </a:p>
        </p:txBody>
      </p:sp>
      <p:sp>
        <p:nvSpPr>
          <p:cNvPr id="6220" name="Rectangle 3"/>
          <p:cNvSpPr txBox="1"/>
          <p:nvPr/>
        </p:nvSpPr>
        <p:spPr>
          <a:xfrm>
            <a:off x="913433" y="1869451"/>
            <a:ext cx="10379150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great for “bursty” data – sometimes has data to send, but at other times not</a:t>
            </a:r>
            <a:endParaRPr sz="2800"/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resource sharing</a:t>
            </a:r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simpler, no call setup</a:t>
            </a:r>
            <a:endParaRPr sz="2000"/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400">
                <a:solidFill>
                  <a:srgbClr val="CC0000"/>
                </a:solidFill>
              </a:defRPr>
            </a:pPr>
            <a:r>
              <a:t>excessive congestion possible:</a:t>
            </a:r>
            <a:r>
              <a:rPr>
                <a:solidFill>
                  <a:srgbClr val="000000"/>
                </a:solidFill>
              </a:rPr>
              <a:t> packet delay and loss due to buffer overflow</a:t>
            </a:r>
            <a:endParaRPr sz="2800"/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protocols needed for reliable data transfer, congestion control</a:t>
            </a:r>
            <a:endParaRPr sz="2000"/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2400">
                <a:solidFill>
                  <a:srgbClr val="CC0000"/>
                </a:solidFill>
              </a:defRPr>
            </a:pPr>
            <a:r>
              <a:t>Q:</a:t>
            </a:r>
            <a:r>
              <a:rPr i="0"/>
              <a:t> How to provide circuit-like behavior with packet-switching?</a:t>
            </a:r>
            <a:endParaRPr sz="2800"/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“It’s complicated.” We’ll study various techniques that try to make packet switching as “circuit-like” as possible.</a:t>
            </a:r>
          </a:p>
        </p:txBody>
      </p:sp>
      <p:sp>
        <p:nvSpPr>
          <p:cNvPr id="6221" name="Rectangle 4"/>
          <p:cNvSpPr txBox="1"/>
          <p:nvPr/>
        </p:nvSpPr>
        <p:spPr>
          <a:xfrm>
            <a:off x="771770" y="1206091"/>
            <a:ext cx="75285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222250" indent="-92075">
              <a:lnSpc>
                <a:spcPct val="90000"/>
              </a:lnSpc>
              <a:spcBef>
                <a:spcPts val="1000"/>
              </a:spcBef>
              <a:defRPr sz="3200"/>
            </a:lvl1pPr>
          </a:lstStyle>
          <a:p>
            <a:pPr/>
            <a:r>
              <a:t>Is packet switching a “slam dunk winner”?</a:t>
            </a:r>
          </a:p>
        </p:txBody>
      </p:sp>
      <p:sp>
        <p:nvSpPr>
          <p:cNvPr id="6222" name="Text Box 20"/>
          <p:cNvSpPr txBox="1"/>
          <p:nvPr/>
        </p:nvSpPr>
        <p:spPr>
          <a:xfrm>
            <a:off x="1035702" y="5381704"/>
            <a:ext cx="10379894" cy="876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2800">
                <a:solidFill>
                  <a:srgbClr val="CC0000"/>
                </a:solidFill>
              </a:defRPr>
            </a:pPr>
            <a:r>
              <a:t>Q:</a:t>
            </a:r>
            <a:r>
              <a:rPr i="0">
                <a:solidFill>
                  <a:srgbClr val="000000"/>
                </a:solidFill>
              </a:rPr>
              <a:t>  human analogies of reserved resources (circuit switching) versus on-demand allocation (packet switching)?</a:t>
            </a:r>
          </a:p>
        </p:txBody>
      </p:sp>
      <p:sp>
        <p:nvSpPr>
          <p:cNvPr id="6223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62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6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" dur="500"/>
                                        <p:tgtEl>
                                          <p:spTgt spid="6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500"/>
                                        <p:tgtEl>
                                          <p:spTgt spid="6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500"/>
                                        <p:tgtEl>
                                          <p:spTgt spid="6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6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500"/>
                                        <p:tgtEl>
                                          <p:spTgt spid="6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6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500"/>
                                        <p:tgtEl>
                                          <p:spTgt spid="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6220" grpId="1"/>
      <p:bldP build="whole" bldLvl="1" animBg="1" rev="0" advAuto="0" spid="6222" grpId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sp>
        <p:nvSpPr>
          <p:cNvPr id="6226" name="Content Placeholder 2"/>
          <p:cNvSpPr txBox="1"/>
          <p:nvPr>
            <p:ph type="body" sz="half" idx="1"/>
          </p:nvPr>
        </p:nvSpPr>
        <p:spPr>
          <a:xfrm>
            <a:off x="676091" y="1485150"/>
            <a:ext cx="6220655" cy="4776166"/>
          </a:xfrm>
          <a:prstGeom prst="rect">
            <a:avLst/>
          </a:prstGeom>
        </p:spPr>
        <p:txBody>
          <a:bodyPr/>
          <a:lstStyle/>
          <a:p>
            <a:pPr marL="466725" indent="-336550">
              <a:spcBef>
                <a:spcPts val="700"/>
              </a:spcBef>
              <a:buClr>
                <a:srgbClr val="000099"/>
              </a:buClr>
              <a:defRPr sz="3000"/>
            </a:pPr>
            <a:r>
              <a:t>hosts connect to Internet via </a:t>
            </a:r>
            <a:r>
              <a:rPr>
                <a:solidFill>
                  <a:srgbClr val="C00000"/>
                </a:solidFill>
              </a:rPr>
              <a:t>access </a:t>
            </a:r>
            <a:r>
              <a:t>Internet Service Providers (ISPs)</a:t>
            </a:r>
          </a:p>
          <a:p>
            <a:pPr marL="466725" indent="-336550">
              <a:spcBef>
                <a:spcPts val="700"/>
              </a:spcBef>
              <a:buClr>
                <a:srgbClr val="000099"/>
              </a:buClr>
              <a:defRPr sz="3000"/>
            </a:pPr>
            <a:r>
              <a:t>access ISPs in turn must be interconnected</a:t>
            </a:r>
          </a:p>
          <a:p>
            <a:pPr lvl="2" marL="847725" indent="-269875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Font typeface="Arial"/>
            </a:pPr>
            <a:r>
              <a:t>so that </a:t>
            </a:r>
            <a:r>
              <a:rPr i="1"/>
              <a:t>any</a:t>
            </a:r>
            <a:r>
              <a:t> two hosts </a:t>
            </a:r>
            <a:r>
              <a:rPr i="1"/>
              <a:t>(anywhere!) </a:t>
            </a:r>
            <a:r>
              <a:t>can send packets to each other</a:t>
            </a:r>
            <a:endParaRPr sz="2000"/>
          </a:p>
          <a:p>
            <a:pPr marL="466725" indent="-336550">
              <a:lnSpc>
                <a:spcPct val="85000"/>
              </a:lnSpc>
              <a:spcBef>
                <a:spcPts val="700"/>
              </a:spcBef>
              <a:buClr>
                <a:srgbClr val="000099"/>
              </a:buClr>
              <a:defRPr sz="3000"/>
            </a:pPr>
            <a:r>
              <a:t>resulting network of networks is very complex</a:t>
            </a:r>
          </a:p>
          <a:p>
            <a:pPr lvl="2" marL="847725" indent="-269875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Font typeface="Arial"/>
            </a:pPr>
            <a:r>
              <a:t>evolution driven by </a:t>
            </a:r>
            <a:r>
              <a:rPr>
                <a:solidFill>
                  <a:srgbClr val="C00000"/>
                </a:solidFill>
              </a:rPr>
              <a:t>economics,</a:t>
            </a:r>
            <a:r>
              <a:t> </a:t>
            </a:r>
            <a:r>
              <a:rPr>
                <a:solidFill>
                  <a:srgbClr val="C00000"/>
                </a:solidFill>
              </a:rPr>
              <a:t>national policies</a:t>
            </a:r>
          </a:p>
        </p:txBody>
      </p:sp>
      <p:sp>
        <p:nvSpPr>
          <p:cNvPr id="6227" name="Content Placeholder 2"/>
          <p:cNvSpPr txBox="1"/>
          <p:nvPr/>
        </p:nvSpPr>
        <p:spPr>
          <a:xfrm>
            <a:off x="691481" y="6138841"/>
            <a:ext cx="11640779" cy="541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indent="66389" defTabSz="466344">
              <a:lnSpc>
                <a:spcPct val="85000"/>
              </a:lnSpc>
              <a:spcBef>
                <a:spcPts val="300"/>
              </a:spcBef>
              <a:defRPr i="1" sz="1529">
                <a:solidFill>
                  <a:srgbClr val="0000A3"/>
                </a:solidFill>
              </a:defRPr>
            </a:lvl1pPr>
          </a:lstStyle>
          <a:p>
            <a:pPr/>
            <a:r>
              <a:t>Let’s take a stepwise approach to describe current Internet structure</a:t>
            </a:r>
          </a:p>
        </p:txBody>
      </p:sp>
      <p:grpSp>
        <p:nvGrpSpPr>
          <p:cNvPr id="6702" name="Group 3"/>
          <p:cNvGrpSpPr/>
          <p:nvPr/>
        </p:nvGrpSpPr>
        <p:grpSpPr>
          <a:xfrm>
            <a:off x="6910445" y="1395472"/>
            <a:ext cx="4745178" cy="4486853"/>
            <a:chOff x="0" y="0"/>
            <a:chExt cx="4745177" cy="4486851"/>
          </a:xfrm>
        </p:grpSpPr>
        <p:sp>
          <p:nvSpPr>
            <p:cNvPr id="6228" name="Rectangle 419"/>
            <p:cNvSpPr/>
            <p:nvPr/>
          </p:nvSpPr>
          <p:spPr>
            <a:xfrm>
              <a:off x="528629" y="2064618"/>
              <a:ext cx="987000" cy="669623"/>
            </a:xfrm>
            <a:prstGeom prst="rect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29" name="Freeform 7"/>
            <p:cNvSpPr/>
            <p:nvPr/>
          </p:nvSpPr>
          <p:spPr>
            <a:xfrm>
              <a:off x="2074742" y="1577316"/>
              <a:ext cx="1124809" cy="13379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9" h="20510" fill="norm" stroke="1" extrusionOk="0">
                  <a:moveTo>
                    <a:pt x="4338" y="7022"/>
                  </a:moveTo>
                  <a:cubicBezTo>
                    <a:pt x="2763" y="8848"/>
                    <a:pt x="1382" y="9254"/>
                    <a:pt x="902" y="11320"/>
                  </a:cubicBezTo>
                  <a:cubicBezTo>
                    <a:pt x="422" y="13386"/>
                    <a:pt x="-1132" y="17789"/>
                    <a:pt x="1456" y="19418"/>
                  </a:cubicBezTo>
                  <a:cubicBezTo>
                    <a:pt x="4045" y="21047"/>
                    <a:pt x="14587" y="20622"/>
                    <a:pt x="17527" y="19646"/>
                  </a:cubicBezTo>
                  <a:cubicBezTo>
                    <a:pt x="20468" y="18669"/>
                    <a:pt x="19432" y="15068"/>
                    <a:pt x="19100" y="13560"/>
                  </a:cubicBezTo>
                  <a:cubicBezTo>
                    <a:pt x="18768" y="12052"/>
                    <a:pt x="15646" y="13090"/>
                    <a:pt x="15536" y="10596"/>
                  </a:cubicBezTo>
                  <a:cubicBezTo>
                    <a:pt x="15746" y="7905"/>
                    <a:pt x="18905" y="7477"/>
                    <a:pt x="19045" y="5962"/>
                  </a:cubicBezTo>
                  <a:cubicBezTo>
                    <a:pt x="19184" y="4446"/>
                    <a:pt x="18059" y="3477"/>
                    <a:pt x="16373" y="1502"/>
                  </a:cubicBezTo>
                  <a:cubicBezTo>
                    <a:pt x="15001" y="420"/>
                    <a:pt x="12357" y="-553"/>
                    <a:pt x="10351" y="367"/>
                  </a:cubicBezTo>
                  <a:cubicBezTo>
                    <a:pt x="8345" y="1287"/>
                    <a:pt x="5912" y="5197"/>
                    <a:pt x="4338" y="7022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230" name="Freeform 417"/>
            <p:cNvSpPr/>
            <p:nvPr/>
          </p:nvSpPr>
          <p:spPr>
            <a:xfrm>
              <a:off x="371950" y="342805"/>
              <a:ext cx="1715493" cy="1301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31" name="AutoShape 420"/>
            <p:cNvSpPr/>
            <p:nvPr/>
          </p:nvSpPr>
          <p:spPr>
            <a:xfrm>
              <a:off x="294904" y="1800790"/>
              <a:ext cx="1458913" cy="317851"/>
            </a:xfrm>
            <a:prstGeom prst="triangle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32" name="Freeform 427"/>
            <p:cNvSpPr/>
            <p:nvPr/>
          </p:nvSpPr>
          <p:spPr>
            <a:xfrm>
              <a:off x="818020" y="3203542"/>
              <a:ext cx="3042748" cy="12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0" h="21257" fill="norm" stroke="1" extrusionOk="0">
                  <a:moveTo>
                    <a:pt x="10487" y="388"/>
                  </a:moveTo>
                  <a:cubicBezTo>
                    <a:pt x="9540" y="780"/>
                    <a:pt x="9151" y="2283"/>
                    <a:pt x="8293" y="2427"/>
                  </a:cubicBezTo>
                  <a:cubicBezTo>
                    <a:pt x="7436" y="2571"/>
                    <a:pt x="6423" y="1336"/>
                    <a:pt x="5320" y="1253"/>
                  </a:cubicBezTo>
                  <a:cubicBezTo>
                    <a:pt x="4218" y="1171"/>
                    <a:pt x="2526" y="841"/>
                    <a:pt x="1646" y="1933"/>
                  </a:cubicBezTo>
                  <a:cubicBezTo>
                    <a:pt x="767" y="3024"/>
                    <a:pt x="199" y="5989"/>
                    <a:pt x="43" y="7863"/>
                  </a:cubicBezTo>
                  <a:cubicBezTo>
                    <a:pt x="-113" y="9737"/>
                    <a:pt x="165" y="12105"/>
                    <a:pt x="678" y="13196"/>
                  </a:cubicBezTo>
                  <a:cubicBezTo>
                    <a:pt x="1190" y="14287"/>
                    <a:pt x="2169" y="13546"/>
                    <a:pt x="3094" y="14390"/>
                  </a:cubicBezTo>
                  <a:cubicBezTo>
                    <a:pt x="4018" y="15235"/>
                    <a:pt x="4897" y="17191"/>
                    <a:pt x="6211" y="18241"/>
                  </a:cubicBezTo>
                  <a:cubicBezTo>
                    <a:pt x="7525" y="19291"/>
                    <a:pt x="9373" y="20259"/>
                    <a:pt x="10976" y="20732"/>
                  </a:cubicBezTo>
                  <a:cubicBezTo>
                    <a:pt x="12580" y="21185"/>
                    <a:pt x="14461" y="21453"/>
                    <a:pt x="15842" y="21082"/>
                  </a:cubicBezTo>
                  <a:cubicBezTo>
                    <a:pt x="17223" y="20691"/>
                    <a:pt x="18336" y="19620"/>
                    <a:pt x="19249" y="18529"/>
                  </a:cubicBezTo>
                  <a:cubicBezTo>
                    <a:pt x="20162" y="17458"/>
                    <a:pt x="21108" y="16820"/>
                    <a:pt x="21298" y="14555"/>
                  </a:cubicBezTo>
                  <a:cubicBezTo>
                    <a:pt x="21487" y="12290"/>
                    <a:pt x="21019" y="7060"/>
                    <a:pt x="20362" y="5021"/>
                  </a:cubicBezTo>
                  <a:cubicBezTo>
                    <a:pt x="19706" y="2962"/>
                    <a:pt x="18392" y="3003"/>
                    <a:pt x="17323" y="2200"/>
                  </a:cubicBezTo>
                  <a:cubicBezTo>
                    <a:pt x="16254" y="1418"/>
                    <a:pt x="15085" y="471"/>
                    <a:pt x="13949" y="162"/>
                  </a:cubicBezTo>
                  <a:cubicBezTo>
                    <a:pt x="12814" y="-147"/>
                    <a:pt x="11433" y="18"/>
                    <a:pt x="10487" y="388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33" name="Text Box 580"/>
            <p:cNvSpPr txBox="1"/>
            <p:nvPr/>
          </p:nvSpPr>
          <p:spPr>
            <a:xfrm>
              <a:off x="814549" y="0"/>
              <a:ext cx="1246124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/>
              </a:lvl1pPr>
            </a:lstStyle>
            <a:p>
              <a:pPr/>
              <a:r>
                <a:t>mobile network</a:t>
              </a:r>
            </a:p>
          </p:txBody>
        </p:sp>
        <p:sp>
          <p:nvSpPr>
            <p:cNvPr id="6234" name="Text Box 580"/>
            <p:cNvSpPr txBox="1"/>
            <p:nvPr/>
          </p:nvSpPr>
          <p:spPr>
            <a:xfrm>
              <a:off x="466110" y="2703461"/>
              <a:ext cx="1864207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80000"/>
                </a:lnSpc>
                <a:defRPr sz="1400"/>
              </a:lvl1pPr>
            </a:lstStyle>
            <a:p>
              <a:pPr/>
              <a:r>
                <a:t>home network</a:t>
              </a:r>
            </a:p>
          </p:txBody>
        </p:sp>
        <p:sp>
          <p:nvSpPr>
            <p:cNvPr id="6235" name="Text Box 580"/>
            <p:cNvSpPr txBox="1"/>
            <p:nvPr/>
          </p:nvSpPr>
          <p:spPr>
            <a:xfrm>
              <a:off x="0" y="3813943"/>
              <a:ext cx="1566051" cy="4715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80000"/>
                </a:lnSpc>
                <a:defRPr sz="1400"/>
              </a:pPr>
              <a:r>
                <a:t>enterprise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>
                <a:lnSpc>
                  <a:spcPct val="80000"/>
                </a:lnSpc>
                <a:defRPr sz="1400"/>
              </a:pPr>
              <a:r>
                <a:t>          network</a:t>
              </a:r>
            </a:p>
          </p:txBody>
        </p:sp>
        <p:sp>
          <p:nvSpPr>
            <p:cNvPr id="6236" name="Freeform 14"/>
            <p:cNvSpPr/>
            <p:nvPr/>
          </p:nvSpPr>
          <p:spPr>
            <a:xfrm>
              <a:off x="3311700" y="1691078"/>
              <a:ext cx="1273169" cy="1935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7" h="20945" fill="norm" stroke="1" extrusionOk="0">
                  <a:moveTo>
                    <a:pt x="518" y="4719"/>
                  </a:moveTo>
                  <a:cubicBezTo>
                    <a:pt x="-13" y="6632"/>
                    <a:pt x="-204" y="10040"/>
                    <a:pt x="271" y="12041"/>
                  </a:cubicBezTo>
                  <a:cubicBezTo>
                    <a:pt x="746" y="14041"/>
                    <a:pt x="685" y="15290"/>
                    <a:pt x="3366" y="16725"/>
                  </a:cubicBezTo>
                  <a:cubicBezTo>
                    <a:pt x="6048" y="18159"/>
                    <a:pt x="13461" y="20187"/>
                    <a:pt x="16360" y="20649"/>
                  </a:cubicBezTo>
                  <a:cubicBezTo>
                    <a:pt x="19260" y="21111"/>
                    <a:pt x="20132" y="21234"/>
                    <a:pt x="20764" y="19498"/>
                  </a:cubicBezTo>
                  <a:cubicBezTo>
                    <a:pt x="21396" y="17761"/>
                    <a:pt x="20190" y="13347"/>
                    <a:pt x="20153" y="10230"/>
                  </a:cubicBezTo>
                  <a:cubicBezTo>
                    <a:pt x="20116" y="7114"/>
                    <a:pt x="21104" y="1964"/>
                    <a:pt x="20540" y="799"/>
                  </a:cubicBezTo>
                  <a:cubicBezTo>
                    <a:pt x="19976" y="-366"/>
                    <a:pt x="6793" y="-88"/>
                    <a:pt x="3456" y="566"/>
                  </a:cubicBezTo>
                  <a:cubicBezTo>
                    <a:pt x="119" y="1219"/>
                    <a:pt x="1048" y="2807"/>
                    <a:pt x="518" y="471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58999">
                  <a:srgbClr val="DEEBF7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6245" name="Group 15"/>
            <p:cNvGrpSpPr/>
            <p:nvPr/>
          </p:nvGrpSpPr>
          <p:grpSpPr>
            <a:xfrm>
              <a:off x="3927255" y="2439589"/>
              <a:ext cx="687394" cy="721549"/>
              <a:chOff x="0" y="0"/>
              <a:chExt cx="687392" cy="721548"/>
            </a:xfrm>
          </p:grpSpPr>
          <p:sp>
            <p:nvSpPr>
              <p:cNvPr id="6237" name="Freeform 16"/>
              <p:cNvSpPr/>
              <p:nvPr/>
            </p:nvSpPr>
            <p:spPr>
              <a:xfrm>
                <a:off x="267227" y="-1"/>
                <a:ext cx="420166" cy="7212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47" y="21482"/>
                    </a:moveTo>
                    <a:cubicBezTo>
                      <a:pt x="348" y="15108"/>
                      <a:pt x="99" y="9089"/>
                      <a:pt x="0" y="2715"/>
                    </a:cubicBezTo>
                    <a:lnTo>
                      <a:pt x="10279" y="0"/>
                    </a:lnTo>
                    <a:lnTo>
                      <a:pt x="21451" y="2243"/>
                    </a:lnTo>
                    <a:lnTo>
                      <a:pt x="21600" y="21600"/>
                    </a:lnTo>
                    <a:lnTo>
                      <a:pt x="447" y="21482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238" name="Freeform 17"/>
              <p:cNvSpPr/>
              <p:nvPr/>
            </p:nvSpPr>
            <p:spPr>
              <a:xfrm>
                <a:off x="0" y="185234"/>
                <a:ext cx="521585" cy="5359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6194"/>
                    </a:lnTo>
                    <a:lnTo>
                      <a:pt x="14040" y="0"/>
                    </a:lnTo>
                    <a:lnTo>
                      <a:pt x="21480" y="2541"/>
                    </a:lnTo>
                    <a:lnTo>
                      <a:pt x="21600" y="21600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239" name="Straight Connector 18"/>
              <p:cNvSpPr/>
              <p:nvPr/>
            </p:nvSpPr>
            <p:spPr>
              <a:xfrm flipV="1">
                <a:off x="54006" y="303213"/>
                <a:ext cx="236450" cy="80027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40" name="Straight Connector 19"/>
              <p:cNvSpPr/>
              <p:nvPr/>
            </p:nvSpPr>
            <p:spPr>
              <a:xfrm flipV="1">
                <a:off x="57914" y="556094"/>
                <a:ext cx="232542" cy="18248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41" name="Straight Connector 20"/>
              <p:cNvSpPr/>
              <p:nvPr/>
            </p:nvSpPr>
            <p:spPr>
              <a:xfrm flipV="1">
                <a:off x="57914" y="436343"/>
                <a:ext cx="232542" cy="52723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42" name="Straight Connector 21"/>
              <p:cNvSpPr/>
              <p:nvPr/>
            </p:nvSpPr>
            <p:spPr>
              <a:xfrm>
                <a:off x="53660" y="656716"/>
                <a:ext cx="236796" cy="1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43" name="Straight Connector 22"/>
              <p:cNvSpPr/>
              <p:nvPr/>
            </p:nvSpPr>
            <p:spPr>
              <a:xfrm flipV="1">
                <a:off x="598356" y="126039"/>
                <a:ext cx="1" cy="506809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ysDash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44" name="Straight Connector 23"/>
              <p:cNvSpPr/>
              <p:nvPr/>
            </p:nvSpPr>
            <p:spPr>
              <a:xfrm flipH="1">
                <a:off x="340761" y="202125"/>
                <a:ext cx="1" cy="519424"/>
              </a:xfrm>
              <a:prstGeom prst="line">
                <a:avLst/>
              </a:prstGeom>
              <a:noFill/>
              <a:ln w="15875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6254" name="Group 24"/>
            <p:cNvGrpSpPr/>
            <p:nvPr/>
          </p:nvGrpSpPr>
          <p:grpSpPr>
            <a:xfrm>
              <a:off x="3860726" y="1705710"/>
              <a:ext cx="594614" cy="648336"/>
              <a:chOff x="0" y="0"/>
              <a:chExt cx="594613" cy="648335"/>
            </a:xfrm>
          </p:grpSpPr>
          <p:sp>
            <p:nvSpPr>
              <p:cNvPr id="6246" name="Freeform 25"/>
              <p:cNvSpPr/>
              <p:nvPr/>
            </p:nvSpPr>
            <p:spPr>
              <a:xfrm>
                <a:off x="231158" y="0"/>
                <a:ext cx="363456" cy="6480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47" y="21482"/>
                    </a:moveTo>
                    <a:cubicBezTo>
                      <a:pt x="348" y="15108"/>
                      <a:pt x="99" y="9089"/>
                      <a:pt x="0" y="2715"/>
                    </a:cubicBezTo>
                    <a:lnTo>
                      <a:pt x="10279" y="0"/>
                    </a:lnTo>
                    <a:lnTo>
                      <a:pt x="21451" y="2243"/>
                    </a:lnTo>
                    <a:lnTo>
                      <a:pt x="21600" y="21600"/>
                    </a:lnTo>
                    <a:lnTo>
                      <a:pt x="447" y="21482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247" name="Freeform 26"/>
              <p:cNvSpPr/>
              <p:nvPr/>
            </p:nvSpPr>
            <p:spPr>
              <a:xfrm>
                <a:off x="-1" y="166439"/>
                <a:ext cx="451186" cy="4816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20" y="21600"/>
                    </a:moveTo>
                    <a:lnTo>
                      <a:pt x="0" y="6194"/>
                    </a:lnTo>
                    <a:lnTo>
                      <a:pt x="14040" y="0"/>
                    </a:lnTo>
                    <a:lnTo>
                      <a:pt x="21480" y="2541"/>
                    </a:lnTo>
                    <a:lnTo>
                      <a:pt x="21600" y="21600"/>
                    </a:lnTo>
                    <a:lnTo>
                      <a:pt x="120" y="21600"/>
                    </a:lnTo>
                    <a:close/>
                  </a:path>
                </a:pathLst>
              </a:custGeom>
              <a:solidFill>
                <a:srgbClr val="E0EBF1"/>
              </a:solidFill>
              <a:ln w="12700" cap="flat">
                <a:solidFill>
                  <a:srgbClr val="0000A3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248" name="Straight Connector 27"/>
              <p:cNvSpPr/>
              <p:nvPr/>
            </p:nvSpPr>
            <p:spPr>
              <a:xfrm flipV="1">
                <a:off x="46717" y="272447"/>
                <a:ext cx="204536" cy="71907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49" name="Straight Connector 28"/>
              <p:cNvSpPr/>
              <p:nvPr/>
            </p:nvSpPr>
            <p:spPr>
              <a:xfrm flipV="1">
                <a:off x="50097" y="499671"/>
                <a:ext cx="201155" cy="16396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50" name="Straight Connector 29"/>
              <p:cNvSpPr/>
              <p:nvPr/>
            </p:nvSpPr>
            <p:spPr>
              <a:xfrm flipV="1">
                <a:off x="50097" y="392068"/>
                <a:ext cx="201155" cy="47374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51" name="Straight Connector 30"/>
              <p:cNvSpPr/>
              <p:nvPr/>
            </p:nvSpPr>
            <p:spPr>
              <a:xfrm>
                <a:off x="46418" y="590082"/>
                <a:ext cx="204835" cy="1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52" name="Straight Connector 31"/>
              <p:cNvSpPr/>
              <p:nvPr/>
            </p:nvSpPr>
            <p:spPr>
              <a:xfrm flipV="1">
                <a:off x="517593" y="113251"/>
                <a:ext cx="1" cy="455385"/>
              </a:xfrm>
              <a:prstGeom prst="line">
                <a:avLst/>
              </a:prstGeom>
              <a:noFill/>
              <a:ln w="44450" cap="flat">
                <a:solidFill>
                  <a:srgbClr val="FFFFFF"/>
                </a:solidFill>
                <a:prstDash val="sysDash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53" name="Straight Connector 32"/>
              <p:cNvSpPr/>
              <p:nvPr/>
            </p:nvSpPr>
            <p:spPr>
              <a:xfrm flipH="1">
                <a:off x="294767" y="181616"/>
                <a:ext cx="1" cy="466720"/>
              </a:xfrm>
              <a:prstGeom prst="line">
                <a:avLst/>
              </a:prstGeom>
              <a:noFill/>
              <a:ln w="15875" cap="flat">
                <a:solidFill>
                  <a:srgbClr val="0000A8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6255" name="Freeform 33"/>
            <p:cNvSpPr/>
            <p:nvPr/>
          </p:nvSpPr>
          <p:spPr>
            <a:xfrm>
              <a:off x="2630367" y="293581"/>
              <a:ext cx="1497866" cy="1386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83" h="20611" fill="norm" stroke="1" extrusionOk="0">
                  <a:moveTo>
                    <a:pt x="1755" y="1299"/>
                  </a:moveTo>
                  <a:cubicBezTo>
                    <a:pt x="-1661" y="2817"/>
                    <a:pt x="832" y="7519"/>
                    <a:pt x="1567" y="10647"/>
                  </a:cubicBezTo>
                  <a:cubicBezTo>
                    <a:pt x="2301" y="13775"/>
                    <a:pt x="4122" y="18876"/>
                    <a:pt x="6162" y="20070"/>
                  </a:cubicBezTo>
                  <a:cubicBezTo>
                    <a:pt x="8201" y="21264"/>
                    <a:pt x="12080" y="20470"/>
                    <a:pt x="13806" y="17812"/>
                  </a:cubicBezTo>
                  <a:cubicBezTo>
                    <a:pt x="15532" y="15155"/>
                    <a:pt x="18183" y="18900"/>
                    <a:pt x="19061" y="17194"/>
                  </a:cubicBezTo>
                  <a:cubicBezTo>
                    <a:pt x="19939" y="15489"/>
                    <a:pt x="19192" y="10293"/>
                    <a:pt x="19074" y="7579"/>
                  </a:cubicBezTo>
                  <a:cubicBezTo>
                    <a:pt x="18955" y="4865"/>
                    <a:pt x="18817" y="2156"/>
                    <a:pt x="18352" y="910"/>
                  </a:cubicBezTo>
                  <a:cubicBezTo>
                    <a:pt x="17887" y="-336"/>
                    <a:pt x="14336" y="38"/>
                    <a:pt x="11570" y="103"/>
                  </a:cubicBezTo>
                  <a:cubicBezTo>
                    <a:pt x="8804" y="167"/>
                    <a:pt x="5171" y="-218"/>
                    <a:pt x="1755" y="129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57000">
                  <a:srgbClr val="DEEBF7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256" name="TextBox 34"/>
            <p:cNvSpPr txBox="1"/>
            <p:nvPr/>
          </p:nvSpPr>
          <p:spPr>
            <a:xfrm>
              <a:off x="2562476" y="362734"/>
              <a:ext cx="1626900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defRPr sz="1400"/>
              </a:lvl1pPr>
            </a:lstStyle>
            <a:p>
              <a:pPr/>
              <a:r>
                <a:t>national or global ISP</a:t>
              </a:r>
            </a:p>
          </p:txBody>
        </p:sp>
        <p:sp>
          <p:nvSpPr>
            <p:cNvPr id="6257" name="Rectangle 35"/>
            <p:cNvSpPr/>
            <p:nvPr/>
          </p:nvSpPr>
          <p:spPr>
            <a:xfrm>
              <a:off x="2368623" y="2189447"/>
              <a:ext cx="305750" cy="197848"/>
            </a:xfrm>
            <a:prstGeom prst="rect">
              <a:avLst/>
            </a:pr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258" name="TextBox 36"/>
            <p:cNvSpPr txBox="1"/>
            <p:nvPr/>
          </p:nvSpPr>
          <p:spPr>
            <a:xfrm>
              <a:off x="1901437" y="1959458"/>
              <a:ext cx="949200" cy="490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90000"/>
                </a:lnSpc>
                <a:defRPr sz="1400"/>
              </a:lvl1pPr>
            </a:lstStyle>
            <a:p>
              <a:pPr/>
              <a:r>
                <a:t>local or regional ISP</a:t>
              </a:r>
            </a:p>
          </p:txBody>
        </p:sp>
        <p:sp>
          <p:nvSpPr>
            <p:cNvPr id="6259" name="TextBox 37"/>
            <p:cNvSpPr txBox="1"/>
            <p:nvPr/>
          </p:nvSpPr>
          <p:spPr>
            <a:xfrm>
              <a:off x="4053042" y="3189476"/>
              <a:ext cx="692136" cy="3799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90000"/>
                </a:lnSpc>
                <a:defRPr sz="1000"/>
              </a:pPr>
              <a:r>
                <a:t>datacenter </a:t>
              </a:r>
            </a:p>
            <a:p>
              <a:pPr>
                <a:lnSpc>
                  <a:spcPct val="90000"/>
                </a:lnSpc>
                <a:defRPr sz="1000"/>
              </a:pPr>
              <a:r>
                <a:t>network</a:t>
              </a:r>
            </a:p>
          </p:txBody>
        </p:sp>
        <p:sp>
          <p:nvSpPr>
            <p:cNvPr id="6260" name="TextBox 38"/>
            <p:cNvSpPr txBox="1"/>
            <p:nvPr/>
          </p:nvSpPr>
          <p:spPr>
            <a:xfrm>
              <a:off x="3198293" y="2739787"/>
              <a:ext cx="754830" cy="7001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90000"/>
                </a:lnSpc>
                <a:defRPr sz="1400"/>
              </a:pPr>
              <a:r>
                <a:t>content </a:t>
              </a:r>
            </a:p>
            <a:p>
              <a:pPr>
                <a:lnSpc>
                  <a:spcPct val="90000"/>
                </a:lnSpc>
                <a:defRPr sz="1400"/>
              </a:pPr>
              <a:r>
                <a:t>provider </a:t>
              </a:r>
            </a:p>
            <a:p>
              <a:pPr>
                <a:lnSpc>
                  <a:spcPct val="90000"/>
                </a:lnSpc>
                <a:defRPr sz="1400"/>
              </a:pPr>
              <a:r>
                <a:t>network</a:t>
              </a:r>
            </a:p>
          </p:txBody>
        </p:sp>
        <p:sp>
          <p:nvSpPr>
            <p:cNvPr id="6261" name="Straight Connector 39"/>
            <p:cNvSpPr/>
            <p:nvPr/>
          </p:nvSpPr>
          <p:spPr>
            <a:xfrm flipH="1" flipV="1">
              <a:off x="3649475" y="2091664"/>
              <a:ext cx="412965" cy="6371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62" name="Straight Connector 40"/>
            <p:cNvSpPr/>
            <p:nvPr/>
          </p:nvSpPr>
          <p:spPr>
            <a:xfrm flipH="1" flipV="1">
              <a:off x="3750390" y="2152223"/>
              <a:ext cx="345867" cy="738976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63" name="Straight Connector 41"/>
            <p:cNvSpPr/>
            <p:nvPr/>
          </p:nvSpPr>
          <p:spPr>
            <a:xfrm flipV="1">
              <a:off x="3726452" y="2144960"/>
              <a:ext cx="335988" cy="39534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64" name="Straight Connector 42"/>
            <p:cNvSpPr/>
            <p:nvPr/>
          </p:nvSpPr>
          <p:spPr>
            <a:xfrm flipH="1" flipV="1">
              <a:off x="3660329" y="2106435"/>
              <a:ext cx="2" cy="485749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65" name="Straight Connector 43"/>
            <p:cNvSpPr/>
            <p:nvPr/>
          </p:nvSpPr>
          <p:spPr>
            <a:xfrm flipH="1" flipV="1">
              <a:off x="3640175" y="2583181"/>
              <a:ext cx="508544" cy="348648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66" name="Straight Connector 44"/>
            <p:cNvSpPr/>
            <p:nvPr/>
          </p:nvSpPr>
          <p:spPr>
            <a:xfrm flipH="1">
              <a:off x="2984750" y="2599281"/>
              <a:ext cx="655426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67" name="Straight Connector 45"/>
            <p:cNvSpPr/>
            <p:nvPr/>
          </p:nvSpPr>
          <p:spPr>
            <a:xfrm flipH="1">
              <a:off x="2309171" y="2599281"/>
              <a:ext cx="655426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68" name="Straight Connector 46"/>
            <p:cNvSpPr/>
            <p:nvPr/>
          </p:nvSpPr>
          <p:spPr>
            <a:xfrm flipH="1">
              <a:off x="2366423" y="2019211"/>
              <a:ext cx="382425" cy="51705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69" name="Straight Connector 47"/>
            <p:cNvSpPr/>
            <p:nvPr/>
          </p:nvSpPr>
          <p:spPr>
            <a:xfrm>
              <a:off x="2822624" y="2019211"/>
              <a:ext cx="1" cy="540295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0" name="Straight Connector 48"/>
            <p:cNvSpPr/>
            <p:nvPr/>
          </p:nvSpPr>
          <p:spPr>
            <a:xfrm>
              <a:off x="3227223" y="1266231"/>
              <a:ext cx="488175" cy="839333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1" name="Straight Connector 49"/>
            <p:cNvSpPr/>
            <p:nvPr/>
          </p:nvSpPr>
          <p:spPr>
            <a:xfrm flipH="1">
              <a:off x="2888274" y="1206552"/>
              <a:ext cx="380433" cy="69480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2" name="Straight Connector 50"/>
            <p:cNvSpPr/>
            <p:nvPr/>
          </p:nvSpPr>
          <p:spPr>
            <a:xfrm flipH="1">
              <a:off x="3190190" y="680970"/>
              <a:ext cx="761468" cy="5773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3" name="Straight Connector 51"/>
            <p:cNvSpPr/>
            <p:nvPr/>
          </p:nvSpPr>
          <p:spPr>
            <a:xfrm flipH="1">
              <a:off x="3190190" y="779852"/>
              <a:ext cx="3971" cy="51846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4" name="Straight Connector 52"/>
            <p:cNvSpPr/>
            <p:nvPr/>
          </p:nvSpPr>
          <p:spPr>
            <a:xfrm flipH="1">
              <a:off x="3761690" y="712045"/>
              <a:ext cx="149361" cy="51846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5" name="Straight Connector 53"/>
            <p:cNvSpPr/>
            <p:nvPr/>
          </p:nvSpPr>
          <p:spPr>
            <a:xfrm flipH="1">
              <a:off x="3231721" y="1230506"/>
              <a:ext cx="574284" cy="2782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6" name="Straight Connector 54"/>
            <p:cNvSpPr/>
            <p:nvPr/>
          </p:nvSpPr>
          <p:spPr>
            <a:xfrm flipH="1">
              <a:off x="3159097" y="680971"/>
              <a:ext cx="788590" cy="9888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7" name="Straight Connector 55"/>
            <p:cNvSpPr/>
            <p:nvPr/>
          </p:nvSpPr>
          <p:spPr>
            <a:xfrm flipH="1">
              <a:off x="3951658" y="638864"/>
              <a:ext cx="279003" cy="4210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8" name="Straight Connector 56"/>
            <p:cNvSpPr/>
            <p:nvPr/>
          </p:nvSpPr>
          <p:spPr>
            <a:xfrm flipH="1" flipV="1">
              <a:off x="3771549" y="1230506"/>
              <a:ext cx="353542" cy="6780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79" name="Straight Connector 57"/>
            <p:cNvSpPr/>
            <p:nvPr/>
          </p:nvSpPr>
          <p:spPr>
            <a:xfrm flipH="1">
              <a:off x="1858778" y="779852"/>
              <a:ext cx="1300320" cy="60662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80" name="Line 541"/>
            <p:cNvSpPr/>
            <p:nvPr/>
          </p:nvSpPr>
          <p:spPr>
            <a:xfrm flipV="1">
              <a:off x="2468260" y="2624918"/>
              <a:ext cx="429325" cy="70560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81" name="Line 424"/>
            <p:cNvSpPr/>
            <p:nvPr/>
          </p:nvSpPr>
          <p:spPr>
            <a:xfrm flipV="1">
              <a:off x="1334109" y="2558995"/>
              <a:ext cx="969052" cy="3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82" name="Oval 800"/>
            <p:cNvSpPr/>
            <p:nvPr/>
          </p:nvSpPr>
          <p:spPr>
            <a:xfrm>
              <a:off x="1264096" y="804534"/>
              <a:ext cx="52389" cy="49487"/>
            </a:xfrm>
            <a:prstGeom prst="ellipse">
              <a:avLst/>
            </a:prstGeom>
            <a:solidFill>
              <a:srgbClr val="44546A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6294" name="Group 61"/>
            <p:cNvGrpSpPr/>
            <p:nvPr/>
          </p:nvGrpSpPr>
          <p:grpSpPr>
            <a:xfrm>
              <a:off x="3500164" y="1905332"/>
              <a:ext cx="353679" cy="402389"/>
              <a:chOff x="0" y="0"/>
              <a:chExt cx="353677" cy="402387"/>
            </a:xfrm>
          </p:grpSpPr>
          <p:grpSp>
            <p:nvGrpSpPr>
              <p:cNvPr id="6285" name="Freeform 62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283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84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288" name="Oval 63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286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87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293" name="Group 64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289" name="Freeform 65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90" name="Freeform 66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91" name="Freeform 67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92" name="Freeform 68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06" name="Group 69"/>
            <p:cNvGrpSpPr/>
            <p:nvPr/>
          </p:nvGrpSpPr>
          <p:grpSpPr>
            <a:xfrm>
              <a:off x="3038279" y="611486"/>
              <a:ext cx="353679" cy="402389"/>
              <a:chOff x="0" y="0"/>
              <a:chExt cx="353677" cy="402387"/>
            </a:xfrm>
          </p:grpSpPr>
          <p:grpSp>
            <p:nvGrpSpPr>
              <p:cNvPr id="6297" name="Freeform 70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295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96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00" name="Oval 71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298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99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05" name="Group 72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301" name="Freeform 73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02" name="Freeform 74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03" name="Freeform 75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04" name="Freeform 76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18" name="Group 77"/>
            <p:cNvGrpSpPr/>
            <p:nvPr/>
          </p:nvGrpSpPr>
          <p:grpSpPr>
            <a:xfrm>
              <a:off x="3616769" y="1022561"/>
              <a:ext cx="353679" cy="402389"/>
              <a:chOff x="0" y="0"/>
              <a:chExt cx="353677" cy="402387"/>
            </a:xfrm>
          </p:grpSpPr>
          <p:grpSp>
            <p:nvGrpSpPr>
              <p:cNvPr id="6309" name="Freeform 78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307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08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12" name="Oval 79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310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11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17" name="Group 80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313" name="Freeform 81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14" name="Freeform 82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15" name="Freeform 83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16" name="Freeform 84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30" name="Group 85"/>
            <p:cNvGrpSpPr/>
            <p:nvPr/>
          </p:nvGrpSpPr>
          <p:grpSpPr>
            <a:xfrm>
              <a:off x="3733380" y="517157"/>
              <a:ext cx="353679" cy="402389"/>
              <a:chOff x="0" y="0"/>
              <a:chExt cx="353677" cy="402387"/>
            </a:xfrm>
          </p:grpSpPr>
          <p:grpSp>
            <p:nvGrpSpPr>
              <p:cNvPr id="6321" name="Freeform 86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319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20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24" name="Oval 87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322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23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29" name="Group 88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325" name="Freeform 89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26" name="Freeform 90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27" name="Freeform 91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28" name="Freeform 92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42" name="Group 93"/>
            <p:cNvGrpSpPr/>
            <p:nvPr/>
          </p:nvGrpSpPr>
          <p:grpSpPr>
            <a:xfrm>
              <a:off x="2188343" y="2379400"/>
              <a:ext cx="367225" cy="417049"/>
              <a:chOff x="0" y="0"/>
              <a:chExt cx="367223" cy="417048"/>
            </a:xfrm>
          </p:grpSpPr>
          <p:grpSp>
            <p:nvGrpSpPr>
              <p:cNvPr id="6333" name="Freeform 94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6331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32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36" name="Oval 95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6334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35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41" name="Group 96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6337" name="Freeform 97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38" name="Freeform 98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39" name="Freeform 99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40" name="Freeform 100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54" name="Group 101"/>
            <p:cNvGrpSpPr/>
            <p:nvPr/>
          </p:nvGrpSpPr>
          <p:grpSpPr>
            <a:xfrm>
              <a:off x="3069681" y="1070759"/>
              <a:ext cx="353679" cy="402389"/>
              <a:chOff x="0" y="0"/>
              <a:chExt cx="353677" cy="402387"/>
            </a:xfrm>
          </p:grpSpPr>
          <p:grpSp>
            <p:nvGrpSpPr>
              <p:cNvPr id="6345" name="Freeform 102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343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44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48" name="Oval 103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346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47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53" name="Group 104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349" name="Freeform 105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50" name="Freeform 106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51" name="Freeform 107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52" name="Freeform 108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66" name="Group 109"/>
            <p:cNvGrpSpPr/>
            <p:nvPr/>
          </p:nvGrpSpPr>
          <p:grpSpPr>
            <a:xfrm>
              <a:off x="2586693" y="1816808"/>
              <a:ext cx="367225" cy="417049"/>
              <a:chOff x="0" y="0"/>
              <a:chExt cx="367223" cy="417048"/>
            </a:xfrm>
          </p:grpSpPr>
          <p:grpSp>
            <p:nvGrpSpPr>
              <p:cNvPr id="6357" name="Freeform 110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6355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56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60" name="Oval 111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6358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59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65" name="Group 112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6361" name="Freeform 113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62" name="Freeform 114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63" name="Freeform 115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64" name="Freeform 116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78" name="Group 117"/>
            <p:cNvGrpSpPr/>
            <p:nvPr/>
          </p:nvGrpSpPr>
          <p:grpSpPr>
            <a:xfrm>
              <a:off x="2691109" y="2422539"/>
              <a:ext cx="367225" cy="417049"/>
              <a:chOff x="0" y="0"/>
              <a:chExt cx="367223" cy="417048"/>
            </a:xfrm>
          </p:grpSpPr>
          <p:grpSp>
            <p:nvGrpSpPr>
              <p:cNvPr id="6369" name="Freeform 118"/>
              <p:cNvGrpSpPr/>
              <p:nvPr/>
            </p:nvGrpSpPr>
            <p:grpSpPr>
              <a:xfrm>
                <a:off x="0" y="83960"/>
                <a:ext cx="367224" cy="333089"/>
                <a:chOff x="0" y="0"/>
                <a:chExt cx="367223" cy="333087"/>
              </a:xfrm>
            </p:grpSpPr>
            <p:sp>
              <p:nvSpPr>
                <p:cNvPr id="6367" name="Shape"/>
                <p:cNvSpPr/>
                <p:nvPr/>
              </p:nvSpPr>
              <p:spPr>
                <a:xfrm>
                  <a:off x="0" y="87981"/>
                  <a:ext cx="367224" cy="157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68" name="Text"/>
                <p:cNvSpPr txBox="1"/>
                <p:nvPr/>
              </p:nvSpPr>
              <p:spPr>
                <a:xfrm>
                  <a:off x="48894" y="0"/>
                  <a:ext cx="26943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72" name="Oval 119"/>
              <p:cNvGrpSpPr/>
              <p:nvPr/>
            </p:nvGrpSpPr>
            <p:grpSpPr>
              <a:xfrm>
                <a:off x="211" y="-1"/>
                <a:ext cx="366781" cy="333089"/>
                <a:chOff x="0" y="0"/>
                <a:chExt cx="366780" cy="333087"/>
              </a:xfrm>
            </p:grpSpPr>
            <p:sp>
              <p:nvSpPr>
                <p:cNvPr id="6370" name="Oval"/>
                <p:cNvSpPr/>
                <p:nvPr/>
              </p:nvSpPr>
              <p:spPr>
                <a:xfrm>
                  <a:off x="0" y="88762"/>
                  <a:ext cx="366781" cy="155563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71" name="Text"/>
                <p:cNvSpPr txBox="1"/>
                <p:nvPr/>
              </p:nvSpPr>
              <p:spPr>
                <a:xfrm>
                  <a:off x="102609" y="0"/>
                  <a:ext cx="161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77" name="Group 120"/>
              <p:cNvGrpSpPr/>
              <p:nvPr/>
            </p:nvGrpSpPr>
            <p:grpSpPr>
              <a:xfrm>
                <a:off x="54462" y="108534"/>
                <a:ext cx="258231" cy="114306"/>
                <a:chOff x="0" y="0"/>
                <a:chExt cx="258230" cy="114304"/>
              </a:xfrm>
            </p:grpSpPr>
            <p:sp>
              <p:nvSpPr>
                <p:cNvPr id="6373" name="Freeform 121"/>
                <p:cNvSpPr/>
                <p:nvPr/>
              </p:nvSpPr>
              <p:spPr>
                <a:xfrm>
                  <a:off x="7142" y="-1"/>
                  <a:ext cx="244282" cy="639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74" name="Freeform 122"/>
                <p:cNvSpPr/>
                <p:nvPr/>
              </p:nvSpPr>
              <p:spPr>
                <a:xfrm>
                  <a:off x="167025" y="54732"/>
                  <a:ext cx="91206" cy="550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75" name="Freeform 123"/>
                <p:cNvSpPr/>
                <p:nvPr/>
              </p:nvSpPr>
              <p:spPr>
                <a:xfrm>
                  <a:off x="-1" y="54732"/>
                  <a:ext cx="89558" cy="544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76" name="Freeform 124"/>
                <p:cNvSpPr/>
                <p:nvPr/>
              </p:nvSpPr>
              <p:spPr>
                <a:xfrm>
                  <a:off x="31089" y="27828"/>
                  <a:ext cx="194725" cy="864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390" name="Group 125"/>
            <p:cNvGrpSpPr/>
            <p:nvPr/>
          </p:nvGrpSpPr>
          <p:grpSpPr>
            <a:xfrm>
              <a:off x="3464814" y="2401519"/>
              <a:ext cx="353679" cy="402389"/>
              <a:chOff x="0" y="0"/>
              <a:chExt cx="353677" cy="402387"/>
            </a:xfrm>
          </p:grpSpPr>
          <p:grpSp>
            <p:nvGrpSpPr>
              <p:cNvPr id="6381" name="Freeform 126"/>
              <p:cNvGrpSpPr/>
              <p:nvPr/>
            </p:nvGrpSpPr>
            <p:grpSpPr>
              <a:xfrm>
                <a:off x="-1" y="69300"/>
                <a:ext cx="353679" cy="333088"/>
                <a:chOff x="0" y="0"/>
                <a:chExt cx="353677" cy="333087"/>
              </a:xfrm>
            </p:grpSpPr>
            <p:sp>
              <p:nvSpPr>
                <p:cNvPr id="6379" name="Shape"/>
                <p:cNvSpPr/>
                <p:nvPr/>
              </p:nvSpPr>
              <p:spPr>
                <a:xfrm>
                  <a:off x="0" y="101699"/>
                  <a:ext cx="353678" cy="1296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80" name="Text"/>
                <p:cNvSpPr txBox="1"/>
                <p:nvPr/>
              </p:nvSpPr>
              <p:spPr>
                <a:xfrm>
                  <a:off x="48894" y="0"/>
                  <a:ext cx="255889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384" name="Oval 127"/>
              <p:cNvGrpSpPr/>
              <p:nvPr/>
            </p:nvGrpSpPr>
            <p:grpSpPr>
              <a:xfrm>
                <a:off x="203" y="-1"/>
                <a:ext cx="353251" cy="333089"/>
                <a:chOff x="0" y="0"/>
                <a:chExt cx="353249" cy="333087"/>
              </a:xfrm>
            </p:grpSpPr>
            <p:sp>
              <p:nvSpPr>
                <p:cNvPr id="6382" name="Oval"/>
                <p:cNvSpPr/>
                <p:nvPr/>
              </p:nvSpPr>
              <p:spPr>
                <a:xfrm>
                  <a:off x="0" y="102344"/>
                  <a:ext cx="353250" cy="12840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83" name="Text"/>
                <p:cNvSpPr txBox="1"/>
                <p:nvPr/>
              </p:nvSpPr>
              <p:spPr>
                <a:xfrm>
                  <a:off x="100627" y="0"/>
                  <a:ext cx="15199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389" name="Group 128"/>
              <p:cNvGrpSpPr/>
              <p:nvPr/>
            </p:nvGrpSpPr>
            <p:grpSpPr>
              <a:xfrm>
                <a:off x="52453" y="118663"/>
                <a:ext cx="248706" cy="94347"/>
                <a:chOff x="0" y="0"/>
                <a:chExt cx="248704" cy="94345"/>
              </a:xfrm>
            </p:grpSpPr>
            <p:sp>
              <p:nvSpPr>
                <p:cNvPr id="6385" name="Freeform 129"/>
                <p:cNvSpPr/>
                <p:nvPr/>
              </p:nvSpPr>
              <p:spPr>
                <a:xfrm>
                  <a:off x="6879" y="0"/>
                  <a:ext cx="235271" cy="52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86" name="Freeform 130"/>
                <p:cNvSpPr/>
                <p:nvPr/>
              </p:nvSpPr>
              <p:spPr>
                <a:xfrm>
                  <a:off x="160864" y="45175"/>
                  <a:ext cx="87841" cy="45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87" name="Freeform 131"/>
                <p:cNvSpPr/>
                <p:nvPr/>
              </p:nvSpPr>
              <p:spPr>
                <a:xfrm>
                  <a:off x="0" y="45175"/>
                  <a:ext cx="86253" cy="449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88" name="Freeform 132"/>
                <p:cNvSpPr/>
                <p:nvPr/>
              </p:nvSpPr>
              <p:spPr>
                <a:xfrm>
                  <a:off x="29942" y="22969"/>
                  <a:ext cx="187543" cy="71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pic>
          <p:nvPicPr>
            <p:cNvPr id="6391" name="Picture 653" descr="Picture 65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999127" y="428564"/>
              <a:ext cx="136842" cy="3284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92" name="Picture 1018" descr="Picture 1018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 flipH="1" rot="109063">
              <a:off x="554336" y="1116629"/>
              <a:ext cx="437222" cy="1595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393" name="Freeform 1019"/>
            <p:cNvSpPr/>
            <p:nvPr/>
          </p:nvSpPr>
          <p:spPr>
            <a:xfrm>
              <a:off x="699233" y="961843"/>
              <a:ext cx="351920" cy="208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394" name="Picture 1020" descr="Picture 1020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16566" y="967197"/>
              <a:ext cx="319786" cy="1894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395" name="Freeform 1021"/>
            <p:cNvSpPr/>
            <p:nvPr/>
          </p:nvSpPr>
          <p:spPr>
            <a:xfrm>
              <a:off x="763307" y="955702"/>
              <a:ext cx="298168" cy="38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396" name="Freeform 1022"/>
            <p:cNvSpPr/>
            <p:nvPr/>
          </p:nvSpPr>
          <p:spPr>
            <a:xfrm>
              <a:off x="696117" y="955387"/>
              <a:ext cx="82771" cy="161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397" name="Freeform 1023"/>
            <p:cNvSpPr/>
            <p:nvPr/>
          </p:nvSpPr>
          <p:spPr>
            <a:xfrm>
              <a:off x="970134" y="984203"/>
              <a:ext cx="89198" cy="186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398" name="Freeform 1024"/>
            <p:cNvSpPr/>
            <p:nvPr/>
          </p:nvSpPr>
          <p:spPr>
            <a:xfrm>
              <a:off x="695143" y="1108441"/>
              <a:ext cx="305137" cy="62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399" name="Freeform 1025"/>
            <p:cNvSpPr/>
            <p:nvPr/>
          </p:nvSpPr>
          <p:spPr>
            <a:xfrm>
              <a:off x="980067" y="985777"/>
              <a:ext cx="83550" cy="186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00" name="Freeform 1026"/>
            <p:cNvSpPr/>
            <p:nvPr/>
          </p:nvSpPr>
          <p:spPr>
            <a:xfrm>
              <a:off x="695532" y="1116787"/>
              <a:ext cx="290962" cy="62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6407" name="Group 1027"/>
            <p:cNvGrpSpPr/>
            <p:nvPr/>
          </p:nvGrpSpPr>
          <p:grpSpPr>
            <a:xfrm>
              <a:off x="690664" y="1183079"/>
              <a:ext cx="98741" cy="36943"/>
              <a:chOff x="0" y="0"/>
              <a:chExt cx="98739" cy="36942"/>
            </a:xfrm>
          </p:grpSpPr>
          <p:sp>
            <p:nvSpPr>
              <p:cNvPr id="6401" name="Freeform 1028"/>
              <p:cNvSpPr/>
              <p:nvPr/>
            </p:nvSpPr>
            <p:spPr>
              <a:xfrm>
                <a:off x="0" y="0"/>
                <a:ext cx="98740" cy="368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02" name="Freeform 1029"/>
              <p:cNvSpPr/>
              <p:nvPr/>
            </p:nvSpPr>
            <p:spPr>
              <a:xfrm>
                <a:off x="1838" y="788"/>
                <a:ext cx="95327" cy="350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03" name="Freeform 1030"/>
              <p:cNvSpPr/>
              <p:nvPr/>
            </p:nvSpPr>
            <p:spPr>
              <a:xfrm>
                <a:off x="8928" y="13706"/>
                <a:ext cx="33877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04" name="Freeform 1031"/>
              <p:cNvSpPr/>
              <p:nvPr/>
            </p:nvSpPr>
            <p:spPr>
              <a:xfrm>
                <a:off x="7746" y="16805"/>
                <a:ext cx="25474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05" name="Freeform 1032"/>
              <p:cNvSpPr/>
              <p:nvPr/>
            </p:nvSpPr>
            <p:spPr>
              <a:xfrm>
                <a:off x="36764" y="21030"/>
                <a:ext cx="33878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06" name="Freeform 1033"/>
              <p:cNvSpPr/>
              <p:nvPr/>
            </p:nvSpPr>
            <p:spPr>
              <a:xfrm>
                <a:off x="35583" y="24242"/>
                <a:ext cx="25473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6408" name="Freeform 1034"/>
            <p:cNvSpPr/>
            <p:nvPr/>
          </p:nvSpPr>
          <p:spPr>
            <a:xfrm>
              <a:off x="859709" y="1188590"/>
              <a:ext cx="119579" cy="80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09" name="Freeform 1035"/>
            <p:cNvSpPr/>
            <p:nvPr/>
          </p:nvSpPr>
          <p:spPr>
            <a:xfrm>
              <a:off x="554531" y="1195046"/>
              <a:ext cx="305958" cy="73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10" name="Freeform 1036"/>
            <p:cNvSpPr/>
            <p:nvPr/>
          </p:nvSpPr>
          <p:spPr>
            <a:xfrm>
              <a:off x="550031" y="1181504"/>
              <a:ext cx="12701" cy="14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11" name="Freeform 1037"/>
            <p:cNvSpPr/>
            <p:nvPr/>
          </p:nvSpPr>
          <p:spPr>
            <a:xfrm>
              <a:off x="554921" y="1120566"/>
              <a:ext cx="142171" cy="61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12" name="Freeform 1038"/>
            <p:cNvSpPr/>
            <p:nvPr/>
          </p:nvSpPr>
          <p:spPr>
            <a:xfrm>
              <a:off x="564464" y="1184654"/>
              <a:ext cx="290183" cy="71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13" name="Freeform 1039"/>
            <p:cNvSpPr/>
            <p:nvPr/>
          </p:nvSpPr>
          <p:spPr>
            <a:xfrm flipH="1" rot="10800000">
              <a:off x="854256" y="1179615"/>
              <a:ext cx="118411" cy="73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414" name="Picture 568" descr="Picture 568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 flipH="1">
              <a:off x="1921222" y="903828"/>
              <a:ext cx="92773" cy="4054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415" name="Picture 603" descr="Picture 603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589094" y="628497"/>
              <a:ext cx="849313" cy="1682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416" name="Picture 1116" descr="Picture 1116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 flipH="1" rot="109063">
              <a:off x="599930" y="2116748"/>
              <a:ext cx="286700" cy="1194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417" name="Freeform 1117"/>
            <p:cNvSpPr/>
            <p:nvPr/>
          </p:nvSpPr>
          <p:spPr>
            <a:xfrm>
              <a:off x="694943" y="2000838"/>
              <a:ext cx="230765" cy="155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418" name="Picture 1118" descr="Picture 1118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706309" y="2004847"/>
              <a:ext cx="209693" cy="1418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419" name="Freeform 1119"/>
            <p:cNvSpPr/>
            <p:nvPr/>
          </p:nvSpPr>
          <p:spPr>
            <a:xfrm>
              <a:off x="736958" y="1996240"/>
              <a:ext cx="195518" cy="29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20" name="Freeform 1120"/>
            <p:cNvSpPr/>
            <p:nvPr/>
          </p:nvSpPr>
          <p:spPr>
            <a:xfrm>
              <a:off x="692900" y="1996004"/>
              <a:ext cx="54276" cy="120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21" name="Freeform 1121"/>
            <p:cNvSpPr/>
            <p:nvPr/>
          </p:nvSpPr>
          <p:spPr>
            <a:xfrm>
              <a:off x="872581" y="2017582"/>
              <a:ext cx="58490" cy="139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22" name="Freeform 1122"/>
            <p:cNvSpPr/>
            <p:nvPr/>
          </p:nvSpPr>
          <p:spPr>
            <a:xfrm>
              <a:off x="692261" y="2110617"/>
              <a:ext cx="200088" cy="470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23" name="Freeform 1123"/>
            <p:cNvSpPr/>
            <p:nvPr/>
          </p:nvSpPr>
          <p:spPr>
            <a:xfrm>
              <a:off x="879094" y="2018761"/>
              <a:ext cx="54787" cy="139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24" name="Freeform 1124"/>
            <p:cNvSpPr/>
            <p:nvPr/>
          </p:nvSpPr>
          <p:spPr>
            <a:xfrm>
              <a:off x="692517" y="2116866"/>
              <a:ext cx="190793" cy="46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6431" name="Group 1125"/>
            <p:cNvGrpSpPr/>
            <p:nvPr/>
          </p:nvGrpSpPr>
          <p:grpSpPr>
            <a:xfrm>
              <a:off x="689324" y="2166508"/>
              <a:ext cx="64748" cy="29259"/>
              <a:chOff x="0" y="0"/>
              <a:chExt cx="64746" cy="29258"/>
            </a:xfrm>
          </p:grpSpPr>
          <p:sp>
            <p:nvSpPr>
              <p:cNvPr id="6425" name="Freeform 1126"/>
              <p:cNvSpPr/>
              <p:nvPr/>
            </p:nvSpPr>
            <p:spPr>
              <a:xfrm>
                <a:off x="0" y="0"/>
                <a:ext cx="64747" cy="275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26" name="Freeform 1127"/>
              <p:cNvSpPr/>
              <p:nvPr/>
            </p:nvSpPr>
            <p:spPr>
              <a:xfrm>
                <a:off x="1205" y="590"/>
                <a:ext cx="62509" cy="262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27" name="Freeform 1128"/>
              <p:cNvSpPr/>
              <p:nvPr/>
            </p:nvSpPr>
            <p:spPr>
              <a:xfrm>
                <a:off x="5854" y="8669"/>
                <a:ext cx="22215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28" name="Freeform 1129"/>
              <p:cNvSpPr/>
              <p:nvPr/>
            </p:nvSpPr>
            <p:spPr>
              <a:xfrm>
                <a:off x="5079" y="10989"/>
                <a:ext cx="16705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29" name="Freeform 1130"/>
              <p:cNvSpPr/>
              <p:nvPr/>
            </p:nvSpPr>
            <p:spPr>
              <a:xfrm>
                <a:off x="24107" y="14154"/>
                <a:ext cx="22215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30" name="Freeform 1131"/>
              <p:cNvSpPr/>
              <p:nvPr/>
            </p:nvSpPr>
            <p:spPr>
              <a:xfrm>
                <a:off x="23333" y="16558"/>
                <a:ext cx="16704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6432" name="Freeform 1132"/>
            <p:cNvSpPr/>
            <p:nvPr/>
          </p:nvSpPr>
          <p:spPr>
            <a:xfrm>
              <a:off x="800172" y="2170635"/>
              <a:ext cx="78412" cy="60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33" name="Freeform 1133"/>
            <p:cNvSpPr/>
            <p:nvPr/>
          </p:nvSpPr>
          <p:spPr>
            <a:xfrm>
              <a:off x="600058" y="2175470"/>
              <a:ext cx="200626" cy="55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34" name="Freeform 1134"/>
            <p:cNvSpPr/>
            <p:nvPr/>
          </p:nvSpPr>
          <p:spPr>
            <a:xfrm>
              <a:off x="594921" y="2164580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469"/>
                  </a:moveTo>
                  <a:lnTo>
                    <a:pt x="19108" y="21600"/>
                  </a:lnTo>
                  <a:lnTo>
                    <a:pt x="0" y="21159"/>
                  </a:lnTo>
                  <a:lnTo>
                    <a:pt x="2492" y="0"/>
                  </a:lnTo>
                  <a:lnTo>
                    <a:pt x="21600" y="1469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35" name="Freeform 1135"/>
            <p:cNvSpPr/>
            <p:nvPr/>
          </p:nvSpPr>
          <p:spPr>
            <a:xfrm>
              <a:off x="600313" y="2119696"/>
              <a:ext cx="93226" cy="46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90" y="0"/>
                  </a:moveTo>
                  <a:lnTo>
                    <a:pt x="0" y="21279"/>
                  </a:lnTo>
                  <a:lnTo>
                    <a:pt x="551" y="21600"/>
                  </a:lnTo>
                  <a:lnTo>
                    <a:pt x="21600" y="642"/>
                  </a:lnTo>
                  <a:lnTo>
                    <a:pt x="21490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36" name="Freeform 1136"/>
            <p:cNvSpPr/>
            <p:nvPr/>
          </p:nvSpPr>
          <p:spPr>
            <a:xfrm>
              <a:off x="606571" y="2167688"/>
              <a:ext cx="190282" cy="53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37" name="Freeform 1137"/>
            <p:cNvSpPr/>
            <p:nvPr/>
          </p:nvSpPr>
          <p:spPr>
            <a:xfrm flipH="1" rot="10800000">
              <a:off x="796597" y="2163914"/>
              <a:ext cx="77646" cy="55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438" name="Picture 1140" descr="Picture 1140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 flipH="1">
              <a:off x="1081551" y="2078682"/>
              <a:ext cx="359262" cy="342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439" name="Freeform 1141"/>
            <p:cNvSpPr/>
            <p:nvPr/>
          </p:nvSpPr>
          <p:spPr>
            <a:xfrm flipH="1">
              <a:off x="1234772" y="2111481"/>
              <a:ext cx="169401" cy="156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440" name="Picture 571" descr="Picture 571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992754" y="1896556"/>
              <a:ext cx="189579" cy="3370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6473" name="Group 950"/>
            <p:cNvGrpSpPr/>
            <p:nvPr/>
          </p:nvGrpSpPr>
          <p:grpSpPr>
            <a:xfrm>
              <a:off x="3331406" y="3785490"/>
              <a:ext cx="180434" cy="330834"/>
              <a:chOff x="0" y="0"/>
              <a:chExt cx="180433" cy="330833"/>
            </a:xfrm>
          </p:grpSpPr>
          <p:sp>
            <p:nvSpPr>
              <p:cNvPr id="6441" name="Freeform 951"/>
              <p:cNvSpPr/>
              <p:nvPr/>
            </p:nvSpPr>
            <p:spPr>
              <a:xfrm>
                <a:off x="140261" y="552"/>
                <a:ext cx="35191" cy="3156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844" y="0"/>
                    </a:moveTo>
                    <a:lnTo>
                      <a:pt x="21600" y="2670"/>
                    </a:lnTo>
                    <a:lnTo>
                      <a:pt x="21112" y="20670"/>
                    </a:lnTo>
                    <a:lnTo>
                      <a:pt x="0" y="21600"/>
                    </a:lnTo>
                    <a:lnTo>
                      <a:pt x="384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42" name="Rectangle 952"/>
              <p:cNvSpPr/>
              <p:nvPr/>
            </p:nvSpPr>
            <p:spPr>
              <a:xfrm>
                <a:off x="8704" y="0"/>
                <a:ext cx="130066" cy="315507"/>
              </a:xfrm>
              <a:prstGeom prst="rect">
                <a:avLst/>
              </a:pr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43" name="Freeform 953"/>
              <p:cNvSpPr/>
              <p:nvPr/>
            </p:nvSpPr>
            <p:spPr>
              <a:xfrm>
                <a:off x="147548" y="19468"/>
                <a:ext cx="20319" cy="287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83" h="21300" fill="norm" stroke="1" extrusionOk="0">
                    <a:moveTo>
                      <a:pt x="0" y="0"/>
                    </a:moveTo>
                    <a:cubicBezTo>
                      <a:pt x="0" y="0"/>
                      <a:pt x="5118" y="238"/>
                      <a:pt x="20883" y="1856"/>
                    </a:cubicBezTo>
                    <a:cubicBezTo>
                      <a:pt x="-717" y="10464"/>
                      <a:pt x="3480" y="21600"/>
                      <a:pt x="0" y="21293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44" name="Freeform 954"/>
              <p:cNvSpPr/>
              <p:nvPr/>
            </p:nvSpPr>
            <p:spPr>
              <a:xfrm>
                <a:off x="142250" y="167211"/>
                <a:ext cx="32704" cy="260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45" name="Rectangle 955"/>
              <p:cNvSpPr/>
              <p:nvPr/>
            </p:nvSpPr>
            <p:spPr>
              <a:xfrm>
                <a:off x="8704" y="32932"/>
                <a:ext cx="74359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grpSp>
            <p:nvGrpSpPr>
              <p:cNvPr id="6448" name="Group 956"/>
              <p:cNvGrpSpPr/>
              <p:nvPr/>
            </p:nvGrpSpPr>
            <p:grpSpPr>
              <a:xfrm>
                <a:off x="75626" y="32712"/>
                <a:ext cx="71847" cy="20742"/>
                <a:chOff x="0" y="0"/>
                <a:chExt cx="71846" cy="20741"/>
              </a:xfrm>
            </p:grpSpPr>
            <p:sp>
              <p:nvSpPr>
                <p:cNvPr id="6446" name="AutoShape 957"/>
                <p:cNvSpPr/>
                <p:nvPr/>
              </p:nvSpPr>
              <p:spPr>
                <a:xfrm>
                  <a:off x="0" y="0"/>
                  <a:ext cx="71847" cy="207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447" name="AutoShape 958"/>
                <p:cNvSpPr/>
                <p:nvPr/>
              </p:nvSpPr>
              <p:spPr>
                <a:xfrm>
                  <a:off x="1195" y="2160"/>
                  <a:ext cx="69356" cy="1642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sp>
            <p:nvSpPr>
              <p:cNvPr id="6449" name="Rectangle 959"/>
              <p:cNvSpPr/>
              <p:nvPr/>
            </p:nvSpPr>
            <p:spPr>
              <a:xfrm>
                <a:off x="9947" y="78774"/>
                <a:ext cx="74359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grpSp>
            <p:nvGrpSpPr>
              <p:cNvPr id="6452" name="Group 960"/>
              <p:cNvGrpSpPr/>
              <p:nvPr/>
            </p:nvGrpSpPr>
            <p:grpSpPr>
              <a:xfrm>
                <a:off x="75577" y="77481"/>
                <a:ext cx="71847" cy="18503"/>
                <a:chOff x="0" y="0"/>
                <a:chExt cx="71846" cy="18502"/>
              </a:xfrm>
            </p:grpSpPr>
            <p:sp>
              <p:nvSpPr>
                <p:cNvPr id="6450" name="AutoShape 961"/>
                <p:cNvSpPr/>
                <p:nvPr/>
              </p:nvSpPr>
              <p:spPr>
                <a:xfrm>
                  <a:off x="0" y="0"/>
                  <a:ext cx="71847" cy="1850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451" name="AutoShape 962"/>
                <p:cNvSpPr/>
                <p:nvPr/>
              </p:nvSpPr>
              <p:spPr>
                <a:xfrm>
                  <a:off x="1295" y="2262"/>
                  <a:ext cx="69356" cy="1424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sp>
            <p:nvSpPr>
              <p:cNvPr id="6453" name="Rectangle 963"/>
              <p:cNvSpPr/>
              <p:nvPr/>
            </p:nvSpPr>
            <p:spPr>
              <a:xfrm>
                <a:off x="9947" y="124615"/>
                <a:ext cx="74359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54" name="Rectangle 964"/>
              <p:cNvSpPr/>
              <p:nvPr/>
            </p:nvSpPr>
            <p:spPr>
              <a:xfrm>
                <a:off x="11191" y="166177"/>
                <a:ext cx="74359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grpSp>
            <p:nvGrpSpPr>
              <p:cNvPr id="6457" name="Group 965"/>
              <p:cNvGrpSpPr/>
              <p:nvPr/>
            </p:nvGrpSpPr>
            <p:grpSpPr>
              <a:xfrm>
                <a:off x="74384" y="168116"/>
                <a:ext cx="71871" cy="18601"/>
                <a:chOff x="0" y="0"/>
                <a:chExt cx="71869" cy="18599"/>
              </a:xfrm>
            </p:grpSpPr>
            <p:sp>
              <p:nvSpPr>
                <p:cNvPr id="6455" name="AutoShape 966"/>
                <p:cNvSpPr/>
                <p:nvPr/>
              </p:nvSpPr>
              <p:spPr>
                <a:xfrm>
                  <a:off x="0" y="0"/>
                  <a:ext cx="71870" cy="186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456" name="AutoShape 967"/>
                <p:cNvSpPr/>
                <p:nvPr/>
              </p:nvSpPr>
              <p:spPr>
                <a:xfrm>
                  <a:off x="1197" y="0"/>
                  <a:ext cx="69376" cy="1635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sp>
            <p:nvSpPr>
              <p:cNvPr id="6458" name="Freeform 968"/>
              <p:cNvSpPr/>
              <p:nvPr/>
            </p:nvSpPr>
            <p:spPr>
              <a:xfrm>
                <a:off x="142748" y="127721"/>
                <a:ext cx="32704" cy="259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6461" name="Group 969"/>
              <p:cNvGrpSpPr/>
              <p:nvPr/>
            </p:nvGrpSpPr>
            <p:grpSpPr>
              <a:xfrm>
                <a:off x="74382" y="124407"/>
                <a:ext cx="73069" cy="18503"/>
                <a:chOff x="0" y="0"/>
                <a:chExt cx="73067" cy="18502"/>
              </a:xfrm>
            </p:grpSpPr>
            <p:sp>
              <p:nvSpPr>
                <p:cNvPr id="6459" name="AutoShape 970"/>
                <p:cNvSpPr/>
                <p:nvPr/>
              </p:nvSpPr>
              <p:spPr>
                <a:xfrm>
                  <a:off x="0" y="0"/>
                  <a:ext cx="73068" cy="1850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460" name="AutoShape 971"/>
                <p:cNvSpPr/>
                <p:nvPr/>
              </p:nvSpPr>
              <p:spPr>
                <a:xfrm>
                  <a:off x="1197" y="2209"/>
                  <a:ext cx="71871" cy="1422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sp>
            <p:nvSpPr>
              <p:cNvPr id="6462" name="Rectangle 972"/>
              <p:cNvSpPr/>
              <p:nvPr/>
            </p:nvSpPr>
            <p:spPr>
              <a:xfrm>
                <a:off x="135527" y="0"/>
                <a:ext cx="12701" cy="315507"/>
              </a:xfrm>
              <a:prstGeom prst="rect">
                <a:avLst/>
              </a:prstGeom>
              <a:gradFill flip="none"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63" name="Freeform 973"/>
              <p:cNvSpPr/>
              <p:nvPr/>
            </p:nvSpPr>
            <p:spPr>
              <a:xfrm>
                <a:off x="145732" y="79808"/>
                <a:ext cx="29471" cy="294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92" y="0"/>
                    </a:moveTo>
                    <a:cubicBezTo>
                      <a:pt x="4014" y="844"/>
                      <a:pt x="10508" y="5737"/>
                      <a:pt x="21308" y="12150"/>
                    </a:cubicBezTo>
                    <a:cubicBezTo>
                      <a:pt x="21162" y="15019"/>
                      <a:pt x="21600" y="15863"/>
                      <a:pt x="21600" y="21600"/>
                    </a:cubicBezTo>
                    <a:cubicBezTo>
                      <a:pt x="21600" y="21600"/>
                      <a:pt x="11676" y="14850"/>
                      <a:pt x="0" y="8437"/>
                    </a:cubicBezTo>
                    <a:cubicBezTo>
                      <a:pt x="0" y="4050"/>
                      <a:pt x="292" y="1434"/>
                      <a:pt x="29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64" name="Freeform 974"/>
              <p:cNvSpPr/>
              <p:nvPr/>
            </p:nvSpPr>
            <p:spPr>
              <a:xfrm>
                <a:off x="146105" y="34657"/>
                <a:ext cx="30341" cy="331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3624" y="750"/>
                      <a:pt x="10516" y="5700"/>
                      <a:pt x="21600" y="12300"/>
                    </a:cubicBezTo>
                    <a:cubicBezTo>
                      <a:pt x="21458" y="14850"/>
                      <a:pt x="20179" y="16500"/>
                      <a:pt x="20179" y="21600"/>
                    </a:cubicBezTo>
                    <a:cubicBezTo>
                      <a:pt x="20179" y="21600"/>
                      <a:pt x="11582" y="13425"/>
                      <a:pt x="568" y="9300"/>
                    </a:cubicBezTo>
                    <a:cubicBezTo>
                      <a:pt x="568" y="5400"/>
                      <a:pt x="0" y="1275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65" name="Oval 975"/>
              <p:cNvSpPr/>
              <p:nvPr/>
            </p:nvSpPr>
            <p:spPr>
              <a:xfrm>
                <a:off x="167733" y="301284"/>
                <a:ext cx="12701" cy="13119"/>
              </a:xfrm>
              <a:prstGeom prst="ellipse">
                <a:avLst/>
              </a:pr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66" name="Freeform 976"/>
              <p:cNvSpPr/>
              <p:nvPr/>
            </p:nvSpPr>
            <p:spPr>
              <a:xfrm>
                <a:off x="144489" y="301698"/>
                <a:ext cx="30465" cy="276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40"/>
                    </a:moveTo>
                    <a:lnTo>
                      <a:pt x="141" y="21600"/>
                    </a:lnTo>
                    <a:lnTo>
                      <a:pt x="21600" y="9900"/>
                    </a:lnTo>
                    <a:lnTo>
                      <a:pt x="21176" y="0"/>
                    </a:lnTo>
                    <a:lnTo>
                      <a:pt x="0" y="9540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67" name="AutoShape 977"/>
              <p:cNvSpPr/>
              <p:nvPr/>
            </p:nvSpPr>
            <p:spPr>
              <a:xfrm>
                <a:off x="0" y="310121"/>
                <a:ext cx="148717" cy="2071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68" name="AutoShape 978"/>
              <p:cNvSpPr/>
              <p:nvPr/>
            </p:nvSpPr>
            <p:spPr>
              <a:xfrm>
                <a:off x="8704" y="314610"/>
                <a:ext cx="132553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cubicBezTo>
                      <a:pt x="0" y="4835"/>
                      <a:pt x="398" y="0"/>
                      <a:pt x="889" y="0"/>
                    </a:cubicBezTo>
                    <a:lnTo>
                      <a:pt x="20711" y="0"/>
                    </a:lnTo>
                    <a:cubicBezTo>
                      <a:pt x="21202" y="0"/>
                      <a:pt x="21600" y="4835"/>
                      <a:pt x="21600" y="10800"/>
                    </a:cubicBezTo>
                    <a:cubicBezTo>
                      <a:pt x="21600" y="16765"/>
                      <a:pt x="21202" y="21600"/>
                      <a:pt x="20711" y="21600"/>
                    </a:cubicBezTo>
                    <a:lnTo>
                      <a:pt x="889" y="21600"/>
                    </a:lnTo>
                    <a:cubicBezTo>
                      <a:pt x="398" y="21600"/>
                      <a:pt x="0" y="16765"/>
                      <a:pt x="0" y="1080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44546A"/>
                  </a:gs>
                  <a:gs pos="100000">
                    <a:srgbClr val="E7E6E6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69" name="Oval 979"/>
              <p:cNvSpPr/>
              <p:nvPr/>
            </p:nvSpPr>
            <p:spPr>
              <a:xfrm>
                <a:off x="21014" y="269664"/>
                <a:ext cx="19771" cy="19607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70" name="Oval 980"/>
              <p:cNvSpPr/>
              <p:nvPr/>
            </p:nvSpPr>
            <p:spPr>
              <a:xfrm>
                <a:off x="43396" y="269664"/>
                <a:ext cx="19771" cy="19607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71" name="Oval 981"/>
              <p:cNvSpPr/>
              <p:nvPr/>
            </p:nvSpPr>
            <p:spPr>
              <a:xfrm>
                <a:off x="64410" y="269664"/>
                <a:ext cx="19771" cy="19607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472" name="Rectangle 982"/>
              <p:cNvSpPr/>
              <p:nvPr/>
            </p:nvSpPr>
            <p:spPr>
              <a:xfrm>
                <a:off x="113891" y="194412"/>
                <a:ext cx="12701" cy="104801"/>
              </a:xfrm>
              <a:prstGeom prst="rect">
                <a:avLst/>
              </a:prstGeom>
              <a:solidFill>
                <a:srgbClr val="29292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6476" name="Group 590"/>
            <p:cNvGrpSpPr/>
            <p:nvPr/>
          </p:nvGrpSpPr>
          <p:grpSpPr>
            <a:xfrm>
              <a:off x="1070410" y="3411700"/>
              <a:ext cx="345631" cy="320303"/>
              <a:chOff x="0" y="0"/>
              <a:chExt cx="345629" cy="320302"/>
            </a:xfrm>
          </p:grpSpPr>
          <p:pic>
            <p:nvPicPr>
              <p:cNvPr id="6474" name="Picture 591" descr="Picture 591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345630" cy="32030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475" name="Freeform 592"/>
              <p:cNvSpPr/>
              <p:nvPr/>
            </p:nvSpPr>
            <p:spPr>
              <a:xfrm flipH="1">
                <a:off x="147407" y="30713"/>
                <a:ext cx="162974" cy="1467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6479" name="Group 590"/>
            <p:cNvGrpSpPr/>
            <p:nvPr/>
          </p:nvGrpSpPr>
          <p:grpSpPr>
            <a:xfrm>
              <a:off x="1641689" y="4037669"/>
              <a:ext cx="345631" cy="320303"/>
              <a:chOff x="0" y="0"/>
              <a:chExt cx="345629" cy="320302"/>
            </a:xfrm>
          </p:grpSpPr>
          <p:pic>
            <p:nvPicPr>
              <p:cNvPr id="6477" name="Picture 591" descr="Picture 591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345630" cy="32030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478" name="Freeform 592"/>
              <p:cNvSpPr/>
              <p:nvPr/>
            </p:nvSpPr>
            <p:spPr>
              <a:xfrm flipH="1">
                <a:off x="147407" y="30713"/>
                <a:ext cx="162974" cy="1467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pic>
          <p:nvPicPr>
            <p:cNvPr id="6480" name="Picture 1066" descr="Picture 1066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 flipH="1" rot="109063">
              <a:off x="2639642" y="4366857"/>
              <a:ext cx="260921" cy="990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481" name="Freeform 1067"/>
            <p:cNvSpPr/>
            <p:nvPr/>
          </p:nvSpPr>
          <p:spPr>
            <a:xfrm>
              <a:off x="2726112" y="4270727"/>
              <a:ext cx="210016" cy="129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11" y="0"/>
                  </a:moveTo>
                  <a:lnTo>
                    <a:pt x="0" y="15338"/>
                  </a:lnTo>
                  <a:lnTo>
                    <a:pt x="17341" y="21600"/>
                  </a:lnTo>
                  <a:lnTo>
                    <a:pt x="21600" y="2813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482" name="Picture 1068" descr="Picture 1068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2736456" y="4274052"/>
              <a:ext cx="190839" cy="1176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483" name="Freeform 1069"/>
            <p:cNvSpPr/>
            <p:nvPr/>
          </p:nvSpPr>
          <p:spPr>
            <a:xfrm>
              <a:off x="2764349" y="4266913"/>
              <a:ext cx="177938" cy="240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" y="0"/>
                  </a:moveTo>
                  <a:lnTo>
                    <a:pt x="21600" y="16188"/>
                  </a:lnTo>
                  <a:lnTo>
                    <a:pt x="21190" y="21600"/>
                  </a:lnTo>
                  <a:lnTo>
                    <a:pt x="0" y="4083"/>
                  </a:lnTo>
                  <a:lnTo>
                    <a:pt x="1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84" name="Freeform 1070"/>
            <p:cNvSpPr/>
            <p:nvPr/>
          </p:nvSpPr>
          <p:spPr>
            <a:xfrm>
              <a:off x="2724253" y="4266718"/>
              <a:ext cx="49396" cy="10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15" y="0"/>
                  </a:moveTo>
                  <a:lnTo>
                    <a:pt x="0" y="21326"/>
                  </a:lnTo>
                  <a:lnTo>
                    <a:pt x="3508" y="21600"/>
                  </a:lnTo>
                  <a:lnTo>
                    <a:pt x="21600" y="582"/>
                  </a:lnTo>
                  <a:lnTo>
                    <a:pt x="17815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85" name="Freeform 1071"/>
            <p:cNvSpPr/>
            <p:nvPr/>
          </p:nvSpPr>
          <p:spPr>
            <a:xfrm>
              <a:off x="2887778" y="4284614"/>
              <a:ext cx="53231" cy="11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3943" y="21600"/>
                  </a:lnTo>
                  <a:lnTo>
                    <a:pt x="0" y="21244"/>
                  </a:lnTo>
                  <a:lnTo>
                    <a:pt x="17314" y="771"/>
                  </a:lnTo>
                  <a:lnTo>
                    <a:pt x="216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86" name="Freeform 1072"/>
            <p:cNvSpPr/>
            <p:nvPr/>
          </p:nvSpPr>
          <p:spPr>
            <a:xfrm>
              <a:off x="2723671" y="4361772"/>
              <a:ext cx="182097" cy="39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4" h="21600" fill="norm" stroke="1" extrusionOk="0">
                  <a:moveTo>
                    <a:pt x="257" y="0"/>
                  </a:moveTo>
                  <a:lnTo>
                    <a:pt x="0" y="2898"/>
                  </a:lnTo>
                  <a:lnTo>
                    <a:pt x="18975" y="21600"/>
                  </a:lnTo>
                  <a:cubicBezTo>
                    <a:pt x="19466" y="14663"/>
                    <a:pt x="21600" y="21278"/>
                    <a:pt x="18484" y="17649"/>
                  </a:cubicBezTo>
                  <a:lnTo>
                    <a:pt x="25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87" name="Freeform 1073"/>
            <p:cNvSpPr/>
            <p:nvPr/>
          </p:nvSpPr>
          <p:spPr>
            <a:xfrm>
              <a:off x="2893705" y="4285592"/>
              <a:ext cx="49861" cy="116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854" y="0"/>
                  </a:moveTo>
                  <a:lnTo>
                    <a:pt x="21600" y="0"/>
                  </a:lnTo>
                  <a:lnTo>
                    <a:pt x="2306" y="21600"/>
                  </a:lnTo>
                  <a:lnTo>
                    <a:pt x="0" y="21444"/>
                  </a:lnTo>
                  <a:lnTo>
                    <a:pt x="20854" y="0"/>
                  </a:lnTo>
                  <a:close/>
                </a:path>
              </a:pathLst>
            </a:custGeom>
            <a:solidFill>
              <a:srgbClr val="4D4D4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88" name="Freeform 1074"/>
            <p:cNvSpPr/>
            <p:nvPr/>
          </p:nvSpPr>
          <p:spPr>
            <a:xfrm>
              <a:off x="2723904" y="4366955"/>
              <a:ext cx="173638" cy="385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88" y="2239"/>
                  </a:lnTo>
                  <a:lnTo>
                    <a:pt x="21093" y="21600"/>
                  </a:lnTo>
                  <a:lnTo>
                    <a:pt x="21600" y="19479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6495" name="Group 1075"/>
            <p:cNvGrpSpPr/>
            <p:nvPr/>
          </p:nvGrpSpPr>
          <p:grpSpPr>
            <a:xfrm>
              <a:off x="2720998" y="4408125"/>
              <a:ext cx="58926" cy="25350"/>
              <a:chOff x="0" y="0"/>
              <a:chExt cx="58925" cy="25349"/>
            </a:xfrm>
          </p:grpSpPr>
          <p:sp>
            <p:nvSpPr>
              <p:cNvPr id="6489" name="Freeform 1076"/>
              <p:cNvSpPr/>
              <p:nvPr/>
            </p:nvSpPr>
            <p:spPr>
              <a:xfrm>
                <a:off x="0" y="0"/>
                <a:ext cx="58926" cy="228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416" y="0"/>
                    </a:moveTo>
                    <a:lnTo>
                      <a:pt x="21600" y="8191"/>
                    </a:lnTo>
                    <a:lnTo>
                      <a:pt x="13500" y="21600"/>
                    </a:lnTo>
                    <a:lnTo>
                      <a:pt x="0" y="12088"/>
                    </a:lnTo>
                    <a:lnTo>
                      <a:pt x="84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90" name="Freeform 1077"/>
              <p:cNvSpPr/>
              <p:nvPr/>
            </p:nvSpPr>
            <p:spPr>
              <a:xfrm>
                <a:off x="1097" y="489"/>
                <a:ext cx="56888" cy="2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8390" y="0"/>
                    </a:moveTo>
                    <a:lnTo>
                      <a:pt x="21600" y="8265"/>
                    </a:lnTo>
                    <a:lnTo>
                      <a:pt x="13597" y="21600"/>
                    </a:lnTo>
                    <a:lnTo>
                      <a:pt x="0" y="12015"/>
                    </a:lnTo>
                    <a:lnTo>
                      <a:pt x="839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91" name="Freeform 1078"/>
              <p:cNvSpPr/>
              <p:nvPr/>
            </p:nvSpPr>
            <p:spPr>
              <a:xfrm>
                <a:off x="5328" y="6106"/>
                <a:ext cx="20217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04"/>
                    </a:moveTo>
                    <a:lnTo>
                      <a:pt x="6279" y="0"/>
                    </a:lnTo>
                    <a:lnTo>
                      <a:pt x="21600" y="10800"/>
                    </a:lnTo>
                    <a:lnTo>
                      <a:pt x="15321" y="21600"/>
                    </a:lnTo>
                    <a:lnTo>
                      <a:pt x="0" y="9504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92" name="Freeform 1079"/>
              <p:cNvSpPr/>
              <p:nvPr/>
            </p:nvSpPr>
            <p:spPr>
              <a:xfrm>
                <a:off x="4623" y="8030"/>
                <a:ext cx="15202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93" name="Freeform 1080"/>
              <p:cNvSpPr/>
              <p:nvPr/>
            </p:nvSpPr>
            <p:spPr>
              <a:xfrm>
                <a:off x="21940" y="10654"/>
                <a:ext cx="20217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741"/>
                    </a:moveTo>
                    <a:lnTo>
                      <a:pt x="5944" y="0"/>
                    </a:lnTo>
                    <a:lnTo>
                      <a:pt x="21600" y="11012"/>
                    </a:lnTo>
                    <a:lnTo>
                      <a:pt x="15321" y="21600"/>
                    </a:lnTo>
                    <a:lnTo>
                      <a:pt x="0" y="974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94" name="Freeform 1081"/>
              <p:cNvSpPr/>
              <p:nvPr/>
            </p:nvSpPr>
            <p:spPr>
              <a:xfrm>
                <a:off x="21234" y="12649"/>
                <a:ext cx="15203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336" y="0"/>
                    </a:moveTo>
                    <a:lnTo>
                      <a:pt x="21600" y="18171"/>
                    </a:lnTo>
                    <a:lnTo>
                      <a:pt x="20041" y="21600"/>
                    </a:lnTo>
                    <a:lnTo>
                      <a:pt x="0" y="3086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0000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6496" name="Freeform 1082"/>
            <p:cNvSpPr/>
            <p:nvPr/>
          </p:nvSpPr>
          <p:spPr>
            <a:xfrm>
              <a:off x="2821880" y="4411548"/>
              <a:ext cx="71362" cy="50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5" y="20127"/>
                  </a:moveTo>
                  <a:lnTo>
                    <a:pt x="21600" y="0"/>
                  </a:lnTo>
                  <a:lnTo>
                    <a:pt x="21535" y="1636"/>
                  </a:lnTo>
                  <a:lnTo>
                    <a:pt x="0" y="21600"/>
                  </a:lnTo>
                  <a:lnTo>
                    <a:pt x="65" y="20127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97" name="Freeform 1083"/>
            <p:cNvSpPr/>
            <p:nvPr/>
          </p:nvSpPr>
          <p:spPr>
            <a:xfrm>
              <a:off x="2639759" y="4415557"/>
              <a:ext cx="182587" cy="45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98" name="Freeform 1086"/>
            <p:cNvSpPr/>
            <p:nvPr/>
          </p:nvSpPr>
          <p:spPr>
            <a:xfrm>
              <a:off x="2645686" y="4409103"/>
              <a:ext cx="173173" cy="441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99" name="Freeform 1087"/>
            <p:cNvSpPr/>
            <p:nvPr/>
          </p:nvSpPr>
          <p:spPr>
            <a:xfrm flipH="1" rot="10800000">
              <a:off x="2818626" y="4405974"/>
              <a:ext cx="70664" cy="45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" y="0"/>
                  </a:moveTo>
                  <a:cubicBezTo>
                    <a:pt x="136" y="0"/>
                    <a:pt x="222" y="0"/>
                    <a:pt x="307" y="0"/>
                  </a:cubicBezTo>
                  <a:lnTo>
                    <a:pt x="21600" y="20256"/>
                  </a:lnTo>
                  <a:lnTo>
                    <a:pt x="21574" y="21600"/>
                  </a:lnTo>
                  <a:lnTo>
                    <a:pt x="0" y="71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6662" name="Group 305"/>
            <p:cNvGrpSpPr/>
            <p:nvPr/>
          </p:nvGrpSpPr>
          <p:grpSpPr>
            <a:xfrm>
              <a:off x="528629" y="371263"/>
              <a:ext cx="4144322" cy="4013062"/>
              <a:chOff x="0" y="0"/>
              <a:chExt cx="4144321" cy="4013060"/>
            </a:xfrm>
          </p:grpSpPr>
          <p:grpSp>
            <p:nvGrpSpPr>
              <p:cNvPr id="6534" name="Group 306"/>
              <p:cNvGrpSpPr/>
              <p:nvPr/>
            </p:nvGrpSpPr>
            <p:grpSpPr>
              <a:xfrm>
                <a:off x="0" y="0"/>
                <a:ext cx="1802647" cy="1232389"/>
                <a:chOff x="0" y="0"/>
                <a:chExt cx="1802647" cy="1232388"/>
              </a:xfrm>
            </p:grpSpPr>
            <p:pic>
              <p:nvPicPr>
                <p:cNvPr id="6500" name="Picture 799" descr="Picture 799"/>
                <p:cNvPicPr>
                  <a:picLocks noChangeAspect="1"/>
                </p:cNvPicPr>
                <p:nvPr/>
              </p:nvPicPr>
              <p:blipFill>
                <a:blip r:embed="rId14">
                  <a:extLst/>
                </a:blip>
                <a:stretch>
                  <a:fillRect/>
                </a:stretch>
              </p:blipFill>
              <p:spPr>
                <a:xfrm>
                  <a:off x="541792" y="298442"/>
                  <a:ext cx="457201" cy="33276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6501" name="Line 426"/>
                <p:cNvSpPr/>
                <p:nvPr/>
              </p:nvSpPr>
              <p:spPr>
                <a:xfrm>
                  <a:off x="768786" y="840634"/>
                  <a:ext cx="227965" cy="174353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6517" name="Group 783"/>
                <p:cNvGrpSpPr/>
                <p:nvPr/>
              </p:nvGrpSpPr>
              <p:grpSpPr>
                <a:xfrm>
                  <a:off x="611624" y="449651"/>
                  <a:ext cx="298451" cy="464008"/>
                  <a:chOff x="0" y="0"/>
                  <a:chExt cx="298450" cy="464007"/>
                </a:xfrm>
              </p:grpSpPr>
              <p:sp>
                <p:nvSpPr>
                  <p:cNvPr id="6502" name="Line 270"/>
                  <p:cNvSpPr/>
                  <p:nvPr/>
                </p:nvSpPr>
                <p:spPr>
                  <a:xfrm flipH="1">
                    <a:off x="-1" y="0"/>
                    <a:ext cx="149226" cy="42023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03" name="Line 271"/>
                  <p:cNvSpPr/>
                  <p:nvPr/>
                </p:nvSpPr>
                <p:spPr>
                  <a:xfrm>
                    <a:off x="149225" y="0"/>
                    <a:ext cx="149226" cy="418358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04" name="Line 272"/>
                  <p:cNvSpPr/>
                  <p:nvPr/>
                </p:nvSpPr>
                <p:spPr>
                  <a:xfrm>
                    <a:off x="-1" y="418357"/>
                    <a:ext cx="149227" cy="45651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05" name="Line 273"/>
                  <p:cNvSpPr/>
                  <p:nvPr/>
                </p:nvSpPr>
                <p:spPr>
                  <a:xfrm flipH="1">
                    <a:off x="149224" y="418357"/>
                    <a:ext cx="149227" cy="45651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06" name="Line 274"/>
                  <p:cNvSpPr/>
                  <p:nvPr/>
                </p:nvSpPr>
                <p:spPr>
                  <a:xfrm flipH="1">
                    <a:off x="149224" y="9380"/>
                    <a:ext cx="1" cy="454628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07" name="Line 275"/>
                  <p:cNvSpPr/>
                  <p:nvPr/>
                </p:nvSpPr>
                <p:spPr>
                  <a:xfrm flipV="1">
                    <a:off x="-1" y="375208"/>
                    <a:ext cx="149227" cy="45026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08" name="Line 276"/>
                  <p:cNvSpPr/>
                  <p:nvPr/>
                </p:nvSpPr>
                <p:spPr>
                  <a:xfrm flipH="1" flipV="1">
                    <a:off x="149224" y="375209"/>
                    <a:ext cx="149227" cy="43149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09" name="Line 277"/>
                  <p:cNvSpPr/>
                  <p:nvPr/>
                </p:nvSpPr>
                <p:spPr>
                  <a:xfrm>
                    <a:off x="63329" y="237632"/>
                    <a:ext cx="85896" cy="3439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10" name="Line 278"/>
                  <p:cNvSpPr/>
                  <p:nvPr/>
                </p:nvSpPr>
                <p:spPr>
                  <a:xfrm flipV="1">
                    <a:off x="149224" y="237632"/>
                    <a:ext cx="90264" cy="3439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11" name="Line 279"/>
                  <p:cNvSpPr/>
                  <p:nvPr/>
                </p:nvSpPr>
                <p:spPr>
                  <a:xfrm>
                    <a:off x="34940" y="298916"/>
                    <a:ext cx="110645" cy="46902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12" name="Line 280"/>
                  <p:cNvSpPr/>
                  <p:nvPr/>
                </p:nvSpPr>
                <p:spPr>
                  <a:xfrm flipV="1">
                    <a:off x="149224" y="308297"/>
                    <a:ext cx="111374" cy="4127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13" name="Line 281"/>
                  <p:cNvSpPr/>
                  <p:nvPr/>
                </p:nvSpPr>
                <p:spPr>
                  <a:xfrm flipV="1">
                    <a:off x="149224" y="174472"/>
                    <a:ext cx="56780" cy="16885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14" name="Line 282"/>
                  <p:cNvSpPr/>
                  <p:nvPr/>
                </p:nvSpPr>
                <p:spPr>
                  <a:xfrm flipV="1">
                    <a:off x="149225" y="87548"/>
                    <a:ext cx="35669" cy="1313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15" name="Line 283"/>
                  <p:cNvSpPr/>
                  <p:nvPr/>
                </p:nvSpPr>
                <p:spPr>
                  <a:xfrm>
                    <a:off x="85167" y="168843"/>
                    <a:ext cx="69154" cy="2251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16" name="Line 284"/>
                  <p:cNvSpPr/>
                  <p:nvPr/>
                </p:nvSpPr>
                <p:spPr>
                  <a:xfrm>
                    <a:off x="115740" y="83796"/>
                    <a:ext cx="40036" cy="22513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6529" name="Group 414"/>
                <p:cNvGrpSpPr/>
                <p:nvPr/>
              </p:nvGrpSpPr>
              <p:grpSpPr>
                <a:xfrm>
                  <a:off x="1000753" y="840507"/>
                  <a:ext cx="353679" cy="391882"/>
                  <a:chOff x="0" y="0"/>
                  <a:chExt cx="353677" cy="391881"/>
                </a:xfrm>
              </p:grpSpPr>
              <p:grpSp>
                <p:nvGrpSpPr>
                  <p:cNvPr id="6520" name="Freeform 419"/>
                  <p:cNvGrpSpPr/>
                  <p:nvPr/>
                </p:nvGrpSpPr>
                <p:grpSpPr>
                  <a:xfrm>
                    <a:off x="-1" y="58793"/>
                    <a:ext cx="353679" cy="333089"/>
                    <a:chOff x="0" y="0"/>
                    <a:chExt cx="353677" cy="333087"/>
                  </a:xfrm>
                </p:grpSpPr>
                <p:sp>
                  <p:nvSpPr>
                    <p:cNvPr id="6518" name="Shape"/>
                    <p:cNvSpPr/>
                    <p:nvPr/>
                  </p:nvSpPr>
                  <p:spPr>
                    <a:xfrm>
                      <a:off x="0" y="111530"/>
                      <a:ext cx="353678" cy="11002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19" name="Text"/>
                    <p:cNvSpPr txBox="1"/>
                    <p:nvPr/>
                  </p:nvSpPr>
                  <p:spPr>
                    <a:xfrm>
                      <a:off x="48894" y="0"/>
                      <a:ext cx="255889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6523" name="Oval 420"/>
                  <p:cNvGrpSpPr/>
                  <p:nvPr/>
                </p:nvGrpSpPr>
                <p:grpSpPr>
                  <a:xfrm>
                    <a:off x="203" y="-1"/>
                    <a:ext cx="353251" cy="333089"/>
                    <a:chOff x="0" y="0"/>
                    <a:chExt cx="353249" cy="333087"/>
                  </a:xfrm>
                </p:grpSpPr>
                <p:sp>
                  <p:nvSpPr>
                    <p:cNvPr id="6521" name="Oval"/>
                    <p:cNvSpPr/>
                    <p:nvPr/>
                  </p:nvSpPr>
                  <p:spPr>
                    <a:xfrm>
                      <a:off x="0" y="112076"/>
                      <a:ext cx="353250" cy="108935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22" name="Text"/>
                    <p:cNvSpPr txBox="1"/>
                    <p:nvPr/>
                  </p:nvSpPr>
                  <p:spPr>
                    <a:xfrm>
                      <a:off x="100627" y="0"/>
                      <a:ext cx="151995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6528" name="Group 421"/>
                  <p:cNvGrpSpPr/>
                  <p:nvPr/>
                </p:nvGrpSpPr>
                <p:grpSpPr>
                  <a:xfrm>
                    <a:off x="52453" y="125922"/>
                    <a:ext cx="248706" cy="80044"/>
                    <a:chOff x="0" y="0"/>
                    <a:chExt cx="248704" cy="80043"/>
                  </a:xfrm>
                </p:grpSpPr>
                <p:sp>
                  <p:nvSpPr>
                    <p:cNvPr id="6524" name="Freeform 422"/>
                    <p:cNvSpPr/>
                    <p:nvPr/>
                  </p:nvSpPr>
                  <p:spPr>
                    <a:xfrm>
                      <a:off x="6879" y="0"/>
                      <a:ext cx="235271" cy="4480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25" name="Freeform 423"/>
                    <p:cNvSpPr/>
                    <p:nvPr/>
                  </p:nvSpPr>
                  <p:spPr>
                    <a:xfrm>
                      <a:off x="160864" y="38326"/>
                      <a:ext cx="87841" cy="3857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26" name="Freeform 424"/>
                    <p:cNvSpPr/>
                    <p:nvPr/>
                  </p:nvSpPr>
                  <p:spPr>
                    <a:xfrm>
                      <a:off x="0" y="38326"/>
                      <a:ext cx="86253" cy="3812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27" name="Freeform 425"/>
                    <p:cNvSpPr/>
                    <p:nvPr/>
                  </p:nvSpPr>
                  <p:spPr>
                    <a:xfrm>
                      <a:off x="29942" y="19487"/>
                      <a:ext cx="187543" cy="6055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pic>
              <p:nvPicPr>
                <p:cNvPr id="6530" name="Picture 654" descr="Picture 654"/>
                <p:cNvPicPr>
                  <a:picLocks noChangeAspect="1"/>
                </p:cNvPicPr>
                <p:nvPr/>
              </p:nvPicPr>
              <p:blipFill>
                <a:blip r:embed="rId15">
                  <a:extLst/>
                </a:blip>
                <a:stretch>
                  <a:fillRect/>
                </a:stretch>
              </p:blipFill>
              <p:spPr>
                <a:xfrm>
                  <a:off x="311150" y="0"/>
                  <a:ext cx="415926" cy="8877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6531" name="Picture 1017" descr="Picture 1017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0" y="496888"/>
                  <a:ext cx="530703" cy="2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6532" name="Picture 1017" descr="Picture 1017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1198707" y="460002"/>
                  <a:ext cx="530703" cy="2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6533" name="Picture 1017" descr="Picture 1017"/>
                <p:cNvPicPr>
                  <a:picLocks noChangeAspect="1"/>
                </p:cNvPicPr>
                <p:nvPr/>
              </p:nvPicPr>
              <p:blipFill>
                <a:blip r:embed="rId16">
                  <a:extLst/>
                </a:blip>
                <a:stretch>
                  <a:fillRect/>
                </a:stretch>
              </p:blipFill>
              <p:spPr>
                <a:xfrm>
                  <a:off x="1271945" y="199398"/>
                  <a:ext cx="530703" cy="22375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6554" name="Group 307"/>
              <p:cNvGrpSpPr/>
              <p:nvPr/>
            </p:nvGrpSpPr>
            <p:grpSpPr>
              <a:xfrm>
                <a:off x="54444" y="1465699"/>
                <a:ext cx="911538" cy="925351"/>
                <a:chOff x="0" y="0"/>
                <a:chExt cx="911537" cy="925350"/>
              </a:xfrm>
            </p:grpSpPr>
            <p:pic>
              <p:nvPicPr>
                <p:cNvPr id="6535" name="Picture 777" descr="Picture 777"/>
                <p:cNvPicPr>
                  <a:picLocks noChangeAspect="1"/>
                </p:cNvPicPr>
                <p:nvPr/>
              </p:nvPicPr>
              <p:blipFill>
                <a:blip r:embed="rId17">
                  <a:extLst/>
                </a:blip>
                <a:stretch>
                  <a:fillRect/>
                </a:stretch>
              </p:blipFill>
              <p:spPr>
                <a:xfrm>
                  <a:off x="120363" y="536474"/>
                  <a:ext cx="370170" cy="306752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grpSp>
              <p:nvGrpSpPr>
                <p:cNvPr id="6553" name="Group 397"/>
                <p:cNvGrpSpPr/>
                <p:nvPr/>
              </p:nvGrpSpPr>
              <p:grpSpPr>
                <a:xfrm>
                  <a:off x="-1" y="0"/>
                  <a:ext cx="911539" cy="925351"/>
                  <a:chOff x="0" y="0"/>
                  <a:chExt cx="911537" cy="925350"/>
                </a:xfrm>
              </p:grpSpPr>
              <p:sp>
                <p:nvSpPr>
                  <p:cNvPr id="6536" name="Line 443"/>
                  <p:cNvSpPr/>
                  <p:nvPr/>
                </p:nvSpPr>
                <p:spPr>
                  <a:xfrm>
                    <a:off x="754259" y="504545"/>
                    <a:ext cx="1" cy="131762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37" name="Line 449"/>
                  <p:cNvSpPr/>
                  <p:nvPr/>
                </p:nvSpPr>
                <p:spPr>
                  <a:xfrm flipV="1">
                    <a:off x="363734" y="715683"/>
                    <a:ext cx="168275" cy="3175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pic>
                <p:nvPicPr>
                  <p:cNvPr id="6538" name="Picture 778" descr="Picture 778"/>
                  <p:cNvPicPr>
                    <a:picLocks noChangeAspect="1"/>
                  </p:cNvPicPr>
                  <p:nvPr/>
                </p:nvPicPr>
                <p:blipFill>
                  <a:blip r:embed="rId18">
                    <a:extLst/>
                  </a:blip>
                  <a:stretch>
                    <a:fillRect/>
                  </a:stretch>
                </p:blipFill>
                <p:spPr>
                  <a:xfrm>
                    <a:off x="68719" y="488505"/>
                    <a:ext cx="506413" cy="106010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grpSp>
                <p:nvGrpSpPr>
                  <p:cNvPr id="6550" name="Group 401"/>
                  <p:cNvGrpSpPr/>
                  <p:nvPr/>
                </p:nvGrpSpPr>
                <p:grpSpPr>
                  <a:xfrm>
                    <a:off x="556551" y="530885"/>
                    <a:ext cx="354987" cy="394466"/>
                    <a:chOff x="0" y="0"/>
                    <a:chExt cx="354985" cy="394464"/>
                  </a:xfrm>
                </p:grpSpPr>
                <p:grpSp>
                  <p:nvGrpSpPr>
                    <p:cNvPr id="6541" name="Freeform 404"/>
                    <p:cNvGrpSpPr/>
                    <p:nvPr/>
                  </p:nvGrpSpPr>
                  <p:grpSpPr>
                    <a:xfrm>
                      <a:off x="-1" y="61377"/>
                      <a:ext cx="354987" cy="333088"/>
                      <a:chOff x="0" y="0"/>
                      <a:chExt cx="354985" cy="333087"/>
                    </a:xfrm>
                  </p:grpSpPr>
                  <p:sp>
                    <p:nvSpPr>
                      <p:cNvPr id="6539" name="Shape"/>
                      <p:cNvSpPr/>
                      <p:nvPr/>
                    </p:nvSpPr>
                    <p:spPr>
                      <a:xfrm>
                        <a:off x="0" y="109113"/>
                        <a:ext cx="354986" cy="11486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593" h="21598" fill="norm" stroke="1" extrusionOk="0">
                            <a:moveTo>
                              <a:pt x="21591" y="51"/>
                            </a:moveTo>
                            <a:lnTo>
                              <a:pt x="21593" y="11403"/>
                            </a:lnTo>
                            <a:cubicBezTo>
                              <a:pt x="20935" y="19011"/>
                              <a:pt x="14479" y="21600"/>
                              <a:pt x="10884" y="21598"/>
                            </a:cubicBezTo>
                            <a:cubicBezTo>
                              <a:pt x="7289" y="21596"/>
                              <a:pt x="649" y="19123"/>
                              <a:pt x="23" y="11390"/>
                            </a:cubicBezTo>
                            <a:cubicBezTo>
                              <a:pt x="32" y="8472"/>
                              <a:pt x="-7" y="2919"/>
                              <a:pt x="1" y="0"/>
                            </a:cubicBezTo>
                            <a:cubicBezTo>
                              <a:pt x="1019" y="6646"/>
                              <a:pt x="7140" y="10014"/>
                              <a:pt x="10738" y="10023"/>
                            </a:cubicBezTo>
                            <a:cubicBezTo>
                              <a:pt x="14336" y="10031"/>
                              <a:pt x="20606" y="7591"/>
                              <a:pt x="21591" y="51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B8C2C9"/>
                          </a:gs>
                          <a:gs pos="21000">
                            <a:srgbClr val="FFFFFF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w="6350" cap="flat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40" name="Text"/>
                      <p:cNvSpPr txBox="1"/>
                      <p:nvPr/>
                    </p:nvSpPr>
                    <p:spPr>
                      <a:xfrm>
                        <a:off x="48894" y="0"/>
                        <a:ext cx="257196" cy="333088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txBody>
                      <a:bodyPr wrap="square" lIns="45719" tIns="45719" rIns="45719" bIns="45719" numCol="1" anchor="ctr">
                        <a:spAutoFit/>
                      </a:bodyPr>
                      <a:lstStyle>
                        <a:lvl1pPr algn="ctr">
                          <a:defRPr>
                            <a:solidFill>
                              <a:srgbClr val="FFFFFF"/>
                            </a:solidFill>
                          </a:defRPr>
                        </a:lvl1pPr>
                      </a:lstStyle>
                      <a:p>
                        <a:pPr/>
                        <a:r>
                          <a:t>                   </a:t>
                        </a:r>
                      </a:p>
                    </p:txBody>
                  </p:sp>
                </p:grpSp>
                <p:grpSp>
                  <p:nvGrpSpPr>
                    <p:cNvPr id="6544" name="Oval 405"/>
                    <p:cNvGrpSpPr/>
                    <p:nvPr/>
                  </p:nvGrpSpPr>
                  <p:grpSpPr>
                    <a:xfrm>
                      <a:off x="204" y="-1"/>
                      <a:ext cx="354557" cy="333089"/>
                      <a:chOff x="0" y="0"/>
                      <a:chExt cx="354555" cy="333087"/>
                    </a:xfrm>
                  </p:grpSpPr>
                  <p:sp>
                    <p:nvSpPr>
                      <p:cNvPr id="6542" name="Oval"/>
                      <p:cNvSpPr/>
                      <p:nvPr/>
                    </p:nvSpPr>
                    <p:spPr>
                      <a:xfrm>
                        <a:off x="0" y="109684"/>
                        <a:ext cx="354556" cy="113721"/>
                      </a:xfrm>
                      <a:prstGeom prst="ellipse">
                        <a:avLst/>
                      </a:prstGeom>
                      <a:solidFill>
                        <a:srgbClr val="B8C2C9"/>
                      </a:solidFill>
                      <a:ln w="6350" cap="flat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43" name="Text"/>
                      <p:cNvSpPr txBox="1"/>
                      <p:nvPr/>
                    </p:nvSpPr>
                    <p:spPr>
                      <a:xfrm>
                        <a:off x="100818" y="0"/>
                        <a:ext cx="152920" cy="333088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txBody>
                      <a:bodyPr wrap="square" lIns="45719" tIns="45719" rIns="45719" bIns="45719" numCol="1" anchor="ctr">
                        <a:spAutoFit/>
                      </a:bodyPr>
                      <a:lstStyle>
                        <a:lvl1pPr algn="ctr">
                          <a:defRPr>
                            <a:solidFill>
                              <a:srgbClr val="FFFFFF"/>
                            </a:solidFill>
                          </a:defRPr>
                        </a:lvl1pPr>
                      </a:lstStyle>
                      <a:p>
                        <a:pPr/>
                        <a:r>
                          <a:t>              </a:t>
                        </a:r>
                      </a:p>
                    </p:txBody>
                  </p:sp>
                </p:grpSp>
                <p:grpSp>
                  <p:nvGrpSpPr>
                    <p:cNvPr id="6549" name="Group 406"/>
                    <p:cNvGrpSpPr/>
                    <p:nvPr/>
                  </p:nvGrpSpPr>
                  <p:grpSpPr>
                    <a:xfrm>
                      <a:off x="52647" y="124137"/>
                      <a:ext cx="249626" cy="83561"/>
                      <a:chOff x="0" y="0"/>
                      <a:chExt cx="249624" cy="83559"/>
                    </a:xfrm>
                  </p:grpSpPr>
                  <p:sp>
                    <p:nvSpPr>
                      <p:cNvPr id="6545" name="Freeform 407"/>
                      <p:cNvSpPr/>
                      <p:nvPr/>
                    </p:nvSpPr>
                    <p:spPr>
                      <a:xfrm>
                        <a:off x="6904" y="-1"/>
                        <a:ext cx="236141" cy="467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17365" y="0"/>
                            </a:moveTo>
                            <a:lnTo>
                              <a:pt x="21600" y="4925"/>
                            </a:lnTo>
                            <a:lnTo>
                              <a:pt x="18461" y="11148"/>
                            </a:lnTo>
                            <a:lnTo>
                              <a:pt x="17638" y="9623"/>
                            </a:lnTo>
                            <a:lnTo>
                              <a:pt x="10634" y="21600"/>
                            </a:lnTo>
                            <a:lnTo>
                              <a:pt x="4216" y="9406"/>
                            </a:lnTo>
                            <a:lnTo>
                              <a:pt x="2885" y="11148"/>
                            </a:lnTo>
                            <a:lnTo>
                              <a:pt x="0" y="5658"/>
                            </a:lnTo>
                            <a:lnTo>
                              <a:pt x="4216" y="348"/>
                            </a:lnTo>
                            <a:lnTo>
                              <a:pt x="10742" y="12674"/>
                            </a:lnTo>
                            <a:lnTo>
                              <a:pt x="17365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46" name="Freeform 408"/>
                      <p:cNvSpPr/>
                      <p:nvPr/>
                    </p:nvSpPr>
                    <p:spPr>
                      <a:xfrm>
                        <a:off x="161459" y="40010"/>
                        <a:ext cx="88166" cy="4027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60" y="0"/>
                            </a:moveTo>
                            <a:lnTo>
                              <a:pt x="21600" y="16577"/>
                            </a:lnTo>
                            <a:lnTo>
                              <a:pt x="14183" y="21600"/>
                            </a:lnTo>
                            <a:lnTo>
                              <a:pt x="0" y="10800"/>
                            </a:lnTo>
                            <a:lnTo>
                              <a:pt x="260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47" name="Freeform 409"/>
                      <p:cNvSpPr/>
                      <p:nvPr/>
                    </p:nvSpPr>
                    <p:spPr>
                      <a:xfrm>
                        <a:off x="0" y="40010"/>
                        <a:ext cx="86572" cy="3980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1467" y="0"/>
                            </a:moveTo>
                            <a:lnTo>
                              <a:pt x="21600" y="11435"/>
                            </a:lnTo>
                            <a:lnTo>
                              <a:pt x="7288" y="21600"/>
                            </a:lnTo>
                            <a:lnTo>
                              <a:pt x="0" y="16772"/>
                            </a:lnTo>
                            <a:lnTo>
                              <a:pt x="21467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48" name="Freeform 410"/>
                      <p:cNvSpPr/>
                      <p:nvPr/>
                    </p:nvSpPr>
                    <p:spPr>
                      <a:xfrm>
                        <a:off x="30053" y="20343"/>
                        <a:ext cx="188236" cy="6321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939" y="1120"/>
                            </a:moveTo>
                            <a:lnTo>
                              <a:pt x="2585" y="0"/>
                            </a:lnTo>
                            <a:lnTo>
                              <a:pt x="10744" y="9007"/>
                            </a:lnTo>
                            <a:lnTo>
                              <a:pt x="19467" y="0"/>
                            </a:lnTo>
                            <a:lnTo>
                              <a:pt x="20747" y="1120"/>
                            </a:lnTo>
                            <a:lnTo>
                              <a:pt x="15265" y="6833"/>
                            </a:lnTo>
                            <a:lnTo>
                              <a:pt x="15222" y="13740"/>
                            </a:lnTo>
                            <a:lnTo>
                              <a:pt x="21600" y="20480"/>
                            </a:lnTo>
                            <a:lnTo>
                              <a:pt x="19954" y="21440"/>
                            </a:lnTo>
                            <a:lnTo>
                              <a:pt x="10813" y="11360"/>
                            </a:lnTo>
                            <a:lnTo>
                              <a:pt x="1488" y="21600"/>
                            </a:lnTo>
                            <a:lnTo>
                              <a:pt x="0" y="20263"/>
                            </a:lnTo>
                            <a:lnTo>
                              <a:pt x="6457" y="13760"/>
                            </a:lnTo>
                            <a:cubicBezTo>
                              <a:pt x="6457" y="11573"/>
                              <a:pt x="6392" y="9067"/>
                              <a:pt x="6392" y="6880"/>
                            </a:cubicBezTo>
                            <a:lnTo>
                              <a:pt x="1061" y="1280"/>
                            </a:lnTo>
                            <a:cubicBezTo>
                              <a:pt x="153" y="320"/>
                              <a:pt x="980" y="1173"/>
                              <a:pt x="939" y="1120"/>
                            </a:cubicBezTo>
                            <a:close/>
                          </a:path>
                        </a:pathLst>
                      </a:custGeom>
                      <a:solidFill>
                        <a:srgbClr val="8FAADC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</p:grpSp>
              </p:grpSp>
              <p:pic>
                <p:nvPicPr>
                  <p:cNvPr id="6551" name="Picture 1115" descr="Picture 1115"/>
                  <p:cNvPicPr>
                    <a:picLocks noChangeAspect="1"/>
                  </p:cNvPicPr>
                  <p:nvPr/>
                </p:nvPicPr>
                <p:blipFill>
                  <a:blip r:embed="rId19">
                    <a:extLst/>
                  </a:blip>
                  <a:stretch>
                    <a:fillRect/>
                  </a:stretch>
                </p:blipFill>
                <p:spPr>
                  <a:xfrm>
                    <a:off x="0" y="93715"/>
                    <a:ext cx="347997" cy="167558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6552" name="Picture 1115" descr="Picture 1115"/>
                  <p:cNvPicPr>
                    <a:picLocks noChangeAspect="1"/>
                  </p:cNvPicPr>
                  <p:nvPr/>
                </p:nvPicPr>
                <p:blipFill>
                  <a:blip r:embed="rId19">
                    <a:extLst/>
                  </a:blip>
                  <a:stretch>
                    <a:fillRect/>
                  </a:stretch>
                </p:blipFill>
                <p:spPr>
                  <a:xfrm>
                    <a:off x="309916" y="0"/>
                    <a:ext cx="347998" cy="167557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  <p:grpSp>
            <p:nvGrpSpPr>
              <p:cNvPr id="6573" name="Group 308"/>
              <p:cNvGrpSpPr/>
              <p:nvPr/>
            </p:nvGrpSpPr>
            <p:grpSpPr>
              <a:xfrm>
                <a:off x="3445011" y="1568760"/>
                <a:ext cx="604587" cy="405974"/>
                <a:chOff x="0" y="0"/>
                <a:chExt cx="604585" cy="405973"/>
              </a:xfrm>
            </p:grpSpPr>
            <p:grpSp>
              <p:nvGrpSpPr>
                <p:cNvPr id="6566" name="Group 382"/>
                <p:cNvGrpSpPr/>
                <p:nvPr/>
              </p:nvGrpSpPr>
              <p:grpSpPr>
                <a:xfrm>
                  <a:off x="0" y="140793"/>
                  <a:ext cx="170989" cy="160910"/>
                  <a:chOff x="0" y="0"/>
                  <a:chExt cx="170988" cy="160909"/>
                </a:xfrm>
              </p:grpSpPr>
              <p:grpSp>
                <p:nvGrpSpPr>
                  <p:cNvPr id="6557" name="Freeform 389"/>
                  <p:cNvGrpSpPr/>
                  <p:nvPr/>
                </p:nvGrpSpPr>
                <p:grpSpPr>
                  <a:xfrm>
                    <a:off x="0" y="33909"/>
                    <a:ext cx="170989" cy="127001"/>
                    <a:chOff x="0" y="0"/>
                    <a:chExt cx="170988" cy="127000"/>
                  </a:xfrm>
                </p:grpSpPr>
                <p:sp>
                  <p:nvSpPr>
                    <p:cNvPr id="6555" name="Shape"/>
                    <p:cNvSpPr/>
                    <p:nvPr/>
                  </p:nvSpPr>
                  <p:spPr>
                    <a:xfrm>
                      <a:off x="0" y="31770"/>
                      <a:ext cx="170989" cy="6346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3175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56" name="Text"/>
                    <p:cNvSpPr txBox="1"/>
                    <p:nvPr/>
                  </p:nvSpPr>
                  <p:spPr>
                    <a:xfrm>
                      <a:off x="47307" y="0"/>
                      <a:ext cx="76375" cy="127000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6560" name="Oval 390"/>
                  <p:cNvGrpSpPr/>
                  <p:nvPr/>
                </p:nvGrpSpPr>
                <p:grpSpPr>
                  <a:xfrm>
                    <a:off x="98" y="0"/>
                    <a:ext cx="170783" cy="127000"/>
                    <a:chOff x="0" y="0"/>
                    <a:chExt cx="170782" cy="127000"/>
                  </a:xfrm>
                </p:grpSpPr>
                <p:sp>
                  <p:nvSpPr>
                    <p:cNvPr id="6558" name="Oval"/>
                    <p:cNvSpPr/>
                    <p:nvPr/>
                  </p:nvSpPr>
                  <p:spPr>
                    <a:xfrm>
                      <a:off x="0" y="32086"/>
                      <a:ext cx="170783" cy="62829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3175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59" name="Text"/>
                    <p:cNvSpPr txBox="1"/>
                    <p:nvPr/>
                  </p:nvSpPr>
                  <p:spPr>
                    <a:xfrm>
                      <a:off x="72317" y="0"/>
                      <a:ext cx="26147" cy="127000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6565" name="Group 391"/>
                  <p:cNvGrpSpPr/>
                  <p:nvPr/>
                </p:nvGrpSpPr>
                <p:grpSpPr>
                  <a:xfrm>
                    <a:off x="25359" y="40071"/>
                    <a:ext cx="120239" cy="46166"/>
                    <a:chOff x="0" y="0"/>
                    <a:chExt cx="120238" cy="46164"/>
                  </a:xfrm>
                </p:grpSpPr>
                <p:sp>
                  <p:nvSpPr>
                    <p:cNvPr id="6561" name="Freeform 392"/>
                    <p:cNvSpPr/>
                    <p:nvPr/>
                  </p:nvSpPr>
                  <p:spPr>
                    <a:xfrm>
                      <a:off x="3325" y="-1"/>
                      <a:ext cx="113745" cy="2584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62" name="Freeform 393"/>
                    <p:cNvSpPr/>
                    <p:nvPr/>
                  </p:nvSpPr>
                  <p:spPr>
                    <a:xfrm>
                      <a:off x="77771" y="22104"/>
                      <a:ext cx="42468" cy="2225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63" name="Freeform 394"/>
                    <p:cNvSpPr/>
                    <p:nvPr/>
                  </p:nvSpPr>
                  <p:spPr>
                    <a:xfrm>
                      <a:off x="0" y="22104"/>
                      <a:ext cx="41700" cy="2199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564" name="Freeform 395"/>
                    <p:cNvSpPr/>
                    <p:nvPr/>
                  </p:nvSpPr>
                  <p:spPr>
                    <a:xfrm>
                      <a:off x="14476" y="11239"/>
                      <a:ext cx="90669" cy="3492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  <p:grpSp>
              <p:nvGrpSpPr>
                <p:cNvPr id="6572" name="Group 383"/>
                <p:cNvGrpSpPr/>
                <p:nvPr/>
              </p:nvGrpSpPr>
              <p:grpSpPr>
                <a:xfrm>
                  <a:off x="180862" y="0"/>
                  <a:ext cx="423725" cy="405974"/>
                  <a:chOff x="0" y="0"/>
                  <a:chExt cx="423723" cy="405973"/>
                </a:xfrm>
              </p:grpSpPr>
              <p:sp>
                <p:nvSpPr>
                  <p:cNvPr id="6567" name="Straight Connector 384"/>
                  <p:cNvSpPr/>
                  <p:nvPr/>
                </p:nvSpPr>
                <p:spPr>
                  <a:xfrm>
                    <a:off x="0" y="216155"/>
                    <a:ext cx="16110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grpSp>
                <p:nvGrpSpPr>
                  <p:cNvPr id="6571" name="Group 385"/>
                  <p:cNvGrpSpPr/>
                  <p:nvPr/>
                </p:nvGrpSpPr>
                <p:grpSpPr>
                  <a:xfrm>
                    <a:off x="118936" y="0"/>
                    <a:ext cx="304788" cy="405974"/>
                    <a:chOff x="0" y="0"/>
                    <a:chExt cx="304787" cy="405973"/>
                  </a:xfrm>
                </p:grpSpPr>
                <p:pic>
                  <p:nvPicPr>
                    <p:cNvPr id="6568" name="Picture 386" descr="Picture 386"/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176272" y="59397"/>
                      <a:ext cx="128516" cy="313719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  <p:pic>
                  <p:nvPicPr>
                    <p:cNvPr id="6569" name="Picture 387" descr="Picture 387"/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-1" y="52605"/>
                      <a:ext cx="128517" cy="313719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  <p:pic>
                  <p:nvPicPr>
                    <p:cNvPr id="6570" name="Picture 388" descr="Picture 388"/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74200" y="0"/>
                      <a:ext cx="166308" cy="405974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</p:grpSp>
            </p:grpSp>
          </p:grpSp>
          <p:grpSp>
            <p:nvGrpSpPr>
              <p:cNvPr id="6642" name="Group 309"/>
              <p:cNvGrpSpPr/>
              <p:nvPr/>
            </p:nvGrpSpPr>
            <p:grpSpPr>
              <a:xfrm>
                <a:off x="536806" y="2785746"/>
                <a:ext cx="2319346" cy="1227315"/>
                <a:chOff x="0" y="0"/>
                <a:chExt cx="2319344" cy="1227313"/>
              </a:xfrm>
            </p:grpSpPr>
            <p:sp>
              <p:nvSpPr>
                <p:cNvPr id="6574" name="Line 428"/>
                <p:cNvSpPr/>
                <p:nvPr/>
              </p:nvSpPr>
              <p:spPr>
                <a:xfrm flipH="1" flipV="1">
                  <a:off x="2031493" y="381596"/>
                  <a:ext cx="7561" cy="38806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6575" name="Line 435"/>
                <p:cNvSpPr/>
                <p:nvPr/>
              </p:nvSpPr>
              <p:spPr>
                <a:xfrm>
                  <a:off x="261839" y="437442"/>
                  <a:ext cx="226801" cy="12700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6576" name="Line 440"/>
                <p:cNvSpPr/>
                <p:nvPr/>
              </p:nvSpPr>
              <p:spPr>
                <a:xfrm flipV="1">
                  <a:off x="511057" y="356670"/>
                  <a:ext cx="404238" cy="20777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6641" name="Group 328"/>
                <p:cNvGrpSpPr/>
                <p:nvPr/>
              </p:nvGrpSpPr>
              <p:grpSpPr>
                <a:xfrm>
                  <a:off x="-1" y="-1"/>
                  <a:ext cx="2319346" cy="1227315"/>
                  <a:chOff x="0" y="0"/>
                  <a:chExt cx="2319344" cy="1227313"/>
                </a:xfrm>
              </p:grpSpPr>
              <p:sp>
                <p:nvSpPr>
                  <p:cNvPr id="6577" name="Line 430"/>
                  <p:cNvSpPr/>
                  <p:nvPr/>
                </p:nvSpPr>
                <p:spPr>
                  <a:xfrm>
                    <a:off x="2205044" y="783179"/>
                    <a:ext cx="11430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78" name="Line 431"/>
                  <p:cNvSpPr/>
                  <p:nvPr/>
                </p:nvSpPr>
                <p:spPr>
                  <a:xfrm>
                    <a:off x="1484592" y="158625"/>
                    <a:ext cx="524484" cy="261538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79" name="Line 432"/>
                  <p:cNvSpPr/>
                  <p:nvPr/>
                </p:nvSpPr>
                <p:spPr>
                  <a:xfrm flipV="1">
                    <a:off x="901698" y="158625"/>
                    <a:ext cx="569256" cy="246267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80" name="Line 433"/>
                  <p:cNvSpPr/>
                  <p:nvPr/>
                </p:nvSpPr>
                <p:spPr>
                  <a:xfrm>
                    <a:off x="873376" y="430254"/>
                    <a:ext cx="1030504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81" name="Line 436"/>
                  <p:cNvSpPr/>
                  <p:nvPr/>
                </p:nvSpPr>
                <p:spPr>
                  <a:xfrm flipV="1">
                    <a:off x="-1" y="610578"/>
                    <a:ext cx="412752" cy="12700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82" name="Line 439"/>
                  <p:cNvSpPr/>
                  <p:nvPr/>
                </p:nvSpPr>
                <p:spPr>
                  <a:xfrm flipH="1">
                    <a:off x="425450" y="602360"/>
                    <a:ext cx="68081" cy="293969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83" name="Line 440"/>
                  <p:cNvSpPr/>
                  <p:nvPr/>
                </p:nvSpPr>
                <p:spPr>
                  <a:xfrm flipH="1" flipV="1">
                    <a:off x="540363" y="628039"/>
                    <a:ext cx="280376" cy="269877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84" name="Line 441"/>
                  <p:cNvSpPr/>
                  <p:nvPr/>
                </p:nvSpPr>
                <p:spPr>
                  <a:xfrm>
                    <a:off x="540363" y="578156"/>
                    <a:ext cx="914186" cy="468623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6585" name="Line 428"/>
                  <p:cNvSpPr/>
                  <p:nvPr/>
                </p:nvSpPr>
                <p:spPr>
                  <a:xfrm flipH="1" flipV="1">
                    <a:off x="2119833" y="720924"/>
                    <a:ext cx="1483" cy="36679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pic>
                <p:nvPicPr>
                  <p:cNvPr id="6586" name="Picture 781" descr="Picture 781"/>
                  <p:cNvPicPr>
                    <a:picLocks noChangeAspect="1"/>
                  </p:cNvPicPr>
                  <p:nvPr/>
                </p:nvPicPr>
                <p:blipFill>
                  <a:blip r:embed="rId21">
                    <a:extLst/>
                  </a:blip>
                  <a:stretch>
                    <a:fillRect/>
                  </a:stretch>
                </p:blipFill>
                <p:spPr>
                  <a:xfrm>
                    <a:off x="1293706" y="801046"/>
                    <a:ext cx="452015" cy="95160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pic>
                <p:nvPicPr>
                  <p:cNvPr id="6587" name="Picture 780" descr="Picture 780"/>
                  <p:cNvPicPr>
                    <a:picLocks noChangeAspect="1"/>
                  </p:cNvPicPr>
                  <p:nvPr/>
                </p:nvPicPr>
                <p:blipFill>
                  <a:blip r:embed="rId17">
                    <a:extLst/>
                  </a:blip>
                  <a:stretch>
                    <a:fillRect/>
                  </a:stretch>
                </p:blipFill>
                <p:spPr>
                  <a:xfrm>
                    <a:off x="1342243" y="793541"/>
                    <a:ext cx="380936" cy="317465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  <p:grpSp>
                <p:nvGrpSpPr>
                  <p:cNvPr id="6599" name="Group 340"/>
                  <p:cNvGrpSpPr/>
                  <p:nvPr/>
                </p:nvGrpSpPr>
                <p:grpSpPr>
                  <a:xfrm>
                    <a:off x="1835191" y="214296"/>
                    <a:ext cx="393761" cy="409458"/>
                    <a:chOff x="0" y="0"/>
                    <a:chExt cx="393760" cy="409456"/>
                  </a:xfrm>
                </p:grpSpPr>
                <p:grpSp>
                  <p:nvGrpSpPr>
                    <p:cNvPr id="6590" name="Freeform 375"/>
                    <p:cNvGrpSpPr/>
                    <p:nvPr/>
                  </p:nvGrpSpPr>
                  <p:grpSpPr>
                    <a:xfrm>
                      <a:off x="0" y="76369"/>
                      <a:ext cx="393761" cy="333088"/>
                      <a:chOff x="0" y="0"/>
                      <a:chExt cx="393760" cy="333087"/>
                    </a:xfrm>
                  </p:grpSpPr>
                  <p:sp>
                    <p:nvSpPr>
                      <p:cNvPr id="6588" name="Shape"/>
                      <p:cNvSpPr/>
                      <p:nvPr/>
                    </p:nvSpPr>
                    <p:spPr>
                      <a:xfrm>
                        <a:off x="0" y="95084"/>
                        <a:ext cx="393761" cy="14292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593" h="21598" fill="norm" stroke="1" extrusionOk="0">
                            <a:moveTo>
                              <a:pt x="21591" y="51"/>
                            </a:moveTo>
                            <a:lnTo>
                              <a:pt x="21593" y="11403"/>
                            </a:lnTo>
                            <a:cubicBezTo>
                              <a:pt x="20935" y="19011"/>
                              <a:pt x="14479" y="21600"/>
                              <a:pt x="10884" y="21598"/>
                            </a:cubicBezTo>
                            <a:cubicBezTo>
                              <a:pt x="7289" y="21596"/>
                              <a:pt x="649" y="19123"/>
                              <a:pt x="23" y="11390"/>
                            </a:cubicBezTo>
                            <a:cubicBezTo>
                              <a:pt x="32" y="8472"/>
                              <a:pt x="-7" y="2919"/>
                              <a:pt x="1" y="0"/>
                            </a:cubicBezTo>
                            <a:cubicBezTo>
                              <a:pt x="1019" y="6646"/>
                              <a:pt x="7140" y="10014"/>
                              <a:pt x="10738" y="10023"/>
                            </a:cubicBezTo>
                            <a:cubicBezTo>
                              <a:pt x="14336" y="10031"/>
                              <a:pt x="20606" y="7591"/>
                              <a:pt x="21591" y="51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B8C2C9"/>
                          </a:gs>
                          <a:gs pos="21000">
                            <a:srgbClr val="FFFFFF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w="6350" cap="flat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89" name="Text"/>
                      <p:cNvSpPr txBox="1"/>
                      <p:nvPr/>
                    </p:nvSpPr>
                    <p:spPr>
                      <a:xfrm>
                        <a:off x="48894" y="0"/>
                        <a:ext cx="295971" cy="333088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txBody>
                      <a:bodyPr wrap="square" lIns="45719" tIns="45719" rIns="45719" bIns="45719" numCol="1" anchor="ctr">
                        <a:spAutoFit/>
                      </a:bodyPr>
                      <a:lstStyle>
                        <a:lvl1pPr algn="ctr">
                          <a:defRPr>
                            <a:solidFill>
                              <a:srgbClr val="FFFFFF"/>
                            </a:solidFill>
                          </a:defRPr>
                        </a:lvl1pPr>
                      </a:lstStyle>
                      <a:p>
                        <a:pPr/>
                        <a:r>
                          <a:t>                   </a:t>
                        </a:r>
                      </a:p>
                    </p:txBody>
                  </p:sp>
                </p:grpSp>
                <p:grpSp>
                  <p:nvGrpSpPr>
                    <p:cNvPr id="6593" name="Oval 376"/>
                    <p:cNvGrpSpPr/>
                    <p:nvPr/>
                  </p:nvGrpSpPr>
                  <p:grpSpPr>
                    <a:xfrm>
                      <a:off x="226" y="-1"/>
                      <a:ext cx="393285" cy="333089"/>
                      <a:chOff x="0" y="0"/>
                      <a:chExt cx="393284" cy="333087"/>
                    </a:xfrm>
                  </p:grpSpPr>
                  <p:sp>
                    <p:nvSpPr>
                      <p:cNvPr id="6591" name="Oval"/>
                      <p:cNvSpPr/>
                      <p:nvPr/>
                    </p:nvSpPr>
                    <p:spPr>
                      <a:xfrm>
                        <a:off x="0" y="95794"/>
                        <a:ext cx="393285" cy="141499"/>
                      </a:xfrm>
                      <a:prstGeom prst="ellipse">
                        <a:avLst/>
                      </a:prstGeom>
                      <a:solidFill>
                        <a:srgbClr val="B8C2C9"/>
                      </a:solidFill>
                      <a:ln w="6350" cap="flat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92" name="Text"/>
                      <p:cNvSpPr txBox="1"/>
                      <p:nvPr/>
                    </p:nvSpPr>
                    <p:spPr>
                      <a:xfrm>
                        <a:off x="106490" y="0"/>
                        <a:ext cx="180304" cy="333088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txBody>
                      <a:bodyPr wrap="square" lIns="45719" tIns="45719" rIns="45719" bIns="45719" numCol="1" anchor="ctr">
                        <a:spAutoFit/>
                      </a:bodyPr>
                      <a:lstStyle>
                        <a:lvl1pPr algn="ctr">
                          <a:defRPr>
                            <a:solidFill>
                              <a:srgbClr val="FFFFFF"/>
                            </a:solidFill>
                          </a:defRPr>
                        </a:lvl1pPr>
                      </a:lstStyle>
                      <a:p>
                        <a:pPr/>
                        <a:r>
                          <a:t>              </a:t>
                        </a:r>
                      </a:p>
                    </p:txBody>
                  </p:sp>
                </p:grpSp>
                <p:grpSp>
                  <p:nvGrpSpPr>
                    <p:cNvPr id="6598" name="Group 377"/>
                    <p:cNvGrpSpPr/>
                    <p:nvPr/>
                  </p:nvGrpSpPr>
                  <p:grpSpPr>
                    <a:xfrm>
                      <a:off x="58397" y="113778"/>
                      <a:ext cx="276892" cy="103972"/>
                      <a:chOff x="0" y="0"/>
                      <a:chExt cx="276890" cy="103970"/>
                    </a:xfrm>
                  </p:grpSpPr>
                  <p:sp>
                    <p:nvSpPr>
                      <p:cNvPr id="6594" name="Freeform 378"/>
                      <p:cNvSpPr/>
                      <p:nvPr/>
                    </p:nvSpPr>
                    <p:spPr>
                      <a:xfrm>
                        <a:off x="7658" y="0"/>
                        <a:ext cx="261934" cy="5820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17365" y="0"/>
                            </a:moveTo>
                            <a:lnTo>
                              <a:pt x="21600" y="4925"/>
                            </a:lnTo>
                            <a:lnTo>
                              <a:pt x="18461" y="11148"/>
                            </a:lnTo>
                            <a:lnTo>
                              <a:pt x="17638" y="9623"/>
                            </a:lnTo>
                            <a:lnTo>
                              <a:pt x="10634" y="21600"/>
                            </a:lnTo>
                            <a:lnTo>
                              <a:pt x="4216" y="9406"/>
                            </a:lnTo>
                            <a:lnTo>
                              <a:pt x="2885" y="11148"/>
                            </a:lnTo>
                            <a:lnTo>
                              <a:pt x="0" y="5658"/>
                            </a:lnTo>
                            <a:lnTo>
                              <a:pt x="4216" y="348"/>
                            </a:lnTo>
                            <a:lnTo>
                              <a:pt x="10742" y="12674"/>
                            </a:lnTo>
                            <a:lnTo>
                              <a:pt x="17365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95" name="Freeform 379"/>
                      <p:cNvSpPr/>
                      <p:nvPr/>
                    </p:nvSpPr>
                    <p:spPr>
                      <a:xfrm>
                        <a:off x="179095" y="49783"/>
                        <a:ext cx="97796" cy="5010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60" y="0"/>
                            </a:moveTo>
                            <a:lnTo>
                              <a:pt x="21600" y="16577"/>
                            </a:lnTo>
                            <a:lnTo>
                              <a:pt x="14183" y="21600"/>
                            </a:lnTo>
                            <a:lnTo>
                              <a:pt x="0" y="10800"/>
                            </a:lnTo>
                            <a:lnTo>
                              <a:pt x="260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96" name="Freeform 380"/>
                      <p:cNvSpPr/>
                      <p:nvPr/>
                    </p:nvSpPr>
                    <p:spPr>
                      <a:xfrm>
                        <a:off x="0" y="49783"/>
                        <a:ext cx="96028" cy="4952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1467" y="0"/>
                            </a:moveTo>
                            <a:lnTo>
                              <a:pt x="21600" y="11435"/>
                            </a:lnTo>
                            <a:lnTo>
                              <a:pt x="7288" y="21600"/>
                            </a:lnTo>
                            <a:lnTo>
                              <a:pt x="0" y="16772"/>
                            </a:lnTo>
                            <a:lnTo>
                              <a:pt x="21467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97" name="Freeform 381"/>
                      <p:cNvSpPr/>
                      <p:nvPr/>
                    </p:nvSpPr>
                    <p:spPr>
                      <a:xfrm>
                        <a:off x="33336" y="25312"/>
                        <a:ext cx="208796" cy="7865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939" y="1120"/>
                            </a:moveTo>
                            <a:lnTo>
                              <a:pt x="2585" y="0"/>
                            </a:lnTo>
                            <a:lnTo>
                              <a:pt x="10744" y="9007"/>
                            </a:lnTo>
                            <a:lnTo>
                              <a:pt x="19467" y="0"/>
                            </a:lnTo>
                            <a:lnTo>
                              <a:pt x="20747" y="1120"/>
                            </a:lnTo>
                            <a:lnTo>
                              <a:pt x="15265" y="6833"/>
                            </a:lnTo>
                            <a:lnTo>
                              <a:pt x="15222" y="13740"/>
                            </a:lnTo>
                            <a:lnTo>
                              <a:pt x="21600" y="20480"/>
                            </a:lnTo>
                            <a:lnTo>
                              <a:pt x="19954" y="21440"/>
                            </a:lnTo>
                            <a:lnTo>
                              <a:pt x="10813" y="11360"/>
                            </a:lnTo>
                            <a:lnTo>
                              <a:pt x="1488" y="21600"/>
                            </a:lnTo>
                            <a:lnTo>
                              <a:pt x="0" y="20263"/>
                            </a:lnTo>
                            <a:lnTo>
                              <a:pt x="6457" y="13760"/>
                            </a:lnTo>
                            <a:cubicBezTo>
                              <a:pt x="6457" y="11573"/>
                              <a:pt x="6392" y="9067"/>
                              <a:pt x="6392" y="6880"/>
                            </a:cubicBezTo>
                            <a:lnTo>
                              <a:pt x="1061" y="1280"/>
                            </a:lnTo>
                            <a:cubicBezTo>
                              <a:pt x="153" y="320"/>
                              <a:pt x="980" y="1173"/>
                              <a:pt x="939" y="1120"/>
                            </a:cubicBezTo>
                            <a:close/>
                          </a:path>
                        </a:pathLst>
                      </a:custGeom>
                      <a:solidFill>
                        <a:srgbClr val="8FAADC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</p:grpSp>
              </p:grpSp>
              <p:grpSp>
                <p:nvGrpSpPr>
                  <p:cNvPr id="6607" name="Group 341"/>
                  <p:cNvGrpSpPr/>
                  <p:nvPr/>
                </p:nvGrpSpPr>
                <p:grpSpPr>
                  <a:xfrm>
                    <a:off x="1900998" y="659145"/>
                    <a:ext cx="309741" cy="190839"/>
                    <a:chOff x="0" y="0"/>
                    <a:chExt cx="309739" cy="190837"/>
                  </a:xfrm>
                </p:grpSpPr>
                <p:sp>
                  <p:nvSpPr>
                    <p:cNvPr id="6600" name="Rectangle 368"/>
                    <p:cNvSpPr/>
                    <p:nvPr/>
                  </p:nvSpPr>
                  <p:spPr>
                    <a:xfrm>
                      <a:off x="0" y="113922"/>
                      <a:ext cx="308626" cy="76916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32538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601" name="Freeform 369"/>
                    <p:cNvSpPr/>
                    <p:nvPr/>
                  </p:nvSpPr>
                  <p:spPr>
                    <a:xfrm>
                      <a:off x="857" y="-1"/>
                      <a:ext cx="308883" cy="11672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21429"/>
                          </a:moveTo>
                          <a:lnTo>
                            <a:pt x="1440" y="0"/>
                          </a:lnTo>
                          <a:lnTo>
                            <a:pt x="19500" y="343"/>
                          </a:lnTo>
                          <a:lnTo>
                            <a:pt x="21600" y="21600"/>
                          </a:lnTo>
                          <a:lnTo>
                            <a:pt x="0" y="21429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grpSp>
                  <p:nvGrpSpPr>
                    <p:cNvPr id="6606" name="Group 370"/>
                    <p:cNvGrpSpPr/>
                    <p:nvPr/>
                  </p:nvGrpSpPr>
                  <p:grpSpPr>
                    <a:xfrm>
                      <a:off x="22308" y="13603"/>
                      <a:ext cx="261399" cy="93969"/>
                      <a:chOff x="0" y="0"/>
                      <a:chExt cx="261398" cy="93968"/>
                    </a:xfrm>
                  </p:grpSpPr>
                  <p:sp>
                    <p:nvSpPr>
                      <p:cNvPr id="6602" name="Freeform 371"/>
                      <p:cNvSpPr/>
                      <p:nvPr/>
                    </p:nvSpPr>
                    <p:spPr>
                      <a:xfrm>
                        <a:off x="7230" y="-1"/>
                        <a:ext cx="247278" cy="5260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17365" y="0"/>
                            </a:moveTo>
                            <a:lnTo>
                              <a:pt x="21600" y="4925"/>
                            </a:lnTo>
                            <a:lnTo>
                              <a:pt x="18461" y="11148"/>
                            </a:lnTo>
                            <a:lnTo>
                              <a:pt x="17638" y="9623"/>
                            </a:lnTo>
                            <a:lnTo>
                              <a:pt x="10634" y="21600"/>
                            </a:lnTo>
                            <a:lnTo>
                              <a:pt x="4216" y="9406"/>
                            </a:lnTo>
                            <a:lnTo>
                              <a:pt x="2885" y="11148"/>
                            </a:lnTo>
                            <a:lnTo>
                              <a:pt x="0" y="5658"/>
                            </a:lnTo>
                            <a:lnTo>
                              <a:pt x="4216" y="348"/>
                            </a:lnTo>
                            <a:lnTo>
                              <a:pt x="10742" y="12674"/>
                            </a:lnTo>
                            <a:lnTo>
                              <a:pt x="17365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03" name="Freeform 372"/>
                      <p:cNvSpPr/>
                      <p:nvPr/>
                    </p:nvSpPr>
                    <p:spPr>
                      <a:xfrm>
                        <a:off x="169074" y="44994"/>
                        <a:ext cx="92325" cy="4528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60" y="0"/>
                            </a:moveTo>
                            <a:lnTo>
                              <a:pt x="21600" y="16577"/>
                            </a:lnTo>
                            <a:lnTo>
                              <a:pt x="14183" y="21600"/>
                            </a:lnTo>
                            <a:lnTo>
                              <a:pt x="0" y="10800"/>
                            </a:lnTo>
                            <a:lnTo>
                              <a:pt x="260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04" name="Freeform 373"/>
                      <p:cNvSpPr/>
                      <p:nvPr/>
                    </p:nvSpPr>
                    <p:spPr>
                      <a:xfrm>
                        <a:off x="-1" y="44994"/>
                        <a:ext cx="90657" cy="4476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1467" y="0"/>
                            </a:moveTo>
                            <a:lnTo>
                              <a:pt x="21600" y="11435"/>
                            </a:lnTo>
                            <a:lnTo>
                              <a:pt x="7288" y="21600"/>
                            </a:lnTo>
                            <a:lnTo>
                              <a:pt x="0" y="16772"/>
                            </a:lnTo>
                            <a:lnTo>
                              <a:pt x="21467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05" name="Freeform 374"/>
                      <p:cNvSpPr/>
                      <p:nvPr/>
                    </p:nvSpPr>
                    <p:spPr>
                      <a:xfrm>
                        <a:off x="31470" y="22877"/>
                        <a:ext cx="197115" cy="7109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939" y="1120"/>
                            </a:moveTo>
                            <a:lnTo>
                              <a:pt x="2585" y="0"/>
                            </a:lnTo>
                            <a:lnTo>
                              <a:pt x="10744" y="9007"/>
                            </a:lnTo>
                            <a:lnTo>
                              <a:pt x="19467" y="0"/>
                            </a:lnTo>
                            <a:lnTo>
                              <a:pt x="20747" y="1120"/>
                            </a:lnTo>
                            <a:lnTo>
                              <a:pt x="15265" y="6833"/>
                            </a:lnTo>
                            <a:lnTo>
                              <a:pt x="15222" y="13740"/>
                            </a:lnTo>
                            <a:lnTo>
                              <a:pt x="21600" y="20480"/>
                            </a:lnTo>
                            <a:lnTo>
                              <a:pt x="19954" y="21440"/>
                            </a:lnTo>
                            <a:lnTo>
                              <a:pt x="10813" y="11360"/>
                            </a:lnTo>
                            <a:lnTo>
                              <a:pt x="1488" y="21600"/>
                            </a:lnTo>
                            <a:lnTo>
                              <a:pt x="0" y="20263"/>
                            </a:lnTo>
                            <a:lnTo>
                              <a:pt x="6457" y="13760"/>
                            </a:lnTo>
                            <a:cubicBezTo>
                              <a:pt x="6457" y="11573"/>
                              <a:pt x="6392" y="9067"/>
                              <a:pt x="6392" y="6880"/>
                            </a:cubicBezTo>
                            <a:lnTo>
                              <a:pt x="1061" y="1280"/>
                            </a:lnTo>
                            <a:cubicBezTo>
                              <a:pt x="153" y="320"/>
                              <a:pt x="980" y="1173"/>
                              <a:pt x="939" y="1120"/>
                            </a:cubicBezTo>
                            <a:close/>
                          </a:path>
                        </a:pathLst>
                      </a:custGeom>
                      <a:solidFill>
                        <a:srgbClr val="8FAADC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</p:grpSp>
              </p:grpSp>
              <p:grpSp>
                <p:nvGrpSpPr>
                  <p:cNvPr id="6619" name="Group 342"/>
                  <p:cNvGrpSpPr/>
                  <p:nvPr/>
                </p:nvGrpSpPr>
                <p:grpSpPr>
                  <a:xfrm>
                    <a:off x="728252" y="191733"/>
                    <a:ext cx="393761" cy="409458"/>
                    <a:chOff x="0" y="0"/>
                    <a:chExt cx="393760" cy="409456"/>
                  </a:xfrm>
                </p:grpSpPr>
                <p:grpSp>
                  <p:nvGrpSpPr>
                    <p:cNvPr id="6610" name="Freeform 361"/>
                    <p:cNvGrpSpPr/>
                    <p:nvPr/>
                  </p:nvGrpSpPr>
                  <p:grpSpPr>
                    <a:xfrm>
                      <a:off x="0" y="76369"/>
                      <a:ext cx="393761" cy="333088"/>
                      <a:chOff x="0" y="0"/>
                      <a:chExt cx="393760" cy="333087"/>
                    </a:xfrm>
                  </p:grpSpPr>
                  <p:sp>
                    <p:nvSpPr>
                      <p:cNvPr id="6608" name="Shape"/>
                      <p:cNvSpPr/>
                      <p:nvPr/>
                    </p:nvSpPr>
                    <p:spPr>
                      <a:xfrm>
                        <a:off x="0" y="95084"/>
                        <a:ext cx="393761" cy="14292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593" h="21598" fill="norm" stroke="1" extrusionOk="0">
                            <a:moveTo>
                              <a:pt x="21591" y="51"/>
                            </a:moveTo>
                            <a:lnTo>
                              <a:pt x="21593" y="11403"/>
                            </a:lnTo>
                            <a:cubicBezTo>
                              <a:pt x="20935" y="19011"/>
                              <a:pt x="14479" y="21600"/>
                              <a:pt x="10884" y="21598"/>
                            </a:cubicBezTo>
                            <a:cubicBezTo>
                              <a:pt x="7289" y="21596"/>
                              <a:pt x="649" y="19123"/>
                              <a:pt x="23" y="11390"/>
                            </a:cubicBezTo>
                            <a:cubicBezTo>
                              <a:pt x="32" y="8472"/>
                              <a:pt x="-7" y="2919"/>
                              <a:pt x="1" y="0"/>
                            </a:cubicBezTo>
                            <a:cubicBezTo>
                              <a:pt x="1019" y="6646"/>
                              <a:pt x="7140" y="10014"/>
                              <a:pt x="10738" y="10023"/>
                            </a:cubicBezTo>
                            <a:cubicBezTo>
                              <a:pt x="14336" y="10031"/>
                              <a:pt x="20606" y="7591"/>
                              <a:pt x="21591" y="51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B8C2C9"/>
                          </a:gs>
                          <a:gs pos="21000">
                            <a:srgbClr val="FFFFFF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w="6350" cap="flat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09" name="Text"/>
                      <p:cNvSpPr txBox="1"/>
                      <p:nvPr/>
                    </p:nvSpPr>
                    <p:spPr>
                      <a:xfrm>
                        <a:off x="48894" y="0"/>
                        <a:ext cx="295971" cy="333088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txBody>
                      <a:bodyPr wrap="square" lIns="45719" tIns="45719" rIns="45719" bIns="45719" numCol="1" anchor="ctr">
                        <a:spAutoFit/>
                      </a:bodyPr>
                      <a:lstStyle>
                        <a:lvl1pPr algn="ctr">
                          <a:defRPr>
                            <a:solidFill>
                              <a:srgbClr val="FFFFFF"/>
                            </a:solidFill>
                          </a:defRPr>
                        </a:lvl1pPr>
                      </a:lstStyle>
                      <a:p>
                        <a:pPr/>
                        <a:r>
                          <a:t>                   </a:t>
                        </a:r>
                      </a:p>
                    </p:txBody>
                  </p:sp>
                </p:grpSp>
                <p:grpSp>
                  <p:nvGrpSpPr>
                    <p:cNvPr id="6613" name="Oval 362"/>
                    <p:cNvGrpSpPr/>
                    <p:nvPr/>
                  </p:nvGrpSpPr>
                  <p:grpSpPr>
                    <a:xfrm>
                      <a:off x="226" y="-1"/>
                      <a:ext cx="393285" cy="333089"/>
                      <a:chOff x="0" y="0"/>
                      <a:chExt cx="393284" cy="333087"/>
                    </a:xfrm>
                  </p:grpSpPr>
                  <p:sp>
                    <p:nvSpPr>
                      <p:cNvPr id="6611" name="Oval"/>
                      <p:cNvSpPr/>
                      <p:nvPr/>
                    </p:nvSpPr>
                    <p:spPr>
                      <a:xfrm>
                        <a:off x="0" y="95794"/>
                        <a:ext cx="393285" cy="141499"/>
                      </a:xfrm>
                      <a:prstGeom prst="ellipse">
                        <a:avLst/>
                      </a:prstGeom>
                      <a:solidFill>
                        <a:srgbClr val="B8C2C9"/>
                      </a:solidFill>
                      <a:ln w="6350" cap="flat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12" name="Text"/>
                      <p:cNvSpPr txBox="1"/>
                      <p:nvPr/>
                    </p:nvSpPr>
                    <p:spPr>
                      <a:xfrm>
                        <a:off x="106490" y="0"/>
                        <a:ext cx="180304" cy="333088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txBody>
                      <a:bodyPr wrap="square" lIns="45719" tIns="45719" rIns="45719" bIns="45719" numCol="1" anchor="ctr">
                        <a:spAutoFit/>
                      </a:bodyPr>
                      <a:lstStyle>
                        <a:lvl1pPr algn="ctr">
                          <a:defRPr>
                            <a:solidFill>
                              <a:srgbClr val="FFFFFF"/>
                            </a:solidFill>
                          </a:defRPr>
                        </a:lvl1pPr>
                      </a:lstStyle>
                      <a:p>
                        <a:pPr/>
                        <a:r>
                          <a:t>              </a:t>
                        </a:r>
                      </a:p>
                    </p:txBody>
                  </p:sp>
                </p:grpSp>
                <p:grpSp>
                  <p:nvGrpSpPr>
                    <p:cNvPr id="6618" name="Group 363"/>
                    <p:cNvGrpSpPr/>
                    <p:nvPr/>
                  </p:nvGrpSpPr>
                  <p:grpSpPr>
                    <a:xfrm>
                      <a:off x="58397" y="113778"/>
                      <a:ext cx="276892" cy="103972"/>
                      <a:chOff x="0" y="0"/>
                      <a:chExt cx="276890" cy="103970"/>
                    </a:xfrm>
                  </p:grpSpPr>
                  <p:sp>
                    <p:nvSpPr>
                      <p:cNvPr id="6614" name="Freeform 364"/>
                      <p:cNvSpPr/>
                      <p:nvPr/>
                    </p:nvSpPr>
                    <p:spPr>
                      <a:xfrm>
                        <a:off x="7658" y="0"/>
                        <a:ext cx="261934" cy="5820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17365" y="0"/>
                            </a:moveTo>
                            <a:lnTo>
                              <a:pt x="21600" y="4925"/>
                            </a:lnTo>
                            <a:lnTo>
                              <a:pt x="18461" y="11148"/>
                            </a:lnTo>
                            <a:lnTo>
                              <a:pt x="17638" y="9623"/>
                            </a:lnTo>
                            <a:lnTo>
                              <a:pt x="10634" y="21600"/>
                            </a:lnTo>
                            <a:lnTo>
                              <a:pt x="4216" y="9406"/>
                            </a:lnTo>
                            <a:lnTo>
                              <a:pt x="2885" y="11148"/>
                            </a:lnTo>
                            <a:lnTo>
                              <a:pt x="0" y="5658"/>
                            </a:lnTo>
                            <a:lnTo>
                              <a:pt x="4216" y="348"/>
                            </a:lnTo>
                            <a:lnTo>
                              <a:pt x="10742" y="12674"/>
                            </a:lnTo>
                            <a:lnTo>
                              <a:pt x="17365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15" name="Freeform 365"/>
                      <p:cNvSpPr/>
                      <p:nvPr/>
                    </p:nvSpPr>
                    <p:spPr>
                      <a:xfrm>
                        <a:off x="179095" y="49783"/>
                        <a:ext cx="97796" cy="5010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60" y="0"/>
                            </a:moveTo>
                            <a:lnTo>
                              <a:pt x="21600" y="16577"/>
                            </a:lnTo>
                            <a:lnTo>
                              <a:pt x="14183" y="21600"/>
                            </a:lnTo>
                            <a:lnTo>
                              <a:pt x="0" y="10800"/>
                            </a:lnTo>
                            <a:lnTo>
                              <a:pt x="260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16" name="Freeform 366"/>
                      <p:cNvSpPr/>
                      <p:nvPr/>
                    </p:nvSpPr>
                    <p:spPr>
                      <a:xfrm>
                        <a:off x="0" y="49783"/>
                        <a:ext cx="96028" cy="4952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1467" y="0"/>
                            </a:moveTo>
                            <a:lnTo>
                              <a:pt x="21600" y="11435"/>
                            </a:lnTo>
                            <a:lnTo>
                              <a:pt x="7288" y="21600"/>
                            </a:lnTo>
                            <a:lnTo>
                              <a:pt x="0" y="16772"/>
                            </a:lnTo>
                            <a:lnTo>
                              <a:pt x="21467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17" name="Freeform 367"/>
                      <p:cNvSpPr/>
                      <p:nvPr/>
                    </p:nvSpPr>
                    <p:spPr>
                      <a:xfrm>
                        <a:off x="33336" y="25312"/>
                        <a:ext cx="208796" cy="7865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939" y="1120"/>
                            </a:moveTo>
                            <a:lnTo>
                              <a:pt x="2585" y="0"/>
                            </a:lnTo>
                            <a:lnTo>
                              <a:pt x="10744" y="9007"/>
                            </a:lnTo>
                            <a:lnTo>
                              <a:pt x="19467" y="0"/>
                            </a:lnTo>
                            <a:lnTo>
                              <a:pt x="20747" y="1120"/>
                            </a:lnTo>
                            <a:lnTo>
                              <a:pt x="15265" y="6833"/>
                            </a:lnTo>
                            <a:lnTo>
                              <a:pt x="15222" y="13740"/>
                            </a:lnTo>
                            <a:lnTo>
                              <a:pt x="21600" y="20480"/>
                            </a:lnTo>
                            <a:lnTo>
                              <a:pt x="19954" y="21440"/>
                            </a:lnTo>
                            <a:lnTo>
                              <a:pt x="10813" y="11360"/>
                            </a:lnTo>
                            <a:lnTo>
                              <a:pt x="1488" y="21600"/>
                            </a:lnTo>
                            <a:lnTo>
                              <a:pt x="0" y="20263"/>
                            </a:lnTo>
                            <a:lnTo>
                              <a:pt x="6457" y="13760"/>
                            </a:lnTo>
                            <a:cubicBezTo>
                              <a:pt x="6457" y="11573"/>
                              <a:pt x="6392" y="9067"/>
                              <a:pt x="6392" y="6880"/>
                            </a:cubicBezTo>
                            <a:lnTo>
                              <a:pt x="1061" y="1280"/>
                            </a:lnTo>
                            <a:cubicBezTo>
                              <a:pt x="153" y="320"/>
                              <a:pt x="980" y="1173"/>
                              <a:pt x="939" y="1120"/>
                            </a:cubicBezTo>
                            <a:close/>
                          </a:path>
                        </a:pathLst>
                      </a:custGeom>
                      <a:solidFill>
                        <a:srgbClr val="8FAADC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</p:grpSp>
              </p:grpSp>
              <p:grpSp>
                <p:nvGrpSpPr>
                  <p:cNvPr id="6627" name="Group 343"/>
                  <p:cNvGrpSpPr/>
                  <p:nvPr/>
                </p:nvGrpSpPr>
                <p:grpSpPr>
                  <a:xfrm>
                    <a:off x="363152" y="514541"/>
                    <a:ext cx="309741" cy="190839"/>
                    <a:chOff x="0" y="0"/>
                    <a:chExt cx="309739" cy="190837"/>
                  </a:xfrm>
                </p:grpSpPr>
                <p:sp>
                  <p:nvSpPr>
                    <p:cNvPr id="6620" name="Rectangle 354"/>
                    <p:cNvSpPr/>
                    <p:nvPr/>
                  </p:nvSpPr>
                  <p:spPr>
                    <a:xfrm>
                      <a:off x="0" y="113922"/>
                      <a:ext cx="308626" cy="76916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 cap="flat">
                      <a:solidFill>
                        <a:srgbClr val="32538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621" name="Freeform 355"/>
                    <p:cNvSpPr/>
                    <p:nvPr/>
                  </p:nvSpPr>
                  <p:spPr>
                    <a:xfrm>
                      <a:off x="857" y="-1"/>
                      <a:ext cx="308883" cy="11672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0" y="21429"/>
                          </a:moveTo>
                          <a:lnTo>
                            <a:pt x="1440" y="0"/>
                          </a:lnTo>
                          <a:lnTo>
                            <a:pt x="19500" y="343"/>
                          </a:lnTo>
                          <a:lnTo>
                            <a:pt x="21600" y="21600"/>
                          </a:lnTo>
                          <a:lnTo>
                            <a:pt x="0" y="21429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w="6350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grpSp>
                  <p:nvGrpSpPr>
                    <p:cNvPr id="6626" name="Group 356"/>
                    <p:cNvGrpSpPr/>
                    <p:nvPr/>
                  </p:nvGrpSpPr>
                  <p:grpSpPr>
                    <a:xfrm>
                      <a:off x="22308" y="13603"/>
                      <a:ext cx="261399" cy="93969"/>
                      <a:chOff x="0" y="0"/>
                      <a:chExt cx="261398" cy="93968"/>
                    </a:xfrm>
                  </p:grpSpPr>
                  <p:sp>
                    <p:nvSpPr>
                      <p:cNvPr id="6622" name="Freeform 357"/>
                      <p:cNvSpPr/>
                      <p:nvPr/>
                    </p:nvSpPr>
                    <p:spPr>
                      <a:xfrm>
                        <a:off x="7230" y="-1"/>
                        <a:ext cx="247278" cy="5260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17365" y="0"/>
                            </a:moveTo>
                            <a:lnTo>
                              <a:pt x="21600" y="4925"/>
                            </a:lnTo>
                            <a:lnTo>
                              <a:pt x="18461" y="11148"/>
                            </a:lnTo>
                            <a:lnTo>
                              <a:pt x="17638" y="9623"/>
                            </a:lnTo>
                            <a:lnTo>
                              <a:pt x="10634" y="21600"/>
                            </a:lnTo>
                            <a:lnTo>
                              <a:pt x="4216" y="9406"/>
                            </a:lnTo>
                            <a:lnTo>
                              <a:pt x="2885" y="11148"/>
                            </a:lnTo>
                            <a:lnTo>
                              <a:pt x="0" y="5658"/>
                            </a:lnTo>
                            <a:lnTo>
                              <a:pt x="4216" y="348"/>
                            </a:lnTo>
                            <a:lnTo>
                              <a:pt x="10742" y="12674"/>
                            </a:lnTo>
                            <a:lnTo>
                              <a:pt x="17365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23" name="Freeform 358"/>
                      <p:cNvSpPr/>
                      <p:nvPr/>
                    </p:nvSpPr>
                    <p:spPr>
                      <a:xfrm>
                        <a:off x="169074" y="44994"/>
                        <a:ext cx="92325" cy="4528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60" y="0"/>
                            </a:moveTo>
                            <a:lnTo>
                              <a:pt x="21600" y="16577"/>
                            </a:lnTo>
                            <a:lnTo>
                              <a:pt x="14183" y="21600"/>
                            </a:lnTo>
                            <a:lnTo>
                              <a:pt x="0" y="10800"/>
                            </a:lnTo>
                            <a:lnTo>
                              <a:pt x="260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24" name="Freeform 359"/>
                      <p:cNvSpPr/>
                      <p:nvPr/>
                    </p:nvSpPr>
                    <p:spPr>
                      <a:xfrm>
                        <a:off x="-1" y="44994"/>
                        <a:ext cx="90657" cy="4476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1467" y="0"/>
                            </a:moveTo>
                            <a:lnTo>
                              <a:pt x="21600" y="11435"/>
                            </a:lnTo>
                            <a:lnTo>
                              <a:pt x="7288" y="21600"/>
                            </a:lnTo>
                            <a:lnTo>
                              <a:pt x="0" y="16772"/>
                            </a:lnTo>
                            <a:lnTo>
                              <a:pt x="21467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25" name="Freeform 360"/>
                      <p:cNvSpPr/>
                      <p:nvPr/>
                    </p:nvSpPr>
                    <p:spPr>
                      <a:xfrm>
                        <a:off x="31470" y="22877"/>
                        <a:ext cx="197115" cy="7109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939" y="1120"/>
                            </a:moveTo>
                            <a:lnTo>
                              <a:pt x="2585" y="0"/>
                            </a:lnTo>
                            <a:lnTo>
                              <a:pt x="10744" y="9007"/>
                            </a:lnTo>
                            <a:lnTo>
                              <a:pt x="19467" y="0"/>
                            </a:lnTo>
                            <a:lnTo>
                              <a:pt x="20747" y="1120"/>
                            </a:lnTo>
                            <a:lnTo>
                              <a:pt x="15265" y="6833"/>
                            </a:lnTo>
                            <a:lnTo>
                              <a:pt x="15222" y="13740"/>
                            </a:lnTo>
                            <a:lnTo>
                              <a:pt x="21600" y="20480"/>
                            </a:lnTo>
                            <a:lnTo>
                              <a:pt x="19954" y="21440"/>
                            </a:lnTo>
                            <a:lnTo>
                              <a:pt x="10813" y="11360"/>
                            </a:lnTo>
                            <a:lnTo>
                              <a:pt x="1488" y="21600"/>
                            </a:lnTo>
                            <a:lnTo>
                              <a:pt x="0" y="20263"/>
                            </a:lnTo>
                            <a:lnTo>
                              <a:pt x="6457" y="13760"/>
                            </a:lnTo>
                            <a:cubicBezTo>
                              <a:pt x="6457" y="11573"/>
                              <a:pt x="6392" y="9067"/>
                              <a:pt x="6392" y="6880"/>
                            </a:cubicBezTo>
                            <a:lnTo>
                              <a:pt x="1061" y="1280"/>
                            </a:lnTo>
                            <a:cubicBezTo>
                              <a:pt x="153" y="320"/>
                              <a:pt x="980" y="1173"/>
                              <a:pt x="939" y="1120"/>
                            </a:cubicBezTo>
                            <a:close/>
                          </a:path>
                        </a:pathLst>
                      </a:custGeom>
                      <a:solidFill>
                        <a:srgbClr val="8FAADC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</p:grpSp>
              </p:grpSp>
              <p:grpSp>
                <p:nvGrpSpPr>
                  <p:cNvPr id="6639" name="Group 344"/>
                  <p:cNvGrpSpPr/>
                  <p:nvPr/>
                </p:nvGrpSpPr>
                <p:grpSpPr>
                  <a:xfrm>
                    <a:off x="1299526" y="-1"/>
                    <a:ext cx="393761" cy="409458"/>
                    <a:chOff x="0" y="0"/>
                    <a:chExt cx="393760" cy="409456"/>
                  </a:xfrm>
                </p:grpSpPr>
                <p:grpSp>
                  <p:nvGrpSpPr>
                    <p:cNvPr id="6630" name="Freeform 347"/>
                    <p:cNvGrpSpPr/>
                    <p:nvPr/>
                  </p:nvGrpSpPr>
                  <p:grpSpPr>
                    <a:xfrm>
                      <a:off x="0" y="76369"/>
                      <a:ext cx="393761" cy="333088"/>
                      <a:chOff x="0" y="0"/>
                      <a:chExt cx="393760" cy="333087"/>
                    </a:xfrm>
                  </p:grpSpPr>
                  <p:sp>
                    <p:nvSpPr>
                      <p:cNvPr id="6628" name="Shape"/>
                      <p:cNvSpPr/>
                      <p:nvPr/>
                    </p:nvSpPr>
                    <p:spPr>
                      <a:xfrm>
                        <a:off x="0" y="95084"/>
                        <a:ext cx="393761" cy="14292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593" h="21598" fill="norm" stroke="1" extrusionOk="0">
                            <a:moveTo>
                              <a:pt x="21591" y="51"/>
                            </a:moveTo>
                            <a:lnTo>
                              <a:pt x="21593" y="11403"/>
                            </a:lnTo>
                            <a:cubicBezTo>
                              <a:pt x="20935" y="19011"/>
                              <a:pt x="14479" y="21600"/>
                              <a:pt x="10884" y="21598"/>
                            </a:cubicBezTo>
                            <a:cubicBezTo>
                              <a:pt x="7289" y="21596"/>
                              <a:pt x="649" y="19123"/>
                              <a:pt x="23" y="11390"/>
                            </a:cubicBezTo>
                            <a:cubicBezTo>
                              <a:pt x="32" y="8472"/>
                              <a:pt x="-7" y="2919"/>
                              <a:pt x="1" y="0"/>
                            </a:cubicBezTo>
                            <a:cubicBezTo>
                              <a:pt x="1019" y="6646"/>
                              <a:pt x="7140" y="10014"/>
                              <a:pt x="10738" y="10023"/>
                            </a:cubicBezTo>
                            <a:cubicBezTo>
                              <a:pt x="14336" y="10031"/>
                              <a:pt x="20606" y="7591"/>
                              <a:pt x="21591" y="51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B8C2C9"/>
                          </a:gs>
                          <a:gs pos="21000">
                            <a:srgbClr val="FFFFFF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w="6350" cap="flat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29" name="Text"/>
                      <p:cNvSpPr txBox="1"/>
                      <p:nvPr/>
                    </p:nvSpPr>
                    <p:spPr>
                      <a:xfrm>
                        <a:off x="48894" y="0"/>
                        <a:ext cx="295971" cy="333088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txBody>
                      <a:bodyPr wrap="square" lIns="45719" tIns="45719" rIns="45719" bIns="45719" numCol="1" anchor="ctr">
                        <a:spAutoFit/>
                      </a:bodyPr>
                      <a:lstStyle>
                        <a:lvl1pPr algn="ctr">
                          <a:defRPr>
                            <a:solidFill>
                              <a:srgbClr val="FFFFFF"/>
                            </a:solidFill>
                          </a:defRPr>
                        </a:lvl1pPr>
                      </a:lstStyle>
                      <a:p>
                        <a:pPr/>
                        <a:r>
                          <a:t>                   </a:t>
                        </a:r>
                      </a:p>
                    </p:txBody>
                  </p:sp>
                </p:grpSp>
                <p:grpSp>
                  <p:nvGrpSpPr>
                    <p:cNvPr id="6633" name="Oval 348"/>
                    <p:cNvGrpSpPr/>
                    <p:nvPr/>
                  </p:nvGrpSpPr>
                  <p:grpSpPr>
                    <a:xfrm>
                      <a:off x="226" y="-1"/>
                      <a:ext cx="393285" cy="333089"/>
                      <a:chOff x="0" y="0"/>
                      <a:chExt cx="393284" cy="333087"/>
                    </a:xfrm>
                  </p:grpSpPr>
                  <p:sp>
                    <p:nvSpPr>
                      <p:cNvPr id="6631" name="Oval"/>
                      <p:cNvSpPr/>
                      <p:nvPr/>
                    </p:nvSpPr>
                    <p:spPr>
                      <a:xfrm>
                        <a:off x="0" y="95794"/>
                        <a:ext cx="393285" cy="141499"/>
                      </a:xfrm>
                      <a:prstGeom prst="ellipse">
                        <a:avLst/>
                      </a:prstGeom>
                      <a:solidFill>
                        <a:srgbClr val="B8C2C9"/>
                      </a:solidFill>
                      <a:ln w="6350" cap="flat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32" name="Text"/>
                      <p:cNvSpPr txBox="1"/>
                      <p:nvPr/>
                    </p:nvSpPr>
                    <p:spPr>
                      <a:xfrm>
                        <a:off x="106490" y="0"/>
                        <a:ext cx="180304" cy="333088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val="1"/>
                        </a:ext>
                      </a:extLst>
                    </p:spPr>
                    <p:txBody>
                      <a:bodyPr wrap="square" lIns="45719" tIns="45719" rIns="45719" bIns="45719" numCol="1" anchor="ctr">
                        <a:spAutoFit/>
                      </a:bodyPr>
                      <a:lstStyle>
                        <a:lvl1pPr algn="ctr">
                          <a:defRPr>
                            <a:solidFill>
                              <a:srgbClr val="FFFFFF"/>
                            </a:solidFill>
                          </a:defRPr>
                        </a:lvl1pPr>
                      </a:lstStyle>
                      <a:p>
                        <a:pPr/>
                        <a:r>
                          <a:t>              </a:t>
                        </a:r>
                      </a:p>
                    </p:txBody>
                  </p:sp>
                </p:grpSp>
                <p:grpSp>
                  <p:nvGrpSpPr>
                    <p:cNvPr id="6638" name="Group 349"/>
                    <p:cNvGrpSpPr/>
                    <p:nvPr/>
                  </p:nvGrpSpPr>
                  <p:grpSpPr>
                    <a:xfrm>
                      <a:off x="58397" y="113778"/>
                      <a:ext cx="276892" cy="103972"/>
                      <a:chOff x="0" y="0"/>
                      <a:chExt cx="276890" cy="103970"/>
                    </a:xfrm>
                  </p:grpSpPr>
                  <p:sp>
                    <p:nvSpPr>
                      <p:cNvPr id="6634" name="Freeform 350"/>
                      <p:cNvSpPr/>
                      <p:nvPr/>
                    </p:nvSpPr>
                    <p:spPr>
                      <a:xfrm>
                        <a:off x="7658" y="0"/>
                        <a:ext cx="261934" cy="5820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17365" y="0"/>
                            </a:moveTo>
                            <a:lnTo>
                              <a:pt x="21600" y="4925"/>
                            </a:lnTo>
                            <a:lnTo>
                              <a:pt x="18461" y="11148"/>
                            </a:lnTo>
                            <a:lnTo>
                              <a:pt x="17638" y="9623"/>
                            </a:lnTo>
                            <a:lnTo>
                              <a:pt x="10634" y="21600"/>
                            </a:lnTo>
                            <a:lnTo>
                              <a:pt x="4216" y="9406"/>
                            </a:lnTo>
                            <a:lnTo>
                              <a:pt x="2885" y="11148"/>
                            </a:lnTo>
                            <a:lnTo>
                              <a:pt x="0" y="5658"/>
                            </a:lnTo>
                            <a:lnTo>
                              <a:pt x="4216" y="348"/>
                            </a:lnTo>
                            <a:lnTo>
                              <a:pt x="10742" y="12674"/>
                            </a:lnTo>
                            <a:lnTo>
                              <a:pt x="17365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35" name="Freeform 351"/>
                      <p:cNvSpPr/>
                      <p:nvPr/>
                    </p:nvSpPr>
                    <p:spPr>
                      <a:xfrm>
                        <a:off x="179095" y="49783"/>
                        <a:ext cx="97796" cy="5010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60" y="0"/>
                            </a:moveTo>
                            <a:lnTo>
                              <a:pt x="21600" y="16577"/>
                            </a:lnTo>
                            <a:lnTo>
                              <a:pt x="14183" y="21600"/>
                            </a:lnTo>
                            <a:lnTo>
                              <a:pt x="0" y="10800"/>
                            </a:lnTo>
                            <a:lnTo>
                              <a:pt x="260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36" name="Freeform 352"/>
                      <p:cNvSpPr/>
                      <p:nvPr/>
                    </p:nvSpPr>
                    <p:spPr>
                      <a:xfrm>
                        <a:off x="0" y="49783"/>
                        <a:ext cx="96028" cy="4952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21467" y="0"/>
                            </a:moveTo>
                            <a:lnTo>
                              <a:pt x="21600" y="11435"/>
                            </a:lnTo>
                            <a:lnTo>
                              <a:pt x="7288" y="21600"/>
                            </a:lnTo>
                            <a:lnTo>
                              <a:pt x="0" y="16772"/>
                            </a:lnTo>
                            <a:lnTo>
                              <a:pt x="21467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37" name="Freeform 353"/>
                      <p:cNvSpPr/>
                      <p:nvPr/>
                    </p:nvSpPr>
                    <p:spPr>
                      <a:xfrm>
                        <a:off x="33336" y="25312"/>
                        <a:ext cx="208796" cy="7865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fill="norm" stroke="1" extrusionOk="0">
                            <a:moveTo>
                              <a:pt x="939" y="1120"/>
                            </a:moveTo>
                            <a:lnTo>
                              <a:pt x="2585" y="0"/>
                            </a:lnTo>
                            <a:lnTo>
                              <a:pt x="10744" y="9007"/>
                            </a:lnTo>
                            <a:lnTo>
                              <a:pt x="19467" y="0"/>
                            </a:lnTo>
                            <a:lnTo>
                              <a:pt x="20747" y="1120"/>
                            </a:lnTo>
                            <a:lnTo>
                              <a:pt x="15265" y="6833"/>
                            </a:lnTo>
                            <a:lnTo>
                              <a:pt x="15222" y="13740"/>
                            </a:lnTo>
                            <a:lnTo>
                              <a:pt x="21600" y="20480"/>
                            </a:lnTo>
                            <a:lnTo>
                              <a:pt x="19954" y="21440"/>
                            </a:lnTo>
                            <a:lnTo>
                              <a:pt x="10813" y="11360"/>
                            </a:lnTo>
                            <a:lnTo>
                              <a:pt x="1488" y="21600"/>
                            </a:lnTo>
                            <a:lnTo>
                              <a:pt x="0" y="20263"/>
                            </a:lnTo>
                            <a:lnTo>
                              <a:pt x="6457" y="13760"/>
                            </a:lnTo>
                            <a:cubicBezTo>
                              <a:pt x="6457" y="11573"/>
                              <a:pt x="6392" y="9067"/>
                              <a:pt x="6392" y="6880"/>
                            </a:cubicBezTo>
                            <a:lnTo>
                              <a:pt x="1061" y="1280"/>
                            </a:lnTo>
                            <a:cubicBezTo>
                              <a:pt x="153" y="320"/>
                              <a:pt x="980" y="1173"/>
                              <a:pt x="939" y="1120"/>
                            </a:cubicBezTo>
                            <a:close/>
                          </a:path>
                        </a:pathLst>
                      </a:custGeom>
                      <a:solidFill>
                        <a:srgbClr val="8FAADC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algn="ctr">
                          <a:defRPr>
                            <a:solidFill>
                              <a:srgbClr val="FFFFFF"/>
                            </a:solidFill>
                          </a:defRPr>
                        </a:pPr>
                      </a:p>
                    </p:txBody>
                  </p:sp>
                </p:grpSp>
              </p:grpSp>
              <p:pic>
                <p:nvPicPr>
                  <p:cNvPr id="6640" name="Picture 1065" descr="Picture 1065"/>
                  <p:cNvPicPr>
                    <a:picLocks noChangeAspect="1"/>
                  </p:cNvPicPr>
                  <p:nvPr/>
                </p:nvPicPr>
                <p:blipFill>
                  <a:blip r:embed="rId22">
                    <a:extLst/>
                  </a:blip>
                  <a:stretch>
                    <a:fillRect/>
                  </a:stretch>
                </p:blipFill>
                <p:spPr>
                  <a:xfrm>
                    <a:off x="1622285" y="1062804"/>
                    <a:ext cx="374932" cy="164510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</p:grpSp>
          <p:grpSp>
            <p:nvGrpSpPr>
              <p:cNvPr id="6661" name="Group 310"/>
              <p:cNvGrpSpPr/>
              <p:nvPr/>
            </p:nvGrpSpPr>
            <p:grpSpPr>
              <a:xfrm>
                <a:off x="3486908" y="2329186"/>
                <a:ext cx="657414" cy="451817"/>
                <a:chOff x="0" y="0"/>
                <a:chExt cx="657412" cy="451816"/>
              </a:xfrm>
            </p:grpSpPr>
            <p:grpSp>
              <p:nvGrpSpPr>
                <p:cNvPr id="6648" name="Group 311"/>
                <p:cNvGrpSpPr/>
                <p:nvPr/>
              </p:nvGrpSpPr>
              <p:grpSpPr>
                <a:xfrm>
                  <a:off x="167574" y="0"/>
                  <a:ext cx="489840" cy="451817"/>
                  <a:chOff x="0" y="0"/>
                  <a:chExt cx="489839" cy="451816"/>
                </a:xfrm>
              </p:grpSpPr>
              <p:sp>
                <p:nvSpPr>
                  <p:cNvPr id="6643" name="Straight Connector 320"/>
                  <p:cNvSpPr/>
                  <p:nvPr/>
                </p:nvSpPr>
                <p:spPr>
                  <a:xfrm>
                    <a:off x="-1" y="240564"/>
                    <a:ext cx="186245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grpSp>
                <p:nvGrpSpPr>
                  <p:cNvPr id="6647" name="Group 321"/>
                  <p:cNvGrpSpPr/>
                  <p:nvPr/>
                </p:nvGrpSpPr>
                <p:grpSpPr>
                  <a:xfrm>
                    <a:off x="137494" y="0"/>
                    <a:ext cx="352346" cy="451817"/>
                    <a:chOff x="0" y="0"/>
                    <a:chExt cx="352344" cy="451816"/>
                  </a:xfrm>
                </p:grpSpPr>
                <p:pic>
                  <p:nvPicPr>
                    <p:cNvPr id="6644" name="Picture 322" descr="Picture 322"/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203776" y="66104"/>
                      <a:ext cx="148569" cy="349144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  <p:pic>
                  <p:nvPicPr>
                    <p:cNvPr id="6645" name="Picture 323" descr="Picture 323"/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0" y="58546"/>
                      <a:ext cx="148568" cy="349144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  <p:pic>
                  <p:nvPicPr>
                    <p:cNvPr id="6646" name="Picture 324" descr="Picture 324"/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85777" y="0"/>
                      <a:ext cx="192259" cy="451817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</p:grpSp>
            </p:grpSp>
            <p:grpSp>
              <p:nvGrpSpPr>
                <p:cNvPr id="6660" name="Group 312"/>
                <p:cNvGrpSpPr/>
                <p:nvPr/>
              </p:nvGrpSpPr>
              <p:grpSpPr>
                <a:xfrm>
                  <a:off x="0" y="94708"/>
                  <a:ext cx="228296" cy="333088"/>
                  <a:chOff x="0" y="0"/>
                  <a:chExt cx="228295" cy="333087"/>
                </a:xfrm>
              </p:grpSpPr>
              <p:grpSp>
                <p:nvGrpSpPr>
                  <p:cNvPr id="6651" name="Freeform 313"/>
                  <p:cNvGrpSpPr/>
                  <p:nvPr/>
                </p:nvGrpSpPr>
                <p:grpSpPr>
                  <a:xfrm>
                    <a:off x="0" y="-1"/>
                    <a:ext cx="228296" cy="333089"/>
                    <a:chOff x="0" y="0"/>
                    <a:chExt cx="228295" cy="333087"/>
                  </a:xfrm>
                </p:grpSpPr>
                <p:sp>
                  <p:nvSpPr>
                    <p:cNvPr id="6649" name="Shape"/>
                    <p:cNvSpPr/>
                    <p:nvPr/>
                  </p:nvSpPr>
                  <p:spPr>
                    <a:xfrm>
                      <a:off x="0" y="127181"/>
                      <a:ext cx="228296" cy="7872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3" h="21598" fill="norm" stroke="1" extrusionOk="0">
                          <a:moveTo>
                            <a:pt x="21591" y="51"/>
                          </a:moveTo>
                          <a:lnTo>
                            <a:pt x="21593" y="11403"/>
                          </a:lnTo>
                          <a:cubicBezTo>
                            <a:pt x="20935" y="19011"/>
                            <a:pt x="14479" y="21600"/>
                            <a:pt x="10884" y="21598"/>
                          </a:cubicBezTo>
                          <a:cubicBezTo>
                            <a:pt x="7289" y="21596"/>
                            <a:pt x="649" y="19123"/>
                            <a:pt x="23" y="11390"/>
                          </a:cubicBezTo>
                          <a:cubicBezTo>
                            <a:pt x="32" y="8472"/>
                            <a:pt x="-7" y="2919"/>
                            <a:pt x="1" y="0"/>
                          </a:cubicBezTo>
                          <a:cubicBezTo>
                            <a:pt x="1019" y="6646"/>
                            <a:pt x="7140" y="10014"/>
                            <a:pt x="10738" y="10023"/>
                          </a:cubicBezTo>
                          <a:cubicBezTo>
                            <a:pt x="14336" y="10031"/>
                            <a:pt x="20606" y="7591"/>
                            <a:pt x="21591" y="51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B8C2C9"/>
                        </a:gs>
                        <a:gs pos="21000">
                          <a:srgbClr val="FFFFFF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3175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650" name="Text"/>
                    <p:cNvSpPr txBox="1"/>
                    <p:nvPr/>
                  </p:nvSpPr>
                  <p:spPr>
                    <a:xfrm>
                      <a:off x="47307" y="0"/>
                      <a:ext cx="133681" cy="33308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     </a:t>
                      </a:r>
                    </a:p>
                  </p:txBody>
                </p:sp>
              </p:grpSp>
              <p:grpSp>
                <p:nvGrpSpPr>
                  <p:cNvPr id="6654" name="Oval 314"/>
                  <p:cNvGrpSpPr/>
                  <p:nvPr/>
                </p:nvGrpSpPr>
                <p:grpSpPr>
                  <a:xfrm>
                    <a:off x="131" y="60976"/>
                    <a:ext cx="228019" cy="127001"/>
                    <a:chOff x="0" y="0"/>
                    <a:chExt cx="228018" cy="127000"/>
                  </a:xfrm>
                </p:grpSpPr>
                <p:sp>
                  <p:nvSpPr>
                    <p:cNvPr id="6652" name="Oval"/>
                    <p:cNvSpPr/>
                    <p:nvPr/>
                  </p:nvSpPr>
                  <p:spPr>
                    <a:xfrm>
                      <a:off x="0" y="24529"/>
                      <a:ext cx="228019" cy="77943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3175" cap="flat">
                      <a:solidFill>
                        <a:srgbClr val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653" name="Text"/>
                    <p:cNvSpPr txBox="1"/>
                    <p:nvPr/>
                  </p:nvSpPr>
                  <p:spPr>
                    <a:xfrm>
                      <a:off x="80699" y="0"/>
                      <a:ext cx="66620" cy="127000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square" lIns="45719" tIns="45719" rIns="45719" bIns="45719" numCol="1" anchor="ctr">
                      <a:spAutoFit/>
                    </a:bodyPr>
                    <a:lstStyle>
                      <a:lvl1pPr algn="ctr">
                        <a:defRPr>
                          <a:solidFill>
                            <a:srgbClr val="FFFFFF"/>
                          </a:solidFill>
                        </a:defRPr>
                      </a:lvl1pPr>
                    </a:lstStyle>
                    <a:p>
                      <a:pPr/>
                      <a:r>
                        <a:t>              </a:t>
                      </a:r>
                    </a:p>
                  </p:txBody>
                </p:sp>
              </p:grpSp>
              <p:grpSp>
                <p:nvGrpSpPr>
                  <p:cNvPr id="6659" name="Group 315"/>
                  <p:cNvGrpSpPr/>
                  <p:nvPr/>
                </p:nvGrpSpPr>
                <p:grpSpPr>
                  <a:xfrm>
                    <a:off x="33858" y="95412"/>
                    <a:ext cx="160537" cy="57271"/>
                    <a:chOff x="0" y="0"/>
                    <a:chExt cx="160536" cy="57270"/>
                  </a:xfrm>
                </p:grpSpPr>
                <p:sp>
                  <p:nvSpPr>
                    <p:cNvPr id="6655" name="Freeform 316"/>
                    <p:cNvSpPr/>
                    <p:nvPr/>
                  </p:nvSpPr>
                  <p:spPr>
                    <a:xfrm>
                      <a:off x="4440" y="-1"/>
                      <a:ext cx="151865" cy="3206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7365" y="0"/>
                          </a:moveTo>
                          <a:lnTo>
                            <a:pt x="21600" y="4925"/>
                          </a:lnTo>
                          <a:lnTo>
                            <a:pt x="18461" y="11148"/>
                          </a:lnTo>
                          <a:lnTo>
                            <a:pt x="17638" y="9623"/>
                          </a:lnTo>
                          <a:lnTo>
                            <a:pt x="10634" y="21600"/>
                          </a:lnTo>
                          <a:lnTo>
                            <a:pt x="4216" y="9406"/>
                          </a:lnTo>
                          <a:lnTo>
                            <a:pt x="2885" y="11148"/>
                          </a:lnTo>
                          <a:lnTo>
                            <a:pt x="0" y="5658"/>
                          </a:lnTo>
                          <a:lnTo>
                            <a:pt x="4216" y="348"/>
                          </a:lnTo>
                          <a:lnTo>
                            <a:pt x="10742" y="12674"/>
                          </a:lnTo>
                          <a:lnTo>
                            <a:pt x="17365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656" name="Freeform 317"/>
                    <p:cNvSpPr/>
                    <p:nvPr/>
                  </p:nvSpPr>
                  <p:spPr>
                    <a:xfrm>
                      <a:off x="103836" y="27422"/>
                      <a:ext cx="56701" cy="2760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60" y="0"/>
                          </a:moveTo>
                          <a:lnTo>
                            <a:pt x="21600" y="16577"/>
                          </a:lnTo>
                          <a:lnTo>
                            <a:pt x="14183" y="21600"/>
                          </a:lnTo>
                          <a:lnTo>
                            <a:pt x="0" y="10800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657" name="Freeform 318"/>
                    <p:cNvSpPr/>
                    <p:nvPr/>
                  </p:nvSpPr>
                  <p:spPr>
                    <a:xfrm>
                      <a:off x="-1" y="27422"/>
                      <a:ext cx="55677" cy="2728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21467" y="0"/>
                          </a:moveTo>
                          <a:lnTo>
                            <a:pt x="21600" y="11435"/>
                          </a:lnTo>
                          <a:lnTo>
                            <a:pt x="7288" y="21600"/>
                          </a:lnTo>
                          <a:lnTo>
                            <a:pt x="0" y="16772"/>
                          </a:lnTo>
                          <a:lnTo>
                            <a:pt x="21467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6658" name="Freeform 319"/>
                    <p:cNvSpPr/>
                    <p:nvPr/>
                  </p:nvSpPr>
                  <p:spPr>
                    <a:xfrm>
                      <a:off x="19327" y="13943"/>
                      <a:ext cx="121057" cy="4332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939" y="1120"/>
                          </a:moveTo>
                          <a:lnTo>
                            <a:pt x="2585" y="0"/>
                          </a:lnTo>
                          <a:lnTo>
                            <a:pt x="10744" y="9007"/>
                          </a:lnTo>
                          <a:lnTo>
                            <a:pt x="19467" y="0"/>
                          </a:lnTo>
                          <a:lnTo>
                            <a:pt x="20747" y="1120"/>
                          </a:lnTo>
                          <a:lnTo>
                            <a:pt x="15265" y="6833"/>
                          </a:lnTo>
                          <a:lnTo>
                            <a:pt x="15222" y="13740"/>
                          </a:lnTo>
                          <a:lnTo>
                            <a:pt x="21600" y="20480"/>
                          </a:lnTo>
                          <a:lnTo>
                            <a:pt x="19954" y="21440"/>
                          </a:lnTo>
                          <a:lnTo>
                            <a:pt x="10813" y="11360"/>
                          </a:lnTo>
                          <a:lnTo>
                            <a:pt x="1488" y="21600"/>
                          </a:lnTo>
                          <a:lnTo>
                            <a:pt x="0" y="20263"/>
                          </a:lnTo>
                          <a:lnTo>
                            <a:pt x="6457" y="13760"/>
                          </a:lnTo>
                          <a:cubicBezTo>
                            <a:pt x="6457" y="11573"/>
                            <a:pt x="6392" y="9067"/>
                            <a:pt x="6392" y="6880"/>
                          </a:cubicBezTo>
                          <a:lnTo>
                            <a:pt x="1061" y="1280"/>
                          </a:lnTo>
                          <a:cubicBezTo>
                            <a:pt x="153" y="320"/>
                            <a:pt x="980" y="1173"/>
                            <a:pt x="939" y="1120"/>
                          </a:cubicBezTo>
                          <a:close/>
                        </a:path>
                      </a:pathLst>
                    </a:custGeom>
                    <a:solidFill>
                      <a:srgbClr val="8FAAD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</p:grpSp>
            </p:grpSp>
          </p:grpSp>
        </p:grpSp>
        <p:grpSp>
          <p:nvGrpSpPr>
            <p:cNvPr id="6665" name="Group 590"/>
            <p:cNvGrpSpPr/>
            <p:nvPr/>
          </p:nvGrpSpPr>
          <p:grpSpPr>
            <a:xfrm>
              <a:off x="1330870" y="3895172"/>
              <a:ext cx="345631" cy="320303"/>
              <a:chOff x="0" y="0"/>
              <a:chExt cx="345629" cy="320302"/>
            </a:xfrm>
          </p:grpSpPr>
          <p:pic>
            <p:nvPicPr>
              <p:cNvPr id="6663" name="Picture 591" descr="Picture 591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345630" cy="32030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664" name="Freeform 592"/>
              <p:cNvSpPr/>
              <p:nvPr/>
            </p:nvSpPr>
            <p:spPr>
              <a:xfrm flipH="1">
                <a:off x="147407" y="30713"/>
                <a:ext cx="162974" cy="1467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6668" name="Group 590"/>
            <p:cNvGrpSpPr/>
            <p:nvPr/>
          </p:nvGrpSpPr>
          <p:grpSpPr>
            <a:xfrm>
              <a:off x="897154" y="3705193"/>
              <a:ext cx="345631" cy="320303"/>
              <a:chOff x="0" y="0"/>
              <a:chExt cx="345629" cy="320302"/>
            </a:xfrm>
          </p:grpSpPr>
          <p:pic>
            <p:nvPicPr>
              <p:cNvPr id="6666" name="Picture 591" descr="Picture 591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345630" cy="32030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667" name="Freeform 592"/>
              <p:cNvSpPr/>
              <p:nvPr/>
            </p:nvSpPr>
            <p:spPr>
              <a:xfrm flipH="1">
                <a:off x="147407" y="30713"/>
                <a:ext cx="162974" cy="1467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6701" name="Group 983"/>
            <p:cNvGrpSpPr/>
            <p:nvPr/>
          </p:nvGrpSpPr>
          <p:grpSpPr>
            <a:xfrm>
              <a:off x="3114156" y="4094139"/>
              <a:ext cx="145246" cy="246701"/>
              <a:chOff x="0" y="0"/>
              <a:chExt cx="145245" cy="246700"/>
            </a:xfrm>
          </p:grpSpPr>
          <p:sp>
            <p:nvSpPr>
              <p:cNvPr id="6669" name="Freeform 984"/>
              <p:cNvSpPr/>
              <p:nvPr/>
            </p:nvSpPr>
            <p:spPr>
              <a:xfrm>
                <a:off x="111910" y="411"/>
                <a:ext cx="28078" cy="235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844" y="0"/>
                    </a:moveTo>
                    <a:lnTo>
                      <a:pt x="21600" y="2670"/>
                    </a:lnTo>
                    <a:lnTo>
                      <a:pt x="21112" y="20670"/>
                    </a:lnTo>
                    <a:lnTo>
                      <a:pt x="0" y="21600"/>
                    </a:lnTo>
                    <a:lnTo>
                      <a:pt x="384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670" name="Rectangle 985"/>
              <p:cNvSpPr/>
              <p:nvPr/>
            </p:nvSpPr>
            <p:spPr>
              <a:xfrm>
                <a:off x="6944" y="0"/>
                <a:ext cx="103775" cy="235272"/>
              </a:xfrm>
              <a:prstGeom prst="rect">
                <a:avLst/>
              </a:pr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671" name="Freeform 986"/>
              <p:cNvSpPr/>
              <p:nvPr/>
            </p:nvSpPr>
            <p:spPr>
              <a:xfrm>
                <a:off x="117724" y="14517"/>
                <a:ext cx="16212" cy="2147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83" h="21300" fill="norm" stroke="1" extrusionOk="0">
                    <a:moveTo>
                      <a:pt x="0" y="0"/>
                    </a:moveTo>
                    <a:cubicBezTo>
                      <a:pt x="0" y="0"/>
                      <a:pt x="5118" y="238"/>
                      <a:pt x="20883" y="1856"/>
                    </a:cubicBezTo>
                    <a:cubicBezTo>
                      <a:pt x="-717" y="10464"/>
                      <a:pt x="3480" y="21600"/>
                      <a:pt x="0" y="21293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672" name="Freeform 987"/>
              <p:cNvSpPr/>
              <p:nvPr/>
            </p:nvSpPr>
            <p:spPr>
              <a:xfrm>
                <a:off x="113497" y="124688"/>
                <a:ext cx="26094" cy="194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673" name="Rectangle 988"/>
              <p:cNvSpPr/>
              <p:nvPr/>
            </p:nvSpPr>
            <p:spPr>
              <a:xfrm>
                <a:off x="6944" y="22942"/>
                <a:ext cx="59329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grpSp>
            <p:nvGrpSpPr>
              <p:cNvPr id="6676" name="Group 989"/>
              <p:cNvGrpSpPr/>
              <p:nvPr/>
            </p:nvGrpSpPr>
            <p:grpSpPr>
              <a:xfrm>
                <a:off x="60340" y="24393"/>
                <a:ext cx="57324" cy="15468"/>
                <a:chOff x="0" y="0"/>
                <a:chExt cx="57323" cy="15466"/>
              </a:xfrm>
            </p:grpSpPr>
            <p:sp>
              <p:nvSpPr>
                <p:cNvPr id="6674" name="AutoShape 990"/>
                <p:cNvSpPr/>
                <p:nvPr/>
              </p:nvSpPr>
              <p:spPr>
                <a:xfrm>
                  <a:off x="0" y="0"/>
                  <a:ext cx="57324" cy="1546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675" name="AutoShape 991"/>
                <p:cNvSpPr/>
                <p:nvPr/>
              </p:nvSpPr>
              <p:spPr>
                <a:xfrm>
                  <a:off x="954" y="1383"/>
                  <a:ext cx="55337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1070" y="0"/>
                        <a:pt x="2390" y="0"/>
                      </a:cubicBezTo>
                      <a:lnTo>
                        <a:pt x="19210" y="0"/>
                      </a:lnTo>
                      <a:cubicBezTo>
                        <a:pt x="20530" y="0"/>
                        <a:pt x="21600" y="4835"/>
                        <a:pt x="21600" y="10800"/>
                      </a:cubicBezTo>
                      <a:cubicBezTo>
                        <a:pt x="21600" y="16765"/>
                        <a:pt x="20530" y="21600"/>
                        <a:pt x="19210" y="21600"/>
                      </a:cubicBezTo>
                      <a:lnTo>
                        <a:pt x="2390" y="21600"/>
                      </a:lnTo>
                      <a:cubicBezTo>
                        <a:pt x="1070" y="21600"/>
                        <a:pt x="0" y="16765"/>
                        <a:pt x="0" y="1080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sp>
            <p:nvSpPr>
              <p:cNvPr id="6677" name="Rectangle 992"/>
              <p:cNvSpPr/>
              <p:nvPr/>
            </p:nvSpPr>
            <p:spPr>
              <a:xfrm>
                <a:off x="7936" y="57126"/>
                <a:ext cx="59329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grpSp>
            <p:nvGrpSpPr>
              <p:cNvPr id="6680" name="Group 993"/>
              <p:cNvGrpSpPr/>
              <p:nvPr/>
            </p:nvGrpSpPr>
            <p:grpSpPr>
              <a:xfrm>
                <a:off x="60300" y="57777"/>
                <a:ext cx="57325" cy="13798"/>
                <a:chOff x="0" y="0"/>
                <a:chExt cx="57323" cy="13797"/>
              </a:xfrm>
            </p:grpSpPr>
            <p:sp>
              <p:nvSpPr>
                <p:cNvPr id="6678" name="AutoShape 994"/>
                <p:cNvSpPr/>
                <p:nvPr/>
              </p:nvSpPr>
              <p:spPr>
                <a:xfrm>
                  <a:off x="0" y="0"/>
                  <a:ext cx="57324" cy="1379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679" name="AutoShape 995"/>
                <p:cNvSpPr/>
                <p:nvPr/>
              </p:nvSpPr>
              <p:spPr>
                <a:xfrm>
                  <a:off x="1033" y="647"/>
                  <a:ext cx="55337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928" y="0"/>
                        <a:pt x="2073" y="0"/>
                      </a:cubicBezTo>
                      <a:lnTo>
                        <a:pt x="19527" y="0"/>
                      </a:lnTo>
                      <a:cubicBezTo>
                        <a:pt x="20672" y="0"/>
                        <a:pt x="21600" y="4835"/>
                        <a:pt x="21600" y="10800"/>
                      </a:cubicBezTo>
                      <a:cubicBezTo>
                        <a:pt x="21600" y="16765"/>
                        <a:pt x="20672" y="21600"/>
                        <a:pt x="19527" y="21600"/>
                      </a:cubicBezTo>
                      <a:lnTo>
                        <a:pt x="2073" y="21600"/>
                      </a:lnTo>
                      <a:cubicBezTo>
                        <a:pt x="928" y="21600"/>
                        <a:pt x="0" y="16765"/>
                        <a:pt x="0" y="1080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sp>
            <p:nvSpPr>
              <p:cNvPr id="6681" name="Rectangle 996"/>
              <p:cNvSpPr/>
              <p:nvPr/>
            </p:nvSpPr>
            <p:spPr>
              <a:xfrm>
                <a:off x="7936" y="91310"/>
                <a:ext cx="59329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682" name="Rectangle 997"/>
              <p:cNvSpPr/>
              <p:nvPr/>
            </p:nvSpPr>
            <p:spPr>
              <a:xfrm>
                <a:off x="8929" y="122302"/>
                <a:ext cx="59329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grpSp>
            <p:nvGrpSpPr>
              <p:cNvPr id="6685" name="Group 998"/>
              <p:cNvGrpSpPr/>
              <p:nvPr/>
            </p:nvGrpSpPr>
            <p:grpSpPr>
              <a:xfrm>
                <a:off x="59349" y="125109"/>
                <a:ext cx="57343" cy="14125"/>
                <a:chOff x="0" y="0"/>
                <a:chExt cx="57342" cy="14123"/>
              </a:xfrm>
            </p:grpSpPr>
            <p:sp>
              <p:nvSpPr>
                <p:cNvPr id="6683" name="AutoShape 999"/>
                <p:cNvSpPr/>
                <p:nvPr/>
              </p:nvSpPr>
              <p:spPr>
                <a:xfrm>
                  <a:off x="0" y="254"/>
                  <a:ext cx="57343" cy="1387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684" name="AutoShape 1000"/>
                <p:cNvSpPr/>
                <p:nvPr/>
              </p:nvSpPr>
              <p:spPr>
                <a:xfrm>
                  <a:off x="955" y="0"/>
                  <a:ext cx="55353" cy="127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1065" y="0"/>
                        <a:pt x="2379" y="0"/>
                      </a:cubicBezTo>
                      <a:lnTo>
                        <a:pt x="19221" y="0"/>
                      </a:lnTo>
                      <a:cubicBezTo>
                        <a:pt x="20535" y="0"/>
                        <a:pt x="21600" y="4835"/>
                        <a:pt x="21600" y="10800"/>
                      </a:cubicBezTo>
                      <a:lnTo>
                        <a:pt x="21600" y="10800"/>
                      </a:lnTo>
                      <a:cubicBezTo>
                        <a:pt x="21600" y="16765"/>
                        <a:pt x="20535" y="21600"/>
                        <a:pt x="19221" y="21600"/>
                      </a:cubicBezTo>
                      <a:lnTo>
                        <a:pt x="2379" y="21598"/>
                      </a:lnTo>
                      <a:cubicBezTo>
                        <a:pt x="1065" y="21598"/>
                        <a:pt x="0" y="16763"/>
                        <a:pt x="0" y="107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sp>
            <p:nvSpPr>
              <p:cNvPr id="6686" name="Freeform 1001"/>
              <p:cNvSpPr/>
              <p:nvPr/>
            </p:nvSpPr>
            <p:spPr>
              <a:xfrm>
                <a:off x="113894" y="95241"/>
                <a:ext cx="26094" cy="19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6689" name="Group 1002"/>
              <p:cNvGrpSpPr/>
              <p:nvPr/>
            </p:nvGrpSpPr>
            <p:grpSpPr>
              <a:xfrm>
                <a:off x="59347" y="92769"/>
                <a:ext cx="58300" cy="13798"/>
                <a:chOff x="0" y="0"/>
                <a:chExt cx="58298" cy="13797"/>
              </a:xfrm>
            </p:grpSpPr>
            <p:sp>
              <p:nvSpPr>
                <p:cNvPr id="6687" name="AutoShape 1003"/>
                <p:cNvSpPr/>
                <p:nvPr/>
              </p:nvSpPr>
              <p:spPr>
                <a:xfrm>
                  <a:off x="0" y="0"/>
                  <a:ext cx="58299" cy="1379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6688" name="AutoShape 1004"/>
                <p:cNvSpPr/>
                <p:nvPr/>
              </p:nvSpPr>
              <p:spPr>
                <a:xfrm>
                  <a:off x="955" y="600"/>
                  <a:ext cx="57344" cy="12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894" y="0"/>
                        <a:pt x="1998" y="0"/>
                      </a:cubicBezTo>
                      <a:lnTo>
                        <a:pt x="19602" y="0"/>
                      </a:lnTo>
                      <a:cubicBezTo>
                        <a:pt x="20706" y="0"/>
                        <a:pt x="21600" y="4835"/>
                        <a:pt x="21600" y="10800"/>
                      </a:cubicBezTo>
                      <a:lnTo>
                        <a:pt x="21600" y="10800"/>
                      </a:lnTo>
                      <a:cubicBezTo>
                        <a:pt x="21600" y="16765"/>
                        <a:pt x="20705" y="21600"/>
                        <a:pt x="19602" y="21600"/>
                      </a:cubicBezTo>
                      <a:lnTo>
                        <a:pt x="1998" y="21598"/>
                      </a:lnTo>
                      <a:cubicBezTo>
                        <a:pt x="894" y="21598"/>
                        <a:pt x="0" y="16763"/>
                        <a:pt x="0" y="107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sp>
            <p:nvSpPr>
              <p:cNvPr id="6690" name="Rectangle 1005"/>
              <p:cNvSpPr/>
              <p:nvPr/>
            </p:nvSpPr>
            <p:spPr>
              <a:xfrm>
                <a:off x="106849" y="0"/>
                <a:ext cx="12701" cy="235272"/>
              </a:xfrm>
              <a:prstGeom prst="rect">
                <a:avLst/>
              </a:prstGeom>
              <a:gradFill flip="none"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691" name="Freeform 1006"/>
              <p:cNvSpPr/>
              <p:nvPr/>
            </p:nvSpPr>
            <p:spPr>
              <a:xfrm>
                <a:off x="116275" y="59512"/>
                <a:ext cx="23514" cy="219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92" y="0"/>
                    </a:moveTo>
                    <a:cubicBezTo>
                      <a:pt x="4014" y="844"/>
                      <a:pt x="10508" y="5738"/>
                      <a:pt x="21308" y="12150"/>
                    </a:cubicBezTo>
                    <a:cubicBezTo>
                      <a:pt x="21162" y="15019"/>
                      <a:pt x="21600" y="15862"/>
                      <a:pt x="21600" y="21600"/>
                    </a:cubicBezTo>
                    <a:cubicBezTo>
                      <a:pt x="21600" y="21600"/>
                      <a:pt x="11676" y="14850"/>
                      <a:pt x="0" y="8438"/>
                    </a:cubicBezTo>
                    <a:cubicBezTo>
                      <a:pt x="0" y="4050"/>
                      <a:pt x="292" y="1434"/>
                      <a:pt x="29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692" name="Freeform 1007"/>
              <p:cNvSpPr/>
              <p:nvPr/>
            </p:nvSpPr>
            <p:spPr>
              <a:xfrm>
                <a:off x="116573" y="25843"/>
                <a:ext cx="24208" cy="247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3624" y="750"/>
                      <a:pt x="10516" y="5700"/>
                      <a:pt x="21600" y="12300"/>
                    </a:cubicBezTo>
                    <a:cubicBezTo>
                      <a:pt x="21458" y="14850"/>
                      <a:pt x="20179" y="16500"/>
                      <a:pt x="20179" y="21600"/>
                    </a:cubicBezTo>
                    <a:cubicBezTo>
                      <a:pt x="20179" y="21600"/>
                      <a:pt x="11582" y="13425"/>
                      <a:pt x="568" y="9300"/>
                    </a:cubicBezTo>
                    <a:cubicBezTo>
                      <a:pt x="568" y="5400"/>
                      <a:pt x="0" y="1275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693" name="Oval 1008"/>
              <p:cNvSpPr/>
              <p:nvPr/>
            </p:nvSpPr>
            <p:spPr>
              <a:xfrm>
                <a:off x="132545" y="223206"/>
                <a:ext cx="12701" cy="12701"/>
              </a:xfrm>
              <a:prstGeom prst="ellipse">
                <a:avLst/>
              </a:pr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694" name="Freeform 1009"/>
              <p:cNvSpPr/>
              <p:nvPr/>
            </p:nvSpPr>
            <p:spPr>
              <a:xfrm>
                <a:off x="115283" y="224974"/>
                <a:ext cx="24308" cy="205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40"/>
                    </a:moveTo>
                    <a:lnTo>
                      <a:pt x="141" y="21600"/>
                    </a:lnTo>
                    <a:lnTo>
                      <a:pt x="21600" y="9900"/>
                    </a:lnTo>
                    <a:lnTo>
                      <a:pt x="21176" y="0"/>
                    </a:lnTo>
                    <a:lnTo>
                      <a:pt x="0" y="9540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695" name="AutoShape 1010"/>
              <p:cNvSpPr/>
              <p:nvPr/>
            </p:nvSpPr>
            <p:spPr>
              <a:xfrm>
                <a:off x="0" y="231255"/>
                <a:ext cx="118657" cy="154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696" name="AutoShape 1011"/>
              <p:cNvSpPr/>
              <p:nvPr/>
            </p:nvSpPr>
            <p:spPr>
              <a:xfrm>
                <a:off x="6944" y="232988"/>
                <a:ext cx="105760" cy="1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cubicBezTo>
                      <a:pt x="0" y="4835"/>
                      <a:pt x="372" y="0"/>
                      <a:pt x="831" y="0"/>
                    </a:cubicBezTo>
                    <a:lnTo>
                      <a:pt x="20769" y="0"/>
                    </a:lnTo>
                    <a:cubicBezTo>
                      <a:pt x="21228" y="0"/>
                      <a:pt x="21600" y="4835"/>
                      <a:pt x="21600" y="10800"/>
                    </a:cubicBezTo>
                    <a:cubicBezTo>
                      <a:pt x="21600" y="16765"/>
                      <a:pt x="21228" y="21600"/>
                      <a:pt x="20769" y="21600"/>
                    </a:cubicBezTo>
                    <a:lnTo>
                      <a:pt x="831" y="21600"/>
                    </a:lnTo>
                    <a:cubicBezTo>
                      <a:pt x="372" y="21600"/>
                      <a:pt x="0" y="16765"/>
                      <a:pt x="0" y="1080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44546A"/>
                  </a:gs>
                  <a:gs pos="100000">
                    <a:srgbClr val="E7E6E6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697" name="Oval 1012"/>
              <p:cNvSpPr/>
              <p:nvPr/>
            </p:nvSpPr>
            <p:spPr>
              <a:xfrm>
                <a:off x="16766" y="201087"/>
                <a:ext cx="15775" cy="14621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698" name="Oval 1013"/>
              <p:cNvSpPr/>
              <p:nvPr/>
            </p:nvSpPr>
            <p:spPr>
              <a:xfrm>
                <a:off x="34624" y="201087"/>
                <a:ext cx="15775" cy="14621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699" name="Oval 1014"/>
              <p:cNvSpPr/>
              <p:nvPr/>
            </p:nvSpPr>
            <p:spPr>
              <a:xfrm>
                <a:off x="51391" y="201087"/>
                <a:ext cx="15775" cy="14621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700" name="Rectangle 1015"/>
              <p:cNvSpPr/>
              <p:nvPr/>
            </p:nvSpPr>
            <p:spPr>
              <a:xfrm>
                <a:off x="89586" y="144972"/>
                <a:ext cx="12701" cy="78150"/>
              </a:xfrm>
              <a:prstGeom prst="rect">
                <a:avLst/>
              </a:prstGeom>
              <a:solidFill>
                <a:srgbClr val="29292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62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6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500"/>
                                        <p:tgtEl>
                                          <p:spTgt spid="6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500"/>
                                        <p:tgtEl>
                                          <p:spTgt spid="6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500"/>
                                        <p:tgtEl>
                                          <p:spTgt spid="6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500"/>
                                        <p:tgtEl>
                                          <p:spTgt spid="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227" grpId="2"/>
      <p:bldP build="p" bldLvl="1" animBg="1" rev="0" advAuto="0" spid="6226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4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sp>
        <p:nvSpPr>
          <p:cNvPr id="6705" name="Rectangle 3"/>
          <p:cNvSpPr txBox="1"/>
          <p:nvPr/>
        </p:nvSpPr>
        <p:spPr>
          <a:xfrm>
            <a:off x="1013937" y="1257580"/>
            <a:ext cx="10234667" cy="514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i="1" sz="2500">
                <a:solidFill>
                  <a:srgbClr val="CC0000"/>
                </a:solidFill>
              </a:defRPr>
            </a:pPr>
            <a:r>
              <a:t>Question: </a:t>
            </a:r>
            <a:r>
              <a:rPr i="0">
                <a:solidFill>
                  <a:srgbClr val="000000"/>
                </a:solidFill>
              </a:rPr>
              <a:t>given </a:t>
            </a:r>
            <a:r>
              <a:rPr>
                <a:solidFill>
                  <a:srgbClr val="000000"/>
                </a:solidFill>
              </a:rPr>
              <a:t>millions</a:t>
            </a:r>
            <a:r>
              <a:rPr i="0">
                <a:solidFill>
                  <a:srgbClr val="000000"/>
                </a:solidFill>
              </a:rPr>
              <a:t> of access ISPs, how to connect them together?</a:t>
            </a:r>
          </a:p>
        </p:txBody>
      </p:sp>
      <p:grpSp>
        <p:nvGrpSpPr>
          <p:cNvPr id="6760" name="Group 5"/>
          <p:cNvGrpSpPr/>
          <p:nvPr/>
        </p:nvGrpSpPr>
        <p:grpSpPr>
          <a:xfrm>
            <a:off x="1594998" y="1861776"/>
            <a:ext cx="8420227" cy="4670018"/>
            <a:chOff x="0" y="0"/>
            <a:chExt cx="8420225" cy="4670017"/>
          </a:xfrm>
        </p:grpSpPr>
        <p:grpSp>
          <p:nvGrpSpPr>
            <p:cNvPr id="6708" name="Group 2"/>
            <p:cNvGrpSpPr/>
            <p:nvPr/>
          </p:nvGrpSpPr>
          <p:grpSpPr>
            <a:xfrm>
              <a:off x="1402445" y="450341"/>
              <a:ext cx="603417" cy="412924"/>
              <a:chOff x="0" y="0"/>
              <a:chExt cx="603416" cy="412922"/>
            </a:xfrm>
          </p:grpSpPr>
          <p:sp>
            <p:nvSpPr>
              <p:cNvPr id="6706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07" name="TextBox 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11" name="Group 131"/>
            <p:cNvGrpSpPr/>
            <p:nvPr/>
          </p:nvGrpSpPr>
          <p:grpSpPr>
            <a:xfrm>
              <a:off x="246589" y="1250380"/>
              <a:ext cx="603418" cy="412923"/>
              <a:chOff x="0" y="0"/>
              <a:chExt cx="603416" cy="412922"/>
            </a:xfrm>
          </p:grpSpPr>
          <p:sp>
            <p:nvSpPr>
              <p:cNvPr id="6709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10" name="TextBox 13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14" name="Group 135"/>
            <p:cNvGrpSpPr/>
            <p:nvPr/>
          </p:nvGrpSpPr>
          <p:grpSpPr>
            <a:xfrm>
              <a:off x="5911552" y="704322"/>
              <a:ext cx="603417" cy="412923"/>
              <a:chOff x="0" y="0"/>
              <a:chExt cx="603416" cy="412922"/>
            </a:xfrm>
          </p:grpSpPr>
          <p:sp>
            <p:nvSpPr>
              <p:cNvPr id="6712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13" name="TextBox 13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17" name="Group 138"/>
            <p:cNvGrpSpPr/>
            <p:nvPr/>
          </p:nvGrpSpPr>
          <p:grpSpPr>
            <a:xfrm>
              <a:off x="818166" y="3561602"/>
              <a:ext cx="603418" cy="412923"/>
              <a:chOff x="0" y="0"/>
              <a:chExt cx="603416" cy="412922"/>
            </a:xfrm>
          </p:grpSpPr>
          <p:sp>
            <p:nvSpPr>
              <p:cNvPr id="671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16" name="TextBox 140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20" name="Group 141"/>
            <p:cNvGrpSpPr/>
            <p:nvPr/>
          </p:nvGrpSpPr>
          <p:grpSpPr>
            <a:xfrm>
              <a:off x="399010" y="2939350"/>
              <a:ext cx="603417" cy="412923"/>
              <a:chOff x="0" y="0"/>
              <a:chExt cx="603416" cy="412922"/>
            </a:xfrm>
          </p:grpSpPr>
          <p:sp>
            <p:nvSpPr>
              <p:cNvPr id="671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19" name="TextBox 14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23" name="Group 144"/>
            <p:cNvGrpSpPr/>
            <p:nvPr/>
          </p:nvGrpSpPr>
          <p:grpSpPr>
            <a:xfrm>
              <a:off x="170379" y="2279000"/>
              <a:ext cx="603417" cy="412924"/>
              <a:chOff x="0" y="0"/>
              <a:chExt cx="603416" cy="412922"/>
            </a:xfrm>
          </p:grpSpPr>
          <p:sp>
            <p:nvSpPr>
              <p:cNvPr id="672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22" name="TextBox 146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26" name="Group 147"/>
            <p:cNvGrpSpPr/>
            <p:nvPr/>
          </p:nvGrpSpPr>
          <p:grpSpPr>
            <a:xfrm>
              <a:off x="6660953" y="1136088"/>
              <a:ext cx="603417" cy="412924"/>
              <a:chOff x="0" y="0"/>
              <a:chExt cx="603416" cy="412922"/>
            </a:xfrm>
          </p:grpSpPr>
          <p:sp>
            <p:nvSpPr>
              <p:cNvPr id="672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25" name="TextBox 149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29" name="Group 150"/>
            <p:cNvGrpSpPr/>
            <p:nvPr/>
          </p:nvGrpSpPr>
          <p:grpSpPr>
            <a:xfrm>
              <a:off x="3002860" y="209060"/>
              <a:ext cx="603418" cy="412923"/>
              <a:chOff x="0" y="0"/>
              <a:chExt cx="603416" cy="412922"/>
            </a:xfrm>
          </p:grpSpPr>
          <p:sp>
            <p:nvSpPr>
              <p:cNvPr id="672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28" name="TextBox 15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32" name="Group 153"/>
            <p:cNvGrpSpPr/>
            <p:nvPr/>
          </p:nvGrpSpPr>
          <p:grpSpPr>
            <a:xfrm>
              <a:off x="627640" y="856710"/>
              <a:ext cx="603418" cy="412923"/>
              <a:chOff x="0" y="0"/>
              <a:chExt cx="603416" cy="412922"/>
            </a:xfrm>
          </p:grpSpPr>
          <p:sp>
            <p:nvSpPr>
              <p:cNvPr id="6730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31" name="TextBox 15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35" name="Group 156"/>
            <p:cNvGrpSpPr/>
            <p:nvPr/>
          </p:nvGrpSpPr>
          <p:grpSpPr>
            <a:xfrm>
              <a:off x="3917383" y="183662"/>
              <a:ext cx="603418" cy="412923"/>
              <a:chOff x="0" y="0"/>
              <a:chExt cx="603416" cy="412922"/>
            </a:xfrm>
          </p:grpSpPr>
          <p:sp>
            <p:nvSpPr>
              <p:cNvPr id="6733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34" name="TextBox 15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38" name="Group 160"/>
            <p:cNvGrpSpPr/>
            <p:nvPr/>
          </p:nvGrpSpPr>
          <p:grpSpPr>
            <a:xfrm>
              <a:off x="6978495" y="3815582"/>
              <a:ext cx="603418" cy="412924"/>
              <a:chOff x="0" y="0"/>
              <a:chExt cx="603416" cy="412922"/>
            </a:xfrm>
          </p:grpSpPr>
          <p:sp>
            <p:nvSpPr>
              <p:cNvPr id="6736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37" name="TextBox 16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41" name="Group 163"/>
            <p:cNvGrpSpPr/>
            <p:nvPr/>
          </p:nvGrpSpPr>
          <p:grpSpPr>
            <a:xfrm>
              <a:off x="7816808" y="3167932"/>
              <a:ext cx="603418" cy="412923"/>
              <a:chOff x="0" y="0"/>
              <a:chExt cx="603416" cy="412922"/>
            </a:xfrm>
          </p:grpSpPr>
          <p:sp>
            <p:nvSpPr>
              <p:cNvPr id="6739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40" name="TextBox 16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44" name="Group 166"/>
            <p:cNvGrpSpPr/>
            <p:nvPr/>
          </p:nvGrpSpPr>
          <p:grpSpPr>
            <a:xfrm>
              <a:off x="7588178" y="2253602"/>
              <a:ext cx="603417" cy="412924"/>
              <a:chOff x="0" y="0"/>
              <a:chExt cx="603416" cy="412922"/>
            </a:xfrm>
          </p:grpSpPr>
          <p:sp>
            <p:nvSpPr>
              <p:cNvPr id="6742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43" name="TextBox 16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47" name="Group 169"/>
            <p:cNvGrpSpPr/>
            <p:nvPr/>
          </p:nvGrpSpPr>
          <p:grpSpPr>
            <a:xfrm>
              <a:off x="4742994" y="4056864"/>
              <a:ext cx="603418" cy="412923"/>
              <a:chOff x="0" y="0"/>
              <a:chExt cx="603416" cy="412922"/>
            </a:xfrm>
          </p:grpSpPr>
          <p:sp>
            <p:nvSpPr>
              <p:cNvPr id="674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46" name="TextBox 17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50" name="Group 172"/>
            <p:cNvGrpSpPr/>
            <p:nvPr/>
          </p:nvGrpSpPr>
          <p:grpSpPr>
            <a:xfrm>
              <a:off x="3828471" y="4196553"/>
              <a:ext cx="603418" cy="412923"/>
              <a:chOff x="0" y="0"/>
              <a:chExt cx="603416" cy="412922"/>
            </a:xfrm>
          </p:grpSpPr>
          <p:sp>
            <p:nvSpPr>
              <p:cNvPr id="674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49" name="TextBox 174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753" name="Group 175"/>
            <p:cNvGrpSpPr/>
            <p:nvPr/>
          </p:nvGrpSpPr>
          <p:grpSpPr>
            <a:xfrm>
              <a:off x="2609107" y="4044165"/>
              <a:ext cx="603418" cy="412923"/>
              <a:chOff x="0" y="0"/>
              <a:chExt cx="603416" cy="412922"/>
            </a:xfrm>
          </p:grpSpPr>
          <p:sp>
            <p:nvSpPr>
              <p:cNvPr id="675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752" name="TextBox 17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sp>
          <p:nvSpPr>
            <p:cNvPr id="6754" name="TextBox 4"/>
            <p:cNvSpPr txBox="1"/>
            <p:nvPr/>
          </p:nvSpPr>
          <p:spPr>
            <a:xfrm rot="1053502">
              <a:off x="5065301" y="10882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55" name="TextBox 179"/>
            <p:cNvSpPr txBox="1"/>
            <p:nvPr/>
          </p:nvSpPr>
          <p:spPr>
            <a:xfrm rot="2829263">
              <a:off x="7358658" y="1588559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56" name="TextBox 180"/>
            <p:cNvSpPr txBox="1"/>
            <p:nvPr/>
          </p:nvSpPr>
          <p:spPr>
            <a:xfrm rot="9845918">
              <a:off x="6012603" y="4130132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57" name="TextBox 181"/>
            <p:cNvSpPr txBox="1"/>
            <p:nvPr/>
          </p:nvSpPr>
          <p:spPr>
            <a:xfrm rot="11651262">
              <a:off x="1634935" y="4031728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58" name="TextBox 182"/>
            <p:cNvSpPr txBox="1"/>
            <p:nvPr/>
          </p:nvSpPr>
          <p:spPr>
            <a:xfrm rot="16607303">
              <a:off x="38700" y="170253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59" name="TextBox 183"/>
            <p:cNvSpPr txBox="1"/>
            <p:nvPr/>
          </p:nvSpPr>
          <p:spPr>
            <a:xfrm rot="20582737">
              <a:off x="2240842" y="56466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</p:grpSp>
      <p:sp>
        <p:nvSpPr>
          <p:cNvPr id="6761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3" name="Group 25"/>
          <p:cNvGrpSpPr/>
          <p:nvPr/>
        </p:nvGrpSpPr>
        <p:grpSpPr>
          <a:xfrm>
            <a:off x="2189179" y="2360613"/>
            <a:ext cx="7354910" cy="3794389"/>
            <a:chOff x="0" y="0"/>
            <a:chExt cx="7354908" cy="3794388"/>
          </a:xfrm>
        </p:grpSpPr>
        <p:sp>
          <p:nvSpPr>
            <p:cNvPr id="6763" name="Straight Connector 7"/>
            <p:cNvSpPr/>
            <p:nvPr/>
          </p:nvSpPr>
          <p:spPr>
            <a:xfrm flipV="1">
              <a:off x="766898" y="275835"/>
              <a:ext cx="577252" cy="280195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64" name="Straight Connector 188"/>
            <p:cNvSpPr/>
            <p:nvPr/>
          </p:nvSpPr>
          <p:spPr>
            <a:xfrm flipH="1" flipV="1">
              <a:off x="614655" y="737152"/>
              <a:ext cx="171457" cy="232652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65" name="Straight Connector 190"/>
            <p:cNvSpPr/>
            <p:nvPr/>
          </p:nvSpPr>
          <p:spPr>
            <a:xfrm flipH="1" flipV="1">
              <a:off x="290810" y="1156146"/>
              <a:ext cx="495302" cy="190753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66" name="Straight Connector 192"/>
            <p:cNvSpPr/>
            <p:nvPr/>
          </p:nvSpPr>
          <p:spPr>
            <a:xfrm flipH="1" flipV="1">
              <a:off x="287091" y="2003123"/>
              <a:ext cx="499021" cy="106055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67" name="Straight Connector 195"/>
            <p:cNvSpPr/>
            <p:nvPr/>
          </p:nvSpPr>
          <p:spPr>
            <a:xfrm flipH="1" flipV="1">
              <a:off x="492395" y="2684542"/>
              <a:ext cx="293717" cy="37913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68" name="Straight Connector 197"/>
            <p:cNvSpPr/>
            <p:nvPr/>
          </p:nvSpPr>
          <p:spPr>
            <a:xfrm flipH="1" flipV="1">
              <a:off x="766898" y="3077786"/>
              <a:ext cx="1526322" cy="59285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69" name="Straight Connector 199"/>
            <p:cNvSpPr/>
            <p:nvPr/>
          </p:nvSpPr>
          <p:spPr>
            <a:xfrm flipH="1" flipV="1">
              <a:off x="786111" y="3063680"/>
              <a:ext cx="2723506" cy="70289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0" name="Straight Connector 201"/>
            <p:cNvSpPr/>
            <p:nvPr/>
          </p:nvSpPr>
          <p:spPr>
            <a:xfrm flipH="1" flipV="1">
              <a:off x="786112" y="3063680"/>
              <a:ext cx="3605625" cy="61884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1" name="Straight Connector 203"/>
            <p:cNvSpPr/>
            <p:nvPr/>
          </p:nvSpPr>
          <p:spPr>
            <a:xfrm flipH="1">
              <a:off x="786112" y="2888942"/>
              <a:ext cx="6568797" cy="1747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2" name="Straight Connector 204"/>
            <p:cNvSpPr/>
            <p:nvPr/>
          </p:nvSpPr>
          <p:spPr>
            <a:xfrm flipH="1" flipV="1">
              <a:off x="786112" y="3063680"/>
              <a:ext cx="5742020" cy="48658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3" name="Straight Connector 207"/>
            <p:cNvSpPr/>
            <p:nvPr/>
          </p:nvSpPr>
          <p:spPr>
            <a:xfrm flipH="1">
              <a:off x="786112" y="2016256"/>
              <a:ext cx="6337561" cy="104742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4" name="Straight Connector 209"/>
            <p:cNvSpPr/>
            <p:nvPr/>
          </p:nvSpPr>
          <p:spPr>
            <a:xfrm flipH="1">
              <a:off x="786111" y="978239"/>
              <a:ext cx="5748897" cy="208544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5" name="Straight Connector 211"/>
            <p:cNvSpPr/>
            <p:nvPr/>
          </p:nvSpPr>
          <p:spPr>
            <a:xfrm flipH="1">
              <a:off x="786112" y="489119"/>
              <a:ext cx="4941961" cy="25745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6" name="Straight Connector 213"/>
            <p:cNvSpPr/>
            <p:nvPr/>
          </p:nvSpPr>
          <p:spPr>
            <a:xfrm flipH="1">
              <a:off x="786111" y="0"/>
              <a:ext cx="2971184" cy="306368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7" name="Straight Connector 215"/>
            <p:cNvSpPr/>
            <p:nvPr/>
          </p:nvSpPr>
          <p:spPr>
            <a:xfrm flipH="1">
              <a:off x="786112" y="257"/>
              <a:ext cx="2025350" cy="306342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78" name="TextBox 24"/>
            <p:cNvSpPr txBox="1"/>
            <p:nvPr/>
          </p:nvSpPr>
          <p:spPr>
            <a:xfrm rot="5710989">
              <a:off x="15586" y="1833848"/>
              <a:ext cx="281941" cy="288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79" name="TextBox 218"/>
            <p:cNvSpPr txBox="1"/>
            <p:nvPr/>
          </p:nvSpPr>
          <p:spPr>
            <a:xfrm rot="7515077">
              <a:off x="3662946" y="3451507"/>
              <a:ext cx="281941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80" name="TextBox 219"/>
            <p:cNvSpPr txBox="1"/>
            <p:nvPr/>
          </p:nvSpPr>
          <p:spPr>
            <a:xfrm rot="3940343">
              <a:off x="5552086" y="1561604"/>
              <a:ext cx="408941" cy="437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81" name="TextBox 220"/>
            <p:cNvSpPr txBox="1"/>
            <p:nvPr/>
          </p:nvSpPr>
          <p:spPr>
            <a:xfrm rot="2048420">
              <a:off x="3640180" y="393868"/>
              <a:ext cx="408941" cy="437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782" name="TextBox 221"/>
            <p:cNvSpPr txBox="1"/>
            <p:nvPr/>
          </p:nvSpPr>
          <p:spPr>
            <a:xfrm rot="21283865">
              <a:off x="1340010" y="391903"/>
              <a:ext cx="408941" cy="4370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</p:grpSp>
      <p:grpSp>
        <p:nvGrpSpPr>
          <p:cNvPr id="6799" name="Group 223"/>
          <p:cNvGrpSpPr/>
          <p:nvPr/>
        </p:nvGrpSpPr>
        <p:grpSpPr>
          <a:xfrm>
            <a:off x="2375578" y="2337843"/>
            <a:ext cx="7094538" cy="3695701"/>
            <a:chOff x="0" y="0"/>
            <a:chExt cx="7094537" cy="3695700"/>
          </a:xfrm>
        </p:grpSpPr>
        <p:sp>
          <p:nvSpPr>
            <p:cNvPr id="6784" name="Straight Connector 224"/>
            <p:cNvSpPr/>
            <p:nvPr/>
          </p:nvSpPr>
          <p:spPr>
            <a:xfrm flipH="1">
              <a:off x="583760" y="536094"/>
              <a:ext cx="4736973" cy="25353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85" name="Straight Connector 225"/>
            <p:cNvSpPr/>
            <p:nvPr/>
          </p:nvSpPr>
          <p:spPr>
            <a:xfrm flipH="1">
              <a:off x="2109468" y="524665"/>
              <a:ext cx="3213947" cy="304142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86" name="Straight Connector 226"/>
            <p:cNvSpPr/>
            <p:nvPr/>
          </p:nvSpPr>
          <p:spPr>
            <a:xfrm flipH="1">
              <a:off x="3465887" y="516025"/>
              <a:ext cx="1866168" cy="31796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87" name="Straight Connector 227"/>
            <p:cNvSpPr/>
            <p:nvPr/>
          </p:nvSpPr>
          <p:spPr>
            <a:xfrm flipH="1">
              <a:off x="4407604" y="516025"/>
              <a:ext cx="915811" cy="305871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88" name="Straight Connector 228"/>
            <p:cNvSpPr/>
            <p:nvPr/>
          </p:nvSpPr>
          <p:spPr>
            <a:xfrm>
              <a:off x="5304856" y="540062"/>
              <a:ext cx="1141700" cy="280138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89" name="Straight Connector 229"/>
            <p:cNvSpPr/>
            <p:nvPr/>
          </p:nvSpPr>
          <p:spPr>
            <a:xfrm>
              <a:off x="5308824" y="528155"/>
              <a:ext cx="1785714" cy="235534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0" name="Straight Connector 230"/>
            <p:cNvSpPr/>
            <p:nvPr/>
          </p:nvSpPr>
          <p:spPr>
            <a:xfrm>
              <a:off x="5316762" y="520218"/>
              <a:ext cx="1587704" cy="138691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1" name="Straight Connector 231"/>
            <p:cNvSpPr/>
            <p:nvPr/>
          </p:nvSpPr>
          <p:spPr>
            <a:xfrm>
              <a:off x="5316762" y="536094"/>
              <a:ext cx="602785" cy="290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2" name="Straight Connector 232"/>
            <p:cNvSpPr/>
            <p:nvPr/>
          </p:nvSpPr>
          <p:spPr>
            <a:xfrm>
              <a:off x="3721968" y="3120"/>
              <a:ext cx="1558249" cy="51290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3" name="Straight Connector 233"/>
            <p:cNvSpPr/>
            <p:nvPr/>
          </p:nvSpPr>
          <p:spPr>
            <a:xfrm>
              <a:off x="2828973" y="-1"/>
              <a:ext cx="2485803" cy="53330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4" name="Straight Connector 234"/>
            <p:cNvSpPr/>
            <p:nvPr/>
          </p:nvSpPr>
          <p:spPr>
            <a:xfrm>
              <a:off x="1218887" y="186969"/>
              <a:ext cx="4078609" cy="33769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5" name="Straight Connector 235"/>
            <p:cNvSpPr/>
            <p:nvPr/>
          </p:nvSpPr>
          <p:spPr>
            <a:xfrm flipV="1">
              <a:off x="446847" y="541946"/>
              <a:ext cx="4842011" cy="3072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6" name="Straight Connector 236"/>
            <p:cNvSpPr/>
            <p:nvPr/>
          </p:nvSpPr>
          <p:spPr>
            <a:xfrm flipV="1">
              <a:off x="72230" y="533306"/>
              <a:ext cx="5242546" cy="3770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7" name="Straight Connector 237"/>
            <p:cNvSpPr/>
            <p:nvPr/>
          </p:nvSpPr>
          <p:spPr>
            <a:xfrm flipV="1">
              <a:off x="0" y="540062"/>
              <a:ext cx="5296920" cy="138675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798" name="Straight Connector 238"/>
            <p:cNvSpPr/>
            <p:nvPr/>
          </p:nvSpPr>
          <p:spPr>
            <a:xfrm flipV="1">
              <a:off x="238796" y="540062"/>
              <a:ext cx="5077967" cy="20261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815" name="Group 239"/>
          <p:cNvGrpSpPr/>
          <p:nvPr/>
        </p:nvGrpSpPr>
        <p:grpSpPr>
          <a:xfrm>
            <a:off x="2308603" y="2230021"/>
            <a:ext cx="7158039" cy="3798887"/>
            <a:chOff x="0" y="0"/>
            <a:chExt cx="7158038" cy="3798886"/>
          </a:xfrm>
        </p:grpSpPr>
        <p:sp>
          <p:nvSpPr>
            <p:cNvPr id="6800" name="Straight Connector 240"/>
            <p:cNvSpPr/>
            <p:nvPr/>
          </p:nvSpPr>
          <p:spPr>
            <a:xfrm>
              <a:off x="1213174" y="481030"/>
              <a:ext cx="3121589" cy="320418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1" name="Straight Connector 241"/>
            <p:cNvSpPr/>
            <p:nvPr/>
          </p:nvSpPr>
          <p:spPr>
            <a:xfrm>
              <a:off x="1210491" y="469603"/>
              <a:ext cx="2384482" cy="332928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2" name="Straight Connector 242"/>
            <p:cNvSpPr/>
            <p:nvPr/>
          </p:nvSpPr>
          <p:spPr>
            <a:xfrm>
              <a:off x="1201851" y="460963"/>
              <a:ext cx="1091369" cy="31977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3" name="Straight Connector 243"/>
            <p:cNvSpPr/>
            <p:nvPr/>
          </p:nvSpPr>
          <p:spPr>
            <a:xfrm flipH="1">
              <a:off x="672122" y="460963"/>
              <a:ext cx="538370" cy="269799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4" name="Straight Connector 244"/>
            <p:cNvSpPr/>
            <p:nvPr/>
          </p:nvSpPr>
          <p:spPr>
            <a:xfrm flipH="1">
              <a:off x="208002" y="484998"/>
              <a:ext cx="1021048" cy="20694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5" name="Straight Connector 245"/>
            <p:cNvSpPr/>
            <p:nvPr/>
          </p:nvSpPr>
          <p:spPr>
            <a:xfrm flipH="1">
              <a:off x="0" y="473093"/>
              <a:ext cx="1225083" cy="141352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6" name="Straight Connector 246"/>
            <p:cNvSpPr/>
            <p:nvPr/>
          </p:nvSpPr>
          <p:spPr>
            <a:xfrm flipH="1">
              <a:off x="133040" y="452831"/>
              <a:ext cx="1107140" cy="58894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7" name="Straight Connector 247"/>
            <p:cNvSpPr/>
            <p:nvPr/>
          </p:nvSpPr>
          <p:spPr>
            <a:xfrm flipH="1">
              <a:off x="494460" y="452831"/>
              <a:ext cx="745720" cy="21673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8" name="Straight Connector 248"/>
            <p:cNvSpPr/>
            <p:nvPr/>
          </p:nvSpPr>
          <p:spPr>
            <a:xfrm flipH="1">
              <a:off x="1253688" y="-1"/>
              <a:ext cx="1141336" cy="4609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9" name="Straight Connector 249"/>
            <p:cNvSpPr/>
            <p:nvPr/>
          </p:nvSpPr>
          <p:spPr>
            <a:xfrm flipH="1">
              <a:off x="1219130" y="80170"/>
              <a:ext cx="2284067" cy="39807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10" name="Straight Connector 250"/>
            <p:cNvSpPr/>
            <p:nvPr/>
          </p:nvSpPr>
          <p:spPr>
            <a:xfrm flipH="1" flipV="1">
              <a:off x="1236411" y="469603"/>
              <a:ext cx="4016651" cy="1415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11" name="Straight Connector 251"/>
            <p:cNvSpPr/>
            <p:nvPr/>
          </p:nvSpPr>
          <p:spPr>
            <a:xfrm flipH="1" flipV="1">
              <a:off x="1245049" y="486883"/>
              <a:ext cx="4754999" cy="52903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12" name="Straight Connector 252"/>
            <p:cNvSpPr/>
            <p:nvPr/>
          </p:nvSpPr>
          <p:spPr>
            <a:xfrm flipH="1" flipV="1">
              <a:off x="1219130" y="478243"/>
              <a:ext cx="5710311" cy="155484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13" name="Straight Connector 253"/>
            <p:cNvSpPr/>
            <p:nvPr/>
          </p:nvSpPr>
          <p:spPr>
            <a:xfrm flipH="1" flipV="1">
              <a:off x="1236987" y="484998"/>
              <a:ext cx="5921052" cy="246244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14" name="Straight Connector 254"/>
            <p:cNvSpPr/>
            <p:nvPr/>
          </p:nvSpPr>
          <p:spPr>
            <a:xfrm flipH="1" flipV="1">
              <a:off x="1217144" y="484999"/>
              <a:ext cx="5165241" cy="30000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6816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sp>
        <p:nvSpPr>
          <p:cNvPr id="6817" name="Rectangle 3"/>
          <p:cNvSpPr txBox="1"/>
          <p:nvPr/>
        </p:nvSpPr>
        <p:spPr>
          <a:xfrm>
            <a:off x="1013937" y="1257580"/>
            <a:ext cx="10234667" cy="514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i="1" sz="2500">
                <a:solidFill>
                  <a:srgbClr val="CC0000"/>
                </a:solidFill>
              </a:defRPr>
            </a:pPr>
            <a:r>
              <a:t>Question: </a:t>
            </a:r>
            <a:r>
              <a:rPr i="0">
                <a:solidFill>
                  <a:srgbClr val="000000"/>
                </a:solidFill>
              </a:rPr>
              <a:t>given </a:t>
            </a:r>
            <a:r>
              <a:rPr>
                <a:solidFill>
                  <a:srgbClr val="000000"/>
                </a:solidFill>
              </a:rPr>
              <a:t>millions</a:t>
            </a:r>
            <a:r>
              <a:rPr i="0">
                <a:solidFill>
                  <a:srgbClr val="000000"/>
                </a:solidFill>
              </a:rPr>
              <a:t> of access ISPs, how to connect them together?</a:t>
            </a:r>
          </a:p>
        </p:txBody>
      </p:sp>
      <p:grpSp>
        <p:nvGrpSpPr>
          <p:cNvPr id="6872" name="Group 5"/>
          <p:cNvGrpSpPr/>
          <p:nvPr/>
        </p:nvGrpSpPr>
        <p:grpSpPr>
          <a:xfrm>
            <a:off x="1594998" y="1861776"/>
            <a:ext cx="8420227" cy="4670018"/>
            <a:chOff x="0" y="0"/>
            <a:chExt cx="8420225" cy="4670017"/>
          </a:xfrm>
        </p:grpSpPr>
        <p:grpSp>
          <p:nvGrpSpPr>
            <p:cNvPr id="6820" name="Group 2"/>
            <p:cNvGrpSpPr/>
            <p:nvPr/>
          </p:nvGrpSpPr>
          <p:grpSpPr>
            <a:xfrm>
              <a:off x="1402445" y="450341"/>
              <a:ext cx="603417" cy="412924"/>
              <a:chOff x="0" y="0"/>
              <a:chExt cx="603416" cy="412922"/>
            </a:xfrm>
          </p:grpSpPr>
          <p:sp>
            <p:nvSpPr>
              <p:cNvPr id="681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19" name="TextBox 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23" name="Group 131"/>
            <p:cNvGrpSpPr/>
            <p:nvPr/>
          </p:nvGrpSpPr>
          <p:grpSpPr>
            <a:xfrm>
              <a:off x="246589" y="1250380"/>
              <a:ext cx="603418" cy="412923"/>
              <a:chOff x="0" y="0"/>
              <a:chExt cx="603416" cy="412922"/>
            </a:xfrm>
          </p:grpSpPr>
          <p:sp>
            <p:nvSpPr>
              <p:cNvPr id="682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22" name="TextBox 13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26" name="Group 135"/>
            <p:cNvGrpSpPr/>
            <p:nvPr/>
          </p:nvGrpSpPr>
          <p:grpSpPr>
            <a:xfrm>
              <a:off x="5911552" y="704322"/>
              <a:ext cx="603417" cy="412923"/>
              <a:chOff x="0" y="0"/>
              <a:chExt cx="603416" cy="412922"/>
            </a:xfrm>
          </p:grpSpPr>
          <p:sp>
            <p:nvSpPr>
              <p:cNvPr id="682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25" name="TextBox 13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29" name="Group 138"/>
            <p:cNvGrpSpPr/>
            <p:nvPr/>
          </p:nvGrpSpPr>
          <p:grpSpPr>
            <a:xfrm>
              <a:off x="818166" y="3561602"/>
              <a:ext cx="603418" cy="412923"/>
              <a:chOff x="0" y="0"/>
              <a:chExt cx="603416" cy="412922"/>
            </a:xfrm>
          </p:grpSpPr>
          <p:sp>
            <p:nvSpPr>
              <p:cNvPr id="682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28" name="TextBox 140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32" name="Group 141"/>
            <p:cNvGrpSpPr/>
            <p:nvPr/>
          </p:nvGrpSpPr>
          <p:grpSpPr>
            <a:xfrm>
              <a:off x="399010" y="2939350"/>
              <a:ext cx="603417" cy="412923"/>
              <a:chOff x="0" y="0"/>
              <a:chExt cx="603416" cy="412922"/>
            </a:xfrm>
          </p:grpSpPr>
          <p:sp>
            <p:nvSpPr>
              <p:cNvPr id="6830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31" name="TextBox 14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35" name="Group 144"/>
            <p:cNvGrpSpPr/>
            <p:nvPr/>
          </p:nvGrpSpPr>
          <p:grpSpPr>
            <a:xfrm>
              <a:off x="170379" y="2279000"/>
              <a:ext cx="603417" cy="412924"/>
              <a:chOff x="0" y="0"/>
              <a:chExt cx="603416" cy="412922"/>
            </a:xfrm>
          </p:grpSpPr>
          <p:sp>
            <p:nvSpPr>
              <p:cNvPr id="6833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34" name="TextBox 146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38" name="Group 147"/>
            <p:cNvGrpSpPr/>
            <p:nvPr/>
          </p:nvGrpSpPr>
          <p:grpSpPr>
            <a:xfrm>
              <a:off x="6660953" y="1136088"/>
              <a:ext cx="603417" cy="412924"/>
              <a:chOff x="0" y="0"/>
              <a:chExt cx="603416" cy="412922"/>
            </a:xfrm>
          </p:grpSpPr>
          <p:sp>
            <p:nvSpPr>
              <p:cNvPr id="6836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37" name="TextBox 149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41" name="Group 150"/>
            <p:cNvGrpSpPr/>
            <p:nvPr/>
          </p:nvGrpSpPr>
          <p:grpSpPr>
            <a:xfrm>
              <a:off x="3002860" y="209060"/>
              <a:ext cx="603418" cy="412923"/>
              <a:chOff x="0" y="0"/>
              <a:chExt cx="603416" cy="412922"/>
            </a:xfrm>
          </p:grpSpPr>
          <p:sp>
            <p:nvSpPr>
              <p:cNvPr id="6839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40" name="TextBox 15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44" name="Group 153"/>
            <p:cNvGrpSpPr/>
            <p:nvPr/>
          </p:nvGrpSpPr>
          <p:grpSpPr>
            <a:xfrm>
              <a:off x="627640" y="856710"/>
              <a:ext cx="603418" cy="412923"/>
              <a:chOff x="0" y="0"/>
              <a:chExt cx="603416" cy="412922"/>
            </a:xfrm>
          </p:grpSpPr>
          <p:sp>
            <p:nvSpPr>
              <p:cNvPr id="6842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43" name="TextBox 15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47" name="Group 156"/>
            <p:cNvGrpSpPr/>
            <p:nvPr/>
          </p:nvGrpSpPr>
          <p:grpSpPr>
            <a:xfrm>
              <a:off x="3917383" y="183662"/>
              <a:ext cx="603418" cy="412923"/>
              <a:chOff x="0" y="0"/>
              <a:chExt cx="603416" cy="412922"/>
            </a:xfrm>
          </p:grpSpPr>
          <p:sp>
            <p:nvSpPr>
              <p:cNvPr id="684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46" name="TextBox 15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50" name="Group 160"/>
            <p:cNvGrpSpPr/>
            <p:nvPr/>
          </p:nvGrpSpPr>
          <p:grpSpPr>
            <a:xfrm>
              <a:off x="6978495" y="3815582"/>
              <a:ext cx="603418" cy="412924"/>
              <a:chOff x="0" y="0"/>
              <a:chExt cx="603416" cy="412922"/>
            </a:xfrm>
          </p:grpSpPr>
          <p:sp>
            <p:nvSpPr>
              <p:cNvPr id="684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49" name="TextBox 16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53" name="Group 163"/>
            <p:cNvGrpSpPr/>
            <p:nvPr/>
          </p:nvGrpSpPr>
          <p:grpSpPr>
            <a:xfrm>
              <a:off x="7816808" y="3167932"/>
              <a:ext cx="603418" cy="412923"/>
              <a:chOff x="0" y="0"/>
              <a:chExt cx="603416" cy="412922"/>
            </a:xfrm>
          </p:grpSpPr>
          <p:sp>
            <p:nvSpPr>
              <p:cNvPr id="685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52" name="TextBox 16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56" name="Group 166"/>
            <p:cNvGrpSpPr/>
            <p:nvPr/>
          </p:nvGrpSpPr>
          <p:grpSpPr>
            <a:xfrm>
              <a:off x="7588178" y="2253602"/>
              <a:ext cx="603417" cy="412924"/>
              <a:chOff x="0" y="0"/>
              <a:chExt cx="603416" cy="412922"/>
            </a:xfrm>
          </p:grpSpPr>
          <p:sp>
            <p:nvSpPr>
              <p:cNvPr id="685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55" name="TextBox 16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59" name="Group 169"/>
            <p:cNvGrpSpPr/>
            <p:nvPr/>
          </p:nvGrpSpPr>
          <p:grpSpPr>
            <a:xfrm>
              <a:off x="4742994" y="4056864"/>
              <a:ext cx="603418" cy="412923"/>
              <a:chOff x="0" y="0"/>
              <a:chExt cx="603416" cy="412922"/>
            </a:xfrm>
          </p:grpSpPr>
          <p:sp>
            <p:nvSpPr>
              <p:cNvPr id="685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58" name="TextBox 17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62" name="Group 172"/>
            <p:cNvGrpSpPr/>
            <p:nvPr/>
          </p:nvGrpSpPr>
          <p:grpSpPr>
            <a:xfrm>
              <a:off x="3828471" y="4196553"/>
              <a:ext cx="603418" cy="412923"/>
              <a:chOff x="0" y="0"/>
              <a:chExt cx="603416" cy="412922"/>
            </a:xfrm>
          </p:grpSpPr>
          <p:sp>
            <p:nvSpPr>
              <p:cNvPr id="6860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61" name="TextBox 174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6865" name="Group 175"/>
            <p:cNvGrpSpPr/>
            <p:nvPr/>
          </p:nvGrpSpPr>
          <p:grpSpPr>
            <a:xfrm>
              <a:off x="2609107" y="4044165"/>
              <a:ext cx="603418" cy="412923"/>
              <a:chOff x="0" y="0"/>
              <a:chExt cx="603416" cy="412922"/>
            </a:xfrm>
          </p:grpSpPr>
          <p:sp>
            <p:nvSpPr>
              <p:cNvPr id="6863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864" name="TextBox 17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sp>
          <p:nvSpPr>
            <p:cNvPr id="6866" name="TextBox 4"/>
            <p:cNvSpPr txBox="1"/>
            <p:nvPr/>
          </p:nvSpPr>
          <p:spPr>
            <a:xfrm rot="1053502">
              <a:off x="5065301" y="10882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867" name="TextBox 179"/>
            <p:cNvSpPr txBox="1"/>
            <p:nvPr/>
          </p:nvSpPr>
          <p:spPr>
            <a:xfrm rot="2829263">
              <a:off x="7358658" y="1588559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868" name="TextBox 180"/>
            <p:cNvSpPr txBox="1"/>
            <p:nvPr/>
          </p:nvSpPr>
          <p:spPr>
            <a:xfrm rot="9845918">
              <a:off x="6012603" y="4130132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869" name="TextBox 181"/>
            <p:cNvSpPr txBox="1"/>
            <p:nvPr/>
          </p:nvSpPr>
          <p:spPr>
            <a:xfrm rot="11651262">
              <a:off x="1634935" y="4031728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870" name="TextBox 182"/>
            <p:cNvSpPr txBox="1"/>
            <p:nvPr/>
          </p:nvSpPr>
          <p:spPr>
            <a:xfrm rot="16607303">
              <a:off x="38700" y="170253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6871" name="TextBox 183"/>
            <p:cNvSpPr txBox="1"/>
            <p:nvPr/>
          </p:nvSpPr>
          <p:spPr>
            <a:xfrm rot="20582737">
              <a:off x="2240842" y="56466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</p:grpSp>
      <p:sp>
        <p:nvSpPr>
          <p:cNvPr id="6873" name="TextBox 115"/>
          <p:cNvSpPr txBox="1"/>
          <p:nvPr/>
        </p:nvSpPr>
        <p:spPr>
          <a:xfrm>
            <a:off x="3524875" y="3367370"/>
            <a:ext cx="4268788" cy="11290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400"/>
            </a:pPr>
            <a:r>
              <a:t>connecting each access ISP to each other directly </a:t>
            </a:r>
            <a:r>
              <a:rPr i="1">
                <a:solidFill>
                  <a:srgbClr val="CC0000"/>
                </a:solidFill>
              </a:rPr>
              <a:t>doesn’t scale: </a:t>
            </a:r>
            <a:r>
              <a:t>O(</a:t>
            </a:r>
            <a:r>
              <a:rPr i="1"/>
              <a:t>N</a:t>
            </a:r>
            <a:r>
              <a:rPr baseline="30000"/>
              <a:t>2</a:t>
            </a:r>
            <a:r>
              <a:t>) connections.</a:t>
            </a:r>
          </a:p>
        </p:txBody>
      </p:sp>
      <p:sp>
        <p:nvSpPr>
          <p:cNvPr id="687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7" dur="1000"/>
                                        <p:tgtEl>
                                          <p:spTgt spid="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1600"/>
                                        <p:tgtEl>
                                          <p:spTgt spid="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799" grpId="1"/>
      <p:bldP build="whole" bldLvl="1" animBg="1" rev="0" advAuto="0" spid="6783" grpId="2"/>
      <p:bldP build="whole" bldLvl="1" animBg="1" rev="0" advAuto="0" spid="6873" grpId="3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6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sp>
        <p:nvSpPr>
          <p:cNvPr id="6877" name="Rectangle 3"/>
          <p:cNvSpPr txBox="1"/>
          <p:nvPr/>
        </p:nvSpPr>
        <p:spPr>
          <a:xfrm>
            <a:off x="2302710" y="1131357"/>
            <a:ext cx="8112761" cy="78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85000"/>
              </a:lnSpc>
              <a:spcBef>
                <a:spcPts val="500"/>
              </a:spcBef>
              <a:defRPr i="1" sz="2400">
                <a:solidFill>
                  <a:srgbClr val="CC0000"/>
                </a:solidFill>
              </a:defRPr>
            </a:pPr>
            <a:r>
              <a:t>Option: </a:t>
            </a:r>
            <a:r>
              <a:rPr>
                <a:solidFill>
                  <a:srgbClr val="000000"/>
                </a:solidFill>
              </a:rPr>
              <a:t>connect each access ISP to one global transit ISP?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85000"/>
              </a:lnSpc>
              <a:spcBef>
                <a:spcPts val="500"/>
              </a:spcBef>
              <a:defRPr i="1" sz="2400">
                <a:solidFill>
                  <a:srgbClr val="C00000"/>
                </a:solidFill>
              </a:defRPr>
            </a:pPr>
            <a:r>
              <a:t>Customer</a:t>
            </a:r>
            <a:r>
              <a:rPr>
                <a:solidFill>
                  <a:srgbClr val="000000"/>
                </a:solidFill>
              </a:rPr>
              <a:t> and </a:t>
            </a:r>
            <a:r>
              <a:t>provider </a:t>
            </a:r>
            <a:r>
              <a:rPr>
                <a:solidFill>
                  <a:srgbClr val="000000"/>
                </a:solidFill>
              </a:rPr>
              <a:t>ISPs have economic agreement.</a:t>
            </a:r>
          </a:p>
        </p:txBody>
      </p:sp>
      <p:grpSp>
        <p:nvGrpSpPr>
          <p:cNvPr id="7001" name="Group 3"/>
          <p:cNvGrpSpPr/>
          <p:nvPr/>
        </p:nvGrpSpPr>
        <p:grpSpPr>
          <a:xfrm>
            <a:off x="2298265" y="2316722"/>
            <a:ext cx="7177088" cy="3750367"/>
            <a:chOff x="0" y="0"/>
            <a:chExt cx="7177086" cy="3750366"/>
          </a:xfrm>
        </p:grpSpPr>
        <p:sp>
          <p:nvSpPr>
            <p:cNvPr id="6878" name="Oval 3"/>
            <p:cNvSpPr/>
            <p:nvPr/>
          </p:nvSpPr>
          <p:spPr>
            <a:xfrm>
              <a:off x="1476291" y="827130"/>
              <a:ext cx="3864120" cy="1970738"/>
            </a:xfrm>
            <a:prstGeom prst="ellipse">
              <a:avLst/>
            </a:prstGeom>
            <a:solidFill>
              <a:srgbClr val="3C6CD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79" name="Straight Connector 10"/>
            <p:cNvSpPr/>
            <p:nvPr/>
          </p:nvSpPr>
          <p:spPr>
            <a:xfrm>
              <a:off x="2855911" y="1264341"/>
              <a:ext cx="1223963" cy="96839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0" name="Straight Connector 297"/>
            <p:cNvSpPr/>
            <p:nvPr/>
          </p:nvSpPr>
          <p:spPr>
            <a:xfrm>
              <a:off x="3489324" y="1667566"/>
              <a:ext cx="139700" cy="112714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1" name="Straight Connector 298"/>
            <p:cNvSpPr/>
            <p:nvPr/>
          </p:nvSpPr>
          <p:spPr>
            <a:xfrm flipV="1">
              <a:off x="3259136" y="1943791"/>
              <a:ext cx="280989" cy="61914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2" name="Straight Connector 299"/>
            <p:cNvSpPr/>
            <p:nvPr/>
          </p:nvSpPr>
          <p:spPr>
            <a:xfrm flipV="1">
              <a:off x="2916236" y="1705666"/>
              <a:ext cx="223838" cy="14922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3" name="Straight Connector 300"/>
            <p:cNvSpPr/>
            <p:nvPr/>
          </p:nvSpPr>
          <p:spPr>
            <a:xfrm flipV="1">
              <a:off x="2555874" y="2110479"/>
              <a:ext cx="238125" cy="13335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4" name="Straight Connector 301"/>
            <p:cNvSpPr/>
            <p:nvPr/>
          </p:nvSpPr>
          <p:spPr>
            <a:xfrm flipV="1">
              <a:off x="3508374" y="2010466"/>
              <a:ext cx="292100" cy="34290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5" name="Straight Connector 302"/>
            <p:cNvSpPr/>
            <p:nvPr/>
          </p:nvSpPr>
          <p:spPr>
            <a:xfrm flipH="1" flipV="1">
              <a:off x="4076700" y="1991416"/>
              <a:ext cx="412750" cy="16827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6" name="Straight Connector 303"/>
            <p:cNvSpPr/>
            <p:nvPr/>
          </p:nvSpPr>
          <p:spPr>
            <a:xfrm flipV="1">
              <a:off x="4060824" y="1519929"/>
              <a:ext cx="328612" cy="26670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7" name="Straight Connector 304"/>
            <p:cNvSpPr/>
            <p:nvPr/>
          </p:nvSpPr>
          <p:spPr>
            <a:xfrm flipH="1" flipV="1">
              <a:off x="2857500" y="1343716"/>
              <a:ext cx="261937" cy="119064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8" name="TextBox 39958"/>
            <p:cNvSpPr txBox="1"/>
            <p:nvPr/>
          </p:nvSpPr>
          <p:spPr>
            <a:xfrm>
              <a:off x="1765806" y="1327840"/>
              <a:ext cx="870606" cy="7607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i="1" sz="2400">
                  <a:solidFill>
                    <a:srgbClr val="FFFFFF"/>
                  </a:solidFill>
                </a:defRPr>
              </a:pPr>
              <a:r>
                <a:t>global</a:t>
              </a:r>
              <a:br/>
              <a:r>
                <a:t>ISP</a:t>
              </a:r>
            </a:p>
          </p:txBody>
        </p:sp>
        <p:sp>
          <p:nvSpPr>
            <p:cNvPr id="6889" name="Straight Connector 307"/>
            <p:cNvSpPr/>
            <p:nvPr/>
          </p:nvSpPr>
          <p:spPr>
            <a:xfrm>
              <a:off x="0" y="2004116"/>
              <a:ext cx="1971675" cy="21113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0" name="Straight Connector 308"/>
            <p:cNvSpPr/>
            <p:nvPr/>
          </p:nvSpPr>
          <p:spPr>
            <a:xfrm flipV="1">
              <a:off x="227012" y="2316854"/>
              <a:ext cx="1744663" cy="4111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1" name="Straight Connector 309"/>
            <p:cNvSpPr/>
            <p:nvPr/>
          </p:nvSpPr>
          <p:spPr>
            <a:xfrm flipV="1">
              <a:off x="630237" y="2366066"/>
              <a:ext cx="1431925" cy="7556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2" name="Straight Connector 310"/>
            <p:cNvSpPr/>
            <p:nvPr/>
          </p:nvSpPr>
          <p:spPr>
            <a:xfrm flipV="1">
              <a:off x="2222499" y="2386704"/>
              <a:ext cx="57150" cy="12112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3" name="Straight Connector 311"/>
            <p:cNvSpPr/>
            <p:nvPr/>
          </p:nvSpPr>
          <p:spPr>
            <a:xfrm flipV="1">
              <a:off x="3449636" y="2615304"/>
              <a:ext cx="6350" cy="11350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4" name="Straight Connector 312"/>
            <p:cNvSpPr/>
            <p:nvPr/>
          </p:nvSpPr>
          <p:spPr>
            <a:xfrm flipH="1" flipV="1">
              <a:off x="3757611" y="2564504"/>
              <a:ext cx="506414" cy="10588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5" name="Straight Connector 313"/>
            <p:cNvSpPr/>
            <p:nvPr/>
          </p:nvSpPr>
          <p:spPr>
            <a:xfrm flipH="1" flipV="1">
              <a:off x="4875212" y="2329554"/>
              <a:ext cx="1512888" cy="10826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6" name="Straight Connector 314"/>
            <p:cNvSpPr/>
            <p:nvPr/>
          </p:nvSpPr>
          <p:spPr>
            <a:xfrm flipH="1" flipV="1">
              <a:off x="4932362" y="2207316"/>
              <a:ext cx="2244725" cy="6096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7" name="Straight Connector 315"/>
            <p:cNvSpPr/>
            <p:nvPr/>
          </p:nvSpPr>
          <p:spPr>
            <a:xfrm flipH="1">
              <a:off x="4873625" y="1902516"/>
              <a:ext cx="2076450" cy="1936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8" name="Straight Connector 316"/>
            <p:cNvSpPr/>
            <p:nvPr/>
          </p:nvSpPr>
          <p:spPr>
            <a:xfrm flipH="1">
              <a:off x="4694237" y="970654"/>
              <a:ext cx="1422400" cy="4540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9" name="Straight Connector 317"/>
            <p:cNvSpPr/>
            <p:nvPr/>
          </p:nvSpPr>
          <p:spPr>
            <a:xfrm flipH="1">
              <a:off x="4518025" y="546791"/>
              <a:ext cx="898525" cy="7286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00" name="Straight Connector 318"/>
            <p:cNvSpPr/>
            <p:nvPr/>
          </p:nvSpPr>
          <p:spPr>
            <a:xfrm>
              <a:off x="3682999" y="124516"/>
              <a:ext cx="555625" cy="112553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01" name="Straight Connector 22"/>
            <p:cNvSpPr/>
            <p:nvPr/>
          </p:nvSpPr>
          <p:spPr>
            <a:xfrm>
              <a:off x="1195387" y="321366"/>
              <a:ext cx="1230313" cy="7969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02" name="Straight Connector 305"/>
            <p:cNvSpPr/>
            <p:nvPr/>
          </p:nvSpPr>
          <p:spPr>
            <a:xfrm>
              <a:off x="450850" y="653153"/>
              <a:ext cx="1885950" cy="5191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03" name="Straight Connector 306"/>
            <p:cNvSpPr/>
            <p:nvPr/>
          </p:nvSpPr>
          <p:spPr>
            <a:xfrm>
              <a:off x="63500" y="1021454"/>
              <a:ext cx="2273300" cy="2603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6915" name="Group 169"/>
            <p:cNvGrpSpPr/>
            <p:nvPr/>
          </p:nvGrpSpPr>
          <p:grpSpPr>
            <a:xfrm>
              <a:off x="1981625" y="2076976"/>
              <a:ext cx="626338" cy="453576"/>
              <a:chOff x="0" y="0"/>
              <a:chExt cx="626337" cy="453575"/>
            </a:xfrm>
          </p:grpSpPr>
          <p:grpSp>
            <p:nvGrpSpPr>
              <p:cNvPr id="6906" name="Freeform 170"/>
              <p:cNvGrpSpPr/>
              <p:nvPr/>
            </p:nvGrpSpPr>
            <p:grpSpPr>
              <a:xfrm>
                <a:off x="-1" y="120487"/>
                <a:ext cx="626339" cy="333089"/>
                <a:chOff x="0" y="0"/>
                <a:chExt cx="626337" cy="333087"/>
              </a:xfrm>
            </p:grpSpPr>
            <p:sp>
              <p:nvSpPr>
                <p:cNvPr id="6904" name="Shape"/>
                <p:cNvSpPr/>
                <p:nvPr/>
              </p:nvSpPr>
              <p:spPr>
                <a:xfrm>
                  <a:off x="0" y="53803"/>
                  <a:ext cx="626338" cy="2254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05" name="Text"/>
                <p:cNvSpPr txBox="1"/>
                <p:nvPr/>
              </p:nvSpPr>
              <p:spPr>
                <a:xfrm>
                  <a:off x="48894" y="0"/>
                  <a:ext cx="528548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09" name="Oval 171"/>
              <p:cNvGrpSpPr/>
              <p:nvPr/>
            </p:nvGrpSpPr>
            <p:grpSpPr>
              <a:xfrm>
                <a:off x="360" y="-1"/>
                <a:ext cx="625581" cy="333089"/>
                <a:chOff x="0" y="0"/>
                <a:chExt cx="625580" cy="333087"/>
              </a:xfrm>
            </p:grpSpPr>
            <p:sp>
              <p:nvSpPr>
                <p:cNvPr id="6907" name="Oval"/>
                <p:cNvSpPr/>
                <p:nvPr/>
              </p:nvSpPr>
              <p:spPr>
                <a:xfrm>
                  <a:off x="0" y="54923"/>
                  <a:ext cx="625581" cy="22324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08" name="Text"/>
                <p:cNvSpPr txBox="1"/>
                <p:nvPr/>
              </p:nvSpPr>
              <p:spPr>
                <a:xfrm>
                  <a:off x="140509" y="0"/>
                  <a:ext cx="344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14" name="Group 172"/>
              <p:cNvGrpSpPr/>
              <p:nvPr/>
            </p:nvGrpSpPr>
            <p:grpSpPr>
              <a:xfrm>
                <a:off x="92891" y="83297"/>
                <a:ext cx="440439" cy="164034"/>
                <a:chOff x="0" y="0"/>
                <a:chExt cx="440438" cy="164033"/>
              </a:xfrm>
            </p:grpSpPr>
            <p:sp>
              <p:nvSpPr>
                <p:cNvPr id="6910" name="Freeform 173"/>
                <p:cNvSpPr/>
                <p:nvPr/>
              </p:nvSpPr>
              <p:spPr>
                <a:xfrm>
                  <a:off x="12182" y="0"/>
                  <a:ext cx="416647" cy="91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11" name="Freeform 174"/>
                <p:cNvSpPr/>
                <p:nvPr/>
              </p:nvSpPr>
              <p:spPr>
                <a:xfrm>
                  <a:off x="284879" y="78543"/>
                  <a:ext cx="155560" cy="790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12" name="Freeform 175"/>
                <p:cNvSpPr/>
                <p:nvPr/>
              </p:nvSpPr>
              <p:spPr>
                <a:xfrm>
                  <a:off x="-1" y="78543"/>
                  <a:ext cx="152749" cy="781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13" name="Freeform 176"/>
                <p:cNvSpPr/>
                <p:nvPr/>
              </p:nvSpPr>
              <p:spPr>
                <a:xfrm>
                  <a:off x="53026" y="39936"/>
                  <a:ext cx="332123" cy="124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927" name="Group 185"/>
            <p:cNvGrpSpPr/>
            <p:nvPr/>
          </p:nvGrpSpPr>
          <p:grpSpPr>
            <a:xfrm>
              <a:off x="4046105" y="1174487"/>
              <a:ext cx="626339" cy="453576"/>
              <a:chOff x="0" y="0"/>
              <a:chExt cx="626337" cy="453575"/>
            </a:xfrm>
          </p:grpSpPr>
          <p:grpSp>
            <p:nvGrpSpPr>
              <p:cNvPr id="6918" name="Freeform 186"/>
              <p:cNvGrpSpPr/>
              <p:nvPr/>
            </p:nvGrpSpPr>
            <p:grpSpPr>
              <a:xfrm>
                <a:off x="-1" y="120487"/>
                <a:ext cx="626339" cy="333089"/>
                <a:chOff x="0" y="0"/>
                <a:chExt cx="626337" cy="333087"/>
              </a:xfrm>
            </p:grpSpPr>
            <p:sp>
              <p:nvSpPr>
                <p:cNvPr id="6916" name="Shape"/>
                <p:cNvSpPr/>
                <p:nvPr/>
              </p:nvSpPr>
              <p:spPr>
                <a:xfrm>
                  <a:off x="0" y="53803"/>
                  <a:ext cx="626338" cy="2254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17" name="Text"/>
                <p:cNvSpPr txBox="1"/>
                <p:nvPr/>
              </p:nvSpPr>
              <p:spPr>
                <a:xfrm>
                  <a:off x="48894" y="0"/>
                  <a:ext cx="528548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21" name="Oval 187"/>
              <p:cNvGrpSpPr/>
              <p:nvPr/>
            </p:nvGrpSpPr>
            <p:grpSpPr>
              <a:xfrm>
                <a:off x="360" y="-1"/>
                <a:ext cx="625581" cy="333089"/>
                <a:chOff x="0" y="0"/>
                <a:chExt cx="625580" cy="333087"/>
              </a:xfrm>
            </p:grpSpPr>
            <p:sp>
              <p:nvSpPr>
                <p:cNvPr id="6919" name="Oval"/>
                <p:cNvSpPr/>
                <p:nvPr/>
              </p:nvSpPr>
              <p:spPr>
                <a:xfrm>
                  <a:off x="0" y="54923"/>
                  <a:ext cx="625581" cy="22324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20" name="Text"/>
                <p:cNvSpPr txBox="1"/>
                <p:nvPr/>
              </p:nvSpPr>
              <p:spPr>
                <a:xfrm>
                  <a:off x="140509" y="0"/>
                  <a:ext cx="344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26" name="Group 188"/>
              <p:cNvGrpSpPr/>
              <p:nvPr/>
            </p:nvGrpSpPr>
            <p:grpSpPr>
              <a:xfrm>
                <a:off x="92891" y="83297"/>
                <a:ext cx="440439" cy="164034"/>
                <a:chOff x="0" y="0"/>
                <a:chExt cx="440438" cy="164033"/>
              </a:xfrm>
            </p:grpSpPr>
            <p:sp>
              <p:nvSpPr>
                <p:cNvPr id="6922" name="Freeform 189"/>
                <p:cNvSpPr/>
                <p:nvPr/>
              </p:nvSpPr>
              <p:spPr>
                <a:xfrm>
                  <a:off x="12182" y="0"/>
                  <a:ext cx="416647" cy="91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23" name="Freeform 190"/>
                <p:cNvSpPr/>
                <p:nvPr/>
              </p:nvSpPr>
              <p:spPr>
                <a:xfrm>
                  <a:off x="284879" y="78543"/>
                  <a:ext cx="155560" cy="790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24" name="Freeform 191"/>
                <p:cNvSpPr/>
                <p:nvPr/>
              </p:nvSpPr>
              <p:spPr>
                <a:xfrm>
                  <a:off x="-1" y="78543"/>
                  <a:ext cx="152749" cy="781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25" name="Freeform 192"/>
                <p:cNvSpPr/>
                <p:nvPr/>
              </p:nvSpPr>
              <p:spPr>
                <a:xfrm>
                  <a:off x="53026" y="39936"/>
                  <a:ext cx="332123" cy="124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939" name="Group 193"/>
            <p:cNvGrpSpPr/>
            <p:nvPr/>
          </p:nvGrpSpPr>
          <p:grpSpPr>
            <a:xfrm>
              <a:off x="4428887" y="1927071"/>
              <a:ext cx="626339" cy="453576"/>
              <a:chOff x="0" y="0"/>
              <a:chExt cx="626337" cy="453575"/>
            </a:xfrm>
          </p:grpSpPr>
          <p:grpSp>
            <p:nvGrpSpPr>
              <p:cNvPr id="6930" name="Freeform 194"/>
              <p:cNvGrpSpPr/>
              <p:nvPr/>
            </p:nvGrpSpPr>
            <p:grpSpPr>
              <a:xfrm>
                <a:off x="-1" y="120487"/>
                <a:ext cx="626339" cy="333089"/>
                <a:chOff x="0" y="0"/>
                <a:chExt cx="626337" cy="333087"/>
              </a:xfrm>
            </p:grpSpPr>
            <p:sp>
              <p:nvSpPr>
                <p:cNvPr id="6928" name="Shape"/>
                <p:cNvSpPr/>
                <p:nvPr/>
              </p:nvSpPr>
              <p:spPr>
                <a:xfrm>
                  <a:off x="0" y="53803"/>
                  <a:ext cx="626338" cy="2254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29" name="Text"/>
                <p:cNvSpPr txBox="1"/>
                <p:nvPr/>
              </p:nvSpPr>
              <p:spPr>
                <a:xfrm>
                  <a:off x="48894" y="0"/>
                  <a:ext cx="528548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33" name="Oval 195"/>
              <p:cNvGrpSpPr/>
              <p:nvPr/>
            </p:nvGrpSpPr>
            <p:grpSpPr>
              <a:xfrm>
                <a:off x="360" y="-1"/>
                <a:ext cx="625581" cy="333089"/>
                <a:chOff x="0" y="0"/>
                <a:chExt cx="625580" cy="333087"/>
              </a:xfrm>
            </p:grpSpPr>
            <p:sp>
              <p:nvSpPr>
                <p:cNvPr id="6931" name="Oval"/>
                <p:cNvSpPr/>
                <p:nvPr/>
              </p:nvSpPr>
              <p:spPr>
                <a:xfrm>
                  <a:off x="0" y="54923"/>
                  <a:ext cx="625581" cy="22324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32" name="Text"/>
                <p:cNvSpPr txBox="1"/>
                <p:nvPr/>
              </p:nvSpPr>
              <p:spPr>
                <a:xfrm>
                  <a:off x="140509" y="0"/>
                  <a:ext cx="344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38" name="Group 196"/>
              <p:cNvGrpSpPr/>
              <p:nvPr/>
            </p:nvGrpSpPr>
            <p:grpSpPr>
              <a:xfrm>
                <a:off x="92891" y="83297"/>
                <a:ext cx="440439" cy="164034"/>
                <a:chOff x="0" y="0"/>
                <a:chExt cx="440438" cy="164033"/>
              </a:xfrm>
            </p:grpSpPr>
            <p:sp>
              <p:nvSpPr>
                <p:cNvPr id="6934" name="Freeform 197"/>
                <p:cNvSpPr/>
                <p:nvPr/>
              </p:nvSpPr>
              <p:spPr>
                <a:xfrm>
                  <a:off x="12182" y="0"/>
                  <a:ext cx="416647" cy="91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35" name="Freeform 198"/>
                <p:cNvSpPr/>
                <p:nvPr/>
              </p:nvSpPr>
              <p:spPr>
                <a:xfrm>
                  <a:off x="284879" y="78543"/>
                  <a:ext cx="155560" cy="790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36" name="Freeform 199"/>
                <p:cNvSpPr/>
                <p:nvPr/>
              </p:nvSpPr>
              <p:spPr>
                <a:xfrm>
                  <a:off x="-1" y="78543"/>
                  <a:ext cx="152749" cy="781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37" name="Freeform 200"/>
                <p:cNvSpPr/>
                <p:nvPr/>
              </p:nvSpPr>
              <p:spPr>
                <a:xfrm>
                  <a:off x="53026" y="39936"/>
                  <a:ext cx="332123" cy="124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951" name="Group 201"/>
            <p:cNvGrpSpPr/>
            <p:nvPr/>
          </p:nvGrpSpPr>
          <p:grpSpPr>
            <a:xfrm>
              <a:off x="3539415" y="1684190"/>
              <a:ext cx="626339" cy="453576"/>
              <a:chOff x="0" y="0"/>
              <a:chExt cx="626337" cy="453575"/>
            </a:xfrm>
          </p:grpSpPr>
          <p:grpSp>
            <p:nvGrpSpPr>
              <p:cNvPr id="6942" name="Freeform 202"/>
              <p:cNvGrpSpPr/>
              <p:nvPr/>
            </p:nvGrpSpPr>
            <p:grpSpPr>
              <a:xfrm>
                <a:off x="-1" y="120487"/>
                <a:ext cx="626339" cy="333089"/>
                <a:chOff x="0" y="0"/>
                <a:chExt cx="626337" cy="333087"/>
              </a:xfrm>
            </p:grpSpPr>
            <p:sp>
              <p:nvSpPr>
                <p:cNvPr id="6940" name="Shape"/>
                <p:cNvSpPr/>
                <p:nvPr/>
              </p:nvSpPr>
              <p:spPr>
                <a:xfrm>
                  <a:off x="0" y="53803"/>
                  <a:ext cx="626338" cy="2254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41" name="Text"/>
                <p:cNvSpPr txBox="1"/>
                <p:nvPr/>
              </p:nvSpPr>
              <p:spPr>
                <a:xfrm>
                  <a:off x="48894" y="0"/>
                  <a:ext cx="528548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45" name="Oval 203"/>
              <p:cNvGrpSpPr/>
              <p:nvPr/>
            </p:nvGrpSpPr>
            <p:grpSpPr>
              <a:xfrm>
                <a:off x="360" y="-1"/>
                <a:ext cx="625581" cy="333089"/>
                <a:chOff x="0" y="0"/>
                <a:chExt cx="625580" cy="333087"/>
              </a:xfrm>
            </p:grpSpPr>
            <p:sp>
              <p:nvSpPr>
                <p:cNvPr id="6943" name="Oval"/>
                <p:cNvSpPr/>
                <p:nvPr/>
              </p:nvSpPr>
              <p:spPr>
                <a:xfrm>
                  <a:off x="0" y="54923"/>
                  <a:ext cx="625581" cy="22324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44" name="Text"/>
                <p:cNvSpPr txBox="1"/>
                <p:nvPr/>
              </p:nvSpPr>
              <p:spPr>
                <a:xfrm>
                  <a:off x="140509" y="0"/>
                  <a:ext cx="344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50" name="Group 204"/>
              <p:cNvGrpSpPr/>
              <p:nvPr/>
            </p:nvGrpSpPr>
            <p:grpSpPr>
              <a:xfrm>
                <a:off x="92891" y="83297"/>
                <a:ext cx="440439" cy="164034"/>
                <a:chOff x="0" y="0"/>
                <a:chExt cx="440438" cy="164033"/>
              </a:xfrm>
            </p:grpSpPr>
            <p:sp>
              <p:nvSpPr>
                <p:cNvPr id="6946" name="Freeform 205"/>
                <p:cNvSpPr/>
                <p:nvPr/>
              </p:nvSpPr>
              <p:spPr>
                <a:xfrm>
                  <a:off x="12182" y="0"/>
                  <a:ext cx="416647" cy="91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47" name="Freeform 206"/>
                <p:cNvSpPr/>
                <p:nvPr/>
              </p:nvSpPr>
              <p:spPr>
                <a:xfrm>
                  <a:off x="284879" y="78543"/>
                  <a:ext cx="155560" cy="790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48" name="Freeform 207"/>
                <p:cNvSpPr/>
                <p:nvPr/>
              </p:nvSpPr>
              <p:spPr>
                <a:xfrm>
                  <a:off x="-1" y="78543"/>
                  <a:ext cx="152749" cy="781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49" name="Freeform 208"/>
                <p:cNvSpPr/>
                <p:nvPr/>
              </p:nvSpPr>
              <p:spPr>
                <a:xfrm>
                  <a:off x="53026" y="39936"/>
                  <a:ext cx="332123" cy="124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963" name="Group 209"/>
            <p:cNvGrpSpPr/>
            <p:nvPr/>
          </p:nvGrpSpPr>
          <p:grpSpPr>
            <a:xfrm>
              <a:off x="3252547" y="2217238"/>
              <a:ext cx="626339" cy="453576"/>
              <a:chOff x="0" y="0"/>
              <a:chExt cx="626337" cy="453575"/>
            </a:xfrm>
          </p:grpSpPr>
          <p:grpSp>
            <p:nvGrpSpPr>
              <p:cNvPr id="6954" name="Freeform 210"/>
              <p:cNvGrpSpPr/>
              <p:nvPr/>
            </p:nvGrpSpPr>
            <p:grpSpPr>
              <a:xfrm>
                <a:off x="-1" y="120487"/>
                <a:ext cx="626339" cy="333089"/>
                <a:chOff x="0" y="0"/>
                <a:chExt cx="626337" cy="333087"/>
              </a:xfrm>
            </p:grpSpPr>
            <p:sp>
              <p:nvSpPr>
                <p:cNvPr id="6952" name="Shape"/>
                <p:cNvSpPr/>
                <p:nvPr/>
              </p:nvSpPr>
              <p:spPr>
                <a:xfrm>
                  <a:off x="0" y="53803"/>
                  <a:ext cx="626338" cy="2254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53" name="Text"/>
                <p:cNvSpPr txBox="1"/>
                <p:nvPr/>
              </p:nvSpPr>
              <p:spPr>
                <a:xfrm>
                  <a:off x="48894" y="0"/>
                  <a:ext cx="528548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57" name="Oval 211"/>
              <p:cNvGrpSpPr/>
              <p:nvPr/>
            </p:nvGrpSpPr>
            <p:grpSpPr>
              <a:xfrm>
                <a:off x="360" y="-1"/>
                <a:ext cx="625581" cy="333089"/>
                <a:chOff x="0" y="0"/>
                <a:chExt cx="625580" cy="333087"/>
              </a:xfrm>
            </p:grpSpPr>
            <p:sp>
              <p:nvSpPr>
                <p:cNvPr id="6955" name="Oval"/>
                <p:cNvSpPr/>
                <p:nvPr/>
              </p:nvSpPr>
              <p:spPr>
                <a:xfrm>
                  <a:off x="0" y="54923"/>
                  <a:ext cx="625581" cy="22324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56" name="Text"/>
                <p:cNvSpPr txBox="1"/>
                <p:nvPr/>
              </p:nvSpPr>
              <p:spPr>
                <a:xfrm>
                  <a:off x="140509" y="0"/>
                  <a:ext cx="344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62" name="Group 212"/>
              <p:cNvGrpSpPr/>
              <p:nvPr/>
            </p:nvGrpSpPr>
            <p:grpSpPr>
              <a:xfrm>
                <a:off x="92891" y="83297"/>
                <a:ext cx="440439" cy="164034"/>
                <a:chOff x="0" y="0"/>
                <a:chExt cx="440438" cy="164033"/>
              </a:xfrm>
            </p:grpSpPr>
            <p:sp>
              <p:nvSpPr>
                <p:cNvPr id="6958" name="Freeform 213"/>
                <p:cNvSpPr/>
                <p:nvPr/>
              </p:nvSpPr>
              <p:spPr>
                <a:xfrm>
                  <a:off x="12182" y="0"/>
                  <a:ext cx="416647" cy="91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59" name="Freeform 214"/>
                <p:cNvSpPr/>
                <p:nvPr/>
              </p:nvSpPr>
              <p:spPr>
                <a:xfrm>
                  <a:off x="284879" y="78543"/>
                  <a:ext cx="155560" cy="790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60" name="Freeform 215"/>
                <p:cNvSpPr/>
                <p:nvPr/>
              </p:nvSpPr>
              <p:spPr>
                <a:xfrm>
                  <a:off x="-1" y="78543"/>
                  <a:ext cx="152749" cy="781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61" name="Freeform 216"/>
                <p:cNvSpPr/>
                <p:nvPr/>
              </p:nvSpPr>
              <p:spPr>
                <a:xfrm>
                  <a:off x="53026" y="39936"/>
                  <a:ext cx="332123" cy="124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975" name="Group 217"/>
            <p:cNvGrpSpPr/>
            <p:nvPr/>
          </p:nvGrpSpPr>
          <p:grpSpPr>
            <a:xfrm>
              <a:off x="2664586" y="1767470"/>
              <a:ext cx="626339" cy="453576"/>
              <a:chOff x="0" y="0"/>
              <a:chExt cx="626337" cy="453575"/>
            </a:xfrm>
          </p:grpSpPr>
          <p:grpSp>
            <p:nvGrpSpPr>
              <p:cNvPr id="6966" name="Freeform 218"/>
              <p:cNvGrpSpPr/>
              <p:nvPr/>
            </p:nvGrpSpPr>
            <p:grpSpPr>
              <a:xfrm>
                <a:off x="-1" y="120487"/>
                <a:ext cx="626339" cy="333089"/>
                <a:chOff x="0" y="0"/>
                <a:chExt cx="626337" cy="333087"/>
              </a:xfrm>
            </p:grpSpPr>
            <p:sp>
              <p:nvSpPr>
                <p:cNvPr id="6964" name="Shape"/>
                <p:cNvSpPr/>
                <p:nvPr/>
              </p:nvSpPr>
              <p:spPr>
                <a:xfrm>
                  <a:off x="0" y="53803"/>
                  <a:ext cx="626338" cy="2254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65" name="Text"/>
                <p:cNvSpPr txBox="1"/>
                <p:nvPr/>
              </p:nvSpPr>
              <p:spPr>
                <a:xfrm>
                  <a:off x="48894" y="0"/>
                  <a:ext cx="528548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69" name="Oval 219"/>
              <p:cNvGrpSpPr/>
              <p:nvPr/>
            </p:nvGrpSpPr>
            <p:grpSpPr>
              <a:xfrm>
                <a:off x="360" y="-1"/>
                <a:ext cx="625581" cy="333089"/>
                <a:chOff x="0" y="0"/>
                <a:chExt cx="625580" cy="333087"/>
              </a:xfrm>
            </p:grpSpPr>
            <p:sp>
              <p:nvSpPr>
                <p:cNvPr id="6967" name="Oval"/>
                <p:cNvSpPr/>
                <p:nvPr/>
              </p:nvSpPr>
              <p:spPr>
                <a:xfrm>
                  <a:off x="0" y="54923"/>
                  <a:ext cx="625581" cy="22324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68" name="Text"/>
                <p:cNvSpPr txBox="1"/>
                <p:nvPr/>
              </p:nvSpPr>
              <p:spPr>
                <a:xfrm>
                  <a:off x="140509" y="0"/>
                  <a:ext cx="344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74" name="Group 220"/>
              <p:cNvGrpSpPr/>
              <p:nvPr/>
            </p:nvGrpSpPr>
            <p:grpSpPr>
              <a:xfrm>
                <a:off x="92891" y="83297"/>
                <a:ext cx="440439" cy="164034"/>
                <a:chOff x="0" y="0"/>
                <a:chExt cx="440438" cy="164033"/>
              </a:xfrm>
            </p:grpSpPr>
            <p:sp>
              <p:nvSpPr>
                <p:cNvPr id="6970" name="Freeform 221"/>
                <p:cNvSpPr/>
                <p:nvPr/>
              </p:nvSpPr>
              <p:spPr>
                <a:xfrm>
                  <a:off x="12182" y="0"/>
                  <a:ext cx="416647" cy="91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71" name="Freeform 222"/>
                <p:cNvSpPr/>
                <p:nvPr/>
              </p:nvSpPr>
              <p:spPr>
                <a:xfrm>
                  <a:off x="284879" y="78543"/>
                  <a:ext cx="155560" cy="790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72" name="Freeform 223"/>
                <p:cNvSpPr/>
                <p:nvPr/>
              </p:nvSpPr>
              <p:spPr>
                <a:xfrm>
                  <a:off x="-1" y="78543"/>
                  <a:ext cx="152749" cy="781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73" name="Freeform 224"/>
                <p:cNvSpPr/>
                <p:nvPr/>
              </p:nvSpPr>
              <p:spPr>
                <a:xfrm>
                  <a:off x="53026" y="39936"/>
                  <a:ext cx="332123" cy="124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grpSp>
          <p:nvGrpSpPr>
            <p:cNvPr id="6987" name="Group 225"/>
            <p:cNvGrpSpPr/>
            <p:nvPr/>
          </p:nvGrpSpPr>
          <p:grpSpPr>
            <a:xfrm>
              <a:off x="2945536" y="1363074"/>
              <a:ext cx="626339" cy="453576"/>
              <a:chOff x="0" y="0"/>
              <a:chExt cx="626337" cy="453575"/>
            </a:xfrm>
          </p:grpSpPr>
          <p:grpSp>
            <p:nvGrpSpPr>
              <p:cNvPr id="6978" name="Freeform 226"/>
              <p:cNvGrpSpPr/>
              <p:nvPr/>
            </p:nvGrpSpPr>
            <p:grpSpPr>
              <a:xfrm>
                <a:off x="-1" y="120487"/>
                <a:ext cx="626339" cy="333089"/>
                <a:chOff x="0" y="0"/>
                <a:chExt cx="626337" cy="333087"/>
              </a:xfrm>
            </p:grpSpPr>
            <p:sp>
              <p:nvSpPr>
                <p:cNvPr id="6976" name="Shape"/>
                <p:cNvSpPr/>
                <p:nvPr/>
              </p:nvSpPr>
              <p:spPr>
                <a:xfrm>
                  <a:off x="0" y="53803"/>
                  <a:ext cx="626338" cy="2254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77" name="Text"/>
                <p:cNvSpPr txBox="1"/>
                <p:nvPr/>
              </p:nvSpPr>
              <p:spPr>
                <a:xfrm>
                  <a:off x="48894" y="0"/>
                  <a:ext cx="528548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81" name="Oval 227"/>
              <p:cNvGrpSpPr/>
              <p:nvPr/>
            </p:nvGrpSpPr>
            <p:grpSpPr>
              <a:xfrm>
                <a:off x="360" y="-1"/>
                <a:ext cx="625581" cy="333089"/>
                <a:chOff x="0" y="0"/>
                <a:chExt cx="625580" cy="333087"/>
              </a:xfrm>
            </p:grpSpPr>
            <p:sp>
              <p:nvSpPr>
                <p:cNvPr id="6979" name="Oval"/>
                <p:cNvSpPr/>
                <p:nvPr/>
              </p:nvSpPr>
              <p:spPr>
                <a:xfrm>
                  <a:off x="0" y="54923"/>
                  <a:ext cx="625581" cy="22324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80" name="Text"/>
                <p:cNvSpPr txBox="1"/>
                <p:nvPr/>
              </p:nvSpPr>
              <p:spPr>
                <a:xfrm>
                  <a:off x="140509" y="0"/>
                  <a:ext cx="344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86" name="Group 228"/>
              <p:cNvGrpSpPr/>
              <p:nvPr/>
            </p:nvGrpSpPr>
            <p:grpSpPr>
              <a:xfrm>
                <a:off x="92891" y="83297"/>
                <a:ext cx="440439" cy="164034"/>
                <a:chOff x="0" y="0"/>
                <a:chExt cx="440438" cy="164033"/>
              </a:xfrm>
            </p:grpSpPr>
            <p:sp>
              <p:nvSpPr>
                <p:cNvPr id="6982" name="Freeform 229"/>
                <p:cNvSpPr/>
                <p:nvPr/>
              </p:nvSpPr>
              <p:spPr>
                <a:xfrm>
                  <a:off x="12182" y="0"/>
                  <a:ext cx="416647" cy="91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83" name="Freeform 230"/>
                <p:cNvSpPr/>
                <p:nvPr/>
              </p:nvSpPr>
              <p:spPr>
                <a:xfrm>
                  <a:off x="284879" y="78543"/>
                  <a:ext cx="155560" cy="790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84" name="Freeform 231"/>
                <p:cNvSpPr/>
                <p:nvPr/>
              </p:nvSpPr>
              <p:spPr>
                <a:xfrm>
                  <a:off x="-1" y="78543"/>
                  <a:ext cx="152749" cy="781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85" name="Freeform 232"/>
                <p:cNvSpPr/>
                <p:nvPr/>
              </p:nvSpPr>
              <p:spPr>
                <a:xfrm>
                  <a:off x="53026" y="39936"/>
                  <a:ext cx="332123" cy="124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sp>
          <p:nvSpPr>
            <p:cNvPr id="6988" name="Straight Connector 318"/>
            <p:cNvSpPr/>
            <p:nvPr/>
          </p:nvSpPr>
          <p:spPr>
            <a:xfrm flipH="1">
              <a:off x="2584938" y="-1"/>
              <a:ext cx="105898" cy="112661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7000" name="Group 177"/>
            <p:cNvGrpSpPr/>
            <p:nvPr/>
          </p:nvGrpSpPr>
          <p:grpSpPr>
            <a:xfrm>
              <a:off x="2272659" y="989433"/>
              <a:ext cx="626339" cy="453576"/>
              <a:chOff x="0" y="0"/>
              <a:chExt cx="626337" cy="453575"/>
            </a:xfrm>
          </p:grpSpPr>
          <p:grpSp>
            <p:nvGrpSpPr>
              <p:cNvPr id="6991" name="Freeform 178"/>
              <p:cNvGrpSpPr/>
              <p:nvPr/>
            </p:nvGrpSpPr>
            <p:grpSpPr>
              <a:xfrm>
                <a:off x="-1" y="120487"/>
                <a:ext cx="626339" cy="333089"/>
                <a:chOff x="0" y="0"/>
                <a:chExt cx="626337" cy="333087"/>
              </a:xfrm>
            </p:grpSpPr>
            <p:sp>
              <p:nvSpPr>
                <p:cNvPr id="6989" name="Shape"/>
                <p:cNvSpPr/>
                <p:nvPr/>
              </p:nvSpPr>
              <p:spPr>
                <a:xfrm>
                  <a:off x="0" y="53803"/>
                  <a:ext cx="626338" cy="2254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3" h="21598" fill="norm" stroke="1" extrusionOk="0">
                      <a:moveTo>
                        <a:pt x="21591" y="51"/>
                      </a:moveTo>
                      <a:lnTo>
                        <a:pt x="21593" y="11403"/>
                      </a:lnTo>
                      <a:cubicBezTo>
                        <a:pt x="20935" y="19011"/>
                        <a:pt x="14479" y="21600"/>
                        <a:pt x="10884" y="21598"/>
                      </a:cubicBezTo>
                      <a:cubicBezTo>
                        <a:pt x="7289" y="21596"/>
                        <a:pt x="649" y="19123"/>
                        <a:pt x="23" y="11390"/>
                      </a:cubicBezTo>
                      <a:cubicBezTo>
                        <a:pt x="32" y="8472"/>
                        <a:pt x="-7" y="2919"/>
                        <a:pt x="1" y="0"/>
                      </a:cubicBezTo>
                      <a:cubicBezTo>
                        <a:pt x="1019" y="6646"/>
                        <a:pt x="7140" y="10014"/>
                        <a:pt x="10738" y="10023"/>
                      </a:cubicBezTo>
                      <a:cubicBezTo>
                        <a:pt x="14336" y="10031"/>
                        <a:pt x="20606" y="7591"/>
                        <a:pt x="21591" y="5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B8C2C9"/>
                    </a:gs>
                    <a:gs pos="21000">
                      <a:srgbClr val="FFFFFF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90" name="Text"/>
                <p:cNvSpPr txBox="1"/>
                <p:nvPr/>
              </p:nvSpPr>
              <p:spPr>
                <a:xfrm>
                  <a:off x="48894" y="0"/>
                  <a:ext cx="528548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     </a:t>
                  </a:r>
                </a:p>
              </p:txBody>
            </p:sp>
          </p:grpSp>
          <p:grpSp>
            <p:nvGrpSpPr>
              <p:cNvPr id="6994" name="Oval 179"/>
              <p:cNvGrpSpPr/>
              <p:nvPr/>
            </p:nvGrpSpPr>
            <p:grpSpPr>
              <a:xfrm>
                <a:off x="360" y="-1"/>
                <a:ext cx="625581" cy="333089"/>
                <a:chOff x="0" y="0"/>
                <a:chExt cx="625580" cy="333087"/>
              </a:xfrm>
            </p:grpSpPr>
            <p:sp>
              <p:nvSpPr>
                <p:cNvPr id="6992" name="Oval"/>
                <p:cNvSpPr/>
                <p:nvPr/>
              </p:nvSpPr>
              <p:spPr>
                <a:xfrm>
                  <a:off x="0" y="54923"/>
                  <a:ext cx="625581" cy="223241"/>
                </a:xfrm>
                <a:prstGeom prst="ellipse">
                  <a:avLst/>
                </a:prstGeom>
                <a:solidFill>
                  <a:srgbClr val="B8C2C9"/>
                </a:solidFill>
                <a:ln w="635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93" name="Text"/>
                <p:cNvSpPr txBox="1"/>
                <p:nvPr/>
              </p:nvSpPr>
              <p:spPr>
                <a:xfrm>
                  <a:off x="140509" y="0"/>
                  <a:ext cx="344562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              </a:t>
                  </a:r>
                </a:p>
              </p:txBody>
            </p:sp>
          </p:grpSp>
          <p:grpSp>
            <p:nvGrpSpPr>
              <p:cNvPr id="6999" name="Group 180"/>
              <p:cNvGrpSpPr/>
              <p:nvPr/>
            </p:nvGrpSpPr>
            <p:grpSpPr>
              <a:xfrm>
                <a:off x="92891" y="83297"/>
                <a:ext cx="440439" cy="164034"/>
                <a:chOff x="0" y="0"/>
                <a:chExt cx="440438" cy="164033"/>
              </a:xfrm>
            </p:grpSpPr>
            <p:sp>
              <p:nvSpPr>
                <p:cNvPr id="6995" name="Freeform 181"/>
                <p:cNvSpPr/>
                <p:nvPr/>
              </p:nvSpPr>
              <p:spPr>
                <a:xfrm>
                  <a:off x="12182" y="0"/>
                  <a:ext cx="416647" cy="918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7365" y="0"/>
                      </a:moveTo>
                      <a:lnTo>
                        <a:pt x="21600" y="4925"/>
                      </a:lnTo>
                      <a:lnTo>
                        <a:pt x="18461" y="11148"/>
                      </a:lnTo>
                      <a:lnTo>
                        <a:pt x="17638" y="9623"/>
                      </a:lnTo>
                      <a:lnTo>
                        <a:pt x="10634" y="21600"/>
                      </a:lnTo>
                      <a:lnTo>
                        <a:pt x="4216" y="9406"/>
                      </a:lnTo>
                      <a:lnTo>
                        <a:pt x="2885" y="11148"/>
                      </a:lnTo>
                      <a:lnTo>
                        <a:pt x="0" y="5658"/>
                      </a:lnTo>
                      <a:lnTo>
                        <a:pt x="4216" y="348"/>
                      </a:lnTo>
                      <a:lnTo>
                        <a:pt x="10742" y="12674"/>
                      </a:lnTo>
                      <a:lnTo>
                        <a:pt x="17365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96" name="Freeform 182"/>
                <p:cNvSpPr/>
                <p:nvPr/>
              </p:nvSpPr>
              <p:spPr>
                <a:xfrm>
                  <a:off x="284879" y="78543"/>
                  <a:ext cx="155560" cy="790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60" y="0"/>
                      </a:moveTo>
                      <a:lnTo>
                        <a:pt x="21600" y="16577"/>
                      </a:lnTo>
                      <a:lnTo>
                        <a:pt x="14183" y="21600"/>
                      </a:lnTo>
                      <a:lnTo>
                        <a:pt x="0" y="1080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97" name="Freeform 183"/>
                <p:cNvSpPr/>
                <p:nvPr/>
              </p:nvSpPr>
              <p:spPr>
                <a:xfrm>
                  <a:off x="-1" y="78543"/>
                  <a:ext cx="152749" cy="781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467" y="0"/>
                      </a:moveTo>
                      <a:lnTo>
                        <a:pt x="21600" y="11435"/>
                      </a:lnTo>
                      <a:lnTo>
                        <a:pt x="7288" y="21600"/>
                      </a:lnTo>
                      <a:lnTo>
                        <a:pt x="0" y="16772"/>
                      </a:lnTo>
                      <a:lnTo>
                        <a:pt x="21467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98" name="Freeform 184"/>
                <p:cNvSpPr/>
                <p:nvPr/>
              </p:nvSpPr>
              <p:spPr>
                <a:xfrm>
                  <a:off x="53026" y="39936"/>
                  <a:ext cx="332123" cy="1240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939" y="1120"/>
                      </a:moveTo>
                      <a:lnTo>
                        <a:pt x="2585" y="0"/>
                      </a:lnTo>
                      <a:lnTo>
                        <a:pt x="10744" y="9007"/>
                      </a:lnTo>
                      <a:lnTo>
                        <a:pt x="19467" y="0"/>
                      </a:lnTo>
                      <a:lnTo>
                        <a:pt x="20747" y="1120"/>
                      </a:lnTo>
                      <a:lnTo>
                        <a:pt x="15265" y="6833"/>
                      </a:lnTo>
                      <a:lnTo>
                        <a:pt x="15222" y="13740"/>
                      </a:lnTo>
                      <a:lnTo>
                        <a:pt x="21600" y="20480"/>
                      </a:lnTo>
                      <a:lnTo>
                        <a:pt x="19954" y="21440"/>
                      </a:lnTo>
                      <a:lnTo>
                        <a:pt x="10813" y="11360"/>
                      </a:lnTo>
                      <a:lnTo>
                        <a:pt x="1488" y="21600"/>
                      </a:lnTo>
                      <a:lnTo>
                        <a:pt x="0" y="20263"/>
                      </a:lnTo>
                      <a:lnTo>
                        <a:pt x="6457" y="13760"/>
                      </a:lnTo>
                      <a:cubicBezTo>
                        <a:pt x="6457" y="11573"/>
                        <a:pt x="6392" y="9067"/>
                        <a:pt x="6392" y="6880"/>
                      </a:cubicBezTo>
                      <a:lnTo>
                        <a:pt x="1061" y="1280"/>
                      </a:lnTo>
                      <a:cubicBezTo>
                        <a:pt x="153" y="320"/>
                        <a:pt x="980" y="1173"/>
                        <a:pt x="939" y="1120"/>
                      </a:cubicBezTo>
                      <a:close/>
                    </a:path>
                  </a:pathLst>
                </a:custGeom>
                <a:solidFill>
                  <a:srgbClr val="8FAADC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</p:grpSp>
      <p:grpSp>
        <p:nvGrpSpPr>
          <p:cNvPr id="7056" name="Group 5"/>
          <p:cNvGrpSpPr/>
          <p:nvPr/>
        </p:nvGrpSpPr>
        <p:grpSpPr>
          <a:xfrm>
            <a:off x="1594998" y="1861776"/>
            <a:ext cx="8420227" cy="4670018"/>
            <a:chOff x="0" y="0"/>
            <a:chExt cx="8420225" cy="4670017"/>
          </a:xfrm>
        </p:grpSpPr>
        <p:grpSp>
          <p:nvGrpSpPr>
            <p:cNvPr id="7004" name="Group 2"/>
            <p:cNvGrpSpPr/>
            <p:nvPr/>
          </p:nvGrpSpPr>
          <p:grpSpPr>
            <a:xfrm>
              <a:off x="1402445" y="450341"/>
              <a:ext cx="603417" cy="412924"/>
              <a:chOff x="0" y="0"/>
              <a:chExt cx="603416" cy="412922"/>
            </a:xfrm>
          </p:grpSpPr>
          <p:sp>
            <p:nvSpPr>
              <p:cNvPr id="7002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03" name="TextBox 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07" name="Group 131"/>
            <p:cNvGrpSpPr/>
            <p:nvPr/>
          </p:nvGrpSpPr>
          <p:grpSpPr>
            <a:xfrm>
              <a:off x="246589" y="1250380"/>
              <a:ext cx="603418" cy="412923"/>
              <a:chOff x="0" y="0"/>
              <a:chExt cx="603416" cy="412922"/>
            </a:xfrm>
          </p:grpSpPr>
          <p:sp>
            <p:nvSpPr>
              <p:cNvPr id="700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06" name="TextBox 13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10" name="Group 135"/>
            <p:cNvGrpSpPr/>
            <p:nvPr/>
          </p:nvGrpSpPr>
          <p:grpSpPr>
            <a:xfrm>
              <a:off x="5911552" y="704322"/>
              <a:ext cx="603417" cy="412923"/>
              <a:chOff x="0" y="0"/>
              <a:chExt cx="603416" cy="412922"/>
            </a:xfrm>
          </p:grpSpPr>
          <p:sp>
            <p:nvSpPr>
              <p:cNvPr id="700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09" name="TextBox 13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13" name="Group 138"/>
            <p:cNvGrpSpPr/>
            <p:nvPr/>
          </p:nvGrpSpPr>
          <p:grpSpPr>
            <a:xfrm>
              <a:off x="818166" y="3561602"/>
              <a:ext cx="603418" cy="412923"/>
              <a:chOff x="0" y="0"/>
              <a:chExt cx="603416" cy="412922"/>
            </a:xfrm>
          </p:grpSpPr>
          <p:sp>
            <p:nvSpPr>
              <p:cNvPr id="701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12" name="TextBox 140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16" name="Group 141"/>
            <p:cNvGrpSpPr/>
            <p:nvPr/>
          </p:nvGrpSpPr>
          <p:grpSpPr>
            <a:xfrm>
              <a:off x="399010" y="2939350"/>
              <a:ext cx="603417" cy="412923"/>
              <a:chOff x="0" y="0"/>
              <a:chExt cx="603416" cy="412922"/>
            </a:xfrm>
          </p:grpSpPr>
          <p:sp>
            <p:nvSpPr>
              <p:cNvPr id="701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15" name="TextBox 14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19" name="Group 144"/>
            <p:cNvGrpSpPr/>
            <p:nvPr/>
          </p:nvGrpSpPr>
          <p:grpSpPr>
            <a:xfrm>
              <a:off x="170379" y="2279000"/>
              <a:ext cx="603417" cy="412924"/>
              <a:chOff x="0" y="0"/>
              <a:chExt cx="603416" cy="412922"/>
            </a:xfrm>
          </p:grpSpPr>
          <p:sp>
            <p:nvSpPr>
              <p:cNvPr id="701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18" name="TextBox 146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22" name="Group 147"/>
            <p:cNvGrpSpPr/>
            <p:nvPr/>
          </p:nvGrpSpPr>
          <p:grpSpPr>
            <a:xfrm>
              <a:off x="6660953" y="1136088"/>
              <a:ext cx="603417" cy="412924"/>
              <a:chOff x="0" y="0"/>
              <a:chExt cx="603416" cy="412922"/>
            </a:xfrm>
          </p:grpSpPr>
          <p:sp>
            <p:nvSpPr>
              <p:cNvPr id="7020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21" name="TextBox 149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25" name="Group 150"/>
            <p:cNvGrpSpPr/>
            <p:nvPr/>
          </p:nvGrpSpPr>
          <p:grpSpPr>
            <a:xfrm>
              <a:off x="3002860" y="209060"/>
              <a:ext cx="603418" cy="412923"/>
              <a:chOff x="0" y="0"/>
              <a:chExt cx="603416" cy="412922"/>
            </a:xfrm>
          </p:grpSpPr>
          <p:sp>
            <p:nvSpPr>
              <p:cNvPr id="7023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24" name="TextBox 15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28" name="Group 153"/>
            <p:cNvGrpSpPr/>
            <p:nvPr/>
          </p:nvGrpSpPr>
          <p:grpSpPr>
            <a:xfrm>
              <a:off x="627640" y="856710"/>
              <a:ext cx="603418" cy="412923"/>
              <a:chOff x="0" y="0"/>
              <a:chExt cx="603416" cy="412922"/>
            </a:xfrm>
          </p:grpSpPr>
          <p:sp>
            <p:nvSpPr>
              <p:cNvPr id="7026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27" name="TextBox 15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31" name="Group 156"/>
            <p:cNvGrpSpPr/>
            <p:nvPr/>
          </p:nvGrpSpPr>
          <p:grpSpPr>
            <a:xfrm>
              <a:off x="3917383" y="183662"/>
              <a:ext cx="603418" cy="412923"/>
              <a:chOff x="0" y="0"/>
              <a:chExt cx="603416" cy="412922"/>
            </a:xfrm>
          </p:grpSpPr>
          <p:sp>
            <p:nvSpPr>
              <p:cNvPr id="7029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30" name="TextBox 15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34" name="Group 160"/>
            <p:cNvGrpSpPr/>
            <p:nvPr/>
          </p:nvGrpSpPr>
          <p:grpSpPr>
            <a:xfrm>
              <a:off x="6978495" y="3815582"/>
              <a:ext cx="603418" cy="412924"/>
              <a:chOff x="0" y="0"/>
              <a:chExt cx="603416" cy="412922"/>
            </a:xfrm>
          </p:grpSpPr>
          <p:sp>
            <p:nvSpPr>
              <p:cNvPr id="7032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33" name="TextBox 16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37" name="Group 163"/>
            <p:cNvGrpSpPr/>
            <p:nvPr/>
          </p:nvGrpSpPr>
          <p:grpSpPr>
            <a:xfrm>
              <a:off x="7816808" y="3167932"/>
              <a:ext cx="603418" cy="412923"/>
              <a:chOff x="0" y="0"/>
              <a:chExt cx="603416" cy="412922"/>
            </a:xfrm>
          </p:grpSpPr>
          <p:sp>
            <p:nvSpPr>
              <p:cNvPr id="703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36" name="TextBox 16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40" name="Group 166"/>
            <p:cNvGrpSpPr/>
            <p:nvPr/>
          </p:nvGrpSpPr>
          <p:grpSpPr>
            <a:xfrm>
              <a:off x="7588178" y="2253602"/>
              <a:ext cx="603417" cy="412924"/>
              <a:chOff x="0" y="0"/>
              <a:chExt cx="603416" cy="412922"/>
            </a:xfrm>
          </p:grpSpPr>
          <p:sp>
            <p:nvSpPr>
              <p:cNvPr id="703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39" name="TextBox 16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43" name="Group 169"/>
            <p:cNvGrpSpPr/>
            <p:nvPr/>
          </p:nvGrpSpPr>
          <p:grpSpPr>
            <a:xfrm>
              <a:off x="4742994" y="4056864"/>
              <a:ext cx="603418" cy="412923"/>
              <a:chOff x="0" y="0"/>
              <a:chExt cx="603416" cy="412922"/>
            </a:xfrm>
          </p:grpSpPr>
          <p:sp>
            <p:nvSpPr>
              <p:cNvPr id="704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42" name="TextBox 17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46" name="Group 172"/>
            <p:cNvGrpSpPr/>
            <p:nvPr/>
          </p:nvGrpSpPr>
          <p:grpSpPr>
            <a:xfrm>
              <a:off x="3828471" y="4196553"/>
              <a:ext cx="603418" cy="412923"/>
              <a:chOff x="0" y="0"/>
              <a:chExt cx="603416" cy="412922"/>
            </a:xfrm>
          </p:grpSpPr>
          <p:sp>
            <p:nvSpPr>
              <p:cNvPr id="704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45" name="TextBox 174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049" name="Group 175"/>
            <p:cNvGrpSpPr/>
            <p:nvPr/>
          </p:nvGrpSpPr>
          <p:grpSpPr>
            <a:xfrm>
              <a:off x="2609107" y="4044165"/>
              <a:ext cx="603418" cy="412923"/>
              <a:chOff x="0" y="0"/>
              <a:chExt cx="603416" cy="412922"/>
            </a:xfrm>
          </p:grpSpPr>
          <p:sp>
            <p:nvSpPr>
              <p:cNvPr id="704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048" name="TextBox 17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sp>
          <p:nvSpPr>
            <p:cNvPr id="7050" name="TextBox 4"/>
            <p:cNvSpPr txBox="1"/>
            <p:nvPr/>
          </p:nvSpPr>
          <p:spPr>
            <a:xfrm rot="1053502">
              <a:off x="5065301" y="10882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051" name="TextBox 179"/>
            <p:cNvSpPr txBox="1"/>
            <p:nvPr/>
          </p:nvSpPr>
          <p:spPr>
            <a:xfrm rot="2829263">
              <a:off x="7358658" y="1588559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052" name="TextBox 180"/>
            <p:cNvSpPr txBox="1"/>
            <p:nvPr/>
          </p:nvSpPr>
          <p:spPr>
            <a:xfrm rot="9845918">
              <a:off x="6012603" y="4130132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053" name="TextBox 181"/>
            <p:cNvSpPr txBox="1"/>
            <p:nvPr/>
          </p:nvSpPr>
          <p:spPr>
            <a:xfrm rot="11651262">
              <a:off x="1634935" y="4031728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054" name="TextBox 182"/>
            <p:cNvSpPr txBox="1"/>
            <p:nvPr/>
          </p:nvSpPr>
          <p:spPr>
            <a:xfrm rot="16607303">
              <a:off x="38700" y="170253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055" name="TextBox 183"/>
            <p:cNvSpPr txBox="1"/>
            <p:nvPr/>
          </p:nvSpPr>
          <p:spPr>
            <a:xfrm rot="20582737">
              <a:off x="2240842" y="56466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</p:grpSp>
      <p:sp>
        <p:nvSpPr>
          <p:cNvPr id="7057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7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001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9" name="Oval 3"/>
          <p:cNvSpPr/>
          <p:nvPr/>
        </p:nvSpPr>
        <p:spPr>
          <a:xfrm>
            <a:off x="2884399" y="2782790"/>
            <a:ext cx="3475039" cy="1381128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060" name="Straight Connector 10"/>
          <p:cNvSpPr/>
          <p:nvPr/>
        </p:nvSpPr>
        <p:spPr>
          <a:xfrm>
            <a:off x="4108363" y="3025677"/>
            <a:ext cx="1146176" cy="730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1" name="Straight Connector 297"/>
          <p:cNvSpPr/>
          <p:nvPr/>
        </p:nvSpPr>
        <p:spPr>
          <a:xfrm>
            <a:off x="4702088" y="3325715"/>
            <a:ext cx="130176" cy="841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2" name="Straight Connector 298"/>
          <p:cNvSpPr/>
          <p:nvPr/>
        </p:nvSpPr>
        <p:spPr>
          <a:xfrm flipV="1">
            <a:off x="4486188" y="3530503"/>
            <a:ext cx="263526" cy="4603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3" name="Straight Connector 299"/>
          <p:cNvSpPr/>
          <p:nvPr/>
        </p:nvSpPr>
        <p:spPr>
          <a:xfrm flipV="1">
            <a:off x="4165513" y="3354290"/>
            <a:ext cx="209551" cy="1095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4" name="Straight Connector 300"/>
          <p:cNvSpPr/>
          <p:nvPr/>
        </p:nvSpPr>
        <p:spPr>
          <a:xfrm flipV="1">
            <a:off x="3827374" y="3654328"/>
            <a:ext cx="222251" cy="984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5" name="Straight Connector 301"/>
          <p:cNvSpPr/>
          <p:nvPr/>
        </p:nvSpPr>
        <p:spPr>
          <a:xfrm flipV="1">
            <a:off x="4719549" y="3579715"/>
            <a:ext cx="273051" cy="25400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6" name="Straight Connector 302"/>
          <p:cNvSpPr/>
          <p:nvPr/>
        </p:nvSpPr>
        <p:spPr>
          <a:xfrm flipH="1" flipV="1">
            <a:off x="5251363" y="3565428"/>
            <a:ext cx="387351" cy="1254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7" name="Straight Connector 303"/>
          <p:cNvSpPr/>
          <p:nvPr/>
        </p:nvSpPr>
        <p:spPr>
          <a:xfrm flipV="1">
            <a:off x="5237074" y="3216177"/>
            <a:ext cx="307976" cy="19843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8" name="Straight Connector 304"/>
          <p:cNvSpPr/>
          <p:nvPr/>
        </p:nvSpPr>
        <p:spPr>
          <a:xfrm flipH="1" flipV="1">
            <a:off x="4109949" y="3086002"/>
            <a:ext cx="246064" cy="873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9" name="TextBox 39958"/>
          <p:cNvSpPr txBox="1"/>
          <p:nvPr/>
        </p:nvSpPr>
        <p:spPr>
          <a:xfrm>
            <a:off x="3090457" y="3127277"/>
            <a:ext cx="721481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A</a:t>
            </a:r>
          </a:p>
        </p:txBody>
      </p:sp>
      <p:grpSp>
        <p:nvGrpSpPr>
          <p:cNvPr id="7081" name="Group 814"/>
          <p:cNvGrpSpPr/>
          <p:nvPr/>
        </p:nvGrpSpPr>
        <p:grpSpPr>
          <a:xfrm>
            <a:off x="4779874" y="3300823"/>
            <a:ext cx="541339" cy="411011"/>
            <a:chOff x="0" y="0"/>
            <a:chExt cx="541337" cy="411009"/>
          </a:xfrm>
        </p:grpSpPr>
        <p:grpSp>
          <p:nvGrpSpPr>
            <p:cNvPr id="7072" name="Freeform 103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07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7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075" name="Oval 103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07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7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080" name="Group 103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076" name="Freeform 104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77" name="Freeform 104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78" name="Freeform 104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79" name="Freeform 104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093" name="Group 815"/>
          <p:cNvGrpSpPr/>
          <p:nvPr/>
        </p:nvGrpSpPr>
        <p:grpSpPr>
          <a:xfrm>
            <a:off x="5457737" y="3545297"/>
            <a:ext cx="541339" cy="411011"/>
            <a:chOff x="0" y="0"/>
            <a:chExt cx="541337" cy="411009"/>
          </a:xfrm>
        </p:grpSpPr>
        <p:grpSp>
          <p:nvGrpSpPr>
            <p:cNvPr id="7084" name="Freeform 103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08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8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087" name="Oval 103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08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8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092" name="Group 103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088" name="Freeform 103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89" name="Freeform 103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90" name="Freeform 103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91" name="Freeform 103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105" name="Group 816"/>
          <p:cNvGrpSpPr/>
          <p:nvPr/>
        </p:nvGrpSpPr>
        <p:grpSpPr>
          <a:xfrm>
            <a:off x="4228291" y="3056347"/>
            <a:ext cx="541339" cy="411011"/>
            <a:chOff x="0" y="0"/>
            <a:chExt cx="541337" cy="411009"/>
          </a:xfrm>
        </p:grpSpPr>
        <p:grpSp>
          <p:nvGrpSpPr>
            <p:cNvPr id="7096" name="Freeform 102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094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95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099" name="Oval 102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097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098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104" name="Group 102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100" name="Freeform 102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01" name="Freeform 102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02" name="Freeform 102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03" name="Freeform 102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117" name="Group 817"/>
          <p:cNvGrpSpPr/>
          <p:nvPr/>
        </p:nvGrpSpPr>
        <p:grpSpPr>
          <a:xfrm>
            <a:off x="3972631" y="3357285"/>
            <a:ext cx="541339" cy="411011"/>
            <a:chOff x="0" y="0"/>
            <a:chExt cx="541337" cy="411009"/>
          </a:xfrm>
        </p:grpSpPr>
        <p:grpSp>
          <p:nvGrpSpPr>
            <p:cNvPr id="7108" name="Freeform 101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10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0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111" name="Oval 101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10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1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116" name="Group 101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112" name="Freeform 101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13" name="Freeform 102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14" name="Freeform 102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15" name="Freeform 102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129" name="Group 818"/>
          <p:cNvGrpSpPr/>
          <p:nvPr/>
        </p:nvGrpSpPr>
        <p:grpSpPr>
          <a:xfrm>
            <a:off x="3355533" y="3579652"/>
            <a:ext cx="541339" cy="411011"/>
            <a:chOff x="0" y="0"/>
            <a:chExt cx="541337" cy="411009"/>
          </a:xfrm>
        </p:grpSpPr>
        <p:grpSp>
          <p:nvGrpSpPr>
            <p:cNvPr id="7120" name="Freeform 1009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11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1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123" name="Oval 1010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12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2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128" name="Group 1011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124" name="Freeform 1012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25" name="Freeform 1013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26" name="Freeform 1014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27" name="Freeform 1015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141" name="Group 819"/>
          <p:cNvGrpSpPr/>
          <p:nvPr/>
        </p:nvGrpSpPr>
        <p:grpSpPr>
          <a:xfrm>
            <a:off x="4400286" y="3732413"/>
            <a:ext cx="541339" cy="411011"/>
            <a:chOff x="0" y="0"/>
            <a:chExt cx="541337" cy="411009"/>
          </a:xfrm>
        </p:grpSpPr>
        <p:grpSp>
          <p:nvGrpSpPr>
            <p:cNvPr id="7132" name="Freeform 1002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13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3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135" name="Oval 1003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13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3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140" name="Group 1004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136" name="Freeform 1005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37" name="Freeform 1006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38" name="Freeform 1007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39" name="Freeform 1008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7142" name="Oval 3"/>
          <p:cNvSpPr/>
          <p:nvPr/>
        </p:nvSpPr>
        <p:spPr>
          <a:xfrm>
            <a:off x="2671674" y="4260753"/>
            <a:ext cx="2941639" cy="1323977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143" name="Straight Connector 10"/>
          <p:cNvSpPr/>
          <p:nvPr/>
        </p:nvSpPr>
        <p:spPr>
          <a:xfrm>
            <a:off x="3706724" y="4494115"/>
            <a:ext cx="969964" cy="682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4" name="Straight Connector 297"/>
          <p:cNvSpPr/>
          <p:nvPr/>
        </p:nvSpPr>
        <p:spPr>
          <a:xfrm>
            <a:off x="4209963" y="4781453"/>
            <a:ext cx="109538" cy="7937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5" name="Straight Connector 298"/>
          <p:cNvSpPr/>
          <p:nvPr/>
        </p:nvSpPr>
        <p:spPr>
          <a:xfrm flipV="1">
            <a:off x="4027399" y="4976715"/>
            <a:ext cx="222251" cy="444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6" name="Straight Connector 299"/>
          <p:cNvSpPr/>
          <p:nvPr/>
        </p:nvSpPr>
        <p:spPr>
          <a:xfrm flipV="1">
            <a:off x="3754349" y="4808440"/>
            <a:ext cx="177801" cy="1063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7" name="Straight Connector 300"/>
          <p:cNvSpPr/>
          <p:nvPr/>
        </p:nvSpPr>
        <p:spPr>
          <a:xfrm flipV="1">
            <a:off x="3468599" y="5095778"/>
            <a:ext cx="188914" cy="952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8" name="Straight Connector 301"/>
          <p:cNvSpPr/>
          <p:nvPr/>
        </p:nvSpPr>
        <p:spPr>
          <a:xfrm flipV="1">
            <a:off x="4224249" y="5024340"/>
            <a:ext cx="231776" cy="24447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9" name="Straight Connector 302"/>
          <p:cNvSpPr/>
          <p:nvPr/>
        </p:nvSpPr>
        <p:spPr>
          <a:xfrm flipH="1" flipV="1">
            <a:off x="4675099" y="5011640"/>
            <a:ext cx="327026" cy="1190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0" name="Straight Connector 303"/>
          <p:cNvSpPr/>
          <p:nvPr/>
        </p:nvSpPr>
        <p:spPr>
          <a:xfrm flipV="1">
            <a:off x="4662399" y="4676678"/>
            <a:ext cx="260351" cy="1889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1" name="Straight Connector 304"/>
          <p:cNvSpPr/>
          <p:nvPr/>
        </p:nvSpPr>
        <p:spPr>
          <a:xfrm flipH="1" flipV="1">
            <a:off x="3708314" y="4551265"/>
            <a:ext cx="207962" cy="841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2" name="TextBox 39958"/>
          <p:cNvSpPr txBox="1"/>
          <p:nvPr/>
        </p:nvSpPr>
        <p:spPr>
          <a:xfrm>
            <a:off x="2852332" y="4590953"/>
            <a:ext cx="704365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C</a:t>
            </a:r>
          </a:p>
        </p:txBody>
      </p:sp>
      <p:sp>
        <p:nvSpPr>
          <p:cNvPr id="7153" name="Oval 3"/>
          <p:cNvSpPr/>
          <p:nvPr/>
        </p:nvSpPr>
        <p:spPr>
          <a:xfrm>
            <a:off x="5765713" y="3706715"/>
            <a:ext cx="3219451" cy="1343028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154" name="Straight Connector 10"/>
          <p:cNvSpPr/>
          <p:nvPr/>
        </p:nvSpPr>
        <p:spPr>
          <a:xfrm>
            <a:off x="6899188" y="3943253"/>
            <a:ext cx="1062038" cy="698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5" name="Straight Connector 297"/>
          <p:cNvSpPr/>
          <p:nvPr/>
        </p:nvSpPr>
        <p:spPr>
          <a:xfrm>
            <a:off x="7450049" y="4233765"/>
            <a:ext cx="120651" cy="825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6" name="Straight Connector 298"/>
          <p:cNvSpPr/>
          <p:nvPr/>
        </p:nvSpPr>
        <p:spPr>
          <a:xfrm flipV="1">
            <a:off x="7250024" y="4433790"/>
            <a:ext cx="242889" cy="444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7" name="Straight Connector 299"/>
          <p:cNvSpPr/>
          <p:nvPr/>
        </p:nvSpPr>
        <p:spPr>
          <a:xfrm flipV="1">
            <a:off x="6951574" y="4262340"/>
            <a:ext cx="195264" cy="1063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8" name="Straight Connector 300"/>
          <p:cNvSpPr/>
          <p:nvPr/>
        </p:nvSpPr>
        <p:spPr>
          <a:xfrm flipV="1">
            <a:off x="6638838" y="4554440"/>
            <a:ext cx="206376" cy="952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9" name="Straight Connector 301"/>
          <p:cNvSpPr/>
          <p:nvPr/>
        </p:nvSpPr>
        <p:spPr>
          <a:xfrm flipV="1">
            <a:off x="7465924" y="4481415"/>
            <a:ext cx="254001" cy="2476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0" name="Straight Connector 302"/>
          <p:cNvSpPr/>
          <p:nvPr/>
        </p:nvSpPr>
        <p:spPr>
          <a:xfrm flipH="1" flipV="1">
            <a:off x="7929474" y="4460778"/>
            <a:ext cx="358776" cy="1206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1" name="Straight Connector 303"/>
          <p:cNvSpPr/>
          <p:nvPr/>
        </p:nvSpPr>
        <p:spPr>
          <a:xfrm flipV="1">
            <a:off x="7945349" y="4127403"/>
            <a:ext cx="285751" cy="19208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2" name="Straight Connector 304"/>
          <p:cNvSpPr/>
          <p:nvPr/>
        </p:nvSpPr>
        <p:spPr>
          <a:xfrm flipH="1" flipV="1">
            <a:off x="6900774" y="4000403"/>
            <a:ext cx="227014" cy="857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3" name="TextBox 39958"/>
          <p:cNvSpPr txBox="1"/>
          <p:nvPr/>
        </p:nvSpPr>
        <p:spPr>
          <a:xfrm>
            <a:off x="5960658" y="4040090"/>
            <a:ext cx="710913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B</a:t>
            </a:r>
          </a:p>
        </p:txBody>
      </p:sp>
      <p:sp>
        <p:nvSpPr>
          <p:cNvPr id="7164" name="Straight Connector 12"/>
          <p:cNvSpPr/>
          <p:nvPr/>
        </p:nvSpPr>
        <p:spPr>
          <a:xfrm>
            <a:off x="3533688" y="2666902"/>
            <a:ext cx="238126" cy="2619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5" name="Straight Connector 500"/>
          <p:cNvSpPr/>
          <p:nvPr/>
        </p:nvSpPr>
        <p:spPr>
          <a:xfrm>
            <a:off x="2789149" y="2906615"/>
            <a:ext cx="831851" cy="6191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6" name="Straight Connector 501"/>
          <p:cNvSpPr/>
          <p:nvPr/>
        </p:nvSpPr>
        <p:spPr>
          <a:xfrm flipV="1">
            <a:off x="2385924" y="3030440"/>
            <a:ext cx="1303339" cy="27781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7" name="Straight Connector 502"/>
          <p:cNvSpPr/>
          <p:nvPr/>
        </p:nvSpPr>
        <p:spPr>
          <a:xfrm>
            <a:off x="5067213" y="2468465"/>
            <a:ext cx="307976" cy="5730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8" name="Straight Connector 503"/>
          <p:cNvSpPr/>
          <p:nvPr/>
        </p:nvSpPr>
        <p:spPr>
          <a:xfrm flipH="1">
            <a:off x="5576799" y="2446240"/>
            <a:ext cx="384176" cy="57943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9" name="Straight Connector 504"/>
          <p:cNvSpPr/>
          <p:nvPr/>
        </p:nvSpPr>
        <p:spPr>
          <a:xfrm>
            <a:off x="7921538" y="2957415"/>
            <a:ext cx="215901" cy="104616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0" name="Straight Connector 505"/>
          <p:cNvSpPr/>
          <p:nvPr/>
        </p:nvSpPr>
        <p:spPr>
          <a:xfrm flipH="1">
            <a:off x="8288249" y="3308253"/>
            <a:ext cx="241301" cy="6921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1" name="Straight Connector 507"/>
          <p:cNvSpPr/>
          <p:nvPr/>
        </p:nvSpPr>
        <p:spPr>
          <a:xfrm flipH="1" flipV="1">
            <a:off x="8605749" y="4630641"/>
            <a:ext cx="796926" cy="6143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2" name="Straight Connector 509"/>
          <p:cNvSpPr/>
          <p:nvPr/>
        </p:nvSpPr>
        <p:spPr>
          <a:xfrm flipH="1" flipV="1">
            <a:off x="6470563" y="4751291"/>
            <a:ext cx="285751" cy="11604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3" name="Straight Connector 510"/>
          <p:cNvSpPr/>
          <p:nvPr/>
        </p:nvSpPr>
        <p:spPr>
          <a:xfrm flipH="1" flipV="1">
            <a:off x="5219613" y="5102128"/>
            <a:ext cx="371476" cy="9731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4" name="Straight Connector 511"/>
          <p:cNvSpPr/>
          <p:nvPr/>
        </p:nvSpPr>
        <p:spPr>
          <a:xfrm flipH="1" flipV="1">
            <a:off x="4295688" y="5249766"/>
            <a:ext cx="244476" cy="6619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5" name="Straight Connector 512"/>
          <p:cNvSpPr/>
          <p:nvPr/>
        </p:nvSpPr>
        <p:spPr>
          <a:xfrm flipV="1">
            <a:off x="2941549" y="5218015"/>
            <a:ext cx="401639" cy="2095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6" name="Straight Connector 513"/>
          <p:cNvSpPr/>
          <p:nvPr/>
        </p:nvSpPr>
        <p:spPr>
          <a:xfrm>
            <a:off x="2535149" y="5075140"/>
            <a:ext cx="450851" cy="1158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7" name="Straight Connector 514"/>
          <p:cNvSpPr/>
          <p:nvPr/>
        </p:nvSpPr>
        <p:spPr>
          <a:xfrm>
            <a:off x="2306549" y="4433790"/>
            <a:ext cx="996951" cy="47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8" name="Straight Connector 508"/>
          <p:cNvSpPr/>
          <p:nvPr/>
        </p:nvSpPr>
        <p:spPr>
          <a:xfrm flipH="1" flipV="1">
            <a:off x="7646899" y="4779866"/>
            <a:ext cx="1047751" cy="9667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9" name="Straight Connector 506"/>
          <p:cNvSpPr/>
          <p:nvPr/>
        </p:nvSpPr>
        <p:spPr>
          <a:xfrm flipH="1">
            <a:off x="8716874" y="4368703"/>
            <a:ext cx="541339" cy="2492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7191" name="Group 858"/>
          <p:cNvGrpSpPr/>
          <p:nvPr/>
        </p:nvGrpSpPr>
        <p:grpSpPr>
          <a:xfrm>
            <a:off x="5192624" y="2913472"/>
            <a:ext cx="541339" cy="411011"/>
            <a:chOff x="0" y="0"/>
            <a:chExt cx="541337" cy="411009"/>
          </a:xfrm>
        </p:grpSpPr>
        <p:grpSp>
          <p:nvGrpSpPr>
            <p:cNvPr id="7182" name="Freeform 99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18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8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185" name="Oval 99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18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8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190" name="Group 99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186" name="Freeform 99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87" name="Freeform 99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88" name="Freeform 100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89" name="Freeform 100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03" name="Group 859"/>
          <p:cNvGrpSpPr/>
          <p:nvPr/>
        </p:nvGrpSpPr>
        <p:grpSpPr>
          <a:xfrm>
            <a:off x="3621871" y="2813846"/>
            <a:ext cx="541339" cy="411011"/>
            <a:chOff x="0" y="0"/>
            <a:chExt cx="541337" cy="411009"/>
          </a:xfrm>
        </p:grpSpPr>
        <p:grpSp>
          <p:nvGrpSpPr>
            <p:cNvPr id="7194" name="Freeform 988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19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9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197" name="Oval 989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19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9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02" name="Group 990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198" name="Freeform 991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199" name="Freeform 992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00" name="Freeform 993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01" name="Freeform 994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15" name="Group 861"/>
          <p:cNvGrpSpPr/>
          <p:nvPr/>
        </p:nvGrpSpPr>
        <p:grpSpPr>
          <a:xfrm>
            <a:off x="7929474" y="3845334"/>
            <a:ext cx="541339" cy="411011"/>
            <a:chOff x="0" y="0"/>
            <a:chExt cx="541337" cy="411009"/>
          </a:xfrm>
        </p:grpSpPr>
        <p:grpSp>
          <p:nvGrpSpPr>
            <p:cNvPr id="7206" name="Freeform 974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204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05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209" name="Oval 975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207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08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14" name="Group 976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210" name="Freeform 977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11" name="Freeform 978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12" name="Freeform 979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13" name="Freeform 980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27" name="Group 862"/>
          <p:cNvGrpSpPr/>
          <p:nvPr/>
        </p:nvGrpSpPr>
        <p:grpSpPr>
          <a:xfrm>
            <a:off x="8182681" y="4407087"/>
            <a:ext cx="541339" cy="411011"/>
            <a:chOff x="0" y="0"/>
            <a:chExt cx="541337" cy="411009"/>
          </a:xfrm>
        </p:grpSpPr>
        <p:grpSp>
          <p:nvGrpSpPr>
            <p:cNvPr id="7218" name="Freeform 96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21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1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221" name="Oval 96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21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2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26" name="Group 96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222" name="Freeform 97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23" name="Freeform 97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24" name="Freeform 97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25" name="Freeform 97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39" name="Group 863"/>
          <p:cNvGrpSpPr/>
          <p:nvPr/>
        </p:nvGrpSpPr>
        <p:grpSpPr>
          <a:xfrm>
            <a:off x="7469672" y="4184266"/>
            <a:ext cx="541339" cy="411011"/>
            <a:chOff x="0" y="0"/>
            <a:chExt cx="541337" cy="411009"/>
          </a:xfrm>
        </p:grpSpPr>
        <p:grpSp>
          <p:nvGrpSpPr>
            <p:cNvPr id="7230" name="Freeform 96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22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2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233" name="Oval 96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23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3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38" name="Group 96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234" name="Freeform 96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35" name="Freeform 96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36" name="Freeform 96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37" name="Freeform 96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51" name="Group 864"/>
          <p:cNvGrpSpPr/>
          <p:nvPr/>
        </p:nvGrpSpPr>
        <p:grpSpPr>
          <a:xfrm>
            <a:off x="6979356" y="3965212"/>
            <a:ext cx="541339" cy="411011"/>
            <a:chOff x="0" y="0"/>
            <a:chExt cx="541337" cy="411009"/>
          </a:xfrm>
        </p:grpSpPr>
        <p:grpSp>
          <p:nvGrpSpPr>
            <p:cNvPr id="7242" name="Freeform 95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24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4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245" name="Oval 95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24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4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50" name="Group 95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246" name="Freeform 95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47" name="Freeform 95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48" name="Freeform 95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49" name="Freeform 95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63" name="Group 865"/>
          <p:cNvGrpSpPr/>
          <p:nvPr/>
        </p:nvGrpSpPr>
        <p:grpSpPr>
          <a:xfrm>
            <a:off x="6723615" y="4272372"/>
            <a:ext cx="541339" cy="411011"/>
            <a:chOff x="0" y="0"/>
            <a:chExt cx="541337" cy="411009"/>
          </a:xfrm>
        </p:grpSpPr>
        <p:grpSp>
          <p:nvGrpSpPr>
            <p:cNvPr id="7254" name="Freeform 94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25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5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257" name="Oval 94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25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5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62" name="Group 94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258" name="Freeform 94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59" name="Freeform 95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60" name="Freeform 95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61" name="Freeform 95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75" name="Group 866"/>
          <p:cNvGrpSpPr/>
          <p:nvPr/>
        </p:nvGrpSpPr>
        <p:grpSpPr>
          <a:xfrm>
            <a:off x="6244845" y="4512658"/>
            <a:ext cx="541339" cy="411011"/>
            <a:chOff x="0" y="0"/>
            <a:chExt cx="541337" cy="411009"/>
          </a:xfrm>
        </p:grpSpPr>
        <p:grpSp>
          <p:nvGrpSpPr>
            <p:cNvPr id="7266" name="Freeform 939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264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65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269" name="Oval 940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267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68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74" name="Group 941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270" name="Freeform 942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71" name="Freeform 943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72" name="Freeform 944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73" name="Freeform 945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87" name="Group 867"/>
          <p:cNvGrpSpPr/>
          <p:nvPr/>
        </p:nvGrpSpPr>
        <p:grpSpPr>
          <a:xfrm>
            <a:off x="7291037" y="4563652"/>
            <a:ext cx="541339" cy="411011"/>
            <a:chOff x="0" y="0"/>
            <a:chExt cx="541337" cy="411009"/>
          </a:xfrm>
        </p:grpSpPr>
        <p:grpSp>
          <p:nvGrpSpPr>
            <p:cNvPr id="7278" name="Freeform 932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27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7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281" name="Oval 933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27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8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86" name="Group 934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282" name="Freeform 935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83" name="Freeform 936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84" name="Freeform 937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85" name="Freeform 938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299" name="Group 868"/>
          <p:cNvGrpSpPr/>
          <p:nvPr/>
        </p:nvGrpSpPr>
        <p:grpSpPr>
          <a:xfrm>
            <a:off x="4568094" y="4403055"/>
            <a:ext cx="541339" cy="411010"/>
            <a:chOff x="0" y="0"/>
            <a:chExt cx="541337" cy="411009"/>
          </a:xfrm>
        </p:grpSpPr>
        <p:grpSp>
          <p:nvGrpSpPr>
            <p:cNvPr id="7290" name="Freeform 92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28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8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293" name="Oval 92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29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9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298" name="Group 92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294" name="Freeform 92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95" name="Freeform 92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96" name="Freeform 93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297" name="Freeform 93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311" name="Group 869"/>
          <p:cNvGrpSpPr/>
          <p:nvPr/>
        </p:nvGrpSpPr>
        <p:grpSpPr>
          <a:xfrm>
            <a:off x="4812419" y="4917284"/>
            <a:ext cx="541339" cy="411011"/>
            <a:chOff x="0" y="0"/>
            <a:chExt cx="541337" cy="411009"/>
          </a:xfrm>
        </p:grpSpPr>
        <p:grpSp>
          <p:nvGrpSpPr>
            <p:cNvPr id="7302" name="Freeform 918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30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0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305" name="Oval 919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30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0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310" name="Group 920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306" name="Freeform 921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07" name="Freeform 922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08" name="Freeform 923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09" name="Freeform 924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323" name="Group 870"/>
          <p:cNvGrpSpPr/>
          <p:nvPr/>
        </p:nvGrpSpPr>
        <p:grpSpPr>
          <a:xfrm>
            <a:off x="4220281" y="4732479"/>
            <a:ext cx="541339" cy="411011"/>
            <a:chOff x="0" y="0"/>
            <a:chExt cx="541337" cy="411009"/>
          </a:xfrm>
        </p:grpSpPr>
        <p:grpSp>
          <p:nvGrpSpPr>
            <p:cNvPr id="7314" name="Freeform 911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31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1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317" name="Oval 912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31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1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322" name="Group 913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318" name="Freeform 914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19" name="Freeform 915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20" name="Freeform 916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21" name="Freeform 917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335" name="Group 871"/>
          <p:cNvGrpSpPr/>
          <p:nvPr/>
        </p:nvGrpSpPr>
        <p:grpSpPr>
          <a:xfrm>
            <a:off x="3292387" y="4282350"/>
            <a:ext cx="541339" cy="411011"/>
            <a:chOff x="0" y="0"/>
            <a:chExt cx="541337" cy="411009"/>
          </a:xfrm>
        </p:grpSpPr>
        <p:grpSp>
          <p:nvGrpSpPr>
            <p:cNvPr id="7326" name="Freeform 904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324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25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329" name="Oval 905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327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28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334" name="Group 906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330" name="Freeform 907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31" name="Freeform 908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32" name="Freeform 909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33" name="Freeform 910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347" name="Group 872"/>
          <p:cNvGrpSpPr/>
          <p:nvPr/>
        </p:nvGrpSpPr>
        <p:grpSpPr>
          <a:xfrm>
            <a:off x="3740086" y="4537098"/>
            <a:ext cx="541339" cy="411011"/>
            <a:chOff x="0" y="0"/>
            <a:chExt cx="541337" cy="411009"/>
          </a:xfrm>
        </p:grpSpPr>
        <p:grpSp>
          <p:nvGrpSpPr>
            <p:cNvPr id="7338" name="Freeform 89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33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3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341" name="Oval 89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33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4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346" name="Group 89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342" name="Freeform 90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43" name="Freeform 90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44" name="Freeform 90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45" name="Freeform 90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359" name="Group 873"/>
          <p:cNvGrpSpPr/>
          <p:nvPr/>
        </p:nvGrpSpPr>
        <p:grpSpPr>
          <a:xfrm>
            <a:off x="3500746" y="4808488"/>
            <a:ext cx="541339" cy="411011"/>
            <a:chOff x="0" y="0"/>
            <a:chExt cx="541337" cy="411009"/>
          </a:xfrm>
        </p:grpSpPr>
        <p:grpSp>
          <p:nvGrpSpPr>
            <p:cNvPr id="7350" name="Freeform 89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34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4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353" name="Oval 89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35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5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358" name="Group 89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354" name="Freeform 89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55" name="Freeform 89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56" name="Freeform 89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57" name="Freeform 89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371" name="Group 874"/>
          <p:cNvGrpSpPr/>
          <p:nvPr/>
        </p:nvGrpSpPr>
        <p:grpSpPr>
          <a:xfrm>
            <a:off x="2989969" y="4994889"/>
            <a:ext cx="541339" cy="411011"/>
            <a:chOff x="0" y="0"/>
            <a:chExt cx="541337" cy="411009"/>
          </a:xfrm>
        </p:grpSpPr>
        <p:grpSp>
          <p:nvGrpSpPr>
            <p:cNvPr id="7362" name="Freeform 88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36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6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365" name="Oval 88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36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6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370" name="Group 88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366" name="Freeform 88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67" name="Freeform 88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68" name="Freeform 88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69" name="Freeform 88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383" name="Group 875"/>
          <p:cNvGrpSpPr/>
          <p:nvPr/>
        </p:nvGrpSpPr>
        <p:grpSpPr>
          <a:xfrm>
            <a:off x="4023881" y="5084099"/>
            <a:ext cx="541339" cy="411011"/>
            <a:chOff x="0" y="0"/>
            <a:chExt cx="541337" cy="411009"/>
          </a:xfrm>
        </p:grpSpPr>
        <p:grpSp>
          <p:nvGrpSpPr>
            <p:cNvPr id="7374" name="Freeform 87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37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7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377" name="Oval 87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37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7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382" name="Group 87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378" name="Freeform 87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79" name="Freeform 88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80" name="Freeform 88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81" name="Freeform 88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7384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grpSp>
        <p:nvGrpSpPr>
          <p:cNvPr id="7439" name="Group 5"/>
          <p:cNvGrpSpPr/>
          <p:nvPr/>
        </p:nvGrpSpPr>
        <p:grpSpPr>
          <a:xfrm>
            <a:off x="1594998" y="1861776"/>
            <a:ext cx="8420227" cy="4670018"/>
            <a:chOff x="0" y="0"/>
            <a:chExt cx="8420225" cy="4670017"/>
          </a:xfrm>
        </p:grpSpPr>
        <p:grpSp>
          <p:nvGrpSpPr>
            <p:cNvPr id="7387" name="Group 2"/>
            <p:cNvGrpSpPr/>
            <p:nvPr/>
          </p:nvGrpSpPr>
          <p:grpSpPr>
            <a:xfrm>
              <a:off x="1402445" y="450341"/>
              <a:ext cx="603417" cy="412924"/>
              <a:chOff x="0" y="0"/>
              <a:chExt cx="603416" cy="412922"/>
            </a:xfrm>
          </p:grpSpPr>
          <p:sp>
            <p:nvSpPr>
              <p:cNvPr id="738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386" name="TextBox 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390" name="Group 131"/>
            <p:cNvGrpSpPr/>
            <p:nvPr/>
          </p:nvGrpSpPr>
          <p:grpSpPr>
            <a:xfrm>
              <a:off x="246589" y="1250380"/>
              <a:ext cx="603418" cy="412923"/>
              <a:chOff x="0" y="0"/>
              <a:chExt cx="603416" cy="412922"/>
            </a:xfrm>
          </p:grpSpPr>
          <p:sp>
            <p:nvSpPr>
              <p:cNvPr id="738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389" name="TextBox 13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393" name="Group 135"/>
            <p:cNvGrpSpPr/>
            <p:nvPr/>
          </p:nvGrpSpPr>
          <p:grpSpPr>
            <a:xfrm>
              <a:off x="5911552" y="704322"/>
              <a:ext cx="603417" cy="412923"/>
              <a:chOff x="0" y="0"/>
              <a:chExt cx="603416" cy="412922"/>
            </a:xfrm>
          </p:grpSpPr>
          <p:sp>
            <p:nvSpPr>
              <p:cNvPr id="739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392" name="TextBox 13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396" name="Group 138"/>
            <p:cNvGrpSpPr/>
            <p:nvPr/>
          </p:nvGrpSpPr>
          <p:grpSpPr>
            <a:xfrm>
              <a:off x="818166" y="3561602"/>
              <a:ext cx="603418" cy="412923"/>
              <a:chOff x="0" y="0"/>
              <a:chExt cx="603416" cy="412922"/>
            </a:xfrm>
          </p:grpSpPr>
          <p:sp>
            <p:nvSpPr>
              <p:cNvPr id="739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395" name="TextBox 140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399" name="Group 141"/>
            <p:cNvGrpSpPr/>
            <p:nvPr/>
          </p:nvGrpSpPr>
          <p:grpSpPr>
            <a:xfrm>
              <a:off x="399010" y="2939350"/>
              <a:ext cx="603417" cy="412923"/>
              <a:chOff x="0" y="0"/>
              <a:chExt cx="603416" cy="412922"/>
            </a:xfrm>
          </p:grpSpPr>
          <p:sp>
            <p:nvSpPr>
              <p:cNvPr id="739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398" name="TextBox 14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02" name="Group 144"/>
            <p:cNvGrpSpPr/>
            <p:nvPr/>
          </p:nvGrpSpPr>
          <p:grpSpPr>
            <a:xfrm>
              <a:off x="170379" y="2279000"/>
              <a:ext cx="603417" cy="412924"/>
              <a:chOff x="0" y="0"/>
              <a:chExt cx="603416" cy="412922"/>
            </a:xfrm>
          </p:grpSpPr>
          <p:sp>
            <p:nvSpPr>
              <p:cNvPr id="7400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01" name="TextBox 146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05" name="Group 147"/>
            <p:cNvGrpSpPr/>
            <p:nvPr/>
          </p:nvGrpSpPr>
          <p:grpSpPr>
            <a:xfrm>
              <a:off x="6660953" y="1136088"/>
              <a:ext cx="603417" cy="412924"/>
              <a:chOff x="0" y="0"/>
              <a:chExt cx="603416" cy="412922"/>
            </a:xfrm>
          </p:grpSpPr>
          <p:sp>
            <p:nvSpPr>
              <p:cNvPr id="7403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04" name="TextBox 149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08" name="Group 150"/>
            <p:cNvGrpSpPr/>
            <p:nvPr/>
          </p:nvGrpSpPr>
          <p:grpSpPr>
            <a:xfrm>
              <a:off x="3002860" y="209060"/>
              <a:ext cx="603418" cy="412923"/>
              <a:chOff x="0" y="0"/>
              <a:chExt cx="603416" cy="412922"/>
            </a:xfrm>
          </p:grpSpPr>
          <p:sp>
            <p:nvSpPr>
              <p:cNvPr id="7406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07" name="TextBox 15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11" name="Group 153"/>
            <p:cNvGrpSpPr/>
            <p:nvPr/>
          </p:nvGrpSpPr>
          <p:grpSpPr>
            <a:xfrm>
              <a:off x="627640" y="856710"/>
              <a:ext cx="603418" cy="412923"/>
              <a:chOff x="0" y="0"/>
              <a:chExt cx="603416" cy="412922"/>
            </a:xfrm>
          </p:grpSpPr>
          <p:sp>
            <p:nvSpPr>
              <p:cNvPr id="7409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10" name="TextBox 15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14" name="Group 156"/>
            <p:cNvGrpSpPr/>
            <p:nvPr/>
          </p:nvGrpSpPr>
          <p:grpSpPr>
            <a:xfrm>
              <a:off x="3917383" y="183662"/>
              <a:ext cx="603418" cy="412923"/>
              <a:chOff x="0" y="0"/>
              <a:chExt cx="603416" cy="412922"/>
            </a:xfrm>
          </p:grpSpPr>
          <p:sp>
            <p:nvSpPr>
              <p:cNvPr id="7412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13" name="TextBox 15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17" name="Group 160"/>
            <p:cNvGrpSpPr/>
            <p:nvPr/>
          </p:nvGrpSpPr>
          <p:grpSpPr>
            <a:xfrm>
              <a:off x="6978495" y="3815582"/>
              <a:ext cx="603418" cy="412924"/>
              <a:chOff x="0" y="0"/>
              <a:chExt cx="603416" cy="412922"/>
            </a:xfrm>
          </p:grpSpPr>
          <p:sp>
            <p:nvSpPr>
              <p:cNvPr id="741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16" name="TextBox 16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20" name="Group 163"/>
            <p:cNvGrpSpPr/>
            <p:nvPr/>
          </p:nvGrpSpPr>
          <p:grpSpPr>
            <a:xfrm>
              <a:off x="7816808" y="3167932"/>
              <a:ext cx="603418" cy="412923"/>
              <a:chOff x="0" y="0"/>
              <a:chExt cx="603416" cy="412922"/>
            </a:xfrm>
          </p:grpSpPr>
          <p:sp>
            <p:nvSpPr>
              <p:cNvPr id="741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19" name="TextBox 16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23" name="Group 166"/>
            <p:cNvGrpSpPr/>
            <p:nvPr/>
          </p:nvGrpSpPr>
          <p:grpSpPr>
            <a:xfrm>
              <a:off x="7588178" y="2253602"/>
              <a:ext cx="603417" cy="412924"/>
              <a:chOff x="0" y="0"/>
              <a:chExt cx="603416" cy="412922"/>
            </a:xfrm>
          </p:grpSpPr>
          <p:sp>
            <p:nvSpPr>
              <p:cNvPr id="742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22" name="TextBox 16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26" name="Group 169"/>
            <p:cNvGrpSpPr/>
            <p:nvPr/>
          </p:nvGrpSpPr>
          <p:grpSpPr>
            <a:xfrm>
              <a:off x="4742994" y="4056864"/>
              <a:ext cx="603418" cy="412923"/>
              <a:chOff x="0" y="0"/>
              <a:chExt cx="603416" cy="412922"/>
            </a:xfrm>
          </p:grpSpPr>
          <p:sp>
            <p:nvSpPr>
              <p:cNvPr id="742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25" name="TextBox 17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29" name="Group 172"/>
            <p:cNvGrpSpPr/>
            <p:nvPr/>
          </p:nvGrpSpPr>
          <p:grpSpPr>
            <a:xfrm>
              <a:off x="3828471" y="4196553"/>
              <a:ext cx="603418" cy="412923"/>
              <a:chOff x="0" y="0"/>
              <a:chExt cx="603416" cy="412922"/>
            </a:xfrm>
          </p:grpSpPr>
          <p:sp>
            <p:nvSpPr>
              <p:cNvPr id="742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28" name="TextBox 174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432" name="Group 175"/>
            <p:cNvGrpSpPr/>
            <p:nvPr/>
          </p:nvGrpSpPr>
          <p:grpSpPr>
            <a:xfrm>
              <a:off x="2609107" y="4044165"/>
              <a:ext cx="603418" cy="412923"/>
              <a:chOff x="0" y="0"/>
              <a:chExt cx="603416" cy="412922"/>
            </a:xfrm>
          </p:grpSpPr>
          <p:sp>
            <p:nvSpPr>
              <p:cNvPr id="7430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431" name="TextBox 17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sp>
          <p:nvSpPr>
            <p:cNvPr id="7433" name="TextBox 4"/>
            <p:cNvSpPr txBox="1"/>
            <p:nvPr/>
          </p:nvSpPr>
          <p:spPr>
            <a:xfrm rot="1053502">
              <a:off x="5065301" y="10882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434" name="TextBox 179"/>
            <p:cNvSpPr txBox="1"/>
            <p:nvPr/>
          </p:nvSpPr>
          <p:spPr>
            <a:xfrm rot="2829263">
              <a:off x="7358658" y="1588559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435" name="TextBox 180"/>
            <p:cNvSpPr txBox="1"/>
            <p:nvPr/>
          </p:nvSpPr>
          <p:spPr>
            <a:xfrm rot="9845918">
              <a:off x="6012603" y="4130132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436" name="TextBox 181"/>
            <p:cNvSpPr txBox="1"/>
            <p:nvPr/>
          </p:nvSpPr>
          <p:spPr>
            <a:xfrm rot="11651262">
              <a:off x="1634935" y="4031728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437" name="TextBox 182"/>
            <p:cNvSpPr txBox="1"/>
            <p:nvPr/>
          </p:nvSpPr>
          <p:spPr>
            <a:xfrm rot="16607303">
              <a:off x="38700" y="170253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438" name="TextBox 183"/>
            <p:cNvSpPr txBox="1"/>
            <p:nvPr/>
          </p:nvSpPr>
          <p:spPr>
            <a:xfrm rot="20582737">
              <a:off x="2240842" y="56466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</p:grpSp>
      <p:sp>
        <p:nvSpPr>
          <p:cNvPr id="7440" name="Rectangle 3"/>
          <p:cNvSpPr txBox="1"/>
          <p:nvPr/>
        </p:nvSpPr>
        <p:spPr>
          <a:xfrm>
            <a:off x="1544762" y="1163203"/>
            <a:ext cx="962935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5000"/>
              </a:lnSpc>
              <a:spcBef>
                <a:spcPts val="500"/>
              </a:spcBef>
              <a:defRPr sz="2400"/>
            </a:lvl1pPr>
          </a:lstStyle>
          <a:p>
            <a:pPr/>
            <a:r>
              <a:t>But if one global ISP is viable business, there will be competitors ….</a:t>
            </a:r>
          </a:p>
        </p:txBody>
      </p:sp>
      <p:grpSp>
        <p:nvGrpSpPr>
          <p:cNvPr id="7452" name="Group 1044"/>
          <p:cNvGrpSpPr/>
          <p:nvPr/>
        </p:nvGrpSpPr>
        <p:grpSpPr>
          <a:xfrm>
            <a:off x="6429197" y="3757737"/>
            <a:ext cx="541339" cy="411010"/>
            <a:chOff x="0" y="0"/>
            <a:chExt cx="541337" cy="411009"/>
          </a:xfrm>
        </p:grpSpPr>
        <p:grpSp>
          <p:nvGrpSpPr>
            <p:cNvPr id="7443" name="Freeform 104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44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4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446" name="Oval 104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44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4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451" name="Group 104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447" name="Freeform 104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48" name="Freeform 104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49" name="Freeform 105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50" name="Freeform 105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7453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5" name="Oval 3"/>
          <p:cNvSpPr/>
          <p:nvPr/>
        </p:nvSpPr>
        <p:spPr>
          <a:xfrm>
            <a:off x="2884399" y="2782790"/>
            <a:ext cx="3475039" cy="1381128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456" name="Straight Connector 10"/>
          <p:cNvSpPr/>
          <p:nvPr/>
        </p:nvSpPr>
        <p:spPr>
          <a:xfrm>
            <a:off x="4108363" y="3025677"/>
            <a:ext cx="1146176" cy="730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57" name="Straight Connector 297"/>
          <p:cNvSpPr/>
          <p:nvPr/>
        </p:nvSpPr>
        <p:spPr>
          <a:xfrm>
            <a:off x="4702088" y="3325715"/>
            <a:ext cx="130176" cy="841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58" name="Straight Connector 298"/>
          <p:cNvSpPr/>
          <p:nvPr/>
        </p:nvSpPr>
        <p:spPr>
          <a:xfrm flipV="1">
            <a:off x="4486188" y="3530503"/>
            <a:ext cx="263526" cy="4603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59" name="Straight Connector 299"/>
          <p:cNvSpPr/>
          <p:nvPr/>
        </p:nvSpPr>
        <p:spPr>
          <a:xfrm flipV="1">
            <a:off x="4165513" y="3354290"/>
            <a:ext cx="209551" cy="1095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60" name="Straight Connector 300"/>
          <p:cNvSpPr/>
          <p:nvPr/>
        </p:nvSpPr>
        <p:spPr>
          <a:xfrm flipV="1">
            <a:off x="3827374" y="3654328"/>
            <a:ext cx="222251" cy="984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61" name="Straight Connector 301"/>
          <p:cNvSpPr/>
          <p:nvPr/>
        </p:nvSpPr>
        <p:spPr>
          <a:xfrm flipV="1">
            <a:off x="4719549" y="3579715"/>
            <a:ext cx="273051" cy="25400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62" name="Straight Connector 302"/>
          <p:cNvSpPr/>
          <p:nvPr/>
        </p:nvSpPr>
        <p:spPr>
          <a:xfrm flipH="1" flipV="1">
            <a:off x="5251363" y="3565428"/>
            <a:ext cx="387351" cy="1254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63" name="Straight Connector 303"/>
          <p:cNvSpPr/>
          <p:nvPr/>
        </p:nvSpPr>
        <p:spPr>
          <a:xfrm flipV="1">
            <a:off x="5237074" y="3216177"/>
            <a:ext cx="307976" cy="19843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64" name="Straight Connector 304"/>
          <p:cNvSpPr/>
          <p:nvPr/>
        </p:nvSpPr>
        <p:spPr>
          <a:xfrm flipH="1" flipV="1">
            <a:off x="4109949" y="3086002"/>
            <a:ext cx="246064" cy="873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65" name="TextBox 39958"/>
          <p:cNvSpPr txBox="1"/>
          <p:nvPr/>
        </p:nvSpPr>
        <p:spPr>
          <a:xfrm>
            <a:off x="3090457" y="3127277"/>
            <a:ext cx="721481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A</a:t>
            </a:r>
          </a:p>
        </p:txBody>
      </p:sp>
      <p:grpSp>
        <p:nvGrpSpPr>
          <p:cNvPr id="7477" name="Group 814"/>
          <p:cNvGrpSpPr/>
          <p:nvPr/>
        </p:nvGrpSpPr>
        <p:grpSpPr>
          <a:xfrm>
            <a:off x="4779874" y="3300823"/>
            <a:ext cx="541339" cy="411011"/>
            <a:chOff x="0" y="0"/>
            <a:chExt cx="541337" cy="411009"/>
          </a:xfrm>
        </p:grpSpPr>
        <p:grpSp>
          <p:nvGrpSpPr>
            <p:cNvPr id="7468" name="Freeform 103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46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6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471" name="Oval 103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46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7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476" name="Group 103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472" name="Freeform 104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73" name="Freeform 104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74" name="Freeform 104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75" name="Freeform 104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489" name="Group 816"/>
          <p:cNvGrpSpPr/>
          <p:nvPr/>
        </p:nvGrpSpPr>
        <p:grpSpPr>
          <a:xfrm>
            <a:off x="4228291" y="3056347"/>
            <a:ext cx="541339" cy="411011"/>
            <a:chOff x="0" y="0"/>
            <a:chExt cx="541337" cy="411009"/>
          </a:xfrm>
        </p:grpSpPr>
        <p:grpSp>
          <p:nvGrpSpPr>
            <p:cNvPr id="7480" name="Freeform 102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47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7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483" name="Oval 102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48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8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488" name="Group 102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484" name="Freeform 102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85" name="Freeform 102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86" name="Freeform 102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87" name="Freeform 102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501" name="Group 817"/>
          <p:cNvGrpSpPr/>
          <p:nvPr/>
        </p:nvGrpSpPr>
        <p:grpSpPr>
          <a:xfrm>
            <a:off x="3972631" y="3357285"/>
            <a:ext cx="541339" cy="411011"/>
            <a:chOff x="0" y="0"/>
            <a:chExt cx="541337" cy="411009"/>
          </a:xfrm>
        </p:grpSpPr>
        <p:grpSp>
          <p:nvGrpSpPr>
            <p:cNvPr id="7492" name="Freeform 101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49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9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495" name="Oval 101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49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9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500" name="Group 101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496" name="Freeform 101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97" name="Freeform 102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98" name="Freeform 102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499" name="Freeform 102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7502" name="Oval 3"/>
          <p:cNvSpPr/>
          <p:nvPr/>
        </p:nvSpPr>
        <p:spPr>
          <a:xfrm>
            <a:off x="2671674" y="4260753"/>
            <a:ext cx="2941639" cy="1323977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503" name="Straight Connector 10"/>
          <p:cNvSpPr/>
          <p:nvPr/>
        </p:nvSpPr>
        <p:spPr>
          <a:xfrm>
            <a:off x="3706724" y="4494115"/>
            <a:ext cx="969964" cy="682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04" name="Straight Connector 297"/>
          <p:cNvSpPr/>
          <p:nvPr/>
        </p:nvSpPr>
        <p:spPr>
          <a:xfrm>
            <a:off x="4209963" y="4781453"/>
            <a:ext cx="109538" cy="7937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05" name="Straight Connector 298"/>
          <p:cNvSpPr/>
          <p:nvPr/>
        </p:nvSpPr>
        <p:spPr>
          <a:xfrm flipV="1">
            <a:off x="4027399" y="4976715"/>
            <a:ext cx="222251" cy="444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06" name="Straight Connector 299"/>
          <p:cNvSpPr/>
          <p:nvPr/>
        </p:nvSpPr>
        <p:spPr>
          <a:xfrm flipV="1">
            <a:off x="3754349" y="4808440"/>
            <a:ext cx="177801" cy="1063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07" name="Straight Connector 300"/>
          <p:cNvSpPr/>
          <p:nvPr/>
        </p:nvSpPr>
        <p:spPr>
          <a:xfrm flipV="1">
            <a:off x="3468599" y="5095778"/>
            <a:ext cx="188914" cy="952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08" name="Straight Connector 301"/>
          <p:cNvSpPr/>
          <p:nvPr/>
        </p:nvSpPr>
        <p:spPr>
          <a:xfrm flipV="1">
            <a:off x="4224249" y="5024340"/>
            <a:ext cx="231776" cy="24447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09" name="Straight Connector 302"/>
          <p:cNvSpPr/>
          <p:nvPr/>
        </p:nvSpPr>
        <p:spPr>
          <a:xfrm flipH="1" flipV="1">
            <a:off x="4675099" y="5011640"/>
            <a:ext cx="327026" cy="1190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0" name="Straight Connector 303"/>
          <p:cNvSpPr/>
          <p:nvPr/>
        </p:nvSpPr>
        <p:spPr>
          <a:xfrm flipV="1">
            <a:off x="4662399" y="4676678"/>
            <a:ext cx="260351" cy="1889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1" name="Straight Connector 304"/>
          <p:cNvSpPr/>
          <p:nvPr/>
        </p:nvSpPr>
        <p:spPr>
          <a:xfrm flipH="1" flipV="1">
            <a:off x="3708314" y="4551265"/>
            <a:ext cx="207962" cy="841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2" name="TextBox 39958"/>
          <p:cNvSpPr txBox="1"/>
          <p:nvPr/>
        </p:nvSpPr>
        <p:spPr>
          <a:xfrm>
            <a:off x="2852332" y="4590953"/>
            <a:ext cx="704365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C</a:t>
            </a:r>
          </a:p>
        </p:txBody>
      </p:sp>
      <p:sp>
        <p:nvSpPr>
          <p:cNvPr id="7513" name="Oval 3"/>
          <p:cNvSpPr/>
          <p:nvPr/>
        </p:nvSpPr>
        <p:spPr>
          <a:xfrm>
            <a:off x="5765713" y="3706715"/>
            <a:ext cx="3219451" cy="1343028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514" name="Straight Connector 10"/>
          <p:cNvSpPr/>
          <p:nvPr/>
        </p:nvSpPr>
        <p:spPr>
          <a:xfrm>
            <a:off x="6899188" y="3943253"/>
            <a:ext cx="1062038" cy="698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5" name="Straight Connector 297"/>
          <p:cNvSpPr/>
          <p:nvPr/>
        </p:nvSpPr>
        <p:spPr>
          <a:xfrm>
            <a:off x="7450049" y="4233765"/>
            <a:ext cx="120651" cy="825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6" name="Straight Connector 298"/>
          <p:cNvSpPr/>
          <p:nvPr/>
        </p:nvSpPr>
        <p:spPr>
          <a:xfrm flipV="1">
            <a:off x="7250024" y="4433790"/>
            <a:ext cx="242889" cy="444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7" name="Straight Connector 299"/>
          <p:cNvSpPr/>
          <p:nvPr/>
        </p:nvSpPr>
        <p:spPr>
          <a:xfrm flipV="1">
            <a:off x="6951574" y="4262340"/>
            <a:ext cx="195264" cy="1063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8" name="Straight Connector 300"/>
          <p:cNvSpPr/>
          <p:nvPr/>
        </p:nvSpPr>
        <p:spPr>
          <a:xfrm flipV="1">
            <a:off x="6638838" y="4554440"/>
            <a:ext cx="206376" cy="952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9" name="Straight Connector 301"/>
          <p:cNvSpPr/>
          <p:nvPr/>
        </p:nvSpPr>
        <p:spPr>
          <a:xfrm flipV="1">
            <a:off x="7465924" y="4481415"/>
            <a:ext cx="254001" cy="2476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0" name="Straight Connector 302"/>
          <p:cNvSpPr/>
          <p:nvPr/>
        </p:nvSpPr>
        <p:spPr>
          <a:xfrm flipH="1" flipV="1">
            <a:off x="7929474" y="4460778"/>
            <a:ext cx="358776" cy="1206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1" name="Straight Connector 303"/>
          <p:cNvSpPr/>
          <p:nvPr/>
        </p:nvSpPr>
        <p:spPr>
          <a:xfrm flipV="1">
            <a:off x="7945349" y="4127403"/>
            <a:ext cx="285751" cy="19208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2" name="Straight Connector 304"/>
          <p:cNvSpPr/>
          <p:nvPr/>
        </p:nvSpPr>
        <p:spPr>
          <a:xfrm flipH="1" flipV="1">
            <a:off x="6900774" y="4000403"/>
            <a:ext cx="227014" cy="857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3" name="TextBox 39958"/>
          <p:cNvSpPr txBox="1"/>
          <p:nvPr/>
        </p:nvSpPr>
        <p:spPr>
          <a:xfrm>
            <a:off x="5960658" y="4040090"/>
            <a:ext cx="710913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B</a:t>
            </a:r>
          </a:p>
        </p:txBody>
      </p:sp>
      <p:sp>
        <p:nvSpPr>
          <p:cNvPr id="7524" name="Straight Connector 12"/>
          <p:cNvSpPr/>
          <p:nvPr/>
        </p:nvSpPr>
        <p:spPr>
          <a:xfrm>
            <a:off x="3533688" y="2666902"/>
            <a:ext cx="238126" cy="2619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5" name="Straight Connector 500"/>
          <p:cNvSpPr/>
          <p:nvPr/>
        </p:nvSpPr>
        <p:spPr>
          <a:xfrm>
            <a:off x="2789149" y="2906615"/>
            <a:ext cx="831851" cy="6191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6" name="Straight Connector 501"/>
          <p:cNvSpPr/>
          <p:nvPr/>
        </p:nvSpPr>
        <p:spPr>
          <a:xfrm flipV="1">
            <a:off x="2385924" y="3030440"/>
            <a:ext cx="1303339" cy="27781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7" name="Straight Connector 502"/>
          <p:cNvSpPr/>
          <p:nvPr/>
        </p:nvSpPr>
        <p:spPr>
          <a:xfrm>
            <a:off x="5067213" y="2468465"/>
            <a:ext cx="307976" cy="5730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8" name="Straight Connector 503"/>
          <p:cNvSpPr/>
          <p:nvPr/>
        </p:nvSpPr>
        <p:spPr>
          <a:xfrm flipH="1">
            <a:off x="5576799" y="2446240"/>
            <a:ext cx="384176" cy="57943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9" name="Straight Connector 504"/>
          <p:cNvSpPr/>
          <p:nvPr/>
        </p:nvSpPr>
        <p:spPr>
          <a:xfrm>
            <a:off x="7921538" y="2957415"/>
            <a:ext cx="215901" cy="104616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0" name="Straight Connector 505"/>
          <p:cNvSpPr/>
          <p:nvPr/>
        </p:nvSpPr>
        <p:spPr>
          <a:xfrm flipH="1">
            <a:off x="8288249" y="3308253"/>
            <a:ext cx="241301" cy="6921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1" name="Straight Connector 507"/>
          <p:cNvSpPr/>
          <p:nvPr/>
        </p:nvSpPr>
        <p:spPr>
          <a:xfrm flipH="1" flipV="1">
            <a:off x="8605749" y="4630641"/>
            <a:ext cx="796926" cy="6143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2" name="Straight Connector 509"/>
          <p:cNvSpPr/>
          <p:nvPr/>
        </p:nvSpPr>
        <p:spPr>
          <a:xfrm flipH="1" flipV="1">
            <a:off x="6470563" y="4751291"/>
            <a:ext cx="285751" cy="11604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3" name="Straight Connector 510"/>
          <p:cNvSpPr/>
          <p:nvPr/>
        </p:nvSpPr>
        <p:spPr>
          <a:xfrm flipH="1" flipV="1">
            <a:off x="5219613" y="5102128"/>
            <a:ext cx="371476" cy="9731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4" name="Straight Connector 511"/>
          <p:cNvSpPr/>
          <p:nvPr/>
        </p:nvSpPr>
        <p:spPr>
          <a:xfrm flipH="1" flipV="1">
            <a:off x="4295688" y="5249766"/>
            <a:ext cx="244476" cy="6619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5" name="Straight Connector 512"/>
          <p:cNvSpPr/>
          <p:nvPr/>
        </p:nvSpPr>
        <p:spPr>
          <a:xfrm flipV="1">
            <a:off x="2941549" y="5218015"/>
            <a:ext cx="401639" cy="2095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6" name="Straight Connector 513"/>
          <p:cNvSpPr/>
          <p:nvPr/>
        </p:nvSpPr>
        <p:spPr>
          <a:xfrm>
            <a:off x="2535149" y="5075140"/>
            <a:ext cx="450851" cy="1158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7" name="Straight Connector 514"/>
          <p:cNvSpPr/>
          <p:nvPr/>
        </p:nvSpPr>
        <p:spPr>
          <a:xfrm>
            <a:off x="2306549" y="4433790"/>
            <a:ext cx="996951" cy="47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8" name="Straight Connector 508"/>
          <p:cNvSpPr/>
          <p:nvPr/>
        </p:nvSpPr>
        <p:spPr>
          <a:xfrm flipH="1" flipV="1">
            <a:off x="7646899" y="4779866"/>
            <a:ext cx="1047751" cy="9667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9" name="Straight Connector 506"/>
          <p:cNvSpPr/>
          <p:nvPr/>
        </p:nvSpPr>
        <p:spPr>
          <a:xfrm flipH="1">
            <a:off x="8716874" y="4368703"/>
            <a:ext cx="541339" cy="2492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7551" name="Group 858"/>
          <p:cNvGrpSpPr/>
          <p:nvPr/>
        </p:nvGrpSpPr>
        <p:grpSpPr>
          <a:xfrm>
            <a:off x="5192624" y="2913472"/>
            <a:ext cx="541339" cy="411011"/>
            <a:chOff x="0" y="0"/>
            <a:chExt cx="541337" cy="411009"/>
          </a:xfrm>
        </p:grpSpPr>
        <p:grpSp>
          <p:nvGrpSpPr>
            <p:cNvPr id="7542" name="Freeform 99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54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4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545" name="Oval 99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54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4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550" name="Group 99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546" name="Freeform 99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47" name="Freeform 99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48" name="Freeform 100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49" name="Freeform 100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563" name="Group 859"/>
          <p:cNvGrpSpPr/>
          <p:nvPr/>
        </p:nvGrpSpPr>
        <p:grpSpPr>
          <a:xfrm>
            <a:off x="3621871" y="2813846"/>
            <a:ext cx="541339" cy="411011"/>
            <a:chOff x="0" y="0"/>
            <a:chExt cx="541337" cy="411009"/>
          </a:xfrm>
        </p:grpSpPr>
        <p:grpSp>
          <p:nvGrpSpPr>
            <p:cNvPr id="7554" name="Freeform 988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55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5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557" name="Oval 989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55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5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562" name="Group 990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558" name="Freeform 991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59" name="Freeform 992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60" name="Freeform 993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61" name="Freeform 994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575" name="Group 862"/>
          <p:cNvGrpSpPr/>
          <p:nvPr/>
        </p:nvGrpSpPr>
        <p:grpSpPr>
          <a:xfrm>
            <a:off x="8182681" y="4407087"/>
            <a:ext cx="541339" cy="411011"/>
            <a:chOff x="0" y="0"/>
            <a:chExt cx="541337" cy="411009"/>
          </a:xfrm>
        </p:grpSpPr>
        <p:grpSp>
          <p:nvGrpSpPr>
            <p:cNvPr id="7566" name="Freeform 96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564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65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569" name="Oval 96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567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68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574" name="Group 96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570" name="Freeform 97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71" name="Freeform 97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72" name="Freeform 97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73" name="Freeform 97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587" name="Group 863"/>
          <p:cNvGrpSpPr/>
          <p:nvPr/>
        </p:nvGrpSpPr>
        <p:grpSpPr>
          <a:xfrm>
            <a:off x="7469672" y="4184266"/>
            <a:ext cx="541339" cy="411011"/>
            <a:chOff x="0" y="0"/>
            <a:chExt cx="541337" cy="411009"/>
          </a:xfrm>
        </p:grpSpPr>
        <p:grpSp>
          <p:nvGrpSpPr>
            <p:cNvPr id="7578" name="Freeform 96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57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7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581" name="Oval 96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57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8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586" name="Group 96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582" name="Freeform 96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83" name="Freeform 96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84" name="Freeform 96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85" name="Freeform 96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599" name="Group 864"/>
          <p:cNvGrpSpPr/>
          <p:nvPr/>
        </p:nvGrpSpPr>
        <p:grpSpPr>
          <a:xfrm>
            <a:off x="6979356" y="3965212"/>
            <a:ext cx="541339" cy="411011"/>
            <a:chOff x="0" y="0"/>
            <a:chExt cx="541337" cy="411009"/>
          </a:xfrm>
        </p:grpSpPr>
        <p:grpSp>
          <p:nvGrpSpPr>
            <p:cNvPr id="7590" name="Freeform 95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58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8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593" name="Oval 95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59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9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598" name="Group 95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594" name="Freeform 95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95" name="Freeform 95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96" name="Freeform 95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597" name="Freeform 95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611" name="Group 865"/>
          <p:cNvGrpSpPr/>
          <p:nvPr/>
        </p:nvGrpSpPr>
        <p:grpSpPr>
          <a:xfrm>
            <a:off x="6723615" y="4272372"/>
            <a:ext cx="541339" cy="411011"/>
            <a:chOff x="0" y="0"/>
            <a:chExt cx="541337" cy="411009"/>
          </a:xfrm>
        </p:grpSpPr>
        <p:grpSp>
          <p:nvGrpSpPr>
            <p:cNvPr id="7602" name="Freeform 94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60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0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605" name="Oval 94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60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0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610" name="Group 94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606" name="Freeform 94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07" name="Freeform 95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08" name="Freeform 95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09" name="Freeform 95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623" name="Group 867"/>
          <p:cNvGrpSpPr/>
          <p:nvPr/>
        </p:nvGrpSpPr>
        <p:grpSpPr>
          <a:xfrm>
            <a:off x="7291037" y="4563652"/>
            <a:ext cx="541339" cy="411011"/>
            <a:chOff x="0" y="0"/>
            <a:chExt cx="541337" cy="411009"/>
          </a:xfrm>
        </p:grpSpPr>
        <p:grpSp>
          <p:nvGrpSpPr>
            <p:cNvPr id="7614" name="Freeform 932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61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1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617" name="Oval 933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61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1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622" name="Group 934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618" name="Freeform 935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19" name="Freeform 936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20" name="Freeform 937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21" name="Freeform 938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635" name="Group 870"/>
          <p:cNvGrpSpPr/>
          <p:nvPr/>
        </p:nvGrpSpPr>
        <p:grpSpPr>
          <a:xfrm>
            <a:off x="4220281" y="4732479"/>
            <a:ext cx="541339" cy="411011"/>
            <a:chOff x="0" y="0"/>
            <a:chExt cx="541337" cy="411009"/>
          </a:xfrm>
        </p:grpSpPr>
        <p:grpSp>
          <p:nvGrpSpPr>
            <p:cNvPr id="7626" name="Freeform 911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624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25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629" name="Oval 912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627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28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634" name="Group 913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630" name="Freeform 914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31" name="Freeform 915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32" name="Freeform 916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33" name="Freeform 917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647" name="Group 872"/>
          <p:cNvGrpSpPr/>
          <p:nvPr/>
        </p:nvGrpSpPr>
        <p:grpSpPr>
          <a:xfrm>
            <a:off x="3740086" y="4537098"/>
            <a:ext cx="541339" cy="411011"/>
            <a:chOff x="0" y="0"/>
            <a:chExt cx="541337" cy="411009"/>
          </a:xfrm>
        </p:grpSpPr>
        <p:grpSp>
          <p:nvGrpSpPr>
            <p:cNvPr id="7638" name="Freeform 89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63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3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641" name="Oval 89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63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4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646" name="Group 89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642" name="Freeform 90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43" name="Freeform 90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44" name="Freeform 90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45" name="Freeform 90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659" name="Group 873"/>
          <p:cNvGrpSpPr/>
          <p:nvPr/>
        </p:nvGrpSpPr>
        <p:grpSpPr>
          <a:xfrm>
            <a:off x="3500746" y="4808488"/>
            <a:ext cx="541339" cy="411011"/>
            <a:chOff x="0" y="0"/>
            <a:chExt cx="541337" cy="411009"/>
          </a:xfrm>
        </p:grpSpPr>
        <p:grpSp>
          <p:nvGrpSpPr>
            <p:cNvPr id="7650" name="Freeform 89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64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4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653" name="Oval 89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65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5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658" name="Group 89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654" name="Freeform 89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55" name="Freeform 89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56" name="Freeform 89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57" name="Freeform 89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671" name="Group 874"/>
          <p:cNvGrpSpPr/>
          <p:nvPr/>
        </p:nvGrpSpPr>
        <p:grpSpPr>
          <a:xfrm>
            <a:off x="2989969" y="4994889"/>
            <a:ext cx="541339" cy="411011"/>
            <a:chOff x="0" y="0"/>
            <a:chExt cx="541337" cy="411009"/>
          </a:xfrm>
        </p:grpSpPr>
        <p:grpSp>
          <p:nvGrpSpPr>
            <p:cNvPr id="7662" name="Freeform 88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66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6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665" name="Oval 88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66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6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670" name="Group 88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666" name="Freeform 88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67" name="Freeform 88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68" name="Freeform 88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69" name="Freeform 88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683" name="Group 875"/>
          <p:cNvGrpSpPr/>
          <p:nvPr/>
        </p:nvGrpSpPr>
        <p:grpSpPr>
          <a:xfrm>
            <a:off x="4023881" y="5084099"/>
            <a:ext cx="541339" cy="411011"/>
            <a:chOff x="0" y="0"/>
            <a:chExt cx="541337" cy="411009"/>
          </a:xfrm>
        </p:grpSpPr>
        <p:grpSp>
          <p:nvGrpSpPr>
            <p:cNvPr id="7674" name="Freeform 87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67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7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677" name="Oval 87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67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7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682" name="Group 87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678" name="Freeform 87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79" name="Freeform 88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80" name="Freeform 88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681" name="Freeform 88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7684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grpSp>
        <p:nvGrpSpPr>
          <p:cNvPr id="7739" name="Group 5"/>
          <p:cNvGrpSpPr/>
          <p:nvPr/>
        </p:nvGrpSpPr>
        <p:grpSpPr>
          <a:xfrm>
            <a:off x="1594998" y="1861776"/>
            <a:ext cx="8420227" cy="4670018"/>
            <a:chOff x="0" y="0"/>
            <a:chExt cx="8420225" cy="4670017"/>
          </a:xfrm>
        </p:grpSpPr>
        <p:grpSp>
          <p:nvGrpSpPr>
            <p:cNvPr id="7687" name="Group 2"/>
            <p:cNvGrpSpPr/>
            <p:nvPr/>
          </p:nvGrpSpPr>
          <p:grpSpPr>
            <a:xfrm>
              <a:off x="1402445" y="450341"/>
              <a:ext cx="603417" cy="412924"/>
              <a:chOff x="0" y="0"/>
              <a:chExt cx="603416" cy="412922"/>
            </a:xfrm>
          </p:grpSpPr>
          <p:sp>
            <p:nvSpPr>
              <p:cNvPr id="768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686" name="TextBox 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690" name="Group 131"/>
            <p:cNvGrpSpPr/>
            <p:nvPr/>
          </p:nvGrpSpPr>
          <p:grpSpPr>
            <a:xfrm>
              <a:off x="246589" y="1250380"/>
              <a:ext cx="603418" cy="412923"/>
              <a:chOff x="0" y="0"/>
              <a:chExt cx="603416" cy="412922"/>
            </a:xfrm>
          </p:grpSpPr>
          <p:sp>
            <p:nvSpPr>
              <p:cNvPr id="768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689" name="TextBox 13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693" name="Group 135"/>
            <p:cNvGrpSpPr/>
            <p:nvPr/>
          </p:nvGrpSpPr>
          <p:grpSpPr>
            <a:xfrm>
              <a:off x="5911552" y="704322"/>
              <a:ext cx="603417" cy="412923"/>
              <a:chOff x="0" y="0"/>
              <a:chExt cx="603416" cy="412922"/>
            </a:xfrm>
          </p:grpSpPr>
          <p:sp>
            <p:nvSpPr>
              <p:cNvPr id="769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692" name="TextBox 13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696" name="Group 138"/>
            <p:cNvGrpSpPr/>
            <p:nvPr/>
          </p:nvGrpSpPr>
          <p:grpSpPr>
            <a:xfrm>
              <a:off x="818166" y="3561602"/>
              <a:ext cx="603418" cy="412923"/>
              <a:chOff x="0" y="0"/>
              <a:chExt cx="603416" cy="412922"/>
            </a:xfrm>
          </p:grpSpPr>
          <p:sp>
            <p:nvSpPr>
              <p:cNvPr id="769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695" name="TextBox 140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699" name="Group 141"/>
            <p:cNvGrpSpPr/>
            <p:nvPr/>
          </p:nvGrpSpPr>
          <p:grpSpPr>
            <a:xfrm>
              <a:off x="399010" y="2939350"/>
              <a:ext cx="603417" cy="412923"/>
              <a:chOff x="0" y="0"/>
              <a:chExt cx="603416" cy="412922"/>
            </a:xfrm>
          </p:grpSpPr>
          <p:sp>
            <p:nvSpPr>
              <p:cNvPr id="769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698" name="TextBox 143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02" name="Group 144"/>
            <p:cNvGrpSpPr/>
            <p:nvPr/>
          </p:nvGrpSpPr>
          <p:grpSpPr>
            <a:xfrm>
              <a:off x="170379" y="2279000"/>
              <a:ext cx="603417" cy="412924"/>
              <a:chOff x="0" y="0"/>
              <a:chExt cx="603416" cy="412922"/>
            </a:xfrm>
          </p:grpSpPr>
          <p:sp>
            <p:nvSpPr>
              <p:cNvPr id="7700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01" name="TextBox 146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05" name="Group 147"/>
            <p:cNvGrpSpPr/>
            <p:nvPr/>
          </p:nvGrpSpPr>
          <p:grpSpPr>
            <a:xfrm>
              <a:off x="6660953" y="1136088"/>
              <a:ext cx="603417" cy="412924"/>
              <a:chOff x="0" y="0"/>
              <a:chExt cx="603416" cy="412922"/>
            </a:xfrm>
          </p:grpSpPr>
          <p:sp>
            <p:nvSpPr>
              <p:cNvPr id="7703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04" name="TextBox 149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08" name="Group 150"/>
            <p:cNvGrpSpPr/>
            <p:nvPr/>
          </p:nvGrpSpPr>
          <p:grpSpPr>
            <a:xfrm>
              <a:off x="3002860" y="209060"/>
              <a:ext cx="603418" cy="412923"/>
              <a:chOff x="0" y="0"/>
              <a:chExt cx="603416" cy="412922"/>
            </a:xfrm>
          </p:grpSpPr>
          <p:sp>
            <p:nvSpPr>
              <p:cNvPr id="7706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07" name="TextBox 15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11" name="Group 153"/>
            <p:cNvGrpSpPr/>
            <p:nvPr/>
          </p:nvGrpSpPr>
          <p:grpSpPr>
            <a:xfrm>
              <a:off x="627640" y="856710"/>
              <a:ext cx="603418" cy="412923"/>
              <a:chOff x="0" y="0"/>
              <a:chExt cx="603416" cy="412922"/>
            </a:xfrm>
          </p:grpSpPr>
          <p:sp>
            <p:nvSpPr>
              <p:cNvPr id="7709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10" name="TextBox 15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14" name="Group 156"/>
            <p:cNvGrpSpPr/>
            <p:nvPr/>
          </p:nvGrpSpPr>
          <p:grpSpPr>
            <a:xfrm>
              <a:off x="3917383" y="183662"/>
              <a:ext cx="603418" cy="412923"/>
              <a:chOff x="0" y="0"/>
              <a:chExt cx="603416" cy="412922"/>
            </a:xfrm>
          </p:grpSpPr>
          <p:sp>
            <p:nvSpPr>
              <p:cNvPr id="7712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13" name="TextBox 15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17" name="Group 160"/>
            <p:cNvGrpSpPr/>
            <p:nvPr/>
          </p:nvGrpSpPr>
          <p:grpSpPr>
            <a:xfrm>
              <a:off x="6978495" y="3815582"/>
              <a:ext cx="603418" cy="412924"/>
              <a:chOff x="0" y="0"/>
              <a:chExt cx="603416" cy="412922"/>
            </a:xfrm>
          </p:grpSpPr>
          <p:sp>
            <p:nvSpPr>
              <p:cNvPr id="7715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16" name="TextBox 162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20" name="Group 163"/>
            <p:cNvGrpSpPr/>
            <p:nvPr/>
          </p:nvGrpSpPr>
          <p:grpSpPr>
            <a:xfrm>
              <a:off x="7816808" y="3167932"/>
              <a:ext cx="603418" cy="412923"/>
              <a:chOff x="0" y="0"/>
              <a:chExt cx="603416" cy="412922"/>
            </a:xfrm>
          </p:grpSpPr>
          <p:sp>
            <p:nvSpPr>
              <p:cNvPr id="7718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19" name="TextBox 165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23" name="Group 166"/>
            <p:cNvGrpSpPr/>
            <p:nvPr/>
          </p:nvGrpSpPr>
          <p:grpSpPr>
            <a:xfrm>
              <a:off x="7588178" y="2253602"/>
              <a:ext cx="603417" cy="412924"/>
              <a:chOff x="0" y="0"/>
              <a:chExt cx="603416" cy="412922"/>
            </a:xfrm>
          </p:grpSpPr>
          <p:sp>
            <p:nvSpPr>
              <p:cNvPr id="7721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22" name="TextBox 168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26" name="Group 169"/>
            <p:cNvGrpSpPr/>
            <p:nvPr/>
          </p:nvGrpSpPr>
          <p:grpSpPr>
            <a:xfrm>
              <a:off x="4742994" y="4056864"/>
              <a:ext cx="603418" cy="412923"/>
              <a:chOff x="0" y="0"/>
              <a:chExt cx="603416" cy="412922"/>
            </a:xfrm>
          </p:grpSpPr>
          <p:sp>
            <p:nvSpPr>
              <p:cNvPr id="7724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25" name="TextBox 171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29" name="Group 172"/>
            <p:cNvGrpSpPr/>
            <p:nvPr/>
          </p:nvGrpSpPr>
          <p:grpSpPr>
            <a:xfrm>
              <a:off x="3828471" y="4196553"/>
              <a:ext cx="603418" cy="412923"/>
              <a:chOff x="0" y="0"/>
              <a:chExt cx="603416" cy="412922"/>
            </a:xfrm>
          </p:grpSpPr>
          <p:sp>
            <p:nvSpPr>
              <p:cNvPr id="7727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28" name="TextBox 174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grpSp>
          <p:nvGrpSpPr>
            <p:cNvPr id="7732" name="Group 175"/>
            <p:cNvGrpSpPr/>
            <p:nvPr/>
          </p:nvGrpSpPr>
          <p:grpSpPr>
            <a:xfrm>
              <a:off x="2609107" y="4044165"/>
              <a:ext cx="603418" cy="412923"/>
              <a:chOff x="0" y="0"/>
              <a:chExt cx="603416" cy="412922"/>
            </a:xfrm>
          </p:grpSpPr>
          <p:sp>
            <p:nvSpPr>
              <p:cNvPr id="7730" name="Freeform 84"/>
              <p:cNvSpPr/>
              <p:nvPr/>
            </p:nvSpPr>
            <p:spPr>
              <a:xfrm>
                <a:off x="0" y="0"/>
                <a:ext cx="589770" cy="412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6" h="21326" fill="norm" stroke="1" extrusionOk="0">
                    <a:moveTo>
                      <a:pt x="13407" y="266"/>
                    </a:moveTo>
                    <a:cubicBezTo>
                      <a:pt x="12073" y="522"/>
                      <a:pt x="9571" y="970"/>
                      <a:pt x="8028" y="1610"/>
                    </a:cubicBezTo>
                    <a:cubicBezTo>
                      <a:pt x="6485" y="2250"/>
                      <a:pt x="5026" y="3114"/>
                      <a:pt x="4192" y="4042"/>
                    </a:cubicBezTo>
                    <a:cubicBezTo>
                      <a:pt x="3358" y="4970"/>
                      <a:pt x="3712" y="6346"/>
                      <a:pt x="3066" y="7242"/>
                    </a:cubicBezTo>
                    <a:cubicBezTo>
                      <a:pt x="2420" y="8138"/>
                      <a:pt x="814" y="8202"/>
                      <a:pt x="356" y="9418"/>
                    </a:cubicBezTo>
                    <a:cubicBezTo>
                      <a:pt x="-103" y="10634"/>
                      <a:pt x="-103" y="13578"/>
                      <a:pt x="272" y="14602"/>
                    </a:cubicBezTo>
                    <a:cubicBezTo>
                      <a:pt x="648" y="15626"/>
                      <a:pt x="1127" y="15402"/>
                      <a:pt x="2649" y="15562"/>
                    </a:cubicBezTo>
                    <a:cubicBezTo>
                      <a:pt x="4171" y="15722"/>
                      <a:pt x="7820" y="15210"/>
                      <a:pt x="9446" y="15562"/>
                    </a:cubicBezTo>
                    <a:cubicBezTo>
                      <a:pt x="11072" y="15914"/>
                      <a:pt x="11343" y="16778"/>
                      <a:pt x="12365" y="17674"/>
                    </a:cubicBezTo>
                    <a:cubicBezTo>
                      <a:pt x="13387" y="18570"/>
                      <a:pt x="14638" y="20362"/>
                      <a:pt x="15576" y="20938"/>
                    </a:cubicBezTo>
                    <a:cubicBezTo>
                      <a:pt x="16514" y="21514"/>
                      <a:pt x="17348" y="21354"/>
                      <a:pt x="18036" y="21066"/>
                    </a:cubicBezTo>
                    <a:cubicBezTo>
                      <a:pt x="18724" y="20778"/>
                      <a:pt x="19329" y="20362"/>
                      <a:pt x="19746" y="19210"/>
                    </a:cubicBezTo>
                    <a:cubicBezTo>
                      <a:pt x="20163" y="18058"/>
                      <a:pt x="20350" y="15818"/>
                      <a:pt x="20580" y="14154"/>
                    </a:cubicBezTo>
                    <a:cubicBezTo>
                      <a:pt x="20809" y="12490"/>
                      <a:pt x="21017" y="11018"/>
                      <a:pt x="21122" y="9226"/>
                    </a:cubicBezTo>
                    <a:cubicBezTo>
                      <a:pt x="21226" y="7434"/>
                      <a:pt x="21497" y="4810"/>
                      <a:pt x="21205" y="3338"/>
                    </a:cubicBezTo>
                    <a:cubicBezTo>
                      <a:pt x="20913" y="1866"/>
                      <a:pt x="20225" y="1002"/>
                      <a:pt x="19370" y="458"/>
                    </a:cubicBezTo>
                    <a:cubicBezTo>
                      <a:pt x="18516" y="-86"/>
                      <a:pt x="17077" y="42"/>
                      <a:pt x="16076" y="10"/>
                    </a:cubicBezTo>
                    <a:cubicBezTo>
                      <a:pt x="15075" y="-22"/>
                      <a:pt x="14742" y="10"/>
                      <a:pt x="13407" y="266"/>
                    </a:cubicBezTo>
                    <a:close/>
                  </a:path>
                </a:pathLst>
              </a:custGeom>
              <a:solidFill>
                <a:srgbClr val="00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731" name="TextBox 177"/>
              <p:cNvSpPr txBox="1"/>
              <p:nvPr/>
            </p:nvSpPr>
            <p:spPr>
              <a:xfrm>
                <a:off x="104013" y="17341"/>
                <a:ext cx="499404" cy="3469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access</a:t>
                </a:r>
                <a:endParaRPr sz="2400"/>
              </a:p>
              <a:p>
                <a:pPr algn="ctr">
                  <a:lnSpc>
                    <a:spcPts val="1000"/>
                  </a:lnSpc>
                  <a:defRPr sz="10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</a:t>
                </a:r>
              </a:p>
            </p:txBody>
          </p:sp>
        </p:grpSp>
        <p:sp>
          <p:nvSpPr>
            <p:cNvPr id="7733" name="TextBox 4"/>
            <p:cNvSpPr txBox="1"/>
            <p:nvPr/>
          </p:nvSpPr>
          <p:spPr>
            <a:xfrm rot="1053502">
              <a:off x="5065301" y="10882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734" name="TextBox 179"/>
            <p:cNvSpPr txBox="1"/>
            <p:nvPr/>
          </p:nvSpPr>
          <p:spPr>
            <a:xfrm rot="2829263">
              <a:off x="7358658" y="1588559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735" name="TextBox 180"/>
            <p:cNvSpPr txBox="1"/>
            <p:nvPr/>
          </p:nvSpPr>
          <p:spPr>
            <a:xfrm rot="9845918">
              <a:off x="6012603" y="4130132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736" name="TextBox 181"/>
            <p:cNvSpPr txBox="1"/>
            <p:nvPr/>
          </p:nvSpPr>
          <p:spPr>
            <a:xfrm rot="11651262">
              <a:off x="1634935" y="4031728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737" name="TextBox 182"/>
            <p:cNvSpPr txBox="1"/>
            <p:nvPr/>
          </p:nvSpPr>
          <p:spPr>
            <a:xfrm rot="16607303">
              <a:off x="38700" y="1702535"/>
              <a:ext cx="459741" cy="486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  <p:sp>
          <p:nvSpPr>
            <p:cNvPr id="7738" name="TextBox 183"/>
            <p:cNvSpPr txBox="1"/>
            <p:nvPr/>
          </p:nvSpPr>
          <p:spPr>
            <a:xfrm rot="20582737">
              <a:off x="2240842" y="56466"/>
              <a:ext cx="459741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8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…</a:t>
              </a:r>
            </a:p>
          </p:txBody>
        </p:sp>
      </p:grpSp>
      <p:sp>
        <p:nvSpPr>
          <p:cNvPr id="7740" name="Rectangle 3"/>
          <p:cNvSpPr txBox="1"/>
          <p:nvPr/>
        </p:nvSpPr>
        <p:spPr>
          <a:xfrm>
            <a:off x="1544762" y="1163203"/>
            <a:ext cx="9629352" cy="715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5000"/>
              </a:lnSpc>
              <a:spcBef>
                <a:spcPts val="500"/>
              </a:spcBef>
              <a:defRPr sz="2400"/>
            </a:lvl1pPr>
          </a:lstStyle>
          <a:p>
            <a:pPr/>
            <a:r>
              <a:t>But if one global ISP is viable business, there will be competitors …. who will want to be connected</a:t>
            </a:r>
          </a:p>
        </p:txBody>
      </p:sp>
      <p:grpSp>
        <p:nvGrpSpPr>
          <p:cNvPr id="7746" name="Group 20"/>
          <p:cNvGrpSpPr/>
          <p:nvPr/>
        </p:nvGrpSpPr>
        <p:grpSpPr>
          <a:xfrm>
            <a:off x="5736578" y="2899824"/>
            <a:ext cx="2272390" cy="1061010"/>
            <a:chOff x="0" y="0"/>
            <a:chExt cx="2272388" cy="1061008"/>
          </a:xfrm>
        </p:grpSpPr>
        <p:grpSp>
          <p:nvGrpSpPr>
            <p:cNvPr id="7743" name="Group 16"/>
            <p:cNvGrpSpPr/>
            <p:nvPr/>
          </p:nvGrpSpPr>
          <p:grpSpPr>
            <a:xfrm>
              <a:off x="980224" y="-1"/>
              <a:ext cx="528027" cy="329827"/>
              <a:chOff x="0" y="0"/>
              <a:chExt cx="528026" cy="329825"/>
            </a:xfrm>
          </p:grpSpPr>
          <p:sp>
            <p:nvSpPr>
              <p:cNvPr id="7741" name="Oval 14"/>
              <p:cNvSpPr/>
              <p:nvPr/>
            </p:nvSpPr>
            <p:spPr>
              <a:xfrm>
                <a:off x="0" y="25055"/>
                <a:ext cx="528027" cy="304771"/>
              </a:xfrm>
              <a:prstGeom prst="ellipse">
                <a:avLst/>
              </a:prstGeom>
              <a:solidFill>
                <a:srgbClr val="0000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7742" name="TextBox 15"/>
              <p:cNvSpPr txBox="1"/>
              <p:nvPr/>
            </p:nvSpPr>
            <p:spPr>
              <a:xfrm>
                <a:off x="64976" y="0"/>
                <a:ext cx="431662" cy="3133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IXP</a:t>
                </a:r>
              </a:p>
            </p:txBody>
          </p:sp>
        </p:grpSp>
        <p:sp>
          <p:nvSpPr>
            <p:cNvPr id="7744" name="Straight Connector 18"/>
            <p:cNvSpPr/>
            <p:nvPr/>
          </p:nvSpPr>
          <p:spPr>
            <a:xfrm>
              <a:off x="-1" y="202881"/>
              <a:ext cx="980227" cy="3515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745" name="Straight Connector 516"/>
            <p:cNvSpPr/>
            <p:nvPr/>
          </p:nvSpPr>
          <p:spPr>
            <a:xfrm>
              <a:off x="1440136" y="275797"/>
              <a:ext cx="832253" cy="785212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7750" name="Group 39939"/>
          <p:cNvGrpSpPr/>
          <p:nvPr/>
        </p:nvGrpSpPr>
        <p:grpSpPr>
          <a:xfrm>
            <a:off x="3570155" y="3762886"/>
            <a:ext cx="2938536" cy="1357501"/>
            <a:chOff x="0" y="0"/>
            <a:chExt cx="2938534" cy="1357499"/>
          </a:xfrm>
        </p:grpSpPr>
        <p:sp>
          <p:nvSpPr>
            <p:cNvPr id="7747" name="Straight Connector 7"/>
            <p:cNvSpPr/>
            <p:nvPr/>
          </p:nvSpPr>
          <p:spPr>
            <a:xfrm>
              <a:off x="2349394" y="-1"/>
              <a:ext cx="589142" cy="212440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748" name="Straight Connector 415"/>
            <p:cNvSpPr/>
            <p:nvPr/>
          </p:nvSpPr>
          <p:spPr>
            <a:xfrm flipH="1">
              <a:off x="0" y="55992"/>
              <a:ext cx="54578" cy="601000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749" name="Straight Connector 523"/>
            <p:cNvSpPr/>
            <p:nvPr/>
          </p:nvSpPr>
          <p:spPr>
            <a:xfrm flipV="1">
              <a:off x="1679182" y="967361"/>
              <a:ext cx="1075001" cy="390139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7753" name="Group 39945"/>
          <p:cNvGrpSpPr/>
          <p:nvPr/>
        </p:nvGrpSpPr>
        <p:grpSpPr>
          <a:xfrm>
            <a:off x="5775500" y="5015078"/>
            <a:ext cx="1696336" cy="672053"/>
            <a:chOff x="0" y="0"/>
            <a:chExt cx="1696335" cy="672052"/>
          </a:xfrm>
        </p:grpSpPr>
        <p:sp>
          <p:nvSpPr>
            <p:cNvPr id="7751" name="TextBox 39940"/>
            <p:cNvSpPr txBox="1"/>
            <p:nvPr/>
          </p:nvSpPr>
          <p:spPr>
            <a:xfrm>
              <a:off x="152432" y="279582"/>
              <a:ext cx="1543904" cy="39247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400">
                  <a:solidFill>
                    <a:srgbClr val="CC0000"/>
                  </a:solidFill>
                </a:defRPr>
              </a:lvl1pPr>
            </a:lstStyle>
            <a:p>
              <a:pPr/>
              <a:r>
                <a:t>peering link</a:t>
              </a:r>
            </a:p>
          </p:txBody>
        </p:sp>
        <p:sp>
          <p:nvSpPr>
            <p:cNvPr id="7752" name="Straight Connector 39943"/>
            <p:cNvSpPr/>
            <p:nvPr/>
          </p:nvSpPr>
          <p:spPr>
            <a:xfrm>
              <a:off x="0" y="0"/>
              <a:ext cx="266756" cy="419374"/>
            </a:xfrm>
            <a:prstGeom prst="line">
              <a:avLst/>
            </a:prstGeom>
            <a:noFill/>
            <a:ln w="9525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7756" name="Group 39950"/>
          <p:cNvGrpSpPr/>
          <p:nvPr/>
        </p:nvGrpSpPr>
        <p:grpSpPr>
          <a:xfrm>
            <a:off x="6332807" y="1707260"/>
            <a:ext cx="3095438" cy="1166369"/>
            <a:chOff x="0" y="0"/>
            <a:chExt cx="3095436" cy="1166367"/>
          </a:xfrm>
        </p:grpSpPr>
        <p:sp>
          <p:nvSpPr>
            <p:cNvPr id="7754" name="TextBox 39946"/>
            <p:cNvSpPr txBox="1"/>
            <p:nvPr/>
          </p:nvSpPr>
          <p:spPr>
            <a:xfrm>
              <a:off x="0" y="0"/>
              <a:ext cx="3095437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400">
                  <a:solidFill>
                    <a:srgbClr val="CC0000"/>
                  </a:solidFill>
                </a:defRPr>
              </a:lvl1pPr>
            </a:lstStyle>
            <a:p>
              <a:pPr/>
              <a:r>
                <a:t>Internet exchange point </a:t>
              </a:r>
            </a:p>
          </p:txBody>
        </p:sp>
        <p:sp>
          <p:nvSpPr>
            <p:cNvPr id="7755" name="Straight Connector 39948"/>
            <p:cNvSpPr/>
            <p:nvPr/>
          </p:nvSpPr>
          <p:spPr>
            <a:xfrm flipH="1">
              <a:off x="825938" y="453875"/>
              <a:ext cx="219980" cy="712493"/>
            </a:xfrm>
            <a:prstGeom prst="line">
              <a:avLst/>
            </a:prstGeom>
            <a:noFill/>
            <a:ln w="9525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7768" name="Group 861"/>
          <p:cNvGrpSpPr/>
          <p:nvPr/>
        </p:nvGrpSpPr>
        <p:grpSpPr>
          <a:xfrm>
            <a:off x="7929474" y="3845334"/>
            <a:ext cx="541339" cy="411011"/>
            <a:chOff x="0" y="0"/>
            <a:chExt cx="541337" cy="411009"/>
          </a:xfrm>
        </p:grpSpPr>
        <p:grpSp>
          <p:nvGrpSpPr>
            <p:cNvPr id="7759" name="Freeform 974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75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5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762" name="Oval 975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76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6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767" name="Group 976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763" name="Freeform 977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64" name="Freeform 978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65" name="Freeform 979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66" name="Freeform 980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780" name="Group 860"/>
          <p:cNvGrpSpPr/>
          <p:nvPr/>
        </p:nvGrpSpPr>
        <p:grpSpPr>
          <a:xfrm>
            <a:off x="6429197" y="3757737"/>
            <a:ext cx="541339" cy="411010"/>
            <a:chOff x="0" y="0"/>
            <a:chExt cx="541337" cy="411009"/>
          </a:xfrm>
        </p:grpSpPr>
        <p:grpSp>
          <p:nvGrpSpPr>
            <p:cNvPr id="7771" name="Freeform 981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76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7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774" name="Oval 982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77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7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779" name="Group 983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775" name="Freeform 984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76" name="Freeform 985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77" name="Freeform 986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78" name="Freeform 987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792" name="Group 815"/>
          <p:cNvGrpSpPr/>
          <p:nvPr/>
        </p:nvGrpSpPr>
        <p:grpSpPr>
          <a:xfrm>
            <a:off x="5457737" y="3545297"/>
            <a:ext cx="541339" cy="411011"/>
            <a:chOff x="0" y="0"/>
            <a:chExt cx="541337" cy="411009"/>
          </a:xfrm>
        </p:grpSpPr>
        <p:grpSp>
          <p:nvGrpSpPr>
            <p:cNvPr id="7783" name="Freeform 103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78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8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786" name="Oval 103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78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8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791" name="Group 103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787" name="Freeform 103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88" name="Freeform 103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89" name="Freeform 103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790" name="Freeform 103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799" name="Group 1050"/>
          <p:cNvGrpSpPr/>
          <p:nvPr/>
        </p:nvGrpSpPr>
        <p:grpSpPr>
          <a:xfrm>
            <a:off x="4815073" y="3924251"/>
            <a:ext cx="1634943" cy="693433"/>
            <a:chOff x="0" y="0"/>
            <a:chExt cx="1634942" cy="693432"/>
          </a:xfrm>
        </p:grpSpPr>
        <p:sp>
          <p:nvSpPr>
            <p:cNvPr id="7793" name="Straight Connector 515"/>
            <p:cNvSpPr/>
            <p:nvPr/>
          </p:nvSpPr>
          <p:spPr>
            <a:xfrm flipV="1">
              <a:off x="167807" y="385714"/>
              <a:ext cx="309147" cy="307719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794" name="Straight Connector 519"/>
            <p:cNvSpPr/>
            <p:nvPr/>
          </p:nvSpPr>
          <p:spPr>
            <a:xfrm flipV="1">
              <a:off x="705107" y="0"/>
              <a:ext cx="929836" cy="367085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795" name="Straight Connector 520"/>
            <p:cNvSpPr/>
            <p:nvPr/>
          </p:nvSpPr>
          <p:spPr>
            <a:xfrm>
              <a:off x="0" y="22790"/>
              <a:ext cx="476954" cy="277503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7798" name="Group 518"/>
            <p:cNvGrpSpPr/>
            <p:nvPr/>
          </p:nvGrpSpPr>
          <p:grpSpPr>
            <a:xfrm>
              <a:off x="304605" y="194852"/>
              <a:ext cx="528443" cy="325288"/>
              <a:chOff x="0" y="0"/>
              <a:chExt cx="528442" cy="325286"/>
            </a:xfrm>
          </p:grpSpPr>
          <p:sp>
            <p:nvSpPr>
              <p:cNvPr id="7796" name="Oval 521"/>
              <p:cNvSpPr/>
              <p:nvPr/>
            </p:nvSpPr>
            <p:spPr>
              <a:xfrm>
                <a:off x="0" y="20144"/>
                <a:ext cx="528443" cy="305143"/>
              </a:xfrm>
              <a:prstGeom prst="ellipse">
                <a:avLst/>
              </a:prstGeom>
              <a:solidFill>
                <a:srgbClr val="0000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7797" name="TextBox 522"/>
              <p:cNvSpPr txBox="1"/>
              <p:nvPr/>
            </p:nvSpPr>
            <p:spPr>
              <a:xfrm>
                <a:off x="96481" y="0"/>
                <a:ext cx="365781" cy="3005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IXP</a:t>
                </a:r>
              </a:p>
            </p:txBody>
          </p:sp>
        </p:grpSp>
      </p:grpSp>
      <p:grpSp>
        <p:nvGrpSpPr>
          <p:cNvPr id="7811" name="Group 866"/>
          <p:cNvGrpSpPr/>
          <p:nvPr/>
        </p:nvGrpSpPr>
        <p:grpSpPr>
          <a:xfrm>
            <a:off x="6244845" y="4512658"/>
            <a:ext cx="541339" cy="411011"/>
            <a:chOff x="0" y="0"/>
            <a:chExt cx="541337" cy="411009"/>
          </a:xfrm>
        </p:grpSpPr>
        <p:grpSp>
          <p:nvGrpSpPr>
            <p:cNvPr id="7802" name="Freeform 939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80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0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805" name="Oval 940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80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0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810" name="Group 941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806" name="Freeform 942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07" name="Freeform 943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08" name="Freeform 944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09" name="Freeform 945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823" name="Group 869"/>
          <p:cNvGrpSpPr/>
          <p:nvPr/>
        </p:nvGrpSpPr>
        <p:grpSpPr>
          <a:xfrm>
            <a:off x="4812419" y="4917284"/>
            <a:ext cx="541339" cy="411011"/>
            <a:chOff x="0" y="0"/>
            <a:chExt cx="541337" cy="411009"/>
          </a:xfrm>
        </p:grpSpPr>
        <p:grpSp>
          <p:nvGrpSpPr>
            <p:cNvPr id="7814" name="Freeform 918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812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13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817" name="Oval 919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815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16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822" name="Group 920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818" name="Freeform 921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19" name="Freeform 922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20" name="Freeform 923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21" name="Freeform 924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835" name="Group 818"/>
          <p:cNvGrpSpPr/>
          <p:nvPr/>
        </p:nvGrpSpPr>
        <p:grpSpPr>
          <a:xfrm>
            <a:off x="3355533" y="3579652"/>
            <a:ext cx="541339" cy="411011"/>
            <a:chOff x="0" y="0"/>
            <a:chExt cx="541337" cy="411009"/>
          </a:xfrm>
        </p:grpSpPr>
        <p:grpSp>
          <p:nvGrpSpPr>
            <p:cNvPr id="7826" name="Freeform 1009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824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25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829" name="Oval 1010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827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28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834" name="Group 1011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830" name="Freeform 1012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31" name="Freeform 1013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32" name="Freeform 1014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33" name="Freeform 1015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847" name="Group 871"/>
          <p:cNvGrpSpPr/>
          <p:nvPr/>
        </p:nvGrpSpPr>
        <p:grpSpPr>
          <a:xfrm>
            <a:off x="3292387" y="4282350"/>
            <a:ext cx="541339" cy="411011"/>
            <a:chOff x="0" y="0"/>
            <a:chExt cx="541337" cy="411009"/>
          </a:xfrm>
        </p:grpSpPr>
        <p:grpSp>
          <p:nvGrpSpPr>
            <p:cNvPr id="7838" name="Freeform 904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83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3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841" name="Oval 905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83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4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846" name="Group 906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842" name="Freeform 907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43" name="Freeform 908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44" name="Freeform 909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45" name="Freeform 910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859" name="Group 819"/>
          <p:cNvGrpSpPr/>
          <p:nvPr/>
        </p:nvGrpSpPr>
        <p:grpSpPr>
          <a:xfrm>
            <a:off x="4400286" y="3732413"/>
            <a:ext cx="541339" cy="411011"/>
            <a:chOff x="0" y="0"/>
            <a:chExt cx="541337" cy="411009"/>
          </a:xfrm>
        </p:grpSpPr>
        <p:grpSp>
          <p:nvGrpSpPr>
            <p:cNvPr id="7850" name="Freeform 1002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84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4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853" name="Oval 1003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85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5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858" name="Group 1004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854" name="Freeform 1005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55" name="Freeform 1006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56" name="Freeform 1007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57" name="Freeform 1008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871" name="Group 868"/>
          <p:cNvGrpSpPr/>
          <p:nvPr/>
        </p:nvGrpSpPr>
        <p:grpSpPr>
          <a:xfrm>
            <a:off x="4568094" y="4403055"/>
            <a:ext cx="541339" cy="411010"/>
            <a:chOff x="0" y="0"/>
            <a:chExt cx="541337" cy="411009"/>
          </a:xfrm>
        </p:grpSpPr>
        <p:grpSp>
          <p:nvGrpSpPr>
            <p:cNvPr id="7862" name="Freeform 92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86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6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865" name="Oval 92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86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6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870" name="Group 92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866" name="Freeform 92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67" name="Freeform 92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68" name="Freeform 93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69" name="Freeform 93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7872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500"/>
                                        <p:tgtEl>
                                          <p:spTgt spid="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746" grpId="2"/>
      <p:bldP build="whole" bldLvl="1" animBg="1" rev="0" advAuto="0" spid="7753" grpId="5"/>
      <p:bldP build="whole" bldLvl="1" animBg="1" rev="0" advAuto="0" spid="7756" grpId="3"/>
      <p:bldP build="whole" bldLvl="1" animBg="1" rev="0" advAuto="0" spid="7799" grpId="1"/>
      <p:bldP build="whole" bldLvl="1" animBg="1" rev="0" advAuto="0" spid="7750" grpId="4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" name="Oval 3"/>
          <p:cNvSpPr/>
          <p:nvPr/>
        </p:nvSpPr>
        <p:spPr>
          <a:xfrm>
            <a:off x="2884399" y="2782790"/>
            <a:ext cx="3475039" cy="1381128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875" name="Straight Connector 10"/>
          <p:cNvSpPr/>
          <p:nvPr/>
        </p:nvSpPr>
        <p:spPr>
          <a:xfrm>
            <a:off x="4108363" y="3025677"/>
            <a:ext cx="1146176" cy="730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76" name="Straight Connector 297"/>
          <p:cNvSpPr/>
          <p:nvPr/>
        </p:nvSpPr>
        <p:spPr>
          <a:xfrm>
            <a:off x="4702088" y="3325715"/>
            <a:ext cx="130176" cy="841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77" name="Straight Connector 298"/>
          <p:cNvSpPr/>
          <p:nvPr/>
        </p:nvSpPr>
        <p:spPr>
          <a:xfrm flipV="1">
            <a:off x="4486188" y="3530503"/>
            <a:ext cx="263526" cy="4603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78" name="Straight Connector 299"/>
          <p:cNvSpPr/>
          <p:nvPr/>
        </p:nvSpPr>
        <p:spPr>
          <a:xfrm flipV="1">
            <a:off x="4165513" y="3354290"/>
            <a:ext cx="209551" cy="1095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79" name="Straight Connector 300"/>
          <p:cNvSpPr/>
          <p:nvPr/>
        </p:nvSpPr>
        <p:spPr>
          <a:xfrm flipV="1">
            <a:off x="3827374" y="3654328"/>
            <a:ext cx="222251" cy="984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80" name="Straight Connector 301"/>
          <p:cNvSpPr/>
          <p:nvPr/>
        </p:nvSpPr>
        <p:spPr>
          <a:xfrm flipV="1">
            <a:off x="4719549" y="3579715"/>
            <a:ext cx="273051" cy="25400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81" name="Straight Connector 302"/>
          <p:cNvSpPr/>
          <p:nvPr/>
        </p:nvSpPr>
        <p:spPr>
          <a:xfrm flipH="1" flipV="1">
            <a:off x="5251363" y="3565428"/>
            <a:ext cx="387351" cy="1254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82" name="Straight Connector 303"/>
          <p:cNvSpPr/>
          <p:nvPr/>
        </p:nvSpPr>
        <p:spPr>
          <a:xfrm flipV="1">
            <a:off x="5237074" y="3216177"/>
            <a:ext cx="307976" cy="19843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83" name="Straight Connector 304"/>
          <p:cNvSpPr/>
          <p:nvPr/>
        </p:nvSpPr>
        <p:spPr>
          <a:xfrm flipH="1" flipV="1">
            <a:off x="4109949" y="3086002"/>
            <a:ext cx="246064" cy="873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84" name="TextBox 39958"/>
          <p:cNvSpPr txBox="1"/>
          <p:nvPr/>
        </p:nvSpPr>
        <p:spPr>
          <a:xfrm>
            <a:off x="3090457" y="3127277"/>
            <a:ext cx="721481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A</a:t>
            </a:r>
          </a:p>
        </p:txBody>
      </p:sp>
      <p:grpSp>
        <p:nvGrpSpPr>
          <p:cNvPr id="7896" name="Group 814"/>
          <p:cNvGrpSpPr/>
          <p:nvPr/>
        </p:nvGrpSpPr>
        <p:grpSpPr>
          <a:xfrm>
            <a:off x="4779874" y="3300823"/>
            <a:ext cx="541339" cy="411011"/>
            <a:chOff x="0" y="0"/>
            <a:chExt cx="541337" cy="411009"/>
          </a:xfrm>
        </p:grpSpPr>
        <p:grpSp>
          <p:nvGrpSpPr>
            <p:cNvPr id="7887" name="Freeform 103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88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8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890" name="Oval 103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88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8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895" name="Group 103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891" name="Freeform 104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92" name="Freeform 104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93" name="Freeform 104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94" name="Freeform 104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908" name="Group 816"/>
          <p:cNvGrpSpPr/>
          <p:nvPr/>
        </p:nvGrpSpPr>
        <p:grpSpPr>
          <a:xfrm>
            <a:off x="4228291" y="3056347"/>
            <a:ext cx="541339" cy="411011"/>
            <a:chOff x="0" y="0"/>
            <a:chExt cx="541337" cy="411009"/>
          </a:xfrm>
        </p:grpSpPr>
        <p:grpSp>
          <p:nvGrpSpPr>
            <p:cNvPr id="7899" name="Freeform 102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89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89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902" name="Oval 102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90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0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907" name="Group 102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903" name="Freeform 102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04" name="Freeform 102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05" name="Freeform 102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06" name="Freeform 102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920" name="Group 817"/>
          <p:cNvGrpSpPr/>
          <p:nvPr/>
        </p:nvGrpSpPr>
        <p:grpSpPr>
          <a:xfrm>
            <a:off x="3972631" y="3357285"/>
            <a:ext cx="541339" cy="411011"/>
            <a:chOff x="0" y="0"/>
            <a:chExt cx="541337" cy="411009"/>
          </a:xfrm>
        </p:grpSpPr>
        <p:grpSp>
          <p:nvGrpSpPr>
            <p:cNvPr id="7911" name="Freeform 101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90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1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914" name="Oval 101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91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1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919" name="Group 101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915" name="Freeform 101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16" name="Freeform 102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17" name="Freeform 102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18" name="Freeform 102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7921" name="Oval 3"/>
          <p:cNvSpPr/>
          <p:nvPr/>
        </p:nvSpPr>
        <p:spPr>
          <a:xfrm>
            <a:off x="2671674" y="4260753"/>
            <a:ext cx="2941639" cy="1323977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922" name="Straight Connector 10"/>
          <p:cNvSpPr/>
          <p:nvPr/>
        </p:nvSpPr>
        <p:spPr>
          <a:xfrm>
            <a:off x="3706724" y="4494115"/>
            <a:ext cx="969964" cy="682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23" name="Straight Connector 297"/>
          <p:cNvSpPr/>
          <p:nvPr/>
        </p:nvSpPr>
        <p:spPr>
          <a:xfrm>
            <a:off x="4209963" y="4781453"/>
            <a:ext cx="109538" cy="7937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24" name="Straight Connector 298"/>
          <p:cNvSpPr/>
          <p:nvPr/>
        </p:nvSpPr>
        <p:spPr>
          <a:xfrm flipV="1">
            <a:off x="4027399" y="4976715"/>
            <a:ext cx="222251" cy="444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25" name="Straight Connector 299"/>
          <p:cNvSpPr/>
          <p:nvPr/>
        </p:nvSpPr>
        <p:spPr>
          <a:xfrm flipV="1">
            <a:off x="3754349" y="4808440"/>
            <a:ext cx="177801" cy="1063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26" name="Straight Connector 300"/>
          <p:cNvSpPr/>
          <p:nvPr/>
        </p:nvSpPr>
        <p:spPr>
          <a:xfrm flipV="1">
            <a:off x="3468599" y="5095778"/>
            <a:ext cx="188914" cy="952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27" name="Straight Connector 301"/>
          <p:cNvSpPr/>
          <p:nvPr/>
        </p:nvSpPr>
        <p:spPr>
          <a:xfrm flipV="1">
            <a:off x="4224249" y="5024340"/>
            <a:ext cx="231776" cy="24447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28" name="Straight Connector 302"/>
          <p:cNvSpPr/>
          <p:nvPr/>
        </p:nvSpPr>
        <p:spPr>
          <a:xfrm flipH="1" flipV="1">
            <a:off x="4675099" y="5011640"/>
            <a:ext cx="327026" cy="1190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29" name="Straight Connector 303"/>
          <p:cNvSpPr/>
          <p:nvPr/>
        </p:nvSpPr>
        <p:spPr>
          <a:xfrm flipV="1">
            <a:off x="4662399" y="4676678"/>
            <a:ext cx="260351" cy="1889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0" name="Straight Connector 304"/>
          <p:cNvSpPr/>
          <p:nvPr/>
        </p:nvSpPr>
        <p:spPr>
          <a:xfrm flipH="1" flipV="1">
            <a:off x="3708314" y="4551265"/>
            <a:ext cx="207962" cy="841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1" name="TextBox 39958"/>
          <p:cNvSpPr txBox="1"/>
          <p:nvPr/>
        </p:nvSpPr>
        <p:spPr>
          <a:xfrm>
            <a:off x="2852332" y="4590953"/>
            <a:ext cx="704365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C</a:t>
            </a:r>
          </a:p>
        </p:txBody>
      </p:sp>
      <p:sp>
        <p:nvSpPr>
          <p:cNvPr id="7932" name="Oval 3"/>
          <p:cNvSpPr/>
          <p:nvPr/>
        </p:nvSpPr>
        <p:spPr>
          <a:xfrm>
            <a:off x="5765713" y="3706715"/>
            <a:ext cx="3219451" cy="1343028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933" name="Straight Connector 10"/>
          <p:cNvSpPr/>
          <p:nvPr/>
        </p:nvSpPr>
        <p:spPr>
          <a:xfrm>
            <a:off x="6899188" y="3943253"/>
            <a:ext cx="1062038" cy="698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4" name="Straight Connector 297"/>
          <p:cNvSpPr/>
          <p:nvPr/>
        </p:nvSpPr>
        <p:spPr>
          <a:xfrm>
            <a:off x="7450049" y="4233765"/>
            <a:ext cx="120651" cy="825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5" name="Straight Connector 298"/>
          <p:cNvSpPr/>
          <p:nvPr/>
        </p:nvSpPr>
        <p:spPr>
          <a:xfrm flipV="1">
            <a:off x="7250024" y="4433790"/>
            <a:ext cx="242889" cy="444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6" name="Straight Connector 299"/>
          <p:cNvSpPr/>
          <p:nvPr/>
        </p:nvSpPr>
        <p:spPr>
          <a:xfrm flipV="1">
            <a:off x="6951574" y="4262340"/>
            <a:ext cx="195264" cy="1063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7" name="Straight Connector 300"/>
          <p:cNvSpPr/>
          <p:nvPr/>
        </p:nvSpPr>
        <p:spPr>
          <a:xfrm flipV="1">
            <a:off x="6638838" y="4554440"/>
            <a:ext cx="206376" cy="952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8" name="Straight Connector 301"/>
          <p:cNvSpPr/>
          <p:nvPr/>
        </p:nvSpPr>
        <p:spPr>
          <a:xfrm flipV="1">
            <a:off x="7465924" y="4481415"/>
            <a:ext cx="254001" cy="2476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9" name="Straight Connector 302"/>
          <p:cNvSpPr/>
          <p:nvPr/>
        </p:nvSpPr>
        <p:spPr>
          <a:xfrm flipH="1" flipV="1">
            <a:off x="7929474" y="4460778"/>
            <a:ext cx="358776" cy="1206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0" name="Straight Connector 303"/>
          <p:cNvSpPr/>
          <p:nvPr/>
        </p:nvSpPr>
        <p:spPr>
          <a:xfrm flipV="1">
            <a:off x="7945349" y="4127403"/>
            <a:ext cx="285751" cy="19208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1" name="Straight Connector 304"/>
          <p:cNvSpPr/>
          <p:nvPr/>
        </p:nvSpPr>
        <p:spPr>
          <a:xfrm flipH="1" flipV="1">
            <a:off x="6900774" y="4000403"/>
            <a:ext cx="227014" cy="857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2" name="TextBox 39958"/>
          <p:cNvSpPr txBox="1"/>
          <p:nvPr/>
        </p:nvSpPr>
        <p:spPr>
          <a:xfrm>
            <a:off x="5960658" y="4040090"/>
            <a:ext cx="710913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B</a:t>
            </a:r>
          </a:p>
        </p:txBody>
      </p:sp>
      <p:sp>
        <p:nvSpPr>
          <p:cNvPr id="7943" name="Straight Connector 12"/>
          <p:cNvSpPr/>
          <p:nvPr/>
        </p:nvSpPr>
        <p:spPr>
          <a:xfrm>
            <a:off x="3533688" y="2666902"/>
            <a:ext cx="238126" cy="2619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4" name="Straight Connector 502"/>
          <p:cNvSpPr/>
          <p:nvPr/>
        </p:nvSpPr>
        <p:spPr>
          <a:xfrm>
            <a:off x="5067213" y="2468465"/>
            <a:ext cx="307976" cy="5730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5" name="Straight Connector 503"/>
          <p:cNvSpPr/>
          <p:nvPr/>
        </p:nvSpPr>
        <p:spPr>
          <a:xfrm flipH="1">
            <a:off x="5576799" y="2446240"/>
            <a:ext cx="384176" cy="57943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6" name="Straight Connector 504"/>
          <p:cNvSpPr/>
          <p:nvPr/>
        </p:nvSpPr>
        <p:spPr>
          <a:xfrm>
            <a:off x="7921538" y="2957415"/>
            <a:ext cx="215901" cy="104616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7" name="Straight Connector 505"/>
          <p:cNvSpPr/>
          <p:nvPr/>
        </p:nvSpPr>
        <p:spPr>
          <a:xfrm flipH="1">
            <a:off x="8288249" y="3308253"/>
            <a:ext cx="241301" cy="6921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8" name="Straight Connector 507"/>
          <p:cNvSpPr/>
          <p:nvPr/>
        </p:nvSpPr>
        <p:spPr>
          <a:xfrm flipH="1" flipV="1">
            <a:off x="8605749" y="4630641"/>
            <a:ext cx="796926" cy="6143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49" name="Straight Connector 512"/>
          <p:cNvSpPr/>
          <p:nvPr/>
        </p:nvSpPr>
        <p:spPr>
          <a:xfrm flipV="1">
            <a:off x="2941549" y="5218015"/>
            <a:ext cx="401639" cy="2095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50" name="Straight Connector 513"/>
          <p:cNvSpPr/>
          <p:nvPr/>
        </p:nvSpPr>
        <p:spPr>
          <a:xfrm>
            <a:off x="2535149" y="5075140"/>
            <a:ext cx="450851" cy="1158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51" name="Straight Connector 508"/>
          <p:cNvSpPr/>
          <p:nvPr/>
        </p:nvSpPr>
        <p:spPr>
          <a:xfrm flipH="1" flipV="1">
            <a:off x="7646899" y="4779866"/>
            <a:ext cx="1047751" cy="9667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52" name="Straight Connector 506"/>
          <p:cNvSpPr/>
          <p:nvPr/>
        </p:nvSpPr>
        <p:spPr>
          <a:xfrm flipH="1">
            <a:off x="8716874" y="4368703"/>
            <a:ext cx="541339" cy="2492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7964" name="Group 858"/>
          <p:cNvGrpSpPr/>
          <p:nvPr/>
        </p:nvGrpSpPr>
        <p:grpSpPr>
          <a:xfrm>
            <a:off x="5192624" y="2913472"/>
            <a:ext cx="541339" cy="411011"/>
            <a:chOff x="0" y="0"/>
            <a:chExt cx="541337" cy="411009"/>
          </a:xfrm>
        </p:grpSpPr>
        <p:grpSp>
          <p:nvGrpSpPr>
            <p:cNvPr id="7955" name="Freeform 99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95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5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958" name="Oval 99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95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5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963" name="Group 99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959" name="Freeform 99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60" name="Freeform 99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61" name="Freeform 100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62" name="Freeform 100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976" name="Group 859"/>
          <p:cNvGrpSpPr/>
          <p:nvPr/>
        </p:nvGrpSpPr>
        <p:grpSpPr>
          <a:xfrm>
            <a:off x="3621871" y="2813846"/>
            <a:ext cx="541339" cy="411011"/>
            <a:chOff x="0" y="0"/>
            <a:chExt cx="541337" cy="411009"/>
          </a:xfrm>
        </p:grpSpPr>
        <p:grpSp>
          <p:nvGrpSpPr>
            <p:cNvPr id="7967" name="Freeform 988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96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6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970" name="Oval 989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96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6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975" name="Group 990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971" name="Freeform 991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72" name="Freeform 992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73" name="Freeform 993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74" name="Freeform 994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7988" name="Group 862"/>
          <p:cNvGrpSpPr/>
          <p:nvPr/>
        </p:nvGrpSpPr>
        <p:grpSpPr>
          <a:xfrm>
            <a:off x="8182681" y="4407087"/>
            <a:ext cx="541339" cy="411011"/>
            <a:chOff x="0" y="0"/>
            <a:chExt cx="541337" cy="411009"/>
          </a:xfrm>
        </p:grpSpPr>
        <p:grpSp>
          <p:nvGrpSpPr>
            <p:cNvPr id="7979" name="Freeform 96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97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7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982" name="Oval 96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98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8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987" name="Group 96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983" name="Freeform 97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84" name="Freeform 97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85" name="Freeform 97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86" name="Freeform 97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00" name="Group 863"/>
          <p:cNvGrpSpPr/>
          <p:nvPr/>
        </p:nvGrpSpPr>
        <p:grpSpPr>
          <a:xfrm>
            <a:off x="7469672" y="4184266"/>
            <a:ext cx="541339" cy="411011"/>
            <a:chOff x="0" y="0"/>
            <a:chExt cx="541337" cy="411009"/>
          </a:xfrm>
        </p:grpSpPr>
        <p:grpSp>
          <p:nvGrpSpPr>
            <p:cNvPr id="7991" name="Freeform 96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798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9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7994" name="Oval 96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799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9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7999" name="Group 96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7995" name="Freeform 96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96" name="Freeform 96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97" name="Freeform 96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98" name="Freeform 96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12" name="Group 864"/>
          <p:cNvGrpSpPr/>
          <p:nvPr/>
        </p:nvGrpSpPr>
        <p:grpSpPr>
          <a:xfrm>
            <a:off x="6979356" y="3965212"/>
            <a:ext cx="541339" cy="411011"/>
            <a:chOff x="0" y="0"/>
            <a:chExt cx="541337" cy="411009"/>
          </a:xfrm>
        </p:grpSpPr>
        <p:grpSp>
          <p:nvGrpSpPr>
            <p:cNvPr id="8003" name="Freeform 95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00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0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006" name="Oval 95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00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0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011" name="Group 95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007" name="Freeform 95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08" name="Freeform 95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09" name="Freeform 95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10" name="Freeform 95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24" name="Group 865"/>
          <p:cNvGrpSpPr/>
          <p:nvPr/>
        </p:nvGrpSpPr>
        <p:grpSpPr>
          <a:xfrm>
            <a:off x="6723615" y="4272372"/>
            <a:ext cx="541339" cy="411011"/>
            <a:chOff x="0" y="0"/>
            <a:chExt cx="541337" cy="411009"/>
          </a:xfrm>
        </p:grpSpPr>
        <p:grpSp>
          <p:nvGrpSpPr>
            <p:cNvPr id="8015" name="Freeform 94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01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1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018" name="Oval 94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01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1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023" name="Group 94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019" name="Freeform 94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20" name="Freeform 95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21" name="Freeform 95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22" name="Freeform 95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36" name="Group 867"/>
          <p:cNvGrpSpPr/>
          <p:nvPr/>
        </p:nvGrpSpPr>
        <p:grpSpPr>
          <a:xfrm>
            <a:off x="7291037" y="4563652"/>
            <a:ext cx="541339" cy="411011"/>
            <a:chOff x="0" y="0"/>
            <a:chExt cx="541337" cy="411009"/>
          </a:xfrm>
        </p:grpSpPr>
        <p:grpSp>
          <p:nvGrpSpPr>
            <p:cNvPr id="8027" name="Freeform 932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02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2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030" name="Oval 933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02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2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035" name="Group 934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031" name="Freeform 935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32" name="Freeform 936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33" name="Freeform 937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34" name="Freeform 938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48" name="Group 870"/>
          <p:cNvGrpSpPr/>
          <p:nvPr/>
        </p:nvGrpSpPr>
        <p:grpSpPr>
          <a:xfrm>
            <a:off x="4220281" y="4732479"/>
            <a:ext cx="541339" cy="411011"/>
            <a:chOff x="0" y="0"/>
            <a:chExt cx="541337" cy="411009"/>
          </a:xfrm>
        </p:grpSpPr>
        <p:grpSp>
          <p:nvGrpSpPr>
            <p:cNvPr id="8039" name="Freeform 911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03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3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042" name="Oval 912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04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4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047" name="Group 913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043" name="Freeform 914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44" name="Freeform 915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45" name="Freeform 916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46" name="Freeform 917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60" name="Group 872"/>
          <p:cNvGrpSpPr/>
          <p:nvPr/>
        </p:nvGrpSpPr>
        <p:grpSpPr>
          <a:xfrm>
            <a:off x="3740086" y="4537098"/>
            <a:ext cx="541339" cy="411011"/>
            <a:chOff x="0" y="0"/>
            <a:chExt cx="541337" cy="411009"/>
          </a:xfrm>
        </p:grpSpPr>
        <p:grpSp>
          <p:nvGrpSpPr>
            <p:cNvPr id="8051" name="Freeform 89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04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5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054" name="Oval 89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05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5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059" name="Group 89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055" name="Freeform 90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56" name="Freeform 90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57" name="Freeform 90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58" name="Freeform 90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72" name="Group 873"/>
          <p:cNvGrpSpPr/>
          <p:nvPr/>
        </p:nvGrpSpPr>
        <p:grpSpPr>
          <a:xfrm>
            <a:off x="3500746" y="4808488"/>
            <a:ext cx="541339" cy="411011"/>
            <a:chOff x="0" y="0"/>
            <a:chExt cx="541337" cy="411009"/>
          </a:xfrm>
        </p:grpSpPr>
        <p:grpSp>
          <p:nvGrpSpPr>
            <p:cNvPr id="8063" name="Freeform 89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06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6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066" name="Oval 89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06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6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071" name="Group 89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067" name="Freeform 89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68" name="Freeform 89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69" name="Freeform 89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70" name="Freeform 89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84" name="Group 874"/>
          <p:cNvGrpSpPr/>
          <p:nvPr/>
        </p:nvGrpSpPr>
        <p:grpSpPr>
          <a:xfrm>
            <a:off x="2989969" y="4994889"/>
            <a:ext cx="541339" cy="411011"/>
            <a:chOff x="0" y="0"/>
            <a:chExt cx="541337" cy="411009"/>
          </a:xfrm>
        </p:grpSpPr>
        <p:grpSp>
          <p:nvGrpSpPr>
            <p:cNvPr id="8075" name="Freeform 88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07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7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078" name="Oval 88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07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7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083" name="Group 88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079" name="Freeform 88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80" name="Freeform 88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81" name="Freeform 88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82" name="Freeform 88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096" name="Group 875"/>
          <p:cNvGrpSpPr/>
          <p:nvPr/>
        </p:nvGrpSpPr>
        <p:grpSpPr>
          <a:xfrm>
            <a:off x="4023881" y="5084099"/>
            <a:ext cx="541339" cy="411011"/>
            <a:chOff x="0" y="0"/>
            <a:chExt cx="541337" cy="411009"/>
          </a:xfrm>
        </p:grpSpPr>
        <p:grpSp>
          <p:nvGrpSpPr>
            <p:cNvPr id="8087" name="Freeform 87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08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8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090" name="Oval 87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08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8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095" name="Group 87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091" name="Freeform 87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92" name="Freeform 88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93" name="Freeform 88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094" name="Freeform 88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097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grpSp>
        <p:nvGrpSpPr>
          <p:cNvPr id="8100" name="Group 2"/>
          <p:cNvGrpSpPr/>
          <p:nvPr/>
        </p:nvGrpSpPr>
        <p:grpSpPr>
          <a:xfrm>
            <a:off x="2997444" y="2312118"/>
            <a:ext cx="603417" cy="412924"/>
            <a:chOff x="0" y="0"/>
            <a:chExt cx="603416" cy="412922"/>
          </a:xfrm>
        </p:grpSpPr>
        <p:sp>
          <p:nvSpPr>
            <p:cNvPr id="8098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99" name="TextBox 1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03" name="Group 135"/>
          <p:cNvGrpSpPr/>
          <p:nvPr/>
        </p:nvGrpSpPr>
        <p:grpSpPr>
          <a:xfrm>
            <a:off x="7506550" y="2566098"/>
            <a:ext cx="603418" cy="412924"/>
            <a:chOff x="0" y="0"/>
            <a:chExt cx="603416" cy="412922"/>
          </a:xfrm>
        </p:grpSpPr>
        <p:sp>
          <p:nvSpPr>
            <p:cNvPr id="8101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02" name="TextBox 137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06" name="Group 138"/>
          <p:cNvGrpSpPr/>
          <p:nvPr/>
        </p:nvGrpSpPr>
        <p:grpSpPr>
          <a:xfrm>
            <a:off x="2413164" y="5423378"/>
            <a:ext cx="603418" cy="412923"/>
            <a:chOff x="0" y="0"/>
            <a:chExt cx="603416" cy="412922"/>
          </a:xfrm>
        </p:grpSpPr>
        <p:sp>
          <p:nvSpPr>
            <p:cNvPr id="8104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05" name="TextBox 140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09" name="Group 141"/>
          <p:cNvGrpSpPr/>
          <p:nvPr/>
        </p:nvGrpSpPr>
        <p:grpSpPr>
          <a:xfrm>
            <a:off x="1994008" y="4801126"/>
            <a:ext cx="603418" cy="412924"/>
            <a:chOff x="0" y="0"/>
            <a:chExt cx="603416" cy="412922"/>
          </a:xfrm>
        </p:grpSpPr>
        <p:sp>
          <p:nvSpPr>
            <p:cNvPr id="8107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08" name="TextBox 143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12" name="Group 144"/>
          <p:cNvGrpSpPr/>
          <p:nvPr/>
        </p:nvGrpSpPr>
        <p:grpSpPr>
          <a:xfrm>
            <a:off x="1765377" y="4140777"/>
            <a:ext cx="603418" cy="412924"/>
            <a:chOff x="0" y="0"/>
            <a:chExt cx="603416" cy="412922"/>
          </a:xfrm>
        </p:grpSpPr>
        <p:sp>
          <p:nvSpPr>
            <p:cNvPr id="8110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11" name="TextBox 146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15" name="Group 147"/>
          <p:cNvGrpSpPr/>
          <p:nvPr/>
        </p:nvGrpSpPr>
        <p:grpSpPr>
          <a:xfrm>
            <a:off x="8255952" y="2997865"/>
            <a:ext cx="603417" cy="412923"/>
            <a:chOff x="0" y="0"/>
            <a:chExt cx="603416" cy="412922"/>
          </a:xfrm>
        </p:grpSpPr>
        <p:sp>
          <p:nvSpPr>
            <p:cNvPr id="8113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14" name="TextBox 149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18" name="Group 150"/>
          <p:cNvGrpSpPr/>
          <p:nvPr/>
        </p:nvGrpSpPr>
        <p:grpSpPr>
          <a:xfrm>
            <a:off x="4597860" y="2070836"/>
            <a:ext cx="603417" cy="412924"/>
            <a:chOff x="0" y="0"/>
            <a:chExt cx="603416" cy="412922"/>
          </a:xfrm>
        </p:grpSpPr>
        <p:sp>
          <p:nvSpPr>
            <p:cNvPr id="8116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17" name="TextBox 152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21" name="Group 156"/>
          <p:cNvGrpSpPr/>
          <p:nvPr/>
        </p:nvGrpSpPr>
        <p:grpSpPr>
          <a:xfrm>
            <a:off x="5512382" y="2045438"/>
            <a:ext cx="603418" cy="412924"/>
            <a:chOff x="0" y="0"/>
            <a:chExt cx="603416" cy="412922"/>
          </a:xfrm>
        </p:grpSpPr>
        <p:sp>
          <p:nvSpPr>
            <p:cNvPr id="8119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20" name="TextBox 158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24" name="Group 160"/>
          <p:cNvGrpSpPr/>
          <p:nvPr/>
        </p:nvGrpSpPr>
        <p:grpSpPr>
          <a:xfrm>
            <a:off x="8573494" y="5677359"/>
            <a:ext cx="603418" cy="412923"/>
            <a:chOff x="0" y="0"/>
            <a:chExt cx="603416" cy="412922"/>
          </a:xfrm>
        </p:grpSpPr>
        <p:sp>
          <p:nvSpPr>
            <p:cNvPr id="8122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23" name="TextBox 162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27" name="Group 163"/>
          <p:cNvGrpSpPr/>
          <p:nvPr/>
        </p:nvGrpSpPr>
        <p:grpSpPr>
          <a:xfrm>
            <a:off x="9411808" y="5029709"/>
            <a:ext cx="603417" cy="412923"/>
            <a:chOff x="0" y="0"/>
            <a:chExt cx="603416" cy="412922"/>
          </a:xfrm>
        </p:grpSpPr>
        <p:sp>
          <p:nvSpPr>
            <p:cNvPr id="8125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26" name="TextBox 165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130" name="Group 166"/>
          <p:cNvGrpSpPr/>
          <p:nvPr/>
        </p:nvGrpSpPr>
        <p:grpSpPr>
          <a:xfrm>
            <a:off x="9183177" y="4115379"/>
            <a:ext cx="603417" cy="412924"/>
            <a:chOff x="0" y="0"/>
            <a:chExt cx="603416" cy="412922"/>
          </a:xfrm>
        </p:grpSpPr>
        <p:sp>
          <p:nvSpPr>
            <p:cNvPr id="8128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29" name="TextBox 168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sp>
        <p:nvSpPr>
          <p:cNvPr id="8131" name="TextBox 4"/>
          <p:cNvSpPr txBox="1"/>
          <p:nvPr/>
        </p:nvSpPr>
        <p:spPr>
          <a:xfrm rot="1053502">
            <a:off x="6660300" y="1970601"/>
            <a:ext cx="45974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132" name="TextBox 179"/>
          <p:cNvSpPr txBox="1"/>
          <p:nvPr/>
        </p:nvSpPr>
        <p:spPr>
          <a:xfrm rot="2829263">
            <a:off x="8953657" y="3450336"/>
            <a:ext cx="459741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133" name="TextBox 180"/>
          <p:cNvSpPr txBox="1"/>
          <p:nvPr/>
        </p:nvSpPr>
        <p:spPr>
          <a:xfrm rot="9845918">
            <a:off x="7607601" y="5991909"/>
            <a:ext cx="459741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134" name="TextBox 181"/>
          <p:cNvSpPr txBox="1"/>
          <p:nvPr/>
        </p:nvSpPr>
        <p:spPr>
          <a:xfrm rot="11651262">
            <a:off x="3229934" y="5893505"/>
            <a:ext cx="45974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135" name="TextBox 182"/>
          <p:cNvSpPr txBox="1"/>
          <p:nvPr/>
        </p:nvSpPr>
        <p:spPr>
          <a:xfrm rot="16607303">
            <a:off x="1633699" y="3564311"/>
            <a:ext cx="45974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136" name="TextBox 183"/>
          <p:cNvSpPr txBox="1"/>
          <p:nvPr/>
        </p:nvSpPr>
        <p:spPr>
          <a:xfrm rot="20582737">
            <a:off x="3835841" y="1918243"/>
            <a:ext cx="459741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137" name="Rectangle 3"/>
          <p:cNvSpPr txBox="1"/>
          <p:nvPr/>
        </p:nvSpPr>
        <p:spPr>
          <a:xfrm>
            <a:off x="1544762" y="1197748"/>
            <a:ext cx="962935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5000"/>
              </a:lnSpc>
              <a:spcBef>
                <a:spcPts val="600"/>
              </a:spcBef>
              <a:defRPr sz="2800"/>
            </a:lvl1pPr>
          </a:lstStyle>
          <a:p>
            <a:pPr/>
            <a:r>
              <a:t>… and regional networks may arise to connect access nets to ISPs </a:t>
            </a:r>
          </a:p>
        </p:txBody>
      </p:sp>
      <p:grpSp>
        <p:nvGrpSpPr>
          <p:cNvPr id="8143" name="Group 20"/>
          <p:cNvGrpSpPr/>
          <p:nvPr/>
        </p:nvGrpSpPr>
        <p:grpSpPr>
          <a:xfrm>
            <a:off x="5736578" y="2899824"/>
            <a:ext cx="2272390" cy="1061010"/>
            <a:chOff x="0" y="0"/>
            <a:chExt cx="2272388" cy="1061008"/>
          </a:xfrm>
        </p:grpSpPr>
        <p:grpSp>
          <p:nvGrpSpPr>
            <p:cNvPr id="8140" name="Group 16"/>
            <p:cNvGrpSpPr/>
            <p:nvPr/>
          </p:nvGrpSpPr>
          <p:grpSpPr>
            <a:xfrm>
              <a:off x="980224" y="-1"/>
              <a:ext cx="528027" cy="329827"/>
              <a:chOff x="0" y="0"/>
              <a:chExt cx="528026" cy="329825"/>
            </a:xfrm>
          </p:grpSpPr>
          <p:sp>
            <p:nvSpPr>
              <p:cNvPr id="8138" name="Oval 14"/>
              <p:cNvSpPr/>
              <p:nvPr/>
            </p:nvSpPr>
            <p:spPr>
              <a:xfrm>
                <a:off x="0" y="25055"/>
                <a:ext cx="528027" cy="304771"/>
              </a:xfrm>
              <a:prstGeom prst="ellipse">
                <a:avLst/>
              </a:prstGeom>
              <a:solidFill>
                <a:srgbClr val="0000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139" name="TextBox 15"/>
              <p:cNvSpPr txBox="1"/>
              <p:nvPr/>
            </p:nvSpPr>
            <p:spPr>
              <a:xfrm>
                <a:off x="64976" y="0"/>
                <a:ext cx="431662" cy="3133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IXP</a:t>
                </a:r>
              </a:p>
            </p:txBody>
          </p:sp>
        </p:grpSp>
        <p:sp>
          <p:nvSpPr>
            <p:cNvPr id="8141" name="Straight Connector 18"/>
            <p:cNvSpPr/>
            <p:nvPr/>
          </p:nvSpPr>
          <p:spPr>
            <a:xfrm>
              <a:off x="-1" y="202881"/>
              <a:ext cx="980227" cy="3515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42" name="Straight Connector 516"/>
            <p:cNvSpPr/>
            <p:nvPr/>
          </p:nvSpPr>
          <p:spPr>
            <a:xfrm>
              <a:off x="1440136" y="275797"/>
              <a:ext cx="832253" cy="785212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147" name="Group 39939"/>
          <p:cNvGrpSpPr/>
          <p:nvPr/>
        </p:nvGrpSpPr>
        <p:grpSpPr>
          <a:xfrm>
            <a:off x="3570155" y="3762886"/>
            <a:ext cx="2938536" cy="1357501"/>
            <a:chOff x="0" y="0"/>
            <a:chExt cx="2938534" cy="1357499"/>
          </a:xfrm>
        </p:grpSpPr>
        <p:sp>
          <p:nvSpPr>
            <p:cNvPr id="8144" name="Straight Connector 7"/>
            <p:cNvSpPr/>
            <p:nvPr/>
          </p:nvSpPr>
          <p:spPr>
            <a:xfrm>
              <a:off x="2349394" y="-1"/>
              <a:ext cx="589142" cy="212440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45" name="Straight Connector 415"/>
            <p:cNvSpPr/>
            <p:nvPr/>
          </p:nvSpPr>
          <p:spPr>
            <a:xfrm flipH="1">
              <a:off x="0" y="55992"/>
              <a:ext cx="54578" cy="601000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46" name="Straight Connector 523"/>
            <p:cNvSpPr/>
            <p:nvPr/>
          </p:nvSpPr>
          <p:spPr>
            <a:xfrm flipV="1">
              <a:off x="1679182" y="967361"/>
              <a:ext cx="1075001" cy="390139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148" name="Straight Connector 515"/>
          <p:cNvSpPr/>
          <p:nvPr/>
        </p:nvSpPr>
        <p:spPr>
          <a:xfrm flipV="1">
            <a:off x="4982879" y="4309965"/>
            <a:ext cx="309147" cy="307719"/>
          </a:xfrm>
          <a:prstGeom prst="line">
            <a:avLst/>
          </a:prstGeom>
          <a:ln w="38100"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49" name="Straight Connector 519"/>
          <p:cNvSpPr/>
          <p:nvPr/>
        </p:nvSpPr>
        <p:spPr>
          <a:xfrm flipV="1">
            <a:off x="5520180" y="3924251"/>
            <a:ext cx="929836" cy="367085"/>
          </a:xfrm>
          <a:prstGeom prst="line">
            <a:avLst/>
          </a:prstGeom>
          <a:ln w="38100"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50" name="Straight Connector 520"/>
          <p:cNvSpPr/>
          <p:nvPr/>
        </p:nvSpPr>
        <p:spPr>
          <a:xfrm>
            <a:off x="4815073" y="3947043"/>
            <a:ext cx="476954" cy="277503"/>
          </a:xfrm>
          <a:prstGeom prst="line">
            <a:avLst/>
          </a:prstGeom>
          <a:ln w="38100"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162" name="Group 861"/>
          <p:cNvGrpSpPr/>
          <p:nvPr/>
        </p:nvGrpSpPr>
        <p:grpSpPr>
          <a:xfrm>
            <a:off x="7929474" y="3845334"/>
            <a:ext cx="541339" cy="411011"/>
            <a:chOff x="0" y="0"/>
            <a:chExt cx="541337" cy="411009"/>
          </a:xfrm>
        </p:grpSpPr>
        <p:grpSp>
          <p:nvGrpSpPr>
            <p:cNvPr id="8153" name="Freeform 974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15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5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156" name="Oval 975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15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5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161" name="Group 976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157" name="Freeform 977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58" name="Freeform 978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59" name="Freeform 979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60" name="Freeform 980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174" name="Group 819"/>
          <p:cNvGrpSpPr/>
          <p:nvPr/>
        </p:nvGrpSpPr>
        <p:grpSpPr>
          <a:xfrm>
            <a:off x="4400286" y="3732413"/>
            <a:ext cx="541339" cy="411011"/>
            <a:chOff x="0" y="0"/>
            <a:chExt cx="541337" cy="411009"/>
          </a:xfrm>
        </p:grpSpPr>
        <p:grpSp>
          <p:nvGrpSpPr>
            <p:cNvPr id="8165" name="Freeform 1002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16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6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168" name="Oval 1003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16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6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173" name="Group 1004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169" name="Freeform 1005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70" name="Freeform 1006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71" name="Freeform 1007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72" name="Freeform 1008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186" name="Group 868"/>
          <p:cNvGrpSpPr/>
          <p:nvPr/>
        </p:nvGrpSpPr>
        <p:grpSpPr>
          <a:xfrm>
            <a:off x="4568094" y="4403055"/>
            <a:ext cx="541339" cy="411010"/>
            <a:chOff x="0" y="0"/>
            <a:chExt cx="541337" cy="411009"/>
          </a:xfrm>
        </p:grpSpPr>
        <p:grpSp>
          <p:nvGrpSpPr>
            <p:cNvPr id="8177" name="Freeform 92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17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7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180" name="Oval 92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17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7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185" name="Group 92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181" name="Freeform 92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82" name="Freeform 92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83" name="Freeform 93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84" name="Freeform 93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198" name="Group 860"/>
          <p:cNvGrpSpPr/>
          <p:nvPr/>
        </p:nvGrpSpPr>
        <p:grpSpPr>
          <a:xfrm>
            <a:off x="6429197" y="3757737"/>
            <a:ext cx="541339" cy="411010"/>
            <a:chOff x="0" y="0"/>
            <a:chExt cx="541337" cy="411009"/>
          </a:xfrm>
        </p:grpSpPr>
        <p:grpSp>
          <p:nvGrpSpPr>
            <p:cNvPr id="8189" name="Freeform 981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18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8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192" name="Oval 982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19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9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197" name="Group 983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193" name="Freeform 984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94" name="Freeform 985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95" name="Freeform 986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196" name="Freeform 987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210" name="Group 815"/>
          <p:cNvGrpSpPr/>
          <p:nvPr/>
        </p:nvGrpSpPr>
        <p:grpSpPr>
          <a:xfrm>
            <a:off x="5457737" y="3545297"/>
            <a:ext cx="541339" cy="411011"/>
            <a:chOff x="0" y="0"/>
            <a:chExt cx="541337" cy="411009"/>
          </a:xfrm>
        </p:grpSpPr>
        <p:grpSp>
          <p:nvGrpSpPr>
            <p:cNvPr id="8201" name="Freeform 103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19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0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204" name="Oval 103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20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0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209" name="Group 103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205" name="Freeform 103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06" name="Freeform 103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07" name="Freeform 103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08" name="Freeform 103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213" name="Group 518"/>
          <p:cNvGrpSpPr/>
          <p:nvPr/>
        </p:nvGrpSpPr>
        <p:grpSpPr>
          <a:xfrm>
            <a:off x="5119677" y="4119105"/>
            <a:ext cx="528443" cy="325287"/>
            <a:chOff x="0" y="0"/>
            <a:chExt cx="528442" cy="325286"/>
          </a:xfrm>
        </p:grpSpPr>
        <p:sp>
          <p:nvSpPr>
            <p:cNvPr id="8211" name="Oval 521"/>
            <p:cNvSpPr/>
            <p:nvPr/>
          </p:nvSpPr>
          <p:spPr>
            <a:xfrm>
              <a:off x="0" y="20144"/>
              <a:ext cx="528443" cy="305143"/>
            </a:xfrm>
            <a:prstGeom prst="ellipse">
              <a:avLst/>
            </a:prstGeom>
            <a:solidFill>
              <a:srgbClr val="0000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212" name="TextBox 522"/>
            <p:cNvSpPr txBox="1"/>
            <p:nvPr/>
          </p:nvSpPr>
          <p:spPr>
            <a:xfrm>
              <a:off x="96481" y="0"/>
              <a:ext cx="365781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IXP</a:t>
              </a:r>
            </a:p>
          </p:txBody>
        </p:sp>
      </p:grpSp>
      <p:grpSp>
        <p:nvGrpSpPr>
          <p:cNvPr id="8225" name="Group 866"/>
          <p:cNvGrpSpPr/>
          <p:nvPr/>
        </p:nvGrpSpPr>
        <p:grpSpPr>
          <a:xfrm>
            <a:off x="6244845" y="4512658"/>
            <a:ext cx="541339" cy="411011"/>
            <a:chOff x="0" y="0"/>
            <a:chExt cx="541337" cy="411009"/>
          </a:xfrm>
        </p:grpSpPr>
        <p:grpSp>
          <p:nvGrpSpPr>
            <p:cNvPr id="8216" name="Freeform 939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214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15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219" name="Oval 940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217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18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224" name="Group 941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220" name="Freeform 942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21" name="Freeform 943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22" name="Freeform 944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23" name="Freeform 945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237" name="Group 818"/>
          <p:cNvGrpSpPr/>
          <p:nvPr/>
        </p:nvGrpSpPr>
        <p:grpSpPr>
          <a:xfrm>
            <a:off x="3355533" y="3579652"/>
            <a:ext cx="541339" cy="411011"/>
            <a:chOff x="0" y="0"/>
            <a:chExt cx="541337" cy="411009"/>
          </a:xfrm>
        </p:grpSpPr>
        <p:grpSp>
          <p:nvGrpSpPr>
            <p:cNvPr id="8228" name="Freeform 1009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22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2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231" name="Oval 1010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22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3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236" name="Group 1011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232" name="Freeform 1012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33" name="Freeform 1013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34" name="Freeform 1014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35" name="Freeform 1015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238" name="Straight Connector 500"/>
          <p:cNvSpPr/>
          <p:nvPr/>
        </p:nvSpPr>
        <p:spPr>
          <a:xfrm>
            <a:off x="2622406" y="3016152"/>
            <a:ext cx="38101" cy="30956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39" name="Straight Connector 501"/>
          <p:cNvSpPr/>
          <p:nvPr/>
        </p:nvSpPr>
        <p:spPr>
          <a:xfrm>
            <a:off x="2401745" y="3297140"/>
            <a:ext cx="123826" cy="21272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40" name="Straight Connector 514"/>
          <p:cNvSpPr/>
          <p:nvPr/>
        </p:nvSpPr>
        <p:spPr>
          <a:xfrm flipV="1">
            <a:off x="2322370" y="4394103"/>
            <a:ext cx="203201" cy="79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41" name="Straight Connector 39941"/>
          <p:cNvSpPr/>
          <p:nvPr/>
        </p:nvSpPr>
        <p:spPr>
          <a:xfrm flipV="1">
            <a:off x="2851006" y="3849590"/>
            <a:ext cx="430214" cy="1016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244" name="Group 153"/>
          <p:cNvGrpSpPr/>
          <p:nvPr/>
        </p:nvGrpSpPr>
        <p:grpSpPr>
          <a:xfrm>
            <a:off x="2222639" y="2718487"/>
            <a:ext cx="603418" cy="412924"/>
            <a:chOff x="0" y="0"/>
            <a:chExt cx="603416" cy="412922"/>
          </a:xfrm>
        </p:grpSpPr>
        <p:sp>
          <p:nvSpPr>
            <p:cNvPr id="8242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43" name="TextBox 155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247" name="Group 131"/>
          <p:cNvGrpSpPr/>
          <p:nvPr/>
        </p:nvGrpSpPr>
        <p:grpSpPr>
          <a:xfrm>
            <a:off x="1841588" y="3112156"/>
            <a:ext cx="603417" cy="412924"/>
            <a:chOff x="0" y="0"/>
            <a:chExt cx="603416" cy="412922"/>
          </a:xfrm>
        </p:grpSpPr>
        <p:sp>
          <p:nvSpPr>
            <p:cNvPr id="8245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46" name="TextBox 133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sp>
        <p:nvSpPr>
          <p:cNvPr id="8248" name="Straight Connector 524"/>
          <p:cNvSpPr/>
          <p:nvPr/>
        </p:nvSpPr>
        <p:spPr>
          <a:xfrm>
            <a:off x="2801849" y="4156771"/>
            <a:ext cx="560913" cy="29873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260" name="Group 871"/>
          <p:cNvGrpSpPr/>
          <p:nvPr/>
        </p:nvGrpSpPr>
        <p:grpSpPr>
          <a:xfrm>
            <a:off x="3292387" y="4282350"/>
            <a:ext cx="541339" cy="411011"/>
            <a:chOff x="0" y="0"/>
            <a:chExt cx="541337" cy="411009"/>
          </a:xfrm>
        </p:grpSpPr>
        <p:grpSp>
          <p:nvGrpSpPr>
            <p:cNvPr id="8251" name="Freeform 904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24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5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254" name="Oval 905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25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5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259" name="Group 906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255" name="Freeform 907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56" name="Freeform 908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57" name="Freeform 909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58" name="Freeform 910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261" name="Straight Connector 510"/>
          <p:cNvSpPr/>
          <p:nvPr/>
        </p:nvSpPr>
        <p:spPr>
          <a:xfrm flipH="1" flipV="1">
            <a:off x="5179131" y="5171183"/>
            <a:ext cx="371476" cy="9731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266" name="Group 4"/>
          <p:cNvGrpSpPr/>
          <p:nvPr/>
        </p:nvGrpSpPr>
        <p:grpSpPr>
          <a:xfrm>
            <a:off x="4461581" y="5447246"/>
            <a:ext cx="2216151" cy="533563"/>
            <a:chOff x="0" y="0"/>
            <a:chExt cx="2216150" cy="533562"/>
          </a:xfrm>
        </p:grpSpPr>
        <p:sp>
          <p:nvSpPr>
            <p:cNvPr id="8262" name="Straight Connector 509"/>
            <p:cNvSpPr/>
            <p:nvPr/>
          </p:nvSpPr>
          <p:spPr>
            <a:xfrm flipH="1" flipV="1">
              <a:off x="1695450" y="363700"/>
              <a:ext cx="520701" cy="1698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63" name="Oval 33"/>
            <p:cNvSpPr/>
            <p:nvPr/>
          </p:nvSpPr>
          <p:spPr>
            <a:xfrm rot="10800000">
              <a:off x="83517" y="0"/>
              <a:ext cx="1807205" cy="495366"/>
            </a:xfrm>
            <a:prstGeom prst="ellipse">
              <a:avLst/>
            </a:prstGeom>
            <a:solidFill>
              <a:srgbClr val="CC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264" name="Straight Connector 511"/>
            <p:cNvSpPr/>
            <p:nvPr/>
          </p:nvSpPr>
          <p:spPr>
            <a:xfrm flipV="1">
              <a:off x="-1" y="368462"/>
              <a:ext cx="306388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65" name="TextBox 9"/>
            <p:cNvSpPr txBox="1"/>
            <p:nvPr/>
          </p:nvSpPr>
          <p:spPr>
            <a:xfrm>
              <a:off x="246538" y="40948"/>
              <a:ext cx="1487871" cy="375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0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regional ISP</a:t>
              </a:r>
            </a:p>
          </p:txBody>
        </p:sp>
      </p:grpSp>
      <p:grpSp>
        <p:nvGrpSpPr>
          <p:cNvPr id="8269" name="Group 175"/>
          <p:cNvGrpSpPr/>
          <p:nvPr/>
        </p:nvGrpSpPr>
        <p:grpSpPr>
          <a:xfrm>
            <a:off x="4204106" y="5905941"/>
            <a:ext cx="603418" cy="412924"/>
            <a:chOff x="0" y="0"/>
            <a:chExt cx="603416" cy="412922"/>
          </a:xfrm>
        </p:grpSpPr>
        <p:sp>
          <p:nvSpPr>
            <p:cNvPr id="8267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68" name="TextBox 177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272" name="Group 172"/>
          <p:cNvGrpSpPr/>
          <p:nvPr/>
        </p:nvGrpSpPr>
        <p:grpSpPr>
          <a:xfrm>
            <a:off x="5423470" y="6058329"/>
            <a:ext cx="603418" cy="412924"/>
            <a:chOff x="0" y="0"/>
            <a:chExt cx="603416" cy="412922"/>
          </a:xfrm>
        </p:grpSpPr>
        <p:sp>
          <p:nvSpPr>
            <p:cNvPr id="8270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71" name="TextBox 174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275" name="Group 169"/>
          <p:cNvGrpSpPr/>
          <p:nvPr/>
        </p:nvGrpSpPr>
        <p:grpSpPr>
          <a:xfrm>
            <a:off x="6337993" y="5918640"/>
            <a:ext cx="603418" cy="412923"/>
            <a:chOff x="0" y="0"/>
            <a:chExt cx="603416" cy="412922"/>
          </a:xfrm>
        </p:grpSpPr>
        <p:sp>
          <p:nvSpPr>
            <p:cNvPr id="8273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74" name="TextBox 171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287" name="Group 869"/>
          <p:cNvGrpSpPr/>
          <p:nvPr/>
        </p:nvGrpSpPr>
        <p:grpSpPr>
          <a:xfrm>
            <a:off x="4812419" y="4917284"/>
            <a:ext cx="541339" cy="411011"/>
            <a:chOff x="0" y="0"/>
            <a:chExt cx="541337" cy="411009"/>
          </a:xfrm>
        </p:grpSpPr>
        <p:grpSp>
          <p:nvGrpSpPr>
            <p:cNvPr id="8278" name="Freeform 918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276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77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281" name="Oval 919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279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80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286" name="Group 920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282" name="Freeform 921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83" name="Freeform 922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84" name="Freeform 923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85" name="Freeform 924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288" name="Oval 33"/>
          <p:cNvSpPr/>
          <p:nvPr/>
        </p:nvSpPr>
        <p:spPr>
          <a:xfrm rot="5400000">
            <a:off x="2030587" y="3754605"/>
            <a:ext cx="1252539" cy="381001"/>
          </a:xfrm>
          <a:prstGeom prst="ellipse">
            <a:avLst/>
          </a:prstGeom>
          <a:solidFill>
            <a:srgbClr val="CCCC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289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1" name="Oval 33"/>
          <p:cNvSpPr/>
          <p:nvPr/>
        </p:nvSpPr>
        <p:spPr>
          <a:xfrm rot="5400000">
            <a:off x="2030587" y="3754605"/>
            <a:ext cx="1252539" cy="381001"/>
          </a:xfrm>
          <a:prstGeom prst="ellipse">
            <a:avLst/>
          </a:prstGeom>
          <a:solidFill>
            <a:srgbClr val="CCCC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292" name="Oval 3"/>
          <p:cNvSpPr/>
          <p:nvPr/>
        </p:nvSpPr>
        <p:spPr>
          <a:xfrm>
            <a:off x="2884399" y="2782790"/>
            <a:ext cx="3475039" cy="1381128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293" name="Straight Connector 10"/>
          <p:cNvSpPr/>
          <p:nvPr/>
        </p:nvSpPr>
        <p:spPr>
          <a:xfrm>
            <a:off x="4108363" y="3025677"/>
            <a:ext cx="1146176" cy="730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94" name="Straight Connector 297"/>
          <p:cNvSpPr/>
          <p:nvPr/>
        </p:nvSpPr>
        <p:spPr>
          <a:xfrm>
            <a:off x="4702088" y="3325715"/>
            <a:ext cx="130176" cy="841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95" name="Straight Connector 298"/>
          <p:cNvSpPr/>
          <p:nvPr/>
        </p:nvSpPr>
        <p:spPr>
          <a:xfrm flipV="1">
            <a:off x="4486188" y="3530503"/>
            <a:ext cx="263526" cy="4603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96" name="Straight Connector 299"/>
          <p:cNvSpPr/>
          <p:nvPr/>
        </p:nvSpPr>
        <p:spPr>
          <a:xfrm flipV="1">
            <a:off x="4165513" y="3354290"/>
            <a:ext cx="209551" cy="1095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97" name="Straight Connector 300"/>
          <p:cNvSpPr/>
          <p:nvPr/>
        </p:nvSpPr>
        <p:spPr>
          <a:xfrm flipV="1">
            <a:off x="3827374" y="3654328"/>
            <a:ext cx="222251" cy="984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98" name="Straight Connector 301"/>
          <p:cNvSpPr/>
          <p:nvPr/>
        </p:nvSpPr>
        <p:spPr>
          <a:xfrm flipV="1">
            <a:off x="4719549" y="3579715"/>
            <a:ext cx="273051" cy="25400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99" name="Straight Connector 302"/>
          <p:cNvSpPr/>
          <p:nvPr/>
        </p:nvSpPr>
        <p:spPr>
          <a:xfrm flipH="1" flipV="1">
            <a:off x="5251363" y="3565428"/>
            <a:ext cx="387351" cy="1254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00" name="Straight Connector 303"/>
          <p:cNvSpPr/>
          <p:nvPr/>
        </p:nvSpPr>
        <p:spPr>
          <a:xfrm flipV="1">
            <a:off x="5237074" y="3216177"/>
            <a:ext cx="307976" cy="19843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01" name="Straight Connector 304"/>
          <p:cNvSpPr/>
          <p:nvPr/>
        </p:nvSpPr>
        <p:spPr>
          <a:xfrm flipH="1" flipV="1">
            <a:off x="4109949" y="3086002"/>
            <a:ext cx="246064" cy="873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02" name="TextBox 39958"/>
          <p:cNvSpPr txBox="1"/>
          <p:nvPr/>
        </p:nvSpPr>
        <p:spPr>
          <a:xfrm>
            <a:off x="3090457" y="3127277"/>
            <a:ext cx="721481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A</a:t>
            </a:r>
          </a:p>
        </p:txBody>
      </p:sp>
      <p:grpSp>
        <p:nvGrpSpPr>
          <p:cNvPr id="8314" name="Group 814"/>
          <p:cNvGrpSpPr/>
          <p:nvPr/>
        </p:nvGrpSpPr>
        <p:grpSpPr>
          <a:xfrm>
            <a:off x="4779874" y="3300823"/>
            <a:ext cx="541339" cy="411011"/>
            <a:chOff x="0" y="0"/>
            <a:chExt cx="541337" cy="411009"/>
          </a:xfrm>
        </p:grpSpPr>
        <p:grpSp>
          <p:nvGrpSpPr>
            <p:cNvPr id="8305" name="Freeform 103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30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0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308" name="Oval 103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30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0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313" name="Group 103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309" name="Freeform 104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10" name="Freeform 104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11" name="Freeform 104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12" name="Freeform 104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326" name="Group 816"/>
          <p:cNvGrpSpPr/>
          <p:nvPr/>
        </p:nvGrpSpPr>
        <p:grpSpPr>
          <a:xfrm>
            <a:off x="4228291" y="3056347"/>
            <a:ext cx="541339" cy="411011"/>
            <a:chOff x="0" y="0"/>
            <a:chExt cx="541337" cy="411009"/>
          </a:xfrm>
        </p:grpSpPr>
        <p:grpSp>
          <p:nvGrpSpPr>
            <p:cNvPr id="8317" name="Freeform 102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31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1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320" name="Oval 102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31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1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325" name="Group 102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321" name="Freeform 102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22" name="Freeform 102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23" name="Freeform 102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24" name="Freeform 102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338" name="Group 817"/>
          <p:cNvGrpSpPr/>
          <p:nvPr/>
        </p:nvGrpSpPr>
        <p:grpSpPr>
          <a:xfrm>
            <a:off x="3972631" y="3357285"/>
            <a:ext cx="541339" cy="411011"/>
            <a:chOff x="0" y="0"/>
            <a:chExt cx="541337" cy="411009"/>
          </a:xfrm>
        </p:grpSpPr>
        <p:grpSp>
          <p:nvGrpSpPr>
            <p:cNvPr id="8329" name="Freeform 101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32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2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332" name="Oval 101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33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3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337" name="Group 101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333" name="Freeform 101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34" name="Freeform 102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35" name="Freeform 102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36" name="Freeform 102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339" name="Oval 3"/>
          <p:cNvSpPr/>
          <p:nvPr/>
        </p:nvSpPr>
        <p:spPr>
          <a:xfrm>
            <a:off x="2671674" y="4260753"/>
            <a:ext cx="2941639" cy="1323977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340" name="Straight Connector 10"/>
          <p:cNvSpPr/>
          <p:nvPr/>
        </p:nvSpPr>
        <p:spPr>
          <a:xfrm>
            <a:off x="3706724" y="4494115"/>
            <a:ext cx="969964" cy="682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1" name="Straight Connector 297"/>
          <p:cNvSpPr/>
          <p:nvPr/>
        </p:nvSpPr>
        <p:spPr>
          <a:xfrm>
            <a:off x="4209963" y="4781453"/>
            <a:ext cx="109538" cy="7937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2" name="Straight Connector 298"/>
          <p:cNvSpPr/>
          <p:nvPr/>
        </p:nvSpPr>
        <p:spPr>
          <a:xfrm flipV="1">
            <a:off x="4027399" y="4976715"/>
            <a:ext cx="222251" cy="444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3" name="Straight Connector 299"/>
          <p:cNvSpPr/>
          <p:nvPr/>
        </p:nvSpPr>
        <p:spPr>
          <a:xfrm flipV="1">
            <a:off x="3754349" y="4808440"/>
            <a:ext cx="177801" cy="1063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4" name="Straight Connector 300"/>
          <p:cNvSpPr/>
          <p:nvPr/>
        </p:nvSpPr>
        <p:spPr>
          <a:xfrm flipV="1">
            <a:off x="3468599" y="5095778"/>
            <a:ext cx="188914" cy="952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5" name="Straight Connector 301"/>
          <p:cNvSpPr/>
          <p:nvPr/>
        </p:nvSpPr>
        <p:spPr>
          <a:xfrm flipV="1">
            <a:off x="4224249" y="5024340"/>
            <a:ext cx="231776" cy="24447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6" name="Straight Connector 302"/>
          <p:cNvSpPr/>
          <p:nvPr/>
        </p:nvSpPr>
        <p:spPr>
          <a:xfrm flipH="1" flipV="1">
            <a:off x="4675099" y="5011640"/>
            <a:ext cx="327026" cy="1190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7" name="Straight Connector 303"/>
          <p:cNvSpPr/>
          <p:nvPr/>
        </p:nvSpPr>
        <p:spPr>
          <a:xfrm flipV="1">
            <a:off x="4662399" y="4676678"/>
            <a:ext cx="260351" cy="188914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8" name="Straight Connector 304"/>
          <p:cNvSpPr/>
          <p:nvPr/>
        </p:nvSpPr>
        <p:spPr>
          <a:xfrm flipH="1" flipV="1">
            <a:off x="3708314" y="4551265"/>
            <a:ext cx="207962" cy="84138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9" name="TextBox 39958"/>
          <p:cNvSpPr txBox="1"/>
          <p:nvPr/>
        </p:nvSpPr>
        <p:spPr>
          <a:xfrm>
            <a:off x="2852332" y="4590953"/>
            <a:ext cx="704365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C</a:t>
            </a:r>
          </a:p>
        </p:txBody>
      </p:sp>
      <p:sp>
        <p:nvSpPr>
          <p:cNvPr id="8350" name="Oval 3"/>
          <p:cNvSpPr/>
          <p:nvPr/>
        </p:nvSpPr>
        <p:spPr>
          <a:xfrm>
            <a:off x="5765713" y="3706715"/>
            <a:ext cx="3219451" cy="1343028"/>
          </a:xfrm>
          <a:prstGeom prst="ellipse">
            <a:avLst/>
          </a:prstGeom>
          <a:solidFill>
            <a:srgbClr val="3C6CD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351" name="Straight Connector 10"/>
          <p:cNvSpPr/>
          <p:nvPr/>
        </p:nvSpPr>
        <p:spPr>
          <a:xfrm>
            <a:off x="6899188" y="3943253"/>
            <a:ext cx="1062038" cy="698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52" name="Straight Connector 297"/>
          <p:cNvSpPr/>
          <p:nvPr/>
        </p:nvSpPr>
        <p:spPr>
          <a:xfrm>
            <a:off x="7450049" y="4233765"/>
            <a:ext cx="120651" cy="825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53" name="Straight Connector 298"/>
          <p:cNvSpPr/>
          <p:nvPr/>
        </p:nvSpPr>
        <p:spPr>
          <a:xfrm flipV="1">
            <a:off x="7250024" y="4433790"/>
            <a:ext cx="242889" cy="444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54" name="Straight Connector 299"/>
          <p:cNvSpPr/>
          <p:nvPr/>
        </p:nvSpPr>
        <p:spPr>
          <a:xfrm flipV="1">
            <a:off x="6951574" y="4262340"/>
            <a:ext cx="195264" cy="106363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55" name="Straight Connector 300"/>
          <p:cNvSpPr/>
          <p:nvPr/>
        </p:nvSpPr>
        <p:spPr>
          <a:xfrm flipV="1">
            <a:off x="6638838" y="4554440"/>
            <a:ext cx="206376" cy="952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56" name="Straight Connector 301"/>
          <p:cNvSpPr/>
          <p:nvPr/>
        </p:nvSpPr>
        <p:spPr>
          <a:xfrm flipV="1">
            <a:off x="7465924" y="4481415"/>
            <a:ext cx="254001" cy="2476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57" name="Straight Connector 302"/>
          <p:cNvSpPr/>
          <p:nvPr/>
        </p:nvSpPr>
        <p:spPr>
          <a:xfrm flipH="1" flipV="1">
            <a:off x="7929474" y="4460778"/>
            <a:ext cx="358776" cy="120651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58" name="Straight Connector 303"/>
          <p:cNvSpPr/>
          <p:nvPr/>
        </p:nvSpPr>
        <p:spPr>
          <a:xfrm flipV="1">
            <a:off x="7945349" y="4127403"/>
            <a:ext cx="285751" cy="192089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59" name="Straight Connector 304"/>
          <p:cNvSpPr/>
          <p:nvPr/>
        </p:nvSpPr>
        <p:spPr>
          <a:xfrm flipH="1" flipV="1">
            <a:off x="6900774" y="4000403"/>
            <a:ext cx="227014" cy="85726"/>
          </a:xfrm>
          <a:prstGeom prst="line">
            <a:avLst/>
          </a:prstGeom>
          <a:ln w="158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0" name="TextBox 39958"/>
          <p:cNvSpPr txBox="1"/>
          <p:nvPr/>
        </p:nvSpPr>
        <p:spPr>
          <a:xfrm>
            <a:off x="5960658" y="4040090"/>
            <a:ext cx="710913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FFFFFF"/>
                </a:solidFill>
              </a:defRPr>
            </a:lvl1pPr>
          </a:lstStyle>
          <a:p>
            <a:pPr/>
            <a:r>
              <a:t>ISP B</a:t>
            </a:r>
          </a:p>
        </p:txBody>
      </p:sp>
      <p:sp>
        <p:nvSpPr>
          <p:cNvPr id="8361" name="Straight Connector 12"/>
          <p:cNvSpPr/>
          <p:nvPr/>
        </p:nvSpPr>
        <p:spPr>
          <a:xfrm>
            <a:off x="3533688" y="2666902"/>
            <a:ext cx="238126" cy="2619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2" name="Straight Connector 502"/>
          <p:cNvSpPr/>
          <p:nvPr/>
        </p:nvSpPr>
        <p:spPr>
          <a:xfrm>
            <a:off x="5067213" y="2468465"/>
            <a:ext cx="307976" cy="5730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3" name="Straight Connector 503"/>
          <p:cNvSpPr/>
          <p:nvPr/>
        </p:nvSpPr>
        <p:spPr>
          <a:xfrm flipH="1">
            <a:off x="5576799" y="2446240"/>
            <a:ext cx="384176" cy="57943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4" name="Straight Connector 504"/>
          <p:cNvSpPr/>
          <p:nvPr/>
        </p:nvSpPr>
        <p:spPr>
          <a:xfrm>
            <a:off x="7921538" y="2957415"/>
            <a:ext cx="215901" cy="104616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5" name="Straight Connector 505"/>
          <p:cNvSpPr/>
          <p:nvPr/>
        </p:nvSpPr>
        <p:spPr>
          <a:xfrm flipH="1">
            <a:off x="8288249" y="3308253"/>
            <a:ext cx="241301" cy="6921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6" name="Straight Connector 507"/>
          <p:cNvSpPr/>
          <p:nvPr/>
        </p:nvSpPr>
        <p:spPr>
          <a:xfrm flipH="1" flipV="1">
            <a:off x="8605749" y="4630641"/>
            <a:ext cx="796926" cy="6143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7" name="Straight Connector 512"/>
          <p:cNvSpPr/>
          <p:nvPr/>
        </p:nvSpPr>
        <p:spPr>
          <a:xfrm flipV="1">
            <a:off x="2941549" y="5218015"/>
            <a:ext cx="401639" cy="2095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8" name="Straight Connector 513"/>
          <p:cNvSpPr/>
          <p:nvPr/>
        </p:nvSpPr>
        <p:spPr>
          <a:xfrm>
            <a:off x="2535149" y="5075140"/>
            <a:ext cx="450851" cy="1158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9" name="Straight Connector 508"/>
          <p:cNvSpPr/>
          <p:nvPr/>
        </p:nvSpPr>
        <p:spPr>
          <a:xfrm flipH="1" flipV="1">
            <a:off x="7646899" y="4779866"/>
            <a:ext cx="1047751" cy="9667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70" name="Straight Connector 506"/>
          <p:cNvSpPr/>
          <p:nvPr/>
        </p:nvSpPr>
        <p:spPr>
          <a:xfrm flipH="1">
            <a:off x="8716874" y="4368703"/>
            <a:ext cx="541339" cy="2492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382" name="Group 858"/>
          <p:cNvGrpSpPr/>
          <p:nvPr/>
        </p:nvGrpSpPr>
        <p:grpSpPr>
          <a:xfrm>
            <a:off x="5192624" y="2913472"/>
            <a:ext cx="541339" cy="411011"/>
            <a:chOff x="0" y="0"/>
            <a:chExt cx="541337" cy="411009"/>
          </a:xfrm>
        </p:grpSpPr>
        <p:grpSp>
          <p:nvGrpSpPr>
            <p:cNvPr id="8373" name="Freeform 99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37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7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376" name="Oval 99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37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7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381" name="Group 99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377" name="Freeform 99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78" name="Freeform 99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79" name="Freeform 100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80" name="Freeform 100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394" name="Group 859"/>
          <p:cNvGrpSpPr/>
          <p:nvPr/>
        </p:nvGrpSpPr>
        <p:grpSpPr>
          <a:xfrm>
            <a:off x="3621871" y="2813846"/>
            <a:ext cx="541339" cy="411011"/>
            <a:chOff x="0" y="0"/>
            <a:chExt cx="541337" cy="411009"/>
          </a:xfrm>
        </p:grpSpPr>
        <p:grpSp>
          <p:nvGrpSpPr>
            <p:cNvPr id="8385" name="Freeform 988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38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8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388" name="Oval 989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38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8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393" name="Group 990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389" name="Freeform 991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90" name="Freeform 992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91" name="Freeform 993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92" name="Freeform 994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406" name="Group 862"/>
          <p:cNvGrpSpPr/>
          <p:nvPr/>
        </p:nvGrpSpPr>
        <p:grpSpPr>
          <a:xfrm>
            <a:off x="8182681" y="4407087"/>
            <a:ext cx="541339" cy="411011"/>
            <a:chOff x="0" y="0"/>
            <a:chExt cx="541337" cy="411009"/>
          </a:xfrm>
        </p:grpSpPr>
        <p:grpSp>
          <p:nvGrpSpPr>
            <p:cNvPr id="8397" name="Freeform 96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39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9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400" name="Oval 96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39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39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405" name="Group 96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401" name="Freeform 97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02" name="Freeform 97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03" name="Freeform 97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04" name="Freeform 97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418" name="Group 863"/>
          <p:cNvGrpSpPr/>
          <p:nvPr/>
        </p:nvGrpSpPr>
        <p:grpSpPr>
          <a:xfrm>
            <a:off x="7469672" y="4184266"/>
            <a:ext cx="541339" cy="411011"/>
            <a:chOff x="0" y="0"/>
            <a:chExt cx="541337" cy="411009"/>
          </a:xfrm>
        </p:grpSpPr>
        <p:grpSp>
          <p:nvGrpSpPr>
            <p:cNvPr id="8409" name="Freeform 96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40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0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412" name="Oval 96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41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1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417" name="Group 96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413" name="Freeform 96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14" name="Freeform 96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15" name="Freeform 96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16" name="Freeform 96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430" name="Group 864"/>
          <p:cNvGrpSpPr/>
          <p:nvPr/>
        </p:nvGrpSpPr>
        <p:grpSpPr>
          <a:xfrm>
            <a:off x="6979356" y="3965212"/>
            <a:ext cx="541339" cy="411011"/>
            <a:chOff x="0" y="0"/>
            <a:chExt cx="541337" cy="411009"/>
          </a:xfrm>
        </p:grpSpPr>
        <p:grpSp>
          <p:nvGrpSpPr>
            <p:cNvPr id="8421" name="Freeform 95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41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2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424" name="Oval 95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42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2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429" name="Group 95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425" name="Freeform 95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26" name="Freeform 95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27" name="Freeform 95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28" name="Freeform 95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442" name="Group 865"/>
          <p:cNvGrpSpPr/>
          <p:nvPr/>
        </p:nvGrpSpPr>
        <p:grpSpPr>
          <a:xfrm>
            <a:off x="6723615" y="4272372"/>
            <a:ext cx="541339" cy="411011"/>
            <a:chOff x="0" y="0"/>
            <a:chExt cx="541337" cy="411009"/>
          </a:xfrm>
        </p:grpSpPr>
        <p:grpSp>
          <p:nvGrpSpPr>
            <p:cNvPr id="8433" name="Freeform 94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43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3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436" name="Oval 94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43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3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441" name="Group 94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437" name="Freeform 94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38" name="Freeform 95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39" name="Freeform 95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40" name="Freeform 95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454" name="Group 872"/>
          <p:cNvGrpSpPr/>
          <p:nvPr/>
        </p:nvGrpSpPr>
        <p:grpSpPr>
          <a:xfrm>
            <a:off x="3740086" y="4537098"/>
            <a:ext cx="541339" cy="411011"/>
            <a:chOff x="0" y="0"/>
            <a:chExt cx="541337" cy="411009"/>
          </a:xfrm>
        </p:grpSpPr>
        <p:grpSp>
          <p:nvGrpSpPr>
            <p:cNvPr id="8445" name="Freeform 897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44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4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448" name="Oval 898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44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4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453" name="Group 899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449" name="Freeform 900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50" name="Freeform 901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51" name="Freeform 902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52" name="Freeform 903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466" name="Group 873"/>
          <p:cNvGrpSpPr/>
          <p:nvPr/>
        </p:nvGrpSpPr>
        <p:grpSpPr>
          <a:xfrm>
            <a:off x="3500746" y="4808488"/>
            <a:ext cx="541339" cy="411011"/>
            <a:chOff x="0" y="0"/>
            <a:chExt cx="541337" cy="411009"/>
          </a:xfrm>
        </p:grpSpPr>
        <p:grpSp>
          <p:nvGrpSpPr>
            <p:cNvPr id="8457" name="Freeform 89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45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5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460" name="Oval 89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45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5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465" name="Group 89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461" name="Freeform 89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62" name="Freeform 89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63" name="Freeform 89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64" name="Freeform 89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478" name="Group 874"/>
          <p:cNvGrpSpPr/>
          <p:nvPr/>
        </p:nvGrpSpPr>
        <p:grpSpPr>
          <a:xfrm>
            <a:off x="2989969" y="4994889"/>
            <a:ext cx="541339" cy="411011"/>
            <a:chOff x="0" y="0"/>
            <a:chExt cx="541337" cy="411009"/>
          </a:xfrm>
        </p:grpSpPr>
        <p:grpSp>
          <p:nvGrpSpPr>
            <p:cNvPr id="8469" name="Freeform 883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46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6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472" name="Oval 884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47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7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477" name="Group 885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473" name="Freeform 886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74" name="Freeform 887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75" name="Freeform 888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76" name="Freeform 889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490" name="Group 875"/>
          <p:cNvGrpSpPr/>
          <p:nvPr/>
        </p:nvGrpSpPr>
        <p:grpSpPr>
          <a:xfrm>
            <a:off x="4023881" y="5084099"/>
            <a:ext cx="541339" cy="411011"/>
            <a:chOff x="0" y="0"/>
            <a:chExt cx="541337" cy="411009"/>
          </a:xfrm>
        </p:grpSpPr>
        <p:grpSp>
          <p:nvGrpSpPr>
            <p:cNvPr id="8481" name="Freeform 876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47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8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484" name="Oval 877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48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8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489" name="Group 878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485" name="Freeform 879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86" name="Freeform 880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87" name="Freeform 881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488" name="Freeform 882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491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grpSp>
        <p:nvGrpSpPr>
          <p:cNvPr id="8494" name="Group 2"/>
          <p:cNvGrpSpPr/>
          <p:nvPr/>
        </p:nvGrpSpPr>
        <p:grpSpPr>
          <a:xfrm>
            <a:off x="2997444" y="2312118"/>
            <a:ext cx="603417" cy="412924"/>
            <a:chOff x="0" y="0"/>
            <a:chExt cx="603416" cy="412922"/>
          </a:xfrm>
        </p:grpSpPr>
        <p:sp>
          <p:nvSpPr>
            <p:cNvPr id="8492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93" name="TextBox 1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497" name="Group 135"/>
          <p:cNvGrpSpPr/>
          <p:nvPr/>
        </p:nvGrpSpPr>
        <p:grpSpPr>
          <a:xfrm>
            <a:off x="7506550" y="2566098"/>
            <a:ext cx="603418" cy="412924"/>
            <a:chOff x="0" y="0"/>
            <a:chExt cx="603416" cy="412922"/>
          </a:xfrm>
        </p:grpSpPr>
        <p:sp>
          <p:nvSpPr>
            <p:cNvPr id="8495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96" name="TextBox 137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00" name="Group 138"/>
          <p:cNvGrpSpPr/>
          <p:nvPr/>
        </p:nvGrpSpPr>
        <p:grpSpPr>
          <a:xfrm>
            <a:off x="2413164" y="5423378"/>
            <a:ext cx="603418" cy="412923"/>
            <a:chOff x="0" y="0"/>
            <a:chExt cx="603416" cy="412922"/>
          </a:xfrm>
        </p:grpSpPr>
        <p:sp>
          <p:nvSpPr>
            <p:cNvPr id="8498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99" name="TextBox 140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03" name="Group 141"/>
          <p:cNvGrpSpPr/>
          <p:nvPr/>
        </p:nvGrpSpPr>
        <p:grpSpPr>
          <a:xfrm>
            <a:off x="1994008" y="4801126"/>
            <a:ext cx="603418" cy="412924"/>
            <a:chOff x="0" y="0"/>
            <a:chExt cx="603416" cy="412922"/>
          </a:xfrm>
        </p:grpSpPr>
        <p:sp>
          <p:nvSpPr>
            <p:cNvPr id="8501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02" name="TextBox 143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06" name="Group 144"/>
          <p:cNvGrpSpPr/>
          <p:nvPr/>
        </p:nvGrpSpPr>
        <p:grpSpPr>
          <a:xfrm>
            <a:off x="1765377" y="4140777"/>
            <a:ext cx="603418" cy="412924"/>
            <a:chOff x="0" y="0"/>
            <a:chExt cx="603416" cy="412922"/>
          </a:xfrm>
        </p:grpSpPr>
        <p:sp>
          <p:nvSpPr>
            <p:cNvPr id="8504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05" name="TextBox 146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09" name="Group 147"/>
          <p:cNvGrpSpPr/>
          <p:nvPr/>
        </p:nvGrpSpPr>
        <p:grpSpPr>
          <a:xfrm>
            <a:off x="8255952" y="2997865"/>
            <a:ext cx="603417" cy="412923"/>
            <a:chOff x="0" y="0"/>
            <a:chExt cx="603416" cy="412922"/>
          </a:xfrm>
        </p:grpSpPr>
        <p:sp>
          <p:nvSpPr>
            <p:cNvPr id="8507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08" name="TextBox 149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12" name="Group 150"/>
          <p:cNvGrpSpPr/>
          <p:nvPr/>
        </p:nvGrpSpPr>
        <p:grpSpPr>
          <a:xfrm>
            <a:off x="4597860" y="2070836"/>
            <a:ext cx="603417" cy="412924"/>
            <a:chOff x="0" y="0"/>
            <a:chExt cx="603416" cy="412922"/>
          </a:xfrm>
        </p:grpSpPr>
        <p:sp>
          <p:nvSpPr>
            <p:cNvPr id="8510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11" name="TextBox 152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15" name="Group 156"/>
          <p:cNvGrpSpPr/>
          <p:nvPr/>
        </p:nvGrpSpPr>
        <p:grpSpPr>
          <a:xfrm>
            <a:off x="5512382" y="2045438"/>
            <a:ext cx="603418" cy="412924"/>
            <a:chOff x="0" y="0"/>
            <a:chExt cx="603416" cy="412922"/>
          </a:xfrm>
        </p:grpSpPr>
        <p:sp>
          <p:nvSpPr>
            <p:cNvPr id="8513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14" name="TextBox 158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18" name="Group 160"/>
          <p:cNvGrpSpPr/>
          <p:nvPr/>
        </p:nvGrpSpPr>
        <p:grpSpPr>
          <a:xfrm>
            <a:off x="8573494" y="5677359"/>
            <a:ext cx="603418" cy="412923"/>
            <a:chOff x="0" y="0"/>
            <a:chExt cx="603416" cy="412922"/>
          </a:xfrm>
        </p:grpSpPr>
        <p:sp>
          <p:nvSpPr>
            <p:cNvPr id="8516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17" name="TextBox 162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21" name="Group 163"/>
          <p:cNvGrpSpPr/>
          <p:nvPr/>
        </p:nvGrpSpPr>
        <p:grpSpPr>
          <a:xfrm>
            <a:off x="9411808" y="5029709"/>
            <a:ext cx="603417" cy="412923"/>
            <a:chOff x="0" y="0"/>
            <a:chExt cx="603416" cy="412922"/>
          </a:xfrm>
        </p:grpSpPr>
        <p:sp>
          <p:nvSpPr>
            <p:cNvPr id="8519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20" name="TextBox 165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524" name="Group 166"/>
          <p:cNvGrpSpPr/>
          <p:nvPr/>
        </p:nvGrpSpPr>
        <p:grpSpPr>
          <a:xfrm>
            <a:off x="9183177" y="4115379"/>
            <a:ext cx="603417" cy="412924"/>
            <a:chOff x="0" y="0"/>
            <a:chExt cx="603416" cy="412922"/>
          </a:xfrm>
        </p:grpSpPr>
        <p:sp>
          <p:nvSpPr>
            <p:cNvPr id="8522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23" name="TextBox 168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sp>
        <p:nvSpPr>
          <p:cNvPr id="8525" name="TextBox 4"/>
          <p:cNvSpPr txBox="1"/>
          <p:nvPr/>
        </p:nvSpPr>
        <p:spPr>
          <a:xfrm rot="1053502">
            <a:off x="6660300" y="1970601"/>
            <a:ext cx="45974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526" name="TextBox 179"/>
          <p:cNvSpPr txBox="1"/>
          <p:nvPr/>
        </p:nvSpPr>
        <p:spPr>
          <a:xfrm rot="2829263">
            <a:off x="8953657" y="3450336"/>
            <a:ext cx="459741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527" name="TextBox 180"/>
          <p:cNvSpPr txBox="1"/>
          <p:nvPr/>
        </p:nvSpPr>
        <p:spPr>
          <a:xfrm rot="9845918">
            <a:off x="7607601" y="5991909"/>
            <a:ext cx="459741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528" name="TextBox 181"/>
          <p:cNvSpPr txBox="1"/>
          <p:nvPr/>
        </p:nvSpPr>
        <p:spPr>
          <a:xfrm rot="11651262">
            <a:off x="3229934" y="5893505"/>
            <a:ext cx="45974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529" name="TextBox 182"/>
          <p:cNvSpPr txBox="1"/>
          <p:nvPr/>
        </p:nvSpPr>
        <p:spPr>
          <a:xfrm rot="16607303">
            <a:off x="1633699" y="3564311"/>
            <a:ext cx="459741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530" name="TextBox 183"/>
          <p:cNvSpPr txBox="1"/>
          <p:nvPr/>
        </p:nvSpPr>
        <p:spPr>
          <a:xfrm rot="20582737">
            <a:off x="3835841" y="1918243"/>
            <a:ext cx="459741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531" name="Rectangle 3"/>
          <p:cNvSpPr txBox="1"/>
          <p:nvPr/>
        </p:nvSpPr>
        <p:spPr>
          <a:xfrm>
            <a:off x="896853" y="1142095"/>
            <a:ext cx="10733426" cy="823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85000"/>
              </a:lnSpc>
              <a:spcBef>
                <a:spcPts val="600"/>
              </a:spcBef>
              <a:defRPr sz="2800"/>
            </a:lvl1pPr>
          </a:lstStyle>
          <a:p>
            <a:pPr/>
            <a:r>
              <a:t>… and content provider networks  (e.g., Google, Microsoft,  Akamai) may run their own network, to bring services, content close to end users</a:t>
            </a:r>
          </a:p>
        </p:txBody>
      </p:sp>
      <p:grpSp>
        <p:nvGrpSpPr>
          <p:cNvPr id="8537" name="Group 20"/>
          <p:cNvGrpSpPr/>
          <p:nvPr/>
        </p:nvGrpSpPr>
        <p:grpSpPr>
          <a:xfrm>
            <a:off x="5736578" y="2899824"/>
            <a:ext cx="2272390" cy="1061010"/>
            <a:chOff x="0" y="0"/>
            <a:chExt cx="2272388" cy="1061008"/>
          </a:xfrm>
        </p:grpSpPr>
        <p:grpSp>
          <p:nvGrpSpPr>
            <p:cNvPr id="8534" name="Group 16"/>
            <p:cNvGrpSpPr/>
            <p:nvPr/>
          </p:nvGrpSpPr>
          <p:grpSpPr>
            <a:xfrm>
              <a:off x="980224" y="-1"/>
              <a:ext cx="528027" cy="329827"/>
              <a:chOff x="0" y="0"/>
              <a:chExt cx="528026" cy="329825"/>
            </a:xfrm>
          </p:grpSpPr>
          <p:sp>
            <p:nvSpPr>
              <p:cNvPr id="8532" name="Oval 14"/>
              <p:cNvSpPr/>
              <p:nvPr/>
            </p:nvSpPr>
            <p:spPr>
              <a:xfrm>
                <a:off x="0" y="25055"/>
                <a:ext cx="528027" cy="304771"/>
              </a:xfrm>
              <a:prstGeom prst="ellipse">
                <a:avLst/>
              </a:prstGeom>
              <a:solidFill>
                <a:srgbClr val="0000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533" name="TextBox 15"/>
              <p:cNvSpPr txBox="1"/>
              <p:nvPr/>
            </p:nvSpPr>
            <p:spPr>
              <a:xfrm>
                <a:off x="64976" y="0"/>
                <a:ext cx="431662" cy="31339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IXP</a:t>
                </a:r>
              </a:p>
            </p:txBody>
          </p:sp>
        </p:grpSp>
        <p:sp>
          <p:nvSpPr>
            <p:cNvPr id="8535" name="Straight Connector 18"/>
            <p:cNvSpPr/>
            <p:nvPr/>
          </p:nvSpPr>
          <p:spPr>
            <a:xfrm>
              <a:off x="-1" y="202881"/>
              <a:ext cx="980227" cy="3515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36" name="Straight Connector 516"/>
            <p:cNvSpPr/>
            <p:nvPr/>
          </p:nvSpPr>
          <p:spPr>
            <a:xfrm>
              <a:off x="1440136" y="275797"/>
              <a:ext cx="832253" cy="785212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541" name="Group 39939"/>
          <p:cNvGrpSpPr/>
          <p:nvPr/>
        </p:nvGrpSpPr>
        <p:grpSpPr>
          <a:xfrm>
            <a:off x="3570155" y="3762886"/>
            <a:ext cx="2938536" cy="1357501"/>
            <a:chOff x="0" y="0"/>
            <a:chExt cx="2938534" cy="1357499"/>
          </a:xfrm>
        </p:grpSpPr>
        <p:sp>
          <p:nvSpPr>
            <p:cNvPr id="8538" name="Straight Connector 7"/>
            <p:cNvSpPr/>
            <p:nvPr/>
          </p:nvSpPr>
          <p:spPr>
            <a:xfrm>
              <a:off x="2349394" y="-1"/>
              <a:ext cx="589142" cy="212440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39" name="Straight Connector 415"/>
            <p:cNvSpPr/>
            <p:nvPr/>
          </p:nvSpPr>
          <p:spPr>
            <a:xfrm flipH="1">
              <a:off x="0" y="55992"/>
              <a:ext cx="54578" cy="601000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40" name="Straight Connector 523"/>
            <p:cNvSpPr/>
            <p:nvPr/>
          </p:nvSpPr>
          <p:spPr>
            <a:xfrm flipV="1">
              <a:off x="1679182" y="967361"/>
              <a:ext cx="1075001" cy="390139"/>
            </a:xfrm>
            <a:prstGeom prst="line">
              <a:avLst/>
            </a:prstGeom>
            <a:noFill/>
            <a:ln w="38100" cap="flat">
              <a:solidFill>
                <a:srgbClr val="CC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542" name="Straight Connector 515"/>
          <p:cNvSpPr/>
          <p:nvPr/>
        </p:nvSpPr>
        <p:spPr>
          <a:xfrm flipV="1">
            <a:off x="4982879" y="4309965"/>
            <a:ext cx="309147" cy="307719"/>
          </a:xfrm>
          <a:prstGeom prst="line">
            <a:avLst/>
          </a:prstGeom>
          <a:ln w="38100"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43" name="Straight Connector 519"/>
          <p:cNvSpPr/>
          <p:nvPr/>
        </p:nvSpPr>
        <p:spPr>
          <a:xfrm flipV="1">
            <a:off x="5520180" y="3924251"/>
            <a:ext cx="929836" cy="367085"/>
          </a:xfrm>
          <a:prstGeom prst="line">
            <a:avLst/>
          </a:prstGeom>
          <a:ln w="38100"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44" name="Straight Connector 520"/>
          <p:cNvSpPr/>
          <p:nvPr/>
        </p:nvSpPr>
        <p:spPr>
          <a:xfrm>
            <a:off x="4815073" y="3947043"/>
            <a:ext cx="476954" cy="277503"/>
          </a:xfrm>
          <a:prstGeom prst="line">
            <a:avLst/>
          </a:prstGeom>
          <a:ln w="38100"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556" name="Group 861"/>
          <p:cNvGrpSpPr/>
          <p:nvPr/>
        </p:nvGrpSpPr>
        <p:grpSpPr>
          <a:xfrm>
            <a:off x="7929474" y="3845334"/>
            <a:ext cx="541339" cy="411011"/>
            <a:chOff x="0" y="0"/>
            <a:chExt cx="541337" cy="411009"/>
          </a:xfrm>
        </p:grpSpPr>
        <p:grpSp>
          <p:nvGrpSpPr>
            <p:cNvPr id="8547" name="Freeform 974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545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46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550" name="Oval 975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548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49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555" name="Group 976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551" name="Freeform 977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52" name="Freeform 978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53" name="Freeform 979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54" name="Freeform 980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568" name="Group 819"/>
          <p:cNvGrpSpPr/>
          <p:nvPr/>
        </p:nvGrpSpPr>
        <p:grpSpPr>
          <a:xfrm>
            <a:off x="4400286" y="3732413"/>
            <a:ext cx="541339" cy="411011"/>
            <a:chOff x="0" y="0"/>
            <a:chExt cx="541337" cy="411009"/>
          </a:xfrm>
        </p:grpSpPr>
        <p:grpSp>
          <p:nvGrpSpPr>
            <p:cNvPr id="8559" name="Freeform 1002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55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5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562" name="Oval 1003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56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6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567" name="Group 1004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563" name="Freeform 1005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64" name="Freeform 1006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65" name="Freeform 1007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66" name="Freeform 1008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580" name="Group 868"/>
          <p:cNvGrpSpPr/>
          <p:nvPr/>
        </p:nvGrpSpPr>
        <p:grpSpPr>
          <a:xfrm>
            <a:off x="4568094" y="4403055"/>
            <a:ext cx="541339" cy="411010"/>
            <a:chOff x="0" y="0"/>
            <a:chExt cx="541337" cy="411009"/>
          </a:xfrm>
        </p:grpSpPr>
        <p:grpSp>
          <p:nvGrpSpPr>
            <p:cNvPr id="8571" name="Freeform 925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569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70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574" name="Oval 926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572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73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579" name="Group 927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575" name="Freeform 928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76" name="Freeform 929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77" name="Freeform 930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78" name="Freeform 931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592" name="Group 860"/>
          <p:cNvGrpSpPr/>
          <p:nvPr/>
        </p:nvGrpSpPr>
        <p:grpSpPr>
          <a:xfrm>
            <a:off x="6429197" y="3757737"/>
            <a:ext cx="541339" cy="411010"/>
            <a:chOff x="0" y="0"/>
            <a:chExt cx="541337" cy="411009"/>
          </a:xfrm>
        </p:grpSpPr>
        <p:grpSp>
          <p:nvGrpSpPr>
            <p:cNvPr id="8583" name="Freeform 981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58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8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586" name="Oval 982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58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8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591" name="Group 983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587" name="Freeform 984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88" name="Freeform 985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89" name="Freeform 986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90" name="Freeform 987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604" name="Group 815"/>
          <p:cNvGrpSpPr/>
          <p:nvPr/>
        </p:nvGrpSpPr>
        <p:grpSpPr>
          <a:xfrm>
            <a:off x="5457737" y="3545297"/>
            <a:ext cx="541339" cy="411011"/>
            <a:chOff x="0" y="0"/>
            <a:chExt cx="541337" cy="411009"/>
          </a:xfrm>
        </p:grpSpPr>
        <p:grpSp>
          <p:nvGrpSpPr>
            <p:cNvPr id="8595" name="Freeform 1030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59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9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598" name="Oval 1031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59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59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603" name="Group 1032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599" name="Freeform 1033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00" name="Freeform 1034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01" name="Freeform 1035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02" name="Freeform 1036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607" name="Group 518"/>
          <p:cNvGrpSpPr/>
          <p:nvPr/>
        </p:nvGrpSpPr>
        <p:grpSpPr>
          <a:xfrm>
            <a:off x="5119677" y="4119105"/>
            <a:ext cx="528443" cy="325287"/>
            <a:chOff x="0" y="0"/>
            <a:chExt cx="528442" cy="325286"/>
          </a:xfrm>
        </p:grpSpPr>
        <p:sp>
          <p:nvSpPr>
            <p:cNvPr id="8605" name="Oval 521"/>
            <p:cNvSpPr/>
            <p:nvPr/>
          </p:nvSpPr>
          <p:spPr>
            <a:xfrm>
              <a:off x="0" y="20144"/>
              <a:ext cx="528443" cy="305143"/>
            </a:xfrm>
            <a:prstGeom prst="ellipse">
              <a:avLst/>
            </a:prstGeom>
            <a:solidFill>
              <a:srgbClr val="0000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606" name="TextBox 522"/>
            <p:cNvSpPr txBox="1"/>
            <p:nvPr/>
          </p:nvSpPr>
          <p:spPr>
            <a:xfrm>
              <a:off x="96481" y="0"/>
              <a:ext cx="365781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IXP</a:t>
              </a:r>
            </a:p>
          </p:txBody>
        </p:sp>
      </p:grpSp>
      <p:grpSp>
        <p:nvGrpSpPr>
          <p:cNvPr id="8619" name="Group 866"/>
          <p:cNvGrpSpPr/>
          <p:nvPr/>
        </p:nvGrpSpPr>
        <p:grpSpPr>
          <a:xfrm>
            <a:off x="6244845" y="4512658"/>
            <a:ext cx="541339" cy="411011"/>
            <a:chOff x="0" y="0"/>
            <a:chExt cx="541337" cy="411009"/>
          </a:xfrm>
        </p:grpSpPr>
        <p:grpSp>
          <p:nvGrpSpPr>
            <p:cNvPr id="8610" name="Freeform 939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608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09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613" name="Oval 940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611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12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618" name="Group 941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614" name="Freeform 942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15" name="Freeform 943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16" name="Freeform 944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17" name="Freeform 945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631" name="Group 818"/>
          <p:cNvGrpSpPr/>
          <p:nvPr/>
        </p:nvGrpSpPr>
        <p:grpSpPr>
          <a:xfrm>
            <a:off x="3355533" y="3579652"/>
            <a:ext cx="541339" cy="411011"/>
            <a:chOff x="0" y="0"/>
            <a:chExt cx="541337" cy="411009"/>
          </a:xfrm>
        </p:grpSpPr>
        <p:grpSp>
          <p:nvGrpSpPr>
            <p:cNvPr id="8622" name="Freeform 1009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620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21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625" name="Oval 1010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623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24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630" name="Group 1011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626" name="Freeform 1012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27" name="Freeform 1013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28" name="Freeform 1014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29" name="Freeform 1015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632" name="Straight Connector 500"/>
          <p:cNvSpPr/>
          <p:nvPr/>
        </p:nvSpPr>
        <p:spPr>
          <a:xfrm>
            <a:off x="2622406" y="3016152"/>
            <a:ext cx="38101" cy="30956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33" name="Straight Connector 501"/>
          <p:cNvSpPr/>
          <p:nvPr/>
        </p:nvSpPr>
        <p:spPr>
          <a:xfrm>
            <a:off x="2401745" y="3297140"/>
            <a:ext cx="123826" cy="21272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34" name="Straight Connector 514"/>
          <p:cNvSpPr/>
          <p:nvPr/>
        </p:nvSpPr>
        <p:spPr>
          <a:xfrm flipV="1">
            <a:off x="2322370" y="4394103"/>
            <a:ext cx="203201" cy="79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35" name="Straight Connector 39941"/>
          <p:cNvSpPr/>
          <p:nvPr/>
        </p:nvSpPr>
        <p:spPr>
          <a:xfrm flipV="1">
            <a:off x="2851006" y="3849590"/>
            <a:ext cx="430214" cy="1016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638" name="Group 153"/>
          <p:cNvGrpSpPr/>
          <p:nvPr/>
        </p:nvGrpSpPr>
        <p:grpSpPr>
          <a:xfrm>
            <a:off x="2222639" y="2718487"/>
            <a:ext cx="603418" cy="412924"/>
            <a:chOff x="0" y="0"/>
            <a:chExt cx="603416" cy="412922"/>
          </a:xfrm>
        </p:grpSpPr>
        <p:sp>
          <p:nvSpPr>
            <p:cNvPr id="8636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37" name="TextBox 155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641" name="Group 131"/>
          <p:cNvGrpSpPr/>
          <p:nvPr/>
        </p:nvGrpSpPr>
        <p:grpSpPr>
          <a:xfrm>
            <a:off x="1841588" y="3112156"/>
            <a:ext cx="603417" cy="412924"/>
            <a:chOff x="0" y="0"/>
            <a:chExt cx="603416" cy="412922"/>
          </a:xfrm>
        </p:grpSpPr>
        <p:sp>
          <p:nvSpPr>
            <p:cNvPr id="8639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40" name="TextBox 133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sp>
        <p:nvSpPr>
          <p:cNvPr id="8642" name="Straight Connector 524"/>
          <p:cNvSpPr/>
          <p:nvPr/>
        </p:nvSpPr>
        <p:spPr>
          <a:xfrm>
            <a:off x="2828781" y="4163915"/>
            <a:ext cx="533981" cy="29159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654" name="Group 871"/>
          <p:cNvGrpSpPr/>
          <p:nvPr/>
        </p:nvGrpSpPr>
        <p:grpSpPr>
          <a:xfrm>
            <a:off x="3292387" y="4282350"/>
            <a:ext cx="541339" cy="411011"/>
            <a:chOff x="0" y="0"/>
            <a:chExt cx="541337" cy="411009"/>
          </a:xfrm>
        </p:grpSpPr>
        <p:grpSp>
          <p:nvGrpSpPr>
            <p:cNvPr id="8645" name="Freeform 904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64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4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648" name="Oval 905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64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4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653" name="Group 906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649" name="Freeform 907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50" name="Freeform 908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51" name="Freeform 909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52" name="Freeform 910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655" name="Straight Connector 510"/>
          <p:cNvSpPr/>
          <p:nvPr/>
        </p:nvSpPr>
        <p:spPr>
          <a:xfrm flipH="1" flipV="1">
            <a:off x="5179131" y="5171183"/>
            <a:ext cx="371476" cy="97313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56" name="Straight Connector 509"/>
          <p:cNvSpPr/>
          <p:nvPr/>
        </p:nvSpPr>
        <p:spPr>
          <a:xfrm flipH="1" flipV="1">
            <a:off x="6157031" y="5810946"/>
            <a:ext cx="520701" cy="16986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57" name="Straight Connector 511"/>
          <p:cNvSpPr/>
          <p:nvPr/>
        </p:nvSpPr>
        <p:spPr>
          <a:xfrm flipV="1">
            <a:off x="4461581" y="5815708"/>
            <a:ext cx="306388" cy="1651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660" name="Group 175"/>
          <p:cNvGrpSpPr/>
          <p:nvPr/>
        </p:nvGrpSpPr>
        <p:grpSpPr>
          <a:xfrm>
            <a:off x="4204106" y="5905941"/>
            <a:ext cx="603418" cy="412924"/>
            <a:chOff x="0" y="0"/>
            <a:chExt cx="603416" cy="412922"/>
          </a:xfrm>
        </p:grpSpPr>
        <p:sp>
          <p:nvSpPr>
            <p:cNvPr id="8658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59" name="TextBox 177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663" name="Group 172"/>
          <p:cNvGrpSpPr/>
          <p:nvPr/>
        </p:nvGrpSpPr>
        <p:grpSpPr>
          <a:xfrm>
            <a:off x="5423470" y="6058329"/>
            <a:ext cx="603418" cy="412924"/>
            <a:chOff x="0" y="0"/>
            <a:chExt cx="603416" cy="412922"/>
          </a:xfrm>
        </p:grpSpPr>
        <p:sp>
          <p:nvSpPr>
            <p:cNvPr id="8661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62" name="TextBox 174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666" name="Group 169"/>
          <p:cNvGrpSpPr/>
          <p:nvPr/>
        </p:nvGrpSpPr>
        <p:grpSpPr>
          <a:xfrm>
            <a:off x="6337993" y="5918640"/>
            <a:ext cx="603418" cy="412923"/>
            <a:chOff x="0" y="0"/>
            <a:chExt cx="603416" cy="412922"/>
          </a:xfrm>
        </p:grpSpPr>
        <p:sp>
          <p:nvSpPr>
            <p:cNvPr id="8664" name="Freeform 84"/>
            <p:cNvSpPr/>
            <p:nvPr/>
          </p:nvSpPr>
          <p:spPr>
            <a:xfrm>
              <a:off x="0" y="0"/>
              <a:ext cx="589769" cy="412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326" fill="norm" stroke="1" extrusionOk="0">
                  <a:moveTo>
                    <a:pt x="13407" y="266"/>
                  </a:moveTo>
                  <a:cubicBezTo>
                    <a:pt x="12073" y="522"/>
                    <a:pt x="9571" y="970"/>
                    <a:pt x="8028" y="1610"/>
                  </a:cubicBezTo>
                  <a:cubicBezTo>
                    <a:pt x="6485" y="2250"/>
                    <a:pt x="5026" y="3114"/>
                    <a:pt x="4192" y="4042"/>
                  </a:cubicBezTo>
                  <a:cubicBezTo>
                    <a:pt x="3358" y="4970"/>
                    <a:pt x="3712" y="6346"/>
                    <a:pt x="3066" y="7242"/>
                  </a:cubicBezTo>
                  <a:cubicBezTo>
                    <a:pt x="2420" y="8138"/>
                    <a:pt x="814" y="8202"/>
                    <a:pt x="356" y="9418"/>
                  </a:cubicBezTo>
                  <a:cubicBezTo>
                    <a:pt x="-103" y="10634"/>
                    <a:pt x="-103" y="13578"/>
                    <a:pt x="272" y="14602"/>
                  </a:cubicBezTo>
                  <a:cubicBezTo>
                    <a:pt x="648" y="15626"/>
                    <a:pt x="1127" y="15402"/>
                    <a:pt x="2649" y="15562"/>
                  </a:cubicBezTo>
                  <a:cubicBezTo>
                    <a:pt x="4171" y="15722"/>
                    <a:pt x="7820" y="15210"/>
                    <a:pt x="9446" y="15562"/>
                  </a:cubicBezTo>
                  <a:cubicBezTo>
                    <a:pt x="11072" y="15914"/>
                    <a:pt x="11343" y="16778"/>
                    <a:pt x="12365" y="17674"/>
                  </a:cubicBezTo>
                  <a:cubicBezTo>
                    <a:pt x="13387" y="18570"/>
                    <a:pt x="14638" y="20362"/>
                    <a:pt x="15576" y="20938"/>
                  </a:cubicBezTo>
                  <a:cubicBezTo>
                    <a:pt x="16514" y="21514"/>
                    <a:pt x="17348" y="21354"/>
                    <a:pt x="18036" y="21066"/>
                  </a:cubicBezTo>
                  <a:cubicBezTo>
                    <a:pt x="18724" y="20778"/>
                    <a:pt x="19329" y="20362"/>
                    <a:pt x="19746" y="19210"/>
                  </a:cubicBezTo>
                  <a:cubicBezTo>
                    <a:pt x="20163" y="18058"/>
                    <a:pt x="20350" y="15818"/>
                    <a:pt x="20580" y="14154"/>
                  </a:cubicBezTo>
                  <a:cubicBezTo>
                    <a:pt x="20809" y="12490"/>
                    <a:pt x="21017" y="11018"/>
                    <a:pt x="21122" y="9226"/>
                  </a:cubicBezTo>
                  <a:cubicBezTo>
                    <a:pt x="21226" y="7434"/>
                    <a:pt x="21497" y="4810"/>
                    <a:pt x="21205" y="3338"/>
                  </a:cubicBezTo>
                  <a:cubicBezTo>
                    <a:pt x="20913" y="1866"/>
                    <a:pt x="20225" y="1002"/>
                    <a:pt x="19370" y="458"/>
                  </a:cubicBezTo>
                  <a:cubicBezTo>
                    <a:pt x="18516" y="-86"/>
                    <a:pt x="17077" y="42"/>
                    <a:pt x="16076" y="10"/>
                  </a:cubicBezTo>
                  <a:cubicBezTo>
                    <a:pt x="15075" y="-22"/>
                    <a:pt x="14742" y="10"/>
                    <a:pt x="13407" y="266"/>
                  </a:cubicBezTo>
                  <a:close/>
                </a:path>
              </a:pathLst>
            </a:custGeom>
            <a:solidFill>
              <a:srgbClr val="00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65" name="TextBox 171"/>
            <p:cNvSpPr txBox="1"/>
            <p:nvPr/>
          </p:nvSpPr>
          <p:spPr>
            <a:xfrm>
              <a:off x="104013" y="17341"/>
              <a:ext cx="499404" cy="346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access</a:t>
              </a:r>
              <a:endParaRPr sz="2400"/>
            </a:p>
            <a:p>
              <a:pPr algn="ctr">
                <a:lnSpc>
                  <a:spcPts val="1000"/>
                </a:lnSpc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</p:txBody>
        </p:sp>
      </p:grpSp>
      <p:grpSp>
        <p:nvGrpSpPr>
          <p:cNvPr id="8678" name="Group 869"/>
          <p:cNvGrpSpPr/>
          <p:nvPr/>
        </p:nvGrpSpPr>
        <p:grpSpPr>
          <a:xfrm>
            <a:off x="4812419" y="4917284"/>
            <a:ext cx="541339" cy="411011"/>
            <a:chOff x="0" y="0"/>
            <a:chExt cx="541337" cy="411009"/>
          </a:xfrm>
        </p:grpSpPr>
        <p:grpSp>
          <p:nvGrpSpPr>
            <p:cNvPr id="8669" name="Freeform 918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667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68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672" name="Oval 919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670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71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677" name="Group 920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673" name="Freeform 921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74" name="Freeform 922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75" name="Freeform 923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76" name="Freeform 924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747" name="Group 264"/>
          <p:cNvGrpSpPr/>
          <p:nvPr/>
        </p:nvGrpSpPr>
        <p:grpSpPr>
          <a:xfrm>
            <a:off x="2344723" y="2457439"/>
            <a:ext cx="6847390" cy="3478543"/>
            <a:chOff x="0" y="0"/>
            <a:chExt cx="6847389" cy="3478542"/>
          </a:xfrm>
        </p:grpSpPr>
        <p:grpSp>
          <p:nvGrpSpPr>
            <p:cNvPr id="8731" name="Group 4"/>
            <p:cNvGrpSpPr/>
            <p:nvPr/>
          </p:nvGrpSpPr>
          <p:grpSpPr>
            <a:xfrm>
              <a:off x="212828" y="1167221"/>
              <a:ext cx="6096001" cy="799433"/>
              <a:chOff x="0" y="0"/>
              <a:chExt cx="6096000" cy="799431"/>
            </a:xfrm>
          </p:grpSpPr>
          <p:grpSp>
            <p:nvGrpSpPr>
              <p:cNvPr id="8681" name="Oval 11"/>
              <p:cNvGrpSpPr/>
              <p:nvPr/>
            </p:nvGrpSpPr>
            <p:grpSpPr>
              <a:xfrm>
                <a:off x="0" y="70022"/>
                <a:ext cx="6096000" cy="729410"/>
                <a:chOff x="0" y="0"/>
                <a:chExt cx="6096000" cy="729409"/>
              </a:xfrm>
            </p:grpSpPr>
            <p:sp>
              <p:nvSpPr>
                <p:cNvPr id="8679" name="Oval"/>
                <p:cNvSpPr/>
                <p:nvPr/>
              </p:nvSpPr>
              <p:spPr>
                <a:xfrm>
                  <a:off x="0" y="0"/>
                  <a:ext cx="6096000" cy="729410"/>
                </a:xfrm>
                <a:prstGeom prst="ellipse">
                  <a:avLst/>
                </a:prstGeom>
                <a:solidFill>
                  <a:srgbClr val="FF6600">
                    <a:alpha val="70195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8680" name="Text"/>
                <p:cNvSpPr txBox="1"/>
                <p:nvPr/>
              </p:nvSpPr>
              <p:spPr>
                <a:xfrm>
                  <a:off x="938458" y="106820"/>
                  <a:ext cx="4219084" cy="4370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t">
                  <a:spAutoFit/>
                </a:bodyPr>
                <a:lstStyle>
                  <a:lvl1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     </a:t>
                  </a:r>
                </a:p>
              </p:txBody>
            </p:sp>
          </p:grpSp>
          <p:sp>
            <p:nvSpPr>
              <p:cNvPr id="8682" name="TextBox 13"/>
              <p:cNvSpPr txBox="1"/>
              <p:nvPr/>
            </p:nvSpPr>
            <p:spPr>
              <a:xfrm>
                <a:off x="1331098" y="183256"/>
                <a:ext cx="3260488" cy="392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i="1"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Content provider network</a:t>
                </a:r>
              </a:p>
            </p:txBody>
          </p:sp>
          <p:grpSp>
            <p:nvGrpSpPr>
              <p:cNvPr id="8706" name="Group 2"/>
              <p:cNvGrpSpPr/>
              <p:nvPr/>
            </p:nvGrpSpPr>
            <p:grpSpPr>
              <a:xfrm>
                <a:off x="570549" y="-1"/>
                <a:ext cx="666347" cy="673102"/>
                <a:chOff x="0" y="0"/>
                <a:chExt cx="666345" cy="673100"/>
              </a:xfrm>
            </p:grpSpPr>
            <p:grpSp>
              <p:nvGrpSpPr>
                <p:cNvPr id="8691" name="Group 850"/>
                <p:cNvGrpSpPr/>
                <p:nvPr/>
              </p:nvGrpSpPr>
              <p:grpSpPr>
                <a:xfrm>
                  <a:off x="0" y="-1"/>
                  <a:ext cx="572158" cy="648941"/>
                  <a:chOff x="0" y="0"/>
                  <a:chExt cx="572157" cy="648939"/>
                </a:xfrm>
              </p:grpSpPr>
              <p:sp>
                <p:nvSpPr>
                  <p:cNvPr id="8683" name="Freeform 851"/>
                  <p:cNvSpPr/>
                  <p:nvPr/>
                </p:nvSpPr>
                <p:spPr>
                  <a:xfrm>
                    <a:off x="222428" y="-1"/>
                    <a:ext cx="349730" cy="64865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47" y="21482"/>
                        </a:moveTo>
                        <a:cubicBezTo>
                          <a:pt x="348" y="15108"/>
                          <a:pt x="99" y="9089"/>
                          <a:pt x="0" y="2715"/>
                        </a:cubicBezTo>
                        <a:lnTo>
                          <a:pt x="10279" y="0"/>
                        </a:lnTo>
                        <a:lnTo>
                          <a:pt x="21451" y="2243"/>
                        </a:lnTo>
                        <a:lnTo>
                          <a:pt x="21600" y="21600"/>
                        </a:lnTo>
                        <a:lnTo>
                          <a:pt x="447" y="21482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 cap="flat">
                    <a:solidFill>
                      <a:srgbClr val="0000A8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8684" name="Freeform 852"/>
                  <p:cNvSpPr/>
                  <p:nvPr/>
                </p:nvSpPr>
                <p:spPr>
                  <a:xfrm>
                    <a:off x="0" y="166594"/>
                    <a:ext cx="434146" cy="48206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0" y="21600"/>
                        </a:moveTo>
                        <a:lnTo>
                          <a:pt x="0" y="6194"/>
                        </a:lnTo>
                        <a:lnTo>
                          <a:pt x="14040" y="0"/>
                        </a:lnTo>
                        <a:lnTo>
                          <a:pt x="21480" y="2541"/>
                        </a:lnTo>
                        <a:lnTo>
                          <a:pt x="21600" y="21600"/>
                        </a:lnTo>
                        <a:lnTo>
                          <a:pt x="120" y="2160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 cap="flat">
                    <a:solidFill>
                      <a:srgbClr val="0000A3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8685" name="Straight Connector 855"/>
                  <p:cNvSpPr/>
                  <p:nvPr/>
                </p:nvSpPr>
                <p:spPr>
                  <a:xfrm flipV="1">
                    <a:off x="44953" y="272701"/>
                    <a:ext cx="196811" cy="71974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686" name="Straight Connector 1044"/>
                  <p:cNvSpPr/>
                  <p:nvPr/>
                </p:nvSpPr>
                <p:spPr>
                  <a:xfrm flipV="1">
                    <a:off x="48206" y="500135"/>
                    <a:ext cx="193558" cy="16412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687" name="Straight Connector 1045"/>
                  <p:cNvSpPr/>
                  <p:nvPr/>
                </p:nvSpPr>
                <p:spPr>
                  <a:xfrm flipV="1">
                    <a:off x="48206" y="392434"/>
                    <a:ext cx="193558" cy="47418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688" name="Straight Connector 1046"/>
                  <p:cNvSpPr/>
                  <p:nvPr/>
                </p:nvSpPr>
                <p:spPr>
                  <a:xfrm>
                    <a:off x="44665" y="590632"/>
                    <a:ext cx="197099" cy="1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689" name="Straight Connector 1047"/>
                  <p:cNvSpPr/>
                  <p:nvPr/>
                </p:nvSpPr>
                <p:spPr>
                  <a:xfrm flipV="1">
                    <a:off x="498047" y="113356"/>
                    <a:ext cx="1" cy="455810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ysDash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690" name="Straight Connector 1048"/>
                  <p:cNvSpPr/>
                  <p:nvPr/>
                </p:nvSpPr>
                <p:spPr>
                  <a:xfrm flipH="1">
                    <a:off x="283635" y="181785"/>
                    <a:ext cx="1" cy="467155"/>
                  </a:xfrm>
                  <a:prstGeom prst="line">
                    <a:avLst/>
                  </a:prstGeom>
                  <a:noFill/>
                  <a:ln w="15875" cap="flat">
                    <a:solidFill>
                      <a:srgbClr val="0000A8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8705" name="Group 844"/>
                <p:cNvGrpSpPr/>
                <p:nvPr/>
              </p:nvGrpSpPr>
              <p:grpSpPr>
                <a:xfrm>
                  <a:off x="0" y="-1"/>
                  <a:ext cx="666346" cy="673102"/>
                  <a:chOff x="0" y="0"/>
                  <a:chExt cx="666345" cy="673100"/>
                </a:xfrm>
              </p:grpSpPr>
              <p:grpSp>
                <p:nvGrpSpPr>
                  <p:cNvPr id="8700" name="Group 1049"/>
                  <p:cNvGrpSpPr/>
                  <p:nvPr/>
                </p:nvGrpSpPr>
                <p:grpSpPr>
                  <a:xfrm>
                    <a:off x="0" y="-1"/>
                    <a:ext cx="572158" cy="648941"/>
                    <a:chOff x="0" y="0"/>
                    <a:chExt cx="572157" cy="648939"/>
                  </a:xfrm>
                </p:grpSpPr>
                <p:sp>
                  <p:nvSpPr>
                    <p:cNvPr id="8692" name="Freeform 1054"/>
                    <p:cNvSpPr/>
                    <p:nvPr/>
                  </p:nvSpPr>
                  <p:spPr>
                    <a:xfrm>
                      <a:off x="222428" y="-1"/>
                      <a:ext cx="349730" cy="64865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447" y="21482"/>
                          </a:moveTo>
                          <a:cubicBezTo>
                            <a:pt x="348" y="15108"/>
                            <a:pt x="99" y="9089"/>
                            <a:pt x="0" y="2715"/>
                          </a:cubicBezTo>
                          <a:lnTo>
                            <a:pt x="10279" y="0"/>
                          </a:lnTo>
                          <a:lnTo>
                            <a:pt x="21451" y="2243"/>
                          </a:lnTo>
                          <a:lnTo>
                            <a:pt x="21600" y="21600"/>
                          </a:lnTo>
                          <a:lnTo>
                            <a:pt x="447" y="21482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 cap="flat">
                      <a:solidFill>
                        <a:srgbClr val="0000A8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8693" name="Freeform 1055"/>
                    <p:cNvSpPr/>
                    <p:nvPr/>
                  </p:nvSpPr>
                  <p:spPr>
                    <a:xfrm>
                      <a:off x="0" y="166594"/>
                      <a:ext cx="434146" cy="4820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20" y="21600"/>
                          </a:moveTo>
                          <a:lnTo>
                            <a:pt x="0" y="6194"/>
                          </a:lnTo>
                          <a:lnTo>
                            <a:pt x="14040" y="0"/>
                          </a:lnTo>
                          <a:lnTo>
                            <a:pt x="21480" y="2541"/>
                          </a:lnTo>
                          <a:lnTo>
                            <a:pt x="21600" y="21600"/>
                          </a:lnTo>
                          <a:lnTo>
                            <a:pt x="120" y="2160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 cap="flat">
                      <a:solidFill>
                        <a:srgbClr val="0000A3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8694" name="Straight Connector 1056"/>
                    <p:cNvSpPr/>
                    <p:nvPr/>
                  </p:nvSpPr>
                  <p:spPr>
                    <a:xfrm flipV="1">
                      <a:off x="44953" y="272701"/>
                      <a:ext cx="196811" cy="71974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695" name="Straight Connector 1057"/>
                    <p:cNvSpPr/>
                    <p:nvPr/>
                  </p:nvSpPr>
                  <p:spPr>
                    <a:xfrm flipV="1">
                      <a:off x="48206" y="500135"/>
                      <a:ext cx="193558" cy="16412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696" name="Straight Connector 1058"/>
                    <p:cNvSpPr/>
                    <p:nvPr/>
                  </p:nvSpPr>
                  <p:spPr>
                    <a:xfrm flipV="1">
                      <a:off x="48206" y="392434"/>
                      <a:ext cx="193558" cy="47418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697" name="Straight Connector 1059"/>
                    <p:cNvSpPr/>
                    <p:nvPr/>
                  </p:nvSpPr>
                  <p:spPr>
                    <a:xfrm>
                      <a:off x="44665" y="590632"/>
                      <a:ext cx="197099" cy="1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698" name="Straight Connector 1060"/>
                    <p:cNvSpPr/>
                    <p:nvPr/>
                  </p:nvSpPr>
                  <p:spPr>
                    <a:xfrm flipV="1">
                      <a:off x="498047" y="113356"/>
                      <a:ext cx="1" cy="455810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ysDash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699" name="Straight Connector 1061"/>
                    <p:cNvSpPr/>
                    <p:nvPr/>
                  </p:nvSpPr>
                  <p:spPr>
                    <a:xfrm flipH="1">
                      <a:off x="283635" y="181785"/>
                      <a:ext cx="1" cy="467155"/>
                    </a:xfrm>
                    <a:prstGeom prst="line">
                      <a:avLst/>
                    </a:prstGeom>
                    <a:noFill/>
                    <a:ln w="15875" cap="flat">
                      <a:solidFill>
                        <a:srgbClr val="0000A8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grpSp>
                <p:nvGrpSpPr>
                  <p:cNvPr id="8704" name="Group 1050"/>
                  <p:cNvGrpSpPr/>
                  <p:nvPr/>
                </p:nvGrpSpPr>
                <p:grpSpPr>
                  <a:xfrm>
                    <a:off x="373068" y="266749"/>
                    <a:ext cx="293278" cy="406352"/>
                    <a:chOff x="0" y="0"/>
                    <a:chExt cx="293277" cy="406350"/>
                  </a:xfrm>
                </p:grpSpPr>
                <p:pic>
                  <p:nvPicPr>
                    <p:cNvPr id="8701" name="Picture 1051" descr="Picture 1051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169615" y="59452"/>
                      <a:ext cx="123663" cy="314011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  <p:pic>
                  <p:nvPicPr>
                    <p:cNvPr id="8702" name="Picture 1052" descr="Picture 1052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-1" y="52654"/>
                      <a:ext cx="123663" cy="314011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  <p:pic>
                  <p:nvPicPr>
                    <p:cNvPr id="8703" name="Picture 1053" descr="Picture 1053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71398" y="0"/>
                      <a:ext cx="160028" cy="406351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</p:grpSp>
            </p:grpSp>
          </p:grpSp>
          <p:grpSp>
            <p:nvGrpSpPr>
              <p:cNvPr id="8730" name="Group 1062"/>
              <p:cNvGrpSpPr/>
              <p:nvPr/>
            </p:nvGrpSpPr>
            <p:grpSpPr>
              <a:xfrm>
                <a:off x="4662773" y="39510"/>
                <a:ext cx="666347" cy="673102"/>
                <a:chOff x="0" y="0"/>
                <a:chExt cx="666345" cy="673100"/>
              </a:xfrm>
            </p:grpSpPr>
            <p:grpSp>
              <p:nvGrpSpPr>
                <p:cNvPr id="8715" name="Group 1063"/>
                <p:cNvGrpSpPr/>
                <p:nvPr/>
              </p:nvGrpSpPr>
              <p:grpSpPr>
                <a:xfrm>
                  <a:off x="0" y="-1"/>
                  <a:ext cx="572158" cy="648941"/>
                  <a:chOff x="0" y="0"/>
                  <a:chExt cx="572157" cy="648939"/>
                </a:xfrm>
              </p:grpSpPr>
              <p:sp>
                <p:nvSpPr>
                  <p:cNvPr id="8707" name="Freeform 1078"/>
                  <p:cNvSpPr/>
                  <p:nvPr/>
                </p:nvSpPr>
                <p:spPr>
                  <a:xfrm>
                    <a:off x="222428" y="-1"/>
                    <a:ext cx="349730" cy="64865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447" y="21482"/>
                        </a:moveTo>
                        <a:cubicBezTo>
                          <a:pt x="348" y="15108"/>
                          <a:pt x="99" y="9089"/>
                          <a:pt x="0" y="2715"/>
                        </a:cubicBezTo>
                        <a:lnTo>
                          <a:pt x="10279" y="0"/>
                        </a:lnTo>
                        <a:lnTo>
                          <a:pt x="21451" y="2243"/>
                        </a:lnTo>
                        <a:lnTo>
                          <a:pt x="21600" y="21600"/>
                        </a:lnTo>
                        <a:lnTo>
                          <a:pt x="447" y="21482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 cap="flat">
                    <a:solidFill>
                      <a:srgbClr val="0000A8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8708" name="Freeform 1079"/>
                  <p:cNvSpPr/>
                  <p:nvPr/>
                </p:nvSpPr>
                <p:spPr>
                  <a:xfrm>
                    <a:off x="0" y="166594"/>
                    <a:ext cx="434146" cy="48206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120" y="21600"/>
                        </a:moveTo>
                        <a:lnTo>
                          <a:pt x="0" y="6194"/>
                        </a:lnTo>
                        <a:lnTo>
                          <a:pt x="14040" y="0"/>
                        </a:lnTo>
                        <a:lnTo>
                          <a:pt x="21480" y="2541"/>
                        </a:lnTo>
                        <a:lnTo>
                          <a:pt x="21600" y="21600"/>
                        </a:lnTo>
                        <a:lnTo>
                          <a:pt x="120" y="2160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 cap="flat">
                    <a:solidFill>
                      <a:srgbClr val="0000A3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algn="ctr">
                      <a:defRPr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8709" name="Straight Connector 1080"/>
                  <p:cNvSpPr/>
                  <p:nvPr/>
                </p:nvSpPr>
                <p:spPr>
                  <a:xfrm flipV="1">
                    <a:off x="44953" y="272701"/>
                    <a:ext cx="196811" cy="71974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710" name="Straight Connector 1081"/>
                  <p:cNvSpPr/>
                  <p:nvPr/>
                </p:nvSpPr>
                <p:spPr>
                  <a:xfrm flipV="1">
                    <a:off x="48206" y="500135"/>
                    <a:ext cx="193558" cy="16412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711" name="Straight Connector 1082"/>
                  <p:cNvSpPr/>
                  <p:nvPr/>
                </p:nvSpPr>
                <p:spPr>
                  <a:xfrm flipV="1">
                    <a:off x="48206" y="392434"/>
                    <a:ext cx="193558" cy="47418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712" name="Straight Connector 1083"/>
                  <p:cNvSpPr/>
                  <p:nvPr/>
                </p:nvSpPr>
                <p:spPr>
                  <a:xfrm>
                    <a:off x="44665" y="590632"/>
                    <a:ext cx="197099" cy="1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713" name="Straight Connector 1084"/>
                  <p:cNvSpPr/>
                  <p:nvPr/>
                </p:nvSpPr>
                <p:spPr>
                  <a:xfrm flipV="1">
                    <a:off x="498047" y="113356"/>
                    <a:ext cx="1" cy="455810"/>
                  </a:xfrm>
                  <a:prstGeom prst="line">
                    <a:avLst/>
                  </a:prstGeom>
                  <a:noFill/>
                  <a:ln w="44450" cap="flat">
                    <a:solidFill>
                      <a:srgbClr val="FFFFFF"/>
                    </a:solidFill>
                    <a:prstDash val="sysDash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8714" name="Straight Connector 1085"/>
                  <p:cNvSpPr/>
                  <p:nvPr/>
                </p:nvSpPr>
                <p:spPr>
                  <a:xfrm flipH="1">
                    <a:off x="283635" y="181785"/>
                    <a:ext cx="1" cy="467155"/>
                  </a:xfrm>
                  <a:prstGeom prst="line">
                    <a:avLst/>
                  </a:prstGeom>
                  <a:noFill/>
                  <a:ln w="15875" cap="flat">
                    <a:solidFill>
                      <a:srgbClr val="0000A8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8729" name="Group 1064"/>
                <p:cNvGrpSpPr/>
                <p:nvPr/>
              </p:nvGrpSpPr>
              <p:grpSpPr>
                <a:xfrm>
                  <a:off x="0" y="-1"/>
                  <a:ext cx="666346" cy="673102"/>
                  <a:chOff x="0" y="0"/>
                  <a:chExt cx="666345" cy="673100"/>
                </a:xfrm>
              </p:grpSpPr>
              <p:grpSp>
                <p:nvGrpSpPr>
                  <p:cNvPr id="8724" name="Group 1065"/>
                  <p:cNvGrpSpPr/>
                  <p:nvPr/>
                </p:nvGrpSpPr>
                <p:grpSpPr>
                  <a:xfrm>
                    <a:off x="0" y="-1"/>
                    <a:ext cx="572158" cy="648941"/>
                    <a:chOff x="0" y="0"/>
                    <a:chExt cx="572157" cy="648939"/>
                  </a:xfrm>
                </p:grpSpPr>
                <p:sp>
                  <p:nvSpPr>
                    <p:cNvPr id="8716" name="Freeform 1070"/>
                    <p:cNvSpPr/>
                    <p:nvPr/>
                  </p:nvSpPr>
                  <p:spPr>
                    <a:xfrm>
                      <a:off x="222428" y="-1"/>
                      <a:ext cx="349730" cy="64865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447" y="21482"/>
                          </a:moveTo>
                          <a:cubicBezTo>
                            <a:pt x="348" y="15108"/>
                            <a:pt x="99" y="9089"/>
                            <a:pt x="0" y="2715"/>
                          </a:cubicBezTo>
                          <a:lnTo>
                            <a:pt x="10279" y="0"/>
                          </a:lnTo>
                          <a:lnTo>
                            <a:pt x="21451" y="2243"/>
                          </a:lnTo>
                          <a:lnTo>
                            <a:pt x="21600" y="21600"/>
                          </a:lnTo>
                          <a:lnTo>
                            <a:pt x="447" y="21482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 cap="flat">
                      <a:solidFill>
                        <a:srgbClr val="0000A8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8717" name="Freeform 1071"/>
                    <p:cNvSpPr/>
                    <p:nvPr/>
                  </p:nvSpPr>
                  <p:spPr>
                    <a:xfrm>
                      <a:off x="0" y="166594"/>
                      <a:ext cx="434146" cy="48206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fill="norm" stroke="1" extrusionOk="0">
                          <a:moveTo>
                            <a:pt x="120" y="21600"/>
                          </a:moveTo>
                          <a:lnTo>
                            <a:pt x="0" y="6194"/>
                          </a:lnTo>
                          <a:lnTo>
                            <a:pt x="14040" y="0"/>
                          </a:lnTo>
                          <a:lnTo>
                            <a:pt x="21480" y="2541"/>
                          </a:lnTo>
                          <a:lnTo>
                            <a:pt x="21600" y="21600"/>
                          </a:lnTo>
                          <a:lnTo>
                            <a:pt x="120" y="2160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 cap="flat">
                      <a:solidFill>
                        <a:srgbClr val="0000A3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sp>
                  <p:nvSpPr>
                    <p:cNvPr id="8718" name="Straight Connector 1072"/>
                    <p:cNvSpPr/>
                    <p:nvPr/>
                  </p:nvSpPr>
                  <p:spPr>
                    <a:xfrm flipV="1">
                      <a:off x="44953" y="272701"/>
                      <a:ext cx="196811" cy="71974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719" name="Straight Connector 1073"/>
                    <p:cNvSpPr/>
                    <p:nvPr/>
                  </p:nvSpPr>
                  <p:spPr>
                    <a:xfrm flipV="1">
                      <a:off x="48206" y="500135"/>
                      <a:ext cx="193558" cy="16412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720" name="Straight Connector 1074"/>
                    <p:cNvSpPr/>
                    <p:nvPr/>
                  </p:nvSpPr>
                  <p:spPr>
                    <a:xfrm flipV="1">
                      <a:off x="48206" y="392434"/>
                      <a:ext cx="193558" cy="47418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721" name="Straight Connector 1075"/>
                    <p:cNvSpPr/>
                    <p:nvPr/>
                  </p:nvSpPr>
                  <p:spPr>
                    <a:xfrm>
                      <a:off x="44665" y="590632"/>
                      <a:ext cx="197099" cy="1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722" name="Straight Connector 1076"/>
                    <p:cNvSpPr/>
                    <p:nvPr/>
                  </p:nvSpPr>
                  <p:spPr>
                    <a:xfrm flipV="1">
                      <a:off x="498047" y="113356"/>
                      <a:ext cx="1" cy="455810"/>
                    </a:xfrm>
                    <a:prstGeom prst="line">
                      <a:avLst/>
                    </a:prstGeom>
                    <a:noFill/>
                    <a:ln w="44450" cap="flat">
                      <a:solidFill>
                        <a:srgbClr val="FFFFFF"/>
                      </a:solidFill>
                      <a:prstDash val="sysDash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8723" name="Straight Connector 1077"/>
                    <p:cNvSpPr/>
                    <p:nvPr/>
                  </p:nvSpPr>
                  <p:spPr>
                    <a:xfrm flipH="1">
                      <a:off x="283635" y="181785"/>
                      <a:ext cx="1" cy="467155"/>
                    </a:xfrm>
                    <a:prstGeom prst="line">
                      <a:avLst/>
                    </a:prstGeom>
                    <a:noFill/>
                    <a:ln w="15875" cap="flat">
                      <a:solidFill>
                        <a:srgbClr val="0000A8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lIns="45719" tIns="45719" rIns="45719" bIns="45719" numCol="1" anchor="t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grpSp>
                <p:nvGrpSpPr>
                  <p:cNvPr id="8728" name="Group 1066"/>
                  <p:cNvGrpSpPr/>
                  <p:nvPr/>
                </p:nvGrpSpPr>
                <p:grpSpPr>
                  <a:xfrm>
                    <a:off x="373068" y="266749"/>
                    <a:ext cx="293278" cy="406352"/>
                    <a:chOff x="0" y="0"/>
                    <a:chExt cx="293277" cy="406350"/>
                  </a:xfrm>
                </p:grpSpPr>
                <p:pic>
                  <p:nvPicPr>
                    <p:cNvPr id="8725" name="Picture 1067" descr="Picture 1067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169615" y="59452"/>
                      <a:ext cx="123663" cy="314011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  <p:pic>
                  <p:nvPicPr>
                    <p:cNvPr id="8726" name="Picture 1068" descr="Picture 1068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-1" y="52654"/>
                      <a:ext cx="123663" cy="314011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  <p:pic>
                  <p:nvPicPr>
                    <p:cNvPr id="8727" name="Picture 1069" descr="Picture 1069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/>
                    </a:blip>
                    <a:stretch>
                      <a:fillRect/>
                    </a:stretch>
                  </p:blipFill>
                  <p:spPr>
                    <a:xfrm>
                      <a:off x="71398" y="0"/>
                      <a:ext cx="160028" cy="406351"/>
                    </a:xfrm>
                    <a:prstGeom prst="rect">
                      <a:avLst/>
                    </a:prstGeom>
                    <a:ln w="12700" cap="flat">
                      <a:noFill/>
                      <a:miter lim="400000"/>
                    </a:ln>
                    <a:effectLst/>
                  </p:spPr>
                </p:pic>
              </p:grpSp>
            </p:grpSp>
          </p:grpSp>
        </p:grpSp>
        <p:sp>
          <p:nvSpPr>
            <p:cNvPr id="8732" name="Straight Connector 7"/>
            <p:cNvSpPr/>
            <p:nvPr/>
          </p:nvSpPr>
          <p:spPr>
            <a:xfrm flipV="1">
              <a:off x="6028453" y="868275"/>
              <a:ext cx="210563" cy="606180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3" name="Straight Connector 1086"/>
            <p:cNvSpPr/>
            <p:nvPr/>
          </p:nvSpPr>
          <p:spPr>
            <a:xfrm>
              <a:off x="6308828" y="1601948"/>
              <a:ext cx="538562" cy="236968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4" name="Straight Connector 1087"/>
            <p:cNvSpPr/>
            <p:nvPr/>
          </p:nvSpPr>
          <p:spPr>
            <a:xfrm flipH="1" flipV="1">
              <a:off x="5636683" y="514064"/>
              <a:ext cx="180082" cy="928887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5" name="Straight Connector 1088"/>
            <p:cNvSpPr/>
            <p:nvPr/>
          </p:nvSpPr>
          <p:spPr>
            <a:xfrm flipV="1">
              <a:off x="3655969" y="-1"/>
              <a:ext cx="3286" cy="1256299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6" name="Straight Connector 1089"/>
            <p:cNvSpPr/>
            <p:nvPr/>
          </p:nvSpPr>
          <p:spPr>
            <a:xfrm flipH="1" flipV="1">
              <a:off x="1146045" y="252325"/>
              <a:ext cx="350838" cy="1056149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7" name="Straight Connector 1090"/>
            <p:cNvSpPr/>
            <p:nvPr/>
          </p:nvSpPr>
          <p:spPr>
            <a:xfrm flipH="1" flipV="1">
              <a:off x="388865" y="627498"/>
              <a:ext cx="184531" cy="786743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8" name="Straight Connector 1091"/>
            <p:cNvSpPr/>
            <p:nvPr/>
          </p:nvSpPr>
          <p:spPr>
            <a:xfrm flipV="1">
              <a:off x="192383" y="1803312"/>
              <a:ext cx="477028" cy="550562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9" name="Straight Connector 1098"/>
            <p:cNvSpPr/>
            <p:nvPr/>
          </p:nvSpPr>
          <p:spPr>
            <a:xfrm flipV="1">
              <a:off x="3375399" y="1960007"/>
              <a:ext cx="5023" cy="1030758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0" name="Straight Connector 1099"/>
            <p:cNvSpPr/>
            <p:nvPr/>
          </p:nvSpPr>
          <p:spPr>
            <a:xfrm flipH="1" flipV="1">
              <a:off x="3483176" y="1933321"/>
              <a:ext cx="863811" cy="1545222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1" name="Straight Connector 1100"/>
            <p:cNvSpPr/>
            <p:nvPr/>
          </p:nvSpPr>
          <p:spPr>
            <a:xfrm flipH="1" flipV="1">
              <a:off x="5698001" y="1815739"/>
              <a:ext cx="719290" cy="1457600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2" name="Straight Connector 1101"/>
            <p:cNvSpPr/>
            <p:nvPr/>
          </p:nvSpPr>
          <p:spPr>
            <a:xfrm flipH="1" flipV="1">
              <a:off x="41551" y="1015912"/>
              <a:ext cx="261638" cy="504827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3" name="Straight Connector 1102"/>
            <p:cNvSpPr/>
            <p:nvPr/>
          </p:nvSpPr>
          <p:spPr>
            <a:xfrm flipV="1">
              <a:off x="-1" y="1656752"/>
              <a:ext cx="251696" cy="109255"/>
            </a:xfrm>
            <a:prstGeom prst="line">
              <a:avLst/>
            </a:prstGeom>
            <a:noFill/>
            <a:ln w="9525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4" name="Straight Connector 1103"/>
            <p:cNvSpPr/>
            <p:nvPr/>
          </p:nvSpPr>
          <p:spPr>
            <a:xfrm flipV="1">
              <a:off x="3113325" y="773411"/>
              <a:ext cx="7427" cy="480991"/>
            </a:xfrm>
            <a:prstGeom prst="line">
              <a:avLst/>
            </a:prstGeom>
            <a:noFill/>
            <a:ln w="44450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5" name="Straight Connector 1104"/>
            <p:cNvSpPr/>
            <p:nvPr/>
          </p:nvSpPr>
          <p:spPr>
            <a:xfrm flipV="1">
              <a:off x="2112605" y="1937467"/>
              <a:ext cx="7427" cy="480991"/>
            </a:xfrm>
            <a:prstGeom prst="line">
              <a:avLst/>
            </a:prstGeom>
            <a:noFill/>
            <a:ln w="44450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6" name="Straight Connector 1171"/>
            <p:cNvSpPr/>
            <p:nvPr/>
          </p:nvSpPr>
          <p:spPr>
            <a:xfrm flipV="1">
              <a:off x="5062519" y="1911262"/>
              <a:ext cx="7427" cy="480991"/>
            </a:xfrm>
            <a:prstGeom prst="line">
              <a:avLst/>
            </a:prstGeom>
            <a:noFill/>
            <a:ln w="44450" cap="flat">
              <a:solidFill>
                <a:srgbClr val="C55A1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750" name="Group 1092"/>
          <p:cNvGrpSpPr/>
          <p:nvPr/>
        </p:nvGrpSpPr>
        <p:grpSpPr>
          <a:xfrm>
            <a:off x="4545097" y="5447246"/>
            <a:ext cx="1807206" cy="495368"/>
            <a:chOff x="0" y="0"/>
            <a:chExt cx="1807204" cy="495366"/>
          </a:xfrm>
        </p:grpSpPr>
        <p:sp>
          <p:nvSpPr>
            <p:cNvPr id="8748" name="Oval 33"/>
            <p:cNvSpPr/>
            <p:nvPr/>
          </p:nvSpPr>
          <p:spPr>
            <a:xfrm rot="10800000">
              <a:off x="-1" y="-1"/>
              <a:ext cx="1807205" cy="495367"/>
            </a:xfrm>
            <a:prstGeom prst="ellipse">
              <a:avLst/>
            </a:prstGeom>
            <a:solidFill>
              <a:srgbClr val="CC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749" name="TextBox 9"/>
            <p:cNvSpPr txBox="1"/>
            <p:nvPr/>
          </p:nvSpPr>
          <p:spPr>
            <a:xfrm>
              <a:off x="163021" y="40948"/>
              <a:ext cx="1487870" cy="375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0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regional ISP</a:t>
              </a:r>
            </a:p>
          </p:txBody>
        </p:sp>
      </p:grpSp>
      <p:grpSp>
        <p:nvGrpSpPr>
          <p:cNvPr id="8762" name="Group 870"/>
          <p:cNvGrpSpPr/>
          <p:nvPr/>
        </p:nvGrpSpPr>
        <p:grpSpPr>
          <a:xfrm>
            <a:off x="4220281" y="4732479"/>
            <a:ext cx="541339" cy="411011"/>
            <a:chOff x="0" y="0"/>
            <a:chExt cx="541337" cy="411009"/>
          </a:xfrm>
        </p:grpSpPr>
        <p:grpSp>
          <p:nvGrpSpPr>
            <p:cNvPr id="8753" name="Freeform 911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751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52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756" name="Oval 912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754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55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761" name="Group 913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757" name="Freeform 914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58" name="Freeform 915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59" name="Freeform 916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60" name="Freeform 917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8774" name="Group 867"/>
          <p:cNvGrpSpPr/>
          <p:nvPr/>
        </p:nvGrpSpPr>
        <p:grpSpPr>
          <a:xfrm>
            <a:off x="7291037" y="4563652"/>
            <a:ext cx="541339" cy="411011"/>
            <a:chOff x="0" y="0"/>
            <a:chExt cx="541337" cy="411009"/>
          </a:xfrm>
        </p:grpSpPr>
        <p:grpSp>
          <p:nvGrpSpPr>
            <p:cNvPr id="8765" name="Freeform 932"/>
            <p:cNvGrpSpPr/>
            <p:nvPr/>
          </p:nvGrpSpPr>
          <p:grpSpPr>
            <a:xfrm>
              <a:off x="0" y="77922"/>
              <a:ext cx="541338" cy="333088"/>
              <a:chOff x="0" y="0"/>
              <a:chExt cx="541337" cy="333087"/>
            </a:xfrm>
          </p:grpSpPr>
          <p:sp>
            <p:nvSpPr>
              <p:cNvPr id="8763" name="Shape"/>
              <p:cNvSpPr/>
              <p:nvPr/>
            </p:nvSpPr>
            <p:spPr>
              <a:xfrm>
                <a:off x="0" y="93631"/>
                <a:ext cx="541338" cy="1458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64" name="Text"/>
              <p:cNvSpPr txBox="1"/>
              <p:nvPr/>
            </p:nvSpPr>
            <p:spPr>
              <a:xfrm>
                <a:off x="48894" y="0"/>
                <a:ext cx="44354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768" name="Oval 933"/>
            <p:cNvGrpSpPr/>
            <p:nvPr/>
          </p:nvGrpSpPr>
          <p:grpSpPr>
            <a:xfrm>
              <a:off x="311" y="-1"/>
              <a:ext cx="540683" cy="333089"/>
              <a:chOff x="0" y="0"/>
              <a:chExt cx="540682" cy="333087"/>
            </a:xfrm>
          </p:grpSpPr>
          <p:sp>
            <p:nvSpPr>
              <p:cNvPr id="8766" name="Oval"/>
              <p:cNvSpPr/>
              <p:nvPr/>
            </p:nvSpPr>
            <p:spPr>
              <a:xfrm>
                <a:off x="0" y="94356"/>
                <a:ext cx="540683" cy="144377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67" name="Text"/>
              <p:cNvSpPr txBox="1"/>
              <p:nvPr/>
            </p:nvSpPr>
            <p:spPr>
              <a:xfrm>
                <a:off x="128076" y="0"/>
                <a:ext cx="28453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773" name="Group 934"/>
            <p:cNvGrpSpPr/>
            <p:nvPr/>
          </p:nvGrpSpPr>
          <p:grpSpPr>
            <a:xfrm>
              <a:off x="80285" y="112706"/>
              <a:ext cx="380667" cy="106085"/>
              <a:chOff x="0" y="0"/>
              <a:chExt cx="380666" cy="106084"/>
            </a:xfrm>
          </p:grpSpPr>
          <p:sp>
            <p:nvSpPr>
              <p:cNvPr id="8769" name="Freeform 935"/>
              <p:cNvSpPr/>
              <p:nvPr/>
            </p:nvSpPr>
            <p:spPr>
              <a:xfrm>
                <a:off x="10529" y="-1"/>
                <a:ext cx="360104" cy="59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70" name="Freeform 936"/>
              <p:cNvSpPr/>
              <p:nvPr/>
            </p:nvSpPr>
            <p:spPr>
              <a:xfrm>
                <a:off x="246218" y="50796"/>
                <a:ext cx="134449" cy="51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71" name="Freeform 937"/>
              <p:cNvSpPr/>
              <p:nvPr/>
            </p:nvSpPr>
            <p:spPr>
              <a:xfrm>
                <a:off x="-1" y="50796"/>
                <a:ext cx="132020" cy="505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772" name="Freeform 938"/>
              <p:cNvSpPr/>
              <p:nvPr/>
            </p:nvSpPr>
            <p:spPr>
              <a:xfrm>
                <a:off x="45830" y="25827"/>
                <a:ext cx="287051" cy="80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77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7" name="Title 1"/>
          <p:cNvSpPr txBox="1"/>
          <p:nvPr>
            <p:ph type="title"/>
          </p:nvPr>
        </p:nvSpPr>
        <p:spPr>
          <a:xfrm>
            <a:off x="825266" y="336190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structure: a “network of networks”</a:t>
            </a:r>
          </a:p>
        </p:txBody>
      </p:sp>
      <p:grpSp>
        <p:nvGrpSpPr>
          <p:cNvPr id="8814" name="Group 19"/>
          <p:cNvGrpSpPr/>
          <p:nvPr/>
        </p:nvGrpSpPr>
        <p:grpSpPr>
          <a:xfrm>
            <a:off x="2266950" y="1992869"/>
            <a:ext cx="7658100" cy="2815074"/>
            <a:chOff x="0" y="0"/>
            <a:chExt cx="7658100" cy="2815072"/>
          </a:xfrm>
        </p:grpSpPr>
        <p:sp>
          <p:nvSpPr>
            <p:cNvPr id="8778" name="Straight Connector 426"/>
            <p:cNvSpPr/>
            <p:nvPr/>
          </p:nvSpPr>
          <p:spPr>
            <a:xfrm flipH="1">
              <a:off x="422275" y="0"/>
              <a:ext cx="307976" cy="222101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79" name="Straight Connector 427"/>
            <p:cNvSpPr/>
            <p:nvPr/>
          </p:nvSpPr>
          <p:spPr>
            <a:xfrm flipH="1">
              <a:off x="2352674" y="1915694"/>
              <a:ext cx="98426" cy="47465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0" name="Straight Connector 428"/>
            <p:cNvSpPr/>
            <p:nvPr/>
          </p:nvSpPr>
          <p:spPr>
            <a:xfrm flipH="1">
              <a:off x="1460500" y="1806733"/>
              <a:ext cx="290514" cy="5836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1" name="Straight Connector 429"/>
            <p:cNvSpPr/>
            <p:nvPr/>
          </p:nvSpPr>
          <p:spPr>
            <a:xfrm>
              <a:off x="892174" y="169335"/>
              <a:ext cx="260351" cy="229265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2" name="Straight Connector 430"/>
            <p:cNvSpPr/>
            <p:nvPr/>
          </p:nvSpPr>
          <p:spPr>
            <a:xfrm flipH="1">
              <a:off x="688976" y="1029081"/>
              <a:ext cx="771525" cy="14329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3" name="Straight Connector 432"/>
            <p:cNvSpPr/>
            <p:nvPr/>
          </p:nvSpPr>
          <p:spPr>
            <a:xfrm>
              <a:off x="2919412" y="1719492"/>
              <a:ext cx="422276" cy="50152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4" name="Straight Connector 434"/>
            <p:cNvSpPr/>
            <p:nvPr/>
          </p:nvSpPr>
          <p:spPr>
            <a:xfrm flipH="1">
              <a:off x="4298950" y="1817181"/>
              <a:ext cx="290514" cy="58361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5" name="Straight Connector 435"/>
            <p:cNvSpPr/>
            <p:nvPr/>
          </p:nvSpPr>
          <p:spPr>
            <a:xfrm>
              <a:off x="5110162" y="1888828"/>
              <a:ext cx="80963" cy="51196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6" name="Straight Connector 436"/>
            <p:cNvSpPr/>
            <p:nvPr/>
          </p:nvSpPr>
          <p:spPr>
            <a:xfrm>
              <a:off x="5667375" y="1806733"/>
              <a:ext cx="412751" cy="6716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7" name="Straight Connector 437"/>
            <p:cNvSpPr/>
            <p:nvPr/>
          </p:nvSpPr>
          <p:spPr>
            <a:xfrm>
              <a:off x="5864357" y="244531"/>
              <a:ext cx="398332" cy="197648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8" name="Straight Connector 450"/>
            <p:cNvSpPr/>
            <p:nvPr/>
          </p:nvSpPr>
          <p:spPr>
            <a:xfrm>
              <a:off x="6975474" y="1029082"/>
              <a:ext cx="242889" cy="137171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9" name="Straight Connector 451"/>
            <p:cNvSpPr/>
            <p:nvPr/>
          </p:nvSpPr>
          <p:spPr>
            <a:xfrm flipH="1">
              <a:off x="5514975" y="1029081"/>
              <a:ext cx="1217614" cy="14433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8792" name="Oval 76"/>
            <p:cNvGrpSpPr/>
            <p:nvPr/>
          </p:nvGrpSpPr>
          <p:grpSpPr>
            <a:xfrm>
              <a:off x="973137" y="2221010"/>
              <a:ext cx="844551" cy="594063"/>
              <a:chOff x="0" y="0"/>
              <a:chExt cx="844550" cy="594061"/>
            </a:xfrm>
          </p:grpSpPr>
          <p:sp>
            <p:nvSpPr>
              <p:cNvPr id="8790" name="Oval"/>
              <p:cNvSpPr/>
              <p:nvPr/>
            </p:nvSpPr>
            <p:spPr>
              <a:xfrm>
                <a:off x="0" y="0"/>
                <a:ext cx="844550" cy="594062"/>
              </a:xfrm>
              <a:prstGeom prst="ellips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791" name="access…"/>
              <p:cNvSpPr txBox="1"/>
              <p:nvPr/>
            </p:nvSpPr>
            <p:spPr>
              <a:xfrm>
                <a:off x="105588" y="30191"/>
                <a:ext cx="633374" cy="5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90000"/>
                  </a:lnSpc>
                  <a:defRPr sz="1600"/>
                </a:pPr>
                <a:r>
                  <a:t>access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lnSpc>
                    <a:spcPct val="90000"/>
                  </a:lnSpc>
                  <a:defRPr sz="1600"/>
                </a:pPr>
                <a:r>
                  <a:t>ISP</a:t>
                </a:r>
              </a:p>
            </p:txBody>
          </p:sp>
        </p:grpSp>
        <p:grpSp>
          <p:nvGrpSpPr>
            <p:cNvPr id="8795" name="Oval 76"/>
            <p:cNvGrpSpPr/>
            <p:nvPr/>
          </p:nvGrpSpPr>
          <p:grpSpPr>
            <a:xfrm>
              <a:off x="-1" y="2221010"/>
              <a:ext cx="844551" cy="594063"/>
              <a:chOff x="0" y="0"/>
              <a:chExt cx="844550" cy="594061"/>
            </a:xfrm>
          </p:grpSpPr>
          <p:sp>
            <p:nvSpPr>
              <p:cNvPr id="8793" name="Oval"/>
              <p:cNvSpPr/>
              <p:nvPr/>
            </p:nvSpPr>
            <p:spPr>
              <a:xfrm>
                <a:off x="0" y="0"/>
                <a:ext cx="844550" cy="594062"/>
              </a:xfrm>
              <a:prstGeom prst="ellips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794" name="access…"/>
              <p:cNvSpPr txBox="1"/>
              <p:nvPr/>
            </p:nvSpPr>
            <p:spPr>
              <a:xfrm>
                <a:off x="105588" y="30191"/>
                <a:ext cx="633374" cy="5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90000"/>
                  </a:lnSpc>
                  <a:defRPr sz="1600"/>
                </a:pPr>
                <a:r>
                  <a:t>access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lnSpc>
                    <a:spcPct val="90000"/>
                  </a:lnSpc>
                  <a:defRPr sz="1600"/>
                </a:pPr>
                <a:r>
                  <a:t>ISP</a:t>
                </a:r>
              </a:p>
            </p:txBody>
          </p:sp>
        </p:grpSp>
        <p:grpSp>
          <p:nvGrpSpPr>
            <p:cNvPr id="8798" name="Oval 76"/>
            <p:cNvGrpSpPr/>
            <p:nvPr/>
          </p:nvGrpSpPr>
          <p:grpSpPr>
            <a:xfrm>
              <a:off x="4867275" y="2221010"/>
              <a:ext cx="844551" cy="594063"/>
              <a:chOff x="0" y="0"/>
              <a:chExt cx="844550" cy="594061"/>
            </a:xfrm>
          </p:grpSpPr>
          <p:sp>
            <p:nvSpPr>
              <p:cNvPr id="8796" name="Oval"/>
              <p:cNvSpPr/>
              <p:nvPr/>
            </p:nvSpPr>
            <p:spPr>
              <a:xfrm>
                <a:off x="0" y="0"/>
                <a:ext cx="844550" cy="594062"/>
              </a:xfrm>
              <a:prstGeom prst="ellips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797" name="access…"/>
              <p:cNvSpPr txBox="1"/>
              <p:nvPr/>
            </p:nvSpPr>
            <p:spPr>
              <a:xfrm>
                <a:off x="105588" y="30191"/>
                <a:ext cx="633374" cy="5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90000"/>
                  </a:lnSpc>
                  <a:defRPr sz="1600"/>
                </a:pPr>
                <a:r>
                  <a:t>access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lnSpc>
                    <a:spcPct val="90000"/>
                  </a:lnSpc>
                  <a:defRPr sz="1600"/>
                </a:pPr>
                <a:r>
                  <a:t>ISP</a:t>
                </a:r>
              </a:p>
            </p:txBody>
          </p:sp>
        </p:grpSp>
        <p:grpSp>
          <p:nvGrpSpPr>
            <p:cNvPr id="8801" name="Oval 76"/>
            <p:cNvGrpSpPr/>
            <p:nvPr/>
          </p:nvGrpSpPr>
          <p:grpSpPr>
            <a:xfrm>
              <a:off x="3892550" y="2221010"/>
              <a:ext cx="846139" cy="594063"/>
              <a:chOff x="0" y="0"/>
              <a:chExt cx="846137" cy="594061"/>
            </a:xfrm>
          </p:grpSpPr>
          <p:sp>
            <p:nvSpPr>
              <p:cNvPr id="8799" name="Oval"/>
              <p:cNvSpPr/>
              <p:nvPr/>
            </p:nvSpPr>
            <p:spPr>
              <a:xfrm>
                <a:off x="0" y="0"/>
                <a:ext cx="846138" cy="594062"/>
              </a:xfrm>
              <a:prstGeom prst="ellips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800" name="access…"/>
              <p:cNvSpPr txBox="1"/>
              <p:nvPr/>
            </p:nvSpPr>
            <p:spPr>
              <a:xfrm>
                <a:off x="106382" y="30191"/>
                <a:ext cx="633374" cy="5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90000"/>
                  </a:lnSpc>
                  <a:defRPr sz="1600"/>
                </a:pPr>
                <a:r>
                  <a:t>access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lnSpc>
                    <a:spcPct val="90000"/>
                  </a:lnSpc>
                  <a:defRPr sz="1600"/>
                </a:pPr>
                <a:r>
                  <a:t>ISP</a:t>
                </a:r>
              </a:p>
            </p:txBody>
          </p:sp>
        </p:grpSp>
        <p:grpSp>
          <p:nvGrpSpPr>
            <p:cNvPr id="8804" name="Oval 76"/>
            <p:cNvGrpSpPr/>
            <p:nvPr/>
          </p:nvGrpSpPr>
          <p:grpSpPr>
            <a:xfrm>
              <a:off x="2919412" y="2221010"/>
              <a:ext cx="846139" cy="594063"/>
              <a:chOff x="0" y="0"/>
              <a:chExt cx="846137" cy="594061"/>
            </a:xfrm>
          </p:grpSpPr>
          <p:sp>
            <p:nvSpPr>
              <p:cNvPr id="8802" name="Oval"/>
              <p:cNvSpPr/>
              <p:nvPr/>
            </p:nvSpPr>
            <p:spPr>
              <a:xfrm>
                <a:off x="0" y="0"/>
                <a:ext cx="846138" cy="594062"/>
              </a:xfrm>
              <a:prstGeom prst="ellips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803" name="access…"/>
              <p:cNvSpPr txBox="1"/>
              <p:nvPr/>
            </p:nvSpPr>
            <p:spPr>
              <a:xfrm>
                <a:off x="106382" y="30191"/>
                <a:ext cx="633373" cy="5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90000"/>
                  </a:lnSpc>
                  <a:defRPr sz="1600"/>
                </a:pPr>
                <a:r>
                  <a:t>access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lnSpc>
                    <a:spcPct val="90000"/>
                  </a:lnSpc>
                  <a:defRPr sz="1600"/>
                </a:pPr>
                <a:r>
                  <a:t>ISP</a:t>
                </a:r>
              </a:p>
            </p:txBody>
          </p:sp>
        </p:grpSp>
        <p:grpSp>
          <p:nvGrpSpPr>
            <p:cNvPr id="8807" name="Oval 76"/>
            <p:cNvGrpSpPr/>
            <p:nvPr/>
          </p:nvGrpSpPr>
          <p:grpSpPr>
            <a:xfrm>
              <a:off x="1946274" y="2221010"/>
              <a:ext cx="844551" cy="594063"/>
              <a:chOff x="0" y="0"/>
              <a:chExt cx="844550" cy="594061"/>
            </a:xfrm>
          </p:grpSpPr>
          <p:sp>
            <p:nvSpPr>
              <p:cNvPr id="8805" name="Oval"/>
              <p:cNvSpPr/>
              <p:nvPr/>
            </p:nvSpPr>
            <p:spPr>
              <a:xfrm>
                <a:off x="0" y="0"/>
                <a:ext cx="844550" cy="594062"/>
              </a:xfrm>
              <a:prstGeom prst="ellips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806" name="access…"/>
              <p:cNvSpPr txBox="1"/>
              <p:nvPr/>
            </p:nvSpPr>
            <p:spPr>
              <a:xfrm>
                <a:off x="105588" y="30191"/>
                <a:ext cx="633374" cy="5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90000"/>
                  </a:lnSpc>
                  <a:defRPr sz="1600"/>
                </a:pPr>
                <a:r>
                  <a:t>access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lnSpc>
                    <a:spcPct val="90000"/>
                  </a:lnSpc>
                  <a:defRPr sz="1600"/>
                </a:pPr>
                <a:r>
                  <a:t>ISP</a:t>
                </a:r>
              </a:p>
            </p:txBody>
          </p:sp>
        </p:grpSp>
        <p:grpSp>
          <p:nvGrpSpPr>
            <p:cNvPr id="8810" name="Oval 76"/>
            <p:cNvGrpSpPr/>
            <p:nvPr/>
          </p:nvGrpSpPr>
          <p:grpSpPr>
            <a:xfrm>
              <a:off x="5840413" y="2221010"/>
              <a:ext cx="844551" cy="594063"/>
              <a:chOff x="0" y="0"/>
              <a:chExt cx="844550" cy="594061"/>
            </a:xfrm>
          </p:grpSpPr>
          <p:sp>
            <p:nvSpPr>
              <p:cNvPr id="8808" name="Oval"/>
              <p:cNvSpPr/>
              <p:nvPr/>
            </p:nvSpPr>
            <p:spPr>
              <a:xfrm>
                <a:off x="0" y="0"/>
                <a:ext cx="844550" cy="594062"/>
              </a:xfrm>
              <a:prstGeom prst="ellips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809" name="access…"/>
              <p:cNvSpPr txBox="1"/>
              <p:nvPr/>
            </p:nvSpPr>
            <p:spPr>
              <a:xfrm>
                <a:off x="105588" y="30191"/>
                <a:ext cx="633374" cy="5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90000"/>
                  </a:lnSpc>
                  <a:defRPr sz="1600"/>
                </a:pPr>
                <a:r>
                  <a:t>access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lnSpc>
                    <a:spcPct val="90000"/>
                  </a:lnSpc>
                  <a:defRPr sz="1600"/>
                </a:pPr>
                <a:r>
                  <a:t>ISP</a:t>
                </a:r>
              </a:p>
            </p:txBody>
          </p:sp>
        </p:grpSp>
        <p:grpSp>
          <p:nvGrpSpPr>
            <p:cNvPr id="8813" name="Oval 76"/>
            <p:cNvGrpSpPr/>
            <p:nvPr/>
          </p:nvGrpSpPr>
          <p:grpSpPr>
            <a:xfrm>
              <a:off x="6813550" y="2221010"/>
              <a:ext cx="844551" cy="594063"/>
              <a:chOff x="0" y="0"/>
              <a:chExt cx="844550" cy="594061"/>
            </a:xfrm>
          </p:grpSpPr>
          <p:sp>
            <p:nvSpPr>
              <p:cNvPr id="8811" name="Oval"/>
              <p:cNvSpPr/>
              <p:nvPr/>
            </p:nvSpPr>
            <p:spPr>
              <a:xfrm>
                <a:off x="0" y="0"/>
                <a:ext cx="844550" cy="594062"/>
              </a:xfrm>
              <a:prstGeom prst="ellipse">
                <a:avLst/>
              </a:prstGeom>
              <a:solidFill>
                <a:srgbClr val="9CDF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812" name="access…"/>
              <p:cNvSpPr txBox="1"/>
              <p:nvPr/>
            </p:nvSpPr>
            <p:spPr>
              <a:xfrm>
                <a:off x="105588" y="30191"/>
                <a:ext cx="633374" cy="5336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lnSpc>
                    <a:spcPct val="90000"/>
                  </a:lnSpc>
                  <a:defRPr sz="1600"/>
                </a:pPr>
                <a:r>
                  <a:t>access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 algn="ctr">
                  <a:lnSpc>
                    <a:spcPct val="90000"/>
                  </a:lnSpc>
                  <a:defRPr sz="1600"/>
                </a:pPr>
                <a:r>
                  <a:t>ISP</a:t>
                </a:r>
              </a:p>
            </p:txBody>
          </p:sp>
        </p:grpSp>
      </p:grpSp>
      <p:sp>
        <p:nvSpPr>
          <p:cNvPr id="8815" name="Rectangle 3"/>
          <p:cNvSpPr txBox="1"/>
          <p:nvPr/>
        </p:nvSpPr>
        <p:spPr>
          <a:xfrm>
            <a:off x="577829" y="5020505"/>
            <a:ext cx="11191928" cy="1827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indent="57785" defTabSz="832104">
              <a:lnSpc>
                <a:spcPct val="90000"/>
              </a:lnSpc>
              <a:spcBef>
                <a:spcPts val="900"/>
              </a:spcBef>
              <a:defRPr sz="2184"/>
            </a:pPr>
            <a:r>
              <a:t>At “center”: small # of well-connected large networks</a:t>
            </a:r>
            <a:endParaRPr sz="2548"/>
          </a:p>
          <a:p>
            <a:pPr lvl="1" marL="418941" indent="-255699" defTabSz="832104">
              <a:lnSpc>
                <a:spcPct val="90000"/>
              </a:lnSpc>
              <a:spcBef>
                <a:spcPts val="400"/>
              </a:spcBef>
              <a:buClr>
                <a:srgbClr val="0000A8"/>
              </a:buClr>
              <a:buSzPct val="100000"/>
              <a:buChar char="▪"/>
              <a:tabLst>
                <a:tab pos="292100" algn="l"/>
              </a:tabLst>
              <a:defRPr sz="2184">
                <a:solidFill>
                  <a:srgbClr val="C00000"/>
                </a:solidFill>
              </a:defRPr>
            </a:pPr>
            <a:r>
              <a:t>“tier-1” commercial ISPs </a:t>
            </a:r>
            <a:r>
              <a:rPr sz="1820">
                <a:solidFill>
                  <a:srgbClr val="000000"/>
                </a:solidFill>
              </a:rPr>
              <a:t>(e.g., Level 3, Sprint, AT&amp;T, NTT), </a:t>
            </a:r>
            <a:r>
              <a:rPr>
                <a:solidFill>
                  <a:srgbClr val="000000"/>
                </a:solidFill>
              </a:rPr>
              <a:t>national &amp; international coverage</a:t>
            </a:r>
          </a:p>
          <a:p>
            <a:pPr lvl="1" marL="418941" indent="-255699" defTabSz="832104">
              <a:lnSpc>
                <a:spcPct val="90000"/>
              </a:lnSpc>
              <a:spcBef>
                <a:spcPts val="400"/>
              </a:spcBef>
              <a:buClr>
                <a:srgbClr val="0000A8"/>
              </a:buClr>
              <a:buSzPct val="100000"/>
              <a:buChar char="▪"/>
              <a:tabLst>
                <a:tab pos="292100" algn="l"/>
              </a:tabLst>
              <a:defRPr sz="2184">
                <a:solidFill>
                  <a:srgbClr val="C00000"/>
                </a:solidFill>
              </a:defRPr>
            </a:pPr>
            <a:r>
              <a:t>content provider networks </a:t>
            </a:r>
            <a:r>
              <a:rPr sz="1820">
                <a:solidFill>
                  <a:srgbClr val="000000"/>
                </a:solidFill>
              </a:rPr>
              <a:t>(e.g., Google, Facebook): </a:t>
            </a:r>
            <a:r>
              <a:rPr>
                <a:solidFill>
                  <a:srgbClr val="000000"/>
                </a:solidFill>
              </a:rPr>
              <a:t>private network that connects its data centers to Internet, often bypassing tier-1, regional ISPs</a:t>
            </a:r>
          </a:p>
        </p:txBody>
      </p:sp>
      <p:grpSp>
        <p:nvGrpSpPr>
          <p:cNvPr id="8828" name="Group 18"/>
          <p:cNvGrpSpPr/>
          <p:nvPr/>
        </p:nvGrpSpPr>
        <p:grpSpPr>
          <a:xfrm>
            <a:off x="3727449" y="2136556"/>
            <a:ext cx="5191126" cy="1772009"/>
            <a:chOff x="0" y="0"/>
            <a:chExt cx="5191125" cy="1772007"/>
          </a:xfrm>
        </p:grpSpPr>
        <p:sp>
          <p:nvSpPr>
            <p:cNvPr id="8816" name="Straight Connector 443"/>
            <p:cNvSpPr/>
            <p:nvPr/>
          </p:nvSpPr>
          <p:spPr>
            <a:xfrm>
              <a:off x="494616" y="815282"/>
              <a:ext cx="72122" cy="35669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17" name="Straight Connector 446"/>
            <p:cNvSpPr/>
            <p:nvPr/>
          </p:nvSpPr>
          <p:spPr>
            <a:xfrm flipH="1">
              <a:off x="1458913" y="25648"/>
              <a:ext cx="163513" cy="107468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18" name="Straight Connector 448"/>
            <p:cNvSpPr/>
            <p:nvPr/>
          </p:nvSpPr>
          <p:spPr>
            <a:xfrm flipH="1">
              <a:off x="1703387" y="742103"/>
              <a:ext cx="811214" cy="5119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19" name="Straight Connector 449"/>
            <p:cNvSpPr/>
            <p:nvPr/>
          </p:nvSpPr>
          <p:spPr>
            <a:xfrm>
              <a:off x="314324" y="0"/>
              <a:ext cx="2281239" cy="13821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20" name="Straight Connector 452"/>
            <p:cNvSpPr/>
            <p:nvPr/>
          </p:nvSpPr>
          <p:spPr>
            <a:xfrm flipH="1">
              <a:off x="3892550" y="670457"/>
              <a:ext cx="1298576" cy="44032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8823" name="Oval 33"/>
            <p:cNvGrpSpPr/>
            <p:nvPr/>
          </p:nvGrpSpPr>
          <p:grpSpPr>
            <a:xfrm>
              <a:off x="-1" y="1028685"/>
              <a:ext cx="1982789" cy="743323"/>
              <a:chOff x="0" y="0"/>
              <a:chExt cx="1982788" cy="743322"/>
            </a:xfrm>
          </p:grpSpPr>
          <p:sp>
            <p:nvSpPr>
              <p:cNvPr id="8821" name="Oval"/>
              <p:cNvSpPr/>
              <p:nvPr/>
            </p:nvSpPr>
            <p:spPr>
              <a:xfrm>
                <a:off x="-1" y="-1"/>
                <a:ext cx="1982790" cy="743324"/>
              </a:xfrm>
              <a:prstGeom prst="ellipse">
                <a:avLst/>
              </a:prstGeom>
              <a:solidFill>
                <a:srgbClr val="CC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822" name="Regional ISP"/>
              <p:cNvSpPr txBox="1"/>
              <p:nvPr/>
            </p:nvSpPr>
            <p:spPr>
              <a:xfrm>
                <a:off x="49778" y="153126"/>
                <a:ext cx="1883232" cy="4370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Regional ISP</a:t>
                </a:r>
              </a:p>
            </p:txBody>
          </p:sp>
        </p:grpSp>
        <p:grpSp>
          <p:nvGrpSpPr>
            <p:cNvPr id="8826" name="Oval 33"/>
            <p:cNvGrpSpPr/>
            <p:nvPr/>
          </p:nvGrpSpPr>
          <p:grpSpPr>
            <a:xfrm>
              <a:off x="2514599" y="1028685"/>
              <a:ext cx="1982790" cy="743323"/>
              <a:chOff x="0" y="0"/>
              <a:chExt cx="1982788" cy="743322"/>
            </a:xfrm>
          </p:grpSpPr>
          <p:sp>
            <p:nvSpPr>
              <p:cNvPr id="8824" name="Oval"/>
              <p:cNvSpPr/>
              <p:nvPr/>
            </p:nvSpPr>
            <p:spPr>
              <a:xfrm>
                <a:off x="-1" y="-1"/>
                <a:ext cx="1982790" cy="743324"/>
              </a:xfrm>
              <a:prstGeom prst="ellipse">
                <a:avLst/>
              </a:prstGeom>
              <a:solidFill>
                <a:srgbClr val="CC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825" name="Regional ISP"/>
              <p:cNvSpPr txBox="1"/>
              <p:nvPr/>
            </p:nvSpPr>
            <p:spPr>
              <a:xfrm>
                <a:off x="49778" y="153126"/>
                <a:ext cx="1883232" cy="4370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Regional ISP</a:t>
                </a:r>
              </a:p>
            </p:txBody>
          </p:sp>
        </p:grpSp>
        <p:sp>
          <p:nvSpPr>
            <p:cNvPr id="8827" name="Straight Connector 65"/>
            <p:cNvSpPr/>
            <p:nvPr/>
          </p:nvSpPr>
          <p:spPr>
            <a:xfrm>
              <a:off x="3214369" y="827623"/>
              <a:ext cx="291626" cy="20106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859" name="Group 21"/>
          <p:cNvGrpSpPr/>
          <p:nvPr/>
        </p:nvGrpSpPr>
        <p:grpSpPr>
          <a:xfrm>
            <a:off x="2347913" y="1287198"/>
            <a:ext cx="7329087" cy="1759073"/>
            <a:chOff x="0" y="0"/>
            <a:chExt cx="7329085" cy="1759072"/>
          </a:xfrm>
        </p:grpSpPr>
        <p:grpSp>
          <p:nvGrpSpPr>
            <p:cNvPr id="8855" name="Group 17"/>
            <p:cNvGrpSpPr/>
            <p:nvPr/>
          </p:nvGrpSpPr>
          <p:grpSpPr>
            <a:xfrm>
              <a:off x="0" y="0"/>
              <a:ext cx="7329087" cy="1759073"/>
              <a:chOff x="0" y="0"/>
              <a:chExt cx="7329086" cy="1759072"/>
            </a:xfrm>
          </p:grpSpPr>
          <p:sp>
            <p:nvSpPr>
              <p:cNvPr id="8829" name="Straight Connector 444"/>
              <p:cNvSpPr/>
              <p:nvPr/>
            </p:nvSpPr>
            <p:spPr>
              <a:xfrm flipH="1">
                <a:off x="1703387" y="731715"/>
                <a:ext cx="3163889" cy="72690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30" name="Straight Connector 441"/>
              <p:cNvSpPr/>
              <p:nvPr/>
            </p:nvSpPr>
            <p:spPr>
              <a:xfrm>
                <a:off x="6468430" y="838784"/>
                <a:ext cx="183197" cy="46609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31" name="Straight Connector 453"/>
              <p:cNvSpPr/>
              <p:nvPr/>
            </p:nvSpPr>
            <p:spPr>
              <a:xfrm flipH="1">
                <a:off x="4541839" y="831161"/>
                <a:ext cx="486409" cy="61701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32" name="Straight Connector 438"/>
              <p:cNvSpPr/>
              <p:nvPr/>
            </p:nvSpPr>
            <p:spPr>
              <a:xfrm flipH="1" flipV="1">
                <a:off x="1946275" y="574493"/>
                <a:ext cx="531813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33" name="Straight Connector 439"/>
              <p:cNvSpPr/>
              <p:nvPr/>
            </p:nvSpPr>
            <p:spPr>
              <a:xfrm flipH="1">
                <a:off x="4335462" y="585496"/>
                <a:ext cx="440554" cy="116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34" name="Arc 440"/>
              <p:cNvSpPr/>
              <p:nvPr/>
            </p:nvSpPr>
            <p:spPr>
              <a:xfrm>
                <a:off x="1053492" y="0"/>
                <a:ext cx="4461485" cy="2872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09" h="19723" fill="norm" stroke="1" extrusionOk="0">
                    <a:moveTo>
                      <a:pt x="593" y="19723"/>
                    </a:moveTo>
                    <a:lnTo>
                      <a:pt x="593" y="19723"/>
                    </a:lnTo>
                    <a:cubicBezTo>
                      <a:pt x="-1291" y="12045"/>
                      <a:pt x="1463" y="3601"/>
                      <a:pt x="6745" y="862"/>
                    </a:cubicBezTo>
                    <a:cubicBezTo>
                      <a:pt x="12026" y="-1877"/>
                      <a:pt x="17835" y="2127"/>
                      <a:pt x="19719" y="9805"/>
                    </a:cubicBezTo>
                    <a:cubicBezTo>
                      <a:pt x="20109" y="11397"/>
                      <a:pt x="20309" y="13074"/>
                      <a:pt x="20309" y="14764"/>
                    </a:cubicBez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>
                    <a:latin typeface="Gill Sans MT"/>
                    <a:ea typeface="Gill Sans MT"/>
                    <a:cs typeface="Gill Sans MT"/>
                    <a:sym typeface="Gill Sans MT"/>
                  </a:defRPr>
                </a:pPr>
              </a:p>
            </p:txBody>
          </p:sp>
          <p:sp>
            <p:nvSpPr>
              <p:cNvPr id="8835" name="Straight Connector 442"/>
              <p:cNvSpPr/>
              <p:nvPr/>
            </p:nvSpPr>
            <p:spPr>
              <a:xfrm>
                <a:off x="1135061" y="875005"/>
                <a:ext cx="244476" cy="42987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36" name="Straight Connector 445"/>
              <p:cNvSpPr/>
              <p:nvPr/>
            </p:nvSpPr>
            <p:spPr>
              <a:xfrm>
                <a:off x="3811586" y="875006"/>
                <a:ext cx="406401" cy="47465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837" name="Straight Connector 454"/>
              <p:cNvSpPr/>
              <p:nvPr/>
            </p:nvSpPr>
            <p:spPr>
              <a:xfrm>
                <a:off x="4162424" y="739178"/>
                <a:ext cx="2433638" cy="64481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8840" name="Oval 34"/>
              <p:cNvGrpSpPr/>
              <p:nvPr/>
            </p:nvGrpSpPr>
            <p:grpSpPr>
              <a:xfrm>
                <a:off x="0" y="214996"/>
                <a:ext cx="1984376" cy="743323"/>
                <a:chOff x="0" y="0"/>
                <a:chExt cx="1984375" cy="743322"/>
              </a:xfrm>
            </p:grpSpPr>
            <p:sp>
              <p:nvSpPr>
                <p:cNvPr id="8838" name="Oval"/>
                <p:cNvSpPr/>
                <p:nvPr/>
              </p:nvSpPr>
              <p:spPr>
                <a:xfrm>
                  <a:off x="0" y="-1"/>
                  <a:ext cx="1984376" cy="743324"/>
                </a:xfrm>
                <a:prstGeom prst="ellipse">
                  <a:avLst/>
                </a:pr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8839" name="Tier 1 ISP"/>
                <p:cNvSpPr txBox="1"/>
                <p:nvPr/>
              </p:nvSpPr>
              <p:spPr>
                <a:xfrm>
                  <a:off x="268232" y="153126"/>
                  <a:ext cx="1447911" cy="43707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240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Tier 1 ISP</a:t>
                  </a:r>
                </a:p>
              </p:txBody>
            </p:sp>
          </p:grpSp>
          <p:grpSp>
            <p:nvGrpSpPr>
              <p:cNvPr id="8843" name="Oval 34"/>
              <p:cNvGrpSpPr/>
              <p:nvPr/>
            </p:nvGrpSpPr>
            <p:grpSpPr>
              <a:xfrm>
                <a:off x="2352674" y="214996"/>
                <a:ext cx="1982790" cy="743323"/>
                <a:chOff x="0" y="0"/>
                <a:chExt cx="1982788" cy="743322"/>
              </a:xfrm>
            </p:grpSpPr>
            <p:sp>
              <p:nvSpPr>
                <p:cNvPr id="8841" name="Oval"/>
                <p:cNvSpPr/>
                <p:nvPr/>
              </p:nvSpPr>
              <p:spPr>
                <a:xfrm>
                  <a:off x="-1" y="-1"/>
                  <a:ext cx="1982790" cy="743324"/>
                </a:xfrm>
                <a:prstGeom prst="ellipse">
                  <a:avLst/>
                </a:prstGeom>
                <a:solidFill>
                  <a:srgbClr val="0000A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8842" name="Tier 1 ISP"/>
                <p:cNvSpPr txBox="1"/>
                <p:nvPr/>
              </p:nvSpPr>
              <p:spPr>
                <a:xfrm>
                  <a:off x="267438" y="153126"/>
                  <a:ext cx="1447911" cy="43707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240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Tier 1 ISP</a:t>
                  </a:r>
                </a:p>
              </p:txBody>
            </p:sp>
          </p:grpSp>
          <p:grpSp>
            <p:nvGrpSpPr>
              <p:cNvPr id="8846" name="Group 6"/>
              <p:cNvGrpSpPr/>
              <p:nvPr/>
            </p:nvGrpSpPr>
            <p:grpSpPr>
              <a:xfrm>
                <a:off x="1132287" y="1217077"/>
                <a:ext cx="869151" cy="519600"/>
                <a:chOff x="0" y="0"/>
                <a:chExt cx="869150" cy="519599"/>
              </a:xfrm>
            </p:grpSpPr>
            <p:sp>
              <p:nvSpPr>
                <p:cNvPr id="8844" name="Oval 14"/>
                <p:cNvSpPr/>
                <p:nvPr/>
              </p:nvSpPr>
              <p:spPr>
                <a:xfrm>
                  <a:off x="-1" y="27653"/>
                  <a:ext cx="869152" cy="491947"/>
                </a:xfrm>
                <a:prstGeom prst="ellipse">
                  <a:avLst/>
                </a:prstGeom>
                <a:solidFill>
                  <a:srgbClr val="0000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8845" name="TextBox 15"/>
                <p:cNvSpPr txBox="1"/>
                <p:nvPr/>
              </p:nvSpPr>
              <p:spPr>
                <a:xfrm>
                  <a:off x="199391" y="-1"/>
                  <a:ext cx="562010" cy="44475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t">
                  <a:spAutoFit/>
                </a:bodyPr>
                <a:lstStyle>
                  <a:lvl1pPr>
                    <a:defRPr sz="280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IXP</a:t>
                  </a:r>
                </a:p>
              </p:txBody>
            </p:sp>
          </p:grpSp>
          <p:grpSp>
            <p:nvGrpSpPr>
              <p:cNvPr id="8851" name="Group 13"/>
              <p:cNvGrpSpPr/>
              <p:nvPr/>
            </p:nvGrpSpPr>
            <p:grpSpPr>
              <a:xfrm>
                <a:off x="4776015" y="220791"/>
                <a:ext cx="2014759" cy="729411"/>
                <a:chOff x="0" y="0"/>
                <a:chExt cx="2014758" cy="729409"/>
              </a:xfrm>
            </p:grpSpPr>
            <p:grpSp>
              <p:nvGrpSpPr>
                <p:cNvPr id="8849" name="Oval 11"/>
                <p:cNvGrpSpPr/>
                <p:nvPr/>
              </p:nvGrpSpPr>
              <p:grpSpPr>
                <a:xfrm>
                  <a:off x="-1" y="0"/>
                  <a:ext cx="2014760" cy="729410"/>
                  <a:chOff x="0" y="0"/>
                  <a:chExt cx="2014758" cy="729409"/>
                </a:xfrm>
              </p:grpSpPr>
              <p:sp>
                <p:nvSpPr>
                  <p:cNvPr id="8847" name="Oval"/>
                  <p:cNvSpPr/>
                  <p:nvPr/>
                </p:nvSpPr>
                <p:spPr>
                  <a:xfrm>
                    <a:off x="-1" y="0"/>
                    <a:ext cx="2014760" cy="729410"/>
                  </a:xfrm>
                  <a:prstGeom prst="ellipse">
                    <a:avLst/>
                  </a:prstGeom>
                  <a:solidFill>
                    <a:srgbClr val="FF6600">
                      <a:alpha val="70195"/>
                    </a:srgb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8848" name="Text"/>
                  <p:cNvSpPr txBox="1"/>
                  <p:nvPr/>
                </p:nvSpPr>
                <p:spPr>
                  <a:xfrm>
                    <a:off x="340774" y="106820"/>
                    <a:ext cx="1333209" cy="43706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45719" tIns="45719" rIns="45719" bIns="45719" numCol="1" anchor="t">
                    <a:spAutoFit/>
                  </a:bodyPr>
                  <a:lstStyle>
                    <a:lvl1pPr>
                      <a:defRPr sz="2400"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</a:lstStyle>
                  <a:p>
                    <a:pPr/>
                    <a:r>
                      <a:t>     </a:t>
                    </a:r>
                  </a:p>
                </p:txBody>
              </p:sp>
            </p:grpSp>
            <p:sp>
              <p:nvSpPr>
                <p:cNvPr id="8850" name="TextBox 4"/>
                <p:cNvSpPr txBox="1"/>
                <p:nvPr/>
              </p:nvSpPr>
              <p:spPr>
                <a:xfrm>
                  <a:off x="309626" y="27795"/>
                  <a:ext cx="1422386" cy="5493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t">
                  <a:spAutoFit/>
                </a:bodyPr>
                <a:lstStyle>
                  <a:lvl1pPr>
                    <a:defRPr sz="360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Google</a:t>
                  </a:r>
                </a:p>
              </p:txBody>
            </p:sp>
          </p:grpSp>
          <p:grpSp>
            <p:nvGrpSpPr>
              <p:cNvPr id="8854" name="Group 479"/>
              <p:cNvGrpSpPr/>
              <p:nvPr/>
            </p:nvGrpSpPr>
            <p:grpSpPr>
              <a:xfrm>
                <a:off x="6459936" y="1267124"/>
                <a:ext cx="869151" cy="491949"/>
                <a:chOff x="0" y="0"/>
                <a:chExt cx="869150" cy="491948"/>
              </a:xfrm>
            </p:grpSpPr>
            <p:sp>
              <p:nvSpPr>
                <p:cNvPr id="8852" name="Oval 14"/>
                <p:cNvSpPr/>
                <p:nvPr/>
              </p:nvSpPr>
              <p:spPr>
                <a:xfrm>
                  <a:off x="0" y="0"/>
                  <a:ext cx="869151" cy="491949"/>
                </a:xfrm>
                <a:prstGeom prst="ellipse">
                  <a:avLst/>
                </a:prstGeom>
                <a:solidFill>
                  <a:srgbClr val="0000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8853" name="TextBox 15"/>
                <p:cNvSpPr txBox="1"/>
                <p:nvPr/>
              </p:nvSpPr>
              <p:spPr>
                <a:xfrm>
                  <a:off x="176531" y="10448"/>
                  <a:ext cx="562010" cy="44475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t">
                  <a:spAutoFit/>
                </a:bodyPr>
                <a:lstStyle>
                  <a:lvl1pPr>
                    <a:defRPr sz="280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IXP</a:t>
                  </a:r>
                </a:p>
              </p:txBody>
            </p:sp>
          </p:grpSp>
        </p:grpSp>
        <p:grpSp>
          <p:nvGrpSpPr>
            <p:cNvPr id="8858" name="Group 476"/>
            <p:cNvGrpSpPr/>
            <p:nvPr/>
          </p:nvGrpSpPr>
          <p:grpSpPr>
            <a:xfrm>
              <a:off x="3825879" y="1250428"/>
              <a:ext cx="869152" cy="491949"/>
              <a:chOff x="0" y="0"/>
              <a:chExt cx="869150" cy="491948"/>
            </a:xfrm>
          </p:grpSpPr>
          <p:sp>
            <p:nvSpPr>
              <p:cNvPr id="8856" name="Oval 14"/>
              <p:cNvSpPr/>
              <p:nvPr/>
            </p:nvSpPr>
            <p:spPr>
              <a:xfrm>
                <a:off x="0" y="0"/>
                <a:ext cx="869151" cy="491949"/>
              </a:xfrm>
              <a:prstGeom prst="ellipse">
                <a:avLst/>
              </a:prstGeom>
              <a:solidFill>
                <a:srgbClr val="0000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8857" name="TextBox 15"/>
              <p:cNvSpPr txBox="1"/>
              <p:nvPr/>
            </p:nvSpPr>
            <p:spPr>
              <a:xfrm>
                <a:off x="176531" y="10448"/>
                <a:ext cx="562010" cy="4447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28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IXP</a:t>
                </a:r>
              </a:p>
            </p:txBody>
          </p:sp>
        </p:grpSp>
      </p:grpSp>
      <p:sp>
        <p:nvSpPr>
          <p:cNvPr id="8860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828" grpId="1"/>
      <p:bldP build="whole" bldLvl="1" animBg="1" rev="0" advAuto="0" spid="8814" grpId="2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2" name="Title 1"/>
          <p:cNvSpPr txBox="1"/>
          <p:nvPr>
            <p:ph type="title"/>
          </p:nvPr>
        </p:nvSpPr>
        <p:spPr>
          <a:xfrm>
            <a:off x="798690" y="289324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Chapter 1: roadmap</a:t>
            </a:r>
          </a:p>
        </p:txBody>
      </p:sp>
      <p:sp>
        <p:nvSpPr>
          <p:cNvPr id="8863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864" name="Rectangle 4"/>
          <p:cNvSpPr txBox="1"/>
          <p:nvPr>
            <p:ph type="body" sz="half" idx="1"/>
          </p:nvPr>
        </p:nvSpPr>
        <p:spPr>
          <a:xfrm>
            <a:off x="798689" y="1414011"/>
            <a:ext cx="6618111" cy="5029078"/>
          </a:xfrm>
          <a:prstGeom prst="rect">
            <a:avLst/>
          </a:prstGeom>
        </p:spPr>
        <p:txBody>
          <a:bodyPr/>
          <a:lstStyle/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 </a:t>
            </a:r>
            <a:r>
              <a:rPr i="1"/>
              <a:t>is</a:t>
            </a:r>
            <a:r>
              <a:t> the Internet?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</a:t>
            </a:r>
            <a:r>
              <a:rPr i="1"/>
              <a:t> is </a:t>
            </a:r>
            <a:r>
              <a:t>a protocol?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BFBFBF"/>
                </a:solidFill>
              </a:defRPr>
            </a:pPr>
            <a:r>
              <a:t>Network edge: hosts, access network, physical media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D9D9D9"/>
              </a:buClr>
              <a:defRPr sz="2900">
                <a:solidFill>
                  <a:srgbClr val="BFBFBF"/>
                </a:solidFill>
              </a:defRPr>
            </a:pPr>
            <a:r>
              <a:t>Network core: packet/circuit switching, internet structure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0000A8"/>
              </a:buClr>
              <a:defRPr sz="2900"/>
            </a:pPr>
            <a:r>
              <a:t>Performance: loss, delay, throughput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Security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Protocol layers, service models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History</a:t>
            </a:r>
          </a:p>
        </p:txBody>
      </p:sp>
      <p:grpSp>
        <p:nvGrpSpPr>
          <p:cNvPr id="8867" name="Group 2"/>
          <p:cNvGrpSpPr/>
          <p:nvPr/>
        </p:nvGrpSpPr>
        <p:grpSpPr>
          <a:xfrm>
            <a:off x="8080171" y="1371942"/>
            <a:ext cx="3313139" cy="2488927"/>
            <a:chOff x="0" y="0"/>
            <a:chExt cx="3313138" cy="2488925"/>
          </a:xfrm>
        </p:grpSpPr>
        <p:pic>
          <p:nvPicPr>
            <p:cNvPr id="8865" name="Picture 3" descr="Picture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48603"/>
              <a:ext cx="3313139" cy="2440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866" name="Rectangle 4"/>
            <p:cNvSpPr/>
            <p:nvPr/>
          </p:nvSpPr>
          <p:spPr>
            <a:xfrm>
              <a:off x="-1" y="-1"/>
              <a:ext cx="3313140" cy="244550"/>
            </a:xfrm>
            <a:prstGeom prst="rect">
              <a:avLst/>
            </a:prstGeom>
            <a:solidFill>
              <a:srgbClr val="559BD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9" name="Line 26"/>
          <p:cNvSpPr/>
          <p:nvPr/>
        </p:nvSpPr>
        <p:spPr>
          <a:xfrm>
            <a:off x="5779370" y="4596717"/>
            <a:ext cx="1933576" cy="9526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881" name="Group 66"/>
          <p:cNvGrpSpPr/>
          <p:nvPr/>
        </p:nvGrpSpPr>
        <p:grpSpPr>
          <a:xfrm>
            <a:off x="4584882" y="4186185"/>
            <a:ext cx="1511353" cy="863671"/>
            <a:chOff x="0" y="0"/>
            <a:chExt cx="1511351" cy="863670"/>
          </a:xfrm>
        </p:grpSpPr>
        <p:grpSp>
          <p:nvGrpSpPr>
            <p:cNvPr id="8872" name="Freeform 67"/>
            <p:cNvGrpSpPr/>
            <p:nvPr/>
          </p:nvGrpSpPr>
          <p:grpSpPr>
            <a:xfrm>
              <a:off x="0" y="298954"/>
              <a:ext cx="1511352" cy="564717"/>
              <a:chOff x="0" y="0"/>
              <a:chExt cx="1511351" cy="564715"/>
            </a:xfrm>
          </p:grpSpPr>
          <p:sp>
            <p:nvSpPr>
              <p:cNvPr id="8870" name="Shape"/>
              <p:cNvSpPr/>
              <p:nvPr/>
            </p:nvSpPr>
            <p:spPr>
              <a:xfrm>
                <a:off x="0" y="-1"/>
                <a:ext cx="1511352" cy="5647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871" name="Text"/>
              <p:cNvSpPr txBox="1"/>
              <p:nvPr/>
            </p:nvSpPr>
            <p:spPr>
              <a:xfrm>
                <a:off x="48894" y="115813"/>
                <a:ext cx="1413564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875" name="Oval 68"/>
            <p:cNvGrpSpPr/>
            <p:nvPr/>
          </p:nvGrpSpPr>
          <p:grpSpPr>
            <a:xfrm>
              <a:off x="869" y="-1"/>
              <a:ext cx="1509523" cy="559105"/>
              <a:chOff x="0" y="0"/>
              <a:chExt cx="1509522" cy="559104"/>
            </a:xfrm>
          </p:grpSpPr>
          <p:sp>
            <p:nvSpPr>
              <p:cNvPr id="8873" name="Oval"/>
              <p:cNvSpPr/>
              <p:nvPr/>
            </p:nvSpPr>
            <p:spPr>
              <a:xfrm>
                <a:off x="-1" y="-1"/>
                <a:ext cx="1509524" cy="559106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874" name="Text"/>
              <p:cNvSpPr txBox="1"/>
              <p:nvPr/>
            </p:nvSpPr>
            <p:spPr>
              <a:xfrm>
                <a:off x="269959" y="113007"/>
                <a:ext cx="96960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880" name="Group 69"/>
            <p:cNvGrpSpPr/>
            <p:nvPr/>
          </p:nvGrpSpPr>
          <p:grpSpPr>
            <a:xfrm>
              <a:off x="224146" y="71061"/>
              <a:ext cx="1062778" cy="410821"/>
              <a:chOff x="0" y="0"/>
              <a:chExt cx="1062776" cy="410820"/>
            </a:xfrm>
          </p:grpSpPr>
          <p:sp>
            <p:nvSpPr>
              <p:cNvPr id="8876" name="Freeform 70"/>
              <p:cNvSpPr/>
              <p:nvPr/>
            </p:nvSpPr>
            <p:spPr>
              <a:xfrm>
                <a:off x="29396" y="0"/>
                <a:ext cx="1005366" cy="2299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877" name="Freeform 71"/>
              <p:cNvSpPr/>
              <p:nvPr/>
            </p:nvSpPr>
            <p:spPr>
              <a:xfrm>
                <a:off x="687413" y="196711"/>
                <a:ext cx="375364" cy="197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878" name="Freeform 72"/>
              <p:cNvSpPr/>
              <p:nvPr/>
            </p:nvSpPr>
            <p:spPr>
              <a:xfrm>
                <a:off x="-1" y="196711"/>
                <a:ext cx="368581" cy="195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879" name="Freeform 73"/>
              <p:cNvSpPr/>
              <p:nvPr/>
            </p:nvSpPr>
            <p:spPr>
              <a:xfrm>
                <a:off x="127952" y="100019"/>
                <a:ext cx="801411" cy="310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882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How do packet delay and loss occur?</a:t>
            </a:r>
          </a:p>
        </p:txBody>
      </p:sp>
      <p:sp>
        <p:nvSpPr>
          <p:cNvPr id="8883" name="Rectangle 3"/>
          <p:cNvSpPr txBox="1"/>
          <p:nvPr>
            <p:ph type="body" idx="1"/>
          </p:nvPr>
        </p:nvSpPr>
        <p:spPr>
          <a:xfrm>
            <a:off x="825266" y="1253331"/>
            <a:ext cx="11137549" cy="4351338"/>
          </a:xfrm>
          <a:prstGeom prst="rect">
            <a:avLst/>
          </a:prstGeom>
        </p:spPr>
        <p:txBody>
          <a:bodyPr/>
          <a:lstStyle/>
          <a:p>
            <a:pPr marL="514350" indent="-457200"/>
            <a:r>
              <a:t>packets </a:t>
            </a:r>
            <a:r>
              <a:rPr i="1">
                <a:solidFill>
                  <a:srgbClr val="C00000"/>
                </a:solidFill>
              </a:rPr>
              <a:t>queue</a:t>
            </a:r>
            <a:r>
              <a:t> in router buffers, waiting for turn for transmission</a:t>
            </a:r>
          </a:p>
          <a:p>
            <a:pPr lvl="1" marL="750887" indent="-277812">
              <a:spcBef>
                <a:spcPts val="500"/>
              </a:spcBef>
              <a:buClr>
                <a:srgbClr val="0000A8"/>
              </a:buClr>
              <a:buChar char="▪"/>
              <a:defRPr sz="2400"/>
            </a:pPr>
            <a:r>
              <a:t>queue length grows when arrival rate to link (temporarily) exceeds output link capacity </a:t>
            </a:r>
          </a:p>
          <a:p>
            <a:pPr marL="407987" indent="-277813"/>
            <a:r>
              <a:t>packet </a:t>
            </a:r>
            <a:r>
              <a:rPr i="1">
                <a:solidFill>
                  <a:srgbClr val="CC0000"/>
                </a:solidFill>
              </a:rPr>
              <a:t>loss</a:t>
            </a:r>
            <a:r>
              <a:rPr>
                <a:solidFill>
                  <a:srgbClr val="CC0000"/>
                </a:solidFill>
              </a:rPr>
              <a:t> </a:t>
            </a:r>
            <a:r>
              <a:t>occurs when memory to hold queued packets fills up</a:t>
            </a:r>
          </a:p>
        </p:txBody>
      </p:sp>
      <p:sp>
        <p:nvSpPr>
          <p:cNvPr id="8884" name="Line 24"/>
          <p:cNvSpPr/>
          <p:nvPr/>
        </p:nvSpPr>
        <p:spPr>
          <a:xfrm>
            <a:off x="3855320" y="4177617"/>
            <a:ext cx="741363" cy="35560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85" name="Rectangle 30"/>
          <p:cNvSpPr/>
          <p:nvPr/>
        </p:nvSpPr>
        <p:spPr>
          <a:xfrm>
            <a:off x="5445995" y="4468128"/>
            <a:ext cx="147638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886" name="Rectangle 31"/>
          <p:cNvSpPr/>
          <p:nvPr/>
        </p:nvSpPr>
        <p:spPr>
          <a:xfrm>
            <a:off x="5601570" y="4468128"/>
            <a:ext cx="147638" cy="200026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887" name="Rectangle 38"/>
          <p:cNvSpPr/>
          <p:nvPr/>
        </p:nvSpPr>
        <p:spPr>
          <a:xfrm>
            <a:off x="5736507" y="4406217"/>
            <a:ext cx="147639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888" name="Line 25"/>
          <p:cNvSpPr/>
          <p:nvPr/>
        </p:nvSpPr>
        <p:spPr>
          <a:xfrm flipV="1">
            <a:off x="3853732" y="4717367"/>
            <a:ext cx="735014" cy="550863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89" name="Rectangle 32"/>
          <p:cNvSpPr/>
          <p:nvPr/>
        </p:nvSpPr>
        <p:spPr>
          <a:xfrm>
            <a:off x="4393482" y="4368117"/>
            <a:ext cx="147639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890" name="Line 33"/>
          <p:cNvSpPr/>
          <p:nvPr/>
        </p:nvSpPr>
        <p:spPr>
          <a:xfrm>
            <a:off x="4344270" y="4304617"/>
            <a:ext cx="211137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891" name="Text Box 36"/>
          <p:cNvSpPr txBox="1"/>
          <p:nvPr/>
        </p:nvSpPr>
        <p:spPr>
          <a:xfrm>
            <a:off x="3067396" y="3861703"/>
            <a:ext cx="309896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A</a:t>
            </a:r>
          </a:p>
        </p:txBody>
      </p:sp>
      <p:sp>
        <p:nvSpPr>
          <p:cNvPr id="8892" name="Text Box 37"/>
          <p:cNvSpPr txBox="1"/>
          <p:nvPr/>
        </p:nvSpPr>
        <p:spPr>
          <a:xfrm>
            <a:off x="3140373" y="4814203"/>
            <a:ext cx="297568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B</a:t>
            </a:r>
          </a:p>
        </p:txBody>
      </p:sp>
      <p:grpSp>
        <p:nvGrpSpPr>
          <p:cNvPr id="8895" name="Group 66"/>
          <p:cNvGrpSpPr/>
          <p:nvPr/>
        </p:nvGrpSpPr>
        <p:grpSpPr>
          <a:xfrm>
            <a:off x="3128246" y="3861703"/>
            <a:ext cx="779463" cy="679451"/>
            <a:chOff x="0" y="0"/>
            <a:chExt cx="779462" cy="679450"/>
          </a:xfrm>
        </p:grpSpPr>
        <p:pic>
          <p:nvPicPr>
            <p:cNvPr id="8893" name="Picture 67" descr="Picture 6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463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894" name="Freeform 68"/>
            <p:cNvSpPr/>
            <p:nvPr/>
          </p:nvSpPr>
          <p:spPr>
            <a:xfrm flipH="1">
              <a:off x="332125" y="65177"/>
              <a:ext cx="379005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</p:grpSp>
      <p:pic>
        <p:nvPicPr>
          <p:cNvPr id="8896" name="Picture 70" descr="Picture 7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3223290" y="4868178"/>
            <a:ext cx="779463" cy="679451"/>
          </a:xfrm>
          <a:prstGeom prst="rect">
            <a:avLst/>
          </a:prstGeom>
          <a:ln w="12700">
            <a:miter lim="400000"/>
          </a:ln>
        </p:spPr>
      </p:pic>
      <p:sp>
        <p:nvSpPr>
          <p:cNvPr id="8897" name="Freeform 71"/>
          <p:cNvSpPr/>
          <p:nvPr/>
        </p:nvSpPr>
        <p:spPr>
          <a:xfrm flipH="1">
            <a:off x="3555415" y="4933357"/>
            <a:ext cx="379005" cy="311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8202" y="822"/>
                </a:lnTo>
                <a:lnTo>
                  <a:pt x="21600" y="17257"/>
                </a:lnTo>
                <a:lnTo>
                  <a:pt x="4733" y="21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8898" name="Rectangle 31"/>
          <p:cNvSpPr/>
          <p:nvPr/>
        </p:nvSpPr>
        <p:spPr>
          <a:xfrm>
            <a:off x="3956920" y="5023753"/>
            <a:ext cx="139701" cy="185739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899" name="Line 33"/>
          <p:cNvSpPr/>
          <p:nvPr/>
        </p:nvSpPr>
        <p:spPr>
          <a:xfrm flipV="1">
            <a:off x="4131545" y="4993592"/>
            <a:ext cx="220662" cy="161926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00" name="Rectangle 89"/>
          <p:cNvSpPr/>
          <p:nvPr/>
        </p:nvSpPr>
        <p:spPr>
          <a:xfrm>
            <a:off x="5293595" y="4469717"/>
            <a:ext cx="147638" cy="20002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 sz="2800"/>
            </a:pPr>
          </a:p>
        </p:txBody>
      </p:sp>
      <p:sp>
        <p:nvSpPr>
          <p:cNvPr id="8901" name="Rectangle 89"/>
          <p:cNvSpPr/>
          <p:nvPr/>
        </p:nvSpPr>
        <p:spPr>
          <a:xfrm>
            <a:off x="5144370" y="4468128"/>
            <a:ext cx="147638" cy="20002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 sz="2800"/>
            </a:pPr>
          </a:p>
        </p:txBody>
      </p:sp>
      <p:sp>
        <p:nvSpPr>
          <p:cNvPr id="8902" name="Rectangle 89"/>
          <p:cNvSpPr/>
          <p:nvPr/>
        </p:nvSpPr>
        <p:spPr>
          <a:xfrm>
            <a:off x="4991970" y="4471303"/>
            <a:ext cx="147638" cy="20002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 sz="2800"/>
            </a:pPr>
          </a:p>
        </p:txBody>
      </p:sp>
      <p:grpSp>
        <p:nvGrpSpPr>
          <p:cNvPr id="8905" name="Group 93"/>
          <p:cNvGrpSpPr/>
          <p:nvPr/>
        </p:nvGrpSpPr>
        <p:grpSpPr>
          <a:xfrm>
            <a:off x="4323315" y="3137805"/>
            <a:ext cx="5745323" cy="1239839"/>
            <a:chOff x="0" y="0"/>
            <a:chExt cx="5745321" cy="1239837"/>
          </a:xfrm>
        </p:grpSpPr>
        <p:sp>
          <p:nvSpPr>
            <p:cNvPr id="8903" name="Text Box 66"/>
            <p:cNvSpPr txBox="1"/>
            <p:nvPr/>
          </p:nvSpPr>
          <p:spPr>
            <a:xfrm>
              <a:off x="0" y="0"/>
              <a:ext cx="5745322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2400"/>
              </a:pPr>
              <a:r>
                <a:t>packet being transmitted </a:t>
              </a:r>
              <a:r>
                <a:rPr>
                  <a:solidFill>
                    <a:srgbClr val="CC0000"/>
                  </a:solidFill>
                </a:rPr>
                <a:t>(transmission delay)</a:t>
              </a:r>
            </a:p>
          </p:txBody>
        </p:sp>
        <p:sp>
          <p:nvSpPr>
            <p:cNvPr id="8904" name="Line 67"/>
            <p:cNvSpPr/>
            <p:nvPr/>
          </p:nvSpPr>
          <p:spPr>
            <a:xfrm flipH="1">
              <a:off x="1510030" y="376237"/>
              <a:ext cx="1327151" cy="8636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908" name="Group 94"/>
          <p:cNvGrpSpPr/>
          <p:nvPr/>
        </p:nvGrpSpPr>
        <p:grpSpPr>
          <a:xfrm>
            <a:off x="5550773" y="4742762"/>
            <a:ext cx="5138381" cy="830620"/>
            <a:chOff x="0" y="0"/>
            <a:chExt cx="5138380" cy="830619"/>
          </a:xfrm>
        </p:grpSpPr>
        <p:sp>
          <p:nvSpPr>
            <p:cNvPr id="8906" name="Text Box 72"/>
            <p:cNvSpPr txBox="1"/>
            <p:nvPr/>
          </p:nvSpPr>
          <p:spPr>
            <a:xfrm>
              <a:off x="723582" y="438149"/>
              <a:ext cx="4414799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2400"/>
              </a:pPr>
              <a:r>
                <a:t>packets in buffers</a:t>
              </a:r>
              <a:r>
                <a:rPr>
                  <a:solidFill>
                    <a:srgbClr val="FF0000"/>
                  </a:solidFill>
                </a:rPr>
                <a:t> </a:t>
              </a:r>
              <a:r>
                <a:rPr>
                  <a:solidFill>
                    <a:srgbClr val="CC0000"/>
                  </a:solidFill>
                </a:rPr>
                <a:t>(queueing delay)</a:t>
              </a:r>
            </a:p>
          </p:txBody>
        </p:sp>
        <p:sp>
          <p:nvSpPr>
            <p:cNvPr id="8907" name="Line 73"/>
            <p:cNvSpPr/>
            <p:nvPr/>
          </p:nvSpPr>
          <p:spPr>
            <a:xfrm flipH="1" flipV="1">
              <a:off x="-1" y="0"/>
              <a:ext cx="747715" cy="6413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911" name="Group 95"/>
          <p:cNvGrpSpPr/>
          <p:nvPr/>
        </p:nvGrpSpPr>
        <p:grpSpPr>
          <a:xfrm>
            <a:off x="4513815" y="4704673"/>
            <a:ext cx="5043895" cy="1687870"/>
            <a:chOff x="0" y="0"/>
            <a:chExt cx="5043894" cy="1687869"/>
          </a:xfrm>
        </p:grpSpPr>
        <p:sp>
          <p:nvSpPr>
            <p:cNvPr id="8909" name="Line 91"/>
            <p:cNvSpPr/>
            <p:nvPr/>
          </p:nvSpPr>
          <p:spPr>
            <a:xfrm flipV="1">
              <a:off x="544829" y="0"/>
              <a:ext cx="174626" cy="10001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910" name="Text Box 92"/>
            <p:cNvSpPr txBox="1"/>
            <p:nvPr/>
          </p:nvSpPr>
          <p:spPr>
            <a:xfrm>
              <a:off x="0" y="927099"/>
              <a:ext cx="5043895" cy="7607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2400"/>
              </a:pPr>
              <a:r>
                <a:t>free (available) buffers: arriving packets 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>
                <a:defRPr sz="2400"/>
              </a:pPr>
              <a:r>
                <a:t>dropped (</a:t>
              </a:r>
              <a:r>
                <a:rPr>
                  <a:solidFill>
                    <a:srgbClr val="CC0000"/>
                  </a:solidFill>
                </a:rPr>
                <a:t>loss</a:t>
              </a:r>
              <a:r>
                <a:t>) if no free buffers</a:t>
              </a:r>
            </a:p>
          </p:txBody>
        </p:sp>
      </p:grpSp>
      <p:grpSp>
        <p:nvGrpSpPr>
          <p:cNvPr id="8923" name="Group 58"/>
          <p:cNvGrpSpPr/>
          <p:nvPr/>
        </p:nvGrpSpPr>
        <p:grpSpPr>
          <a:xfrm>
            <a:off x="7723012" y="4224626"/>
            <a:ext cx="1511353" cy="863672"/>
            <a:chOff x="0" y="0"/>
            <a:chExt cx="1511351" cy="863670"/>
          </a:xfrm>
        </p:grpSpPr>
        <p:grpSp>
          <p:nvGrpSpPr>
            <p:cNvPr id="8914" name="Freeform 59"/>
            <p:cNvGrpSpPr/>
            <p:nvPr/>
          </p:nvGrpSpPr>
          <p:grpSpPr>
            <a:xfrm>
              <a:off x="0" y="298954"/>
              <a:ext cx="1511352" cy="564717"/>
              <a:chOff x="0" y="0"/>
              <a:chExt cx="1511351" cy="564715"/>
            </a:xfrm>
          </p:grpSpPr>
          <p:sp>
            <p:nvSpPr>
              <p:cNvPr id="8912" name="Shape"/>
              <p:cNvSpPr/>
              <p:nvPr/>
            </p:nvSpPr>
            <p:spPr>
              <a:xfrm>
                <a:off x="0" y="-1"/>
                <a:ext cx="1511352" cy="5647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13" name="Text"/>
              <p:cNvSpPr txBox="1"/>
              <p:nvPr/>
            </p:nvSpPr>
            <p:spPr>
              <a:xfrm>
                <a:off x="48894" y="115813"/>
                <a:ext cx="1413564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917" name="Oval 60"/>
            <p:cNvGrpSpPr/>
            <p:nvPr/>
          </p:nvGrpSpPr>
          <p:grpSpPr>
            <a:xfrm>
              <a:off x="869" y="-1"/>
              <a:ext cx="1509523" cy="559105"/>
              <a:chOff x="0" y="0"/>
              <a:chExt cx="1509522" cy="559104"/>
            </a:xfrm>
          </p:grpSpPr>
          <p:sp>
            <p:nvSpPr>
              <p:cNvPr id="8915" name="Oval"/>
              <p:cNvSpPr/>
              <p:nvPr/>
            </p:nvSpPr>
            <p:spPr>
              <a:xfrm>
                <a:off x="-1" y="-1"/>
                <a:ext cx="1509524" cy="559106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16" name="Text"/>
              <p:cNvSpPr txBox="1"/>
              <p:nvPr/>
            </p:nvSpPr>
            <p:spPr>
              <a:xfrm>
                <a:off x="269959" y="113007"/>
                <a:ext cx="96960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922" name="Group 61"/>
            <p:cNvGrpSpPr/>
            <p:nvPr/>
          </p:nvGrpSpPr>
          <p:grpSpPr>
            <a:xfrm>
              <a:off x="224146" y="71061"/>
              <a:ext cx="1062778" cy="410821"/>
              <a:chOff x="0" y="0"/>
              <a:chExt cx="1062776" cy="410820"/>
            </a:xfrm>
          </p:grpSpPr>
          <p:sp>
            <p:nvSpPr>
              <p:cNvPr id="8918" name="Freeform 62"/>
              <p:cNvSpPr/>
              <p:nvPr/>
            </p:nvSpPr>
            <p:spPr>
              <a:xfrm>
                <a:off x="29396" y="0"/>
                <a:ext cx="1005366" cy="2299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19" name="Freeform 63"/>
              <p:cNvSpPr/>
              <p:nvPr/>
            </p:nvSpPr>
            <p:spPr>
              <a:xfrm>
                <a:off x="687413" y="196711"/>
                <a:ext cx="375364" cy="197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20" name="Freeform 64"/>
              <p:cNvSpPr/>
              <p:nvPr/>
            </p:nvSpPr>
            <p:spPr>
              <a:xfrm>
                <a:off x="-1" y="196711"/>
                <a:ext cx="368581" cy="195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21" name="Freeform 65"/>
              <p:cNvSpPr/>
              <p:nvPr/>
            </p:nvSpPr>
            <p:spPr>
              <a:xfrm>
                <a:off x="127952" y="100019"/>
                <a:ext cx="801411" cy="310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92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911" grpId="3"/>
      <p:bldP build="whole" bldLvl="1" animBg="1" rev="0" advAuto="0" spid="8905" grpId="1"/>
      <p:bldP build="whole" bldLvl="1" animBg="1" rev="0" advAuto="0" spid="8908" grpId="2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7" name="Group 134"/>
          <p:cNvGrpSpPr/>
          <p:nvPr/>
        </p:nvGrpSpPr>
        <p:grpSpPr>
          <a:xfrm>
            <a:off x="3364429" y="1767622"/>
            <a:ext cx="1511353" cy="863671"/>
            <a:chOff x="0" y="0"/>
            <a:chExt cx="1511351" cy="863670"/>
          </a:xfrm>
        </p:grpSpPr>
        <p:grpSp>
          <p:nvGrpSpPr>
            <p:cNvPr id="8928" name="Freeform 135"/>
            <p:cNvGrpSpPr/>
            <p:nvPr/>
          </p:nvGrpSpPr>
          <p:grpSpPr>
            <a:xfrm>
              <a:off x="0" y="298954"/>
              <a:ext cx="1511352" cy="564717"/>
              <a:chOff x="0" y="0"/>
              <a:chExt cx="1511351" cy="564715"/>
            </a:xfrm>
          </p:grpSpPr>
          <p:sp>
            <p:nvSpPr>
              <p:cNvPr id="8926" name="Shape"/>
              <p:cNvSpPr/>
              <p:nvPr/>
            </p:nvSpPr>
            <p:spPr>
              <a:xfrm>
                <a:off x="0" y="-1"/>
                <a:ext cx="1511352" cy="5647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27" name="Text"/>
              <p:cNvSpPr txBox="1"/>
              <p:nvPr/>
            </p:nvSpPr>
            <p:spPr>
              <a:xfrm>
                <a:off x="48894" y="115813"/>
                <a:ext cx="1413564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931" name="Oval 136"/>
            <p:cNvGrpSpPr/>
            <p:nvPr/>
          </p:nvGrpSpPr>
          <p:grpSpPr>
            <a:xfrm>
              <a:off x="869" y="-1"/>
              <a:ext cx="1509523" cy="559105"/>
              <a:chOff x="0" y="0"/>
              <a:chExt cx="1509522" cy="559104"/>
            </a:xfrm>
          </p:grpSpPr>
          <p:sp>
            <p:nvSpPr>
              <p:cNvPr id="8929" name="Oval"/>
              <p:cNvSpPr/>
              <p:nvPr/>
            </p:nvSpPr>
            <p:spPr>
              <a:xfrm>
                <a:off x="-1" y="-1"/>
                <a:ext cx="1509524" cy="559106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30" name="Text"/>
              <p:cNvSpPr txBox="1"/>
              <p:nvPr/>
            </p:nvSpPr>
            <p:spPr>
              <a:xfrm>
                <a:off x="269959" y="113007"/>
                <a:ext cx="96960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936" name="Group 137"/>
            <p:cNvGrpSpPr/>
            <p:nvPr/>
          </p:nvGrpSpPr>
          <p:grpSpPr>
            <a:xfrm>
              <a:off x="224146" y="71061"/>
              <a:ext cx="1062778" cy="410821"/>
              <a:chOff x="0" y="0"/>
              <a:chExt cx="1062776" cy="410820"/>
            </a:xfrm>
          </p:grpSpPr>
          <p:sp>
            <p:nvSpPr>
              <p:cNvPr id="8932" name="Freeform 138"/>
              <p:cNvSpPr/>
              <p:nvPr/>
            </p:nvSpPr>
            <p:spPr>
              <a:xfrm>
                <a:off x="29396" y="0"/>
                <a:ext cx="1005366" cy="2299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33" name="Freeform 139"/>
              <p:cNvSpPr/>
              <p:nvPr/>
            </p:nvSpPr>
            <p:spPr>
              <a:xfrm>
                <a:off x="687413" y="196711"/>
                <a:ext cx="375364" cy="197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34" name="Freeform 140"/>
              <p:cNvSpPr/>
              <p:nvPr/>
            </p:nvSpPr>
            <p:spPr>
              <a:xfrm>
                <a:off x="-1" y="196711"/>
                <a:ext cx="368581" cy="195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35" name="Freeform 141"/>
              <p:cNvSpPr/>
              <p:nvPr/>
            </p:nvSpPr>
            <p:spPr>
              <a:xfrm>
                <a:off x="127952" y="100019"/>
                <a:ext cx="801411" cy="310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938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 delay: four sources</a:t>
            </a:r>
          </a:p>
        </p:txBody>
      </p:sp>
      <p:sp>
        <p:nvSpPr>
          <p:cNvPr id="8939" name="Rectangle 4"/>
          <p:cNvSpPr txBox="1"/>
          <p:nvPr/>
        </p:nvSpPr>
        <p:spPr>
          <a:xfrm>
            <a:off x="1667654" y="4604491"/>
            <a:ext cx="3718561" cy="175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5275" indent="-238125">
              <a:lnSpc>
                <a:spcPct val="90000"/>
              </a:lnSpc>
              <a:spcBef>
                <a:spcPts val="600"/>
              </a:spcBef>
              <a:defRPr i="1" sz="2800">
                <a:solidFill>
                  <a:srgbClr val="CC0000"/>
                </a:solidFill>
              </a:defRPr>
            </a:pPr>
            <a:r>
              <a:t>d</a:t>
            </a:r>
            <a:r>
              <a:rPr baseline="-25000" i="0"/>
              <a:t>proc</a:t>
            </a:r>
            <a:r>
              <a:rPr i="0"/>
              <a:t>: nodal processing</a:t>
            </a:r>
            <a:r>
              <a:rPr i="0">
                <a:solidFill>
                  <a:srgbClr val="000000"/>
                </a:solidFill>
              </a:rPr>
              <a:t> </a:t>
            </a:r>
          </a:p>
          <a:p>
            <a:pPr marL="349250" indent="-233363">
              <a:lnSpc>
                <a:spcPct val="90000"/>
              </a:lnSpc>
              <a:spcBef>
                <a:spcPts val="6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check bit errors</a:t>
            </a:r>
            <a:endParaRPr sz="2800"/>
          </a:p>
          <a:p>
            <a:pPr marL="349250" indent="-233363">
              <a:lnSpc>
                <a:spcPct val="90000"/>
              </a:lnSpc>
              <a:spcBef>
                <a:spcPts val="6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determine output link</a:t>
            </a:r>
            <a:endParaRPr sz="2800"/>
          </a:p>
          <a:p>
            <a:pPr marL="349250" indent="-233363">
              <a:lnSpc>
                <a:spcPct val="90000"/>
              </a:lnSpc>
              <a:spcBef>
                <a:spcPts val="600"/>
              </a:spcBef>
              <a:buClr>
                <a:srgbClr val="0000A3"/>
              </a:buClr>
              <a:buSzPct val="100000"/>
              <a:buChar char="▪"/>
              <a:defRPr sz="2400"/>
            </a:pPr>
            <a:r>
              <a:t>typically &lt; microsecs</a:t>
            </a:r>
          </a:p>
        </p:txBody>
      </p:sp>
      <p:sp>
        <p:nvSpPr>
          <p:cNvPr id="8940" name="Rectangle 58"/>
          <p:cNvSpPr txBox="1"/>
          <p:nvPr/>
        </p:nvSpPr>
        <p:spPr>
          <a:xfrm>
            <a:off x="6258260" y="4536106"/>
            <a:ext cx="4963285" cy="2016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4488" indent="-344488">
              <a:lnSpc>
                <a:spcPct val="90000"/>
              </a:lnSpc>
              <a:spcBef>
                <a:spcPts val="600"/>
              </a:spcBef>
              <a:defRPr sz="2000">
                <a:solidFill>
                  <a:srgbClr val="FF0000"/>
                </a:solidFill>
              </a:defRPr>
            </a:pPr>
            <a:r>
              <a:t> </a:t>
            </a:r>
            <a:r>
              <a:rPr i="1" sz="2800">
                <a:solidFill>
                  <a:srgbClr val="CC0000"/>
                </a:solidFill>
              </a:rPr>
              <a:t>d</a:t>
            </a:r>
            <a:r>
              <a:rPr baseline="-25000" sz="2800">
                <a:solidFill>
                  <a:srgbClr val="CC0000"/>
                </a:solidFill>
              </a:rPr>
              <a:t>queue</a:t>
            </a:r>
            <a:r>
              <a:rPr sz="2800">
                <a:solidFill>
                  <a:srgbClr val="CC0000"/>
                </a:solidFill>
              </a:rPr>
              <a:t>: queueing delay</a:t>
            </a:r>
            <a:endParaRPr sz="2800">
              <a:solidFill>
                <a:srgbClr val="CC0000"/>
              </a:solidFill>
            </a:endParaRPr>
          </a:p>
          <a:p>
            <a:pPr marL="231775" indent="-231775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sz="2400"/>
            </a:pPr>
            <a:r>
              <a:t>time waiting at output link for transmission </a:t>
            </a:r>
          </a:p>
          <a:p>
            <a:pPr marL="231775" indent="-231775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sz="2400"/>
            </a:pPr>
            <a:r>
              <a:t>depends on congestion level of router</a:t>
            </a:r>
          </a:p>
        </p:txBody>
      </p:sp>
      <p:sp>
        <p:nvSpPr>
          <p:cNvPr id="8941" name="Line 24"/>
          <p:cNvSpPr/>
          <p:nvPr/>
        </p:nvSpPr>
        <p:spPr>
          <a:xfrm>
            <a:off x="2621010" y="1783634"/>
            <a:ext cx="741404" cy="35560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42" name="Rectangle 29"/>
          <p:cNvSpPr/>
          <p:nvPr/>
        </p:nvSpPr>
        <p:spPr>
          <a:xfrm>
            <a:off x="5464378" y="2002709"/>
            <a:ext cx="147647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943" name="Rectangle 30"/>
          <p:cNvSpPr/>
          <p:nvPr/>
        </p:nvSpPr>
        <p:spPr>
          <a:xfrm>
            <a:off x="4211773" y="2074148"/>
            <a:ext cx="147646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944" name="Rectangle 31"/>
          <p:cNvSpPr/>
          <p:nvPr/>
        </p:nvSpPr>
        <p:spPr>
          <a:xfrm>
            <a:off x="4373707" y="2074148"/>
            <a:ext cx="147646" cy="200026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945" name="Line 35"/>
          <p:cNvSpPr/>
          <p:nvPr/>
        </p:nvSpPr>
        <p:spPr>
          <a:xfrm>
            <a:off x="7042060" y="1835021"/>
            <a:ext cx="366734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46" name="Rectangle 38"/>
          <p:cNvSpPr/>
          <p:nvPr/>
        </p:nvSpPr>
        <p:spPr>
          <a:xfrm>
            <a:off x="4502301" y="2012234"/>
            <a:ext cx="147647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947" name="Text Box 39"/>
          <p:cNvSpPr txBox="1"/>
          <p:nvPr/>
        </p:nvSpPr>
        <p:spPr>
          <a:xfrm>
            <a:off x="5416439" y="1587877"/>
            <a:ext cx="160641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CC0000"/>
                </a:solidFill>
              </a:defRPr>
            </a:lvl1pPr>
          </a:lstStyle>
          <a:p>
            <a:pPr/>
            <a:r>
              <a:t>propagation</a:t>
            </a:r>
          </a:p>
        </p:txBody>
      </p:sp>
      <p:sp>
        <p:nvSpPr>
          <p:cNvPr id="8948" name="Line 40"/>
          <p:cNvSpPr/>
          <p:nvPr/>
        </p:nvSpPr>
        <p:spPr>
          <a:xfrm flipH="1">
            <a:off x="5073803" y="1832378"/>
            <a:ext cx="319106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49" name="Text Box 43"/>
          <p:cNvSpPr txBox="1"/>
          <p:nvPr/>
        </p:nvSpPr>
        <p:spPr>
          <a:xfrm>
            <a:off x="3062566" y="2729784"/>
            <a:ext cx="1418888" cy="700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80000"/>
              </a:lnSpc>
              <a:defRPr sz="2400">
                <a:solidFill>
                  <a:srgbClr val="CC0000"/>
                </a:solidFill>
              </a:defRPr>
            </a:pPr>
            <a:r>
              <a:t>nodal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0000"/>
              </a:lnSpc>
              <a:defRPr sz="2400">
                <a:solidFill>
                  <a:srgbClr val="CC0000"/>
                </a:solidFill>
              </a:defRPr>
            </a:pPr>
            <a:r>
              <a:t>processing</a:t>
            </a:r>
          </a:p>
        </p:txBody>
      </p:sp>
      <p:sp>
        <p:nvSpPr>
          <p:cNvPr id="8950" name="Line 44"/>
          <p:cNvSpPr/>
          <p:nvPr/>
        </p:nvSpPr>
        <p:spPr>
          <a:xfrm flipH="1">
            <a:off x="3363540" y="2731260"/>
            <a:ext cx="833485" cy="1"/>
          </a:xfrm>
          <a:prstGeom prst="line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51" name="Line 45"/>
          <p:cNvSpPr/>
          <p:nvPr/>
        </p:nvSpPr>
        <p:spPr>
          <a:xfrm flipH="1">
            <a:off x="4187959" y="2536109"/>
            <a:ext cx="385785" cy="1"/>
          </a:xfrm>
          <a:prstGeom prst="line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52" name="Text Box 46"/>
          <p:cNvSpPr txBox="1"/>
          <p:nvPr/>
        </p:nvSpPr>
        <p:spPr>
          <a:xfrm>
            <a:off x="4641689" y="2957464"/>
            <a:ext cx="1261428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CC0000"/>
                </a:solidFill>
              </a:defRPr>
            </a:lvl1pPr>
          </a:lstStyle>
          <a:p>
            <a:pPr/>
            <a:r>
              <a:t>queueing</a:t>
            </a:r>
          </a:p>
        </p:txBody>
      </p:sp>
      <p:sp>
        <p:nvSpPr>
          <p:cNvPr id="8953" name="Line 47"/>
          <p:cNvSpPr/>
          <p:nvPr/>
        </p:nvSpPr>
        <p:spPr>
          <a:xfrm flipH="1" flipV="1">
            <a:off x="4349891" y="2536109"/>
            <a:ext cx="595347" cy="5524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54" name="Rectangle 3"/>
          <p:cNvSpPr txBox="1"/>
          <p:nvPr/>
        </p:nvSpPr>
        <p:spPr>
          <a:xfrm>
            <a:off x="1788794" y="3585728"/>
            <a:ext cx="6083890" cy="574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85000"/>
              </a:lnSpc>
              <a:spcBef>
                <a:spcPts val="700"/>
              </a:spcBef>
              <a:defRPr i="1" sz="3200"/>
            </a:pPr>
            <a:r>
              <a:t>d</a:t>
            </a:r>
            <a:r>
              <a:rPr baseline="-25000" i="0"/>
              <a:t>nodal</a:t>
            </a:r>
            <a:r>
              <a:rPr i="0"/>
              <a:t> = </a:t>
            </a:r>
            <a:r>
              <a:t>d</a:t>
            </a:r>
            <a:r>
              <a:rPr baseline="-25000" i="0"/>
              <a:t>proc</a:t>
            </a:r>
            <a:r>
              <a:rPr i="0"/>
              <a:t> + </a:t>
            </a:r>
            <a:r>
              <a:t>d</a:t>
            </a:r>
            <a:r>
              <a:rPr baseline="-25000" i="0"/>
              <a:t>queue</a:t>
            </a:r>
            <a:r>
              <a:rPr i="0"/>
              <a:t> + </a:t>
            </a:r>
            <a:r>
              <a:t>d</a:t>
            </a:r>
            <a:r>
              <a:rPr baseline="-25000" i="0"/>
              <a:t>trans</a:t>
            </a:r>
            <a:r>
              <a:rPr i="0"/>
              <a:t> +  </a:t>
            </a:r>
            <a:r>
              <a:t>d</a:t>
            </a:r>
            <a:r>
              <a:rPr baseline="-25000" i="0"/>
              <a:t>prop</a:t>
            </a:r>
          </a:p>
        </p:txBody>
      </p:sp>
      <p:sp>
        <p:nvSpPr>
          <p:cNvPr id="8955" name="Line 25"/>
          <p:cNvSpPr/>
          <p:nvPr/>
        </p:nvSpPr>
        <p:spPr>
          <a:xfrm flipV="1">
            <a:off x="2619131" y="2323383"/>
            <a:ext cx="735347" cy="549940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56" name="Rectangle 32"/>
          <p:cNvSpPr/>
          <p:nvPr/>
        </p:nvSpPr>
        <p:spPr>
          <a:xfrm>
            <a:off x="3159201" y="1974134"/>
            <a:ext cx="147647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957" name="Line 33"/>
          <p:cNvSpPr/>
          <p:nvPr/>
        </p:nvSpPr>
        <p:spPr>
          <a:xfrm>
            <a:off x="3109988" y="1910634"/>
            <a:ext cx="211150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58" name="Text Box 36"/>
          <p:cNvSpPr txBox="1"/>
          <p:nvPr/>
        </p:nvSpPr>
        <p:spPr>
          <a:xfrm>
            <a:off x="1862535" y="1467723"/>
            <a:ext cx="309895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A</a:t>
            </a:r>
          </a:p>
        </p:txBody>
      </p:sp>
      <p:sp>
        <p:nvSpPr>
          <p:cNvPr id="8959" name="Text Box 37"/>
          <p:cNvSpPr txBox="1"/>
          <p:nvPr/>
        </p:nvSpPr>
        <p:spPr>
          <a:xfrm>
            <a:off x="1891278" y="2420223"/>
            <a:ext cx="297568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B</a:t>
            </a:r>
          </a:p>
        </p:txBody>
      </p:sp>
      <p:grpSp>
        <p:nvGrpSpPr>
          <p:cNvPr id="8962" name="Group 66"/>
          <p:cNvGrpSpPr/>
          <p:nvPr/>
        </p:nvGrpSpPr>
        <p:grpSpPr>
          <a:xfrm>
            <a:off x="1923392" y="1467723"/>
            <a:ext cx="779506" cy="679451"/>
            <a:chOff x="0" y="0"/>
            <a:chExt cx="779504" cy="679450"/>
          </a:xfrm>
        </p:grpSpPr>
        <p:pic>
          <p:nvPicPr>
            <p:cNvPr id="8960" name="Picture 67" descr="Picture 6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505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961" name="Freeform 68"/>
            <p:cNvSpPr/>
            <p:nvPr/>
          </p:nvSpPr>
          <p:spPr>
            <a:xfrm flipH="1">
              <a:off x="332143" y="65177"/>
              <a:ext cx="379027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</p:grpSp>
      <p:grpSp>
        <p:nvGrpSpPr>
          <p:cNvPr id="8965" name="Group 69"/>
          <p:cNvGrpSpPr/>
          <p:nvPr/>
        </p:nvGrpSpPr>
        <p:grpSpPr>
          <a:xfrm>
            <a:off x="1914200" y="2474691"/>
            <a:ext cx="779507" cy="679451"/>
            <a:chOff x="0" y="0"/>
            <a:chExt cx="779506" cy="679450"/>
          </a:xfrm>
        </p:grpSpPr>
        <p:pic>
          <p:nvPicPr>
            <p:cNvPr id="8963" name="Picture 70" descr="Picture 70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507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964" name="Freeform 71"/>
            <p:cNvSpPr/>
            <p:nvPr/>
          </p:nvSpPr>
          <p:spPr>
            <a:xfrm flipH="1">
              <a:off x="332144" y="65177"/>
              <a:ext cx="379027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</p:grpSp>
      <p:sp>
        <p:nvSpPr>
          <p:cNvPr id="8966" name="Text Box 41"/>
          <p:cNvSpPr txBox="1"/>
          <p:nvPr/>
        </p:nvSpPr>
        <p:spPr>
          <a:xfrm>
            <a:off x="2879005" y="1145960"/>
            <a:ext cx="1674278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CC0000"/>
                </a:solidFill>
              </a:defRPr>
            </a:lvl1pPr>
          </a:lstStyle>
          <a:p>
            <a:pPr/>
            <a:r>
              <a:t>transmission</a:t>
            </a:r>
          </a:p>
        </p:txBody>
      </p:sp>
      <p:sp>
        <p:nvSpPr>
          <p:cNvPr id="8967" name="Line 42"/>
          <p:cNvSpPr/>
          <p:nvPr/>
        </p:nvSpPr>
        <p:spPr>
          <a:xfrm>
            <a:off x="4038725" y="1443910"/>
            <a:ext cx="528668" cy="5334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68" name="Rectangle 31"/>
          <p:cNvSpPr/>
          <p:nvPr/>
        </p:nvSpPr>
        <p:spPr>
          <a:xfrm>
            <a:off x="2722440" y="2630266"/>
            <a:ext cx="139774" cy="185198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8969" name="Line 33"/>
          <p:cNvSpPr/>
          <p:nvPr/>
        </p:nvSpPr>
        <p:spPr>
          <a:xfrm flipV="1">
            <a:off x="2897770" y="2599884"/>
            <a:ext cx="219681" cy="161940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970" name="Straight Connector 4"/>
          <p:cNvSpPr/>
          <p:nvPr/>
        </p:nvSpPr>
        <p:spPr>
          <a:xfrm>
            <a:off x="4880581" y="2238558"/>
            <a:ext cx="3388994" cy="1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8982" name="Group 126"/>
          <p:cNvGrpSpPr/>
          <p:nvPr/>
        </p:nvGrpSpPr>
        <p:grpSpPr>
          <a:xfrm>
            <a:off x="7991016" y="1778257"/>
            <a:ext cx="1511353" cy="863671"/>
            <a:chOff x="0" y="0"/>
            <a:chExt cx="1511351" cy="863670"/>
          </a:xfrm>
        </p:grpSpPr>
        <p:grpSp>
          <p:nvGrpSpPr>
            <p:cNvPr id="8973" name="Freeform 127"/>
            <p:cNvGrpSpPr/>
            <p:nvPr/>
          </p:nvGrpSpPr>
          <p:grpSpPr>
            <a:xfrm>
              <a:off x="0" y="298954"/>
              <a:ext cx="1511352" cy="564717"/>
              <a:chOff x="0" y="0"/>
              <a:chExt cx="1511351" cy="564715"/>
            </a:xfrm>
          </p:grpSpPr>
          <p:sp>
            <p:nvSpPr>
              <p:cNvPr id="8971" name="Shape"/>
              <p:cNvSpPr/>
              <p:nvPr/>
            </p:nvSpPr>
            <p:spPr>
              <a:xfrm>
                <a:off x="0" y="-1"/>
                <a:ext cx="1511352" cy="5647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72" name="Text"/>
              <p:cNvSpPr txBox="1"/>
              <p:nvPr/>
            </p:nvSpPr>
            <p:spPr>
              <a:xfrm>
                <a:off x="48894" y="115813"/>
                <a:ext cx="1413564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976" name="Oval 128"/>
            <p:cNvGrpSpPr/>
            <p:nvPr/>
          </p:nvGrpSpPr>
          <p:grpSpPr>
            <a:xfrm>
              <a:off x="869" y="-1"/>
              <a:ext cx="1509523" cy="559105"/>
              <a:chOff x="0" y="0"/>
              <a:chExt cx="1509522" cy="559104"/>
            </a:xfrm>
          </p:grpSpPr>
          <p:sp>
            <p:nvSpPr>
              <p:cNvPr id="8974" name="Oval"/>
              <p:cNvSpPr/>
              <p:nvPr/>
            </p:nvSpPr>
            <p:spPr>
              <a:xfrm>
                <a:off x="-1" y="-1"/>
                <a:ext cx="1509524" cy="559106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75" name="Text"/>
              <p:cNvSpPr txBox="1"/>
              <p:nvPr/>
            </p:nvSpPr>
            <p:spPr>
              <a:xfrm>
                <a:off x="269959" y="113007"/>
                <a:ext cx="96960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981" name="Group 129"/>
            <p:cNvGrpSpPr/>
            <p:nvPr/>
          </p:nvGrpSpPr>
          <p:grpSpPr>
            <a:xfrm>
              <a:off x="224146" y="71061"/>
              <a:ext cx="1062778" cy="410821"/>
              <a:chOff x="0" y="0"/>
              <a:chExt cx="1062776" cy="410820"/>
            </a:xfrm>
          </p:grpSpPr>
          <p:sp>
            <p:nvSpPr>
              <p:cNvPr id="8977" name="Freeform 130"/>
              <p:cNvSpPr/>
              <p:nvPr/>
            </p:nvSpPr>
            <p:spPr>
              <a:xfrm>
                <a:off x="29396" y="0"/>
                <a:ext cx="1005366" cy="2299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78" name="Freeform 131"/>
              <p:cNvSpPr/>
              <p:nvPr/>
            </p:nvSpPr>
            <p:spPr>
              <a:xfrm>
                <a:off x="687413" y="196711"/>
                <a:ext cx="375364" cy="197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79" name="Freeform 132"/>
              <p:cNvSpPr/>
              <p:nvPr/>
            </p:nvSpPr>
            <p:spPr>
              <a:xfrm>
                <a:off x="-1" y="196711"/>
                <a:ext cx="368581" cy="195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80" name="Freeform 133"/>
              <p:cNvSpPr/>
              <p:nvPr/>
            </p:nvSpPr>
            <p:spPr>
              <a:xfrm>
                <a:off x="127952" y="100019"/>
                <a:ext cx="801411" cy="310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983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939" grpId="1"/>
      <p:bldP build="whole" bldLvl="1" animBg="1" rev="0" advAuto="0" spid="8940" grpId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96" name="Group 134"/>
          <p:cNvGrpSpPr/>
          <p:nvPr/>
        </p:nvGrpSpPr>
        <p:grpSpPr>
          <a:xfrm>
            <a:off x="3364429" y="1767622"/>
            <a:ext cx="1511353" cy="863671"/>
            <a:chOff x="0" y="0"/>
            <a:chExt cx="1511351" cy="863670"/>
          </a:xfrm>
        </p:grpSpPr>
        <p:grpSp>
          <p:nvGrpSpPr>
            <p:cNvPr id="8987" name="Freeform 135"/>
            <p:cNvGrpSpPr/>
            <p:nvPr/>
          </p:nvGrpSpPr>
          <p:grpSpPr>
            <a:xfrm>
              <a:off x="0" y="298954"/>
              <a:ext cx="1511352" cy="564717"/>
              <a:chOff x="0" y="0"/>
              <a:chExt cx="1511351" cy="564715"/>
            </a:xfrm>
          </p:grpSpPr>
          <p:sp>
            <p:nvSpPr>
              <p:cNvPr id="8985" name="Shape"/>
              <p:cNvSpPr/>
              <p:nvPr/>
            </p:nvSpPr>
            <p:spPr>
              <a:xfrm>
                <a:off x="0" y="-1"/>
                <a:ext cx="1511352" cy="5647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86" name="Text"/>
              <p:cNvSpPr txBox="1"/>
              <p:nvPr/>
            </p:nvSpPr>
            <p:spPr>
              <a:xfrm>
                <a:off x="48894" y="115813"/>
                <a:ext cx="1413564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8990" name="Oval 136"/>
            <p:cNvGrpSpPr/>
            <p:nvPr/>
          </p:nvGrpSpPr>
          <p:grpSpPr>
            <a:xfrm>
              <a:off x="869" y="-1"/>
              <a:ext cx="1509523" cy="559105"/>
              <a:chOff x="0" y="0"/>
              <a:chExt cx="1509522" cy="559104"/>
            </a:xfrm>
          </p:grpSpPr>
          <p:sp>
            <p:nvSpPr>
              <p:cNvPr id="8988" name="Oval"/>
              <p:cNvSpPr/>
              <p:nvPr/>
            </p:nvSpPr>
            <p:spPr>
              <a:xfrm>
                <a:off x="-1" y="-1"/>
                <a:ext cx="1509524" cy="559106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89" name="Text"/>
              <p:cNvSpPr txBox="1"/>
              <p:nvPr/>
            </p:nvSpPr>
            <p:spPr>
              <a:xfrm>
                <a:off x="269959" y="113007"/>
                <a:ext cx="96960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8995" name="Group 137"/>
            <p:cNvGrpSpPr/>
            <p:nvPr/>
          </p:nvGrpSpPr>
          <p:grpSpPr>
            <a:xfrm>
              <a:off x="224146" y="71061"/>
              <a:ext cx="1062778" cy="410821"/>
              <a:chOff x="0" y="0"/>
              <a:chExt cx="1062776" cy="410820"/>
            </a:xfrm>
          </p:grpSpPr>
          <p:sp>
            <p:nvSpPr>
              <p:cNvPr id="8991" name="Freeform 138"/>
              <p:cNvSpPr/>
              <p:nvPr/>
            </p:nvSpPr>
            <p:spPr>
              <a:xfrm>
                <a:off x="29396" y="0"/>
                <a:ext cx="1005366" cy="2299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92" name="Freeform 139"/>
              <p:cNvSpPr/>
              <p:nvPr/>
            </p:nvSpPr>
            <p:spPr>
              <a:xfrm>
                <a:off x="687413" y="196711"/>
                <a:ext cx="375364" cy="197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93" name="Freeform 140"/>
              <p:cNvSpPr/>
              <p:nvPr/>
            </p:nvSpPr>
            <p:spPr>
              <a:xfrm>
                <a:off x="-1" y="196711"/>
                <a:ext cx="368581" cy="195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994" name="Freeform 141"/>
              <p:cNvSpPr/>
              <p:nvPr/>
            </p:nvSpPr>
            <p:spPr>
              <a:xfrm>
                <a:off x="127952" y="100019"/>
                <a:ext cx="801411" cy="310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8997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 delay: four sources</a:t>
            </a:r>
          </a:p>
        </p:txBody>
      </p:sp>
      <p:sp>
        <p:nvSpPr>
          <p:cNvPr id="8998" name="Line 24"/>
          <p:cNvSpPr/>
          <p:nvPr/>
        </p:nvSpPr>
        <p:spPr>
          <a:xfrm>
            <a:off x="2621010" y="1783634"/>
            <a:ext cx="741404" cy="35560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99" name="Rectangle 29"/>
          <p:cNvSpPr/>
          <p:nvPr/>
        </p:nvSpPr>
        <p:spPr>
          <a:xfrm>
            <a:off x="5464378" y="2002709"/>
            <a:ext cx="147647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9000" name="Rectangle 30"/>
          <p:cNvSpPr/>
          <p:nvPr/>
        </p:nvSpPr>
        <p:spPr>
          <a:xfrm>
            <a:off x="4211773" y="2074148"/>
            <a:ext cx="147646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9001" name="Rectangle 31"/>
          <p:cNvSpPr/>
          <p:nvPr/>
        </p:nvSpPr>
        <p:spPr>
          <a:xfrm>
            <a:off x="4373707" y="2074148"/>
            <a:ext cx="147646" cy="200026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9002" name="Line 35"/>
          <p:cNvSpPr/>
          <p:nvPr/>
        </p:nvSpPr>
        <p:spPr>
          <a:xfrm>
            <a:off x="7042060" y="1835021"/>
            <a:ext cx="366734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03" name="Rectangle 38"/>
          <p:cNvSpPr/>
          <p:nvPr/>
        </p:nvSpPr>
        <p:spPr>
          <a:xfrm>
            <a:off x="4502301" y="2012234"/>
            <a:ext cx="147647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9004" name="Text Box 39"/>
          <p:cNvSpPr txBox="1"/>
          <p:nvPr/>
        </p:nvSpPr>
        <p:spPr>
          <a:xfrm>
            <a:off x="5416439" y="1587877"/>
            <a:ext cx="160641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CC0000"/>
                </a:solidFill>
              </a:defRPr>
            </a:lvl1pPr>
          </a:lstStyle>
          <a:p>
            <a:pPr/>
            <a:r>
              <a:t>propagation</a:t>
            </a:r>
          </a:p>
        </p:txBody>
      </p:sp>
      <p:sp>
        <p:nvSpPr>
          <p:cNvPr id="9005" name="Line 40"/>
          <p:cNvSpPr/>
          <p:nvPr/>
        </p:nvSpPr>
        <p:spPr>
          <a:xfrm flipH="1">
            <a:off x="5073803" y="1832378"/>
            <a:ext cx="319106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06" name="Text Box 43"/>
          <p:cNvSpPr txBox="1"/>
          <p:nvPr/>
        </p:nvSpPr>
        <p:spPr>
          <a:xfrm>
            <a:off x="3062566" y="2729784"/>
            <a:ext cx="1418888" cy="700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80000"/>
              </a:lnSpc>
              <a:defRPr sz="2400">
                <a:solidFill>
                  <a:srgbClr val="CC0000"/>
                </a:solidFill>
              </a:defRPr>
            </a:pPr>
            <a:r>
              <a:t>nodal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0000"/>
              </a:lnSpc>
              <a:defRPr sz="2400">
                <a:solidFill>
                  <a:srgbClr val="CC0000"/>
                </a:solidFill>
              </a:defRPr>
            </a:pPr>
            <a:r>
              <a:t>processing</a:t>
            </a:r>
          </a:p>
        </p:txBody>
      </p:sp>
      <p:sp>
        <p:nvSpPr>
          <p:cNvPr id="9007" name="Line 44"/>
          <p:cNvSpPr/>
          <p:nvPr/>
        </p:nvSpPr>
        <p:spPr>
          <a:xfrm flipH="1">
            <a:off x="3363540" y="2731260"/>
            <a:ext cx="833485" cy="1"/>
          </a:xfrm>
          <a:prstGeom prst="line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08" name="Line 45"/>
          <p:cNvSpPr/>
          <p:nvPr/>
        </p:nvSpPr>
        <p:spPr>
          <a:xfrm flipH="1">
            <a:off x="4187959" y="2536109"/>
            <a:ext cx="385785" cy="1"/>
          </a:xfrm>
          <a:prstGeom prst="line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09" name="Text Box 46"/>
          <p:cNvSpPr txBox="1"/>
          <p:nvPr/>
        </p:nvSpPr>
        <p:spPr>
          <a:xfrm>
            <a:off x="4641689" y="2957464"/>
            <a:ext cx="1261428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CC0000"/>
                </a:solidFill>
              </a:defRPr>
            </a:lvl1pPr>
          </a:lstStyle>
          <a:p>
            <a:pPr/>
            <a:r>
              <a:t>queueing</a:t>
            </a:r>
          </a:p>
        </p:txBody>
      </p:sp>
      <p:sp>
        <p:nvSpPr>
          <p:cNvPr id="9010" name="Line 47"/>
          <p:cNvSpPr/>
          <p:nvPr/>
        </p:nvSpPr>
        <p:spPr>
          <a:xfrm flipH="1" flipV="1">
            <a:off x="4349891" y="2536109"/>
            <a:ext cx="595347" cy="5524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11" name="Rectangle 3"/>
          <p:cNvSpPr txBox="1"/>
          <p:nvPr/>
        </p:nvSpPr>
        <p:spPr>
          <a:xfrm>
            <a:off x="1788794" y="3585728"/>
            <a:ext cx="6083890" cy="574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85000"/>
              </a:lnSpc>
              <a:spcBef>
                <a:spcPts val="700"/>
              </a:spcBef>
              <a:defRPr i="1" sz="3200"/>
            </a:pPr>
            <a:r>
              <a:t>d</a:t>
            </a:r>
            <a:r>
              <a:rPr baseline="-25000" i="0"/>
              <a:t>nodal</a:t>
            </a:r>
            <a:r>
              <a:rPr i="0"/>
              <a:t> = </a:t>
            </a:r>
            <a:r>
              <a:t>d</a:t>
            </a:r>
            <a:r>
              <a:rPr baseline="-25000" i="0"/>
              <a:t>proc</a:t>
            </a:r>
            <a:r>
              <a:rPr i="0"/>
              <a:t> + </a:t>
            </a:r>
            <a:r>
              <a:t>d</a:t>
            </a:r>
            <a:r>
              <a:rPr baseline="-25000" i="0"/>
              <a:t>queue</a:t>
            </a:r>
            <a:r>
              <a:rPr i="0"/>
              <a:t> + </a:t>
            </a:r>
            <a:r>
              <a:t>d</a:t>
            </a:r>
            <a:r>
              <a:rPr baseline="-25000" i="0"/>
              <a:t>trans</a:t>
            </a:r>
            <a:r>
              <a:rPr i="0"/>
              <a:t> +  </a:t>
            </a:r>
            <a:r>
              <a:t>d</a:t>
            </a:r>
            <a:r>
              <a:rPr baseline="-25000" i="0"/>
              <a:t>prop</a:t>
            </a:r>
          </a:p>
        </p:txBody>
      </p:sp>
      <p:sp>
        <p:nvSpPr>
          <p:cNvPr id="9012" name="Line 25"/>
          <p:cNvSpPr/>
          <p:nvPr/>
        </p:nvSpPr>
        <p:spPr>
          <a:xfrm flipV="1">
            <a:off x="2619131" y="2323383"/>
            <a:ext cx="735347" cy="549940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13" name="Rectangle 32"/>
          <p:cNvSpPr/>
          <p:nvPr/>
        </p:nvSpPr>
        <p:spPr>
          <a:xfrm>
            <a:off x="3159201" y="1974134"/>
            <a:ext cx="147647" cy="200026"/>
          </a:xfrm>
          <a:prstGeom prst="rect">
            <a:avLst/>
          </a:prstGeom>
          <a:solidFill>
            <a:schemeClr val="accent1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9014" name="Line 33"/>
          <p:cNvSpPr/>
          <p:nvPr/>
        </p:nvSpPr>
        <p:spPr>
          <a:xfrm>
            <a:off x="3109988" y="1910634"/>
            <a:ext cx="211150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15" name="Text Box 36"/>
          <p:cNvSpPr txBox="1"/>
          <p:nvPr/>
        </p:nvSpPr>
        <p:spPr>
          <a:xfrm>
            <a:off x="1862535" y="1467723"/>
            <a:ext cx="309895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A</a:t>
            </a:r>
          </a:p>
        </p:txBody>
      </p:sp>
      <p:sp>
        <p:nvSpPr>
          <p:cNvPr id="9016" name="Text Box 37"/>
          <p:cNvSpPr txBox="1"/>
          <p:nvPr/>
        </p:nvSpPr>
        <p:spPr>
          <a:xfrm>
            <a:off x="1891278" y="2420223"/>
            <a:ext cx="297568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B</a:t>
            </a:r>
          </a:p>
        </p:txBody>
      </p:sp>
      <p:grpSp>
        <p:nvGrpSpPr>
          <p:cNvPr id="9019" name="Group 66"/>
          <p:cNvGrpSpPr/>
          <p:nvPr/>
        </p:nvGrpSpPr>
        <p:grpSpPr>
          <a:xfrm>
            <a:off x="1923392" y="1467723"/>
            <a:ext cx="779506" cy="679451"/>
            <a:chOff x="0" y="0"/>
            <a:chExt cx="779504" cy="679450"/>
          </a:xfrm>
        </p:grpSpPr>
        <p:pic>
          <p:nvPicPr>
            <p:cNvPr id="9017" name="Picture 67" descr="Picture 6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505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018" name="Freeform 68"/>
            <p:cNvSpPr/>
            <p:nvPr/>
          </p:nvSpPr>
          <p:spPr>
            <a:xfrm flipH="1">
              <a:off x="332143" y="65177"/>
              <a:ext cx="379027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</p:grpSp>
      <p:grpSp>
        <p:nvGrpSpPr>
          <p:cNvPr id="9022" name="Group 69"/>
          <p:cNvGrpSpPr/>
          <p:nvPr/>
        </p:nvGrpSpPr>
        <p:grpSpPr>
          <a:xfrm>
            <a:off x="1914200" y="2474691"/>
            <a:ext cx="779507" cy="679451"/>
            <a:chOff x="0" y="0"/>
            <a:chExt cx="779506" cy="679450"/>
          </a:xfrm>
        </p:grpSpPr>
        <p:pic>
          <p:nvPicPr>
            <p:cNvPr id="9020" name="Picture 70" descr="Picture 70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779507" cy="679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021" name="Freeform 71"/>
            <p:cNvSpPr/>
            <p:nvPr/>
          </p:nvSpPr>
          <p:spPr>
            <a:xfrm flipH="1">
              <a:off x="332144" y="65177"/>
              <a:ext cx="379027" cy="311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000"/>
              </a:pPr>
            </a:p>
          </p:txBody>
        </p:sp>
      </p:grpSp>
      <p:sp>
        <p:nvSpPr>
          <p:cNvPr id="9023" name="Text Box 41"/>
          <p:cNvSpPr txBox="1"/>
          <p:nvPr/>
        </p:nvSpPr>
        <p:spPr>
          <a:xfrm>
            <a:off x="2879005" y="1145960"/>
            <a:ext cx="1674278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CC0000"/>
                </a:solidFill>
              </a:defRPr>
            </a:lvl1pPr>
          </a:lstStyle>
          <a:p>
            <a:pPr/>
            <a:r>
              <a:t>transmission</a:t>
            </a:r>
          </a:p>
        </p:txBody>
      </p:sp>
      <p:sp>
        <p:nvSpPr>
          <p:cNvPr id="9024" name="Line 42"/>
          <p:cNvSpPr/>
          <p:nvPr/>
        </p:nvSpPr>
        <p:spPr>
          <a:xfrm>
            <a:off x="4038725" y="1443910"/>
            <a:ext cx="528668" cy="5334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25" name="Rectangle 31"/>
          <p:cNvSpPr/>
          <p:nvPr/>
        </p:nvSpPr>
        <p:spPr>
          <a:xfrm>
            <a:off x="2722440" y="2630266"/>
            <a:ext cx="139774" cy="185198"/>
          </a:xfrm>
          <a:prstGeom prst="rect">
            <a:avLst/>
          </a:prstGeom>
          <a:solidFill>
            <a:srgbClr val="00B050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800"/>
            </a:pPr>
          </a:p>
        </p:txBody>
      </p:sp>
      <p:sp>
        <p:nvSpPr>
          <p:cNvPr id="9026" name="Line 33"/>
          <p:cNvSpPr/>
          <p:nvPr/>
        </p:nvSpPr>
        <p:spPr>
          <a:xfrm flipV="1">
            <a:off x="2897770" y="2599884"/>
            <a:ext cx="219681" cy="161940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27" name="Straight Connector 4"/>
          <p:cNvSpPr/>
          <p:nvPr/>
        </p:nvSpPr>
        <p:spPr>
          <a:xfrm>
            <a:off x="4880581" y="2238558"/>
            <a:ext cx="3388994" cy="1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039" name="Group 126"/>
          <p:cNvGrpSpPr/>
          <p:nvPr/>
        </p:nvGrpSpPr>
        <p:grpSpPr>
          <a:xfrm>
            <a:off x="7991016" y="1778257"/>
            <a:ext cx="1511353" cy="863671"/>
            <a:chOff x="0" y="0"/>
            <a:chExt cx="1511351" cy="863670"/>
          </a:xfrm>
        </p:grpSpPr>
        <p:grpSp>
          <p:nvGrpSpPr>
            <p:cNvPr id="9030" name="Freeform 127"/>
            <p:cNvGrpSpPr/>
            <p:nvPr/>
          </p:nvGrpSpPr>
          <p:grpSpPr>
            <a:xfrm>
              <a:off x="0" y="298954"/>
              <a:ext cx="1511352" cy="564717"/>
              <a:chOff x="0" y="0"/>
              <a:chExt cx="1511351" cy="564715"/>
            </a:xfrm>
          </p:grpSpPr>
          <p:sp>
            <p:nvSpPr>
              <p:cNvPr id="9028" name="Shape"/>
              <p:cNvSpPr/>
              <p:nvPr/>
            </p:nvSpPr>
            <p:spPr>
              <a:xfrm>
                <a:off x="0" y="-1"/>
                <a:ext cx="1511352" cy="5647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029" name="Text"/>
              <p:cNvSpPr txBox="1"/>
              <p:nvPr/>
            </p:nvSpPr>
            <p:spPr>
              <a:xfrm>
                <a:off x="48894" y="115813"/>
                <a:ext cx="1413564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9033" name="Oval 128"/>
            <p:cNvGrpSpPr/>
            <p:nvPr/>
          </p:nvGrpSpPr>
          <p:grpSpPr>
            <a:xfrm>
              <a:off x="869" y="-1"/>
              <a:ext cx="1509523" cy="559105"/>
              <a:chOff x="0" y="0"/>
              <a:chExt cx="1509522" cy="559104"/>
            </a:xfrm>
          </p:grpSpPr>
          <p:sp>
            <p:nvSpPr>
              <p:cNvPr id="9031" name="Oval"/>
              <p:cNvSpPr/>
              <p:nvPr/>
            </p:nvSpPr>
            <p:spPr>
              <a:xfrm>
                <a:off x="-1" y="-1"/>
                <a:ext cx="1509524" cy="559106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032" name="Text"/>
              <p:cNvSpPr txBox="1"/>
              <p:nvPr/>
            </p:nvSpPr>
            <p:spPr>
              <a:xfrm>
                <a:off x="269959" y="113007"/>
                <a:ext cx="96960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9038" name="Group 129"/>
            <p:cNvGrpSpPr/>
            <p:nvPr/>
          </p:nvGrpSpPr>
          <p:grpSpPr>
            <a:xfrm>
              <a:off x="224146" y="71061"/>
              <a:ext cx="1062778" cy="410821"/>
              <a:chOff x="0" y="0"/>
              <a:chExt cx="1062776" cy="410820"/>
            </a:xfrm>
          </p:grpSpPr>
          <p:sp>
            <p:nvSpPr>
              <p:cNvPr id="9034" name="Freeform 130"/>
              <p:cNvSpPr/>
              <p:nvPr/>
            </p:nvSpPr>
            <p:spPr>
              <a:xfrm>
                <a:off x="29396" y="0"/>
                <a:ext cx="1005366" cy="2299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035" name="Freeform 131"/>
              <p:cNvSpPr/>
              <p:nvPr/>
            </p:nvSpPr>
            <p:spPr>
              <a:xfrm>
                <a:off x="687413" y="196711"/>
                <a:ext cx="375364" cy="197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036" name="Freeform 132"/>
              <p:cNvSpPr/>
              <p:nvPr/>
            </p:nvSpPr>
            <p:spPr>
              <a:xfrm>
                <a:off x="-1" y="196711"/>
                <a:ext cx="368581" cy="1956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037" name="Freeform 133"/>
              <p:cNvSpPr/>
              <p:nvPr/>
            </p:nvSpPr>
            <p:spPr>
              <a:xfrm>
                <a:off x="127952" y="100019"/>
                <a:ext cx="801411" cy="310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9040" name="Rectangle 3"/>
          <p:cNvSpPr txBox="1"/>
          <p:nvPr/>
        </p:nvSpPr>
        <p:spPr>
          <a:xfrm>
            <a:off x="1277466" y="4297060"/>
            <a:ext cx="4288837" cy="1812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defRPr i="1" sz="2800">
                <a:solidFill>
                  <a:srgbClr val="CC0000"/>
                </a:solidFill>
              </a:defRPr>
            </a:pPr>
            <a:r>
              <a:t>d</a:t>
            </a:r>
            <a:r>
              <a:rPr baseline="-25000" i="0"/>
              <a:t>trans</a:t>
            </a:r>
            <a:r>
              <a:rPr i="0"/>
              <a:t>: transmission delay:</a:t>
            </a:r>
            <a:endParaRPr i="0"/>
          </a:p>
          <a:p>
            <a:pPr marL="231775" indent="-231775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400"/>
            </a:pPr>
            <a:r>
              <a:t>L</a:t>
            </a:r>
            <a:r>
              <a:rPr i="0"/>
              <a:t>: packet length (bits) </a:t>
            </a:r>
            <a:endParaRPr i="0"/>
          </a:p>
          <a:p>
            <a:pPr marL="231775" indent="-231775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400"/>
            </a:pPr>
            <a:r>
              <a:t>R</a:t>
            </a:r>
            <a:r>
              <a:rPr i="0"/>
              <a:t>: link </a:t>
            </a:r>
            <a:r>
              <a:t>transmission rate (bps)</a:t>
            </a:r>
          </a:p>
          <a:p>
            <a:pPr marL="231775" indent="-231775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400">
                <a:solidFill>
                  <a:srgbClr val="CC0000"/>
                </a:solidFill>
              </a:defRPr>
            </a:pPr>
            <a:r>
              <a:t>d</a:t>
            </a:r>
            <a:r>
              <a:rPr baseline="-25000"/>
              <a:t>trans</a:t>
            </a:r>
            <a:r>
              <a:t> </a:t>
            </a:r>
            <a:r>
              <a:rPr>
                <a:solidFill>
                  <a:srgbClr val="000000"/>
                </a:solidFill>
              </a:rPr>
              <a:t>= L/R</a:t>
            </a:r>
          </a:p>
        </p:txBody>
      </p:sp>
      <p:sp>
        <p:nvSpPr>
          <p:cNvPr id="9041" name="Rectangle 4"/>
          <p:cNvSpPr txBox="1"/>
          <p:nvPr/>
        </p:nvSpPr>
        <p:spPr>
          <a:xfrm>
            <a:off x="6572727" y="4304007"/>
            <a:ext cx="5056304" cy="1791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85000"/>
              </a:lnSpc>
              <a:spcBef>
                <a:spcPts val="600"/>
              </a:spcBef>
              <a:defRPr i="1" sz="2800">
                <a:solidFill>
                  <a:srgbClr val="CC0000"/>
                </a:solidFill>
              </a:defRPr>
            </a:pPr>
            <a:r>
              <a:t>d</a:t>
            </a:r>
            <a:r>
              <a:rPr baseline="-25000" i="0"/>
              <a:t>prop</a:t>
            </a:r>
            <a:r>
              <a:rPr i="0"/>
              <a:t>: propagation delay:</a:t>
            </a:r>
          </a:p>
          <a:p>
            <a:pPr marL="231775" indent="-231775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400"/>
            </a:pPr>
            <a:r>
              <a:t>d</a:t>
            </a:r>
            <a:r>
              <a:rPr i="0"/>
              <a:t>: length of physical link</a:t>
            </a:r>
            <a:endParaRPr i="0"/>
          </a:p>
          <a:p>
            <a:pPr marL="231775" indent="-231775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400"/>
            </a:pPr>
            <a:r>
              <a:t>s</a:t>
            </a:r>
            <a:r>
              <a:rPr i="0"/>
              <a:t>: propagation speed (~2x10</a:t>
            </a:r>
            <a:r>
              <a:rPr baseline="30000" i="0"/>
              <a:t>8</a:t>
            </a:r>
            <a:r>
              <a:rPr i="0"/>
              <a:t> m/sec)</a:t>
            </a:r>
            <a:endParaRPr i="0"/>
          </a:p>
          <a:p>
            <a:pPr marL="231775" indent="-231775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400">
                <a:solidFill>
                  <a:srgbClr val="CC0000"/>
                </a:solidFill>
              </a:defRPr>
            </a:pPr>
            <a:r>
              <a:t>d</a:t>
            </a:r>
            <a:r>
              <a:rPr baseline="-25000" i="0"/>
              <a:t>prop</a:t>
            </a:r>
            <a:r>
              <a:rPr i="0"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00000"/>
                </a:solidFill>
              </a:rPr>
              <a:t>d</a:t>
            </a:r>
            <a:r>
              <a:rPr i="0">
                <a:solidFill>
                  <a:srgbClr val="000000"/>
                </a:solidFill>
              </a:rPr>
              <a:t>/</a:t>
            </a:r>
            <a:r>
              <a:rPr>
                <a:solidFill>
                  <a:srgbClr val="000000"/>
                </a:solidFill>
              </a:rPr>
              <a:t>s</a:t>
            </a:r>
          </a:p>
        </p:txBody>
      </p:sp>
      <p:grpSp>
        <p:nvGrpSpPr>
          <p:cNvPr id="9047" name="Group 8"/>
          <p:cNvGrpSpPr/>
          <p:nvPr/>
        </p:nvGrpSpPr>
        <p:grpSpPr>
          <a:xfrm>
            <a:off x="1211117" y="5494308"/>
            <a:ext cx="7076417" cy="1115012"/>
            <a:chOff x="0" y="0"/>
            <a:chExt cx="7076416" cy="1115011"/>
          </a:xfrm>
        </p:grpSpPr>
        <p:sp>
          <p:nvSpPr>
            <p:cNvPr id="9042" name="Text Box 62"/>
            <p:cNvSpPr txBox="1"/>
            <p:nvPr/>
          </p:nvSpPr>
          <p:spPr>
            <a:xfrm>
              <a:off x="2671264" y="296329"/>
              <a:ext cx="2013784" cy="8186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i="1" sz="2400">
                  <a:solidFill>
                    <a:srgbClr val="C00000"/>
                  </a:solidFill>
                </a:defRPr>
              </a:pPr>
              <a:r>
                <a:t>d</a:t>
              </a:r>
              <a:r>
                <a:rPr baseline="-25000" i="0"/>
                <a:t>trans</a:t>
              </a:r>
              <a:r>
                <a:rPr baseline="-25000" i="0" sz="2000"/>
                <a:t> </a:t>
              </a:r>
              <a:r>
                <a:rPr i="0" sz="2000">
                  <a:solidFill>
                    <a:srgbClr val="000000"/>
                  </a:solidFill>
                </a:rPr>
                <a:t>and </a:t>
              </a:r>
              <a:r>
                <a:t>d</a:t>
              </a:r>
              <a:r>
                <a:rPr baseline="-25000" i="0"/>
                <a:t>prop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defRPr i="1" sz="2400"/>
              </a:pPr>
              <a:r>
                <a:t>very </a:t>
              </a:r>
              <a:r>
                <a:rPr i="0"/>
                <a:t>different</a:t>
              </a:r>
            </a:p>
          </p:txBody>
        </p:sp>
        <p:sp>
          <p:nvSpPr>
            <p:cNvPr id="9043" name="Oval 2"/>
            <p:cNvSpPr/>
            <p:nvPr/>
          </p:nvSpPr>
          <p:spPr>
            <a:xfrm>
              <a:off x="0" y="0"/>
              <a:ext cx="1869377" cy="500635"/>
            </a:xfrm>
            <a:prstGeom prst="ellipse">
              <a:avLst/>
            </a:prstGeom>
            <a:noFill/>
            <a:ln w="1270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044" name="Oval 62"/>
            <p:cNvSpPr/>
            <p:nvPr/>
          </p:nvSpPr>
          <p:spPr>
            <a:xfrm>
              <a:off x="5207040" y="2161"/>
              <a:ext cx="1869377" cy="500635"/>
            </a:xfrm>
            <a:prstGeom prst="ellipse">
              <a:avLst/>
            </a:prstGeom>
            <a:noFill/>
            <a:ln w="1270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045" name="Straight Connector 6"/>
            <p:cNvSpPr/>
            <p:nvPr/>
          </p:nvSpPr>
          <p:spPr>
            <a:xfrm flipH="1">
              <a:off x="4181791" y="252478"/>
              <a:ext cx="1025250" cy="248157"/>
            </a:xfrm>
            <a:prstGeom prst="line">
              <a:avLst/>
            </a:prstGeom>
            <a:noFill/>
            <a:ln w="952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046" name="Straight Connector 65"/>
            <p:cNvSpPr/>
            <p:nvPr/>
          </p:nvSpPr>
          <p:spPr>
            <a:xfrm>
              <a:off x="1886807" y="252478"/>
              <a:ext cx="940802" cy="248157"/>
            </a:xfrm>
            <a:prstGeom prst="line">
              <a:avLst/>
            </a:prstGeom>
            <a:noFill/>
            <a:ln w="952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04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040" grpId="1"/>
      <p:bldP build="whole" bldLvl="1" animBg="1" rev="0" advAuto="0" spid="9041" grpId="2"/>
      <p:bldP build="whole" bldLvl="1" animBg="1" rev="0" advAuto="0" spid="9047" grpId="3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0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Caravan analogy</a:t>
            </a:r>
          </a:p>
        </p:txBody>
      </p:sp>
      <p:sp>
        <p:nvSpPr>
          <p:cNvPr id="9051" name="Rectangle 3"/>
          <p:cNvSpPr txBox="1"/>
          <p:nvPr/>
        </p:nvSpPr>
        <p:spPr>
          <a:xfrm>
            <a:off x="974867" y="2992271"/>
            <a:ext cx="5285732" cy="331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55730" indent="-255730" defTabSz="813816">
              <a:lnSpc>
                <a:spcPct val="90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492"/>
            </a:pPr>
            <a:r>
              <a:t>car ~ bit; caravan ~ packet; toll service ~ link transmission</a:t>
            </a:r>
          </a:p>
          <a:p>
            <a:pPr marL="255730" indent="-255730" defTabSz="813816">
              <a:lnSpc>
                <a:spcPct val="90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492"/>
            </a:pPr>
            <a:r>
              <a:t>toll booth takes 12 sec to service car (bit transmission time)</a:t>
            </a:r>
          </a:p>
          <a:p>
            <a:pPr marL="255730" indent="-255730" defTabSz="813816">
              <a:lnSpc>
                <a:spcPct val="90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sz="2492"/>
            </a:pPr>
            <a:r>
              <a:t>“propagate” at  100 km/hr</a:t>
            </a:r>
          </a:p>
          <a:p>
            <a:pPr marL="255730" indent="-255730" defTabSz="813816">
              <a:lnSpc>
                <a:spcPct val="90000"/>
              </a:lnSpc>
              <a:spcBef>
                <a:spcPts val="800"/>
              </a:spcBef>
              <a:buClr>
                <a:srgbClr val="0000A3"/>
              </a:buClr>
              <a:buSzPct val="100000"/>
              <a:buChar char="▪"/>
              <a:defRPr i="1" sz="2492">
                <a:solidFill>
                  <a:srgbClr val="CC0000"/>
                </a:solidFill>
              </a:defRPr>
            </a:pPr>
            <a:r>
              <a:t>Q:</a:t>
            </a:r>
            <a:r>
              <a:rPr i="0"/>
              <a:t> How long until caravan is lined up before 2nd toll booth?</a:t>
            </a:r>
          </a:p>
        </p:txBody>
      </p:sp>
      <p:sp>
        <p:nvSpPr>
          <p:cNvPr id="9052" name="Rectangle 4"/>
          <p:cNvSpPr txBox="1"/>
          <p:nvPr/>
        </p:nvSpPr>
        <p:spPr>
          <a:xfrm>
            <a:off x="6821938" y="3006558"/>
            <a:ext cx="4783569" cy="3077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time to “push” entire caravan through toll booth onto highway = 12*10 = 120 sec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time for last car to propagate from 1st to 2nd toll both: 100km/(100km/hr) = 1 hr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2800">
                <a:solidFill>
                  <a:srgbClr val="CC0000"/>
                </a:solidFill>
              </a:defRPr>
            </a:pPr>
            <a:r>
              <a:t>A:</a:t>
            </a:r>
            <a:r>
              <a:rPr i="0"/>
              <a:t> 62 minutes</a:t>
            </a:r>
          </a:p>
        </p:txBody>
      </p:sp>
      <p:sp>
        <p:nvSpPr>
          <p:cNvPr id="9053" name="Text Box 45"/>
          <p:cNvSpPr txBox="1"/>
          <p:nvPr/>
        </p:nvSpPr>
        <p:spPr>
          <a:xfrm>
            <a:off x="6442550" y="2031426"/>
            <a:ext cx="203581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toll booth</a:t>
            </a:r>
          </a:p>
        </p:txBody>
      </p:sp>
      <p:sp>
        <p:nvSpPr>
          <p:cNvPr id="9054" name="Text Box 48"/>
          <p:cNvSpPr txBox="1"/>
          <p:nvPr/>
        </p:nvSpPr>
        <p:spPr>
          <a:xfrm>
            <a:off x="3451700" y="2031427"/>
            <a:ext cx="2251711" cy="644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000"/>
            </a:pPr>
            <a:r>
              <a:t>toll  booth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ctr">
              <a:defRPr sz="2000"/>
            </a:pPr>
            <a:r>
              <a:t>(aka link)</a:t>
            </a:r>
          </a:p>
        </p:txBody>
      </p:sp>
      <p:sp>
        <p:nvSpPr>
          <p:cNvPr id="9055" name="Text Box 50"/>
          <p:cNvSpPr txBox="1"/>
          <p:nvPr/>
        </p:nvSpPr>
        <p:spPr>
          <a:xfrm>
            <a:off x="1692751" y="2028251"/>
            <a:ext cx="2025115" cy="644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ten-car caravan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defRPr sz="2000"/>
            </a:pPr>
            <a:r>
              <a:t>(aka 10-bit packet)</a:t>
            </a:r>
          </a:p>
        </p:txBody>
      </p:sp>
      <p:sp>
        <p:nvSpPr>
          <p:cNvPr id="9056" name="Line 51"/>
          <p:cNvSpPr/>
          <p:nvPr/>
        </p:nvSpPr>
        <p:spPr>
          <a:xfrm flipH="1">
            <a:off x="4383880" y="1679001"/>
            <a:ext cx="658814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57" name="Text Box 52"/>
          <p:cNvSpPr txBox="1"/>
          <p:nvPr/>
        </p:nvSpPr>
        <p:spPr>
          <a:xfrm>
            <a:off x="5088412" y="1478976"/>
            <a:ext cx="9880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100 km</a:t>
            </a:r>
          </a:p>
        </p:txBody>
      </p:sp>
      <p:sp>
        <p:nvSpPr>
          <p:cNvPr id="9058" name="Line 53"/>
          <p:cNvSpPr/>
          <p:nvPr/>
        </p:nvSpPr>
        <p:spPr>
          <a:xfrm flipH="1">
            <a:off x="7376317" y="1678684"/>
            <a:ext cx="62230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59" name="Text Box 54"/>
          <p:cNvSpPr txBox="1"/>
          <p:nvPr/>
        </p:nvSpPr>
        <p:spPr>
          <a:xfrm>
            <a:off x="8044337" y="1478976"/>
            <a:ext cx="9880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100 km</a:t>
            </a:r>
          </a:p>
        </p:txBody>
      </p:sp>
      <p:sp>
        <p:nvSpPr>
          <p:cNvPr id="9060" name="Line 68"/>
          <p:cNvSpPr/>
          <p:nvPr/>
        </p:nvSpPr>
        <p:spPr>
          <a:xfrm>
            <a:off x="6122192" y="1677414"/>
            <a:ext cx="866776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61" name="Right Brace 9"/>
          <p:cNvSpPr/>
          <p:nvPr/>
        </p:nvSpPr>
        <p:spPr>
          <a:xfrm rot="5400000">
            <a:off x="2614644" y="763777"/>
            <a:ext cx="107887" cy="2525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34"/>
                  <a:pt x="10800" y="77"/>
                </a:cubicBezTo>
                <a:lnTo>
                  <a:pt x="10800" y="10723"/>
                </a:lnTo>
                <a:cubicBezTo>
                  <a:pt x="10800" y="10766"/>
                  <a:pt x="15635" y="10800"/>
                  <a:pt x="21600" y="10800"/>
                </a:cubicBezTo>
                <a:cubicBezTo>
                  <a:pt x="15635" y="10800"/>
                  <a:pt x="10800" y="10834"/>
                  <a:pt x="10800" y="10877"/>
                </a:cubicBezTo>
                <a:lnTo>
                  <a:pt x="10800" y="21523"/>
                </a:lnTo>
                <a:cubicBezTo>
                  <a:pt x="10800" y="21566"/>
                  <a:pt x="5965" y="21600"/>
                  <a:pt x="0" y="21600"/>
                </a:cubicBezTo>
              </a:path>
            </a:pathLst>
          </a:custGeom>
          <a:ln w="635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grpSp>
        <p:nvGrpSpPr>
          <p:cNvPr id="9064" name="Group 43"/>
          <p:cNvGrpSpPr/>
          <p:nvPr/>
        </p:nvGrpSpPr>
        <p:grpSpPr>
          <a:xfrm>
            <a:off x="6442550" y="1369439"/>
            <a:ext cx="2035811" cy="995075"/>
            <a:chOff x="0" y="0"/>
            <a:chExt cx="2035810" cy="995074"/>
          </a:xfrm>
        </p:grpSpPr>
        <p:sp>
          <p:nvSpPr>
            <p:cNvPr id="9062" name="Rectangle 44"/>
            <p:cNvSpPr/>
            <p:nvPr/>
          </p:nvSpPr>
          <p:spPr>
            <a:xfrm>
              <a:off x="554354" y="0"/>
              <a:ext cx="74614" cy="671513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063" name="Text Box 45"/>
            <p:cNvSpPr txBox="1"/>
            <p:nvPr/>
          </p:nvSpPr>
          <p:spPr>
            <a:xfrm>
              <a:off x="0" y="661987"/>
              <a:ext cx="2035811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/>
            </a:lstStyle>
            <a:p>
              <a:pPr/>
              <a:r>
                <a:t>toll booth</a:t>
              </a:r>
            </a:p>
          </p:txBody>
        </p:sp>
      </p:grpSp>
      <p:grpSp>
        <p:nvGrpSpPr>
          <p:cNvPr id="9067" name="Group 46"/>
          <p:cNvGrpSpPr/>
          <p:nvPr/>
        </p:nvGrpSpPr>
        <p:grpSpPr>
          <a:xfrm>
            <a:off x="3451700" y="1369439"/>
            <a:ext cx="2251711" cy="1306971"/>
            <a:chOff x="0" y="0"/>
            <a:chExt cx="2251710" cy="1306969"/>
          </a:xfrm>
        </p:grpSpPr>
        <p:sp>
          <p:nvSpPr>
            <p:cNvPr id="9065" name="Rectangle 47"/>
            <p:cNvSpPr/>
            <p:nvPr/>
          </p:nvSpPr>
          <p:spPr>
            <a:xfrm>
              <a:off x="692467" y="0"/>
              <a:ext cx="74613" cy="671513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066" name="Text Box 48"/>
            <p:cNvSpPr txBox="1"/>
            <p:nvPr/>
          </p:nvSpPr>
          <p:spPr>
            <a:xfrm>
              <a:off x="0" y="661988"/>
              <a:ext cx="2251711" cy="644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000"/>
              </a:pPr>
              <a:r>
                <a:t>toll  booth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defRPr sz="2000"/>
              </a:pPr>
              <a:r>
                <a:t>(aka link)</a:t>
              </a:r>
            </a:p>
          </p:txBody>
        </p:sp>
      </p:grpSp>
      <p:sp>
        <p:nvSpPr>
          <p:cNvPr id="9068" name="Line 51"/>
          <p:cNvSpPr/>
          <p:nvPr/>
        </p:nvSpPr>
        <p:spPr>
          <a:xfrm flipH="1">
            <a:off x="4383880" y="1679001"/>
            <a:ext cx="658814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69" name="Line 53"/>
          <p:cNvSpPr/>
          <p:nvPr/>
        </p:nvSpPr>
        <p:spPr>
          <a:xfrm flipH="1">
            <a:off x="7376317" y="1678684"/>
            <a:ext cx="62230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70" name="Oval 56"/>
          <p:cNvSpPr/>
          <p:nvPr/>
        </p:nvSpPr>
        <p:spPr>
          <a:xfrm>
            <a:off x="2128042" y="1679001"/>
            <a:ext cx="74615" cy="74615"/>
          </a:xfrm>
          <a:prstGeom prst="ellipse">
            <a:avLst/>
          </a:prstGeom>
          <a:solidFill>
            <a:srgbClr val="2F5597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9071" name="Oval 57"/>
          <p:cNvSpPr/>
          <p:nvPr/>
        </p:nvSpPr>
        <p:spPr>
          <a:xfrm>
            <a:off x="2280442" y="1679001"/>
            <a:ext cx="74615" cy="74615"/>
          </a:xfrm>
          <a:prstGeom prst="ellipse">
            <a:avLst/>
          </a:prstGeom>
          <a:solidFill>
            <a:srgbClr val="2F5597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9072" name="Oval 58"/>
          <p:cNvSpPr/>
          <p:nvPr/>
        </p:nvSpPr>
        <p:spPr>
          <a:xfrm>
            <a:off x="2504281" y="1679001"/>
            <a:ext cx="74615" cy="74615"/>
          </a:xfrm>
          <a:prstGeom prst="ellipse">
            <a:avLst/>
          </a:prstGeom>
          <a:solidFill>
            <a:srgbClr val="2F5597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grpSp>
        <p:nvGrpSpPr>
          <p:cNvPr id="9075" name="Group 61"/>
          <p:cNvGrpSpPr/>
          <p:nvPr/>
        </p:nvGrpSpPr>
        <p:grpSpPr>
          <a:xfrm>
            <a:off x="3931442" y="1280538"/>
            <a:ext cx="458789" cy="777876"/>
            <a:chOff x="0" y="0"/>
            <a:chExt cx="458787" cy="777875"/>
          </a:xfrm>
        </p:grpSpPr>
        <p:pic>
          <p:nvPicPr>
            <p:cNvPr id="9073" name="Picture 62" descr="Picture 6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591" y="0"/>
              <a:ext cx="455197" cy="777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074" name="Rectangle 63"/>
            <p:cNvSpPr/>
            <p:nvPr/>
          </p:nvSpPr>
          <p:spPr>
            <a:xfrm>
              <a:off x="0" y="374015"/>
              <a:ext cx="164751" cy="1010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9078" name="Group 65"/>
          <p:cNvGrpSpPr/>
          <p:nvPr/>
        </p:nvGrpSpPr>
        <p:grpSpPr>
          <a:xfrm>
            <a:off x="6854031" y="1309113"/>
            <a:ext cx="458789" cy="777876"/>
            <a:chOff x="0" y="0"/>
            <a:chExt cx="458787" cy="777875"/>
          </a:xfrm>
        </p:grpSpPr>
        <p:pic>
          <p:nvPicPr>
            <p:cNvPr id="9076" name="Picture 66" descr="Picture 6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591" y="0"/>
              <a:ext cx="455197" cy="777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077" name="Rectangle 67"/>
            <p:cNvSpPr/>
            <p:nvPr/>
          </p:nvSpPr>
          <p:spPr>
            <a:xfrm>
              <a:off x="0" y="374015"/>
              <a:ext cx="164751" cy="1010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9079" name="Line 68"/>
          <p:cNvSpPr/>
          <p:nvPr/>
        </p:nvSpPr>
        <p:spPr>
          <a:xfrm>
            <a:off x="6122192" y="1677414"/>
            <a:ext cx="866776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80" name="Right Brace 49"/>
          <p:cNvSpPr/>
          <p:nvPr/>
        </p:nvSpPr>
        <p:spPr>
          <a:xfrm rot="5400000">
            <a:off x="2614644" y="763777"/>
            <a:ext cx="107887" cy="2525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34"/>
                  <a:pt x="10800" y="77"/>
                </a:cubicBezTo>
                <a:lnTo>
                  <a:pt x="10800" y="10723"/>
                </a:lnTo>
                <a:cubicBezTo>
                  <a:pt x="10800" y="10766"/>
                  <a:pt x="15635" y="10800"/>
                  <a:pt x="21600" y="10800"/>
                </a:cubicBezTo>
                <a:cubicBezTo>
                  <a:pt x="15635" y="10800"/>
                  <a:pt x="10800" y="10834"/>
                  <a:pt x="10800" y="10877"/>
                </a:cubicBezTo>
                <a:lnTo>
                  <a:pt x="10800" y="21523"/>
                </a:lnTo>
                <a:cubicBezTo>
                  <a:pt x="10800" y="21566"/>
                  <a:pt x="5965" y="21600"/>
                  <a:pt x="0" y="21600"/>
                </a:cubicBezTo>
              </a:path>
            </a:pathLst>
          </a:custGeom>
          <a:ln w="635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pic>
        <p:nvPicPr>
          <p:cNvPr id="9081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542" y="1391341"/>
            <a:ext cx="875229" cy="592632"/>
          </a:xfrm>
          <a:prstGeom prst="rect">
            <a:avLst/>
          </a:prstGeom>
          <a:ln w="12700">
            <a:miter lim="400000"/>
          </a:ln>
        </p:spPr>
      </p:pic>
      <p:pic>
        <p:nvPicPr>
          <p:cNvPr id="908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61164" y="1388801"/>
            <a:ext cx="875228" cy="592632"/>
          </a:xfrm>
          <a:prstGeom prst="rect">
            <a:avLst/>
          </a:prstGeom>
          <a:ln w="12700">
            <a:miter lim="400000"/>
          </a:ln>
        </p:spPr>
      </p:pic>
      <p:pic>
        <p:nvPicPr>
          <p:cNvPr id="908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96099" y="1389537"/>
            <a:ext cx="875229" cy="592632"/>
          </a:xfrm>
          <a:prstGeom prst="rect">
            <a:avLst/>
          </a:prstGeom>
          <a:ln w="12700">
            <a:miter lim="400000"/>
          </a:ln>
        </p:spPr>
      </p:pic>
      <p:sp>
        <p:nvSpPr>
          <p:cNvPr id="9084" name="Line 68"/>
          <p:cNvSpPr/>
          <p:nvPr/>
        </p:nvSpPr>
        <p:spPr>
          <a:xfrm>
            <a:off x="8928892" y="1664714"/>
            <a:ext cx="866776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087" name="Group 43"/>
          <p:cNvGrpSpPr/>
          <p:nvPr/>
        </p:nvGrpSpPr>
        <p:grpSpPr>
          <a:xfrm>
            <a:off x="9249251" y="1356739"/>
            <a:ext cx="2035811" cy="995075"/>
            <a:chOff x="0" y="0"/>
            <a:chExt cx="2035810" cy="995074"/>
          </a:xfrm>
        </p:grpSpPr>
        <p:sp>
          <p:nvSpPr>
            <p:cNvPr id="9085" name="Rectangle 44"/>
            <p:cNvSpPr/>
            <p:nvPr/>
          </p:nvSpPr>
          <p:spPr>
            <a:xfrm>
              <a:off x="554354" y="0"/>
              <a:ext cx="74614" cy="671513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086" name="Text Box 45"/>
            <p:cNvSpPr txBox="1"/>
            <p:nvPr/>
          </p:nvSpPr>
          <p:spPr>
            <a:xfrm>
              <a:off x="0" y="661987"/>
              <a:ext cx="2035811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/>
            </a:lstStyle>
            <a:p>
              <a:pPr/>
              <a:r>
                <a:t>toll booth</a:t>
              </a:r>
            </a:p>
          </p:txBody>
        </p:sp>
      </p:grpSp>
      <p:grpSp>
        <p:nvGrpSpPr>
          <p:cNvPr id="9090" name="Group 65"/>
          <p:cNvGrpSpPr/>
          <p:nvPr/>
        </p:nvGrpSpPr>
        <p:grpSpPr>
          <a:xfrm>
            <a:off x="9660731" y="1296413"/>
            <a:ext cx="458789" cy="777876"/>
            <a:chOff x="0" y="0"/>
            <a:chExt cx="458787" cy="777875"/>
          </a:xfrm>
        </p:grpSpPr>
        <p:pic>
          <p:nvPicPr>
            <p:cNvPr id="9088" name="Picture 66" descr="Picture 6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591" y="0"/>
              <a:ext cx="455197" cy="777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089" name="Rectangle 67"/>
            <p:cNvSpPr/>
            <p:nvPr/>
          </p:nvSpPr>
          <p:spPr>
            <a:xfrm>
              <a:off x="0" y="374015"/>
              <a:ext cx="164751" cy="1010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9091" name="Line 68"/>
          <p:cNvSpPr/>
          <p:nvPr/>
        </p:nvSpPr>
        <p:spPr>
          <a:xfrm>
            <a:off x="8928892" y="1664714"/>
            <a:ext cx="866776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092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0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05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9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9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0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90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052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4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Caravan analogy</a:t>
            </a:r>
          </a:p>
        </p:txBody>
      </p:sp>
      <p:grpSp>
        <p:nvGrpSpPr>
          <p:cNvPr id="9097" name="Group 43"/>
          <p:cNvGrpSpPr/>
          <p:nvPr/>
        </p:nvGrpSpPr>
        <p:grpSpPr>
          <a:xfrm>
            <a:off x="7204551" y="1420239"/>
            <a:ext cx="2035811" cy="995075"/>
            <a:chOff x="0" y="0"/>
            <a:chExt cx="2035810" cy="995074"/>
          </a:xfrm>
        </p:grpSpPr>
        <p:sp>
          <p:nvSpPr>
            <p:cNvPr id="9095" name="Rectangle 44"/>
            <p:cNvSpPr/>
            <p:nvPr/>
          </p:nvSpPr>
          <p:spPr>
            <a:xfrm>
              <a:off x="554354" y="0"/>
              <a:ext cx="74614" cy="671513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096" name="Text Box 45"/>
            <p:cNvSpPr txBox="1"/>
            <p:nvPr/>
          </p:nvSpPr>
          <p:spPr>
            <a:xfrm>
              <a:off x="0" y="661987"/>
              <a:ext cx="2035811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/>
            </a:lstStyle>
            <a:p>
              <a:pPr/>
              <a:r>
                <a:t>toll booth</a:t>
              </a:r>
            </a:p>
          </p:txBody>
        </p:sp>
      </p:grpSp>
      <p:grpSp>
        <p:nvGrpSpPr>
          <p:cNvPr id="9100" name="Group 46"/>
          <p:cNvGrpSpPr/>
          <p:nvPr/>
        </p:nvGrpSpPr>
        <p:grpSpPr>
          <a:xfrm>
            <a:off x="4213700" y="1420239"/>
            <a:ext cx="2251711" cy="1306971"/>
            <a:chOff x="0" y="0"/>
            <a:chExt cx="2251710" cy="1306969"/>
          </a:xfrm>
        </p:grpSpPr>
        <p:sp>
          <p:nvSpPr>
            <p:cNvPr id="9098" name="Rectangle 47"/>
            <p:cNvSpPr/>
            <p:nvPr/>
          </p:nvSpPr>
          <p:spPr>
            <a:xfrm>
              <a:off x="692467" y="0"/>
              <a:ext cx="74613" cy="671513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099" name="Text Box 48"/>
            <p:cNvSpPr txBox="1"/>
            <p:nvPr/>
          </p:nvSpPr>
          <p:spPr>
            <a:xfrm>
              <a:off x="0" y="661988"/>
              <a:ext cx="2251711" cy="644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000"/>
              </a:pPr>
              <a:r>
                <a:t>toll  booth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defRPr sz="2000"/>
              </a:pPr>
              <a:r>
                <a:t>(aka router)</a:t>
              </a:r>
            </a:p>
          </p:txBody>
        </p:sp>
      </p:grpSp>
      <p:sp>
        <p:nvSpPr>
          <p:cNvPr id="9101" name="Text Box 50"/>
          <p:cNvSpPr txBox="1"/>
          <p:nvPr/>
        </p:nvSpPr>
        <p:spPr>
          <a:xfrm>
            <a:off x="2454751" y="2079051"/>
            <a:ext cx="2025115" cy="644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t>ten-car caravan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defRPr sz="2000"/>
            </a:pPr>
            <a:r>
              <a:t>(aka 10-bit packet)</a:t>
            </a:r>
          </a:p>
        </p:txBody>
      </p:sp>
      <p:sp>
        <p:nvSpPr>
          <p:cNvPr id="9102" name="Line 51"/>
          <p:cNvSpPr/>
          <p:nvPr/>
        </p:nvSpPr>
        <p:spPr>
          <a:xfrm flipH="1">
            <a:off x="5145880" y="1729801"/>
            <a:ext cx="658814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103" name="Text Box 52"/>
          <p:cNvSpPr txBox="1"/>
          <p:nvPr/>
        </p:nvSpPr>
        <p:spPr>
          <a:xfrm>
            <a:off x="5850412" y="1529776"/>
            <a:ext cx="9880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100 km</a:t>
            </a:r>
          </a:p>
        </p:txBody>
      </p:sp>
      <p:sp>
        <p:nvSpPr>
          <p:cNvPr id="9104" name="Line 53"/>
          <p:cNvSpPr/>
          <p:nvPr/>
        </p:nvSpPr>
        <p:spPr>
          <a:xfrm flipH="1">
            <a:off x="8138317" y="1729484"/>
            <a:ext cx="622301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105" name="Text Box 54"/>
          <p:cNvSpPr txBox="1"/>
          <p:nvPr/>
        </p:nvSpPr>
        <p:spPr>
          <a:xfrm>
            <a:off x="8806337" y="1529776"/>
            <a:ext cx="9880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100 km</a:t>
            </a:r>
          </a:p>
        </p:txBody>
      </p:sp>
      <p:sp>
        <p:nvSpPr>
          <p:cNvPr id="9106" name="Line 55"/>
          <p:cNvSpPr/>
          <p:nvPr/>
        </p:nvSpPr>
        <p:spPr>
          <a:xfrm>
            <a:off x="9670044" y="1729484"/>
            <a:ext cx="469558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07" name="Oval 56"/>
          <p:cNvSpPr/>
          <p:nvPr/>
        </p:nvSpPr>
        <p:spPr>
          <a:xfrm>
            <a:off x="2890042" y="1729801"/>
            <a:ext cx="74615" cy="74615"/>
          </a:xfrm>
          <a:prstGeom prst="ellipse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9108" name="Oval 57"/>
          <p:cNvSpPr/>
          <p:nvPr/>
        </p:nvSpPr>
        <p:spPr>
          <a:xfrm>
            <a:off x="3042442" y="1729801"/>
            <a:ext cx="74615" cy="74615"/>
          </a:xfrm>
          <a:prstGeom prst="ellipse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9109" name="Oval 58"/>
          <p:cNvSpPr/>
          <p:nvPr/>
        </p:nvSpPr>
        <p:spPr>
          <a:xfrm>
            <a:off x="3266280" y="1729801"/>
            <a:ext cx="74615" cy="74615"/>
          </a:xfrm>
          <a:prstGeom prst="ellipse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pic>
        <p:nvPicPr>
          <p:cNvPr id="9110" name="Picture 59" descr="Picture 5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3374230" y="1640901"/>
            <a:ext cx="749301" cy="219076"/>
          </a:xfrm>
          <a:prstGeom prst="rect">
            <a:avLst/>
          </a:prstGeom>
          <a:ln w="12700">
            <a:miter lim="400000"/>
          </a:ln>
        </p:spPr>
      </p:pic>
      <p:pic>
        <p:nvPicPr>
          <p:cNvPr id="9111" name="Picture 60" descr="Picture 6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2107406" y="1636139"/>
            <a:ext cx="749301" cy="2190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114" name="Group 61"/>
          <p:cNvGrpSpPr/>
          <p:nvPr/>
        </p:nvGrpSpPr>
        <p:grpSpPr>
          <a:xfrm>
            <a:off x="4693442" y="1331338"/>
            <a:ext cx="458789" cy="777876"/>
            <a:chOff x="0" y="0"/>
            <a:chExt cx="458787" cy="777875"/>
          </a:xfrm>
        </p:grpSpPr>
        <p:pic>
          <p:nvPicPr>
            <p:cNvPr id="9112" name="Picture 62" descr="Picture 6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591" y="0"/>
              <a:ext cx="455197" cy="777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113" name="Rectangle 63"/>
            <p:cNvSpPr/>
            <p:nvPr/>
          </p:nvSpPr>
          <p:spPr>
            <a:xfrm>
              <a:off x="0" y="374015"/>
              <a:ext cx="164751" cy="1010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pic>
        <p:nvPicPr>
          <p:cNvPr id="9115" name="Picture 64" descr="Picture 6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4137817" y="1661539"/>
            <a:ext cx="749301" cy="2190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118" name="Group 65"/>
          <p:cNvGrpSpPr/>
          <p:nvPr/>
        </p:nvGrpSpPr>
        <p:grpSpPr>
          <a:xfrm>
            <a:off x="7616031" y="1359913"/>
            <a:ext cx="458789" cy="777876"/>
            <a:chOff x="0" y="0"/>
            <a:chExt cx="458787" cy="777875"/>
          </a:xfrm>
        </p:grpSpPr>
        <p:pic>
          <p:nvPicPr>
            <p:cNvPr id="9116" name="Picture 66" descr="Picture 6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591" y="0"/>
              <a:ext cx="455197" cy="7778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117" name="Rectangle 67"/>
            <p:cNvSpPr/>
            <p:nvPr/>
          </p:nvSpPr>
          <p:spPr>
            <a:xfrm>
              <a:off x="0" y="374015"/>
              <a:ext cx="164751" cy="1010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9119" name="Line 68"/>
          <p:cNvSpPr/>
          <p:nvPr/>
        </p:nvSpPr>
        <p:spPr>
          <a:xfrm>
            <a:off x="6884192" y="1728214"/>
            <a:ext cx="866776" cy="1"/>
          </a:xfrm>
          <a:prstGeom prst="line">
            <a:avLst/>
          </a:pr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120" name="Right Brace 9"/>
          <p:cNvSpPr/>
          <p:nvPr/>
        </p:nvSpPr>
        <p:spPr>
          <a:xfrm rot="5400000">
            <a:off x="3376643" y="814577"/>
            <a:ext cx="107887" cy="2525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34"/>
                  <a:pt x="10800" y="77"/>
                </a:cubicBezTo>
                <a:lnTo>
                  <a:pt x="10800" y="10723"/>
                </a:lnTo>
                <a:cubicBezTo>
                  <a:pt x="10800" y="10766"/>
                  <a:pt x="15635" y="10800"/>
                  <a:pt x="21600" y="10800"/>
                </a:cubicBezTo>
                <a:cubicBezTo>
                  <a:pt x="15635" y="10800"/>
                  <a:pt x="10800" y="10834"/>
                  <a:pt x="10800" y="10877"/>
                </a:cubicBezTo>
                <a:lnTo>
                  <a:pt x="10800" y="21523"/>
                </a:lnTo>
                <a:cubicBezTo>
                  <a:pt x="10800" y="21566"/>
                  <a:pt x="5965" y="21600"/>
                  <a:pt x="0" y="21600"/>
                </a:cubicBezTo>
              </a:path>
            </a:pathLst>
          </a:custGeom>
          <a:ln w="635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9121" name="Rectangle 3"/>
          <p:cNvSpPr txBox="1"/>
          <p:nvPr/>
        </p:nvSpPr>
        <p:spPr>
          <a:xfrm>
            <a:off x="870986" y="3347773"/>
            <a:ext cx="10424161" cy="1655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4123" indent="-224123" defTabSz="713231">
              <a:lnSpc>
                <a:spcPct val="90000"/>
              </a:lnSpc>
              <a:spcBef>
                <a:spcPts val="700"/>
              </a:spcBef>
              <a:buClr>
                <a:srgbClr val="0000A3"/>
              </a:buClr>
              <a:buSzPct val="100000"/>
              <a:buChar char="▪"/>
              <a:defRPr sz="2184"/>
            </a:pPr>
            <a:r>
              <a:t>suppose cars now “propagate” at 1000 km/hr</a:t>
            </a:r>
          </a:p>
          <a:p>
            <a:pPr marL="224123" indent="-224123" defTabSz="713231">
              <a:lnSpc>
                <a:spcPct val="90000"/>
              </a:lnSpc>
              <a:spcBef>
                <a:spcPts val="700"/>
              </a:spcBef>
              <a:buClr>
                <a:srgbClr val="0000A3"/>
              </a:buClr>
              <a:buSzPct val="100000"/>
              <a:buChar char="▪"/>
              <a:defRPr sz="2184"/>
            </a:pPr>
            <a:r>
              <a:t>and suppose toll booth now takes one min to service a car</a:t>
            </a:r>
            <a:endParaRPr>
              <a:solidFill>
                <a:schemeClr val="accent2"/>
              </a:solidFill>
            </a:endParaRPr>
          </a:p>
          <a:p>
            <a:pPr marL="224123" indent="-224123" defTabSz="713231">
              <a:lnSpc>
                <a:spcPct val="90000"/>
              </a:lnSpc>
              <a:spcBef>
                <a:spcPts val="700"/>
              </a:spcBef>
              <a:buClr>
                <a:srgbClr val="0000A3"/>
              </a:buClr>
              <a:buSzPct val="100000"/>
              <a:buChar char="▪"/>
              <a:defRPr i="1" sz="2184">
                <a:solidFill>
                  <a:srgbClr val="CC0000"/>
                </a:solidFill>
              </a:defRPr>
            </a:pPr>
            <a:r>
              <a:t>Q:</a:t>
            </a:r>
            <a:r>
              <a:rPr i="0"/>
              <a:t> Will cars arrive to 2nd booth before all cars serviced at first booth?</a:t>
            </a:r>
          </a:p>
        </p:txBody>
      </p:sp>
      <p:sp>
        <p:nvSpPr>
          <p:cNvPr id="9122" name="Rectangle 4"/>
          <p:cNvSpPr txBox="1"/>
          <p:nvPr/>
        </p:nvSpPr>
        <p:spPr>
          <a:xfrm>
            <a:off x="1173229" y="4881441"/>
            <a:ext cx="10557820" cy="1467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i="1" sz="2800" u="sng">
                <a:solidFill>
                  <a:srgbClr val="CC0000"/>
                </a:solidFill>
              </a:defRPr>
            </a:pPr>
            <a:r>
              <a:t>A: Yes!</a:t>
            </a:r>
            <a:r>
              <a:rPr i="0" u="none">
                <a:solidFill>
                  <a:srgbClr val="000000"/>
                </a:solidFill>
              </a:rPr>
              <a:t>  after 7 min, first car arrives at second booth; three cars still at first booth</a:t>
            </a:r>
          </a:p>
        </p:txBody>
      </p:sp>
      <p:sp>
        <p:nvSpPr>
          <p:cNvPr id="9123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5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 queueing delay (revisited)</a:t>
            </a:r>
          </a:p>
        </p:txBody>
      </p:sp>
      <p:sp>
        <p:nvSpPr>
          <p:cNvPr id="9126" name="Rectangle 3"/>
          <p:cNvSpPr txBox="1"/>
          <p:nvPr/>
        </p:nvSpPr>
        <p:spPr>
          <a:xfrm>
            <a:off x="965562" y="1385660"/>
            <a:ext cx="5563690" cy="178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30188" indent="-23018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2400"/>
            </a:pPr>
            <a:r>
              <a:t>a: </a:t>
            </a:r>
            <a:r>
              <a:rPr i="0"/>
              <a:t>average packet arrival rate</a:t>
            </a:r>
            <a:endParaRPr sz="2800"/>
          </a:p>
          <a:p>
            <a:pPr marL="230188" indent="-23018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2400"/>
            </a:pPr>
            <a:r>
              <a:t>L: </a:t>
            </a:r>
            <a:r>
              <a:rPr i="0"/>
              <a:t>packet length (bits)</a:t>
            </a:r>
            <a:endParaRPr sz="2800"/>
          </a:p>
          <a:p>
            <a:pPr marL="231775" indent="-231775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2400"/>
            </a:pPr>
            <a:r>
              <a:t>R:</a:t>
            </a:r>
            <a:r>
              <a:rPr i="0"/>
              <a:t> link bandwidth (bit transmission rate)</a:t>
            </a:r>
          </a:p>
        </p:txBody>
      </p:sp>
      <p:sp>
        <p:nvSpPr>
          <p:cNvPr id="9127" name="Rectangle 62"/>
          <p:cNvSpPr txBox="1"/>
          <p:nvPr/>
        </p:nvSpPr>
        <p:spPr>
          <a:xfrm>
            <a:off x="978262" y="4263423"/>
            <a:ext cx="5883679" cy="2236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1775" indent="-231775"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800"/>
            </a:pPr>
            <a:r>
              <a:t>La/R</a:t>
            </a:r>
            <a:r>
              <a:rPr i="0"/>
              <a:t> ~ 0: avg. queueing delay small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231775" indent="-231775"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800"/>
            </a:pPr>
            <a:r>
              <a:t>La/R </a:t>
            </a:r>
            <a:r>
              <a:rPr i="0"/>
              <a:t>-&gt; 1: avg. queueing delay large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231775" indent="-231775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100000"/>
              <a:buChar char="▪"/>
              <a:defRPr i="1" sz="2800"/>
            </a:pPr>
            <a:r>
              <a:t>La/R </a:t>
            </a:r>
            <a:r>
              <a:rPr i="0"/>
              <a:t>&gt; 1: more “work” arriving  is more than can be serviced -  average delay infinite!</a:t>
            </a:r>
          </a:p>
        </p:txBody>
      </p:sp>
      <p:grpSp>
        <p:nvGrpSpPr>
          <p:cNvPr id="9132" name="Group 2"/>
          <p:cNvGrpSpPr/>
          <p:nvPr/>
        </p:nvGrpSpPr>
        <p:grpSpPr>
          <a:xfrm>
            <a:off x="8407166" y="4367393"/>
            <a:ext cx="2782889" cy="2225017"/>
            <a:chOff x="0" y="0"/>
            <a:chExt cx="2782888" cy="2225015"/>
          </a:xfrm>
        </p:grpSpPr>
        <p:pic>
          <p:nvPicPr>
            <p:cNvPr id="9128" name="Picture 13" descr="Picture 1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36663" y="680445"/>
              <a:ext cx="1546226" cy="12398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129" name="Picture 14" descr="Picture 1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04485"/>
              <a:ext cx="1481138" cy="1117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130" name="Text Box 15"/>
            <p:cNvSpPr txBox="1"/>
            <p:nvPr/>
          </p:nvSpPr>
          <p:spPr>
            <a:xfrm>
              <a:off x="1487640" y="0"/>
              <a:ext cx="863610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i="1"/>
              </a:pPr>
              <a:r>
                <a:t>La/R </a:t>
              </a:r>
              <a:r>
                <a:rPr i="0"/>
                <a:t>~ 0</a:t>
              </a:r>
            </a:p>
          </p:txBody>
        </p:sp>
        <p:sp>
          <p:nvSpPr>
            <p:cNvPr id="9131" name="Text Box 16"/>
            <p:cNvSpPr txBox="1"/>
            <p:nvPr/>
          </p:nvSpPr>
          <p:spPr>
            <a:xfrm>
              <a:off x="1282382" y="1891928"/>
              <a:ext cx="933598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/>
              </a:lvl1pPr>
            </a:lstStyle>
            <a:p>
              <a:pPr/>
              <a:r>
                <a:t>La/R -&gt; 1</a:t>
              </a:r>
            </a:p>
          </p:txBody>
        </p:sp>
      </p:grpSp>
      <p:grpSp>
        <p:nvGrpSpPr>
          <p:cNvPr id="9140" name="Group 7"/>
          <p:cNvGrpSpPr/>
          <p:nvPr/>
        </p:nvGrpSpPr>
        <p:grpSpPr>
          <a:xfrm>
            <a:off x="8001633" y="1103084"/>
            <a:ext cx="3246939" cy="2849372"/>
            <a:chOff x="0" y="0"/>
            <a:chExt cx="3246937" cy="2849370"/>
          </a:xfrm>
        </p:grpSpPr>
        <p:sp>
          <p:nvSpPr>
            <p:cNvPr id="9133" name="Rectangle 61"/>
            <p:cNvSpPr txBox="1"/>
            <p:nvPr/>
          </p:nvSpPr>
          <p:spPr>
            <a:xfrm>
              <a:off x="173993" y="2548596"/>
              <a:ext cx="2415751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indent="-342900" algn="ctr">
                <a:lnSpc>
                  <a:spcPct val="85000"/>
                </a:lnSpc>
                <a:defRPr sz="1600">
                  <a:solidFill>
                    <a:srgbClr val="000099"/>
                  </a:solidFill>
                </a:defRPr>
              </a:pPr>
              <a:r>
                <a:t>traffic intensity = </a:t>
              </a:r>
              <a:r>
                <a:rPr i="1"/>
                <a:t>La/R</a:t>
              </a:r>
            </a:p>
          </p:txBody>
        </p:sp>
        <p:sp>
          <p:nvSpPr>
            <p:cNvPr id="9134" name="Rectangle 61"/>
            <p:cNvSpPr txBox="1"/>
            <p:nvPr/>
          </p:nvSpPr>
          <p:spPr>
            <a:xfrm rot="16200000">
              <a:off x="-1009176" y="1274752"/>
              <a:ext cx="2318946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342900" indent="-342900" algn="ctr">
                <a:lnSpc>
                  <a:spcPct val="85000"/>
                </a:lnSpc>
                <a:defRPr sz="1600">
                  <a:solidFill>
                    <a:srgbClr val="000099"/>
                  </a:solidFill>
                </a:defRPr>
              </a:lvl1pPr>
            </a:lstStyle>
            <a:p>
              <a:pPr/>
              <a:r>
                <a:t>average  queueing delay</a:t>
              </a:r>
            </a:p>
          </p:txBody>
        </p:sp>
        <p:sp>
          <p:nvSpPr>
            <p:cNvPr id="9135" name="Straight Connector 3"/>
            <p:cNvSpPr/>
            <p:nvPr/>
          </p:nvSpPr>
          <p:spPr>
            <a:xfrm>
              <a:off x="330508" y="2491118"/>
              <a:ext cx="2916430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136" name="Straight Connector 45"/>
            <p:cNvSpPr/>
            <p:nvPr/>
          </p:nvSpPr>
          <p:spPr>
            <a:xfrm flipV="1">
              <a:off x="317806" y="292764"/>
              <a:ext cx="1" cy="2204455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137" name="Freeform 6"/>
            <p:cNvSpPr/>
            <p:nvPr/>
          </p:nvSpPr>
          <p:spPr>
            <a:xfrm>
              <a:off x="330508" y="0"/>
              <a:ext cx="2362650" cy="24780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866" y="21593"/>
                    <a:pt x="3757" y="21562"/>
                    <a:pt x="5226" y="21487"/>
                  </a:cubicBezTo>
                  <a:cubicBezTo>
                    <a:pt x="6694" y="21412"/>
                    <a:pt x="13084" y="21223"/>
                    <a:pt x="15561" y="20130"/>
                  </a:cubicBezTo>
                  <a:cubicBezTo>
                    <a:pt x="18039" y="19037"/>
                    <a:pt x="19084" y="18283"/>
                    <a:pt x="20090" y="14928"/>
                  </a:cubicBezTo>
                  <a:cubicBezTo>
                    <a:pt x="21097" y="11573"/>
                    <a:pt x="21348" y="5786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138" name="Straight Connector 48"/>
            <p:cNvSpPr/>
            <p:nvPr/>
          </p:nvSpPr>
          <p:spPr>
            <a:xfrm flipV="1">
              <a:off x="2764848" y="286664"/>
              <a:ext cx="1" cy="2204455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139" name="Rectangle 61"/>
            <p:cNvSpPr txBox="1"/>
            <p:nvPr/>
          </p:nvSpPr>
          <p:spPr>
            <a:xfrm>
              <a:off x="2613980" y="2548777"/>
              <a:ext cx="347455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342900" indent="-342900" algn="ctr">
                <a:lnSpc>
                  <a:spcPct val="85000"/>
                </a:lnSpc>
                <a:defRPr sz="1600"/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9143" name="Group 34"/>
          <p:cNvGrpSpPr/>
          <p:nvPr/>
        </p:nvGrpSpPr>
        <p:grpSpPr>
          <a:xfrm>
            <a:off x="1245597" y="3314699"/>
            <a:ext cx="3355591" cy="445199"/>
            <a:chOff x="0" y="0"/>
            <a:chExt cx="3355589" cy="445197"/>
          </a:xfrm>
        </p:grpSpPr>
        <p:sp>
          <p:nvSpPr>
            <p:cNvPr id="9141" name="TextBox 36"/>
            <p:cNvSpPr txBox="1"/>
            <p:nvPr/>
          </p:nvSpPr>
          <p:spPr>
            <a:xfrm>
              <a:off x="977801" y="52728"/>
              <a:ext cx="2377789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service rate of bits</a:t>
              </a:r>
            </a:p>
          </p:txBody>
        </p:sp>
        <p:sp>
          <p:nvSpPr>
            <p:cNvPr id="9142" name="TextBox 30"/>
            <p:cNvSpPr txBox="1"/>
            <p:nvPr/>
          </p:nvSpPr>
          <p:spPr>
            <a:xfrm>
              <a:off x="0" y="0"/>
              <a:ext cx="297220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800"/>
              </a:lvl1pPr>
            </a:lstStyle>
            <a:p>
              <a:pPr/>
              <a:r>
                <a:t>R</a:t>
              </a:r>
            </a:p>
          </p:txBody>
        </p:sp>
      </p:grpSp>
      <p:grpSp>
        <p:nvGrpSpPr>
          <p:cNvPr id="9149" name="Group 27"/>
          <p:cNvGrpSpPr/>
          <p:nvPr/>
        </p:nvGrpSpPr>
        <p:grpSpPr>
          <a:xfrm>
            <a:off x="1111997" y="2847705"/>
            <a:ext cx="3390146" cy="444759"/>
            <a:chOff x="0" y="0"/>
            <a:chExt cx="3390144" cy="444757"/>
          </a:xfrm>
        </p:grpSpPr>
        <p:sp>
          <p:nvSpPr>
            <p:cNvPr id="9144" name="TextBox 29"/>
            <p:cNvSpPr txBox="1"/>
            <p:nvPr/>
          </p:nvSpPr>
          <p:spPr>
            <a:xfrm>
              <a:off x="1102845" y="36422"/>
              <a:ext cx="2287300" cy="392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arrival rate of bits</a:t>
              </a:r>
            </a:p>
          </p:txBody>
        </p:sp>
        <p:grpSp>
          <p:nvGrpSpPr>
            <p:cNvPr id="9148" name="Group 26"/>
            <p:cNvGrpSpPr/>
            <p:nvPr/>
          </p:nvGrpSpPr>
          <p:grpSpPr>
            <a:xfrm>
              <a:off x="-1" y="-1"/>
              <a:ext cx="599553" cy="444759"/>
              <a:chOff x="0" y="0"/>
              <a:chExt cx="599551" cy="444757"/>
            </a:xfrm>
          </p:grpSpPr>
          <p:sp>
            <p:nvSpPr>
              <p:cNvPr id="9145" name="TextBox 8"/>
              <p:cNvSpPr txBox="1"/>
              <p:nvPr/>
            </p:nvSpPr>
            <p:spPr>
              <a:xfrm>
                <a:off x="0" y="0"/>
                <a:ext cx="253638" cy="4447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i="1" sz="2800"/>
                </a:lvl1pPr>
              </a:lstStyle>
              <a:p>
                <a:pPr/>
                <a:r>
                  <a:t>L</a:t>
                </a:r>
              </a:p>
            </p:txBody>
          </p:sp>
          <p:sp>
            <p:nvSpPr>
              <p:cNvPr id="9146" name="TextBox 22"/>
              <p:cNvSpPr txBox="1"/>
              <p:nvPr/>
            </p:nvSpPr>
            <p:spPr>
              <a:xfrm>
                <a:off x="312576" y="0"/>
                <a:ext cx="286976" cy="4447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i="1" sz="2800"/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9147" name="TextBox 14"/>
              <p:cNvSpPr txBox="1"/>
              <p:nvPr/>
            </p:nvSpPr>
            <p:spPr>
              <a:xfrm>
                <a:off x="212645" y="35834"/>
                <a:ext cx="161849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i="1"/>
                </a:lvl1pPr>
              </a:lstStyle>
              <a:p>
                <a:pPr/>
                <a:r>
                  <a:t>.</a:t>
                </a:r>
              </a:p>
            </p:txBody>
          </p:sp>
        </p:grpSp>
      </p:grpSp>
      <p:grpSp>
        <p:nvGrpSpPr>
          <p:cNvPr id="9153" name="Group 41"/>
          <p:cNvGrpSpPr/>
          <p:nvPr/>
        </p:nvGrpSpPr>
        <p:grpSpPr>
          <a:xfrm>
            <a:off x="1204684" y="2981936"/>
            <a:ext cx="3323776" cy="497048"/>
            <a:chOff x="0" y="0"/>
            <a:chExt cx="3323775" cy="497046"/>
          </a:xfrm>
        </p:grpSpPr>
        <p:sp>
          <p:nvSpPr>
            <p:cNvPr id="9150" name="Straight Connector 32"/>
            <p:cNvSpPr/>
            <p:nvPr/>
          </p:nvSpPr>
          <p:spPr>
            <a:xfrm>
              <a:off x="1095482" y="356800"/>
              <a:ext cx="2228293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151" name="Straight Connector 10"/>
            <p:cNvSpPr/>
            <p:nvPr/>
          </p:nvSpPr>
          <p:spPr>
            <a:xfrm>
              <a:off x="0" y="360081"/>
              <a:ext cx="34834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152" name="TextBox 17"/>
            <p:cNvSpPr txBox="1"/>
            <p:nvPr/>
          </p:nvSpPr>
          <p:spPr>
            <a:xfrm>
              <a:off x="528838" y="0"/>
              <a:ext cx="547190" cy="497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i="1" sz="3200"/>
              </a:lvl1pPr>
            </a:lstStyle>
            <a:p>
              <a:pPr/>
              <a:r>
                <a:t>:</a:t>
              </a:r>
            </a:p>
          </p:txBody>
        </p:sp>
      </p:grpSp>
      <p:sp>
        <p:nvSpPr>
          <p:cNvPr id="9154" name="TextBox 24"/>
          <p:cNvSpPr txBox="1"/>
          <p:nvPr/>
        </p:nvSpPr>
        <p:spPr>
          <a:xfrm>
            <a:off x="5071357" y="2902856"/>
            <a:ext cx="1490599" cy="876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i="1" sz="2800">
                <a:solidFill>
                  <a:srgbClr val="0000A3"/>
                </a:solidFill>
              </a:defRPr>
            </a:pPr>
            <a:r>
              <a:t>“traffic </a:t>
            </a:r>
          </a:p>
          <a:p>
            <a:pPr algn="ctr">
              <a:defRPr i="1" sz="2800">
                <a:solidFill>
                  <a:srgbClr val="0000A3"/>
                </a:solidFill>
              </a:defRPr>
            </a:pPr>
            <a:r>
              <a:t>intensity”</a:t>
            </a:r>
          </a:p>
        </p:txBody>
      </p:sp>
      <p:sp>
        <p:nvSpPr>
          <p:cNvPr id="915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500"/>
                                        <p:tgtEl>
                                          <p:spTgt spid="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500"/>
                                        <p:tgtEl>
                                          <p:spTgt spid="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500"/>
                                        <p:tgtEl>
                                          <p:spTgt spid="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143" grpId="2"/>
      <p:bldP build="whole" bldLvl="1" animBg="1" rev="0" advAuto="0" spid="9127" grpId="5"/>
      <p:bldP build="whole" bldLvl="1" animBg="1" rev="0" advAuto="0" spid="9140" grpId="6"/>
      <p:bldP build="whole" bldLvl="1" animBg="1" rev="0" advAuto="0" spid="9153" grpId="3"/>
      <p:bldP build="whole" bldLvl="1" animBg="1" rev="0" advAuto="0" spid="9154" grpId="4"/>
      <p:bldP build="whole" bldLvl="1" animBg="1" rev="0" advAuto="0" spid="9132" grpId="7"/>
      <p:bldP build="whole" bldLvl="1" animBg="1" rev="0" advAuto="0" spid="9149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7" name="Line 38"/>
          <p:cNvSpPr/>
          <p:nvPr/>
        </p:nvSpPr>
        <p:spPr>
          <a:xfrm>
            <a:off x="2831406" y="5366286"/>
            <a:ext cx="469145" cy="315495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58" name="Line 105"/>
          <p:cNvSpPr/>
          <p:nvPr/>
        </p:nvSpPr>
        <p:spPr>
          <a:xfrm flipV="1">
            <a:off x="3691311" y="5467468"/>
            <a:ext cx="639910" cy="20796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170" name="Group 180"/>
          <p:cNvGrpSpPr/>
          <p:nvPr/>
        </p:nvGrpSpPr>
        <p:grpSpPr>
          <a:xfrm>
            <a:off x="3109054" y="5476714"/>
            <a:ext cx="860626" cy="472325"/>
            <a:chOff x="0" y="0"/>
            <a:chExt cx="860624" cy="472324"/>
          </a:xfrm>
        </p:grpSpPr>
        <p:grpSp>
          <p:nvGrpSpPr>
            <p:cNvPr id="9161" name="Freeform 181"/>
            <p:cNvGrpSpPr/>
            <p:nvPr/>
          </p:nvGrpSpPr>
          <p:grpSpPr>
            <a:xfrm>
              <a:off x="-1" y="139237"/>
              <a:ext cx="860626" cy="333088"/>
              <a:chOff x="0" y="0"/>
              <a:chExt cx="860624" cy="333087"/>
            </a:xfrm>
          </p:grpSpPr>
          <p:sp>
            <p:nvSpPr>
              <p:cNvPr id="9159" name="Shape"/>
              <p:cNvSpPr/>
              <p:nvPr/>
            </p:nvSpPr>
            <p:spPr>
              <a:xfrm>
                <a:off x="0" y="36259"/>
                <a:ext cx="860625" cy="2605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60" name="Text"/>
              <p:cNvSpPr txBox="1"/>
              <p:nvPr/>
            </p:nvSpPr>
            <p:spPr>
              <a:xfrm>
                <a:off x="48894" y="0"/>
                <a:ext cx="762836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9164" name="Oval 182"/>
            <p:cNvGrpSpPr/>
            <p:nvPr/>
          </p:nvGrpSpPr>
          <p:grpSpPr>
            <a:xfrm>
              <a:off x="495" y="-1"/>
              <a:ext cx="859583" cy="333089"/>
              <a:chOff x="0" y="0"/>
              <a:chExt cx="859582" cy="333087"/>
            </a:xfrm>
          </p:grpSpPr>
          <p:sp>
            <p:nvSpPr>
              <p:cNvPr id="9162" name="Oval"/>
              <p:cNvSpPr/>
              <p:nvPr/>
            </p:nvSpPr>
            <p:spPr>
              <a:xfrm>
                <a:off x="0" y="37554"/>
                <a:ext cx="859583" cy="257979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63" name="Text"/>
              <p:cNvSpPr txBox="1"/>
              <p:nvPr/>
            </p:nvSpPr>
            <p:spPr>
              <a:xfrm>
                <a:off x="174778" y="0"/>
                <a:ext cx="51002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9169" name="Group 183"/>
            <p:cNvGrpSpPr/>
            <p:nvPr/>
          </p:nvGrpSpPr>
          <p:grpSpPr>
            <a:xfrm>
              <a:off x="127638" y="70343"/>
              <a:ext cx="605189" cy="189560"/>
              <a:chOff x="0" y="0"/>
              <a:chExt cx="605188" cy="189558"/>
            </a:xfrm>
          </p:grpSpPr>
          <p:sp>
            <p:nvSpPr>
              <p:cNvPr id="9165" name="Freeform 184"/>
              <p:cNvSpPr/>
              <p:nvPr/>
            </p:nvSpPr>
            <p:spPr>
              <a:xfrm>
                <a:off x="16739" y="0"/>
                <a:ext cx="572497" cy="1061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66" name="Freeform 185"/>
              <p:cNvSpPr/>
              <p:nvPr/>
            </p:nvSpPr>
            <p:spPr>
              <a:xfrm>
                <a:off x="391440" y="90765"/>
                <a:ext cx="213749" cy="91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67" name="Freeform 186"/>
              <p:cNvSpPr/>
              <p:nvPr/>
            </p:nvSpPr>
            <p:spPr>
              <a:xfrm>
                <a:off x="0" y="90765"/>
                <a:ext cx="209885" cy="902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68" name="Freeform 187"/>
              <p:cNvSpPr/>
              <p:nvPr/>
            </p:nvSpPr>
            <p:spPr>
              <a:xfrm>
                <a:off x="72861" y="46150"/>
                <a:ext cx="456356" cy="1434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9171" name="Line 106"/>
          <p:cNvSpPr/>
          <p:nvPr/>
        </p:nvSpPr>
        <p:spPr>
          <a:xfrm>
            <a:off x="4626350" y="5451592"/>
            <a:ext cx="677551" cy="20796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72" name="Line 108"/>
          <p:cNvSpPr/>
          <p:nvPr/>
        </p:nvSpPr>
        <p:spPr>
          <a:xfrm flipH="1">
            <a:off x="4388222" y="5062654"/>
            <a:ext cx="661223" cy="2730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73" name="Line 291"/>
          <p:cNvSpPr/>
          <p:nvPr/>
        </p:nvSpPr>
        <p:spPr>
          <a:xfrm>
            <a:off x="4356474" y="5583354"/>
            <a:ext cx="318848" cy="3111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185" name="Group 171"/>
          <p:cNvGrpSpPr/>
          <p:nvPr/>
        </p:nvGrpSpPr>
        <p:grpSpPr>
          <a:xfrm>
            <a:off x="3957067" y="5166037"/>
            <a:ext cx="860625" cy="472325"/>
            <a:chOff x="0" y="0"/>
            <a:chExt cx="860624" cy="472324"/>
          </a:xfrm>
        </p:grpSpPr>
        <p:grpSp>
          <p:nvGrpSpPr>
            <p:cNvPr id="9176" name="Freeform 172"/>
            <p:cNvGrpSpPr/>
            <p:nvPr/>
          </p:nvGrpSpPr>
          <p:grpSpPr>
            <a:xfrm>
              <a:off x="-1" y="139237"/>
              <a:ext cx="860626" cy="333088"/>
              <a:chOff x="0" y="0"/>
              <a:chExt cx="860624" cy="333087"/>
            </a:xfrm>
          </p:grpSpPr>
          <p:sp>
            <p:nvSpPr>
              <p:cNvPr id="9174" name="Shape"/>
              <p:cNvSpPr/>
              <p:nvPr/>
            </p:nvSpPr>
            <p:spPr>
              <a:xfrm>
                <a:off x="0" y="36259"/>
                <a:ext cx="860625" cy="2605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75" name="Text"/>
              <p:cNvSpPr txBox="1"/>
              <p:nvPr/>
            </p:nvSpPr>
            <p:spPr>
              <a:xfrm>
                <a:off x="48894" y="0"/>
                <a:ext cx="762836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9179" name="Oval 173"/>
            <p:cNvGrpSpPr/>
            <p:nvPr/>
          </p:nvGrpSpPr>
          <p:grpSpPr>
            <a:xfrm>
              <a:off x="495" y="-1"/>
              <a:ext cx="859583" cy="333089"/>
              <a:chOff x="0" y="0"/>
              <a:chExt cx="859582" cy="333087"/>
            </a:xfrm>
          </p:grpSpPr>
          <p:sp>
            <p:nvSpPr>
              <p:cNvPr id="9177" name="Oval"/>
              <p:cNvSpPr/>
              <p:nvPr/>
            </p:nvSpPr>
            <p:spPr>
              <a:xfrm>
                <a:off x="0" y="37554"/>
                <a:ext cx="859583" cy="257979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78" name="Text"/>
              <p:cNvSpPr txBox="1"/>
              <p:nvPr/>
            </p:nvSpPr>
            <p:spPr>
              <a:xfrm>
                <a:off x="174778" y="0"/>
                <a:ext cx="51002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9184" name="Group 174"/>
            <p:cNvGrpSpPr/>
            <p:nvPr/>
          </p:nvGrpSpPr>
          <p:grpSpPr>
            <a:xfrm>
              <a:off x="127638" y="70343"/>
              <a:ext cx="605189" cy="189560"/>
              <a:chOff x="0" y="0"/>
              <a:chExt cx="605188" cy="189558"/>
            </a:xfrm>
          </p:grpSpPr>
          <p:sp>
            <p:nvSpPr>
              <p:cNvPr id="9180" name="Freeform 175"/>
              <p:cNvSpPr/>
              <p:nvPr/>
            </p:nvSpPr>
            <p:spPr>
              <a:xfrm>
                <a:off x="16739" y="0"/>
                <a:ext cx="572497" cy="1061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81" name="Freeform 176"/>
              <p:cNvSpPr/>
              <p:nvPr/>
            </p:nvSpPr>
            <p:spPr>
              <a:xfrm>
                <a:off x="391440" y="90765"/>
                <a:ext cx="213749" cy="91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82" name="Freeform 177"/>
              <p:cNvSpPr/>
              <p:nvPr/>
            </p:nvSpPr>
            <p:spPr>
              <a:xfrm>
                <a:off x="0" y="90765"/>
                <a:ext cx="209885" cy="902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83" name="Freeform 178"/>
              <p:cNvSpPr/>
              <p:nvPr/>
            </p:nvSpPr>
            <p:spPr>
              <a:xfrm>
                <a:off x="72861" y="46150"/>
                <a:ext cx="456356" cy="1434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9186" name="Line 113"/>
          <p:cNvSpPr/>
          <p:nvPr/>
        </p:nvSpPr>
        <p:spPr>
          <a:xfrm flipH="1">
            <a:off x="5602659" y="5511917"/>
            <a:ext cx="865760" cy="1444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87" name="Line 294"/>
          <p:cNvSpPr/>
          <p:nvPr/>
        </p:nvSpPr>
        <p:spPr>
          <a:xfrm flipH="1">
            <a:off x="4997822" y="5773854"/>
            <a:ext cx="487129" cy="15240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199" name="Group 163"/>
          <p:cNvGrpSpPr/>
          <p:nvPr/>
        </p:nvGrpSpPr>
        <p:grpSpPr>
          <a:xfrm>
            <a:off x="4985387" y="5506324"/>
            <a:ext cx="860626" cy="472325"/>
            <a:chOff x="0" y="0"/>
            <a:chExt cx="860624" cy="472324"/>
          </a:xfrm>
        </p:grpSpPr>
        <p:grpSp>
          <p:nvGrpSpPr>
            <p:cNvPr id="9190" name="Freeform 164"/>
            <p:cNvGrpSpPr/>
            <p:nvPr/>
          </p:nvGrpSpPr>
          <p:grpSpPr>
            <a:xfrm>
              <a:off x="-1" y="139237"/>
              <a:ext cx="860626" cy="333088"/>
              <a:chOff x="0" y="0"/>
              <a:chExt cx="860624" cy="333087"/>
            </a:xfrm>
          </p:grpSpPr>
          <p:sp>
            <p:nvSpPr>
              <p:cNvPr id="9188" name="Shape"/>
              <p:cNvSpPr/>
              <p:nvPr/>
            </p:nvSpPr>
            <p:spPr>
              <a:xfrm>
                <a:off x="0" y="36259"/>
                <a:ext cx="860625" cy="2605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89" name="Text"/>
              <p:cNvSpPr txBox="1"/>
              <p:nvPr/>
            </p:nvSpPr>
            <p:spPr>
              <a:xfrm>
                <a:off x="48894" y="0"/>
                <a:ext cx="762836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9193" name="Oval 165"/>
            <p:cNvGrpSpPr/>
            <p:nvPr/>
          </p:nvGrpSpPr>
          <p:grpSpPr>
            <a:xfrm>
              <a:off x="495" y="-1"/>
              <a:ext cx="859583" cy="333089"/>
              <a:chOff x="0" y="0"/>
              <a:chExt cx="859582" cy="333087"/>
            </a:xfrm>
          </p:grpSpPr>
          <p:sp>
            <p:nvSpPr>
              <p:cNvPr id="9191" name="Oval"/>
              <p:cNvSpPr/>
              <p:nvPr/>
            </p:nvSpPr>
            <p:spPr>
              <a:xfrm>
                <a:off x="0" y="37554"/>
                <a:ext cx="859583" cy="257979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92" name="Text"/>
              <p:cNvSpPr txBox="1"/>
              <p:nvPr/>
            </p:nvSpPr>
            <p:spPr>
              <a:xfrm>
                <a:off x="174778" y="0"/>
                <a:ext cx="51002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9198" name="Group 166"/>
            <p:cNvGrpSpPr/>
            <p:nvPr/>
          </p:nvGrpSpPr>
          <p:grpSpPr>
            <a:xfrm>
              <a:off x="127638" y="70343"/>
              <a:ext cx="605189" cy="189560"/>
              <a:chOff x="0" y="0"/>
              <a:chExt cx="605188" cy="189558"/>
            </a:xfrm>
          </p:grpSpPr>
          <p:sp>
            <p:nvSpPr>
              <p:cNvPr id="9194" name="Freeform 167"/>
              <p:cNvSpPr/>
              <p:nvPr/>
            </p:nvSpPr>
            <p:spPr>
              <a:xfrm>
                <a:off x="16739" y="0"/>
                <a:ext cx="572497" cy="1061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95" name="Freeform 168"/>
              <p:cNvSpPr/>
              <p:nvPr/>
            </p:nvSpPr>
            <p:spPr>
              <a:xfrm>
                <a:off x="391440" y="90765"/>
                <a:ext cx="213749" cy="91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96" name="Freeform 169"/>
              <p:cNvSpPr/>
              <p:nvPr/>
            </p:nvSpPr>
            <p:spPr>
              <a:xfrm>
                <a:off x="0" y="90765"/>
                <a:ext cx="209885" cy="902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197" name="Freeform 170"/>
              <p:cNvSpPr/>
              <p:nvPr/>
            </p:nvSpPr>
            <p:spPr>
              <a:xfrm>
                <a:off x="72861" y="46150"/>
                <a:ext cx="456356" cy="1434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9200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“Real” Internet delays and routes</a:t>
            </a:r>
          </a:p>
        </p:txBody>
      </p:sp>
      <p:sp>
        <p:nvSpPr>
          <p:cNvPr id="9201" name="Rectangle 5"/>
          <p:cNvSpPr txBox="1"/>
          <p:nvPr/>
        </p:nvSpPr>
        <p:spPr>
          <a:xfrm>
            <a:off x="1025900" y="1324511"/>
            <a:ext cx="10251390" cy="1885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81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3200"/>
            </a:pPr>
            <a:r>
              <a:t>what do “real” Internet delay &amp; loss look like? </a:t>
            </a:r>
            <a:endParaRPr sz="2800"/>
          </a:p>
          <a:p>
            <a:pPr marL="287338" indent="-287338">
              <a:lnSpc>
                <a:spcPct val="81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b="1" sz="2800">
                <a:solidFill>
                  <a:srgbClr val="C00000"/>
                </a:solidFill>
              </a:defRPr>
            </a:pPr>
            <a:r>
              <a:t>traceroute</a:t>
            </a:r>
            <a:r>
              <a:rPr b="0" sz="3200">
                <a:solidFill>
                  <a:srgbClr val="FF0000"/>
                </a:solidFill>
              </a:rPr>
              <a:t> </a:t>
            </a:r>
            <a:r>
              <a:rPr b="0" sz="3200">
                <a:solidFill>
                  <a:srgbClr val="000000"/>
                </a:solidFill>
              </a:rPr>
              <a:t>program: provides delay measurement from source to router along end-end Internet path towards destination.  For all </a:t>
            </a:r>
            <a:r>
              <a:rPr b="0" i="1" sz="3200">
                <a:solidFill>
                  <a:srgbClr val="000000"/>
                </a:solidFill>
              </a:rPr>
              <a:t>i:</a:t>
            </a:r>
          </a:p>
        </p:txBody>
      </p:sp>
      <p:sp>
        <p:nvSpPr>
          <p:cNvPr id="9202" name="Line 260"/>
          <p:cNvSpPr/>
          <p:nvPr/>
        </p:nvSpPr>
        <p:spPr>
          <a:xfrm>
            <a:off x="6721850" y="5476992"/>
            <a:ext cx="677551" cy="207962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03" name="Line 261"/>
          <p:cNvSpPr/>
          <p:nvPr/>
        </p:nvSpPr>
        <p:spPr>
          <a:xfrm flipH="1">
            <a:off x="7660060" y="5423017"/>
            <a:ext cx="777192" cy="27781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04" name="Line 292"/>
          <p:cNvSpPr/>
          <p:nvPr/>
        </p:nvSpPr>
        <p:spPr>
          <a:xfrm>
            <a:off x="6280524" y="5170604"/>
            <a:ext cx="318848" cy="3111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05" name="Line 295"/>
          <p:cNvSpPr/>
          <p:nvPr/>
        </p:nvSpPr>
        <p:spPr>
          <a:xfrm>
            <a:off x="5394926" y="5277472"/>
            <a:ext cx="8858" cy="2603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06" name="Text Box 300"/>
          <p:cNvSpPr txBox="1"/>
          <p:nvPr/>
        </p:nvSpPr>
        <p:spPr>
          <a:xfrm>
            <a:off x="3044880" y="5135679"/>
            <a:ext cx="130569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3 probes</a:t>
            </a:r>
          </a:p>
        </p:txBody>
      </p:sp>
      <p:sp>
        <p:nvSpPr>
          <p:cNvPr id="9207" name="Text Box 302"/>
          <p:cNvSpPr txBox="1"/>
          <p:nvPr/>
        </p:nvSpPr>
        <p:spPr>
          <a:xfrm>
            <a:off x="3659244" y="5696067"/>
            <a:ext cx="130569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3 probes</a:t>
            </a:r>
          </a:p>
        </p:txBody>
      </p:sp>
      <p:sp>
        <p:nvSpPr>
          <p:cNvPr id="9208" name="Text Box 304"/>
          <p:cNvSpPr txBox="1"/>
          <p:nvPr/>
        </p:nvSpPr>
        <p:spPr>
          <a:xfrm>
            <a:off x="4888420" y="5044156"/>
            <a:ext cx="130569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3 probes</a:t>
            </a:r>
          </a:p>
        </p:txBody>
      </p:sp>
      <p:grpSp>
        <p:nvGrpSpPr>
          <p:cNvPr id="9211" name="Group 100"/>
          <p:cNvGrpSpPr/>
          <p:nvPr/>
        </p:nvGrpSpPr>
        <p:grpSpPr>
          <a:xfrm>
            <a:off x="1934728" y="5072179"/>
            <a:ext cx="1027082" cy="688976"/>
            <a:chOff x="0" y="0"/>
            <a:chExt cx="1027081" cy="688975"/>
          </a:xfrm>
        </p:grpSpPr>
        <p:pic>
          <p:nvPicPr>
            <p:cNvPr id="9209" name="Picture 101" descr="Picture 10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1027082" cy="6889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210" name="Freeform 102"/>
            <p:cNvSpPr/>
            <p:nvPr/>
          </p:nvSpPr>
          <p:spPr>
            <a:xfrm flipH="1">
              <a:off x="437634" y="66091"/>
              <a:ext cx="499408" cy="3154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214" name="Group 103"/>
          <p:cNvGrpSpPr/>
          <p:nvPr/>
        </p:nvGrpSpPr>
        <p:grpSpPr>
          <a:xfrm>
            <a:off x="8177586" y="5110279"/>
            <a:ext cx="1051755" cy="669926"/>
            <a:chOff x="0" y="0"/>
            <a:chExt cx="1051754" cy="669925"/>
          </a:xfrm>
        </p:grpSpPr>
        <p:pic>
          <p:nvPicPr>
            <p:cNvPr id="9212" name="Picture 104" descr="Picture 10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051755" cy="6699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213" name="Freeform 105"/>
            <p:cNvSpPr/>
            <p:nvPr/>
          </p:nvSpPr>
          <p:spPr>
            <a:xfrm>
              <a:off x="92202" y="64264"/>
              <a:ext cx="511405" cy="3067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215" name="Freeform 303"/>
          <p:cNvSpPr/>
          <p:nvPr/>
        </p:nvSpPr>
        <p:spPr>
          <a:xfrm>
            <a:off x="2868985" y="5359489"/>
            <a:ext cx="3101109" cy="3938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4" h="21097" fill="norm" stroke="1" extrusionOk="0">
                <a:moveTo>
                  <a:pt x="1159" y="2382"/>
                </a:moveTo>
                <a:cubicBezTo>
                  <a:pt x="2090" y="766"/>
                  <a:pt x="3051" y="14288"/>
                  <a:pt x="4942" y="14288"/>
                </a:cubicBezTo>
                <a:cubicBezTo>
                  <a:pt x="7032" y="13862"/>
                  <a:pt x="10937" y="-169"/>
                  <a:pt x="13668" y="1"/>
                </a:cubicBezTo>
                <a:cubicBezTo>
                  <a:pt x="16398" y="171"/>
                  <a:pt x="21600" y="10206"/>
                  <a:pt x="21356" y="15308"/>
                </a:cubicBezTo>
                <a:cubicBezTo>
                  <a:pt x="21112" y="20411"/>
                  <a:pt x="16368" y="5188"/>
                  <a:pt x="13668" y="6124"/>
                </a:cubicBezTo>
                <a:cubicBezTo>
                  <a:pt x="10968" y="7059"/>
                  <a:pt x="7459" y="21431"/>
                  <a:pt x="5186" y="21091"/>
                </a:cubicBezTo>
                <a:cubicBezTo>
                  <a:pt x="2914" y="20751"/>
                  <a:pt x="946" y="2552"/>
                  <a:pt x="0" y="4083"/>
                </a:cubicBezTo>
              </a:path>
            </a:pathLst>
          </a:cu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216" name="Freeform 299"/>
          <p:cNvSpPr/>
          <p:nvPr/>
        </p:nvSpPr>
        <p:spPr>
          <a:xfrm>
            <a:off x="2900735" y="5392854"/>
            <a:ext cx="515443" cy="3616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18640" fill="norm" stroke="1" extrusionOk="0">
                <a:moveTo>
                  <a:pt x="4909" y="0"/>
                </a:moveTo>
                <a:cubicBezTo>
                  <a:pt x="7036" y="2536"/>
                  <a:pt x="21600" y="14400"/>
                  <a:pt x="18655" y="18000"/>
                </a:cubicBezTo>
                <a:cubicBezTo>
                  <a:pt x="15709" y="21600"/>
                  <a:pt x="4909" y="8918"/>
                  <a:pt x="0" y="7200"/>
                </a:cubicBezTo>
              </a:path>
            </a:pathLst>
          </a:cu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217" name="Freeform 301"/>
          <p:cNvSpPr/>
          <p:nvPr/>
        </p:nvSpPr>
        <p:spPr>
          <a:xfrm>
            <a:off x="2894387" y="5402055"/>
            <a:ext cx="1818919" cy="37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24" h="17066" fill="norm" stroke="1" extrusionOk="0">
                <a:moveTo>
                  <a:pt x="1936" y="1170"/>
                </a:moveTo>
                <a:cubicBezTo>
                  <a:pt x="3490" y="-202"/>
                  <a:pt x="5094" y="11284"/>
                  <a:pt x="8253" y="11284"/>
                </a:cubicBezTo>
                <a:cubicBezTo>
                  <a:pt x="11411" y="11284"/>
                  <a:pt x="20174" y="-4320"/>
                  <a:pt x="20887" y="1170"/>
                </a:cubicBezTo>
                <a:cubicBezTo>
                  <a:pt x="21600" y="6661"/>
                  <a:pt x="11946" y="13379"/>
                  <a:pt x="8660" y="17063"/>
                </a:cubicBezTo>
                <a:cubicBezTo>
                  <a:pt x="5171" y="17280"/>
                  <a:pt x="1579" y="1315"/>
                  <a:pt x="0" y="2615"/>
                </a:cubicBezTo>
              </a:path>
            </a:pathLst>
          </a:cu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229" name="Group 155"/>
          <p:cNvGrpSpPr/>
          <p:nvPr/>
        </p:nvGrpSpPr>
        <p:grpSpPr>
          <a:xfrm>
            <a:off x="6096000" y="5192109"/>
            <a:ext cx="860626" cy="472325"/>
            <a:chOff x="0" y="0"/>
            <a:chExt cx="860624" cy="472324"/>
          </a:xfrm>
        </p:grpSpPr>
        <p:grpSp>
          <p:nvGrpSpPr>
            <p:cNvPr id="9220" name="Freeform 156"/>
            <p:cNvGrpSpPr/>
            <p:nvPr/>
          </p:nvGrpSpPr>
          <p:grpSpPr>
            <a:xfrm>
              <a:off x="-1" y="139237"/>
              <a:ext cx="860626" cy="333088"/>
              <a:chOff x="0" y="0"/>
              <a:chExt cx="860624" cy="333087"/>
            </a:xfrm>
          </p:grpSpPr>
          <p:sp>
            <p:nvSpPr>
              <p:cNvPr id="9218" name="Shape"/>
              <p:cNvSpPr/>
              <p:nvPr/>
            </p:nvSpPr>
            <p:spPr>
              <a:xfrm>
                <a:off x="0" y="36259"/>
                <a:ext cx="860625" cy="2605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19" name="Text"/>
              <p:cNvSpPr txBox="1"/>
              <p:nvPr/>
            </p:nvSpPr>
            <p:spPr>
              <a:xfrm>
                <a:off x="48894" y="0"/>
                <a:ext cx="762836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9223" name="Oval 157"/>
            <p:cNvGrpSpPr/>
            <p:nvPr/>
          </p:nvGrpSpPr>
          <p:grpSpPr>
            <a:xfrm>
              <a:off x="495" y="-1"/>
              <a:ext cx="859583" cy="333089"/>
              <a:chOff x="0" y="0"/>
              <a:chExt cx="859582" cy="333087"/>
            </a:xfrm>
          </p:grpSpPr>
          <p:sp>
            <p:nvSpPr>
              <p:cNvPr id="9221" name="Oval"/>
              <p:cNvSpPr/>
              <p:nvPr/>
            </p:nvSpPr>
            <p:spPr>
              <a:xfrm>
                <a:off x="0" y="37554"/>
                <a:ext cx="859583" cy="257979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22" name="Text"/>
              <p:cNvSpPr txBox="1"/>
              <p:nvPr/>
            </p:nvSpPr>
            <p:spPr>
              <a:xfrm>
                <a:off x="174778" y="0"/>
                <a:ext cx="510027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9228" name="Group 158"/>
            <p:cNvGrpSpPr/>
            <p:nvPr/>
          </p:nvGrpSpPr>
          <p:grpSpPr>
            <a:xfrm>
              <a:off x="127638" y="70343"/>
              <a:ext cx="605189" cy="189560"/>
              <a:chOff x="0" y="0"/>
              <a:chExt cx="605188" cy="189558"/>
            </a:xfrm>
          </p:grpSpPr>
          <p:sp>
            <p:nvSpPr>
              <p:cNvPr id="9224" name="Freeform 159"/>
              <p:cNvSpPr/>
              <p:nvPr/>
            </p:nvSpPr>
            <p:spPr>
              <a:xfrm>
                <a:off x="16739" y="0"/>
                <a:ext cx="572497" cy="1061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25" name="Freeform 160"/>
              <p:cNvSpPr/>
              <p:nvPr/>
            </p:nvSpPr>
            <p:spPr>
              <a:xfrm>
                <a:off x="391440" y="90765"/>
                <a:ext cx="213749" cy="913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26" name="Freeform 161"/>
              <p:cNvSpPr/>
              <p:nvPr/>
            </p:nvSpPr>
            <p:spPr>
              <a:xfrm>
                <a:off x="0" y="90765"/>
                <a:ext cx="209885" cy="902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27" name="Freeform 162"/>
              <p:cNvSpPr/>
              <p:nvPr/>
            </p:nvSpPr>
            <p:spPr>
              <a:xfrm>
                <a:off x="72861" y="46150"/>
                <a:ext cx="456356" cy="1434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9230" name="Rectangle 5"/>
          <p:cNvSpPr txBox="1"/>
          <p:nvPr/>
        </p:nvSpPr>
        <p:spPr>
          <a:xfrm>
            <a:off x="955651" y="3067364"/>
            <a:ext cx="10251391" cy="172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lvl="1" marL="682625" indent="-225425">
              <a:lnSpc>
                <a:spcPct val="81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sends three packets that will reach router </a:t>
            </a:r>
            <a:r>
              <a:rPr i="1"/>
              <a:t>i</a:t>
            </a:r>
            <a:r>
              <a:t> on path towards destination (with time-to-live field value of </a:t>
            </a:r>
            <a:r>
              <a:rPr i="1"/>
              <a:t>i</a:t>
            </a:r>
            <a:r>
              <a:t>)</a:t>
            </a:r>
            <a:endParaRPr sz="2400"/>
          </a:p>
          <a:p>
            <a:pPr lvl="1" marL="682625" indent="-225425">
              <a:lnSpc>
                <a:spcPct val="81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router </a:t>
            </a:r>
            <a:r>
              <a:rPr i="1"/>
              <a:t>i</a:t>
            </a:r>
            <a:r>
              <a:t> will return packets to sender</a:t>
            </a:r>
            <a:endParaRPr sz="2400"/>
          </a:p>
          <a:p>
            <a:pPr lvl="1" marL="682625" indent="-225425">
              <a:lnSpc>
                <a:spcPct val="81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sender measures time interval between transmission and reply</a:t>
            </a:r>
          </a:p>
        </p:txBody>
      </p:sp>
      <p:sp>
        <p:nvSpPr>
          <p:cNvPr id="9231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230" grpId="1"/>
      <p:bldP build="whole" bldLvl="1" animBg="1" rev="0" advAuto="0" spid="9207" grpId="5"/>
      <p:bldP build="whole" bldLvl="1" animBg="1" rev="0" advAuto="0" spid="9216" grpId="2"/>
      <p:bldP build="whole" bldLvl="1" animBg="1" rev="0" advAuto="0" spid="9217" grpId="4"/>
      <p:bldP build="whole" bldLvl="1" animBg="1" rev="0" advAuto="0" spid="9208" grpId="7"/>
      <p:bldP build="whole" bldLvl="1" animBg="1" rev="0" advAuto="0" spid="9206" grpId="3"/>
      <p:bldP build="whole" bldLvl="1" animBg="1" rev="0" advAuto="0" spid="9215" grpId="6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3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Real Internet delays and routes</a:t>
            </a:r>
          </a:p>
        </p:txBody>
      </p:sp>
      <p:sp>
        <p:nvSpPr>
          <p:cNvPr id="9234" name="Text Box 4"/>
          <p:cNvSpPr txBox="1"/>
          <p:nvPr/>
        </p:nvSpPr>
        <p:spPr>
          <a:xfrm>
            <a:off x="1709214" y="2282978"/>
            <a:ext cx="8138161" cy="3737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  cs-gw (128.119.240.254)  1 ms  1 ms  2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2  border1-rt-fa5-1-0.gw.umass.edu (128.119.3.145)  1 ms  1 ms  2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3  cht-vbns.gw.umass.edu (128.119.3.130)  6 ms 5 ms 5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4  jn1-at1-0-0-19.wor.vbns.net (204.147.132.129)  16 ms 11 ms 13 ms 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5  jn1-so7-0-0-0.wae.vbns.net (204.147.136.136)  21 ms 18 ms 18 ms 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6  abilene-vbns.abilene.ucaid.edu (198.32.11.9)  22 ms  18 ms  22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7  nycm-wash.abilene.ucaid.edu (198.32.8.46)  22 ms  22 ms  22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8  62.40.103.253 (62.40.103.253)  104 ms 109 ms 106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9  de2-1.de1.de.geant.net (62.40.96.129)  109 ms 102 ms 104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10  de.fr1.fr.geant.net (62.40.96.50)  113 ms 121 ms 114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11  renater-gw.fr1.fr.geant.net (62.40.103.54)  112 ms  114 ms  112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12  nio-n2.cssi.renater.fr (193.51.206.13)  111 ms  114 ms  116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13  nice.cssi.renater.fr (195.220.98.102)  123 ms  125 ms  124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14  r3t2-nice.cssi.renater.fr (195.220.98.110)  126 ms  126 ms  124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15  eurecom-valbonne.r3t2.ft.net (193.48.50.54)  135 ms  128 ms  133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16  194.214.211.25 (194.214.211.25)  126 ms  128 ms  126 ms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17  * * *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18  * * *</a:t>
            </a:r>
            <a:endParaRPr sz="2400"/>
          </a:p>
          <a:p>
            <a:pPr marL="457200" indent="-457200">
              <a:lnSpc>
                <a:spcPct val="8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19  fantasia.eurecom.fr (193.55.113.142)  132 ms  128 ms  136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</a:p>
        </p:txBody>
      </p:sp>
      <p:sp>
        <p:nvSpPr>
          <p:cNvPr id="9235" name="Text Box 5"/>
          <p:cNvSpPr txBox="1"/>
          <p:nvPr/>
        </p:nvSpPr>
        <p:spPr>
          <a:xfrm>
            <a:off x="1729853" y="1091176"/>
            <a:ext cx="810164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solidFill>
                  <a:srgbClr val="CC0000"/>
                </a:solidFill>
              </a:defRPr>
            </a:pPr>
            <a:r>
              <a:t>traceroute:</a:t>
            </a:r>
            <a:r>
              <a:rPr>
                <a:solidFill>
                  <a:srgbClr val="000000"/>
                </a:solidFill>
              </a:rPr>
              <a:t> gaia.cs.umass.edu to www.eurecom.fr</a:t>
            </a:r>
          </a:p>
        </p:txBody>
      </p:sp>
      <p:sp>
        <p:nvSpPr>
          <p:cNvPr id="9236" name="TextBox 1"/>
          <p:cNvSpPr txBox="1"/>
          <p:nvPr/>
        </p:nvSpPr>
        <p:spPr>
          <a:xfrm>
            <a:off x="1750490" y="6259664"/>
            <a:ext cx="6380595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* Do some traceroutes from exotic countries at www.traceroute.org</a:t>
            </a:r>
          </a:p>
        </p:txBody>
      </p:sp>
      <p:grpSp>
        <p:nvGrpSpPr>
          <p:cNvPr id="9239" name="Group 10"/>
          <p:cNvGrpSpPr/>
          <p:nvPr/>
        </p:nvGrpSpPr>
        <p:grpSpPr>
          <a:xfrm>
            <a:off x="2464209" y="5464533"/>
            <a:ext cx="7247975" cy="340183"/>
            <a:chOff x="0" y="0"/>
            <a:chExt cx="7247973" cy="340181"/>
          </a:xfrm>
        </p:grpSpPr>
        <p:sp>
          <p:nvSpPr>
            <p:cNvPr id="9237" name="Text Box 12"/>
            <p:cNvSpPr txBox="1"/>
            <p:nvPr/>
          </p:nvSpPr>
          <p:spPr>
            <a:xfrm>
              <a:off x="1052914" y="0"/>
              <a:ext cx="6195061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>
                  <a:solidFill>
                    <a:srgbClr val="CC0000"/>
                  </a:solidFill>
                </a:defRPr>
              </a:lvl1pPr>
            </a:lstStyle>
            <a:p>
              <a:pPr/>
              <a:r>
                <a:t>* means no response (probe lost, router not replying)</a:t>
              </a:r>
            </a:p>
          </p:txBody>
        </p:sp>
        <p:sp>
          <p:nvSpPr>
            <p:cNvPr id="9238" name="Straight Arrow Connector 22"/>
            <p:cNvSpPr/>
            <p:nvPr/>
          </p:nvSpPr>
          <p:spPr>
            <a:xfrm flipH="1" flipV="1">
              <a:off x="0" y="126315"/>
              <a:ext cx="1007195" cy="1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246" name="Group 4"/>
          <p:cNvGrpSpPr/>
          <p:nvPr/>
        </p:nvGrpSpPr>
        <p:grpSpPr>
          <a:xfrm>
            <a:off x="1915885" y="1596609"/>
            <a:ext cx="9408808" cy="899849"/>
            <a:chOff x="0" y="0"/>
            <a:chExt cx="9408806" cy="899847"/>
          </a:xfrm>
        </p:grpSpPr>
        <p:sp>
          <p:nvSpPr>
            <p:cNvPr id="9240" name="Text Box 7"/>
            <p:cNvSpPr txBox="1"/>
            <p:nvPr/>
          </p:nvSpPr>
          <p:spPr>
            <a:xfrm>
              <a:off x="3562996" y="0"/>
              <a:ext cx="5845811" cy="607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85000"/>
                </a:lnSpc>
                <a:defRPr sz="2000">
                  <a:solidFill>
                    <a:srgbClr val="CC0000"/>
                  </a:solidFill>
                </a:defRPr>
              </a:pPr>
              <a:r>
                <a:t>3 delay measurements from 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>
                <a:lnSpc>
                  <a:spcPct val="85000"/>
                </a:lnSpc>
                <a:defRPr>
                  <a:solidFill>
                    <a:srgbClr val="CC0000"/>
                  </a:solidFill>
                </a:defRPr>
              </a:pPr>
              <a:r>
                <a:t>gaia.cs.umass.edu </a:t>
              </a:r>
              <a:r>
                <a:rPr sz="2000"/>
                <a:t>to </a:t>
              </a:r>
              <a:r>
                <a:t>cs-gw.cs.umass.edu </a:t>
              </a:r>
            </a:p>
          </p:txBody>
        </p:sp>
        <p:sp>
          <p:nvSpPr>
            <p:cNvPr id="9241" name="Line 8"/>
            <p:cNvSpPr/>
            <p:nvPr/>
          </p:nvSpPr>
          <p:spPr>
            <a:xfrm flipV="1">
              <a:off x="2514622" y="313305"/>
              <a:ext cx="671513" cy="412751"/>
            </a:xfrm>
            <a:prstGeom prst="line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242" name="Line 9"/>
            <p:cNvSpPr/>
            <p:nvPr/>
          </p:nvSpPr>
          <p:spPr>
            <a:xfrm flipV="1">
              <a:off x="3054372" y="302193"/>
              <a:ext cx="139701" cy="404813"/>
            </a:xfrm>
            <a:prstGeom prst="line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243" name="Line 10"/>
            <p:cNvSpPr/>
            <p:nvPr/>
          </p:nvSpPr>
          <p:spPr>
            <a:xfrm flipH="1" flipV="1">
              <a:off x="3189309" y="311718"/>
              <a:ext cx="366714" cy="390526"/>
            </a:xfrm>
            <a:prstGeom prst="line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244" name="Straight Arrow Connector 24"/>
            <p:cNvSpPr/>
            <p:nvPr/>
          </p:nvSpPr>
          <p:spPr>
            <a:xfrm flipH="1" flipV="1">
              <a:off x="3186134" y="311718"/>
              <a:ext cx="512013" cy="1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245" name="Rectangle 2"/>
            <p:cNvSpPr/>
            <p:nvPr/>
          </p:nvSpPr>
          <p:spPr>
            <a:xfrm>
              <a:off x="0" y="711161"/>
              <a:ext cx="638629" cy="188687"/>
            </a:xfrm>
            <a:prstGeom prst="rect">
              <a:avLst/>
            </a:prstGeom>
            <a:solidFill>
              <a:srgbClr val="FFFF00">
                <a:alpha val="38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9250" name="Group 7"/>
          <p:cNvGrpSpPr/>
          <p:nvPr/>
        </p:nvGrpSpPr>
        <p:grpSpPr>
          <a:xfrm>
            <a:off x="1959428" y="2305498"/>
            <a:ext cx="10260511" cy="607671"/>
            <a:chOff x="0" y="0"/>
            <a:chExt cx="10260509" cy="607670"/>
          </a:xfrm>
        </p:grpSpPr>
        <p:sp>
          <p:nvSpPr>
            <p:cNvPr id="9247" name="Text Box 7"/>
            <p:cNvSpPr txBox="1"/>
            <p:nvPr/>
          </p:nvSpPr>
          <p:spPr>
            <a:xfrm>
              <a:off x="6265857" y="0"/>
              <a:ext cx="3994653" cy="6076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85000"/>
                </a:lnSpc>
                <a:defRPr sz="2000">
                  <a:solidFill>
                    <a:srgbClr val="CC0000"/>
                  </a:solidFill>
                </a:defRPr>
              </a:pPr>
              <a:r>
                <a:t>3 delay measurements</a:t>
              </a:r>
              <a:endParaRPr sz="2400">
                <a:latin typeface="Arial"/>
                <a:ea typeface="Arial"/>
                <a:cs typeface="Arial"/>
                <a:sym typeface="Arial"/>
              </a:endParaRPr>
            </a:p>
            <a:p>
              <a:pPr>
                <a:lnSpc>
                  <a:spcPct val="85000"/>
                </a:lnSpc>
                <a:defRPr sz="2000">
                  <a:solidFill>
                    <a:srgbClr val="CC0000"/>
                  </a:solidFill>
                </a:defRPr>
              </a:pPr>
              <a:r>
                <a:t>to </a:t>
              </a:r>
              <a:r>
                <a:rPr sz="1800"/>
                <a:t>border1-rt-fa5-1-0.gw.umass.edu </a:t>
              </a:r>
            </a:p>
          </p:txBody>
        </p:sp>
        <p:sp>
          <p:nvSpPr>
            <p:cNvPr id="9248" name="Straight Arrow Connector 3"/>
            <p:cNvSpPr/>
            <p:nvPr/>
          </p:nvSpPr>
          <p:spPr>
            <a:xfrm flipH="1" flipV="1">
              <a:off x="6176711" y="286262"/>
              <a:ext cx="738961" cy="1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249" name="Rectangle 6"/>
            <p:cNvSpPr/>
            <p:nvPr/>
          </p:nvSpPr>
          <p:spPr>
            <a:xfrm>
              <a:off x="0" y="219987"/>
              <a:ext cx="2975429" cy="159657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9256" name="Group 12"/>
          <p:cNvGrpSpPr/>
          <p:nvPr/>
        </p:nvGrpSpPr>
        <p:grpSpPr>
          <a:xfrm>
            <a:off x="7046686" y="4088438"/>
            <a:ext cx="4381839" cy="607671"/>
            <a:chOff x="0" y="0"/>
            <a:chExt cx="4381837" cy="607670"/>
          </a:xfrm>
        </p:grpSpPr>
        <p:grpSp>
          <p:nvGrpSpPr>
            <p:cNvPr id="9253" name="Group 9"/>
            <p:cNvGrpSpPr/>
            <p:nvPr/>
          </p:nvGrpSpPr>
          <p:grpSpPr>
            <a:xfrm>
              <a:off x="1089454" y="0"/>
              <a:ext cx="3292384" cy="607671"/>
              <a:chOff x="0" y="0"/>
              <a:chExt cx="3292383" cy="607670"/>
            </a:xfrm>
          </p:grpSpPr>
          <p:sp>
            <p:nvSpPr>
              <p:cNvPr id="9251" name="Text Box 7"/>
              <p:cNvSpPr txBox="1"/>
              <p:nvPr/>
            </p:nvSpPr>
            <p:spPr>
              <a:xfrm>
                <a:off x="640623" y="0"/>
                <a:ext cx="2651761" cy="6076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lnSpc>
                    <a:spcPct val="85000"/>
                  </a:lnSpc>
                  <a:defRPr sz="2000">
                    <a:solidFill>
                      <a:srgbClr val="CC0000"/>
                    </a:solidFill>
                  </a:defRPr>
                </a:pPr>
                <a:r>
                  <a:t>looks like delays </a:t>
                </a:r>
                <a:r>
                  <a:rPr i="1"/>
                  <a:t>decrease</a:t>
                </a:r>
                <a:r>
                  <a:t>! Why?</a:t>
                </a:r>
              </a:p>
            </p:txBody>
          </p:sp>
          <p:sp>
            <p:nvSpPr>
              <p:cNvPr id="9252" name="Straight Arrow Connector 21"/>
              <p:cNvSpPr/>
              <p:nvPr/>
            </p:nvSpPr>
            <p:spPr>
              <a:xfrm flipH="1" flipV="1">
                <a:off x="0" y="293273"/>
                <a:ext cx="738960" cy="1"/>
              </a:xfrm>
              <a:prstGeom prst="line">
                <a:avLst/>
              </a:prstGeom>
              <a:noFill/>
              <a:ln w="12700" cap="flat">
                <a:solidFill>
                  <a:srgbClr val="C00000"/>
                </a:solidFill>
                <a:prstDash val="solid"/>
                <a:miter lim="800000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9254" name="Rectangle 11"/>
            <p:cNvSpPr/>
            <p:nvPr/>
          </p:nvSpPr>
          <p:spPr>
            <a:xfrm>
              <a:off x="355599" y="135218"/>
              <a:ext cx="725714" cy="261257"/>
            </a:xfrm>
            <a:prstGeom prst="rect">
              <a:avLst/>
            </a:prstGeom>
            <a:solidFill>
              <a:srgbClr val="FFFF00">
                <a:alpha val="41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255" name="Rectangle 30"/>
            <p:cNvSpPr/>
            <p:nvPr/>
          </p:nvSpPr>
          <p:spPr>
            <a:xfrm>
              <a:off x="0" y="331161"/>
              <a:ext cx="725714" cy="261257"/>
            </a:xfrm>
            <a:prstGeom prst="rect">
              <a:avLst/>
            </a:prstGeom>
            <a:solidFill>
              <a:srgbClr val="FFFF00">
                <a:alpha val="41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9264" name="Group 14"/>
          <p:cNvGrpSpPr/>
          <p:nvPr/>
        </p:nvGrpSpPr>
        <p:grpSpPr>
          <a:xfrm>
            <a:off x="1937657" y="3381528"/>
            <a:ext cx="8855869" cy="508301"/>
            <a:chOff x="0" y="0"/>
            <a:chExt cx="8855867" cy="508299"/>
          </a:xfrm>
        </p:grpSpPr>
        <p:grpSp>
          <p:nvGrpSpPr>
            <p:cNvPr id="9261" name="Group 8"/>
            <p:cNvGrpSpPr/>
            <p:nvPr/>
          </p:nvGrpSpPr>
          <p:grpSpPr>
            <a:xfrm>
              <a:off x="-1" y="-1"/>
              <a:ext cx="8855869" cy="458841"/>
              <a:chOff x="0" y="0"/>
              <a:chExt cx="8855867" cy="458839"/>
            </a:xfrm>
          </p:grpSpPr>
          <p:sp>
            <p:nvSpPr>
              <p:cNvPr id="9257" name="Freeform 14"/>
              <p:cNvSpPr/>
              <p:nvPr/>
            </p:nvSpPr>
            <p:spPr>
              <a:xfrm>
                <a:off x="5113811" y="214311"/>
                <a:ext cx="996177" cy="2445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45" h="21465" fill="norm" stroke="1" extrusionOk="0">
                    <a:moveTo>
                      <a:pt x="20076" y="0"/>
                    </a:moveTo>
                    <a:cubicBezTo>
                      <a:pt x="20550" y="1254"/>
                      <a:pt x="21024" y="2508"/>
                      <a:pt x="21092" y="5295"/>
                    </a:cubicBezTo>
                    <a:cubicBezTo>
                      <a:pt x="21160" y="8083"/>
                      <a:pt x="21600" y="14493"/>
                      <a:pt x="20584" y="17141"/>
                    </a:cubicBezTo>
                    <a:cubicBezTo>
                      <a:pt x="19569" y="19788"/>
                      <a:pt x="18519" y="21321"/>
                      <a:pt x="15100" y="21461"/>
                    </a:cubicBezTo>
                    <a:cubicBezTo>
                      <a:pt x="11680" y="21600"/>
                      <a:pt x="2438" y="18534"/>
                      <a:pt x="0" y="18116"/>
                    </a:cubicBezTo>
                  </a:path>
                </a:pathLst>
              </a:custGeom>
              <a:noFill/>
              <a:ln w="19050" cap="flat">
                <a:solidFill>
                  <a:srgbClr val="CC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258" name="Text Box 15"/>
              <p:cNvSpPr txBox="1"/>
              <p:nvPr/>
            </p:nvSpPr>
            <p:spPr>
              <a:xfrm>
                <a:off x="6204107" y="0"/>
                <a:ext cx="2651761" cy="3401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sz="2000">
                    <a:solidFill>
                      <a:srgbClr val="CC0000"/>
                    </a:solidFill>
                  </a:defRPr>
                </a:lvl1pPr>
              </a:lstStyle>
              <a:p>
                <a:pPr/>
                <a:r>
                  <a:t>trans-oceanic link</a:t>
                </a:r>
              </a:p>
            </p:txBody>
          </p:sp>
          <p:sp>
            <p:nvSpPr>
              <p:cNvPr id="9259" name="Rectangle 25"/>
              <p:cNvSpPr/>
              <p:nvPr/>
            </p:nvSpPr>
            <p:spPr>
              <a:xfrm>
                <a:off x="0" y="138189"/>
                <a:ext cx="2750456" cy="123369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60" name="Rectangle 26"/>
              <p:cNvSpPr/>
              <p:nvPr/>
            </p:nvSpPr>
            <p:spPr>
              <a:xfrm>
                <a:off x="65314" y="305101"/>
                <a:ext cx="1306285" cy="145141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9262" name="Rectangle 13"/>
            <p:cNvSpPr/>
            <p:nvPr/>
          </p:nvSpPr>
          <p:spPr>
            <a:xfrm>
              <a:off x="5377541" y="87385"/>
              <a:ext cx="667659" cy="203201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263" name="Rectangle 33"/>
            <p:cNvSpPr/>
            <p:nvPr/>
          </p:nvSpPr>
          <p:spPr>
            <a:xfrm>
              <a:off x="4383314" y="297842"/>
              <a:ext cx="776515" cy="210458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926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xit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1" dur="500" fill="hold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xit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0" dur="500" fill="hold"/>
                                        <p:tgtEl>
                                          <p:spTgt spid="9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xit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9" dur="500" fill="hold"/>
                                        <p:tgtEl>
                                          <p:spTgt spid="9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xit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8" dur="500" fill="hold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Class="entr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250" grpId="3"/>
      <p:bldP build="whole" bldLvl="1" animBg="1" rev="0" advAuto="0" spid="9250" grpId="4"/>
      <p:bldP build="whole" bldLvl="1" animBg="1" rev="0" advAuto="0" spid="9246" grpId="1"/>
      <p:bldP build="whole" bldLvl="1" animBg="1" rev="0" advAuto="0" spid="9246" grpId="2"/>
      <p:bldP build="whole" bldLvl="1" animBg="1" rev="0" advAuto="0" spid="9256" grpId="7"/>
      <p:bldP build="whole" bldLvl="1" animBg="1" rev="0" advAuto="0" spid="9264" grpId="5"/>
      <p:bldP build="whole" bldLvl="1" animBg="1" rev="0" advAuto="0" spid="9264" grpId="6"/>
      <p:bldP build="whole" bldLvl="1" animBg="1" rev="0" advAuto="0" spid="9256" grpId="8"/>
      <p:bldP build="whole" bldLvl="1" animBg="1" rev="0" advAuto="0" spid="9239" grpId="9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8" name="Group 108"/>
          <p:cNvGrpSpPr/>
          <p:nvPr/>
        </p:nvGrpSpPr>
        <p:grpSpPr>
          <a:xfrm>
            <a:off x="4551469" y="4236503"/>
            <a:ext cx="1463605" cy="737241"/>
            <a:chOff x="0" y="0"/>
            <a:chExt cx="1463603" cy="737240"/>
          </a:xfrm>
        </p:grpSpPr>
        <p:grpSp>
          <p:nvGrpSpPr>
            <p:cNvPr id="9269" name="Freeform 109"/>
            <p:cNvGrpSpPr/>
            <p:nvPr/>
          </p:nvGrpSpPr>
          <p:grpSpPr>
            <a:xfrm>
              <a:off x="0" y="255191"/>
              <a:ext cx="1463605" cy="482050"/>
              <a:chOff x="0" y="0"/>
              <a:chExt cx="1463603" cy="482048"/>
            </a:xfrm>
          </p:grpSpPr>
          <p:sp>
            <p:nvSpPr>
              <p:cNvPr id="9267" name="Shape"/>
              <p:cNvSpPr/>
              <p:nvPr/>
            </p:nvSpPr>
            <p:spPr>
              <a:xfrm>
                <a:off x="0" y="0"/>
                <a:ext cx="1463605" cy="4820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68" name="Text"/>
              <p:cNvSpPr txBox="1"/>
              <p:nvPr/>
            </p:nvSpPr>
            <p:spPr>
              <a:xfrm>
                <a:off x="48895" y="74480"/>
                <a:ext cx="1365814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9272" name="Oval 110"/>
            <p:cNvGrpSpPr/>
            <p:nvPr/>
          </p:nvGrpSpPr>
          <p:grpSpPr>
            <a:xfrm>
              <a:off x="842" y="0"/>
              <a:ext cx="1461833" cy="477259"/>
              <a:chOff x="0" y="0"/>
              <a:chExt cx="1461831" cy="477258"/>
            </a:xfrm>
          </p:grpSpPr>
          <p:sp>
            <p:nvSpPr>
              <p:cNvPr id="9270" name="Oval"/>
              <p:cNvSpPr/>
              <p:nvPr/>
            </p:nvSpPr>
            <p:spPr>
              <a:xfrm>
                <a:off x="0" y="-1"/>
                <a:ext cx="1461832" cy="477260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71" name="Text"/>
              <p:cNvSpPr txBox="1"/>
              <p:nvPr/>
            </p:nvSpPr>
            <p:spPr>
              <a:xfrm>
                <a:off x="262974" y="72084"/>
                <a:ext cx="93588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9277" name="Group 111"/>
            <p:cNvGrpSpPr/>
            <p:nvPr/>
          </p:nvGrpSpPr>
          <p:grpSpPr>
            <a:xfrm>
              <a:off x="217064" y="60658"/>
              <a:ext cx="1029202" cy="350683"/>
              <a:chOff x="0" y="0"/>
              <a:chExt cx="1029200" cy="350681"/>
            </a:xfrm>
          </p:grpSpPr>
          <p:sp>
            <p:nvSpPr>
              <p:cNvPr id="9273" name="Freeform 112"/>
              <p:cNvSpPr/>
              <p:nvPr/>
            </p:nvSpPr>
            <p:spPr>
              <a:xfrm>
                <a:off x="28467" y="0"/>
                <a:ext cx="973604" cy="1963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74" name="Freeform 113"/>
              <p:cNvSpPr/>
              <p:nvPr/>
            </p:nvSpPr>
            <p:spPr>
              <a:xfrm>
                <a:off x="665695" y="167915"/>
                <a:ext cx="363506" cy="1690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75" name="Freeform 114"/>
              <p:cNvSpPr/>
              <p:nvPr/>
            </p:nvSpPr>
            <p:spPr>
              <a:xfrm>
                <a:off x="-1" y="167915"/>
                <a:ext cx="356937" cy="1670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276" name="Freeform 115"/>
              <p:cNvSpPr/>
              <p:nvPr/>
            </p:nvSpPr>
            <p:spPr>
              <a:xfrm>
                <a:off x="123910" y="85377"/>
                <a:ext cx="776092" cy="2653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9279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Packet loss</a:t>
            </a:r>
          </a:p>
        </p:txBody>
      </p:sp>
      <p:sp>
        <p:nvSpPr>
          <p:cNvPr id="9280" name="Rectangle 3"/>
          <p:cNvSpPr txBox="1"/>
          <p:nvPr/>
        </p:nvSpPr>
        <p:spPr>
          <a:xfrm>
            <a:off x="1021338" y="1391460"/>
            <a:ext cx="10123457" cy="719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lvl1pPr>
          </a:lstStyle>
          <a:p>
            <a:pPr/>
            <a:r>
              <a:t>queue (aka buffer) preceding link in buffer has finite capacity</a:t>
            </a:r>
          </a:p>
        </p:txBody>
      </p:sp>
      <p:sp>
        <p:nvSpPr>
          <p:cNvPr id="9281" name="Rectangle 7"/>
          <p:cNvSpPr/>
          <p:nvPr/>
        </p:nvSpPr>
        <p:spPr>
          <a:xfrm>
            <a:off x="4638675" y="4485752"/>
            <a:ext cx="1198563" cy="263526"/>
          </a:xfrm>
          <a:prstGeom prst="rect">
            <a:avLst/>
          </a:prstGeom>
          <a:solidFill>
            <a:srgbClr val="CCCC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82" name="Line 23"/>
          <p:cNvSpPr/>
          <p:nvPr/>
        </p:nvSpPr>
        <p:spPr>
          <a:xfrm>
            <a:off x="3946525" y="4252390"/>
            <a:ext cx="698501" cy="333376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83" name="Line 24"/>
          <p:cNvSpPr/>
          <p:nvPr/>
        </p:nvSpPr>
        <p:spPr>
          <a:xfrm flipV="1">
            <a:off x="4235450" y="4646090"/>
            <a:ext cx="411163" cy="525464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84" name="Line 25"/>
          <p:cNvSpPr/>
          <p:nvPr/>
        </p:nvSpPr>
        <p:spPr>
          <a:xfrm>
            <a:off x="5832475" y="4649265"/>
            <a:ext cx="1933576" cy="952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285" name="Rectangle 28"/>
          <p:cNvSpPr/>
          <p:nvPr/>
        </p:nvSpPr>
        <p:spPr>
          <a:xfrm>
            <a:off x="6751638" y="4449240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86" name="Rectangle 29"/>
          <p:cNvSpPr/>
          <p:nvPr/>
        </p:nvSpPr>
        <p:spPr>
          <a:xfrm>
            <a:off x="5499100" y="4520677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87" name="Rectangle 30"/>
          <p:cNvSpPr/>
          <p:nvPr/>
        </p:nvSpPr>
        <p:spPr>
          <a:xfrm>
            <a:off x="5661025" y="4520677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88" name="Text Box 35"/>
          <p:cNvSpPr txBox="1"/>
          <p:nvPr/>
        </p:nvSpPr>
        <p:spPr>
          <a:xfrm>
            <a:off x="3009583" y="3780902"/>
            <a:ext cx="28050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006600"/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9289" name="Text Box 36"/>
          <p:cNvSpPr txBox="1"/>
          <p:nvPr/>
        </p:nvSpPr>
        <p:spPr>
          <a:xfrm>
            <a:off x="3330257" y="4766740"/>
            <a:ext cx="269936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000099"/>
                </a:solid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9290" name="Text Box 40"/>
          <p:cNvSpPr txBox="1"/>
          <p:nvPr/>
        </p:nvSpPr>
        <p:spPr>
          <a:xfrm>
            <a:off x="6357619" y="3690415"/>
            <a:ext cx="267775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80000"/>
              </a:lnSpc>
              <a:defRPr sz="2000">
                <a:solidFill>
                  <a:srgbClr val="CC0000"/>
                </a:solidFill>
              </a:defRPr>
            </a:lvl1pPr>
          </a:lstStyle>
          <a:p>
            <a:pPr/>
            <a:r>
              <a:t>packet being transmitted</a:t>
            </a:r>
          </a:p>
        </p:txBody>
      </p:sp>
      <p:sp>
        <p:nvSpPr>
          <p:cNvPr id="9291" name="Line 41"/>
          <p:cNvSpPr/>
          <p:nvPr/>
        </p:nvSpPr>
        <p:spPr>
          <a:xfrm flipH="1">
            <a:off x="5875337" y="3982515"/>
            <a:ext cx="681038" cy="565151"/>
          </a:xfrm>
          <a:prstGeom prst="line">
            <a:avLst/>
          </a:prstGeom>
          <a:ln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92" name="Rectangle 56"/>
          <p:cNvSpPr/>
          <p:nvPr/>
        </p:nvSpPr>
        <p:spPr>
          <a:xfrm>
            <a:off x="5335587" y="4519090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93" name="Rectangle 57"/>
          <p:cNvSpPr/>
          <p:nvPr/>
        </p:nvSpPr>
        <p:spPr>
          <a:xfrm>
            <a:off x="5173662" y="4522265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94" name="Rectangle 58"/>
          <p:cNvSpPr/>
          <p:nvPr/>
        </p:nvSpPr>
        <p:spPr>
          <a:xfrm>
            <a:off x="5008562" y="4519090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95" name="Rectangle 59"/>
          <p:cNvSpPr/>
          <p:nvPr/>
        </p:nvSpPr>
        <p:spPr>
          <a:xfrm>
            <a:off x="4845050" y="4519090"/>
            <a:ext cx="147638" cy="200026"/>
          </a:xfrm>
          <a:prstGeom prst="rect">
            <a:avLst/>
          </a:prstGeom>
          <a:solidFill>
            <a:srgbClr val="3333CC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96" name="Rectangle 61"/>
          <p:cNvSpPr/>
          <p:nvPr/>
        </p:nvSpPr>
        <p:spPr>
          <a:xfrm>
            <a:off x="4679950" y="4520677"/>
            <a:ext cx="147638" cy="200026"/>
          </a:xfrm>
          <a:prstGeom prst="rect">
            <a:avLst/>
          </a:prstGeom>
          <a:solidFill>
            <a:srgbClr val="00CC99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97" name="Rectangle 62"/>
          <p:cNvSpPr/>
          <p:nvPr/>
        </p:nvSpPr>
        <p:spPr>
          <a:xfrm>
            <a:off x="4651375" y="4496865"/>
            <a:ext cx="1171575" cy="242889"/>
          </a:xfrm>
          <a:prstGeom prst="rect">
            <a:avLst/>
          </a:prstGeom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298" name="Text Box 65"/>
          <p:cNvSpPr txBox="1"/>
          <p:nvPr/>
        </p:nvSpPr>
        <p:spPr>
          <a:xfrm>
            <a:off x="4548988" y="3509440"/>
            <a:ext cx="1525573" cy="595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80000"/>
              </a:lnSpc>
              <a:defRPr sz="2000">
                <a:solidFill>
                  <a:srgbClr val="CC0000"/>
                </a:solidFill>
              </a:defRPr>
            </a:pPr>
            <a:r>
              <a:t>buffer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0000"/>
              </a:lnSpc>
              <a:defRPr sz="2000">
                <a:solidFill>
                  <a:srgbClr val="CC0000"/>
                </a:solidFill>
              </a:defRPr>
            </a:pPr>
            <a:r>
              <a:t>(waiting area)</a:t>
            </a:r>
          </a:p>
        </p:txBody>
      </p:sp>
      <p:sp>
        <p:nvSpPr>
          <p:cNvPr id="9299" name="Line 66"/>
          <p:cNvSpPr/>
          <p:nvPr/>
        </p:nvSpPr>
        <p:spPr>
          <a:xfrm>
            <a:off x="4784725" y="4117452"/>
            <a:ext cx="0" cy="333376"/>
          </a:xfrm>
          <a:prstGeom prst="line">
            <a:avLst/>
          </a:prstGeom>
          <a:ln>
            <a:solidFill>
              <a:srgbClr val="CC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302" name="Group 48"/>
          <p:cNvGrpSpPr/>
          <p:nvPr/>
        </p:nvGrpSpPr>
        <p:grpSpPr>
          <a:xfrm>
            <a:off x="3140075" y="3801540"/>
            <a:ext cx="820738" cy="688976"/>
            <a:chOff x="0" y="0"/>
            <a:chExt cx="820737" cy="688975"/>
          </a:xfrm>
        </p:grpSpPr>
        <p:pic>
          <p:nvPicPr>
            <p:cNvPr id="9300" name="Picture 49" descr="Picture 4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820738" cy="6889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01" name="Freeform 50"/>
            <p:cNvSpPr/>
            <p:nvPr/>
          </p:nvSpPr>
          <p:spPr>
            <a:xfrm flipH="1">
              <a:off x="349713" y="66091"/>
              <a:ext cx="399075" cy="3154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9305" name="Group 51"/>
          <p:cNvGrpSpPr/>
          <p:nvPr/>
        </p:nvGrpSpPr>
        <p:grpSpPr>
          <a:xfrm>
            <a:off x="3468687" y="4792140"/>
            <a:ext cx="820738" cy="688976"/>
            <a:chOff x="0" y="0"/>
            <a:chExt cx="820737" cy="688975"/>
          </a:xfrm>
        </p:grpSpPr>
        <p:pic>
          <p:nvPicPr>
            <p:cNvPr id="9303" name="Picture 52" descr="Picture 5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0"/>
              <a:ext cx="820738" cy="6889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04" name="Freeform 53"/>
            <p:cNvSpPr/>
            <p:nvPr/>
          </p:nvSpPr>
          <p:spPr>
            <a:xfrm flipH="1">
              <a:off x="349712" y="66091"/>
              <a:ext cx="399075" cy="3154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9306" name="TextBox 1"/>
          <p:cNvSpPr txBox="1"/>
          <p:nvPr/>
        </p:nvSpPr>
        <p:spPr>
          <a:xfrm>
            <a:off x="1295859" y="6114279"/>
            <a:ext cx="9388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* Check out the Java applet for an interactive animation (on publisher’s website) of queuing and loss</a:t>
            </a:r>
          </a:p>
        </p:txBody>
      </p:sp>
      <p:grpSp>
        <p:nvGrpSpPr>
          <p:cNvPr id="9313" name="Group 3"/>
          <p:cNvGrpSpPr/>
          <p:nvPr/>
        </p:nvGrpSpPr>
        <p:grpSpPr>
          <a:xfrm>
            <a:off x="1017709" y="1867073"/>
            <a:ext cx="10123457" cy="3875901"/>
            <a:chOff x="0" y="0"/>
            <a:chExt cx="10123455" cy="3875900"/>
          </a:xfrm>
        </p:grpSpPr>
        <p:grpSp>
          <p:nvGrpSpPr>
            <p:cNvPr id="9311" name="Group 2"/>
            <p:cNvGrpSpPr/>
            <p:nvPr/>
          </p:nvGrpSpPr>
          <p:grpSpPr>
            <a:xfrm>
              <a:off x="3363790" y="2847280"/>
              <a:ext cx="2817357" cy="1028621"/>
              <a:chOff x="0" y="0"/>
              <a:chExt cx="2817356" cy="1028620"/>
            </a:xfrm>
          </p:grpSpPr>
          <p:sp>
            <p:nvSpPr>
              <p:cNvPr id="9307" name="Rectangle 31"/>
              <p:cNvSpPr/>
              <p:nvPr/>
            </p:nvSpPr>
            <p:spPr>
              <a:xfrm>
                <a:off x="30162" y="153987"/>
                <a:ext cx="147637" cy="200026"/>
              </a:xfrm>
              <a:prstGeom prst="rect">
                <a:avLst/>
              </a:prstGeom>
              <a:solidFill>
                <a:srgbClr val="3333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308" name="Line 33"/>
              <p:cNvSpPr/>
              <p:nvPr/>
            </p:nvSpPr>
            <p:spPr>
              <a:xfrm flipV="1">
                <a:off x="-1" y="0"/>
                <a:ext cx="106364" cy="14605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309" name="Line 63"/>
              <p:cNvSpPr/>
              <p:nvPr/>
            </p:nvSpPr>
            <p:spPr>
              <a:xfrm flipH="1" flipV="1">
                <a:off x="257175" y="274637"/>
                <a:ext cx="687388" cy="331789"/>
              </a:xfrm>
              <a:prstGeom prst="line">
                <a:avLst/>
              </a:prstGeom>
              <a:noFill/>
              <a:ln w="9525" cap="flat">
                <a:solidFill>
                  <a:srgbClr val="CC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310" name="Text Box 64"/>
              <p:cNvSpPr txBox="1"/>
              <p:nvPr/>
            </p:nvSpPr>
            <p:spPr>
              <a:xfrm>
                <a:off x="918844" y="433387"/>
                <a:ext cx="1898513" cy="5952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lnSpc>
                    <a:spcPct val="80000"/>
                  </a:lnSpc>
                  <a:defRPr sz="2000">
                    <a:solidFill>
                      <a:srgbClr val="CC0000"/>
                    </a:solidFill>
                  </a:defRPr>
                </a:pPr>
                <a:r>
                  <a:t>packet arriving to</a:t>
                </a:r>
                <a:endParaRPr sz="2400">
                  <a:latin typeface="Arial"/>
                  <a:ea typeface="Arial"/>
                  <a:cs typeface="Arial"/>
                  <a:sym typeface="Arial"/>
                </a:endParaRPr>
              </a:p>
              <a:p>
                <a:pPr>
                  <a:lnSpc>
                    <a:spcPct val="80000"/>
                  </a:lnSpc>
                  <a:defRPr sz="2000">
                    <a:solidFill>
                      <a:srgbClr val="CC0000"/>
                    </a:solidFill>
                  </a:defRPr>
                </a:pPr>
                <a:r>
                  <a:t>full buffer is </a:t>
                </a:r>
                <a:r>
                  <a:rPr i="1"/>
                  <a:t>lost</a:t>
                </a:r>
              </a:p>
            </p:txBody>
          </p:sp>
        </p:grpSp>
        <p:sp>
          <p:nvSpPr>
            <p:cNvPr id="9312" name="Rectangle 3"/>
            <p:cNvSpPr txBox="1"/>
            <p:nvPr/>
          </p:nvSpPr>
          <p:spPr>
            <a:xfrm>
              <a:off x="0" y="0"/>
              <a:ext cx="10123456" cy="2117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 marL="287338" indent="-287338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SzPct val="100000"/>
                <a:buChar char="▪"/>
                <a:defRPr sz="2800"/>
              </a:pPr>
              <a:r>
                <a:t>packet arriving to full queue dropped (aka lost)</a:t>
              </a:r>
            </a:p>
            <a:p>
              <a:pPr marL="287338" indent="-287338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SzPct val="100000"/>
                <a:buChar char="▪"/>
                <a:defRPr sz="2800"/>
              </a:pPr>
              <a:r>
                <a:t>lost packet may be retransmitted by previous node, by source end system, or not at all</a:t>
              </a:r>
            </a:p>
          </p:txBody>
        </p:sp>
      </p:grpSp>
      <p:sp>
        <p:nvSpPr>
          <p:cNvPr id="931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9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306" grpId="2"/>
      <p:bldP build="whole" bldLvl="1" animBg="1" rev="0" advAuto="0" spid="9313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6" name="Line 321"/>
          <p:cNvSpPr/>
          <p:nvPr/>
        </p:nvSpPr>
        <p:spPr>
          <a:xfrm>
            <a:off x="3004778" y="4480628"/>
            <a:ext cx="6316664" cy="1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328" name="Group 306"/>
          <p:cNvGrpSpPr/>
          <p:nvPr/>
        </p:nvGrpSpPr>
        <p:grpSpPr>
          <a:xfrm>
            <a:off x="4551469" y="4103770"/>
            <a:ext cx="1463605" cy="737241"/>
            <a:chOff x="0" y="0"/>
            <a:chExt cx="1463603" cy="737240"/>
          </a:xfrm>
        </p:grpSpPr>
        <p:grpSp>
          <p:nvGrpSpPr>
            <p:cNvPr id="9319" name="Freeform 307"/>
            <p:cNvGrpSpPr/>
            <p:nvPr/>
          </p:nvGrpSpPr>
          <p:grpSpPr>
            <a:xfrm>
              <a:off x="0" y="255191"/>
              <a:ext cx="1463605" cy="482050"/>
              <a:chOff x="0" y="0"/>
              <a:chExt cx="1463603" cy="482048"/>
            </a:xfrm>
          </p:grpSpPr>
          <p:sp>
            <p:nvSpPr>
              <p:cNvPr id="9317" name="Shape"/>
              <p:cNvSpPr/>
              <p:nvPr/>
            </p:nvSpPr>
            <p:spPr>
              <a:xfrm>
                <a:off x="0" y="0"/>
                <a:ext cx="1463605" cy="4820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318" name="Text"/>
              <p:cNvSpPr txBox="1"/>
              <p:nvPr/>
            </p:nvSpPr>
            <p:spPr>
              <a:xfrm>
                <a:off x="48895" y="74480"/>
                <a:ext cx="1365814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9322" name="Oval 308"/>
            <p:cNvGrpSpPr/>
            <p:nvPr/>
          </p:nvGrpSpPr>
          <p:grpSpPr>
            <a:xfrm>
              <a:off x="842" y="0"/>
              <a:ext cx="1461833" cy="477259"/>
              <a:chOff x="0" y="0"/>
              <a:chExt cx="1461831" cy="477258"/>
            </a:xfrm>
          </p:grpSpPr>
          <p:sp>
            <p:nvSpPr>
              <p:cNvPr id="9320" name="Oval"/>
              <p:cNvSpPr/>
              <p:nvPr/>
            </p:nvSpPr>
            <p:spPr>
              <a:xfrm>
                <a:off x="0" y="-1"/>
                <a:ext cx="1461832" cy="477260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321" name="Text"/>
              <p:cNvSpPr txBox="1"/>
              <p:nvPr/>
            </p:nvSpPr>
            <p:spPr>
              <a:xfrm>
                <a:off x="262974" y="72084"/>
                <a:ext cx="93588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9327" name="Group 309"/>
            <p:cNvGrpSpPr/>
            <p:nvPr/>
          </p:nvGrpSpPr>
          <p:grpSpPr>
            <a:xfrm>
              <a:off x="217064" y="60658"/>
              <a:ext cx="1029202" cy="350683"/>
              <a:chOff x="0" y="0"/>
              <a:chExt cx="1029200" cy="350681"/>
            </a:xfrm>
          </p:grpSpPr>
          <p:sp>
            <p:nvSpPr>
              <p:cNvPr id="9323" name="Freeform 310"/>
              <p:cNvSpPr/>
              <p:nvPr/>
            </p:nvSpPr>
            <p:spPr>
              <a:xfrm>
                <a:off x="28467" y="0"/>
                <a:ext cx="973604" cy="1963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324" name="Freeform 311"/>
              <p:cNvSpPr/>
              <p:nvPr/>
            </p:nvSpPr>
            <p:spPr>
              <a:xfrm>
                <a:off x="665695" y="167915"/>
                <a:ext cx="363506" cy="1690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325" name="Freeform 312"/>
              <p:cNvSpPr/>
              <p:nvPr/>
            </p:nvSpPr>
            <p:spPr>
              <a:xfrm>
                <a:off x="-1" y="167915"/>
                <a:ext cx="356937" cy="1670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326" name="Freeform 313"/>
              <p:cNvSpPr/>
              <p:nvPr/>
            </p:nvSpPr>
            <p:spPr>
              <a:xfrm>
                <a:off x="123910" y="85377"/>
                <a:ext cx="776092" cy="2653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9329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Throughput</a:t>
            </a:r>
          </a:p>
        </p:txBody>
      </p:sp>
      <p:sp>
        <p:nvSpPr>
          <p:cNvPr id="9330" name="Rectangle 3"/>
          <p:cNvSpPr txBox="1"/>
          <p:nvPr/>
        </p:nvSpPr>
        <p:spPr>
          <a:xfrm>
            <a:off x="1034733" y="1359294"/>
            <a:ext cx="10882364" cy="1779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2800">
                <a:solidFill>
                  <a:srgbClr val="CC0000"/>
                </a:solidFill>
              </a:defRPr>
            </a:pPr>
            <a:r>
              <a:t>throughput:</a:t>
            </a:r>
            <a:r>
              <a:rPr i="0">
                <a:solidFill>
                  <a:srgbClr val="000000"/>
                </a:solidFill>
              </a:rPr>
              <a:t> rate (bits/time unit) at which bits are being sent from sender to receiver</a:t>
            </a:r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i="1" sz="2800">
                <a:solidFill>
                  <a:srgbClr val="CC0000"/>
                </a:solidFill>
              </a:defRPr>
            </a:pPr>
            <a:r>
              <a:t>instantaneous:</a:t>
            </a:r>
            <a:r>
              <a:rPr i="0">
                <a:solidFill>
                  <a:srgbClr val="000000"/>
                </a:solidFill>
              </a:rPr>
              <a:t> rate at given point in time</a:t>
            </a:r>
            <a:endParaRPr sz="2400"/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i="1" sz="2800">
                <a:solidFill>
                  <a:srgbClr val="CC0000"/>
                </a:solidFill>
              </a:defRPr>
            </a:pPr>
            <a:r>
              <a:t>average:</a:t>
            </a:r>
            <a:r>
              <a:rPr i="0">
                <a:solidFill>
                  <a:srgbClr val="000000"/>
                </a:solidFill>
              </a:rPr>
              <a:t> rate over longer period of time</a:t>
            </a:r>
          </a:p>
        </p:txBody>
      </p:sp>
      <p:grpSp>
        <p:nvGrpSpPr>
          <p:cNvPr id="9334" name="AutoShape 327"/>
          <p:cNvGrpSpPr/>
          <p:nvPr/>
        </p:nvGrpSpPr>
        <p:grpSpPr>
          <a:xfrm>
            <a:off x="1980003" y="3615114"/>
            <a:ext cx="500063" cy="581026"/>
            <a:chOff x="0" y="0"/>
            <a:chExt cx="500062" cy="581025"/>
          </a:xfrm>
        </p:grpSpPr>
        <p:sp>
          <p:nvSpPr>
            <p:cNvPr id="9331" name="Shape"/>
            <p:cNvSpPr/>
            <p:nvPr/>
          </p:nvSpPr>
          <p:spPr>
            <a:xfrm>
              <a:off x="-1" y="0"/>
              <a:ext cx="500063" cy="581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84"/>
                  </a:moveTo>
                  <a:cubicBezTo>
                    <a:pt x="0" y="978"/>
                    <a:pt x="4835" y="0"/>
                    <a:pt x="10800" y="0"/>
                  </a:cubicBezTo>
                  <a:cubicBezTo>
                    <a:pt x="16765" y="0"/>
                    <a:pt x="21600" y="978"/>
                    <a:pt x="21600" y="2184"/>
                  </a:cubicBezTo>
                  <a:lnTo>
                    <a:pt x="21600" y="19416"/>
                  </a:lnTo>
                  <a:cubicBezTo>
                    <a:pt x="21600" y="20622"/>
                    <a:pt x="16765" y="21600"/>
                    <a:pt x="10800" y="21600"/>
                  </a:cubicBezTo>
                  <a:cubicBezTo>
                    <a:pt x="4835" y="21600"/>
                    <a:pt x="0" y="20622"/>
                    <a:pt x="0" y="1941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332" name="Oval"/>
            <p:cNvSpPr/>
            <p:nvPr/>
          </p:nvSpPr>
          <p:spPr>
            <a:xfrm>
              <a:off x="-1" y="-1"/>
              <a:ext cx="500064" cy="117471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333" name="Line"/>
            <p:cNvSpPr/>
            <p:nvPr/>
          </p:nvSpPr>
          <p:spPr>
            <a:xfrm>
              <a:off x="-1" y="0"/>
              <a:ext cx="500063" cy="581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84"/>
                  </a:moveTo>
                  <a:cubicBezTo>
                    <a:pt x="21600" y="3389"/>
                    <a:pt x="16765" y="4367"/>
                    <a:pt x="10800" y="4367"/>
                  </a:cubicBezTo>
                  <a:cubicBezTo>
                    <a:pt x="4835" y="4367"/>
                    <a:pt x="0" y="3389"/>
                    <a:pt x="0" y="2184"/>
                  </a:cubicBezTo>
                  <a:cubicBezTo>
                    <a:pt x="0" y="978"/>
                    <a:pt x="4835" y="0"/>
                    <a:pt x="10800" y="0"/>
                  </a:cubicBezTo>
                  <a:cubicBezTo>
                    <a:pt x="16765" y="0"/>
                    <a:pt x="21600" y="978"/>
                    <a:pt x="21600" y="2184"/>
                  </a:cubicBezTo>
                  <a:lnTo>
                    <a:pt x="21600" y="19416"/>
                  </a:lnTo>
                  <a:cubicBezTo>
                    <a:pt x="21600" y="20622"/>
                    <a:pt x="16765" y="21600"/>
                    <a:pt x="10800" y="21600"/>
                  </a:cubicBezTo>
                  <a:cubicBezTo>
                    <a:pt x="4835" y="21600"/>
                    <a:pt x="0" y="20622"/>
                    <a:pt x="0" y="19416"/>
                  </a:cubicBezTo>
                  <a:lnTo>
                    <a:pt x="0" y="2184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grpSp>
        <p:nvGrpSpPr>
          <p:cNvPr id="9367" name="Group 64"/>
          <p:cNvGrpSpPr/>
          <p:nvPr/>
        </p:nvGrpSpPr>
        <p:grpSpPr>
          <a:xfrm>
            <a:off x="2538053" y="4021842"/>
            <a:ext cx="353212" cy="876301"/>
            <a:chOff x="0" y="0"/>
            <a:chExt cx="353210" cy="876300"/>
          </a:xfrm>
        </p:grpSpPr>
        <p:sp>
          <p:nvSpPr>
            <p:cNvPr id="9335" name="Freeform 65"/>
            <p:cNvSpPr/>
            <p:nvPr/>
          </p:nvSpPr>
          <p:spPr>
            <a:xfrm>
              <a:off x="278972" y="1462"/>
              <a:ext cx="69991" cy="8360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36" name="Rectangle 66"/>
            <p:cNvSpPr/>
            <p:nvPr/>
          </p:nvSpPr>
          <p:spPr>
            <a:xfrm>
              <a:off x="15828" y="0"/>
              <a:ext cx="258693" cy="834973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37" name="Freeform 67"/>
            <p:cNvSpPr/>
            <p:nvPr/>
          </p:nvSpPr>
          <p:spPr>
            <a:xfrm>
              <a:off x="293466" y="51568"/>
              <a:ext cx="40411" cy="762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38" name="Freeform 68"/>
            <p:cNvSpPr/>
            <p:nvPr/>
          </p:nvSpPr>
          <p:spPr>
            <a:xfrm>
              <a:off x="282929" y="442904"/>
              <a:ext cx="65045" cy="69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39" name="Rectangle 69"/>
            <p:cNvSpPr/>
            <p:nvPr/>
          </p:nvSpPr>
          <p:spPr>
            <a:xfrm>
              <a:off x="17559" y="96919"/>
              <a:ext cx="147648" cy="17556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342" name="Group 70"/>
            <p:cNvGrpSpPr/>
            <p:nvPr/>
          </p:nvGrpSpPr>
          <p:grpSpPr>
            <a:xfrm>
              <a:off x="150813" y="87410"/>
              <a:ext cx="142899" cy="52270"/>
              <a:chOff x="0" y="0"/>
              <a:chExt cx="142897" cy="52268"/>
            </a:xfrm>
          </p:grpSpPr>
          <p:sp>
            <p:nvSpPr>
              <p:cNvPr id="9340" name="AutoShape 71"/>
              <p:cNvSpPr/>
              <p:nvPr/>
            </p:nvSpPr>
            <p:spPr>
              <a:xfrm>
                <a:off x="0" y="0"/>
                <a:ext cx="142898" cy="5226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341" name="AutoShape 72"/>
              <p:cNvSpPr/>
              <p:nvPr/>
            </p:nvSpPr>
            <p:spPr>
              <a:xfrm>
                <a:off x="3171" y="6104"/>
                <a:ext cx="136556" cy="3815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343" name="Rectangle 73"/>
            <p:cNvSpPr/>
            <p:nvPr/>
          </p:nvSpPr>
          <p:spPr>
            <a:xfrm>
              <a:off x="20527" y="215783"/>
              <a:ext cx="147648" cy="17556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346" name="Group 74"/>
            <p:cNvGrpSpPr/>
            <p:nvPr/>
          </p:nvGrpSpPr>
          <p:grpSpPr>
            <a:xfrm>
              <a:off x="150715" y="206287"/>
              <a:ext cx="142898" cy="49362"/>
              <a:chOff x="0" y="0"/>
              <a:chExt cx="142897" cy="49361"/>
            </a:xfrm>
          </p:grpSpPr>
          <p:sp>
            <p:nvSpPr>
              <p:cNvPr id="9344" name="AutoShape 75"/>
              <p:cNvSpPr/>
              <p:nvPr/>
            </p:nvSpPr>
            <p:spPr>
              <a:xfrm>
                <a:off x="0" y="0"/>
                <a:ext cx="142898" cy="493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345" name="AutoShape 76"/>
              <p:cNvSpPr/>
              <p:nvPr/>
            </p:nvSpPr>
            <p:spPr>
              <a:xfrm>
                <a:off x="3369" y="6346"/>
                <a:ext cx="136556" cy="3666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347" name="Rectangle 77"/>
            <p:cNvSpPr/>
            <p:nvPr/>
          </p:nvSpPr>
          <p:spPr>
            <a:xfrm>
              <a:off x="19043" y="339767"/>
              <a:ext cx="147648" cy="17556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48" name="Rectangle 78"/>
            <p:cNvSpPr/>
            <p:nvPr/>
          </p:nvSpPr>
          <p:spPr>
            <a:xfrm>
              <a:off x="22258" y="447659"/>
              <a:ext cx="147648" cy="17556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351" name="Group 79"/>
            <p:cNvGrpSpPr/>
            <p:nvPr/>
          </p:nvGrpSpPr>
          <p:grpSpPr>
            <a:xfrm>
              <a:off x="147549" y="438150"/>
              <a:ext cx="142947" cy="55624"/>
              <a:chOff x="0" y="0"/>
              <a:chExt cx="142945" cy="55623"/>
            </a:xfrm>
          </p:grpSpPr>
          <p:sp>
            <p:nvSpPr>
              <p:cNvPr id="9349" name="AutoShape 80"/>
              <p:cNvSpPr/>
              <p:nvPr/>
            </p:nvSpPr>
            <p:spPr>
              <a:xfrm>
                <a:off x="0" y="0"/>
                <a:ext cx="142946" cy="5562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350" name="AutoShape 81"/>
              <p:cNvSpPr/>
              <p:nvPr/>
            </p:nvSpPr>
            <p:spPr>
              <a:xfrm>
                <a:off x="3176" y="6356"/>
                <a:ext cx="136593" cy="4291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352" name="Freeform 82"/>
            <p:cNvSpPr/>
            <p:nvPr/>
          </p:nvSpPr>
          <p:spPr>
            <a:xfrm>
              <a:off x="283918" y="338304"/>
              <a:ext cx="65045" cy="68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355" name="Group 83"/>
            <p:cNvGrpSpPr/>
            <p:nvPr/>
          </p:nvGrpSpPr>
          <p:grpSpPr>
            <a:xfrm>
              <a:off x="147546" y="328429"/>
              <a:ext cx="144534" cy="50838"/>
              <a:chOff x="0" y="0"/>
              <a:chExt cx="144533" cy="50837"/>
            </a:xfrm>
          </p:grpSpPr>
          <p:sp>
            <p:nvSpPr>
              <p:cNvPr id="9353" name="AutoShape 84"/>
              <p:cNvSpPr/>
              <p:nvPr/>
            </p:nvSpPr>
            <p:spPr>
              <a:xfrm>
                <a:off x="0" y="0"/>
                <a:ext cx="144534" cy="508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354" name="AutoShape 85"/>
              <p:cNvSpPr/>
              <p:nvPr/>
            </p:nvSpPr>
            <p:spPr>
              <a:xfrm>
                <a:off x="3176" y="6583"/>
                <a:ext cx="138181" cy="3803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356" name="Rectangle 86"/>
            <p:cNvSpPr/>
            <p:nvPr/>
          </p:nvSpPr>
          <p:spPr>
            <a:xfrm>
              <a:off x="274520" y="0"/>
              <a:ext cx="17560" cy="836435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57" name="Freeform 87"/>
            <p:cNvSpPr/>
            <p:nvPr/>
          </p:nvSpPr>
          <p:spPr>
            <a:xfrm>
              <a:off x="289854" y="211394"/>
              <a:ext cx="58614" cy="77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58" name="Freeform 88"/>
            <p:cNvSpPr/>
            <p:nvPr/>
          </p:nvSpPr>
          <p:spPr>
            <a:xfrm>
              <a:off x="290596" y="91799"/>
              <a:ext cx="60346" cy="87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59" name="Oval 89"/>
            <p:cNvSpPr/>
            <p:nvPr/>
          </p:nvSpPr>
          <p:spPr>
            <a:xfrm>
              <a:off x="340510" y="798398"/>
              <a:ext cx="12701" cy="34745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60" name="Freeform 90"/>
            <p:cNvSpPr/>
            <p:nvPr/>
          </p:nvSpPr>
          <p:spPr>
            <a:xfrm>
              <a:off x="287380" y="799130"/>
              <a:ext cx="60594" cy="731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61" name="AutoShape 91"/>
            <p:cNvSpPr/>
            <p:nvPr/>
          </p:nvSpPr>
          <p:spPr>
            <a:xfrm>
              <a:off x="0" y="822171"/>
              <a:ext cx="296779" cy="5413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62" name="AutoShape 92"/>
            <p:cNvSpPr/>
            <p:nvPr/>
          </p:nvSpPr>
          <p:spPr>
            <a:xfrm>
              <a:off x="15828" y="834972"/>
              <a:ext cx="265123" cy="2999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63" name="Oval 93"/>
            <p:cNvSpPr/>
            <p:nvPr/>
          </p:nvSpPr>
          <p:spPr>
            <a:xfrm>
              <a:off x="41301" y="714279"/>
              <a:ext cx="39571" cy="5230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64" name="Oval 94"/>
            <p:cNvSpPr/>
            <p:nvPr/>
          </p:nvSpPr>
          <p:spPr>
            <a:xfrm>
              <a:off x="85818" y="714279"/>
              <a:ext cx="39571" cy="5230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65" name="Oval 95"/>
            <p:cNvSpPr/>
            <p:nvPr/>
          </p:nvSpPr>
          <p:spPr>
            <a:xfrm>
              <a:off x="128604" y="714279"/>
              <a:ext cx="39571" cy="50839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66" name="Rectangle 96"/>
            <p:cNvSpPr/>
            <p:nvPr/>
          </p:nvSpPr>
          <p:spPr>
            <a:xfrm>
              <a:off x="228519" y="514222"/>
              <a:ext cx="20528" cy="277959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grpSp>
        <p:nvGrpSpPr>
          <p:cNvPr id="9370" name="Group 61"/>
          <p:cNvGrpSpPr/>
          <p:nvPr/>
        </p:nvGrpSpPr>
        <p:grpSpPr>
          <a:xfrm>
            <a:off x="9843241" y="4083753"/>
            <a:ext cx="1192213" cy="1171576"/>
            <a:chOff x="0" y="0"/>
            <a:chExt cx="1192212" cy="1171575"/>
          </a:xfrm>
        </p:grpSpPr>
        <p:pic>
          <p:nvPicPr>
            <p:cNvPr id="9368" name="Picture 62" descr="Picture 6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192213" cy="11715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69" name="Freeform 63"/>
            <p:cNvSpPr/>
            <p:nvPr/>
          </p:nvSpPr>
          <p:spPr>
            <a:xfrm>
              <a:off x="104516" y="112386"/>
              <a:ext cx="579700" cy="5364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9371" name="Text Box 325"/>
          <p:cNvSpPr txBox="1"/>
          <p:nvPr/>
        </p:nvSpPr>
        <p:spPr>
          <a:xfrm>
            <a:off x="844279" y="5516536"/>
            <a:ext cx="2101563" cy="1038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85000"/>
              </a:lnSpc>
              <a:defRPr sz="2400"/>
            </a:pPr>
            <a:r>
              <a:t>server, with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85000"/>
              </a:lnSpc>
              <a:defRPr sz="2400"/>
            </a:pPr>
            <a:r>
              <a:t>file of F bits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85000"/>
              </a:lnSpc>
              <a:defRPr sz="2400"/>
            </a:pPr>
            <a:r>
              <a:t>to send to client</a:t>
            </a:r>
          </a:p>
        </p:txBody>
      </p:sp>
      <p:sp>
        <p:nvSpPr>
          <p:cNvPr id="9372" name="Text Box 328"/>
          <p:cNvSpPr txBox="1"/>
          <p:nvPr/>
        </p:nvSpPr>
        <p:spPr>
          <a:xfrm>
            <a:off x="3144702" y="4936011"/>
            <a:ext cx="1629034" cy="897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85000"/>
              </a:lnSpc>
              <a:defRPr sz="2400"/>
            </a:pPr>
            <a:r>
              <a:t>link capacity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5000"/>
              </a:lnSpc>
              <a:defRPr sz="2400"/>
            </a:pPr>
            <a:r>
              <a:t> R</a:t>
            </a:r>
            <a:r>
              <a:rPr baseline="-25000" sz="3200"/>
              <a:t>s</a:t>
            </a:r>
            <a:r>
              <a:rPr baseline="-25000"/>
              <a:t> </a:t>
            </a:r>
            <a:r>
              <a:t>bits/sec</a:t>
            </a:r>
          </a:p>
        </p:txBody>
      </p:sp>
      <p:sp>
        <p:nvSpPr>
          <p:cNvPr id="9373" name="Text Box 329"/>
          <p:cNvSpPr txBox="1"/>
          <p:nvPr/>
        </p:nvSpPr>
        <p:spPr>
          <a:xfrm>
            <a:off x="7264549" y="4939162"/>
            <a:ext cx="1629034" cy="897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85000"/>
              </a:lnSpc>
              <a:defRPr sz="2400"/>
            </a:pPr>
            <a:r>
              <a:t>link capacity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5000"/>
              </a:lnSpc>
              <a:defRPr sz="2400"/>
            </a:pPr>
            <a:r>
              <a:t> R</a:t>
            </a:r>
            <a:r>
              <a:rPr baseline="-25000" sz="3200"/>
              <a:t>c</a:t>
            </a:r>
            <a:r>
              <a:rPr baseline="-25000"/>
              <a:t> </a:t>
            </a:r>
            <a:r>
              <a:t>bits/sec</a:t>
            </a:r>
          </a:p>
        </p:txBody>
      </p:sp>
      <p:grpSp>
        <p:nvGrpSpPr>
          <p:cNvPr id="9377" name="Group 99"/>
          <p:cNvGrpSpPr/>
          <p:nvPr/>
        </p:nvGrpSpPr>
        <p:grpSpPr>
          <a:xfrm>
            <a:off x="644750" y="4976621"/>
            <a:ext cx="9050340" cy="1534210"/>
            <a:chOff x="0" y="0"/>
            <a:chExt cx="9050338" cy="1534209"/>
          </a:xfrm>
        </p:grpSpPr>
        <p:sp>
          <p:nvSpPr>
            <p:cNvPr id="9374" name="Text Box 353"/>
            <p:cNvSpPr txBox="1"/>
            <p:nvPr/>
          </p:nvSpPr>
          <p:spPr>
            <a:xfrm>
              <a:off x="0" y="450850"/>
              <a:ext cx="2319338" cy="108336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85000"/>
                </a:lnSpc>
                <a:defRPr sz="2400"/>
              </a:pPr>
              <a:r>
                <a:t>server sends bits 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  <a:defRPr sz="2400"/>
              </a:pPr>
              <a:r>
                <a:t>(fluid) into pipe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5" name="Text Box 336"/>
            <p:cNvSpPr txBox="1"/>
            <p:nvPr/>
          </p:nvSpPr>
          <p:spPr>
            <a:xfrm>
              <a:off x="2260600" y="4762"/>
              <a:ext cx="2808289" cy="128292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85000"/>
                </a:lnSpc>
                <a:defRPr sz="2400">
                  <a:latin typeface="Gill Sans MT"/>
                  <a:ea typeface="Gill Sans MT"/>
                  <a:cs typeface="Gill Sans MT"/>
                  <a:sym typeface="Gill Sans MT"/>
                </a:defRPr>
              </a:pPr>
              <a:r>
                <a:t> </a:t>
              </a:r>
              <a:r>
                <a:rPr>
                  <a:latin typeface="+mn-lt"/>
                  <a:ea typeface="+mn-ea"/>
                  <a:cs typeface="+mn-cs"/>
                  <a:sym typeface="Calibri"/>
                </a:rPr>
                <a:t>pipe that can carry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  <a:defRPr sz="2400"/>
              </a:pPr>
              <a:r>
                <a:t>fluid at rate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  <a:defRPr sz="2400"/>
              </a:pPr>
              <a:r>
                <a:t> (</a:t>
              </a:r>
              <a:r>
                <a:rPr i="1"/>
                <a:t>R</a:t>
              </a:r>
              <a:r>
                <a:rPr baseline="-25000" i="1" sz="3200"/>
                <a:t>s</a:t>
              </a:r>
              <a:r>
                <a:rPr baseline="-25000" i="1"/>
                <a:t> </a:t>
              </a:r>
              <a:r>
                <a:t>bits/sec)</a:t>
              </a:r>
            </a:p>
          </p:txBody>
        </p:sp>
        <p:sp>
          <p:nvSpPr>
            <p:cNvPr id="9376" name="Text Box 346"/>
            <p:cNvSpPr txBox="1"/>
            <p:nvPr/>
          </p:nvSpPr>
          <p:spPr>
            <a:xfrm>
              <a:off x="6097588" y="0"/>
              <a:ext cx="2952751" cy="122055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85000"/>
                </a:lnSpc>
                <a:defRPr sz="2400"/>
              </a:pPr>
              <a:r>
                <a:t> pipe that can carry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  <a:defRPr sz="2400"/>
              </a:pPr>
              <a:r>
                <a:t>fluid at rate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ct val="85000"/>
                </a:lnSpc>
                <a:defRPr i="1" sz="2400"/>
              </a:pPr>
              <a:r>
                <a:t> (R</a:t>
              </a:r>
              <a:r>
                <a:rPr baseline="-25000" sz="3200"/>
                <a:t>c</a:t>
              </a:r>
              <a:r>
                <a:rPr baseline="-25000"/>
                <a:t> </a:t>
              </a:r>
              <a:r>
                <a:rPr i="0"/>
                <a:t>bits/sec)</a:t>
              </a:r>
            </a:p>
          </p:txBody>
        </p:sp>
      </p:grpSp>
      <p:grpSp>
        <p:nvGrpSpPr>
          <p:cNvPr id="9391" name="Group 7"/>
          <p:cNvGrpSpPr/>
          <p:nvPr/>
        </p:nvGrpSpPr>
        <p:grpSpPr>
          <a:xfrm>
            <a:off x="2071328" y="4013903"/>
            <a:ext cx="7826650" cy="763665"/>
            <a:chOff x="0" y="0"/>
            <a:chExt cx="7826648" cy="763663"/>
          </a:xfrm>
        </p:grpSpPr>
        <p:sp>
          <p:nvSpPr>
            <p:cNvPr id="9378" name="AutoShape 350"/>
            <p:cNvSpPr/>
            <p:nvPr/>
          </p:nvSpPr>
          <p:spPr>
            <a:xfrm>
              <a:off x="6937648" y="261938"/>
              <a:ext cx="889001" cy="485776"/>
            </a:xfrm>
            <a:prstGeom prst="rightArrow">
              <a:avLst>
                <a:gd name="adj1" fmla="val 50000"/>
                <a:gd name="adj2" fmla="val 45752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>
              <a:solidFill>
                <a:srgbClr val="CC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9383" name="Group 335"/>
            <p:cNvGrpSpPr/>
            <p:nvPr/>
          </p:nvGrpSpPr>
          <p:grpSpPr>
            <a:xfrm>
              <a:off x="945140" y="306049"/>
              <a:ext cx="2322513" cy="392113"/>
              <a:chOff x="0" y="0"/>
              <a:chExt cx="2322512" cy="392111"/>
            </a:xfrm>
          </p:grpSpPr>
          <p:sp>
            <p:nvSpPr>
              <p:cNvPr id="9379" name="Oval 333"/>
              <p:cNvSpPr/>
              <p:nvPr/>
            </p:nvSpPr>
            <p:spPr>
              <a:xfrm>
                <a:off x="2207138" y="4595"/>
                <a:ext cx="115375" cy="387517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80" name="Rectangle 332"/>
              <p:cNvSpPr/>
              <p:nvPr/>
            </p:nvSpPr>
            <p:spPr>
              <a:xfrm>
                <a:off x="43473" y="4595"/>
                <a:ext cx="2217172" cy="387517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81" name="Oval 331"/>
              <p:cNvSpPr/>
              <p:nvPr/>
            </p:nvSpPr>
            <p:spPr>
              <a:xfrm>
                <a:off x="0" y="0"/>
                <a:ext cx="115375" cy="387517"/>
              </a:xfrm>
              <a:prstGeom prst="ellipse">
                <a:avLst/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82" name="Rectangle 334"/>
              <p:cNvSpPr/>
              <p:nvPr/>
            </p:nvSpPr>
            <p:spPr>
              <a:xfrm>
                <a:off x="2195434" y="12253"/>
                <a:ext cx="73572" cy="376796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  <p:grpSp>
          <p:nvGrpSpPr>
            <p:cNvPr id="9388" name="Group 341"/>
            <p:cNvGrpSpPr/>
            <p:nvPr/>
          </p:nvGrpSpPr>
          <p:grpSpPr>
            <a:xfrm>
              <a:off x="4404522" y="182638"/>
              <a:ext cx="2801939" cy="581026"/>
              <a:chOff x="0" y="0"/>
              <a:chExt cx="2801937" cy="581024"/>
            </a:xfrm>
          </p:grpSpPr>
          <p:sp>
            <p:nvSpPr>
              <p:cNvPr id="9384" name="Oval 342"/>
              <p:cNvSpPr/>
              <p:nvPr/>
            </p:nvSpPr>
            <p:spPr>
              <a:xfrm>
                <a:off x="2662747" y="6808"/>
                <a:ext cx="139191" cy="574217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85" name="Rectangle 343"/>
              <p:cNvSpPr/>
              <p:nvPr/>
            </p:nvSpPr>
            <p:spPr>
              <a:xfrm>
                <a:off x="52448" y="6808"/>
                <a:ext cx="2674852" cy="574217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86" name="Oval 344"/>
              <p:cNvSpPr/>
              <p:nvPr/>
            </p:nvSpPr>
            <p:spPr>
              <a:xfrm>
                <a:off x="0" y="-1"/>
                <a:ext cx="139191" cy="574218"/>
              </a:xfrm>
              <a:prstGeom prst="ellipse">
                <a:avLst/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87" name="Rectangle 345"/>
              <p:cNvSpPr/>
              <p:nvPr/>
            </p:nvSpPr>
            <p:spPr>
              <a:xfrm>
                <a:off x="2648626" y="18157"/>
                <a:ext cx="88759" cy="558329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  <p:sp>
          <p:nvSpPr>
            <p:cNvPr id="9389" name="AutoShape 351"/>
            <p:cNvSpPr/>
            <p:nvPr/>
          </p:nvSpPr>
          <p:spPr>
            <a:xfrm>
              <a:off x="3224212" y="244475"/>
              <a:ext cx="1279526" cy="485776"/>
            </a:xfrm>
            <a:prstGeom prst="rightArrow">
              <a:avLst>
                <a:gd name="adj1" fmla="val 50000"/>
                <a:gd name="adj2" fmla="val 65850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>
              <a:solidFill>
                <a:srgbClr val="CC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390" name="AutoShape 349"/>
            <p:cNvSpPr/>
            <p:nvPr/>
          </p:nvSpPr>
          <p:spPr>
            <a:xfrm flipH="1" rot="10800000">
              <a:off x="0" y="0"/>
              <a:ext cx="974726" cy="720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>
              <a:solidFill>
                <a:srgbClr val="CC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9392" name="Straight Connector 3"/>
          <p:cNvSpPr/>
          <p:nvPr/>
        </p:nvSpPr>
        <p:spPr>
          <a:xfrm>
            <a:off x="2663444" y="4956164"/>
            <a:ext cx="1" cy="49926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393" name="Straight Connector 314"/>
          <p:cNvSpPr/>
          <p:nvPr/>
        </p:nvSpPr>
        <p:spPr>
          <a:xfrm>
            <a:off x="3671249" y="4571341"/>
            <a:ext cx="1" cy="49926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394" name="Straight Connector 315"/>
          <p:cNvSpPr/>
          <p:nvPr/>
        </p:nvSpPr>
        <p:spPr>
          <a:xfrm>
            <a:off x="7773171" y="4574885"/>
            <a:ext cx="1" cy="499263"/>
          </a:xfrm>
          <a:prstGeom prst="line">
            <a:avLst/>
          </a:prstGeom>
          <a:ln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39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377" grpId="1"/>
      <p:bldP build="whole" bldLvl="1" animBg="1" rev="0" advAuto="0" spid="9391" grpId="2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7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Throughput</a:t>
            </a:r>
          </a:p>
        </p:txBody>
      </p:sp>
      <p:grpSp>
        <p:nvGrpSpPr>
          <p:cNvPr id="9407" name="Group 347"/>
          <p:cNvGrpSpPr/>
          <p:nvPr/>
        </p:nvGrpSpPr>
        <p:grpSpPr>
          <a:xfrm>
            <a:off x="4983726" y="4245735"/>
            <a:ext cx="912814" cy="415926"/>
            <a:chOff x="0" y="0"/>
            <a:chExt cx="912813" cy="415924"/>
          </a:xfrm>
        </p:grpSpPr>
        <p:sp>
          <p:nvSpPr>
            <p:cNvPr id="9398" name="Oval 429"/>
            <p:cNvSpPr/>
            <p:nvPr/>
          </p:nvSpPr>
          <p:spPr>
            <a:xfrm flipH="1" rot="10800000">
              <a:off x="2563" y="112412"/>
              <a:ext cx="910251" cy="303513"/>
            </a:xfrm>
            <a:prstGeom prst="ellipse">
              <a:avLst/>
            </a:prstGeom>
            <a:gradFill flip="none" rotWithShape="1"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w="635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80808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399" name="Rectangle 430"/>
            <p:cNvSpPr/>
            <p:nvPr/>
          </p:nvSpPr>
          <p:spPr>
            <a:xfrm>
              <a:off x="0" y="155574"/>
              <a:ext cx="912813" cy="109537"/>
            </a:xfrm>
            <a:prstGeom prst="rect">
              <a:avLst/>
            </a:prstGeom>
            <a:gradFill flip="none" rotWithShape="1"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400" name="Oval 431"/>
            <p:cNvSpPr/>
            <p:nvPr/>
          </p:nvSpPr>
          <p:spPr>
            <a:xfrm flipH="1" rot="10800000">
              <a:off x="-1" y="0"/>
              <a:ext cx="910250" cy="303513"/>
            </a:xfrm>
            <a:prstGeom prst="ellipse">
              <a:avLst/>
            </a:prstGeom>
            <a:solidFill>
              <a:srgbClr val="BFBFBF"/>
            </a:solidFill>
            <a:ln w="635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80808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401" name="Freeform 432"/>
            <p:cNvSpPr/>
            <p:nvPr/>
          </p:nvSpPr>
          <p:spPr>
            <a:xfrm>
              <a:off x="233363" y="92074"/>
              <a:ext cx="442912" cy="152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8" y="12275"/>
                  </a:moveTo>
                  <a:lnTo>
                    <a:pt x="2205" y="21600"/>
                  </a:lnTo>
                  <a:lnTo>
                    <a:pt x="0" y="20085"/>
                  </a:lnTo>
                  <a:lnTo>
                    <a:pt x="6759" y="13691"/>
                  </a:lnTo>
                  <a:lnTo>
                    <a:pt x="6566" y="7372"/>
                  </a:lnTo>
                  <a:lnTo>
                    <a:pt x="1493" y="1956"/>
                  </a:lnTo>
                  <a:lnTo>
                    <a:pt x="3205" y="827"/>
                  </a:lnTo>
                  <a:lnTo>
                    <a:pt x="10734" y="8200"/>
                  </a:lnTo>
                  <a:lnTo>
                    <a:pt x="18423" y="0"/>
                  </a:lnTo>
                  <a:lnTo>
                    <a:pt x="20556" y="1580"/>
                  </a:lnTo>
                  <a:lnTo>
                    <a:pt x="14966" y="7071"/>
                  </a:lnTo>
                  <a:lnTo>
                    <a:pt x="16097" y="15045"/>
                  </a:lnTo>
                  <a:lnTo>
                    <a:pt x="21600" y="20085"/>
                  </a:lnTo>
                  <a:lnTo>
                    <a:pt x="19719" y="21520"/>
                  </a:lnTo>
                  <a:lnTo>
                    <a:pt x="10798" y="12275"/>
                  </a:lnTo>
                  <a:close/>
                </a:path>
              </a:pathLst>
            </a:custGeom>
            <a:solidFill>
              <a:srgbClr val="8585E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402" name="Freeform 433"/>
            <p:cNvSpPr/>
            <p:nvPr/>
          </p:nvSpPr>
          <p:spPr>
            <a:xfrm>
              <a:off x="187176" y="53957"/>
              <a:ext cx="535895" cy="105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84"/>
                  </a:moveTo>
                  <a:lnTo>
                    <a:pt x="3801" y="62"/>
                  </a:lnTo>
                  <a:lnTo>
                    <a:pt x="10765" y="12052"/>
                  </a:lnTo>
                  <a:lnTo>
                    <a:pt x="17410" y="0"/>
                  </a:lnTo>
                  <a:lnTo>
                    <a:pt x="21600" y="4796"/>
                  </a:lnTo>
                  <a:lnTo>
                    <a:pt x="18483" y="10693"/>
                  </a:lnTo>
                  <a:lnTo>
                    <a:pt x="17479" y="9104"/>
                  </a:lnTo>
                  <a:lnTo>
                    <a:pt x="10888" y="21600"/>
                  </a:lnTo>
                  <a:lnTo>
                    <a:pt x="4128" y="9563"/>
                  </a:lnTo>
                  <a:lnTo>
                    <a:pt x="3035" y="10862"/>
                  </a:lnTo>
                  <a:lnTo>
                    <a:pt x="0" y="5284"/>
                  </a:lnTo>
                  <a:close/>
                </a:path>
              </a:pathLst>
            </a:custGeom>
            <a:solidFill>
              <a:srgbClr val="26269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03" name="Freeform 434"/>
            <p:cNvSpPr/>
            <p:nvPr/>
          </p:nvSpPr>
          <p:spPr>
            <a:xfrm>
              <a:off x="538457" y="143887"/>
              <a:ext cx="197434" cy="92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21600" fill="norm" stroke="1" extrusionOk="0">
                  <a:moveTo>
                    <a:pt x="0" y="0"/>
                  </a:moveTo>
                  <a:lnTo>
                    <a:pt x="21576" y="16691"/>
                  </a:lnTo>
                  <a:lnTo>
                    <a:pt x="13658" y="21600"/>
                  </a:lnTo>
                  <a:lnTo>
                    <a:pt x="73" y="11414"/>
                  </a:lnTo>
                  <a:cubicBezTo>
                    <a:pt x="-24" y="2823"/>
                    <a:pt x="24" y="3805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04" name="Freeform 435"/>
            <p:cNvSpPr/>
            <p:nvPr/>
          </p:nvSpPr>
          <p:spPr>
            <a:xfrm>
              <a:off x="176920" y="146136"/>
              <a:ext cx="194871" cy="92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05" y="0"/>
                  </a:moveTo>
                  <a:lnTo>
                    <a:pt x="21600" y="10423"/>
                  </a:lnTo>
                  <a:lnTo>
                    <a:pt x="7814" y="21600"/>
                  </a:lnTo>
                  <a:lnTo>
                    <a:pt x="0" y="16702"/>
                  </a:lnTo>
                  <a:lnTo>
                    <a:pt x="21305" y="0"/>
                  </a:lnTo>
                  <a:close/>
                </a:path>
              </a:pathLst>
            </a:custGeom>
            <a:solidFill>
              <a:srgbClr val="26269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05" name="Straight Connector 436"/>
            <p:cNvSpPr/>
            <p:nvPr/>
          </p:nvSpPr>
          <p:spPr>
            <a:xfrm flipH="1" flipV="1">
              <a:off x="0" y="152880"/>
              <a:ext cx="2564" cy="116909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19939" dir="5400000">
                <a:srgbClr val="808080">
                  <a:alpha val="37999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06" name="Straight Connector 437"/>
            <p:cNvSpPr/>
            <p:nvPr/>
          </p:nvSpPr>
          <p:spPr>
            <a:xfrm flipH="1" flipV="1">
              <a:off x="910247" y="150632"/>
              <a:ext cx="2566" cy="116909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19939" dir="5400000">
                <a:srgbClr val="808080">
                  <a:alpha val="37999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417" name="Group 347"/>
          <p:cNvGrpSpPr/>
          <p:nvPr/>
        </p:nvGrpSpPr>
        <p:grpSpPr>
          <a:xfrm>
            <a:off x="4937688" y="2318255"/>
            <a:ext cx="911227" cy="415926"/>
            <a:chOff x="0" y="0"/>
            <a:chExt cx="911225" cy="415924"/>
          </a:xfrm>
        </p:grpSpPr>
        <p:sp>
          <p:nvSpPr>
            <p:cNvPr id="9408" name="Oval 439"/>
            <p:cNvSpPr/>
            <p:nvPr/>
          </p:nvSpPr>
          <p:spPr>
            <a:xfrm flipH="1" rot="10800000">
              <a:off x="2559" y="112412"/>
              <a:ext cx="908667" cy="303513"/>
            </a:xfrm>
            <a:prstGeom prst="ellipse">
              <a:avLst/>
            </a:prstGeom>
            <a:gradFill flip="none" rotWithShape="1"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w="635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80808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409" name="Rectangle 440"/>
            <p:cNvSpPr/>
            <p:nvPr/>
          </p:nvSpPr>
          <p:spPr>
            <a:xfrm>
              <a:off x="0" y="155574"/>
              <a:ext cx="911225" cy="109538"/>
            </a:xfrm>
            <a:prstGeom prst="rect">
              <a:avLst/>
            </a:prstGeom>
            <a:gradFill flip="none" rotWithShape="1"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410" name="Oval 441"/>
            <p:cNvSpPr/>
            <p:nvPr/>
          </p:nvSpPr>
          <p:spPr>
            <a:xfrm flipH="1" rot="10800000">
              <a:off x="0" y="0"/>
              <a:ext cx="908665" cy="303513"/>
            </a:xfrm>
            <a:prstGeom prst="ellipse">
              <a:avLst/>
            </a:prstGeom>
            <a:solidFill>
              <a:srgbClr val="BFBFBF"/>
            </a:solidFill>
            <a:ln w="635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80808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411" name="Freeform 442"/>
            <p:cNvSpPr/>
            <p:nvPr/>
          </p:nvSpPr>
          <p:spPr>
            <a:xfrm>
              <a:off x="233361" y="92074"/>
              <a:ext cx="442914" cy="152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8" y="12275"/>
                  </a:moveTo>
                  <a:lnTo>
                    <a:pt x="2205" y="21600"/>
                  </a:lnTo>
                  <a:lnTo>
                    <a:pt x="0" y="20085"/>
                  </a:lnTo>
                  <a:lnTo>
                    <a:pt x="6759" y="13691"/>
                  </a:lnTo>
                  <a:lnTo>
                    <a:pt x="6566" y="7372"/>
                  </a:lnTo>
                  <a:lnTo>
                    <a:pt x="1493" y="1956"/>
                  </a:lnTo>
                  <a:lnTo>
                    <a:pt x="3205" y="827"/>
                  </a:lnTo>
                  <a:lnTo>
                    <a:pt x="10734" y="8200"/>
                  </a:lnTo>
                  <a:lnTo>
                    <a:pt x="18423" y="0"/>
                  </a:lnTo>
                  <a:lnTo>
                    <a:pt x="20556" y="1580"/>
                  </a:lnTo>
                  <a:lnTo>
                    <a:pt x="14966" y="7071"/>
                  </a:lnTo>
                  <a:lnTo>
                    <a:pt x="16097" y="15045"/>
                  </a:lnTo>
                  <a:lnTo>
                    <a:pt x="21600" y="20085"/>
                  </a:lnTo>
                  <a:lnTo>
                    <a:pt x="19719" y="21520"/>
                  </a:lnTo>
                  <a:lnTo>
                    <a:pt x="10798" y="12275"/>
                  </a:lnTo>
                  <a:close/>
                </a:path>
              </a:pathLst>
            </a:custGeom>
            <a:solidFill>
              <a:srgbClr val="8585E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412" name="Freeform 443"/>
            <p:cNvSpPr/>
            <p:nvPr/>
          </p:nvSpPr>
          <p:spPr>
            <a:xfrm>
              <a:off x="186851" y="53957"/>
              <a:ext cx="534963" cy="105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5284"/>
                  </a:moveTo>
                  <a:lnTo>
                    <a:pt x="3801" y="62"/>
                  </a:lnTo>
                  <a:lnTo>
                    <a:pt x="10765" y="12052"/>
                  </a:lnTo>
                  <a:lnTo>
                    <a:pt x="17410" y="0"/>
                  </a:lnTo>
                  <a:lnTo>
                    <a:pt x="21600" y="4796"/>
                  </a:lnTo>
                  <a:lnTo>
                    <a:pt x="18483" y="10693"/>
                  </a:lnTo>
                  <a:lnTo>
                    <a:pt x="17479" y="9104"/>
                  </a:lnTo>
                  <a:lnTo>
                    <a:pt x="10888" y="21600"/>
                  </a:lnTo>
                  <a:lnTo>
                    <a:pt x="4128" y="9563"/>
                  </a:lnTo>
                  <a:lnTo>
                    <a:pt x="3035" y="10862"/>
                  </a:lnTo>
                  <a:lnTo>
                    <a:pt x="0" y="5284"/>
                  </a:lnTo>
                  <a:close/>
                </a:path>
              </a:pathLst>
            </a:custGeom>
            <a:solidFill>
              <a:srgbClr val="26269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13" name="Freeform 444"/>
            <p:cNvSpPr/>
            <p:nvPr/>
          </p:nvSpPr>
          <p:spPr>
            <a:xfrm>
              <a:off x="537520" y="143887"/>
              <a:ext cx="197091" cy="92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21600" fill="norm" stroke="1" extrusionOk="0">
                  <a:moveTo>
                    <a:pt x="0" y="0"/>
                  </a:moveTo>
                  <a:lnTo>
                    <a:pt x="21576" y="16691"/>
                  </a:lnTo>
                  <a:lnTo>
                    <a:pt x="13658" y="21600"/>
                  </a:lnTo>
                  <a:lnTo>
                    <a:pt x="73" y="11414"/>
                  </a:lnTo>
                  <a:cubicBezTo>
                    <a:pt x="-24" y="2823"/>
                    <a:pt x="24" y="3805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14" name="Freeform 445"/>
            <p:cNvSpPr/>
            <p:nvPr/>
          </p:nvSpPr>
          <p:spPr>
            <a:xfrm>
              <a:off x="176612" y="146136"/>
              <a:ext cx="194532" cy="92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05" y="0"/>
                  </a:moveTo>
                  <a:lnTo>
                    <a:pt x="21600" y="10423"/>
                  </a:lnTo>
                  <a:lnTo>
                    <a:pt x="7814" y="21600"/>
                  </a:lnTo>
                  <a:lnTo>
                    <a:pt x="0" y="16702"/>
                  </a:lnTo>
                  <a:lnTo>
                    <a:pt x="21305" y="0"/>
                  </a:lnTo>
                  <a:close/>
                </a:path>
              </a:pathLst>
            </a:custGeom>
            <a:solidFill>
              <a:srgbClr val="26269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4999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15" name="Straight Connector 446"/>
            <p:cNvSpPr/>
            <p:nvPr/>
          </p:nvSpPr>
          <p:spPr>
            <a:xfrm flipH="1" flipV="1">
              <a:off x="0" y="152880"/>
              <a:ext cx="2560" cy="116909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19939" dir="5400000">
                <a:srgbClr val="808080">
                  <a:alpha val="37999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16" name="Straight Connector 447"/>
            <p:cNvSpPr/>
            <p:nvPr/>
          </p:nvSpPr>
          <p:spPr>
            <a:xfrm flipH="1" flipV="1">
              <a:off x="908664" y="150632"/>
              <a:ext cx="2561" cy="116909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19939" dir="5400000">
                <a:srgbClr val="808080">
                  <a:alpha val="37999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450" name="Group 140"/>
          <p:cNvGrpSpPr/>
          <p:nvPr/>
        </p:nvGrpSpPr>
        <p:grpSpPr>
          <a:xfrm>
            <a:off x="2292913" y="1991229"/>
            <a:ext cx="353212" cy="876301"/>
            <a:chOff x="0" y="0"/>
            <a:chExt cx="353210" cy="876300"/>
          </a:xfrm>
        </p:grpSpPr>
        <p:sp>
          <p:nvSpPr>
            <p:cNvPr id="9418" name="Freeform 141"/>
            <p:cNvSpPr/>
            <p:nvPr/>
          </p:nvSpPr>
          <p:spPr>
            <a:xfrm>
              <a:off x="278972" y="1462"/>
              <a:ext cx="69991" cy="8360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19" name="Rectangle 142"/>
            <p:cNvSpPr/>
            <p:nvPr/>
          </p:nvSpPr>
          <p:spPr>
            <a:xfrm>
              <a:off x="15828" y="0"/>
              <a:ext cx="258693" cy="834973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20" name="Freeform 143"/>
            <p:cNvSpPr/>
            <p:nvPr/>
          </p:nvSpPr>
          <p:spPr>
            <a:xfrm>
              <a:off x="293466" y="51568"/>
              <a:ext cx="40411" cy="762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21" name="Freeform 144"/>
            <p:cNvSpPr/>
            <p:nvPr/>
          </p:nvSpPr>
          <p:spPr>
            <a:xfrm>
              <a:off x="282929" y="442904"/>
              <a:ext cx="65045" cy="69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22" name="Rectangle 145"/>
            <p:cNvSpPr/>
            <p:nvPr/>
          </p:nvSpPr>
          <p:spPr>
            <a:xfrm>
              <a:off x="17559" y="96919"/>
              <a:ext cx="147648" cy="17556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9425" name="Group 146"/>
            <p:cNvGrpSpPr/>
            <p:nvPr/>
          </p:nvGrpSpPr>
          <p:grpSpPr>
            <a:xfrm>
              <a:off x="150813" y="87410"/>
              <a:ext cx="142899" cy="52270"/>
              <a:chOff x="0" y="0"/>
              <a:chExt cx="142897" cy="52268"/>
            </a:xfrm>
          </p:grpSpPr>
          <p:sp>
            <p:nvSpPr>
              <p:cNvPr id="9423" name="AutoShape 147"/>
              <p:cNvSpPr/>
              <p:nvPr/>
            </p:nvSpPr>
            <p:spPr>
              <a:xfrm>
                <a:off x="0" y="0"/>
                <a:ext cx="142898" cy="5226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24" name="AutoShape 148"/>
              <p:cNvSpPr/>
              <p:nvPr/>
            </p:nvSpPr>
            <p:spPr>
              <a:xfrm>
                <a:off x="3171" y="6104"/>
                <a:ext cx="136556" cy="3815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9426" name="Rectangle 149"/>
            <p:cNvSpPr/>
            <p:nvPr/>
          </p:nvSpPr>
          <p:spPr>
            <a:xfrm>
              <a:off x="20527" y="215783"/>
              <a:ext cx="147648" cy="17556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9429" name="Group 150"/>
            <p:cNvGrpSpPr/>
            <p:nvPr/>
          </p:nvGrpSpPr>
          <p:grpSpPr>
            <a:xfrm>
              <a:off x="150715" y="206287"/>
              <a:ext cx="142898" cy="49362"/>
              <a:chOff x="0" y="0"/>
              <a:chExt cx="142897" cy="49361"/>
            </a:xfrm>
          </p:grpSpPr>
          <p:sp>
            <p:nvSpPr>
              <p:cNvPr id="9427" name="AutoShape 151"/>
              <p:cNvSpPr/>
              <p:nvPr/>
            </p:nvSpPr>
            <p:spPr>
              <a:xfrm>
                <a:off x="0" y="0"/>
                <a:ext cx="142898" cy="493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28" name="AutoShape 152"/>
              <p:cNvSpPr/>
              <p:nvPr/>
            </p:nvSpPr>
            <p:spPr>
              <a:xfrm>
                <a:off x="3369" y="6346"/>
                <a:ext cx="136556" cy="3666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9430" name="Rectangle 153"/>
            <p:cNvSpPr/>
            <p:nvPr/>
          </p:nvSpPr>
          <p:spPr>
            <a:xfrm>
              <a:off x="19043" y="339767"/>
              <a:ext cx="147648" cy="17556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31" name="Rectangle 154"/>
            <p:cNvSpPr/>
            <p:nvPr/>
          </p:nvSpPr>
          <p:spPr>
            <a:xfrm>
              <a:off x="22258" y="447659"/>
              <a:ext cx="147648" cy="17556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9434" name="Group 155"/>
            <p:cNvGrpSpPr/>
            <p:nvPr/>
          </p:nvGrpSpPr>
          <p:grpSpPr>
            <a:xfrm>
              <a:off x="147549" y="438150"/>
              <a:ext cx="142947" cy="55624"/>
              <a:chOff x="0" y="0"/>
              <a:chExt cx="142945" cy="55623"/>
            </a:xfrm>
          </p:grpSpPr>
          <p:sp>
            <p:nvSpPr>
              <p:cNvPr id="9432" name="AutoShape 156"/>
              <p:cNvSpPr/>
              <p:nvPr/>
            </p:nvSpPr>
            <p:spPr>
              <a:xfrm>
                <a:off x="0" y="0"/>
                <a:ext cx="142946" cy="5562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33" name="AutoShape 157"/>
              <p:cNvSpPr/>
              <p:nvPr/>
            </p:nvSpPr>
            <p:spPr>
              <a:xfrm>
                <a:off x="3176" y="6356"/>
                <a:ext cx="136593" cy="4291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9435" name="Freeform 158"/>
            <p:cNvSpPr/>
            <p:nvPr/>
          </p:nvSpPr>
          <p:spPr>
            <a:xfrm>
              <a:off x="283918" y="338304"/>
              <a:ext cx="65045" cy="68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9438" name="Group 159"/>
            <p:cNvGrpSpPr/>
            <p:nvPr/>
          </p:nvGrpSpPr>
          <p:grpSpPr>
            <a:xfrm>
              <a:off x="147546" y="328795"/>
              <a:ext cx="144534" cy="50838"/>
              <a:chOff x="0" y="0"/>
              <a:chExt cx="144533" cy="50837"/>
            </a:xfrm>
          </p:grpSpPr>
          <p:sp>
            <p:nvSpPr>
              <p:cNvPr id="9436" name="AutoShape 160"/>
              <p:cNvSpPr/>
              <p:nvPr/>
            </p:nvSpPr>
            <p:spPr>
              <a:xfrm>
                <a:off x="0" y="0"/>
                <a:ext cx="144534" cy="508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37" name="AutoShape 161"/>
              <p:cNvSpPr/>
              <p:nvPr/>
            </p:nvSpPr>
            <p:spPr>
              <a:xfrm>
                <a:off x="3176" y="6217"/>
                <a:ext cx="138181" cy="3803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9439" name="Rectangle 162"/>
            <p:cNvSpPr/>
            <p:nvPr/>
          </p:nvSpPr>
          <p:spPr>
            <a:xfrm>
              <a:off x="274520" y="0"/>
              <a:ext cx="17560" cy="836435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0" name="Freeform 163"/>
            <p:cNvSpPr/>
            <p:nvPr/>
          </p:nvSpPr>
          <p:spPr>
            <a:xfrm>
              <a:off x="289854" y="211394"/>
              <a:ext cx="58614" cy="77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1" name="Freeform 164"/>
            <p:cNvSpPr/>
            <p:nvPr/>
          </p:nvSpPr>
          <p:spPr>
            <a:xfrm>
              <a:off x="290596" y="91799"/>
              <a:ext cx="60346" cy="87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2" name="Oval 165"/>
            <p:cNvSpPr/>
            <p:nvPr/>
          </p:nvSpPr>
          <p:spPr>
            <a:xfrm>
              <a:off x="340510" y="798398"/>
              <a:ext cx="12701" cy="34745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3" name="Freeform 166"/>
            <p:cNvSpPr/>
            <p:nvPr/>
          </p:nvSpPr>
          <p:spPr>
            <a:xfrm>
              <a:off x="287380" y="799130"/>
              <a:ext cx="60594" cy="731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4" name="AutoShape 167"/>
            <p:cNvSpPr/>
            <p:nvPr/>
          </p:nvSpPr>
          <p:spPr>
            <a:xfrm>
              <a:off x="0" y="822171"/>
              <a:ext cx="296779" cy="5413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5" name="AutoShape 168"/>
            <p:cNvSpPr/>
            <p:nvPr/>
          </p:nvSpPr>
          <p:spPr>
            <a:xfrm>
              <a:off x="15828" y="834972"/>
              <a:ext cx="265123" cy="2999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6" name="Oval 169"/>
            <p:cNvSpPr/>
            <p:nvPr/>
          </p:nvSpPr>
          <p:spPr>
            <a:xfrm>
              <a:off x="41301" y="714279"/>
              <a:ext cx="39571" cy="52301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7" name="Oval 170"/>
            <p:cNvSpPr/>
            <p:nvPr/>
          </p:nvSpPr>
          <p:spPr>
            <a:xfrm>
              <a:off x="85818" y="714279"/>
              <a:ext cx="39571" cy="52301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</a:defRPr>
              </a:pPr>
            </a:p>
          </p:txBody>
        </p:sp>
        <p:sp>
          <p:nvSpPr>
            <p:cNvPr id="9448" name="Oval 171"/>
            <p:cNvSpPr/>
            <p:nvPr/>
          </p:nvSpPr>
          <p:spPr>
            <a:xfrm>
              <a:off x="128604" y="714279"/>
              <a:ext cx="39571" cy="50839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49" name="Rectangle 172"/>
            <p:cNvSpPr/>
            <p:nvPr/>
          </p:nvSpPr>
          <p:spPr>
            <a:xfrm>
              <a:off x="228519" y="514222"/>
              <a:ext cx="20528" cy="277959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9451" name="Rectangle 4"/>
          <p:cNvSpPr txBox="1"/>
          <p:nvPr/>
        </p:nvSpPr>
        <p:spPr>
          <a:xfrm>
            <a:off x="1243259" y="1361756"/>
            <a:ext cx="8058786" cy="512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  <a:defRPr i="1" sz="2800">
                <a:solidFill>
                  <a:srgbClr val="CC0000"/>
                </a:solidFill>
              </a:defRPr>
            </a:pPr>
            <a:r>
              <a:t>R</a:t>
            </a:r>
            <a:r>
              <a:rPr baseline="-25000"/>
              <a:t>s</a:t>
            </a:r>
            <a:r>
              <a:t> &lt; R</a:t>
            </a:r>
            <a:r>
              <a:rPr baseline="-25000"/>
              <a:t>c</a:t>
            </a:r>
            <a:r>
              <a:rPr>
                <a:solidFill>
                  <a:srgbClr val="FF3300"/>
                </a:solidFill>
              </a:rPr>
              <a:t>  </a:t>
            </a:r>
            <a:r>
              <a:rPr i="0">
                <a:solidFill>
                  <a:srgbClr val="000000"/>
                </a:solidFill>
              </a:rPr>
              <a:t>What is average end-end throughput?</a:t>
            </a:r>
          </a:p>
        </p:txBody>
      </p:sp>
      <p:grpSp>
        <p:nvGrpSpPr>
          <p:cNvPr id="9456" name="Group 34"/>
          <p:cNvGrpSpPr/>
          <p:nvPr/>
        </p:nvGrpSpPr>
        <p:grpSpPr>
          <a:xfrm>
            <a:off x="2745351" y="2343655"/>
            <a:ext cx="2136775" cy="307976"/>
            <a:chOff x="0" y="0"/>
            <a:chExt cx="2136774" cy="307975"/>
          </a:xfrm>
        </p:grpSpPr>
        <p:sp>
          <p:nvSpPr>
            <p:cNvPr id="9452" name="Oval 35"/>
            <p:cNvSpPr/>
            <p:nvPr/>
          </p:nvSpPr>
          <p:spPr>
            <a:xfrm>
              <a:off x="2030628" y="3609"/>
              <a:ext cx="106147" cy="304367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53" name="Rectangle 36"/>
            <p:cNvSpPr/>
            <p:nvPr/>
          </p:nvSpPr>
          <p:spPr>
            <a:xfrm>
              <a:off x="39997" y="3609"/>
              <a:ext cx="2039859" cy="30436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54" name="Oval 37"/>
            <p:cNvSpPr/>
            <p:nvPr/>
          </p:nvSpPr>
          <p:spPr>
            <a:xfrm>
              <a:off x="0" y="-1"/>
              <a:ext cx="106146" cy="304368"/>
            </a:xfrm>
            <a:prstGeom prst="ellipse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55" name="Rectangle 38"/>
            <p:cNvSpPr/>
            <p:nvPr/>
          </p:nvSpPr>
          <p:spPr>
            <a:xfrm>
              <a:off x="2019860" y="9624"/>
              <a:ext cx="67688" cy="294742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9457" name="Text Box 39"/>
          <p:cNvSpPr txBox="1"/>
          <p:nvPr/>
        </p:nvSpPr>
        <p:spPr>
          <a:xfrm>
            <a:off x="2579934" y="2270741"/>
            <a:ext cx="2494597" cy="512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000"/>
            </a:pPr>
            <a:r>
              <a:t>  R</a:t>
            </a:r>
            <a:r>
              <a:rPr baseline="-25000" sz="2800"/>
              <a:t>s</a:t>
            </a:r>
            <a:r>
              <a:rPr baseline="-25000"/>
              <a:t> </a:t>
            </a:r>
            <a:r>
              <a:t>bits/sec</a:t>
            </a:r>
          </a:p>
        </p:txBody>
      </p:sp>
      <p:sp>
        <p:nvSpPr>
          <p:cNvPr id="9458" name="AutoShape 42"/>
          <p:cNvSpPr/>
          <p:nvPr/>
        </p:nvSpPr>
        <p:spPr>
          <a:xfrm flipV="1">
            <a:off x="1934138" y="2111879"/>
            <a:ext cx="895351" cy="565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CC0000"/>
              </a:gs>
            </a:gsLst>
          </a:gradFill>
          <a:ln>
            <a:solidFill>
              <a:srgbClr val="CC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sp>
        <p:nvSpPr>
          <p:cNvPr id="9459" name="AutoShape 43"/>
          <p:cNvSpPr/>
          <p:nvPr/>
        </p:nvSpPr>
        <p:spPr>
          <a:xfrm>
            <a:off x="8168251" y="2318255"/>
            <a:ext cx="941625" cy="379414"/>
          </a:xfrm>
          <a:prstGeom prst="rightArrow">
            <a:avLst>
              <a:gd name="adj1" fmla="val 50000"/>
              <a:gd name="adj2" fmla="val 53870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</a:gradFill>
          <a:ln>
            <a:solidFill>
              <a:srgbClr val="CC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grpSp>
        <p:nvGrpSpPr>
          <p:cNvPr id="9466" name="Group 54"/>
          <p:cNvGrpSpPr/>
          <p:nvPr/>
        </p:nvGrpSpPr>
        <p:grpSpPr>
          <a:xfrm>
            <a:off x="6118790" y="2210305"/>
            <a:ext cx="2577608" cy="615094"/>
            <a:chOff x="0" y="0"/>
            <a:chExt cx="2577607" cy="615093"/>
          </a:xfrm>
        </p:grpSpPr>
        <p:grpSp>
          <p:nvGrpSpPr>
            <p:cNvPr id="9464" name="Group 45"/>
            <p:cNvGrpSpPr/>
            <p:nvPr/>
          </p:nvGrpSpPr>
          <p:grpSpPr>
            <a:xfrm>
              <a:off x="0" y="0"/>
              <a:ext cx="2577608" cy="569913"/>
              <a:chOff x="0" y="0"/>
              <a:chExt cx="2577607" cy="569912"/>
            </a:xfrm>
          </p:grpSpPr>
          <p:sp>
            <p:nvSpPr>
              <p:cNvPr id="9460" name="Oval 46"/>
              <p:cNvSpPr/>
              <p:nvPr/>
            </p:nvSpPr>
            <p:spPr>
              <a:xfrm>
                <a:off x="2449561" y="6678"/>
                <a:ext cx="128047" cy="56323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61" name="Rectangle 47"/>
              <p:cNvSpPr/>
              <p:nvPr/>
            </p:nvSpPr>
            <p:spPr>
              <a:xfrm>
                <a:off x="48248" y="6678"/>
                <a:ext cx="2466264" cy="563235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62" name="Oval 48"/>
              <p:cNvSpPr/>
              <p:nvPr/>
            </p:nvSpPr>
            <p:spPr>
              <a:xfrm>
                <a:off x="0" y="-1"/>
                <a:ext cx="128047" cy="563236"/>
              </a:xfrm>
              <a:prstGeom prst="ellipse">
                <a:avLst/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63" name="Rectangle 49"/>
              <p:cNvSpPr/>
              <p:nvPr/>
            </p:nvSpPr>
            <p:spPr>
              <a:xfrm>
                <a:off x="2436571" y="17809"/>
                <a:ext cx="81653" cy="547651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9465" name="Text Box 50"/>
            <p:cNvSpPr txBox="1"/>
            <p:nvPr/>
          </p:nvSpPr>
          <p:spPr>
            <a:xfrm>
              <a:off x="120200" y="102771"/>
              <a:ext cx="2394162" cy="5123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000"/>
              </a:pPr>
              <a:r>
                <a:t>R</a:t>
              </a:r>
              <a:r>
                <a:rPr baseline="-25000" sz="2800"/>
                <a:t>c</a:t>
              </a:r>
              <a:r>
                <a:rPr baseline="-25000"/>
                <a:t> </a:t>
              </a:r>
              <a:r>
                <a:t>bits/sec</a:t>
              </a:r>
            </a:p>
          </p:txBody>
        </p:sp>
      </p:grpSp>
      <p:sp>
        <p:nvSpPr>
          <p:cNvPr id="9467" name="Rectangle 56"/>
          <p:cNvSpPr txBox="1"/>
          <p:nvPr/>
        </p:nvSpPr>
        <p:spPr>
          <a:xfrm>
            <a:off x="1279770" y="3170790"/>
            <a:ext cx="7971475" cy="512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i="1" sz="2800">
                <a:solidFill>
                  <a:srgbClr val="CC0000"/>
                </a:solidFill>
              </a:defRPr>
            </a:pPr>
            <a:r>
              <a:t>R</a:t>
            </a:r>
            <a:r>
              <a:rPr baseline="-25000"/>
              <a:t>s</a:t>
            </a:r>
            <a:r>
              <a:t> &gt; R</a:t>
            </a:r>
            <a:r>
              <a:rPr baseline="-25000"/>
              <a:t>c</a:t>
            </a:r>
            <a:r>
              <a:rPr>
                <a:solidFill>
                  <a:srgbClr val="FF3300"/>
                </a:solidFill>
              </a:rPr>
              <a:t>  </a:t>
            </a:r>
            <a:r>
              <a:rPr i="0">
                <a:solidFill>
                  <a:srgbClr val="000000"/>
                </a:solidFill>
              </a:rPr>
              <a:t>What is average end-end throughput?</a:t>
            </a:r>
          </a:p>
        </p:txBody>
      </p:sp>
      <p:grpSp>
        <p:nvGrpSpPr>
          <p:cNvPr id="9471" name="Group 209"/>
          <p:cNvGrpSpPr/>
          <p:nvPr/>
        </p:nvGrpSpPr>
        <p:grpSpPr>
          <a:xfrm>
            <a:off x="1327658" y="5111236"/>
            <a:ext cx="8801420" cy="1282702"/>
            <a:chOff x="0" y="0"/>
            <a:chExt cx="8801418" cy="1282701"/>
          </a:xfrm>
        </p:grpSpPr>
        <p:sp>
          <p:nvSpPr>
            <p:cNvPr id="9468" name="Rectangle 102"/>
            <p:cNvSpPr/>
            <p:nvPr/>
          </p:nvSpPr>
          <p:spPr>
            <a:xfrm>
              <a:off x="0" y="266700"/>
              <a:ext cx="8764589" cy="101600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CC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69" name="Text Box 101"/>
            <p:cNvSpPr txBox="1"/>
            <p:nvPr/>
          </p:nvSpPr>
          <p:spPr>
            <a:xfrm>
              <a:off x="128270" y="538163"/>
              <a:ext cx="8673149" cy="4447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link on end-end path that constrains  end-end throughput</a:t>
              </a:r>
            </a:p>
          </p:txBody>
        </p:sp>
        <p:sp>
          <p:nvSpPr>
            <p:cNvPr id="9470" name="Text Box 104"/>
            <p:cNvSpPr txBox="1"/>
            <p:nvPr/>
          </p:nvSpPr>
          <p:spPr>
            <a:xfrm>
              <a:off x="300037" y="0"/>
              <a:ext cx="2586039" cy="44475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i="1" sz="2800">
                  <a:solidFill>
                    <a:srgbClr val="CC0000"/>
                  </a:solidFill>
                </a:defRPr>
              </a:lvl1pPr>
            </a:lstStyle>
            <a:p>
              <a:pPr/>
              <a:r>
                <a:t>bottleneck link</a:t>
              </a:r>
            </a:p>
          </p:txBody>
        </p:sp>
      </p:grpSp>
      <p:sp>
        <p:nvSpPr>
          <p:cNvPr id="9472" name="AutoShape 51"/>
          <p:cNvSpPr/>
          <p:nvPr/>
        </p:nvSpPr>
        <p:spPr>
          <a:xfrm>
            <a:off x="4883713" y="2311905"/>
            <a:ext cx="1365251" cy="381001"/>
          </a:xfrm>
          <a:prstGeom prst="rightArrow">
            <a:avLst>
              <a:gd name="adj1" fmla="val 50000"/>
              <a:gd name="adj2" fmla="val 89583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</a:gradFill>
          <a:ln>
            <a:solidFill>
              <a:srgbClr val="CC0000"/>
            </a:solidFill>
            <a:miter/>
          </a:ln>
        </p:spPr>
        <p:txBody>
          <a:bodyPr lIns="45719" rIns="45719" anchor="ctr"/>
          <a:lstStyle/>
          <a:p>
            <a:pPr>
              <a:defRPr sz="2400"/>
            </a:pPr>
          </a:p>
        </p:txBody>
      </p:sp>
      <p:grpSp>
        <p:nvGrpSpPr>
          <p:cNvPr id="9475" name="Group 132"/>
          <p:cNvGrpSpPr/>
          <p:nvPr/>
        </p:nvGrpSpPr>
        <p:grpSpPr>
          <a:xfrm>
            <a:off x="9058681" y="2157918"/>
            <a:ext cx="871539" cy="885826"/>
            <a:chOff x="0" y="0"/>
            <a:chExt cx="871537" cy="885825"/>
          </a:xfrm>
        </p:grpSpPr>
        <p:pic>
          <p:nvPicPr>
            <p:cNvPr id="9473" name="Picture 133" descr="Picture 13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71538" cy="8858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474" name="Freeform 134"/>
            <p:cNvSpPr/>
            <p:nvPr/>
          </p:nvSpPr>
          <p:spPr>
            <a:xfrm>
              <a:off x="76403" y="84975"/>
              <a:ext cx="423777" cy="405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9479" name="AutoShape 327"/>
          <p:cNvGrpSpPr/>
          <p:nvPr/>
        </p:nvGrpSpPr>
        <p:grpSpPr>
          <a:xfrm>
            <a:off x="1846826" y="1854705"/>
            <a:ext cx="407989" cy="431801"/>
            <a:chOff x="0" y="0"/>
            <a:chExt cx="407987" cy="431800"/>
          </a:xfrm>
        </p:grpSpPr>
        <p:sp>
          <p:nvSpPr>
            <p:cNvPr id="9476" name="Shape"/>
            <p:cNvSpPr/>
            <p:nvPr/>
          </p:nvSpPr>
          <p:spPr>
            <a:xfrm>
              <a:off x="0" y="0"/>
              <a:ext cx="407988" cy="431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84"/>
                  </a:moveTo>
                  <a:cubicBezTo>
                    <a:pt x="0" y="978"/>
                    <a:pt x="4835" y="0"/>
                    <a:pt x="10800" y="0"/>
                  </a:cubicBezTo>
                  <a:cubicBezTo>
                    <a:pt x="16765" y="0"/>
                    <a:pt x="21600" y="978"/>
                    <a:pt x="21600" y="2184"/>
                  </a:cubicBezTo>
                  <a:lnTo>
                    <a:pt x="21600" y="19416"/>
                  </a:lnTo>
                  <a:cubicBezTo>
                    <a:pt x="21600" y="20622"/>
                    <a:pt x="16765" y="21600"/>
                    <a:pt x="10800" y="21600"/>
                  </a:cubicBezTo>
                  <a:cubicBezTo>
                    <a:pt x="4835" y="21600"/>
                    <a:pt x="0" y="20622"/>
                    <a:pt x="0" y="1941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77" name="Oval"/>
            <p:cNvSpPr/>
            <p:nvPr/>
          </p:nvSpPr>
          <p:spPr>
            <a:xfrm>
              <a:off x="0" y="-1"/>
              <a:ext cx="407988" cy="87303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478" name="Line"/>
            <p:cNvSpPr/>
            <p:nvPr/>
          </p:nvSpPr>
          <p:spPr>
            <a:xfrm>
              <a:off x="0" y="0"/>
              <a:ext cx="407988" cy="431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84"/>
                  </a:moveTo>
                  <a:cubicBezTo>
                    <a:pt x="21600" y="3390"/>
                    <a:pt x="16765" y="4367"/>
                    <a:pt x="10800" y="4367"/>
                  </a:cubicBezTo>
                  <a:cubicBezTo>
                    <a:pt x="4835" y="4367"/>
                    <a:pt x="0" y="3390"/>
                    <a:pt x="0" y="2184"/>
                  </a:cubicBezTo>
                  <a:cubicBezTo>
                    <a:pt x="0" y="978"/>
                    <a:pt x="4835" y="0"/>
                    <a:pt x="10800" y="0"/>
                  </a:cubicBezTo>
                  <a:cubicBezTo>
                    <a:pt x="16765" y="0"/>
                    <a:pt x="21600" y="978"/>
                    <a:pt x="21600" y="2184"/>
                  </a:cubicBezTo>
                  <a:lnTo>
                    <a:pt x="21600" y="19416"/>
                  </a:lnTo>
                  <a:cubicBezTo>
                    <a:pt x="21600" y="20622"/>
                    <a:pt x="16765" y="21600"/>
                    <a:pt x="10800" y="21600"/>
                  </a:cubicBezTo>
                  <a:cubicBezTo>
                    <a:pt x="4835" y="21600"/>
                    <a:pt x="0" y="20622"/>
                    <a:pt x="0" y="19416"/>
                  </a:cubicBezTo>
                  <a:lnTo>
                    <a:pt x="0" y="2184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9546" name="Group 206"/>
          <p:cNvGrpSpPr/>
          <p:nvPr/>
        </p:nvGrpSpPr>
        <p:grpSpPr>
          <a:xfrm>
            <a:off x="1908738" y="3723447"/>
            <a:ext cx="8126413" cy="1166814"/>
            <a:chOff x="0" y="0"/>
            <a:chExt cx="8126412" cy="1166812"/>
          </a:xfrm>
        </p:grpSpPr>
        <p:grpSp>
          <p:nvGrpSpPr>
            <p:cNvPr id="9512" name="Group 173"/>
            <p:cNvGrpSpPr/>
            <p:nvPr/>
          </p:nvGrpSpPr>
          <p:grpSpPr>
            <a:xfrm>
              <a:off x="446087" y="182562"/>
              <a:ext cx="353212" cy="876301"/>
              <a:chOff x="0" y="0"/>
              <a:chExt cx="353210" cy="876300"/>
            </a:xfrm>
          </p:grpSpPr>
          <p:sp>
            <p:nvSpPr>
              <p:cNvPr id="9480" name="Freeform 174"/>
              <p:cNvSpPr/>
              <p:nvPr/>
            </p:nvSpPr>
            <p:spPr>
              <a:xfrm>
                <a:off x="278972" y="1462"/>
                <a:ext cx="69991" cy="8360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844" y="0"/>
                    </a:moveTo>
                    <a:lnTo>
                      <a:pt x="21600" y="2670"/>
                    </a:lnTo>
                    <a:lnTo>
                      <a:pt x="21112" y="20670"/>
                    </a:lnTo>
                    <a:lnTo>
                      <a:pt x="0" y="21600"/>
                    </a:lnTo>
                    <a:lnTo>
                      <a:pt x="384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81" name="Rectangle 175"/>
              <p:cNvSpPr/>
              <p:nvPr/>
            </p:nvSpPr>
            <p:spPr>
              <a:xfrm>
                <a:off x="15828" y="0"/>
                <a:ext cx="258693" cy="834972"/>
              </a:xfrm>
              <a:prstGeom prst="rect">
                <a:avLst/>
              </a:pr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82" name="Freeform 176"/>
              <p:cNvSpPr/>
              <p:nvPr/>
            </p:nvSpPr>
            <p:spPr>
              <a:xfrm>
                <a:off x="293466" y="51568"/>
                <a:ext cx="40411" cy="7627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83" h="21300" fill="norm" stroke="1" extrusionOk="0">
                    <a:moveTo>
                      <a:pt x="0" y="0"/>
                    </a:moveTo>
                    <a:cubicBezTo>
                      <a:pt x="0" y="0"/>
                      <a:pt x="5118" y="238"/>
                      <a:pt x="20883" y="1856"/>
                    </a:cubicBezTo>
                    <a:cubicBezTo>
                      <a:pt x="-717" y="10464"/>
                      <a:pt x="3480" y="21600"/>
                      <a:pt x="0" y="21293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83" name="Freeform 177"/>
              <p:cNvSpPr/>
              <p:nvPr/>
            </p:nvSpPr>
            <p:spPr>
              <a:xfrm>
                <a:off x="282929" y="442904"/>
                <a:ext cx="65045" cy="691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84" name="Rectangle 178"/>
              <p:cNvSpPr/>
              <p:nvPr/>
            </p:nvSpPr>
            <p:spPr>
              <a:xfrm>
                <a:off x="17559" y="96919"/>
                <a:ext cx="147648" cy="17556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grpSp>
            <p:nvGrpSpPr>
              <p:cNvPr id="9487" name="Group 179"/>
              <p:cNvGrpSpPr/>
              <p:nvPr/>
            </p:nvGrpSpPr>
            <p:grpSpPr>
              <a:xfrm>
                <a:off x="150813" y="87410"/>
                <a:ext cx="142899" cy="52270"/>
                <a:chOff x="0" y="0"/>
                <a:chExt cx="142897" cy="52268"/>
              </a:xfrm>
            </p:grpSpPr>
            <p:sp>
              <p:nvSpPr>
                <p:cNvPr id="9485" name="AutoShape 180"/>
                <p:cNvSpPr/>
                <p:nvPr/>
              </p:nvSpPr>
              <p:spPr>
                <a:xfrm>
                  <a:off x="0" y="0"/>
                  <a:ext cx="142898" cy="5226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9486" name="AutoShape 181"/>
                <p:cNvSpPr/>
                <p:nvPr/>
              </p:nvSpPr>
              <p:spPr>
                <a:xfrm>
                  <a:off x="3171" y="6104"/>
                  <a:ext cx="136556" cy="3815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</p:grpSp>
          <p:sp>
            <p:nvSpPr>
              <p:cNvPr id="9488" name="Rectangle 182"/>
              <p:cNvSpPr/>
              <p:nvPr/>
            </p:nvSpPr>
            <p:spPr>
              <a:xfrm>
                <a:off x="20527" y="215783"/>
                <a:ext cx="147648" cy="17556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grpSp>
            <p:nvGrpSpPr>
              <p:cNvPr id="9491" name="Group 183"/>
              <p:cNvGrpSpPr/>
              <p:nvPr/>
            </p:nvGrpSpPr>
            <p:grpSpPr>
              <a:xfrm>
                <a:off x="150715" y="206287"/>
                <a:ext cx="142898" cy="49362"/>
                <a:chOff x="0" y="0"/>
                <a:chExt cx="142897" cy="49361"/>
              </a:xfrm>
            </p:grpSpPr>
            <p:sp>
              <p:nvSpPr>
                <p:cNvPr id="9489" name="AutoShape 184"/>
                <p:cNvSpPr/>
                <p:nvPr/>
              </p:nvSpPr>
              <p:spPr>
                <a:xfrm>
                  <a:off x="0" y="0"/>
                  <a:ext cx="142898" cy="493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9490" name="AutoShape 185"/>
                <p:cNvSpPr/>
                <p:nvPr/>
              </p:nvSpPr>
              <p:spPr>
                <a:xfrm>
                  <a:off x="3369" y="6346"/>
                  <a:ext cx="136556" cy="36669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</p:grpSp>
          <p:sp>
            <p:nvSpPr>
              <p:cNvPr id="9492" name="Rectangle 186"/>
              <p:cNvSpPr/>
              <p:nvPr/>
            </p:nvSpPr>
            <p:spPr>
              <a:xfrm>
                <a:off x="19043" y="339767"/>
                <a:ext cx="147648" cy="17556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493" name="Rectangle 187"/>
              <p:cNvSpPr/>
              <p:nvPr/>
            </p:nvSpPr>
            <p:spPr>
              <a:xfrm>
                <a:off x="22258" y="447659"/>
                <a:ext cx="147648" cy="17556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grpSp>
            <p:nvGrpSpPr>
              <p:cNvPr id="9496" name="Group 188"/>
              <p:cNvGrpSpPr/>
              <p:nvPr/>
            </p:nvGrpSpPr>
            <p:grpSpPr>
              <a:xfrm>
                <a:off x="147549" y="438150"/>
                <a:ext cx="142947" cy="55624"/>
                <a:chOff x="0" y="0"/>
                <a:chExt cx="142945" cy="55623"/>
              </a:xfrm>
            </p:grpSpPr>
            <p:sp>
              <p:nvSpPr>
                <p:cNvPr id="9494" name="AutoShape 189"/>
                <p:cNvSpPr/>
                <p:nvPr/>
              </p:nvSpPr>
              <p:spPr>
                <a:xfrm>
                  <a:off x="0" y="0"/>
                  <a:ext cx="142946" cy="556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9495" name="AutoShape 190"/>
                <p:cNvSpPr/>
                <p:nvPr/>
              </p:nvSpPr>
              <p:spPr>
                <a:xfrm>
                  <a:off x="3176" y="6356"/>
                  <a:ext cx="136593" cy="4291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</p:grpSp>
          <p:sp>
            <p:nvSpPr>
              <p:cNvPr id="9497" name="Freeform 191"/>
              <p:cNvSpPr/>
              <p:nvPr/>
            </p:nvSpPr>
            <p:spPr>
              <a:xfrm>
                <a:off x="283918" y="338304"/>
                <a:ext cx="65045" cy="687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  <p:grpSp>
            <p:nvGrpSpPr>
              <p:cNvPr id="9500" name="Group 192"/>
              <p:cNvGrpSpPr/>
              <p:nvPr/>
            </p:nvGrpSpPr>
            <p:grpSpPr>
              <a:xfrm>
                <a:off x="147546" y="328429"/>
                <a:ext cx="144534" cy="50838"/>
                <a:chOff x="0" y="0"/>
                <a:chExt cx="144533" cy="50837"/>
              </a:xfrm>
            </p:grpSpPr>
            <p:sp>
              <p:nvSpPr>
                <p:cNvPr id="9498" name="AutoShape 193"/>
                <p:cNvSpPr/>
                <p:nvPr/>
              </p:nvSpPr>
              <p:spPr>
                <a:xfrm>
                  <a:off x="0" y="0"/>
                  <a:ext cx="144534" cy="508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  <p:sp>
              <p:nvSpPr>
                <p:cNvPr id="9499" name="AutoShape 194"/>
                <p:cNvSpPr/>
                <p:nvPr/>
              </p:nvSpPr>
              <p:spPr>
                <a:xfrm>
                  <a:off x="3176" y="6583"/>
                  <a:ext cx="138181" cy="3803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/>
                  </a:pPr>
                </a:p>
              </p:txBody>
            </p:sp>
          </p:grpSp>
          <p:sp>
            <p:nvSpPr>
              <p:cNvPr id="9501" name="Rectangle 195"/>
              <p:cNvSpPr/>
              <p:nvPr/>
            </p:nvSpPr>
            <p:spPr>
              <a:xfrm>
                <a:off x="274520" y="0"/>
                <a:ext cx="17560" cy="836436"/>
              </a:xfrm>
              <a:prstGeom prst="rect">
                <a:avLst/>
              </a:prstGeom>
              <a:gradFill flip="none"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02" name="Freeform 196"/>
              <p:cNvSpPr/>
              <p:nvPr/>
            </p:nvSpPr>
            <p:spPr>
              <a:xfrm>
                <a:off x="289854" y="211394"/>
                <a:ext cx="58614" cy="779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92" y="0"/>
                    </a:moveTo>
                    <a:cubicBezTo>
                      <a:pt x="4014" y="844"/>
                      <a:pt x="10508" y="5738"/>
                      <a:pt x="21308" y="12150"/>
                    </a:cubicBezTo>
                    <a:cubicBezTo>
                      <a:pt x="21162" y="15019"/>
                      <a:pt x="21600" y="15862"/>
                      <a:pt x="21600" y="21600"/>
                    </a:cubicBezTo>
                    <a:cubicBezTo>
                      <a:pt x="21600" y="21600"/>
                      <a:pt x="11676" y="14850"/>
                      <a:pt x="0" y="8438"/>
                    </a:cubicBezTo>
                    <a:cubicBezTo>
                      <a:pt x="0" y="4050"/>
                      <a:pt x="292" y="1434"/>
                      <a:pt x="29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03" name="Freeform 197"/>
              <p:cNvSpPr/>
              <p:nvPr/>
            </p:nvSpPr>
            <p:spPr>
              <a:xfrm>
                <a:off x="290596" y="91799"/>
                <a:ext cx="60346" cy="877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3624" y="750"/>
                      <a:pt x="10516" y="5700"/>
                      <a:pt x="21600" y="12300"/>
                    </a:cubicBezTo>
                    <a:cubicBezTo>
                      <a:pt x="21458" y="14850"/>
                      <a:pt x="20179" y="16500"/>
                      <a:pt x="20179" y="21600"/>
                    </a:cubicBezTo>
                    <a:cubicBezTo>
                      <a:pt x="20179" y="21600"/>
                      <a:pt x="11582" y="13425"/>
                      <a:pt x="568" y="9300"/>
                    </a:cubicBezTo>
                    <a:cubicBezTo>
                      <a:pt x="568" y="5400"/>
                      <a:pt x="0" y="1275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04" name="Oval 198"/>
              <p:cNvSpPr/>
              <p:nvPr/>
            </p:nvSpPr>
            <p:spPr>
              <a:xfrm>
                <a:off x="340510" y="798398"/>
                <a:ext cx="12701" cy="34745"/>
              </a:xfrm>
              <a:prstGeom prst="ellipse">
                <a:avLst/>
              </a:pr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05" name="Freeform 199"/>
              <p:cNvSpPr/>
              <p:nvPr/>
            </p:nvSpPr>
            <p:spPr>
              <a:xfrm>
                <a:off x="287380" y="799130"/>
                <a:ext cx="60594" cy="731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40"/>
                    </a:moveTo>
                    <a:lnTo>
                      <a:pt x="141" y="21600"/>
                    </a:lnTo>
                    <a:lnTo>
                      <a:pt x="21600" y="9900"/>
                    </a:lnTo>
                    <a:lnTo>
                      <a:pt x="21176" y="0"/>
                    </a:lnTo>
                    <a:lnTo>
                      <a:pt x="0" y="9540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06" name="AutoShape 200"/>
              <p:cNvSpPr/>
              <p:nvPr/>
            </p:nvSpPr>
            <p:spPr>
              <a:xfrm>
                <a:off x="0" y="822171"/>
                <a:ext cx="296779" cy="5413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07" name="AutoShape 201"/>
              <p:cNvSpPr/>
              <p:nvPr/>
            </p:nvSpPr>
            <p:spPr>
              <a:xfrm>
                <a:off x="15828" y="834972"/>
                <a:ext cx="265123" cy="2999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08" name="Oval 202"/>
              <p:cNvSpPr/>
              <p:nvPr/>
            </p:nvSpPr>
            <p:spPr>
              <a:xfrm>
                <a:off x="41301" y="714279"/>
                <a:ext cx="39571" cy="52301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09" name="Oval 203"/>
              <p:cNvSpPr/>
              <p:nvPr/>
            </p:nvSpPr>
            <p:spPr>
              <a:xfrm>
                <a:off x="85818" y="714279"/>
                <a:ext cx="39571" cy="52301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0000"/>
                    </a:solidFill>
                  </a:defRPr>
                </a:pPr>
              </a:p>
            </p:txBody>
          </p:sp>
          <p:sp>
            <p:nvSpPr>
              <p:cNvPr id="9510" name="Oval 204"/>
              <p:cNvSpPr/>
              <p:nvPr/>
            </p:nvSpPr>
            <p:spPr>
              <a:xfrm>
                <a:off x="128604" y="714279"/>
                <a:ext cx="39571" cy="50839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11" name="Rectangle 205"/>
              <p:cNvSpPr/>
              <p:nvPr/>
            </p:nvSpPr>
            <p:spPr>
              <a:xfrm>
                <a:off x="228519" y="514222"/>
                <a:ext cx="20528" cy="277959"/>
              </a:xfrm>
              <a:prstGeom prst="rect">
                <a:avLst/>
              </a:prstGeom>
              <a:solidFill>
                <a:srgbClr val="29292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9513" name="Line 57"/>
            <p:cNvSpPr/>
            <p:nvPr/>
          </p:nvSpPr>
          <p:spPr>
            <a:xfrm>
              <a:off x="919162" y="696912"/>
              <a:ext cx="5811837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523" name="Group 58"/>
            <p:cNvGrpSpPr/>
            <p:nvPr/>
          </p:nvGrpSpPr>
          <p:grpSpPr>
            <a:xfrm>
              <a:off x="3105149" y="628650"/>
              <a:ext cx="963614" cy="171451"/>
              <a:chOff x="0" y="0"/>
              <a:chExt cx="963612" cy="171449"/>
            </a:xfrm>
          </p:grpSpPr>
          <p:sp>
            <p:nvSpPr>
              <p:cNvPr id="9514" name="Line 60"/>
              <p:cNvSpPr/>
              <p:nvPr/>
            </p:nvSpPr>
            <p:spPr>
              <a:xfrm flipH="1">
                <a:off x="-1" y="74402"/>
                <a:ext cx="1" cy="9704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515" name="Line 61"/>
              <p:cNvSpPr/>
              <p:nvPr/>
            </p:nvSpPr>
            <p:spPr>
              <a:xfrm>
                <a:off x="963612" y="74402"/>
                <a:ext cx="1" cy="9704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516" name="Rectangle 62"/>
              <p:cNvSpPr/>
              <p:nvPr/>
            </p:nvSpPr>
            <p:spPr>
              <a:xfrm>
                <a:off x="-1" y="74402"/>
                <a:ext cx="955516" cy="95430"/>
              </a:xfrm>
              <a:prstGeom prst="rect">
                <a:avLst/>
              </a:prstGeom>
              <a:solidFill>
                <a:srgbClr val="CCCC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400"/>
                </a:pPr>
              </a:p>
            </p:txBody>
          </p:sp>
          <p:grpSp>
            <p:nvGrpSpPr>
              <p:cNvPr id="9519" name="Group 64"/>
              <p:cNvGrpSpPr/>
              <p:nvPr/>
            </p:nvGrpSpPr>
            <p:grpSpPr>
              <a:xfrm>
                <a:off x="394082" y="8087"/>
                <a:ext cx="321204" cy="105135"/>
                <a:chOff x="0" y="0"/>
                <a:chExt cx="321203" cy="105134"/>
              </a:xfrm>
            </p:grpSpPr>
            <p:sp>
              <p:nvSpPr>
                <p:cNvPr id="9517" name="Line 66"/>
                <p:cNvSpPr/>
                <p:nvPr/>
              </p:nvSpPr>
              <p:spPr>
                <a:xfrm>
                  <a:off x="170853" y="105134"/>
                  <a:ext cx="150351" cy="1"/>
                </a:xfrm>
                <a:prstGeom prst="line">
                  <a:avLst/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18" name="Line 67"/>
                <p:cNvSpPr/>
                <p:nvPr/>
              </p:nvSpPr>
              <p:spPr>
                <a:xfrm>
                  <a:off x="0" y="-1"/>
                  <a:ext cx="177688" cy="105136"/>
                </a:xfrm>
                <a:prstGeom prst="line">
                  <a:avLst/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9522" name="Group 68"/>
              <p:cNvGrpSpPr/>
              <p:nvPr/>
            </p:nvGrpSpPr>
            <p:grpSpPr>
              <a:xfrm>
                <a:off x="232130" y="0"/>
                <a:ext cx="334700" cy="106752"/>
                <a:chOff x="0" y="0"/>
                <a:chExt cx="334699" cy="106750"/>
              </a:xfrm>
            </p:grpSpPr>
            <p:sp>
              <p:nvSpPr>
                <p:cNvPr id="9520" name="Line 69"/>
                <p:cNvSpPr/>
                <p:nvPr/>
              </p:nvSpPr>
              <p:spPr>
                <a:xfrm>
                  <a:off x="0" y="104572"/>
                  <a:ext cx="170765" cy="2179"/>
                </a:xfrm>
                <a:prstGeom prst="line">
                  <a:avLst/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21" name="Line 71"/>
                <p:cNvSpPr/>
                <p:nvPr/>
              </p:nvSpPr>
              <p:spPr>
                <a:xfrm flipV="1">
                  <a:off x="157104" y="-1"/>
                  <a:ext cx="177596" cy="104574"/>
                </a:xfrm>
                <a:prstGeom prst="line">
                  <a:avLst/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</p:grpSp>
        <p:sp>
          <p:nvSpPr>
            <p:cNvPr id="9524" name="AutoShape 90"/>
            <p:cNvSpPr/>
            <p:nvPr/>
          </p:nvSpPr>
          <p:spPr>
            <a:xfrm>
              <a:off x="6296024" y="536575"/>
              <a:ext cx="966788" cy="379413"/>
            </a:xfrm>
            <a:prstGeom prst="rightArrow">
              <a:avLst>
                <a:gd name="adj1" fmla="val 50000"/>
                <a:gd name="adj2" fmla="val 53870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>
              <a:solidFill>
                <a:srgbClr val="CC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9529" name="Group 92"/>
            <p:cNvGrpSpPr/>
            <p:nvPr/>
          </p:nvGrpSpPr>
          <p:grpSpPr>
            <a:xfrm>
              <a:off x="877887" y="420687"/>
              <a:ext cx="2138364" cy="571502"/>
              <a:chOff x="0" y="0"/>
              <a:chExt cx="2138362" cy="571500"/>
            </a:xfrm>
          </p:grpSpPr>
          <p:sp>
            <p:nvSpPr>
              <p:cNvPr id="9525" name="Oval 93"/>
              <p:cNvSpPr/>
              <p:nvPr/>
            </p:nvSpPr>
            <p:spPr>
              <a:xfrm>
                <a:off x="2032136" y="8894"/>
                <a:ext cx="106227" cy="562607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26" name="Rectangle 94"/>
              <p:cNvSpPr/>
              <p:nvPr/>
            </p:nvSpPr>
            <p:spPr>
              <a:xfrm>
                <a:off x="40026" y="0"/>
                <a:ext cx="2041375" cy="562606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27" name="Oval 95"/>
              <p:cNvSpPr/>
              <p:nvPr/>
            </p:nvSpPr>
            <p:spPr>
              <a:xfrm>
                <a:off x="0" y="2223"/>
                <a:ext cx="106227" cy="562607"/>
              </a:xfrm>
              <a:prstGeom prst="ellipse">
                <a:avLst/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28" name="Rectangle 96"/>
              <p:cNvSpPr/>
              <p:nvPr/>
            </p:nvSpPr>
            <p:spPr>
              <a:xfrm>
                <a:off x="2021360" y="6671"/>
                <a:ext cx="67738" cy="547040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9530" name="Text Box 97"/>
            <p:cNvSpPr txBox="1"/>
            <p:nvPr/>
          </p:nvSpPr>
          <p:spPr>
            <a:xfrm>
              <a:off x="899794" y="534987"/>
              <a:ext cx="2161224" cy="5123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000"/>
              </a:pPr>
              <a:r>
                <a:t>R</a:t>
              </a:r>
              <a:r>
                <a:rPr baseline="-25000" sz="2800"/>
                <a:t>s</a:t>
              </a:r>
              <a:r>
                <a:rPr baseline="-25000"/>
                <a:t> </a:t>
              </a:r>
              <a:r>
                <a:t>bits/sec</a:t>
              </a:r>
            </a:p>
          </p:txBody>
        </p:sp>
        <p:grpSp>
          <p:nvGrpSpPr>
            <p:cNvPr id="9535" name="Group 83"/>
            <p:cNvGrpSpPr/>
            <p:nvPr/>
          </p:nvGrpSpPr>
          <p:grpSpPr>
            <a:xfrm>
              <a:off x="4197349" y="561975"/>
              <a:ext cx="2573339" cy="307976"/>
              <a:chOff x="0" y="0"/>
              <a:chExt cx="2573338" cy="307975"/>
            </a:xfrm>
          </p:grpSpPr>
          <p:sp>
            <p:nvSpPr>
              <p:cNvPr id="9531" name="Oval 84"/>
              <p:cNvSpPr/>
              <p:nvPr/>
            </p:nvSpPr>
            <p:spPr>
              <a:xfrm>
                <a:off x="2445504" y="3609"/>
                <a:ext cx="127835" cy="304367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32" name="Rectangle 85"/>
              <p:cNvSpPr/>
              <p:nvPr/>
            </p:nvSpPr>
            <p:spPr>
              <a:xfrm>
                <a:off x="48168" y="3609"/>
                <a:ext cx="2456621" cy="304367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33" name="Oval 86"/>
              <p:cNvSpPr/>
              <p:nvPr/>
            </p:nvSpPr>
            <p:spPr>
              <a:xfrm>
                <a:off x="-1" y="-1"/>
                <a:ext cx="127835" cy="304368"/>
              </a:xfrm>
              <a:prstGeom prst="ellipse">
                <a:avLst/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34" name="Rectangle 87"/>
              <p:cNvSpPr/>
              <p:nvPr/>
            </p:nvSpPr>
            <p:spPr>
              <a:xfrm>
                <a:off x="2432535" y="9624"/>
                <a:ext cx="83370" cy="294742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9536" name="Text Box 88"/>
            <p:cNvSpPr txBox="1"/>
            <p:nvPr/>
          </p:nvSpPr>
          <p:spPr>
            <a:xfrm>
              <a:off x="4331969" y="485775"/>
              <a:ext cx="2494598" cy="5123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000"/>
              </a:pPr>
              <a:r>
                <a:t>  R</a:t>
              </a:r>
              <a:r>
                <a:rPr baseline="-25000" sz="2800"/>
                <a:t>c</a:t>
              </a:r>
              <a:r>
                <a:rPr baseline="-25000"/>
                <a:t> </a:t>
              </a:r>
              <a:r>
                <a:t>bits/sec</a:t>
              </a:r>
            </a:p>
          </p:txBody>
        </p:sp>
        <p:sp>
          <p:nvSpPr>
            <p:cNvPr id="9537" name="AutoShape 98"/>
            <p:cNvSpPr/>
            <p:nvPr/>
          </p:nvSpPr>
          <p:spPr>
            <a:xfrm>
              <a:off x="3005137" y="530225"/>
              <a:ext cx="1365251" cy="381001"/>
            </a:xfrm>
            <a:prstGeom prst="rightArrow">
              <a:avLst>
                <a:gd name="adj1" fmla="val 50000"/>
                <a:gd name="adj2" fmla="val 89583"/>
              </a:avLst>
            </a:prstGeom>
            <a:gradFill flip="none"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>
              <a:solidFill>
                <a:srgbClr val="CC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9538" name="AutoShape 89"/>
            <p:cNvSpPr/>
            <p:nvPr/>
          </p:nvSpPr>
          <p:spPr>
            <a:xfrm flipH="1" rot="10800000">
              <a:off x="61912" y="330200"/>
              <a:ext cx="895351" cy="565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w="9525" cap="flat">
              <a:solidFill>
                <a:srgbClr val="CC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/>
              </a:pPr>
            </a:p>
          </p:txBody>
        </p:sp>
        <p:grpSp>
          <p:nvGrpSpPr>
            <p:cNvPr id="9541" name="Group 135"/>
            <p:cNvGrpSpPr/>
            <p:nvPr/>
          </p:nvGrpSpPr>
          <p:grpSpPr>
            <a:xfrm>
              <a:off x="7254874" y="280987"/>
              <a:ext cx="871538" cy="885826"/>
              <a:chOff x="0" y="0"/>
              <a:chExt cx="871537" cy="885825"/>
            </a:xfrm>
          </p:grpSpPr>
          <p:pic>
            <p:nvPicPr>
              <p:cNvPr id="9539" name="Picture 136" descr="Picture 136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871538" cy="88582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540" name="Freeform 137"/>
              <p:cNvSpPr/>
              <p:nvPr/>
            </p:nvSpPr>
            <p:spPr>
              <a:xfrm>
                <a:off x="46197" y="84975"/>
                <a:ext cx="423776" cy="4056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grpSp>
          <p:nvGrpSpPr>
            <p:cNvPr id="9545" name="AutoShape 327"/>
            <p:cNvGrpSpPr/>
            <p:nvPr/>
          </p:nvGrpSpPr>
          <p:grpSpPr>
            <a:xfrm>
              <a:off x="-1" y="0"/>
              <a:ext cx="407990" cy="431801"/>
              <a:chOff x="-1" y="0"/>
              <a:chExt cx="407989" cy="431800"/>
            </a:xfrm>
          </p:grpSpPr>
          <p:sp>
            <p:nvSpPr>
              <p:cNvPr id="9542" name="Shape"/>
              <p:cNvSpPr/>
              <p:nvPr/>
            </p:nvSpPr>
            <p:spPr>
              <a:xfrm>
                <a:off x="-2" y="-1"/>
                <a:ext cx="407991" cy="431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84"/>
                    </a:moveTo>
                    <a:cubicBezTo>
                      <a:pt x="0" y="978"/>
                      <a:pt x="4835" y="0"/>
                      <a:pt x="10800" y="0"/>
                    </a:cubicBezTo>
                    <a:cubicBezTo>
                      <a:pt x="16765" y="0"/>
                      <a:pt x="21600" y="978"/>
                      <a:pt x="21600" y="2184"/>
                    </a:cubicBezTo>
                    <a:lnTo>
                      <a:pt x="21600" y="19416"/>
                    </a:lnTo>
                    <a:cubicBezTo>
                      <a:pt x="21600" y="20622"/>
                      <a:pt x="16765" y="21600"/>
                      <a:pt x="10800" y="21600"/>
                    </a:cubicBezTo>
                    <a:cubicBezTo>
                      <a:pt x="4835" y="21600"/>
                      <a:pt x="0" y="20622"/>
                      <a:pt x="0" y="1941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43" name="Oval"/>
              <p:cNvSpPr/>
              <p:nvPr/>
            </p:nvSpPr>
            <p:spPr>
              <a:xfrm>
                <a:off x="0" y="-1"/>
                <a:ext cx="407988" cy="87303"/>
              </a:xfrm>
              <a:prstGeom prst="ellipse">
                <a:avLst/>
              </a:prstGeom>
              <a:solidFill>
                <a:srgbClr val="FFFFFF">
                  <a:alpha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9544" name="Line"/>
              <p:cNvSpPr/>
              <p:nvPr/>
            </p:nvSpPr>
            <p:spPr>
              <a:xfrm>
                <a:off x="-1" y="-1"/>
                <a:ext cx="407988" cy="431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84"/>
                    </a:moveTo>
                    <a:cubicBezTo>
                      <a:pt x="21600" y="3390"/>
                      <a:pt x="16765" y="4367"/>
                      <a:pt x="10800" y="4367"/>
                    </a:cubicBezTo>
                    <a:cubicBezTo>
                      <a:pt x="4835" y="4367"/>
                      <a:pt x="0" y="3390"/>
                      <a:pt x="0" y="2184"/>
                    </a:cubicBezTo>
                    <a:cubicBezTo>
                      <a:pt x="0" y="978"/>
                      <a:pt x="4835" y="0"/>
                      <a:pt x="10800" y="0"/>
                    </a:cubicBezTo>
                    <a:cubicBezTo>
                      <a:pt x="16765" y="0"/>
                      <a:pt x="21600" y="978"/>
                      <a:pt x="21600" y="2184"/>
                    </a:cubicBezTo>
                    <a:lnTo>
                      <a:pt x="21600" y="19416"/>
                    </a:lnTo>
                    <a:cubicBezTo>
                      <a:pt x="21600" y="20622"/>
                      <a:pt x="16765" y="21600"/>
                      <a:pt x="10800" y="21600"/>
                    </a:cubicBezTo>
                    <a:cubicBezTo>
                      <a:pt x="4835" y="21600"/>
                      <a:pt x="0" y="20622"/>
                      <a:pt x="0" y="19416"/>
                    </a:cubicBezTo>
                    <a:lnTo>
                      <a:pt x="0" y="2184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</p:grpSp>
      <p:sp>
        <p:nvSpPr>
          <p:cNvPr id="9547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467" grpId="1"/>
      <p:bldP build="whole" bldLvl="1" animBg="1" rev="0" advAuto="0" spid="9471" grpId="4"/>
      <p:bldP build="whole" bldLvl="1" animBg="1" rev="0" advAuto="0" spid="9407" grpId="3"/>
      <p:bldP build="whole" bldLvl="1" animBg="1" rev="0" advAuto="0" spid="9546" grpId="2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9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Throughput: network scenario</a:t>
            </a:r>
          </a:p>
        </p:txBody>
      </p:sp>
      <p:grpSp>
        <p:nvGrpSpPr>
          <p:cNvPr id="9704" name="Group 2"/>
          <p:cNvGrpSpPr/>
          <p:nvPr/>
        </p:nvGrpSpPr>
        <p:grpSpPr>
          <a:xfrm>
            <a:off x="1066778" y="1303829"/>
            <a:ext cx="4718051" cy="5009683"/>
            <a:chOff x="0" y="0"/>
            <a:chExt cx="4718050" cy="5009681"/>
          </a:xfrm>
        </p:grpSpPr>
        <p:sp>
          <p:nvSpPr>
            <p:cNvPr id="9550" name="Text Box 44"/>
            <p:cNvSpPr txBox="1"/>
            <p:nvPr/>
          </p:nvSpPr>
          <p:spPr>
            <a:xfrm>
              <a:off x="45719" y="4190999"/>
              <a:ext cx="4663124" cy="8186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400"/>
              </a:pPr>
              <a:r>
                <a:t>10 connections (fairly) share backbone bottleneck link </a:t>
              </a:r>
              <a:r>
                <a:rPr i="1"/>
                <a:t>R</a:t>
              </a:r>
              <a:r>
                <a:rPr baseline="-25000"/>
                <a:t> </a:t>
              </a:r>
              <a:r>
                <a:t>bits/sec</a:t>
              </a:r>
            </a:p>
          </p:txBody>
        </p:sp>
        <p:sp>
          <p:nvSpPr>
            <p:cNvPr id="9551" name="Freeform 296"/>
            <p:cNvSpPr/>
            <p:nvPr/>
          </p:nvSpPr>
          <p:spPr>
            <a:xfrm>
              <a:off x="663929" y="1286519"/>
              <a:ext cx="3087582" cy="14748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5" h="21257" fill="norm" stroke="1" extrusionOk="0">
                  <a:moveTo>
                    <a:pt x="10107" y="395"/>
                  </a:moveTo>
                  <a:cubicBezTo>
                    <a:pt x="9129" y="772"/>
                    <a:pt x="8749" y="2161"/>
                    <a:pt x="7840" y="2421"/>
                  </a:cubicBezTo>
                  <a:cubicBezTo>
                    <a:pt x="6931" y="2680"/>
                    <a:pt x="5757" y="1761"/>
                    <a:pt x="4653" y="1997"/>
                  </a:cubicBezTo>
                  <a:cubicBezTo>
                    <a:pt x="3548" y="2232"/>
                    <a:pt x="1879" y="2821"/>
                    <a:pt x="1166" y="3857"/>
                  </a:cubicBezTo>
                  <a:cubicBezTo>
                    <a:pt x="464" y="4894"/>
                    <a:pt x="637" y="6778"/>
                    <a:pt x="452" y="8168"/>
                  </a:cubicBezTo>
                  <a:cubicBezTo>
                    <a:pt x="268" y="9558"/>
                    <a:pt x="-123" y="11136"/>
                    <a:pt x="38" y="12290"/>
                  </a:cubicBezTo>
                  <a:cubicBezTo>
                    <a:pt x="211" y="13444"/>
                    <a:pt x="533" y="14174"/>
                    <a:pt x="1477" y="15164"/>
                  </a:cubicBezTo>
                  <a:cubicBezTo>
                    <a:pt x="2420" y="16153"/>
                    <a:pt x="4158" y="17331"/>
                    <a:pt x="5688" y="18250"/>
                  </a:cubicBezTo>
                  <a:cubicBezTo>
                    <a:pt x="7219" y="19168"/>
                    <a:pt x="8957" y="20252"/>
                    <a:pt x="10614" y="20723"/>
                  </a:cubicBezTo>
                  <a:cubicBezTo>
                    <a:pt x="12271" y="21194"/>
                    <a:pt x="14216" y="21453"/>
                    <a:pt x="15643" y="21076"/>
                  </a:cubicBezTo>
                  <a:cubicBezTo>
                    <a:pt x="17070" y="20699"/>
                    <a:pt x="18220" y="19616"/>
                    <a:pt x="19164" y="18532"/>
                  </a:cubicBezTo>
                  <a:cubicBezTo>
                    <a:pt x="20108" y="17449"/>
                    <a:pt x="21086" y="16813"/>
                    <a:pt x="21281" y="14551"/>
                  </a:cubicBezTo>
                  <a:cubicBezTo>
                    <a:pt x="21477" y="12290"/>
                    <a:pt x="20994" y="7061"/>
                    <a:pt x="20315" y="5012"/>
                  </a:cubicBezTo>
                  <a:cubicBezTo>
                    <a:pt x="19636" y="2962"/>
                    <a:pt x="18278" y="3009"/>
                    <a:pt x="17173" y="2209"/>
                  </a:cubicBezTo>
                  <a:cubicBezTo>
                    <a:pt x="16068" y="1408"/>
                    <a:pt x="14860" y="465"/>
                    <a:pt x="13686" y="159"/>
                  </a:cubicBezTo>
                  <a:cubicBezTo>
                    <a:pt x="12512" y="-147"/>
                    <a:pt x="11086" y="18"/>
                    <a:pt x="10107" y="395"/>
                  </a:cubicBezTo>
                  <a:close/>
                </a:path>
              </a:pathLst>
            </a:custGeom>
            <a:solidFill>
              <a:srgbClr val="9CDFF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52" name="Text Box 35"/>
            <p:cNvSpPr txBox="1"/>
            <p:nvPr/>
          </p:nvSpPr>
          <p:spPr>
            <a:xfrm>
              <a:off x="555306" y="900112"/>
              <a:ext cx="584836" cy="574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400"/>
              </a:pPr>
              <a:r>
                <a:t>R</a:t>
              </a:r>
              <a:r>
                <a:rPr baseline="-25000" sz="3200"/>
                <a:t>s</a:t>
              </a:r>
            </a:p>
          </p:txBody>
        </p:sp>
        <p:sp>
          <p:nvSpPr>
            <p:cNvPr id="9553" name="Oval 40"/>
            <p:cNvSpPr/>
            <p:nvPr/>
          </p:nvSpPr>
          <p:spPr>
            <a:xfrm rot="5400000">
              <a:off x="2374106" y="2328068"/>
              <a:ext cx="50801" cy="525463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54" name="Rectangle 41"/>
            <p:cNvSpPr/>
            <p:nvPr/>
          </p:nvSpPr>
          <p:spPr>
            <a:xfrm rot="5400000">
              <a:off x="1907381" y="1834356"/>
              <a:ext cx="984251" cy="525463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55" name="Oval 42"/>
            <p:cNvSpPr/>
            <p:nvPr/>
          </p:nvSpPr>
          <p:spPr>
            <a:xfrm rot="5400000">
              <a:off x="2378073" y="1349374"/>
              <a:ext cx="52389" cy="525465"/>
            </a:xfrm>
            <a:prstGeom prst="ellipse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56" name="Rectangle 43"/>
            <p:cNvSpPr/>
            <p:nvPr/>
          </p:nvSpPr>
          <p:spPr>
            <a:xfrm rot="5400000">
              <a:off x="2378075" y="2320924"/>
              <a:ext cx="31751" cy="51117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57" name="Oval 31"/>
            <p:cNvSpPr/>
            <p:nvPr/>
          </p:nvSpPr>
          <p:spPr>
            <a:xfrm rot="1792560">
              <a:off x="1384299" y="1223962"/>
              <a:ext cx="38101" cy="158751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58" name="Rectangle 32"/>
            <p:cNvSpPr/>
            <p:nvPr/>
          </p:nvSpPr>
          <p:spPr>
            <a:xfrm rot="1792560">
              <a:off x="719136" y="1020762"/>
              <a:ext cx="730251" cy="158751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59" name="Oval 33"/>
            <p:cNvSpPr/>
            <p:nvPr/>
          </p:nvSpPr>
          <p:spPr>
            <a:xfrm rot="1792560">
              <a:off x="754061" y="820737"/>
              <a:ext cx="38101" cy="158751"/>
            </a:xfrm>
            <a:prstGeom prst="ellipse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60" name="Rectangle 34"/>
            <p:cNvSpPr/>
            <p:nvPr/>
          </p:nvSpPr>
          <p:spPr>
            <a:xfrm rot="1792560">
              <a:off x="1381124" y="1220787"/>
              <a:ext cx="23813" cy="153988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61" name="Line 456"/>
            <p:cNvSpPr/>
            <p:nvPr/>
          </p:nvSpPr>
          <p:spPr>
            <a:xfrm>
              <a:off x="654368" y="854261"/>
              <a:ext cx="828672" cy="476046"/>
            </a:xfrm>
            <a:prstGeom prst="line">
              <a:avLst/>
            </a:prstGeom>
            <a:noFill/>
            <a:ln w="38100" cap="flat">
              <a:solidFill>
                <a:srgbClr val="FF3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562" name="Oval 469"/>
            <p:cNvSpPr/>
            <p:nvPr/>
          </p:nvSpPr>
          <p:spPr>
            <a:xfrm rot="2768172">
              <a:off x="1893886" y="1227138"/>
              <a:ext cx="47627" cy="142877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63" name="Rectangle 470"/>
            <p:cNvSpPr/>
            <p:nvPr/>
          </p:nvSpPr>
          <p:spPr>
            <a:xfrm rot="2768172">
              <a:off x="1172369" y="894555"/>
              <a:ext cx="915988" cy="14287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64" name="Oval 471"/>
            <p:cNvSpPr/>
            <p:nvPr/>
          </p:nvSpPr>
          <p:spPr>
            <a:xfrm rot="2768172">
              <a:off x="1323974" y="568325"/>
              <a:ext cx="47627" cy="142877"/>
            </a:xfrm>
            <a:prstGeom prst="ellipse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65" name="Rectangle 472"/>
            <p:cNvSpPr/>
            <p:nvPr/>
          </p:nvSpPr>
          <p:spPr>
            <a:xfrm rot="2768172">
              <a:off x="1893886" y="1219199"/>
              <a:ext cx="30164" cy="138114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66" name="Line 473"/>
            <p:cNvSpPr/>
            <p:nvPr/>
          </p:nvSpPr>
          <p:spPr>
            <a:xfrm>
              <a:off x="1200224" y="519605"/>
              <a:ext cx="829441" cy="863006"/>
            </a:xfrm>
            <a:prstGeom prst="line">
              <a:avLst/>
            </a:prstGeom>
            <a:noFill/>
            <a:ln w="38100" cap="flat">
              <a:solidFill>
                <a:srgbClr val="FF3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567" name="Oval 476"/>
            <p:cNvSpPr/>
            <p:nvPr/>
          </p:nvSpPr>
          <p:spPr>
            <a:xfrm flipH="1" rot="19807440">
              <a:off x="847724" y="3076575"/>
              <a:ext cx="38101" cy="158751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68" name="Rectangle 477"/>
            <p:cNvSpPr/>
            <p:nvPr/>
          </p:nvSpPr>
          <p:spPr>
            <a:xfrm flipH="1" rot="19807440">
              <a:off x="820736" y="2873374"/>
              <a:ext cx="730251" cy="158751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69" name="Oval 478"/>
            <p:cNvSpPr/>
            <p:nvPr/>
          </p:nvSpPr>
          <p:spPr>
            <a:xfrm flipH="1" rot="19807440">
              <a:off x="1479549" y="2673349"/>
              <a:ext cx="36513" cy="158751"/>
            </a:xfrm>
            <a:prstGeom prst="ellipse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70" name="Rectangle 479"/>
            <p:cNvSpPr/>
            <p:nvPr/>
          </p:nvSpPr>
          <p:spPr>
            <a:xfrm flipH="1" rot="19807440">
              <a:off x="863599" y="3073400"/>
              <a:ext cx="23813" cy="153988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71" name="Line 480"/>
            <p:cNvSpPr/>
            <p:nvPr/>
          </p:nvSpPr>
          <p:spPr>
            <a:xfrm flipH="1">
              <a:off x="788672" y="2706874"/>
              <a:ext cx="828672" cy="476047"/>
            </a:xfrm>
            <a:prstGeom prst="line">
              <a:avLst/>
            </a:prstGeom>
            <a:noFill/>
            <a:ln w="38100" cap="flat">
              <a:solidFill>
                <a:srgbClr val="FF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572" name="Oval 483"/>
            <p:cNvSpPr/>
            <p:nvPr/>
          </p:nvSpPr>
          <p:spPr>
            <a:xfrm flipH="1" rot="8031828">
              <a:off x="2101849" y="2849561"/>
              <a:ext cx="47627" cy="142877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73" name="Rectangle 484"/>
            <p:cNvSpPr/>
            <p:nvPr/>
          </p:nvSpPr>
          <p:spPr>
            <a:xfrm flipH="1" rot="8031828">
              <a:off x="1379536" y="3181350"/>
              <a:ext cx="917576" cy="14287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74" name="Oval 485"/>
            <p:cNvSpPr/>
            <p:nvPr/>
          </p:nvSpPr>
          <p:spPr>
            <a:xfrm flipH="1" rot="8031828">
              <a:off x="1533524" y="3508373"/>
              <a:ext cx="47627" cy="142877"/>
            </a:xfrm>
            <a:prstGeom prst="ellipse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75" name="Rectangle 486"/>
            <p:cNvSpPr/>
            <p:nvPr/>
          </p:nvSpPr>
          <p:spPr>
            <a:xfrm flipH="1" rot="8031828">
              <a:off x="2101850" y="2859087"/>
              <a:ext cx="30163" cy="138113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76" name="Line 487"/>
            <p:cNvSpPr/>
            <p:nvPr/>
          </p:nvSpPr>
          <p:spPr>
            <a:xfrm flipV="1">
              <a:off x="1408187" y="2836648"/>
              <a:ext cx="829441" cy="863006"/>
            </a:xfrm>
            <a:prstGeom prst="line">
              <a:avLst/>
            </a:prstGeom>
            <a:noFill/>
            <a:ln w="38100" cap="flat">
              <a:solidFill>
                <a:srgbClr val="FF33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577" name="Oval 500"/>
            <p:cNvSpPr/>
            <p:nvPr/>
          </p:nvSpPr>
          <p:spPr>
            <a:xfrm flipH="1" rot="19807440">
              <a:off x="3054350" y="1195387"/>
              <a:ext cx="38101" cy="158751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78" name="Rectangle 501"/>
            <p:cNvSpPr/>
            <p:nvPr/>
          </p:nvSpPr>
          <p:spPr>
            <a:xfrm flipH="1" rot="19807440">
              <a:off x="3027362" y="992187"/>
              <a:ext cx="730251" cy="158751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79" name="Oval 502"/>
            <p:cNvSpPr/>
            <p:nvPr/>
          </p:nvSpPr>
          <p:spPr>
            <a:xfrm flipH="1" rot="19807440">
              <a:off x="3686175" y="792162"/>
              <a:ext cx="36513" cy="158751"/>
            </a:xfrm>
            <a:prstGeom prst="ellipse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80" name="Rectangle 503"/>
            <p:cNvSpPr/>
            <p:nvPr/>
          </p:nvSpPr>
          <p:spPr>
            <a:xfrm flipH="1" rot="19807440">
              <a:off x="3070225" y="1192212"/>
              <a:ext cx="25401" cy="153988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81" name="Line 504"/>
            <p:cNvSpPr/>
            <p:nvPr/>
          </p:nvSpPr>
          <p:spPr>
            <a:xfrm flipH="1">
              <a:off x="2995297" y="825686"/>
              <a:ext cx="828672" cy="476047"/>
            </a:xfrm>
            <a:prstGeom prst="line">
              <a:avLst/>
            </a:prstGeom>
            <a:noFill/>
            <a:ln w="38100" cap="flat">
              <a:solidFill>
                <a:srgbClr val="FF3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582" name="Oval 507"/>
            <p:cNvSpPr/>
            <p:nvPr/>
          </p:nvSpPr>
          <p:spPr>
            <a:xfrm rot="1792560">
              <a:off x="3811587" y="3155950"/>
              <a:ext cx="38101" cy="158751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83" name="Rectangle 508"/>
            <p:cNvSpPr/>
            <p:nvPr/>
          </p:nvSpPr>
          <p:spPr>
            <a:xfrm rot="1792560">
              <a:off x="3144837" y="2951162"/>
              <a:ext cx="731838" cy="158751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84" name="Oval 509"/>
            <p:cNvSpPr/>
            <p:nvPr/>
          </p:nvSpPr>
          <p:spPr>
            <a:xfrm rot="1792560">
              <a:off x="3179762" y="2751137"/>
              <a:ext cx="38101" cy="158751"/>
            </a:xfrm>
            <a:prstGeom prst="ellipse">
              <a:avLst/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85" name="Rectangle 510"/>
            <p:cNvSpPr/>
            <p:nvPr/>
          </p:nvSpPr>
          <p:spPr>
            <a:xfrm rot="1792560">
              <a:off x="3806825" y="3152775"/>
              <a:ext cx="25401" cy="152401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86" name="Line 511"/>
            <p:cNvSpPr/>
            <p:nvPr/>
          </p:nvSpPr>
          <p:spPr>
            <a:xfrm>
              <a:off x="3080457" y="2787505"/>
              <a:ext cx="914573" cy="540040"/>
            </a:xfrm>
            <a:prstGeom prst="line">
              <a:avLst/>
            </a:prstGeom>
            <a:noFill/>
            <a:ln w="38100" cap="flat">
              <a:solidFill>
                <a:srgbClr val="FF33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587" name="Text Box 513"/>
            <p:cNvSpPr txBox="1"/>
            <p:nvPr/>
          </p:nvSpPr>
          <p:spPr>
            <a:xfrm>
              <a:off x="1525269" y="458787"/>
              <a:ext cx="584836" cy="574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400"/>
              </a:pPr>
              <a:r>
                <a:t>R</a:t>
              </a:r>
              <a:r>
                <a:rPr baseline="-25000" sz="3200"/>
                <a:t>s</a:t>
              </a:r>
            </a:p>
          </p:txBody>
        </p:sp>
        <p:sp>
          <p:nvSpPr>
            <p:cNvPr id="9588" name="Text Box 514"/>
            <p:cNvSpPr txBox="1"/>
            <p:nvPr/>
          </p:nvSpPr>
          <p:spPr>
            <a:xfrm>
              <a:off x="3352482" y="966787"/>
              <a:ext cx="584836" cy="574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400"/>
              </a:pPr>
              <a:r>
                <a:t>R</a:t>
              </a:r>
              <a:r>
                <a:rPr baseline="-25000" sz="3200"/>
                <a:t>s</a:t>
              </a:r>
            </a:p>
          </p:txBody>
        </p:sp>
        <p:sp>
          <p:nvSpPr>
            <p:cNvPr id="9589" name="Freeform 515"/>
            <p:cNvSpPr/>
            <p:nvPr/>
          </p:nvSpPr>
          <p:spPr>
            <a:xfrm>
              <a:off x="1473199" y="1327149"/>
              <a:ext cx="787206" cy="1381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2" h="21600" fill="norm" stroke="1" extrusionOk="0">
                  <a:moveTo>
                    <a:pt x="0" y="0"/>
                  </a:moveTo>
                  <a:cubicBezTo>
                    <a:pt x="900" y="273"/>
                    <a:pt x="3386" y="1092"/>
                    <a:pt x="5529" y="1564"/>
                  </a:cubicBezTo>
                  <a:cubicBezTo>
                    <a:pt x="7671" y="2036"/>
                    <a:pt x="10929" y="2532"/>
                    <a:pt x="12814" y="2781"/>
                  </a:cubicBezTo>
                  <a:cubicBezTo>
                    <a:pt x="14700" y="3029"/>
                    <a:pt x="15514" y="2880"/>
                    <a:pt x="16800" y="3004"/>
                  </a:cubicBezTo>
                  <a:cubicBezTo>
                    <a:pt x="17871" y="3079"/>
                    <a:pt x="20100" y="2483"/>
                    <a:pt x="20529" y="3600"/>
                  </a:cubicBezTo>
                  <a:cubicBezTo>
                    <a:pt x="21000" y="4742"/>
                    <a:pt x="21600" y="17379"/>
                    <a:pt x="21000" y="19167"/>
                  </a:cubicBezTo>
                  <a:cubicBezTo>
                    <a:pt x="20443" y="20979"/>
                    <a:pt x="19157" y="20905"/>
                    <a:pt x="17400" y="20830"/>
                  </a:cubicBezTo>
                  <a:cubicBezTo>
                    <a:pt x="15643" y="20756"/>
                    <a:pt x="13843" y="20731"/>
                    <a:pt x="12257" y="20681"/>
                  </a:cubicBezTo>
                  <a:cubicBezTo>
                    <a:pt x="10714" y="20632"/>
                    <a:pt x="9686" y="20408"/>
                    <a:pt x="8229" y="20557"/>
                  </a:cubicBezTo>
                  <a:cubicBezTo>
                    <a:pt x="6771" y="20706"/>
                    <a:pt x="4586" y="21377"/>
                    <a:pt x="3600" y="21600"/>
                  </a:cubicBezTo>
                </a:path>
              </a:pathLst>
            </a:custGeom>
            <a:noFill/>
            <a:ln w="38100" cap="flat">
              <a:solidFill>
                <a:srgbClr val="FF3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90" name="Text Box 516"/>
            <p:cNvSpPr txBox="1"/>
            <p:nvPr/>
          </p:nvSpPr>
          <p:spPr>
            <a:xfrm>
              <a:off x="533081" y="2442447"/>
              <a:ext cx="583249" cy="574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400"/>
              </a:pPr>
              <a:r>
                <a:t>R</a:t>
              </a:r>
              <a:r>
                <a:rPr baseline="-25000" sz="3200"/>
                <a:t>c</a:t>
              </a:r>
            </a:p>
          </p:txBody>
        </p:sp>
        <p:sp>
          <p:nvSpPr>
            <p:cNvPr id="9591" name="Freeform 517"/>
            <p:cNvSpPr/>
            <p:nvPr/>
          </p:nvSpPr>
          <p:spPr>
            <a:xfrm>
              <a:off x="1936750" y="1304924"/>
              <a:ext cx="428380" cy="1570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9" h="21600" fill="norm" stroke="1" extrusionOk="0">
                  <a:moveTo>
                    <a:pt x="0" y="0"/>
                  </a:moveTo>
                  <a:cubicBezTo>
                    <a:pt x="1191" y="284"/>
                    <a:pt x="3891" y="1223"/>
                    <a:pt x="7306" y="1747"/>
                  </a:cubicBezTo>
                  <a:cubicBezTo>
                    <a:pt x="18344" y="1835"/>
                    <a:pt x="16200" y="1944"/>
                    <a:pt x="20409" y="3211"/>
                  </a:cubicBezTo>
                  <a:cubicBezTo>
                    <a:pt x="21441" y="6443"/>
                    <a:pt x="21600" y="14240"/>
                    <a:pt x="21282" y="16904"/>
                  </a:cubicBezTo>
                  <a:cubicBezTo>
                    <a:pt x="21282" y="19547"/>
                    <a:pt x="20726" y="18630"/>
                    <a:pt x="20409" y="19110"/>
                  </a:cubicBezTo>
                  <a:cubicBezTo>
                    <a:pt x="19932" y="19525"/>
                    <a:pt x="20409" y="19416"/>
                    <a:pt x="19218" y="19831"/>
                  </a:cubicBezTo>
                  <a:cubicBezTo>
                    <a:pt x="18026" y="20246"/>
                    <a:pt x="14532" y="21229"/>
                    <a:pt x="13262" y="21600"/>
                  </a:cubicBezTo>
                </a:path>
              </a:pathLst>
            </a:custGeom>
            <a:noFill/>
            <a:ln w="38100" cap="flat">
              <a:solidFill>
                <a:srgbClr val="FF3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92" name="Freeform 518"/>
            <p:cNvSpPr/>
            <p:nvPr/>
          </p:nvSpPr>
          <p:spPr>
            <a:xfrm>
              <a:off x="2533845" y="1289049"/>
              <a:ext cx="625281" cy="15382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600" fill="norm" stroke="1" extrusionOk="0">
                  <a:moveTo>
                    <a:pt x="16006" y="0"/>
                  </a:moveTo>
                  <a:cubicBezTo>
                    <a:pt x="15415" y="111"/>
                    <a:pt x="13642" y="535"/>
                    <a:pt x="12460" y="802"/>
                  </a:cubicBezTo>
                  <a:cubicBezTo>
                    <a:pt x="11277" y="1070"/>
                    <a:pt x="10257" y="1293"/>
                    <a:pt x="8913" y="1605"/>
                  </a:cubicBezTo>
                  <a:cubicBezTo>
                    <a:pt x="7570" y="1917"/>
                    <a:pt x="5743" y="2251"/>
                    <a:pt x="4400" y="2653"/>
                  </a:cubicBezTo>
                  <a:cubicBezTo>
                    <a:pt x="3003" y="3032"/>
                    <a:pt x="3433" y="2831"/>
                    <a:pt x="907" y="3968"/>
                  </a:cubicBezTo>
                  <a:cubicBezTo>
                    <a:pt x="316" y="4971"/>
                    <a:pt x="-436" y="16317"/>
                    <a:pt x="316" y="17922"/>
                  </a:cubicBezTo>
                  <a:cubicBezTo>
                    <a:pt x="1015" y="19549"/>
                    <a:pt x="2412" y="19037"/>
                    <a:pt x="4830" y="19415"/>
                  </a:cubicBezTo>
                  <a:cubicBezTo>
                    <a:pt x="7301" y="19794"/>
                    <a:pt x="10794" y="19705"/>
                    <a:pt x="13588" y="20062"/>
                  </a:cubicBezTo>
                  <a:cubicBezTo>
                    <a:pt x="16328" y="20419"/>
                    <a:pt x="19606" y="21288"/>
                    <a:pt x="21164" y="21600"/>
                  </a:cubicBezTo>
                </a:path>
              </a:pathLst>
            </a:custGeom>
            <a:noFill/>
            <a:ln w="38100" cap="flat">
              <a:solidFill>
                <a:srgbClr val="FF3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800"/>
              </a:pPr>
            </a:p>
          </p:txBody>
        </p:sp>
        <p:sp>
          <p:nvSpPr>
            <p:cNvPr id="9593" name="Text Box 519"/>
            <p:cNvSpPr txBox="1"/>
            <p:nvPr/>
          </p:nvSpPr>
          <p:spPr>
            <a:xfrm>
              <a:off x="1791969" y="3054349"/>
              <a:ext cx="584837" cy="574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400"/>
              </a:pPr>
              <a:r>
                <a:t>R</a:t>
              </a:r>
              <a:r>
                <a:rPr baseline="-25000" sz="3200"/>
                <a:t>c</a:t>
              </a:r>
            </a:p>
          </p:txBody>
        </p:sp>
        <p:sp>
          <p:nvSpPr>
            <p:cNvPr id="9594" name="Text Box 520"/>
            <p:cNvSpPr txBox="1"/>
            <p:nvPr/>
          </p:nvSpPr>
          <p:spPr>
            <a:xfrm>
              <a:off x="3479482" y="2541587"/>
              <a:ext cx="583248" cy="574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2400"/>
              </a:pPr>
              <a:r>
                <a:t>R</a:t>
              </a:r>
              <a:r>
                <a:rPr baseline="-25000" sz="3200"/>
                <a:t>c</a:t>
              </a:r>
            </a:p>
          </p:txBody>
        </p:sp>
        <p:sp>
          <p:nvSpPr>
            <p:cNvPr id="9595" name="Text Box 521"/>
            <p:cNvSpPr txBox="1"/>
            <p:nvPr/>
          </p:nvSpPr>
          <p:spPr>
            <a:xfrm>
              <a:off x="2507932" y="1912937"/>
              <a:ext cx="584836" cy="392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400"/>
              </a:lvl1pPr>
            </a:lstStyle>
            <a:p>
              <a:pPr/>
              <a:r>
                <a:t>R</a:t>
              </a:r>
            </a:p>
          </p:txBody>
        </p:sp>
        <p:grpSp>
          <p:nvGrpSpPr>
            <p:cNvPr id="9628" name="Group 81"/>
            <p:cNvGrpSpPr/>
            <p:nvPr/>
          </p:nvGrpSpPr>
          <p:grpSpPr>
            <a:xfrm>
              <a:off x="339724" y="339725"/>
              <a:ext cx="353212" cy="660400"/>
              <a:chOff x="0" y="0"/>
              <a:chExt cx="353210" cy="660399"/>
            </a:xfrm>
          </p:grpSpPr>
          <p:sp>
            <p:nvSpPr>
              <p:cNvPr id="9596" name="Freeform 82"/>
              <p:cNvSpPr/>
              <p:nvPr/>
            </p:nvSpPr>
            <p:spPr>
              <a:xfrm>
                <a:off x="278972" y="1102"/>
                <a:ext cx="69991" cy="6300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844" y="0"/>
                    </a:moveTo>
                    <a:lnTo>
                      <a:pt x="21600" y="2670"/>
                    </a:lnTo>
                    <a:lnTo>
                      <a:pt x="21112" y="20670"/>
                    </a:lnTo>
                    <a:lnTo>
                      <a:pt x="0" y="21600"/>
                    </a:lnTo>
                    <a:lnTo>
                      <a:pt x="384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597" name="Rectangle 83"/>
              <p:cNvSpPr/>
              <p:nvPr/>
            </p:nvSpPr>
            <p:spPr>
              <a:xfrm>
                <a:off x="15828" y="0"/>
                <a:ext cx="258693" cy="630356"/>
              </a:xfrm>
              <a:prstGeom prst="rect">
                <a:avLst/>
              </a:pr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598" name="Freeform 84"/>
              <p:cNvSpPr/>
              <p:nvPr/>
            </p:nvSpPr>
            <p:spPr>
              <a:xfrm>
                <a:off x="293466" y="38863"/>
                <a:ext cx="40411" cy="574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83" h="21300" fill="norm" stroke="1" extrusionOk="0">
                    <a:moveTo>
                      <a:pt x="0" y="0"/>
                    </a:moveTo>
                    <a:cubicBezTo>
                      <a:pt x="0" y="0"/>
                      <a:pt x="5118" y="238"/>
                      <a:pt x="20883" y="1856"/>
                    </a:cubicBezTo>
                    <a:cubicBezTo>
                      <a:pt x="-717" y="10464"/>
                      <a:pt x="3480" y="21600"/>
                      <a:pt x="0" y="21293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599" name="Freeform 85"/>
              <p:cNvSpPr/>
              <p:nvPr/>
            </p:nvSpPr>
            <p:spPr>
              <a:xfrm>
                <a:off x="282929" y="333783"/>
                <a:ext cx="65045" cy="520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00" name="Rectangle 86"/>
              <p:cNvSpPr/>
              <p:nvPr/>
            </p:nvSpPr>
            <p:spPr>
              <a:xfrm>
                <a:off x="17559" y="73029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03" name="Group 87"/>
              <p:cNvGrpSpPr/>
              <p:nvPr/>
            </p:nvGrpSpPr>
            <p:grpSpPr>
              <a:xfrm>
                <a:off x="150813" y="63574"/>
                <a:ext cx="142899" cy="42842"/>
                <a:chOff x="0" y="0"/>
                <a:chExt cx="142897" cy="42841"/>
              </a:xfrm>
            </p:grpSpPr>
            <p:sp>
              <p:nvSpPr>
                <p:cNvPr id="9601" name="AutoShape 88"/>
                <p:cNvSpPr/>
                <p:nvPr/>
              </p:nvSpPr>
              <p:spPr>
                <a:xfrm>
                  <a:off x="0" y="0"/>
                  <a:ext cx="142898" cy="428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02" name="AutoShape 89"/>
                <p:cNvSpPr/>
                <p:nvPr/>
              </p:nvSpPr>
              <p:spPr>
                <a:xfrm>
                  <a:off x="3171" y="6325"/>
                  <a:ext cx="136556" cy="31629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04" name="Rectangle 90"/>
              <p:cNvSpPr/>
              <p:nvPr/>
            </p:nvSpPr>
            <p:spPr>
              <a:xfrm>
                <a:off x="20527" y="161792"/>
                <a:ext cx="147648" cy="14333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07" name="Group 91"/>
              <p:cNvGrpSpPr/>
              <p:nvPr/>
            </p:nvGrpSpPr>
            <p:grpSpPr>
              <a:xfrm>
                <a:off x="150715" y="155462"/>
                <a:ext cx="142898" cy="36404"/>
                <a:chOff x="0" y="0"/>
                <a:chExt cx="142897" cy="36402"/>
              </a:xfrm>
            </p:grpSpPr>
            <p:sp>
              <p:nvSpPr>
                <p:cNvPr id="9605" name="AutoShape 92"/>
                <p:cNvSpPr/>
                <p:nvPr/>
              </p:nvSpPr>
              <p:spPr>
                <a:xfrm>
                  <a:off x="0" y="0"/>
                  <a:ext cx="142898" cy="3640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06" name="AutoShape 93"/>
                <p:cNvSpPr/>
                <p:nvPr/>
              </p:nvSpPr>
              <p:spPr>
                <a:xfrm>
                  <a:off x="3369" y="4782"/>
                  <a:ext cx="136556" cy="2710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08" name="Rectangle 94"/>
              <p:cNvSpPr/>
              <p:nvPr/>
            </p:nvSpPr>
            <p:spPr>
              <a:xfrm>
                <a:off x="19043" y="255494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09" name="Rectangle 95"/>
              <p:cNvSpPr/>
              <p:nvPr/>
            </p:nvSpPr>
            <p:spPr>
              <a:xfrm>
                <a:off x="22258" y="338182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12" name="Group 96"/>
              <p:cNvGrpSpPr/>
              <p:nvPr/>
            </p:nvGrpSpPr>
            <p:grpSpPr>
              <a:xfrm>
                <a:off x="147549" y="330199"/>
                <a:ext cx="142947" cy="41322"/>
                <a:chOff x="0" y="0"/>
                <a:chExt cx="142945" cy="41320"/>
              </a:xfrm>
            </p:grpSpPr>
            <p:sp>
              <p:nvSpPr>
                <p:cNvPr id="9610" name="AutoShape 97"/>
                <p:cNvSpPr/>
                <p:nvPr/>
              </p:nvSpPr>
              <p:spPr>
                <a:xfrm>
                  <a:off x="0" y="0"/>
                  <a:ext cx="142946" cy="4132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11" name="AutoShape 98"/>
                <p:cNvSpPr/>
                <p:nvPr/>
              </p:nvSpPr>
              <p:spPr>
                <a:xfrm>
                  <a:off x="3176" y="4790"/>
                  <a:ext cx="136593" cy="3174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13" name="Freeform 99"/>
              <p:cNvSpPr/>
              <p:nvPr/>
            </p:nvSpPr>
            <p:spPr>
              <a:xfrm>
                <a:off x="283918" y="254954"/>
                <a:ext cx="65045" cy="518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16" name="Group 100"/>
              <p:cNvGrpSpPr/>
              <p:nvPr/>
            </p:nvGrpSpPr>
            <p:grpSpPr>
              <a:xfrm>
                <a:off x="147546" y="247787"/>
                <a:ext cx="144534" cy="38038"/>
                <a:chOff x="0" y="0"/>
                <a:chExt cx="144533" cy="38036"/>
              </a:xfrm>
            </p:grpSpPr>
            <p:sp>
              <p:nvSpPr>
                <p:cNvPr id="9614" name="AutoShape 101"/>
                <p:cNvSpPr/>
                <p:nvPr/>
              </p:nvSpPr>
              <p:spPr>
                <a:xfrm>
                  <a:off x="0" y="0"/>
                  <a:ext cx="144534" cy="380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15" name="AutoShape 102"/>
                <p:cNvSpPr/>
                <p:nvPr/>
              </p:nvSpPr>
              <p:spPr>
                <a:xfrm>
                  <a:off x="3176" y="4685"/>
                  <a:ext cx="138181" cy="28666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17" name="Rectangle 103"/>
              <p:cNvSpPr/>
              <p:nvPr/>
            </p:nvSpPr>
            <p:spPr>
              <a:xfrm>
                <a:off x="274520" y="0"/>
                <a:ext cx="17560" cy="630356"/>
              </a:xfrm>
              <a:prstGeom prst="rect">
                <a:avLst/>
              </a:prstGeom>
              <a:gradFill flip="none"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18" name="Freeform 104"/>
              <p:cNvSpPr/>
              <p:nvPr/>
            </p:nvSpPr>
            <p:spPr>
              <a:xfrm>
                <a:off x="289854" y="159311"/>
                <a:ext cx="58614" cy="5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92" y="0"/>
                    </a:moveTo>
                    <a:cubicBezTo>
                      <a:pt x="4014" y="844"/>
                      <a:pt x="10508" y="5737"/>
                      <a:pt x="21308" y="12150"/>
                    </a:cubicBezTo>
                    <a:cubicBezTo>
                      <a:pt x="21162" y="15019"/>
                      <a:pt x="21600" y="15863"/>
                      <a:pt x="21600" y="21600"/>
                    </a:cubicBezTo>
                    <a:cubicBezTo>
                      <a:pt x="21600" y="21600"/>
                      <a:pt x="11676" y="14850"/>
                      <a:pt x="0" y="8437"/>
                    </a:cubicBezTo>
                    <a:cubicBezTo>
                      <a:pt x="0" y="4050"/>
                      <a:pt x="292" y="1434"/>
                      <a:pt x="29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19" name="Freeform 105"/>
              <p:cNvSpPr/>
              <p:nvPr/>
            </p:nvSpPr>
            <p:spPr>
              <a:xfrm>
                <a:off x="290596" y="69182"/>
                <a:ext cx="60346" cy="66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3624" y="750"/>
                      <a:pt x="10516" y="5700"/>
                      <a:pt x="21600" y="12300"/>
                    </a:cubicBezTo>
                    <a:cubicBezTo>
                      <a:pt x="21458" y="14850"/>
                      <a:pt x="20179" y="16500"/>
                      <a:pt x="20179" y="21600"/>
                    </a:cubicBezTo>
                    <a:cubicBezTo>
                      <a:pt x="20179" y="21600"/>
                      <a:pt x="11582" y="13425"/>
                      <a:pt x="568" y="9300"/>
                    </a:cubicBezTo>
                    <a:cubicBezTo>
                      <a:pt x="568" y="5400"/>
                      <a:pt x="0" y="1275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20" name="Oval 106"/>
              <p:cNvSpPr/>
              <p:nvPr/>
            </p:nvSpPr>
            <p:spPr>
              <a:xfrm>
                <a:off x="340510" y="601691"/>
                <a:ext cx="12701" cy="27013"/>
              </a:xfrm>
              <a:prstGeom prst="ellipse">
                <a:avLst/>
              </a:pr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21" name="Freeform 107"/>
              <p:cNvSpPr/>
              <p:nvPr/>
            </p:nvSpPr>
            <p:spPr>
              <a:xfrm>
                <a:off x="287380" y="602242"/>
                <a:ext cx="60594" cy="551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40"/>
                    </a:moveTo>
                    <a:lnTo>
                      <a:pt x="141" y="21600"/>
                    </a:lnTo>
                    <a:lnTo>
                      <a:pt x="21600" y="9900"/>
                    </a:lnTo>
                    <a:lnTo>
                      <a:pt x="21176" y="0"/>
                    </a:lnTo>
                    <a:lnTo>
                      <a:pt x="0" y="9540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22" name="AutoShape 108"/>
              <p:cNvSpPr/>
              <p:nvPr/>
            </p:nvSpPr>
            <p:spPr>
              <a:xfrm>
                <a:off x="0" y="619056"/>
                <a:ext cx="296779" cy="413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23" name="AutoShape 109"/>
              <p:cNvSpPr/>
              <p:nvPr/>
            </p:nvSpPr>
            <p:spPr>
              <a:xfrm>
                <a:off x="15828" y="628702"/>
                <a:ext cx="265123" cy="2232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24" name="Oval 110"/>
              <p:cNvSpPr/>
              <p:nvPr/>
            </p:nvSpPr>
            <p:spPr>
              <a:xfrm>
                <a:off x="41301" y="538297"/>
                <a:ext cx="39571" cy="39691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25" name="Oval 111"/>
              <p:cNvSpPr/>
              <p:nvPr/>
            </p:nvSpPr>
            <p:spPr>
              <a:xfrm>
                <a:off x="85818" y="538297"/>
                <a:ext cx="39571" cy="39691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0000"/>
                    </a:solidFill>
                  </a:defRPr>
                </a:pPr>
              </a:p>
            </p:txBody>
          </p:sp>
          <p:sp>
            <p:nvSpPr>
              <p:cNvPr id="9626" name="Oval 112"/>
              <p:cNvSpPr/>
              <p:nvPr/>
            </p:nvSpPr>
            <p:spPr>
              <a:xfrm>
                <a:off x="128604" y="538297"/>
                <a:ext cx="39571" cy="38037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27" name="Rectangle 113"/>
              <p:cNvSpPr/>
              <p:nvPr/>
            </p:nvSpPr>
            <p:spPr>
              <a:xfrm>
                <a:off x="228519" y="387254"/>
                <a:ext cx="20528" cy="209476"/>
              </a:xfrm>
              <a:prstGeom prst="rect">
                <a:avLst/>
              </a:prstGeom>
              <a:solidFill>
                <a:srgbClr val="29292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</p:grpSp>
        <p:grpSp>
          <p:nvGrpSpPr>
            <p:cNvPr id="9661" name="Group 114"/>
            <p:cNvGrpSpPr/>
            <p:nvPr/>
          </p:nvGrpSpPr>
          <p:grpSpPr>
            <a:xfrm>
              <a:off x="914399" y="-1"/>
              <a:ext cx="353212" cy="660401"/>
              <a:chOff x="0" y="0"/>
              <a:chExt cx="353210" cy="660399"/>
            </a:xfrm>
          </p:grpSpPr>
          <p:sp>
            <p:nvSpPr>
              <p:cNvPr id="9629" name="Freeform 115"/>
              <p:cNvSpPr/>
              <p:nvPr/>
            </p:nvSpPr>
            <p:spPr>
              <a:xfrm>
                <a:off x="278972" y="1102"/>
                <a:ext cx="69991" cy="6300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844" y="0"/>
                    </a:moveTo>
                    <a:lnTo>
                      <a:pt x="21600" y="2670"/>
                    </a:lnTo>
                    <a:lnTo>
                      <a:pt x="21112" y="20670"/>
                    </a:lnTo>
                    <a:lnTo>
                      <a:pt x="0" y="21600"/>
                    </a:lnTo>
                    <a:lnTo>
                      <a:pt x="384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30" name="Rectangle 116"/>
              <p:cNvSpPr/>
              <p:nvPr/>
            </p:nvSpPr>
            <p:spPr>
              <a:xfrm>
                <a:off x="15828" y="0"/>
                <a:ext cx="258693" cy="630356"/>
              </a:xfrm>
              <a:prstGeom prst="rect">
                <a:avLst/>
              </a:pr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31" name="Freeform 117"/>
              <p:cNvSpPr/>
              <p:nvPr/>
            </p:nvSpPr>
            <p:spPr>
              <a:xfrm>
                <a:off x="293466" y="38863"/>
                <a:ext cx="40411" cy="574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83" h="21300" fill="norm" stroke="1" extrusionOk="0">
                    <a:moveTo>
                      <a:pt x="0" y="0"/>
                    </a:moveTo>
                    <a:cubicBezTo>
                      <a:pt x="0" y="0"/>
                      <a:pt x="5118" y="238"/>
                      <a:pt x="20883" y="1856"/>
                    </a:cubicBezTo>
                    <a:cubicBezTo>
                      <a:pt x="-717" y="10464"/>
                      <a:pt x="3480" y="21600"/>
                      <a:pt x="0" y="21293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32" name="Freeform 118"/>
              <p:cNvSpPr/>
              <p:nvPr/>
            </p:nvSpPr>
            <p:spPr>
              <a:xfrm>
                <a:off x="282929" y="333783"/>
                <a:ext cx="65045" cy="520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33" name="Rectangle 119"/>
              <p:cNvSpPr/>
              <p:nvPr/>
            </p:nvSpPr>
            <p:spPr>
              <a:xfrm>
                <a:off x="17559" y="73029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36" name="Group 120"/>
              <p:cNvGrpSpPr/>
              <p:nvPr/>
            </p:nvGrpSpPr>
            <p:grpSpPr>
              <a:xfrm>
                <a:off x="150813" y="63574"/>
                <a:ext cx="142899" cy="42842"/>
                <a:chOff x="0" y="0"/>
                <a:chExt cx="142897" cy="42841"/>
              </a:xfrm>
            </p:grpSpPr>
            <p:sp>
              <p:nvSpPr>
                <p:cNvPr id="9634" name="AutoShape 121"/>
                <p:cNvSpPr/>
                <p:nvPr/>
              </p:nvSpPr>
              <p:spPr>
                <a:xfrm>
                  <a:off x="0" y="0"/>
                  <a:ext cx="142898" cy="428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35" name="AutoShape 122"/>
                <p:cNvSpPr/>
                <p:nvPr/>
              </p:nvSpPr>
              <p:spPr>
                <a:xfrm>
                  <a:off x="3171" y="6325"/>
                  <a:ext cx="136556" cy="31629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37" name="Rectangle 123"/>
              <p:cNvSpPr/>
              <p:nvPr/>
            </p:nvSpPr>
            <p:spPr>
              <a:xfrm>
                <a:off x="20527" y="161792"/>
                <a:ext cx="147648" cy="14333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40" name="Group 124"/>
              <p:cNvGrpSpPr/>
              <p:nvPr/>
            </p:nvGrpSpPr>
            <p:grpSpPr>
              <a:xfrm>
                <a:off x="150715" y="155462"/>
                <a:ext cx="142898" cy="36404"/>
                <a:chOff x="0" y="0"/>
                <a:chExt cx="142897" cy="36402"/>
              </a:xfrm>
            </p:grpSpPr>
            <p:sp>
              <p:nvSpPr>
                <p:cNvPr id="9638" name="AutoShape 125"/>
                <p:cNvSpPr/>
                <p:nvPr/>
              </p:nvSpPr>
              <p:spPr>
                <a:xfrm>
                  <a:off x="0" y="0"/>
                  <a:ext cx="142898" cy="3640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39" name="AutoShape 126"/>
                <p:cNvSpPr/>
                <p:nvPr/>
              </p:nvSpPr>
              <p:spPr>
                <a:xfrm>
                  <a:off x="3369" y="4782"/>
                  <a:ext cx="136556" cy="2710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41" name="Rectangle 127"/>
              <p:cNvSpPr/>
              <p:nvPr/>
            </p:nvSpPr>
            <p:spPr>
              <a:xfrm>
                <a:off x="19043" y="255494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42" name="Rectangle 128"/>
              <p:cNvSpPr/>
              <p:nvPr/>
            </p:nvSpPr>
            <p:spPr>
              <a:xfrm>
                <a:off x="22258" y="338182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45" name="Group 129"/>
              <p:cNvGrpSpPr/>
              <p:nvPr/>
            </p:nvGrpSpPr>
            <p:grpSpPr>
              <a:xfrm>
                <a:off x="147549" y="330199"/>
                <a:ext cx="142947" cy="41322"/>
                <a:chOff x="0" y="0"/>
                <a:chExt cx="142945" cy="41320"/>
              </a:xfrm>
            </p:grpSpPr>
            <p:sp>
              <p:nvSpPr>
                <p:cNvPr id="9643" name="AutoShape 130"/>
                <p:cNvSpPr/>
                <p:nvPr/>
              </p:nvSpPr>
              <p:spPr>
                <a:xfrm>
                  <a:off x="0" y="0"/>
                  <a:ext cx="142946" cy="4132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44" name="AutoShape 131"/>
                <p:cNvSpPr/>
                <p:nvPr/>
              </p:nvSpPr>
              <p:spPr>
                <a:xfrm>
                  <a:off x="3176" y="4790"/>
                  <a:ext cx="136593" cy="3174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46" name="Freeform 132"/>
              <p:cNvSpPr/>
              <p:nvPr/>
            </p:nvSpPr>
            <p:spPr>
              <a:xfrm>
                <a:off x="283918" y="254954"/>
                <a:ext cx="65045" cy="518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49" name="Group 133"/>
              <p:cNvGrpSpPr/>
              <p:nvPr/>
            </p:nvGrpSpPr>
            <p:grpSpPr>
              <a:xfrm>
                <a:off x="147546" y="247787"/>
                <a:ext cx="144534" cy="38038"/>
                <a:chOff x="0" y="0"/>
                <a:chExt cx="144533" cy="38036"/>
              </a:xfrm>
            </p:grpSpPr>
            <p:sp>
              <p:nvSpPr>
                <p:cNvPr id="9647" name="AutoShape 134"/>
                <p:cNvSpPr/>
                <p:nvPr/>
              </p:nvSpPr>
              <p:spPr>
                <a:xfrm>
                  <a:off x="0" y="0"/>
                  <a:ext cx="144534" cy="380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48" name="AutoShape 135"/>
                <p:cNvSpPr/>
                <p:nvPr/>
              </p:nvSpPr>
              <p:spPr>
                <a:xfrm>
                  <a:off x="3176" y="4685"/>
                  <a:ext cx="138181" cy="28666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50" name="Rectangle 136"/>
              <p:cNvSpPr/>
              <p:nvPr/>
            </p:nvSpPr>
            <p:spPr>
              <a:xfrm>
                <a:off x="274520" y="0"/>
                <a:ext cx="17560" cy="630356"/>
              </a:xfrm>
              <a:prstGeom prst="rect">
                <a:avLst/>
              </a:prstGeom>
              <a:gradFill flip="none"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51" name="Freeform 137"/>
              <p:cNvSpPr/>
              <p:nvPr/>
            </p:nvSpPr>
            <p:spPr>
              <a:xfrm>
                <a:off x="289854" y="159311"/>
                <a:ext cx="58614" cy="5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92" y="0"/>
                    </a:moveTo>
                    <a:cubicBezTo>
                      <a:pt x="4014" y="844"/>
                      <a:pt x="10508" y="5737"/>
                      <a:pt x="21308" y="12150"/>
                    </a:cubicBezTo>
                    <a:cubicBezTo>
                      <a:pt x="21162" y="15019"/>
                      <a:pt x="21600" y="15863"/>
                      <a:pt x="21600" y="21600"/>
                    </a:cubicBezTo>
                    <a:cubicBezTo>
                      <a:pt x="21600" y="21600"/>
                      <a:pt x="11676" y="14850"/>
                      <a:pt x="0" y="8437"/>
                    </a:cubicBezTo>
                    <a:cubicBezTo>
                      <a:pt x="0" y="4050"/>
                      <a:pt x="292" y="1434"/>
                      <a:pt x="29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52" name="Freeform 138"/>
              <p:cNvSpPr/>
              <p:nvPr/>
            </p:nvSpPr>
            <p:spPr>
              <a:xfrm>
                <a:off x="290596" y="69182"/>
                <a:ext cx="60346" cy="66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3624" y="750"/>
                      <a:pt x="10516" y="5700"/>
                      <a:pt x="21600" y="12300"/>
                    </a:cubicBezTo>
                    <a:cubicBezTo>
                      <a:pt x="21458" y="14850"/>
                      <a:pt x="20179" y="16500"/>
                      <a:pt x="20179" y="21600"/>
                    </a:cubicBezTo>
                    <a:cubicBezTo>
                      <a:pt x="20179" y="21600"/>
                      <a:pt x="11582" y="13425"/>
                      <a:pt x="568" y="9300"/>
                    </a:cubicBezTo>
                    <a:cubicBezTo>
                      <a:pt x="568" y="5400"/>
                      <a:pt x="0" y="1275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53" name="Oval 139"/>
              <p:cNvSpPr/>
              <p:nvPr/>
            </p:nvSpPr>
            <p:spPr>
              <a:xfrm>
                <a:off x="340510" y="601691"/>
                <a:ext cx="12701" cy="27013"/>
              </a:xfrm>
              <a:prstGeom prst="ellipse">
                <a:avLst/>
              </a:pr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54" name="Freeform 140"/>
              <p:cNvSpPr/>
              <p:nvPr/>
            </p:nvSpPr>
            <p:spPr>
              <a:xfrm>
                <a:off x="287380" y="602242"/>
                <a:ext cx="60594" cy="551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40"/>
                    </a:moveTo>
                    <a:lnTo>
                      <a:pt x="141" y="21600"/>
                    </a:lnTo>
                    <a:lnTo>
                      <a:pt x="21600" y="9900"/>
                    </a:lnTo>
                    <a:lnTo>
                      <a:pt x="21176" y="0"/>
                    </a:lnTo>
                    <a:lnTo>
                      <a:pt x="0" y="9540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55" name="AutoShape 141"/>
              <p:cNvSpPr/>
              <p:nvPr/>
            </p:nvSpPr>
            <p:spPr>
              <a:xfrm>
                <a:off x="0" y="619056"/>
                <a:ext cx="296779" cy="413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56" name="AutoShape 142"/>
              <p:cNvSpPr/>
              <p:nvPr/>
            </p:nvSpPr>
            <p:spPr>
              <a:xfrm>
                <a:off x="15828" y="628702"/>
                <a:ext cx="265123" cy="2232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57" name="Oval 143"/>
              <p:cNvSpPr/>
              <p:nvPr/>
            </p:nvSpPr>
            <p:spPr>
              <a:xfrm>
                <a:off x="41301" y="538297"/>
                <a:ext cx="39571" cy="39691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58" name="Oval 144"/>
              <p:cNvSpPr/>
              <p:nvPr/>
            </p:nvSpPr>
            <p:spPr>
              <a:xfrm>
                <a:off x="85818" y="538297"/>
                <a:ext cx="39571" cy="39691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0000"/>
                    </a:solidFill>
                  </a:defRPr>
                </a:pPr>
              </a:p>
            </p:txBody>
          </p:sp>
          <p:sp>
            <p:nvSpPr>
              <p:cNvPr id="9659" name="Oval 145"/>
              <p:cNvSpPr/>
              <p:nvPr/>
            </p:nvSpPr>
            <p:spPr>
              <a:xfrm>
                <a:off x="128604" y="538297"/>
                <a:ext cx="39571" cy="38037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60" name="Rectangle 146"/>
              <p:cNvSpPr/>
              <p:nvPr/>
            </p:nvSpPr>
            <p:spPr>
              <a:xfrm>
                <a:off x="228519" y="387254"/>
                <a:ext cx="20528" cy="209476"/>
              </a:xfrm>
              <a:prstGeom prst="rect">
                <a:avLst/>
              </a:prstGeom>
              <a:solidFill>
                <a:srgbClr val="29292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</p:grpSp>
        <p:grpSp>
          <p:nvGrpSpPr>
            <p:cNvPr id="9694" name="Group 147"/>
            <p:cNvGrpSpPr/>
            <p:nvPr/>
          </p:nvGrpSpPr>
          <p:grpSpPr>
            <a:xfrm>
              <a:off x="3765550" y="255588"/>
              <a:ext cx="353211" cy="660400"/>
              <a:chOff x="0" y="0"/>
              <a:chExt cx="353210" cy="660399"/>
            </a:xfrm>
          </p:grpSpPr>
          <p:sp>
            <p:nvSpPr>
              <p:cNvPr id="9662" name="Freeform 148"/>
              <p:cNvSpPr/>
              <p:nvPr/>
            </p:nvSpPr>
            <p:spPr>
              <a:xfrm>
                <a:off x="278972" y="1102"/>
                <a:ext cx="69991" cy="6300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3844" y="0"/>
                    </a:moveTo>
                    <a:lnTo>
                      <a:pt x="21600" y="2670"/>
                    </a:lnTo>
                    <a:lnTo>
                      <a:pt x="21112" y="20670"/>
                    </a:lnTo>
                    <a:lnTo>
                      <a:pt x="0" y="21600"/>
                    </a:lnTo>
                    <a:lnTo>
                      <a:pt x="384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63" name="Rectangle 149"/>
              <p:cNvSpPr/>
              <p:nvPr/>
            </p:nvSpPr>
            <p:spPr>
              <a:xfrm>
                <a:off x="15828" y="0"/>
                <a:ext cx="258693" cy="630356"/>
              </a:xfrm>
              <a:prstGeom prst="rect">
                <a:avLst/>
              </a:pr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64" name="Freeform 150"/>
              <p:cNvSpPr/>
              <p:nvPr/>
            </p:nvSpPr>
            <p:spPr>
              <a:xfrm>
                <a:off x="293466" y="38863"/>
                <a:ext cx="40411" cy="574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83" h="21300" fill="norm" stroke="1" extrusionOk="0">
                    <a:moveTo>
                      <a:pt x="0" y="0"/>
                    </a:moveTo>
                    <a:cubicBezTo>
                      <a:pt x="0" y="0"/>
                      <a:pt x="5118" y="238"/>
                      <a:pt x="20883" y="1856"/>
                    </a:cubicBezTo>
                    <a:cubicBezTo>
                      <a:pt x="-717" y="10464"/>
                      <a:pt x="3480" y="21600"/>
                      <a:pt x="0" y="21293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65" name="Freeform 151"/>
              <p:cNvSpPr/>
              <p:nvPr/>
            </p:nvSpPr>
            <p:spPr>
              <a:xfrm>
                <a:off x="282929" y="333783"/>
                <a:ext cx="65045" cy="520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66" name="Rectangle 152"/>
              <p:cNvSpPr/>
              <p:nvPr/>
            </p:nvSpPr>
            <p:spPr>
              <a:xfrm>
                <a:off x="17559" y="73029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69" name="Group 153"/>
              <p:cNvGrpSpPr/>
              <p:nvPr/>
            </p:nvGrpSpPr>
            <p:grpSpPr>
              <a:xfrm>
                <a:off x="150813" y="63574"/>
                <a:ext cx="142899" cy="42842"/>
                <a:chOff x="0" y="0"/>
                <a:chExt cx="142897" cy="42841"/>
              </a:xfrm>
            </p:grpSpPr>
            <p:sp>
              <p:nvSpPr>
                <p:cNvPr id="9667" name="AutoShape 154"/>
                <p:cNvSpPr/>
                <p:nvPr/>
              </p:nvSpPr>
              <p:spPr>
                <a:xfrm>
                  <a:off x="0" y="0"/>
                  <a:ext cx="142898" cy="428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68" name="AutoShape 155"/>
                <p:cNvSpPr/>
                <p:nvPr/>
              </p:nvSpPr>
              <p:spPr>
                <a:xfrm>
                  <a:off x="3171" y="6325"/>
                  <a:ext cx="136556" cy="31629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70" name="Rectangle 156"/>
              <p:cNvSpPr/>
              <p:nvPr/>
            </p:nvSpPr>
            <p:spPr>
              <a:xfrm>
                <a:off x="20527" y="161792"/>
                <a:ext cx="147648" cy="14333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73" name="Group 157"/>
              <p:cNvGrpSpPr/>
              <p:nvPr/>
            </p:nvGrpSpPr>
            <p:grpSpPr>
              <a:xfrm>
                <a:off x="150715" y="155462"/>
                <a:ext cx="142898" cy="36404"/>
                <a:chOff x="0" y="0"/>
                <a:chExt cx="142897" cy="36402"/>
              </a:xfrm>
            </p:grpSpPr>
            <p:sp>
              <p:nvSpPr>
                <p:cNvPr id="9671" name="AutoShape 158"/>
                <p:cNvSpPr/>
                <p:nvPr/>
              </p:nvSpPr>
              <p:spPr>
                <a:xfrm>
                  <a:off x="0" y="0"/>
                  <a:ext cx="142898" cy="3640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72" name="AutoShape 159"/>
                <p:cNvSpPr/>
                <p:nvPr/>
              </p:nvSpPr>
              <p:spPr>
                <a:xfrm>
                  <a:off x="3369" y="4782"/>
                  <a:ext cx="136556" cy="27104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74" name="Rectangle 160"/>
              <p:cNvSpPr/>
              <p:nvPr/>
            </p:nvSpPr>
            <p:spPr>
              <a:xfrm>
                <a:off x="19043" y="255494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75" name="Rectangle 161"/>
              <p:cNvSpPr/>
              <p:nvPr/>
            </p:nvSpPr>
            <p:spPr>
              <a:xfrm>
                <a:off x="22258" y="338182"/>
                <a:ext cx="147648" cy="12701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78" name="Group 162"/>
              <p:cNvGrpSpPr/>
              <p:nvPr/>
            </p:nvGrpSpPr>
            <p:grpSpPr>
              <a:xfrm>
                <a:off x="147549" y="330199"/>
                <a:ext cx="142947" cy="41322"/>
                <a:chOff x="0" y="0"/>
                <a:chExt cx="142945" cy="41320"/>
              </a:xfrm>
            </p:grpSpPr>
            <p:sp>
              <p:nvSpPr>
                <p:cNvPr id="9676" name="AutoShape 163"/>
                <p:cNvSpPr/>
                <p:nvPr/>
              </p:nvSpPr>
              <p:spPr>
                <a:xfrm>
                  <a:off x="0" y="0"/>
                  <a:ext cx="142946" cy="4132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77" name="AutoShape 164"/>
                <p:cNvSpPr/>
                <p:nvPr/>
              </p:nvSpPr>
              <p:spPr>
                <a:xfrm>
                  <a:off x="3176" y="4790"/>
                  <a:ext cx="136593" cy="3174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79" name="Freeform 165"/>
              <p:cNvSpPr/>
              <p:nvPr/>
            </p:nvSpPr>
            <p:spPr>
              <a:xfrm>
                <a:off x="283918" y="254954"/>
                <a:ext cx="65045" cy="518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3" y="0"/>
                    </a:moveTo>
                    <a:cubicBezTo>
                      <a:pt x="3951" y="956"/>
                      <a:pt x="11985" y="7073"/>
                      <a:pt x="21600" y="12234"/>
                    </a:cubicBezTo>
                    <a:cubicBezTo>
                      <a:pt x="21468" y="15483"/>
                      <a:pt x="21468" y="15101"/>
                      <a:pt x="21468" y="21600"/>
                    </a:cubicBezTo>
                    <a:cubicBezTo>
                      <a:pt x="21468" y="21600"/>
                      <a:pt x="11129" y="14814"/>
                      <a:pt x="0" y="9558"/>
                    </a:cubicBezTo>
                    <a:cubicBezTo>
                      <a:pt x="0" y="4588"/>
                      <a:pt x="263" y="1625"/>
                      <a:pt x="26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grpSp>
            <p:nvGrpSpPr>
              <p:cNvPr id="9682" name="Group 166"/>
              <p:cNvGrpSpPr/>
              <p:nvPr/>
            </p:nvGrpSpPr>
            <p:grpSpPr>
              <a:xfrm>
                <a:off x="147546" y="247787"/>
                <a:ext cx="144534" cy="38038"/>
                <a:chOff x="0" y="0"/>
                <a:chExt cx="144533" cy="38036"/>
              </a:xfrm>
            </p:grpSpPr>
            <p:sp>
              <p:nvSpPr>
                <p:cNvPr id="9680" name="AutoShape 167"/>
                <p:cNvSpPr/>
                <p:nvPr/>
              </p:nvSpPr>
              <p:spPr>
                <a:xfrm>
                  <a:off x="0" y="0"/>
                  <a:ext cx="144534" cy="380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  <p:sp>
              <p:nvSpPr>
                <p:cNvPr id="9681" name="AutoShape 168"/>
                <p:cNvSpPr/>
                <p:nvPr/>
              </p:nvSpPr>
              <p:spPr>
                <a:xfrm>
                  <a:off x="3176" y="4685"/>
                  <a:ext cx="138181" cy="28666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800"/>
                  </a:pPr>
                </a:p>
              </p:txBody>
            </p:sp>
          </p:grpSp>
          <p:sp>
            <p:nvSpPr>
              <p:cNvPr id="9683" name="Rectangle 169"/>
              <p:cNvSpPr/>
              <p:nvPr/>
            </p:nvSpPr>
            <p:spPr>
              <a:xfrm>
                <a:off x="274520" y="0"/>
                <a:ext cx="17560" cy="630356"/>
              </a:xfrm>
              <a:prstGeom prst="rect">
                <a:avLst/>
              </a:prstGeom>
              <a:gradFill flip="none"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84" name="Freeform 170"/>
              <p:cNvSpPr/>
              <p:nvPr/>
            </p:nvSpPr>
            <p:spPr>
              <a:xfrm>
                <a:off x="289854" y="159311"/>
                <a:ext cx="58614" cy="5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92" y="0"/>
                    </a:moveTo>
                    <a:cubicBezTo>
                      <a:pt x="4014" y="844"/>
                      <a:pt x="10508" y="5737"/>
                      <a:pt x="21308" y="12150"/>
                    </a:cubicBezTo>
                    <a:cubicBezTo>
                      <a:pt x="21162" y="15019"/>
                      <a:pt x="21600" y="15863"/>
                      <a:pt x="21600" y="21600"/>
                    </a:cubicBezTo>
                    <a:cubicBezTo>
                      <a:pt x="21600" y="21600"/>
                      <a:pt x="11676" y="14850"/>
                      <a:pt x="0" y="8437"/>
                    </a:cubicBezTo>
                    <a:cubicBezTo>
                      <a:pt x="0" y="4050"/>
                      <a:pt x="292" y="1434"/>
                      <a:pt x="29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85" name="Freeform 171"/>
              <p:cNvSpPr/>
              <p:nvPr/>
            </p:nvSpPr>
            <p:spPr>
              <a:xfrm>
                <a:off x="290596" y="69182"/>
                <a:ext cx="60346" cy="66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3624" y="750"/>
                      <a:pt x="10516" y="5700"/>
                      <a:pt x="21600" y="12300"/>
                    </a:cubicBezTo>
                    <a:cubicBezTo>
                      <a:pt x="21458" y="14850"/>
                      <a:pt x="20179" y="16500"/>
                      <a:pt x="20179" y="21600"/>
                    </a:cubicBezTo>
                    <a:cubicBezTo>
                      <a:pt x="20179" y="21600"/>
                      <a:pt x="11582" y="13425"/>
                      <a:pt x="568" y="9300"/>
                    </a:cubicBezTo>
                    <a:cubicBezTo>
                      <a:pt x="568" y="5400"/>
                      <a:pt x="0" y="1275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86" name="Oval 172"/>
              <p:cNvSpPr/>
              <p:nvPr/>
            </p:nvSpPr>
            <p:spPr>
              <a:xfrm>
                <a:off x="340510" y="601691"/>
                <a:ext cx="12701" cy="27013"/>
              </a:xfrm>
              <a:prstGeom prst="ellipse">
                <a:avLst/>
              </a:pr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87" name="Freeform 173"/>
              <p:cNvSpPr/>
              <p:nvPr/>
            </p:nvSpPr>
            <p:spPr>
              <a:xfrm>
                <a:off x="287380" y="602242"/>
                <a:ext cx="60594" cy="551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9540"/>
                    </a:moveTo>
                    <a:lnTo>
                      <a:pt x="141" y="21600"/>
                    </a:lnTo>
                    <a:lnTo>
                      <a:pt x="21600" y="9900"/>
                    </a:lnTo>
                    <a:lnTo>
                      <a:pt x="21176" y="0"/>
                    </a:lnTo>
                    <a:lnTo>
                      <a:pt x="0" y="9540"/>
                    </a:lnTo>
                    <a:close/>
                  </a:path>
                </a:pathLst>
              </a:custGeom>
              <a:solidFill>
                <a:srgbClr val="3333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88" name="AutoShape 174"/>
              <p:cNvSpPr/>
              <p:nvPr/>
            </p:nvSpPr>
            <p:spPr>
              <a:xfrm>
                <a:off x="0" y="619056"/>
                <a:ext cx="296779" cy="413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89" name="AutoShape 175"/>
              <p:cNvSpPr/>
              <p:nvPr/>
            </p:nvSpPr>
            <p:spPr>
              <a:xfrm>
                <a:off x="15828" y="628702"/>
                <a:ext cx="265123" cy="2232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90" name="Oval 176"/>
              <p:cNvSpPr/>
              <p:nvPr/>
            </p:nvSpPr>
            <p:spPr>
              <a:xfrm>
                <a:off x="41301" y="538297"/>
                <a:ext cx="39571" cy="39691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91" name="Oval 177"/>
              <p:cNvSpPr/>
              <p:nvPr/>
            </p:nvSpPr>
            <p:spPr>
              <a:xfrm>
                <a:off x="85818" y="538297"/>
                <a:ext cx="39571" cy="39691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0000"/>
                    </a:solidFill>
                  </a:defRPr>
                </a:pPr>
              </a:p>
            </p:txBody>
          </p:sp>
          <p:sp>
            <p:nvSpPr>
              <p:cNvPr id="9692" name="Oval 178"/>
              <p:cNvSpPr/>
              <p:nvPr/>
            </p:nvSpPr>
            <p:spPr>
              <a:xfrm>
                <a:off x="128604" y="538297"/>
                <a:ext cx="39571" cy="38037"/>
              </a:xfrm>
              <a:prstGeom prst="ellipse">
                <a:avLst/>
              </a:prstGeom>
              <a:solidFill>
                <a:srgbClr val="33CC3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  <p:sp>
            <p:nvSpPr>
              <p:cNvPr id="9693" name="Rectangle 179"/>
              <p:cNvSpPr/>
              <p:nvPr/>
            </p:nvSpPr>
            <p:spPr>
              <a:xfrm>
                <a:off x="228519" y="387254"/>
                <a:ext cx="20528" cy="209476"/>
              </a:xfrm>
              <a:prstGeom prst="rect">
                <a:avLst/>
              </a:prstGeom>
              <a:solidFill>
                <a:srgbClr val="292929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800"/>
                </a:pPr>
              </a:p>
            </p:txBody>
          </p:sp>
        </p:grpSp>
        <p:grpSp>
          <p:nvGrpSpPr>
            <p:cNvPr id="9697" name="Group 180"/>
            <p:cNvGrpSpPr/>
            <p:nvPr/>
          </p:nvGrpSpPr>
          <p:grpSpPr>
            <a:xfrm>
              <a:off x="3914775" y="3044825"/>
              <a:ext cx="803276" cy="771526"/>
              <a:chOff x="0" y="0"/>
              <a:chExt cx="803274" cy="771525"/>
            </a:xfrm>
          </p:grpSpPr>
          <p:pic>
            <p:nvPicPr>
              <p:cNvPr id="9695" name="Picture 181" descr="Picture 181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803275" cy="77152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696" name="Freeform 182"/>
              <p:cNvSpPr/>
              <p:nvPr/>
            </p:nvSpPr>
            <p:spPr>
              <a:xfrm>
                <a:off x="70419" y="74010"/>
                <a:ext cx="390584" cy="35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</p:grpSp>
        <p:grpSp>
          <p:nvGrpSpPr>
            <p:cNvPr id="9700" name="Group 183"/>
            <p:cNvGrpSpPr/>
            <p:nvPr/>
          </p:nvGrpSpPr>
          <p:grpSpPr>
            <a:xfrm>
              <a:off x="0" y="3025775"/>
              <a:ext cx="803275" cy="771526"/>
              <a:chOff x="0" y="0"/>
              <a:chExt cx="803274" cy="771525"/>
            </a:xfrm>
          </p:grpSpPr>
          <p:pic>
            <p:nvPicPr>
              <p:cNvPr id="9698" name="Picture 184" descr="Picture 184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803275" cy="77152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699" name="Freeform 185"/>
              <p:cNvSpPr/>
              <p:nvPr/>
            </p:nvSpPr>
            <p:spPr>
              <a:xfrm flipH="1">
                <a:off x="342272" y="74010"/>
                <a:ext cx="390584" cy="35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</p:grpSp>
        <p:grpSp>
          <p:nvGrpSpPr>
            <p:cNvPr id="9703" name="Group 186"/>
            <p:cNvGrpSpPr/>
            <p:nvPr/>
          </p:nvGrpSpPr>
          <p:grpSpPr>
            <a:xfrm>
              <a:off x="622300" y="3475038"/>
              <a:ext cx="803275" cy="771526"/>
              <a:chOff x="0" y="0"/>
              <a:chExt cx="803274" cy="771525"/>
            </a:xfrm>
          </p:grpSpPr>
          <p:pic>
            <p:nvPicPr>
              <p:cNvPr id="9701" name="Picture 187" descr="Picture 187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 flipH="1">
                <a:off x="0" y="0"/>
                <a:ext cx="803275" cy="77152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702" name="Freeform 188"/>
              <p:cNvSpPr/>
              <p:nvPr/>
            </p:nvSpPr>
            <p:spPr>
              <a:xfrm flipH="1">
                <a:off x="342272" y="74010"/>
                <a:ext cx="390584" cy="353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202" y="822"/>
                    </a:lnTo>
                    <a:lnTo>
                      <a:pt x="21600" y="17257"/>
                    </a:lnTo>
                    <a:lnTo>
                      <a:pt x="4733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800"/>
                </a:pPr>
              </a:p>
            </p:txBody>
          </p:sp>
        </p:grpSp>
      </p:grpSp>
      <p:grpSp>
        <p:nvGrpSpPr>
          <p:cNvPr id="9707" name="Group 3"/>
          <p:cNvGrpSpPr/>
          <p:nvPr/>
        </p:nvGrpSpPr>
        <p:grpSpPr>
          <a:xfrm>
            <a:off x="6469055" y="1491893"/>
            <a:ext cx="4615243" cy="3883773"/>
            <a:chOff x="0" y="0"/>
            <a:chExt cx="4615242" cy="3883772"/>
          </a:xfrm>
        </p:grpSpPr>
        <p:sp>
          <p:nvSpPr>
            <p:cNvPr id="9705" name="Rectangle 523"/>
            <p:cNvSpPr txBox="1"/>
            <p:nvPr/>
          </p:nvSpPr>
          <p:spPr>
            <a:xfrm>
              <a:off x="0" y="0"/>
              <a:ext cx="4431294" cy="2463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indent="-342900">
                <a:lnSpc>
                  <a:spcPct val="85000"/>
                </a:lnSpc>
                <a:spcBef>
                  <a:spcPts val="700"/>
                </a:spcBef>
                <a:buClr>
                  <a:srgbClr val="000090"/>
                </a:buClr>
                <a:buSzPct val="100000"/>
                <a:buChar char="▪"/>
                <a:defRPr sz="3200"/>
              </a:pPr>
              <a:r>
                <a:t>per-connection end-end throughput: </a:t>
              </a:r>
              <a:r>
                <a:rPr i="1"/>
                <a:t>min(R</a:t>
              </a:r>
              <a:r>
                <a:rPr baseline="-25000" i="1"/>
                <a:t>c</a:t>
              </a:r>
              <a:r>
                <a:rPr i="1"/>
                <a:t>,R</a:t>
              </a:r>
              <a:r>
                <a:rPr baseline="-25000" i="1"/>
                <a:t>s</a:t>
              </a:r>
              <a:r>
                <a:rPr i="1"/>
                <a:t>,R/10)</a:t>
              </a:r>
              <a:endParaRPr sz="2800"/>
            </a:p>
            <a:p>
              <a:pPr marL="342900" indent="-342900">
                <a:lnSpc>
                  <a:spcPct val="85000"/>
                </a:lnSpc>
                <a:spcBef>
                  <a:spcPts val="700"/>
                </a:spcBef>
                <a:buClr>
                  <a:srgbClr val="000090"/>
                </a:buClr>
                <a:buSzPct val="100000"/>
                <a:buChar char="▪"/>
                <a:defRPr sz="3200"/>
              </a:pPr>
              <a:r>
                <a:t>in practice: </a:t>
              </a:r>
              <a:r>
                <a:rPr i="1"/>
                <a:t>R</a:t>
              </a:r>
              <a:r>
                <a:rPr baseline="-25000" i="1"/>
                <a:t>c</a:t>
              </a:r>
              <a:r>
                <a:t> or </a:t>
              </a:r>
              <a:r>
                <a:rPr i="1"/>
                <a:t>R</a:t>
              </a:r>
              <a:r>
                <a:rPr baseline="-25000" i="1"/>
                <a:t>s</a:t>
              </a:r>
              <a:r>
                <a:t> is often bottleneck</a:t>
              </a:r>
            </a:p>
          </p:txBody>
        </p:sp>
        <p:sp>
          <p:nvSpPr>
            <p:cNvPr id="9706" name="TextBox 1"/>
            <p:cNvSpPr txBox="1"/>
            <p:nvPr/>
          </p:nvSpPr>
          <p:spPr>
            <a:xfrm>
              <a:off x="199769" y="3391749"/>
              <a:ext cx="4415474" cy="492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* Check out the online interactive exercises for more examples: h</a:t>
              </a:r>
              <a:r>
                <a:rPr sz="1200"/>
                <a:t>ttp://gaia.cs.umass.edu/kurose_ross/</a:t>
              </a:r>
            </a:p>
          </p:txBody>
        </p:sp>
      </p:grpSp>
      <p:sp>
        <p:nvSpPr>
          <p:cNvPr id="970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707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0" name="Title 1"/>
          <p:cNvSpPr txBox="1"/>
          <p:nvPr>
            <p:ph type="title"/>
          </p:nvPr>
        </p:nvSpPr>
        <p:spPr>
          <a:xfrm>
            <a:off x="798690" y="289324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Chapter 1: roadmap</a:t>
            </a:r>
          </a:p>
        </p:txBody>
      </p:sp>
      <p:sp>
        <p:nvSpPr>
          <p:cNvPr id="9711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712" name="Rectangle 4"/>
          <p:cNvSpPr txBox="1"/>
          <p:nvPr>
            <p:ph type="body" sz="half" idx="1"/>
          </p:nvPr>
        </p:nvSpPr>
        <p:spPr>
          <a:xfrm>
            <a:off x="798689" y="1414011"/>
            <a:ext cx="6618111" cy="5029078"/>
          </a:xfrm>
          <a:prstGeom prst="rect">
            <a:avLst/>
          </a:prstGeom>
        </p:spPr>
        <p:txBody>
          <a:bodyPr/>
          <a:lstStyle/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 </a:t>
            </a:r>
            <a:r>
              <a:rPr i="1"/>
              <a:t>is</a:t>
            </a:r>
            <a:r>
              <a:t> the Internet?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</a:t>
            </a:r>
            <a:r>
              <a:rPr i="1"/>
              <a:t> is </a:t>
            </a:r>
            <a:r>
              <a:t>a protocol?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BFBFBF"/>
                </a:solidFill>
              </a:defRPr>
            </a:pPr>
            <a:r>
              <a:t>Network edge: hosts, access network, physical media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BFBFBF"/>
                </a:solidFill>
              </a:defRPr>
            </a:pPr>
            <a:r>
              <a:t>Network core: packet/circuit switching, internet structure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BFBFBF"/>
                </a:solidFill>
              </a:defRPr>
            </a:pPr>
            <a:r>
              <a:t>Performance: loss, delay, throughput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BFBFBF"/>
                </a:solidFill>
              </a:defRPr>
            </a:pPr>
            <a:r>
              <a:t>Security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0000A8"/>
              </a:buClr>
              <a:defRPr sz="2900"/>
            </a:pPr>
            <a:r>
              <a:t>Protocol layers, service models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History</a:t>
            </a:r>
          </a:p>
        </p:txBody>
      </p:sp>
      <p:grpSp>
        <p:nvGrpSpPr>
          <p:cNvPr id="9715" name="Group 2"/>
          <p:cNvGrpSpPr/>
          <p:nvPr/>
        </p:nvGrpSpPr>
        <p:grpSpPr>
          <a:xfrm>
            <a:off x="8080171" y="1371942"/>
            <a:ext cx="3313139" cy="2488927"/>
            <a:chOff x="0" y="0"/>
            <a:chExt cx="3313138" cy="2488925"/>
          </a:xfrm>
        </p:grpSpPr>
        <p:pic>
          <p:nvPicPr>
            <p:cNvPr id="9713" name="Picture 3" descr="Picture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48603"/>
              <a:ext cx="3313139" cy="2440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714" name="Rectangle 4"/>
            <p:cNvSpPr/>
            <p:nvPr/>
          </p:nvSpPr>
          <p:spPr>
            <a:xfrm>
              <a:off x="-1" y="-1"/>
              <a:ext cx="3313140" cy="244550"/>
            </a:xfrm>
            <a:prstGeom prst="rect">
              <a:avLst/>
            </a:prstGeom>
            <a:solidFill>
              <a:srgbClr val="559BD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Protocol “layers” and reference models</a:t>
            </a:r>
          </a:p>
        </p:txBody>
      </p:sp>
      <p:sp>
        <p:nvSpPr>
          <p:cNvPr id="9718" name="Rectangle 3"/>
          <p:cNvSpPr txBox="1"/>
          <p:nvPr/>
        </p:nvSpPr>
        <p:spPr>
          <a:xfrm>
            <a:off x="846285" y="1575774"/>
            <a:ext cx="5524467" cy="5049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2250" indent="-92075">
              <a:lnSpc>
                <a:spcPct val="75000"/>
              </a:lnSpc>
              <a:spcBef>
                <a:spcPts val="1000"/>
              </a:spcBef>
              <a:defRPr sz="3600">
                <a:solidFill>
                  <a:srgbClr val="CC0000"/>
                </a:solidFill>
              </a:defRPr>
            </a:pPr>
            <a:r>
              <a:t>Networks are complex,</a:t>
            </a:r>
            <a:endParaRPr sz="2800"/>
          </a:p>
          <a:p>
            <a:pPr marL="222250" indent="-92075">
              <a:lnSpc>
                <a:spcPct val="75000"/>
              </a:lnSpc>
              <a:spcBef>
                <a:spcPts val="1000"/>
              </a:spcBef>
              <a:defRPr sz="3600">
                <a:solidFill>
                  <a:srgbClr val="CC0000"/>
                </a:solidFill>
              </a:defRPr>
            </a:pPr>
            <a:r>
              <a:t>with many “pieces”:</a:t>
            </a:r>
            <a:endParaRPr sz="2800"/>
          </a:p>
          <a:p>
            <a:pPr lvl="1" marL="695325" indent="-23177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3200"/>
            </a:pPr>
            <a:r>
              <a:t>hosts</a:t>
            </a:r>
            <a:endParaRPr sz="2400"/>
          </a:p>
          <a:p>
            <a:pPr lvl="1" marL="695325" indent="-23177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3200"/>
            </a:pPr>
            <a:r>
              <a:t>routers</a:t>
            </a:r>
            <a:endParaRPr sz="2400"/>
          </a:p>
          <a:p>
            <a:pPr lvl="1" marL="695325" indent="-23177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3200"/>
            </a:pPr>
            <a:r>
              <a:t>links of various media</a:t>
            </a:r>
            <a:endParaRPr sz="2400"/>
          </a:p>
          <a:p>
            <a:pPr lvl="1" marL="695325" indent="-23177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3200"/>
            </a:pPr>
            <a:r>
              <a:t>applications</a:t>
            </a:r>
            <a:endParaRPr sz="2400"/>
          </a:p>
          <a:p>
            <a:pPr lvl="1" marL="695325" indent="-23177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3200"/>
            </a:pPr>
            <a:r>
              <a:t>protocols</a:t>
            </a:r>
            <a:endParaRPr sz="2400"/>
          </a:p>
          <a:p>
            <a:pPr lvl="1" marL="695325" indent="-23177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3200"/>
            </a:pPr>
            <a:r>
              <a:t>hardware, software</a:t>
            </a:r>
            <a:endParaRPr sz="2400"/>
          </a:p>
        </p:txBody>
      </p:sp>
      <p:sp>
        <p:nvSpPr>
          <p:cNvPr id="9719" name="Rectangle 4"/>
          <p:cNvSpPr txBox="1"/>
          <p:nvPr/>
        </p:nvSpPr>
        <p:spPr>
          <a:xfrm>
            <a:off x="6629994" y="1539451"/>
            <a:ext cx="4440300" cy="4343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47625" indent="82550">
              <a:lnSpc>
                <a:spcPct val="90000"/>
              </a:lnSpc>
              <a:spcBef>
                <a:spcPts val="1000"/>
              </a:spcBef>
              <a:defRPr i="1" sz="3200">
                <a:solidFill>
                  <a:srgbClr val="CC0000"/>
                </a:solidFill>
              </a:defRPr>
            </a:pPr>
            <a:r>
              <a:t>Question:</a:t>
            </a:r>
            <a:r>
              <a:rPr i="0" sz="2400" u="sng">
                <a:solidFill>
                  <a:srgbClr val="FF0000"/>
                </a:solidFill>
              </a:rPr>
              <a:t> </a:t>
            </a:r>
            <a:r>
              <a:rPr i="0">
                <a:solidFill>
                  <a:srgbClr val="000000"/>
                </a:solidFill>
              </a:rPr>
              <a:t>is there any hope of </a:t>
            </a:r>
            <a:r>
              <a:rPr>
                <a:solidFill>
                  <a:srgbClr val="000000"/>
                </a:solidFill>
              </a:rPr>
              <a:t>organizing</a:t>
            </a:r>
            <a:r>
              <a:rPr i="0">
                <a:solidFill>
                  <a:srgbClr val="000000"/>
                </a:solidFill>
              </a:rPr>
              <a:t> structure of network?</a:t>
            </a:r>
            <a:endParaRPr sz="2800"/>
          </a:p>
          <a:p>
            <a:pPr marL="522287" indent="-2238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3200"/>
            </a:pPr>
            <a:r>
              <a:t>and/or our </a:t>
            </a:r>
            <a:r>
              <a:rPr i="1"/>
              <a:t>discussion</a:t>
            </a:r>
            <a:r>
              <a:t> of networks?</a:t>
            </a:r>
          </a:p>
        </p:txBody>
      </p:sp>
      <p:sp>
        <p:nvSpPr>
          <p:cNvPr id="9720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719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2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Example: organization of air travel</a:t>
            </a:r>
          </a:p>
        </p:txBody>
      </p:sp>
      <p:sp>
        <p:nvSpPr>
          <p:cNvPr id="9723" name="Rectangle 3"/>
          <p:cNvSpPr txBox="1"/>
          <p:nvPr/>
        </p:nvSpPr>
        <p:spPr>
          <a:xfrm>
            <a:off x="2390816" y="6081243"/>
            <a:ext cx="9438211" cy="54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lvl1pPr>
          </a:lstStyle>
          <a:p>
            <a:pPr/>
            <a:r>
              <a:t>a series of steps, involving many services</a:t>
            </a:r>
          </a:p>
        </p:txBody>
      </p:sp>
      <p:sp>
        <p:nvSpPr>
          <p:cNvPr id="9724" name="Text Box 5"/>
          <p:cNvSpPr txBox="1"/>
          <p:nvPr/>
        </p:nvSpPr>
        <p:spPr>
          <a:xfrm>
            <a:off x="1155838" y="1935719"/>
            <a:ext cx="2511560" cy="259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ticket (purchase)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baggage (check)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gates (load)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runway takeoff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airplane routing</a:t>
            </a:r>
          </a:p>
        </p:txBody>
      </p:sp>
      <p:sp>
        <p:nvSpPr>
          <p:cNvPr id="9725" name="Text Box 6"/>
          <p:cNvSpPr txBox="1"/>
          <p:nvPr/>
        </p:nvSpPr>
        <p:spPr>
          <a:xfrm>
            <a:off x="7681895" y="1942018"/>
            <a:ext cx="2521804" cy="259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ticket (complain)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baggage (claim)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gates (unload)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runway landing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130000"/>
              </a:lnSpc>
              <a:defRPr sz="2800">
                <a:solidFill>
                  <a:srgbClr val="000099"/>
                </a:solidFill>
              </a:defRPr>
            </a:pPr>
            <a:r>
              <a:t>airplane routing</a:t>
            </a:r>
          </a:p>
        </p:txBody>
      </p:sp>
      <p:sp>
        <p:nvSpPr>
          <p:cNvPr id="9726" name="Text Box 7"/>
          <p:cNvSpPr txBox="1"/>
          <p:nvPr/>
        </p:nvSpPr>
        <p:spPr>
          <a:xfrm>
            <a:off x="4435466" y="4831319"/>
            <a:ext cx="2410505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0099"/>
                </a:solidFill>
              </a:defRPr>
            </a:lvl1pPr>
          </a:lstStyle>
          <a:p>
            <a:pPr/>
            <a:r>
              <a:t>airplane routing</a:t>
            </a:r>
          </a:p>
        </p:txBody>
      </p:sp>
      <p:grpSp>
        <p:nvGrpSpPr>
          <p:cNvPr id="9729" name="Freeform 8"/>
          <p:cNvGrpSpPr/>
          <p:nvPr/>
        </p:nvGrpSpPr>
        <p:grpSpPr>
          <a:xfrm>
            <a:off x="879890" y="2080181"/>
            <a:ext cx="7827768" cy="3289303"/>
            <a:chOff x="0" y="0"/>
            <a:chExt cx="7827767" cy="3289301"/>
          </a:xfrm>
        </p:grpSpPr>
        <p:sp>
          <p:nvSpPr>
            <p:cNvPr id="9727" name="Line"/>
            <p:cNvSpPr/>
            <p:nvPr/>
          </p:nvSpPr>
          <p:spPr>
            <a:xfrm>
              <a:off x="-1" y="-1"/>
              <a:ext cx="7827769" cy="3289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8" y="6033"/>
                    <a:pt x="18" y="12064"/>
                    <a:pt x="26" y="18096"/>
                  </a:cubicBezTo>
                  <a:lnTo>
                    <a:pt x="5007" y="21516"/>
                  </a:lnTo>
                  <a:lnTo>
                    <a:pt x="21600" y="21600"/>
                  </a:lnTo>
                </a:path>
              </a:pathLst>
            </a:custGeom>
            <a:noFill/>
            <a:ln w="44450" cap="flat">
              <a:solidFill>
                <a:srgbClr val="C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9728" name="Text"/>
            <p:cNvSpPr txBox="1"/>
            <p:nvPr/>
          </p:nvSpPr>
          <p:spPr>
            <a:xfrm>
              <a:off x="67944" y="1478106"/>
              <a:ext cx="465905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       </a:t>
              </a:r>
            </a:p>
          </p:txBody>
        </p:sp>
      </p:grpSp>
      <p:grpSp>
        <p:nvGrpSpPr>
          <p:cNvPr id="9732" name="Freeform 2"/>
          <p:cNvGrpSpPr/>
          <p:nvPr/>
        </p:nvGrpSpPr>
        <p:grpSpPr>
          <a:xfrm>
            <a:off x="8627457" y="2106452"/>
            <a:ext cx="1822538" cy="3263031"/>
            <a:chOff x="0" y="0"/>
            <a:chExt cx="1822537" cy="3263029"/>
          </a:xfrm>
        </p:grpSpPr>
        <p:sp>
          <p:nvSpPr>
            <p:cNvPr id="9730" name="Line"/>
            <p:cNvSpPr/>
            <p:nvPr/>
          </p:nvSpPr>
          <p:spPr>
            <a:xfrm flipH="1">
              <a:off x="0" y="0"/>
              <a:ext cx="1822538" cy="3263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74" y="18159"/>
                  </a:lnTo>
                  <a:cubicBezTo>
                    <a:pt x="49" y="12106"/>
                    <a:pt x="25" y="6053"/>
                    <a:pt x="0" y="0"/>
                  </a:cubicBezTo>
                </a:path>
              </a:pathLst>
            </a:custGeom>
            <a:noFill/>
            <a:ln w="44450" cap="flat">
              <a:solidFill>
                <a:srgbClr val="C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31" name="Text"/>
            <p:cNvSpPr txBox="1"/>
            <p:nvPr/>
          </p:nvSpPr>
          <p:spPr>
            <a:xfrm>
              <a:off x="67945" y="1464971"/>
              <a:ext cx="1686648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                    </a:t>
              </a:r>
            </a:p>
          </p:txBody>
        </p:sp>
      </p:grpSp>
      <p:sp>
        <p:nvSpPr>
          <p:cNvPr id="9733" name="Rectangle 3"/>
          <p:cNvSpPr txBox="1"/>
          <p:nvPr/>
        </p:nvSpPr>
        <p:spPr>
          <a:xfrm>
            <a:off x="1928620" y="5634037"/>
            <a:ext cx="9438211" cy="54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900"/>
            </a:pPr>
            <a:r>
              <a:t>How would you </a:t>
            </a:r>
            <a:r>
              <a:rPr i="1"/>
              <a:t>define/discuss </a:t>
            </a:r>
            <a:r>
              <a:t>the </a:t>
            </a:r>
            <a:r>
              <a:rPr i="1"/>
              <a:t>system</a:t>
            </a:r>
            <a:r>
              <a:t> of airline travel?</a:t>
            </a:r>
          </a:p>
        </p:txBody>
      </p:sp>
      <p:sp>
        <p:nvSpPr>
          <p:cNvPr id="9734" name="Straight Arrow Connector 4"/>
          <p:cNvSpPr/>
          <p:nvPr/>
        </p:nvSpPr>
        <p:spPr>
          <a:xfrm>
            <a:off x="1564598" y="1798816"/>
            <a:ext cx="7600014" cy="1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735" name="TextBox 7"/>
          <p:cNvSpPr txBox="1"/>
          <p:nvPr/>
        </p:nvSpPr>
        <p:spPr>
          <a:xfrm>
            <a:off x="2473377" y="1558977"/>
            <a:ext cx="5460763" cy="3924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/>
            </a:lvl1pPr>
          </a:lstStyle>
          <a:p>
            <a:pPr/>
            <a:r>
              <a:t>end-to-end transfer of person plus baggage</a:t>
            </a:r>
          </a:p>
        </p:txBody>
      </p:sp>
      <p:grpSp>
        <p:nvGrpSpPr>
          <p:cNvPr id="9740" name="Group 20"/>
          <p:cNvGrpSpPr/>
          <p:nvPr/>
        </p:nvGrpSpPr>
        <p:grpSpPr>
          <a:xfrm>
            <a:off x="4267725" y="1021517"/>
            <a:ext cx="1528764" cy="620713"/>
            <a:chOff x="0" y="0"/>
            <a:chExt cx="1528762" cy="620713"/>
          </a:xfrm>
        </p:grpSpPr>
        <p:pic>
          <p:nvPicPr>
            <p:cNvPr id="9736" name="Picture 11" descr="Picture 1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160337"/>
              <a:ext cx="1528763" cy="4603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737" name="Line 12"/>
            <p:cNvSpPr/>
            <p:nvPr/>
          </p:nvSpPr>
          <p:spPr>
            <a:xfrm>
              <a:off x="481012" y="-1"/>
              <a:ext cx="450851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738" name="Line 13"/>
            <p:cNvSpPr/>
            <p:nvPr/>
          </p:nvSpPr>
          <p:spPr>
            <a:xfrm>
              <a:off x="633412" y="152399"/>
              <a:ext cx="450852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739" name="Line 14"/>
            <p:cNvSpPr/>
            <p:nvPr/>
          </p:nvSpPr>
          <p:spPr>
            <a:xfrm>
              <a:off x="785812" y="304799"/>
              <a:ext cx="450852" cy="1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741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xit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1" dur="500" fill="hold"/>
                                        <p:tgtEl>
                                          <p:spTgt spid="9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1000"/>
                                        <p:tgtEl>
                                          <p:spTgt spid="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Class="entr" nodeType="afterEffect" presetSubtype="1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5" dur="1000"/>
                                        <p:tgtEl>
                                          <p:spTgt spid="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Class="entr" nodeType="after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9" dur="1000"/>
                                        <p:tgtEl>
                                          <p:spTgt spid="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4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4" dur="1000"/>
                                        <p:tgtEl>
                                          <p:spTgt spid="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Class="entr" nodeType="afterEffect" presetSubtype="4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8" dur="1000"/>
                                        <p:tgtEl>
                                          <p:spTgt spid="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729" grpId="4"/>
      <p:bldP build="whole" bldLvl="1" animBg="1" rev="0" advAuto="0" spid="9733" grpId="2"/>
      <p:bldP build="whole" bldLvl="1" animBg="1" rev="0" advAuto="0" spid="9733" grpId="1"/>
      <p:bldP build="whole" bldLvl="1" animBg="1" rev="0" advAuto="0" spid="9726" grpId="6"/>
      <p:bldP build="whole" bldLvl="1" animBg="1" rev="0" advAuto="0" spid="9723" grpId="3"/>
      <p:bldP build="whole" bldLvl="1" animBg="1" rev="0" advAuto="0" spid="9732" grpId="8"/>
      <p:bldP build="whole" bldLvl="1" animBg="1" rev="0" advAuto="0" spid="9724" grpId="5"/>
      <p:bldP build="whole" bldLvl="1" animBg="1" rev="0" advAuto="0" spid="9725" grpId="7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8" name="Group 18"/>
          <p:cNvGrpSpPr/>
          <p:nvPr/>
        </p:nvGrpSpPr>
        <p:grpSpPr>
          <a:xfrm>
            <a:off x="464981" y="2052860"/>
            <a:ext cx="10432006" cy="2708044"/>
            <a:chOff x="0" y="0"/>
            <a:chExt cx="10432005" cy="2708042"/>
          </a:xfrm>
        </p:grpSpPr>
        <p:sp>
          <p:nvSpPr>
            <p:cNvPr id="9743" name="Rectangle 40"/>
            <p:cNvSpPr/>
            <p:nvPr/>
          </p:nvSpPr>
          <p:spPr>
            <a:xfrm>
              <a:off x="0" y="2308357"/>
              <a:ext cx="10421481" cy="399686"/>
            </a:xfrm>
            <a:prstGeom prst="rect">
              <a:avLst/>
            </a:prstGeom>
            <a:solidFill>
              <a:srgbClr val="8FAA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44" name="Rectangle 39"/>
            <p:cNvSpPr/>
            <p:nvPr/>
          </p:nvSpPr>
          <p:spPr>
            <a:xfrm>
              <a:off x="10525" y="1742071"/>
              <a:ext cx="10421481" cy="399686"/>
            </a:xfrm>
            <a:prstGeom prst="rect">
              <a:avLst/>
            </a:prstGeom>
            <a:solidFill>
              <a:srgbClr val="8FAA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45" name="Rectangle 38"/>
            <p:cNvSpPr/>
            <p:nvPr/>
          </p:nvSpPr>
          <p:spPr>
            <a:xfrm>
              <a:off x="5527" y="1192373"/>
              <a:ext cx="10421481" cy="399686"/>
            </a:xfrm>
            <a:prstGeom prst="rect">
              <a:avLst/>
            </a:prstGeom>
            <a:solidFill>
              <a:srgbClr val="8FAA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46" name="Rectangle 37"/>
            <p:cNvSpPr/>
            <p:nvPr/>
          </p:nvSpPr>
          <p:spPr>
            <a:xfrm>
              <a:off x="6544" y="604653"/>
              <a:ext cx="10421481" cy="399686"/>
            </a:xfrm>
            <a:prstGeom prst="rect">
              <a:avLst/>
            </a:prstGeom>
            <a:solidFill>
              <a:srgbClr val="8FAA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47" name="Rectangle 16"/>
            <p:cNvSpPr/>
            <p:nvPr/>
          </p:nvSpPr>
          <p:spPr>
            <a:xfrm>
              <a:off x="1" y="0"/>
              <a:ext cx="10421481" cy="399686"/>
            </a:xfrm>
            <a:prstGeom prst="rect">
              <a:avLst/>
            </a:prstGeom>
            <a:solidFill>
              <a:srgbClr val="8FAAD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9754" name="Group 14"/>
          <p:cNvGrpSpPr/>
          <p:nvPr/>
        </p:nvGrpSpPr>
        <p:grpSpPr>
          <a:xfrm>
            <a:off x="7572968" y="1945699"/>
            <a:ext cx="2929468" cy="2895602"/>
            <a:chOff x="0" y="0"/>
            <a:chExt cx="2929467" cy="2895600"/>
          </a:xfrm>
        </p:grpSpPr>
        <p:sp>
          <p:nvSpPr>
            <p:cNvPr id="9749" name="Rectangle 27"/>
            <p:cNvSpPr/>
            <p:nvPr/>
          </p:nvSpPr>
          <p:spPr>
            <a:xfrm>
              <a:off x="16932" y="0"/>
              <a:ext cx="2794001" cy="2895601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50" name="Straight Connector 28"/>
            <p:cNvSpPr/>
            <p:nvPr/>
          </p:nvSpPr>
          <p:spPr>
            <a:xfrm>
              <a:off x="-1" y="633146"/>
              <a:ext cx="2929468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751" name="Straight Connector 29"/>
            <p:cNvSpPr/>
            <p:nvPr/>
          </p:nvSpPr>
          <p:spPr>
            <a:xfrm>
              <a:off x="-1" y="1221374"/>
              <a:ext cx="2929468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752" name="Straight Connector 30"/>
            <p:cNvSpPr/>
            <p:nvPr/>
          </p:nvSpPr>
          <p:spPr>
            <a:xfrm>
              <a:off x="-1" y="1793080"/>
              <a:ext cx="2929468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753" name="Straight Connector 31"/>
            <p:cNvSpPr/>
            <p:nvPr/>
          </p:nvSpPr>
          <p:spPr>
            <a:xfrm>
              <a:off x="-1" y="2326809"/>
              <a:ext cx="2929468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755" name="Rectangle 3"/>
          <p:cNvSpPr/>
          <p:nvPr/>
        </p:nvSpPr>
        <p:spPr>
          <a:xfrm>
            <a:off x="965209" y="1935719"/>
            <a:ext cx="2794001" cy="289560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56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Example: organization of air travel</a:t>
            </a:r>
          </a:p>
        </p:txBody>
      </p:sp>
      <p:sp>
        <p:nvSpPr>
          <p:cNvPr id="9757" name="Text Box 5"/>
          <p:cNvSpPr txBox="1"/>
          <p:nvPr/>
        </p:nvSpPr>
        <p:spPr>
          <a:xfrm>
            <a:off x="1155838" y="1935719"/>
            <a:ext cx="2511560" cy="259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ticket (purchase)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baggage (check)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gates (load)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runway takeoff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airplane routing</a:t>
            </a:r>
          </a:p>
        </p:txBody>
      </p:sp>
      <p:sp>
        <p:nvSpPr>
          <p:cNvPr id="9758" name="Text Box 6"/>
          <p:cNvSpPr txBox="1"/>
          <p:nvPr/>
        </p:nvSpPr>
        <p:spPr>
          <a:xfrm>
            <a:off x="7681895" y="1942018"/>
            <a:ext cx="2521804" cy="259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ticket (complain)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baggage (claim)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gates (unload)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runway landing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airplane routing</a:t>
            </a:r>
          </a:p>
        </p:txBody>
      </p:sp>
      <p:sp>
        <p:nvSpPr>
          <p:cNvPr id="9759" name="Straight Connector 7"/>
          <p:cNvSpPr/>
          <p:nvPr/>
        </p:nvSpPr>
        <p:spPr>
          <a:xfrm>
            <a:off x="948275" y="2568866"/>
            <a:ext cx="2929469" cy="1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760" name="Straight Connector 19"/>
          <p:cNvSpPr/>
          <p:nvPr/>
        </p:nvSpPr>
        <p:spPr>
          <a:xfrm>
            <a:off x="948275" y="3157093"/>
            <a:ext cx="2929469" cy="1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761" name="Straight Connector 25"/>
          <p:cNvSpPr/>
          <p:nvPr/>
        </p:nvSpPr>
        <p:spPr>
          <a:xfrm>
            <a:off x="948275" y="3728799"/>
            <a:ext cx="2929469" cy="1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762" name="Straight Connector 26"/>
          <p:cNvSpPr/>
          <p:nvPr/>
        </p:nvSpPr>
        <p:spPr>
          <a:xfrm>
            <a:off x="948275" y="4262528"/>
            <a:ext cx="2929469" cy="1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763" name="Rectangle 15"/>
          <p:cNvSpPr/>
          <p:nvPr/>
        </p:nvSpPr>
        <p:spPr>
          <a:xfrm>
            <a:off x="4260622" y="4272050"/>
            <a:ext cx="2794001" cy="56879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64" name="Text Box 7"/>
          <p:cNvSpPr txBox="1"/>
          <p:nvPr/>
        </p:nvSpPr>
        <p:spPr>
          <a:xfrm>
            <a:off x="4499205" y="4300858"/>
            <a:ext cx="2410506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/>
            <a:r>
              <a:t>airplane routing</a:t>
            </a:r>
          </a:p>
        </p:txBody>
      </p:sp>
      <p:grpSp>
        <p:nvGrpSpPr>
          <p:cNvPr id="9772" name="Group 59"/>
          <p:cNvGrpSpPr/>
          <p:nvPr/>
        </p:nvGrpSpPr>
        <p:grpSpPr>
          <a:xfrm>
            <a:off x="3948545" y="1999559"/>
            <a:ext cx="3522824" cy="2763210"/>
            <a:chOff x="0" y="0"/>
            <a:chExt cx="3522822" cy="2763209"/>
          </a:xfrm>
        </p:grpSpPr>
        <p:sp>
          <p:nvSpPr>
            <p:cNvPr id="9765" name="TextBox 41"/>
            <p:cNvSpPr txBox="1"/>
            <p:nvPr/>
          </p:nvSpPr>
          <p:spPr>
            <a:xfrm>
              <a:off x="497234" y="0"/>
              <a:ext cx="2406339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800"/>
              </a:lvl1pPr>
            </a:lstStyle>
            <a:p>
              <a:pPr/>
              <a:r>
                <a:t>ticketing service</a:t>
              </a:r>
            </a:p>
          </p:txBody>
        </p:sp>
        <p:sp>
          <p:nvSpPr>
            <p:cNvPr id="9766" name="TextBox 42"/>
            <p:cNvSpPr txBox="1"/>
            <p:nvPr/>
          </p:nvSpPr>
          <p:spPr>
            <a:xfrm>
              <a:off x="481505" y="592883"/>
              <a:ext cx="2440371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800"/>
              </a:lvl1pPr>
            </a:lstStyle>
            <a:p>
              <a:pPr/>
              <a:r>
                <a:t>baggage service</a:t>
              </a:r>
            </a:p>
          </p:txBody>
        </p:sp>
        <p:sp>
          <p:nvSpPr>
            <p:cNvPr id="9767" name="TextBox 43"/>
            <p:cNvSpPr txBox="1"/>
            <p:nvPr/>
          </p:nvSpPr>
          <p:spPr>
            <a:xfrm>
              <a:off x="783440" y="1172318"/>
              <a:ext cx="1824322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800"/>
              </a:lvl1pPr>
            </a:lstStyle>
            <a:p>
              <a:pPr/>
              <a:r>
                <a:t>gate service</a:t>
              </a:r>
            </a:p>
          </p:txBody>
        </p:sp>
        <p:sp>
          <p:nvSpPr>
            <p:cNvPr id="9768" name="TextBox 44"/>
            <p:cNvSpPr txBox="1"/>
            <p:nvPr/>
          </p:nvSpPr>
          <p:spPr>
            <a:xfrm>
              <a:off x="583113" y="1751753"/>
              <a:ext cx="225371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i="1" sz="2800"/>
              </a:lvl1pPr>
            </a:lstStyle>
            <a:p>
              <a:pPr/>
              <a:r>
                <a:t>runway service</a:t>
              </a:r>
            </a:p>
          </p:txBody>
        </p:sp>
        <p:grpSp>
          <p:nvGrpSpPr>
            <p:cNvPr id="9771" name="Group 58"/>
            <p:cNvGrpSpPr/>
            <p:nvPr/>
          </p:nvGrpSpPr>
          <p:grpSpPr>
            <a:xfrm>
              <a:off x="0" y="2288376"/>
              <a:ext cx="3522823" cy="474834"/>
              <a:chOff x="0" y="0"/>
              <a:chExt cx="3522822" cy="474833"/>
            </a:xfrm>
          </p:grpSpPr>
          <p:sp>
            <p:nvSpPr>
              <p:cNvPr id="9769" name="Rectangle 50"/>
              <p:cNvSpPr/>
              <p:nvPr/>
            </p:nvSpPr>
            <p:spPr>
              <a:xfrm>
                <a:off x="0" y="72210"/>
                <a:ext cx="3522823" cy="402624"/>
              </a:xfrm>
              <a:prstGeom prst="rect">
                <a:avLst/>
              </a:pr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770" name="TextBox 57"/>
              <p:cNvSpPr txBox="1"/>
              <p:nvPr/>
            </p:nvSpPr>
            <p:spPr>
              <a:xfrm>
                <a:off x="575596" y="0"/>
                <a:ext cx="2227150" cy="4447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i="1" sz="2800"/>
                </a:lvl1pPr>
              </a:lstStyle>
              <a:p>
                <a:pPr/>
                <a:r>
                  <a:t>routing service</a:t>
                </a:r>
              </a:p>
            </p:txBody>
          </p:sp>
        </p:grpSp>
      </p:grpSp>
      <p:sp>
        <p:nvSpPr>
          <p:cNvPr id="9773" name="Rectangle 40"/>
          <p:cNvSpPr txBox="1"/>
          <p:nvPr/>
        </p:nvSpPr>
        <p:spPr>
          <a:xfrm>
            <a:off x="2439166" y="5094287"/>
            <a:ext cx="7522211" cy="176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04470" indent="-84709" defTabSz="841247">
              <a:lnSpc>
                <a:spcPct val="90000"/>
              </a:lnSpc>
              <a:spcBef>
                <a:spcPts val="900"/>
              </a:spcBef>
              <a:defRPr i="1" sz="2944">
                <a:solidFill>
                  <a:srgbClr val="CC0000"/>
                </a:solidFill>
              </a:defRPr>
            </a:pPr>
            <a:r>
              <a:t>layers:</a:t>
            </a:r>
            <a:r>
              <a:rPr i="0">
                <a:solidFill>
                  <a:srgbClr val="FF0000"/>
                </a:solidFill>
              </a:rPr>
              <a:t> </a:t>
            </a:r>
            <a:r>
              <a:rPr i="0">
                <a:solidFill>
                  <a:srgbClr val="000000"/>
                </a:solidFill>
              </a:rPr>
              <a:t>each layer implements a service</a:t>
            </a:r>
            <a:endParaRPr sz="2576"/>
          </a:p>
          <a:p>
            <a:pPr lvl="1" marL="639699" indent="-213233" defTabSz="841247">
              <a:lnSpc>
                <a:spcPct val="90000"/>
              </a:lnSpc>
              <a:spcBef>
                <a:spcPts val="400"/>
              </a:spcBef>
              <a:buClr>
                <a:srgbClr val="0000A8"/>
              </a:buClr>
              <a:buSzPct val="100000"/>
              <a:buChar char="▪"/>
              <a:defRPr sz="2576"/>
            </a:pPr>
            <a:r>
              <a:t>via its own internal-layer actions</a:t>
            </a:r>
            <a:endParaRPr sz="2208"/>
          </a:p>
          <a:p>
            <a:pPr lvl="1" marL="639699" indent="-213233" defTabSz="841247">
              <a:lnSpc>
                <a:spcPct val="90000"/>
              </a:lnSpc>
              <a:spcBef>
                <a:spcPts val="400"/>
              </a:spcBef>
              <a:buClr>
                <a:srgbClr val="0000A8"/>
              </a:buClr>
              <a:buSzPct val="100000"/>
              <a:buChar char="▪"/>
              <a:defRPr sz="2576"/>
            </a:pPr>
            <a:r>
              <a:t>relying on services provided by layer below</a:t>
            </a:r>
            <a:endParaRPr sz="2208"/>
          </a:p>
        </p:txBody>
      </p:sp>
      <p:sp>
        <p:nvSpPr>
          <p:cNvPr id="977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748" grpId="1"/>
      <p:bldP build="whole" bldLvl="1" animBg="1" rev="0" advAuto="0" spid="9772" grpId="2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6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Why layering?</a:t>
            </a:r>
          </a:p>
        </p:txBody>
      </p:sp>
      <p:sp>
        <p:nvSpPr>
          <p:cNvPr id="9777" name="Rectangle 5"/>
          <p:cNvSpPr txBox="1"/>
          <p:nvPr/>
        </p:nvSpPr>
        <p:spPr>
          <a:xfrm>
            <a:off x="826016" y="1203574"/>
            <a:ext cx="10071085" cy="492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222250" indent="-92075">
              <a:lnSpc>
                <a:spcPct val="90000"/>
              </a:lnSpc>
              <a:spcBef>
                <a:spcPts val="1000"/>
              </a:spcBef>
              <a:defRPr sz="3600"/>
            </a:lvl1pPr>
          </a:lstStyle>
          <a:p>
            <a:pPr/>
            <a:r>
              <a:t>Approach to designing/discussing complex systems:</a:t>
            </a:r>
          </a:p>
        </p:txBody>
      </p:sp>
      <p:sp>
        <p:nvSpPr>
          <p:cNvPr id="9778" name="Rectangle 5"/>
          <p:cNvSpPr txBox="1"/>
          <p:nvPr/>
        </p:nvSpPr>
        <p:spPr>
          <a:xfrm>
            <a:off x="768553" y="1935296"/>
            <a:ext cx="7340378" cy="4345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573087" indent="-35560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3200"/>
            </a:pPr>
            <a:r>
              <a:t>explicit structure allows identification, relationship of system’s pieces</a:t>
            </a:r>
            <a:endParaRPr sz="2800"/>
          </a:p>
          <a:p>
            <a:pPr lvl="1" marL="982662" indent="-355600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layered </a:t>
            </a:r>
            <a:r>
              <a:rPr i="1">
                <a:solidFill>
                  <a:srgbClr val="CC0000"/>
                </a:solidFill>
              </a:rPr>
              <a:t>reference model</a:t>
            </a:r>
            <a:r>
              <a:t> for discussion</a:t>
            </a:r>
            <a:endParaRPr sz="2400"/>
          </a:p>
          <a:p>
            <a:pPr marL="573087" indent="-35560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3200"/>
            </a:pPr>
            <a:r>
              <a:t>modularization eases maintenance, updating of system</a:t>
            </a:r>
            <a:endParaRPr sz="2800"/>
          </a:p>
          <a:p>
            <a:pPr lvl="1" marL="982662" indent="-355600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change in layer's service </a:t>
            </a:r>
            <a:r>
              <a:rPr i="1"/>
              <a:t>implementation</a:t>
            </a:r>
            <a:r>
              <a:t>: transparent to rest of system</a:t>
            </a:r>
            <a:endParaRPr sz="2400"/>
          </a:p>
          <a:p>
            <a:pPr lvl="1" marL="982662" indent="-355600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e.g., change in gate procedure doesn’t affect rest of system</a:t>
            </a:r>
          </a:p>
        </p:txBody>
      </p:sp>
      <p:sp>
        <p:nvSpPr>
          <p:cNvPr id="9779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977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1000"/>
                                        <p:tgtEl>
                                          <p:spTgt spid="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9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" dur="1000"/>
                                        <p:tgtEl>
                                          <p:spTgt spid="9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1000"/>
                                        <p:tgtEl>
                                          <p:spTgt spid="9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1000"/>
                                        <p:tgtEl>
                                          <p:spTgt spid="9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9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778" grpId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1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Layered Internet protocol stack</a:t>
            </a:r>
          </a:p>
        </p:txBody>
      </p:sp>
      <p:sp>
        <p:nvSpPr>
          <p:cNvPr id="9782" name="Rectangle 5"/>
          <p:cNvSpPr txBox="1"/>
          <p:nvPr/>
        </p:nvSpPr>
        <p:spPr>
          <a:xfrm>
            <a:off x="1025103" y="1472007"/>
            <a:ext cx="7277308" cy="4922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3200">
                <a:solidFill>
                  <a:srgbClr val="CC0000"/>
                </a:solidFill>
              </a:defRPr>
            </a:pPr>
            <a:r>
              <a:t>application:</a:t>
            </a:r>
            <a:r>
              <a:rPr i="0">
                <a:solidFill>
                  <a:srgbClr val="000000"/>
                </a:solidFill>
              </a:rPr>
              <a:t> </a:t>
            </a:r>
            <a:r>
              <a:rPr i="0" sz="2800">
                <a:solidFill>
                  <a:srgbClr val="000000"/>
                </a:solidFill>
              </a:rPr>
              <a:t>supporting network applications</a:t>
            </a:r>
            <a:endParaRPr sz="2800"/>
          </a:p>
          <a:p>
            <a:pPr lvl="1" marL="682625" indent="-225425">
              <a:lnSpc>
                <a:spcPct val="8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HTTP, IMAP, SMTP, DNS</a:t>
            </a:r>
          </a:p>
          <a:p>
            <a:pPr marL="287338" indent="-287338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3200">
                <a:solidFill>
                  <a:srgbClr val="CC0000"/>
                </a:solidFill>
              </a:defRPr>
            </a:pPr>
            <a:r>
              <a:t>transport:</a:t>
            </a:r>
            <a:r>
              <a:rPr i="0">
                <a:solidFill>
                  <a:srgbClr val="000000"/>
                </a:solidFill>
              </a:rPr>
              <a:t> </a:t>
            </a:r>
            <a:r>
              <a:rPr i="0" sz="2800">
                <a:solidFill>
                  <a:srgbClr val="000000"/>
                </a:solidFill>
              </a:rPr>
              <a:t>process-process data transfer</a:t>
            </a:r>
            <a:endParaRPr sz="2800"/>
          </a:p>
          <a:p>
            <a:pPr lvl="1" marL="682625" indent="-225425">
              <a:lnSpc>
                <a:spcPct val="8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TCP, UDP</a:t>
            </a:r>
          </a:p>
          <a:p>
            <a:pPr marL="287338" indent="-287338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3200">
                <a:solidFill>
                  <a:srgbClr val="CC0000"/>
                </a:solidFill>
              </a:defRPr>
            </a:pPr>
            <a:r>
              <a:t>network:</a:t>
            </a:r>
            <a:r>
              <a:rPr i="0">
                <a:solidFill>
                  <a:srgbClr val="000000"/>
                </a:solidFill>
              </a:rPr>
              <a:t> </a:t>
            </a:r>
            <a:r>
              <a:rPr i="0" sz="2800">
                <a:solidFill>
                  <a:srgbClr val="000000"/>
                </a:solidFill>
              </a:rPr>
              <a:t>routing of datagrams from source to destination</a:t>
            </a:r>
            <a:endParaRPr sz="2800"/>
          </a:p>
          <a:p>
            <a:pPr lvl="1" marL="682625" indent="-225425">
              <a:lnSpc>
                <a:spcPct val="8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IP, routing protocols</a:t>
            </a:r>
          </a:p>
          <a:p>
            <a:pPr marL="287338" indent="-287338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3200">
                <a:solidFill>
                  <a:srgbClr val="CC0000"/>
                </a:solidFill>
              </a:defRPr>
            </a:pPr>
            <a:r>
              <a:t>link:</a:t>
            </a:r>
            <a:r>
              <a:rPr i="0">
                <a:solidFill>
                  <a:srgbClr val="000000"/>
                </a:solidFill>
              </a:rPr>
              <a:t> </a:t>
            </a:r>
            <a:r>
              <a:rPr i="0" sz="2800">
                <a:solidFill>
                  <a:srgbClr val="000000"/>
                </a:solidFill>
              </a:rPr>
              <a:t>data transfer between neighboring  network elements</a:t>
            </a:r>
            <a:endParaRPr sz="2800"/>
          </a:p>
          <a:p>
            <a:pPr lvl="1" marL="682625" indent="-225425">
              <a:lnSpc>
                <a:spcPct val="8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Ethernet, 802.11 (WiFi), PPP</a:t>
            </a:r>
          </a:p>
          <a:p>
            <a:pPr marL="287338" indent="-287338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3200">
                <a:solidFill>
                  <a:srgbClr val="CC0000"/>
                </a:solidFill>
              </a:defRPr>
            </a:pPr>
            <a:r>
              <a:t>physical:</a:t>
            </a:r>
            <a:r>
              <a:rPr i="0">
                <a:solidFill>
                  <a:srgbClr val="000000"/>
                </a:solidFill>
              </a:rPr>
              <a:t> </a:t>
            </a:r>
            <a:r>
              <a:rPr i="0" sz="2800">
                <a:solidFill>
                  <a:srgbClr val="000000"/>
                </a:solidFill>
              </a:rPr>
              <a:t>bits “on the wire”</a:t>
            </a:r>
          </a:p>
        </p:txBody>
      </p:sp>
      <p:sp>
        <p:nvSpPr>
          <p:cNvPr id="9783" name="Rectangle 6"/>
          <p:cNvSpPr/>
          <p:nvPr/>
        </p:nvSpPr>
        <p:spPr>
          <a:xfrm>
            <a:off x="8913283" y="1902005"/>
            <a:ext cx="1892301" cy="3530601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/>
          </a:ln>
          <a:effectLst>
            <a:outerShdw sx="100000" sy="100000" kx="0" ky="0" algn="b" rotWithShape="0" blurRad="304800" dist="38100" dir="1890000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lnSpc>
                <a:spcPts val="2000"/>
              </a:lnSpc>
              <a:defRPr sz="2800"/>
            </a:pPr>
          </a:p>
        </p:txBody>
      </p:sp>
      <p:sp>
        <p:nvSpPr>
          <p:cNvPr id="9784" name="Text Box 7"/>
          <p:cNvSpPr txBox="1"/>
          <p:nvPr/>
        </p:nvSpPr>
        <p:spPr>
          <a:xfrm>
            <a:off x="9546318" y="4217549"/>
            <a:ext cx="615837" cy="45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2700"/>
              </a:lnSpc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link</a:t>
            </a:r>
          </a:p>
        </p:txBody>
      </p:sp>
      <p:sp>
        <p:nvSpPr>
          <p:cNvPr id="9785" name="Line 8"/>
          <p:cNvSpPr/>
          <p:nvPr/>
        </p:nvSpPr>
        <p:spPr>
          <a:xfrm>
            <a:off x="8906933" y="2637697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86" name="Line 9"/>
          <p:cNvSpPr/>
          <p:nvPr/>
        </p:nvSpPr>
        <p:spPr>
          <a:xfrm>
            <a:off x="8906933" y="3342547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87" name="Line 10"/>
          <p:cNvSpPr/>
          <p:nvPr/>
        </p:nvSpPr>
        <p:spPr>
          <a:xfrm>
            <a:off x="8906933" y="4053747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88" name="Line 11"/>
          <p:cNvSpPr/>
          <p:nvPr/>
        </p:nvSpPr>
        <p:spPr>
          <a:xfrm>
            <a:off x="8906933" y="4764947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89" name="Text Box 7"/>
          <p:cNvSpPr txBox="1"/>
          <p:nvPr/>
        </p:nvSpPr>
        <p:spPr>
          <a:xfrm>
            <a:off x="8989951" y="2070093"/>
            <a:ext cx="1700868" cy="45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2700"/>
              </a:lnSpc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application</a:t>
            </a:r>
          </a:p>
        </p:txBody>
      </p:sp>
      <p:sp>
        <p:nvSpPr>
          <p:cNvPr id="9790" name="Text Box 7"/>
          <p:cNvSpPr txBox="1"/>
          <p:nvPr/>
        </p:nvSpPr>
        <p:spPr>
          <a:xfrm>
            <a:off x="9185806" y="3510967"/>
            <a:ext cx="1309153" cy="45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2700"/>
              </a:lnSpc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network</a:t>
            </a:r>
          </a:p>
        </p:txBody>
      </p:sp>
      <p:sp>
        <p:nvSpPr>
          <p:cNvPr id="9791" name="Text Box 7"/>
          <p:cNvSpPr txBox="1"/>
          <p:nvPr/>
        </p:nvSpPr>
        <p:spPr>
          <a:xfrm>
            <a:off x="9072011" y="2776676"/>
            <a:ext cx="1453615" cy="45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2700"/>
              </a:lnSpc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transport</a:t>
            </a:r>
          </a:p>
        </p:txBody>
      </p:sp>
      <p:sp>
        <p:nvSpPr>
          <p:cNvPr id="9792" name="Text Box 7"/>
          <p:cNvSpPr txBox="1"/>
          <p:nvPr/>
        </p:nvSpPr>
        <p:spPr>
          <a:xfrm>
            <a:off x="9243643" y="4884465"/>
            <a:ext cx="1248902" cy="45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2700"/>
              </a:lnSpc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physical</a:t>
            </a:r>
          </a:p>
        </p:txBody>
      </p:sp>
      <p:grpSp>
        <p:nvGrpSpPr>
          <p:cNvPr id="9795" name="Group 3"/>
          <p:cNvGrpSpPr/>
          <p:nvPr/>
        </p:nvGrpSpPr>
        <p:grpSpPr>
          <a:xfrm>
            <a:off x="8931727" y="1894114"/>
            <a:ext cx="1877787" cy="734787"/>
            <a:chOff x="0" y="0"/>
            <a:chExt cx="1877785" cy="734786"/>
          </a:xfrm>
        </p:grpSpPr>
        <p:sp>
          <p:nvSpPr>
            <p:cNvPr id="9793" name="Rectangle 2"/>
            <p:cNvSpPr/>
            <p:nvPr/>
          </p:nvSpPr>
          <p:spPr>
            <a:xfrm>
              <a:off x="0" y="-1"/>
              <a:ext cx="1877786" cy="734788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94" name="Text Box 7"/>
            <p:cNvSpPr txBox="1"/>
            <p:nvPr/>
          </p:nvSpPr>
          <p:spPr>
            <a:xfrm>
              <a:off x="96322" y="148763"/>
              <a:ext cx="1700869" cy="454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lnSpc>
                  <a:spcPts val="2700"/>
                </a:lnSpc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application</a:t>
              </a:r>
            </a:p>
          </p:txBody>
        </p:sp>
      </p:grpSp>
      <p:grpSp>
        <p:nvGrpSpPr>
          <p:cNvPr id="9798" name="Group 19"/>
          <p:cNvGrpSpPr/>
          <p:nvPr/>
        </p:nvGrpSpPr>
        <p:grpSpPr>
          <a:xfrm>
            <a:off x="8933978" y="2649497"/>
            <a:ext cx="1861419" cy="688225"/>
            <a:chOff x="0" y="0"/>
            <a:chExt cx="1861417" cy="688224"/>
          </a:xfrm>
        </p:grpSpPr>
        <p:sp>
          <p:nvSpPr>
            <p:cNvPr id="9796" name="Rectangle 20"/>
            <p:cNvSpPr/>
            <p:nvPr/>
          </p:nvSpPr>
          <p:spPr>
            <a:xfrm>
              <a:off x="0" y="-1"/>
              <a:ext cx="1861418" cy="688225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97" name="Text Box 7"/>
            <p:cNvSpPr txBox="1"/>
            <p:nvPr/>
          </p:nvSpPr>
          <p:spPr>
            <a:xfrm>
              <a:off x="206814" y="133607"/>
              <a:ext cx="1453616" cy="454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lnSpc>
                  <a:spcPts val="2700"/>
                </a:lnSpc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transport</a:t>
              </a:r>
            </a:p>
          </p:txBody>
        </p:sp>
      </p:grpSp>
      <p:grpSp>
        <p:nvGrpSpPr>
          <p:cNvPr id="9801" name="Group 22"/>
          <p:cNvGrpSpPr/>
          <p:nvPr/>
        </p:nvGrpSpPr>
        <p:grpSpPr>
          <a:xfrm>
            <a:off x="8931285" y="3357645"/>
            <a:ext cx="1861419" cy="677993"/>
            <a:chOff x="0" y="0"/>
            <a:chExt cx="1861417" cy="677991"/>
          </a:xfrm>
        </p:grpSpPr>
        <p:sp>
          <p:nvSpPr>
            <p:cNvPr id="9799" name="Rectangle 23"/>
            <p:cNvSpPr/>
            <p:nvPr/>
          </p:nvSpPr>
          <p:spPr>
            <a:xfrm>
              <a:off x="0" y="0"/>
              <a:ext cx="1861418" cy="677992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800" name="Text Box 7"/>
            <p:cNvSpPr txBox="1"/>
            <p:nvPr/>
          </p:nvSpPr>
          <p:spPr>
            <a:xfrm>
              <a:off x="279046" y="133607"/>
              <a:ext cx="1309152" cy="454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lnSpc>
                  <a:spcPts val="2700"/>
                </a:lnSpc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network</a:t>
              </a:r>
            </a:p>
          </p:txBody>
        </p:sp>
      </p:grpSp>
      <p:grpSp>
        <p:nvGrpSpPr>
          <p:cNvPr id="9804" name="Group 25"/>
          <p:cNvGrpSpPr/>
          <p:nvPr/>
        </p:nvGrpSpPr>
        <p:grpSpPr>
          <a:xfrm>
            <a:off x="8931823" y="4072256"/>
            <a:ext cx="1861419" cy="677993"/>
            <a:chOff x="0" y="0"/>
            <a:chExt cx="1861417" cy="677991"/>
          </a:xfrm>
        </p:grpSpPr>
        <p:sp>
          <p:nvSpPr>
            <p:cNvPr id="9802" name="Rectangle 26"/>
            <p:cNvSpPr/>
            <p:nvPr/>
          </p:nvSpPr>
          <p:spPr>
            <a:xfrm>
              <a:off x="0" y="0"/>
              <a:ext cx="1861418" cy="677992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803" name="Text Box 7"/>
            <p:cNvSpPr txBox="1"/>
            <p:nvPr/>
          </p:nvSpPr>
          <p:spPr>
            <a:xfrm>
              <a:off x="625705" y="133607"/>
              <a:ext cx="615836" cy="454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lnSpc>
                  <a:spcPts val="2700"/>
                </a:lnSpc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link</a:t>
              </a:r>
            </a:p>
          </p:txBody>
        </p:sp>
      </p:grpSp>
      <p:grpSp>
        <p:nvGrpSpPr>
          <p:cNvPr id="9807" name="Group 28"/>
          <p:cNvGrpSpPr/>
          <p:nvPr/>
        </p:nvGrpSpPr>
        <p:grpSpPr>
          <a:xfrm>
            <a:off x="8925900" y="4785252"/>
            <a:ext cx="1861419" cy="639759"/>
            <a:chOff x="0" y="0"/>
            <a:chExt cx="1861417" cy="639757"/>
          </a:xfrm>
        </p:grpSpPr>
        <p:sp>
          <p:nvSpPr>
            <p:cNvPr id="9805" name="Rectangle 29"/>
            <p:cNvSpPr/>
            <p:nvPr/>
          </p:nvSpPr>
          <p:spPr>
            <a:xfrm>
              <a:off x="0" y="0"/>
              <a:ext cx="1861418" cy="639758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806" name="Text Box 7"/>
            <p:cNvSpPr txBox="1"/>
            <p:nvPr/>
          </p:nvSpPr>
          <p:spPr>
            <a:xfrm>
              <a:off x="309174" y="115836"/>
              <a:ext cx="1248903" cy="454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lnSpc>
                  <a:spcPts val="2700"/>
                </a:lnSpc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physical</a:t>
              </a:r>
            </a:p>
          </p:txBody>
        </p:sp>
      </p:grpSp>
      <p:sp>
        <p:nvSpPr>
          <p:cNvPr id="980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78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9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9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4" dur="500"/>
                                        <p:tgtEl>
                                          <p:spTgt spid="9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500"/>
                                        <p:tgtEl>
                                          <p:spTgt spid="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500"/>
                                        <p:tgtEl>
                                          <p:spTgt spid="9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9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Class="exit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0" dur="500" fill="hold"/>
                                        <p:tgtEl>
                                          <p:spTgt spid="9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9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500"/>
                                        <p:tgtEl>
                                          <p:spTgt spid="9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97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97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Class="exit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7" dur="500" fill="hold"/>
                                        <p:tgtEl>
                                          <p:spTgt spid="97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2" dur="500"/>
                                        <p:tgtEl>
                                          <p:spTgt spid="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97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7" dur="500"/>
                                        <p:tgtEl>
                                          <p:spTgt spid="97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97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1" dur="500"/>
                                        <p:tgtEl>
                                          <p:spTgt spid="97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Class="exit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64" dur="500" fill="hold"/>
                                        <p:tgtEl>
                                          <p:spTgt spid="98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9" dur="500"/>
                                        <p:tgtEl>
                                          <p:spTgt spid="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97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4" dur="500"/>
                                        <p:tgtEl>
                                          <p:spTgt spid="97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Class="exit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77" dur="500" fill="hold"/>
                                        <p:tgtEl>
                                          <p:spTgt spid="9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82" dur="500"/>
                                        <p:tgtEl>
                                          <p:spTgt spid="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782" grpId="1"/>
      <p:bldP build="whole" bldLvl="1" animBg="1" rev="0" advAuto="0" spid="9795" grpId="3"/>
      <p:bldP build="whole" bldLvl="1" animBg="1" rev="0" advAuto="0" spid="9798" grpId="5"/>
      <p:bldP build="whole" bldLvl="1" animBg="1" rev="0" advAuto="0" spid="9801" grpId="7"/>
      <p:bldP build="whole" bldLvl="1" animBg="1" rev="0" advAuto="0" spid="9801" grpId="6"/>
      <p:bldP build="whole" bldLvl="1" animBg="1" rev="0" advAuto="0" spid="9798" grpId="4"/>
      <p:bldP build="whole" bldLvl="1" animBg="1" rev="0" advAuto="0" spid="9795" grpId="2"/>
      <p:bldP build="whole" bldLvl="1" animBg="1" rev="0" advAuto="0" spid="9804" grpId="8"/>
      <p:bldP build="whole" bldLvl="1" animBg="1" rev="0" advAuto="0" spid="9804" grpId="9"/>
      <p:bldP build="whole" bldLvl="1" animBg="1" rev="0" advAuto="0" spid="9807" grpId="1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0" name="Freeform 10"/>
          <p:cNvSpPr/>
          <p:nvPr/>
        </p:nvSpPr>
        <p:spPr>
          <a:xfrm flipH="1" rot="10800000">
            <a:off x="10916607" y="157703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11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Services, Layering and Encapsulation</a:t>
            </a:r>
          </a:p>
        </p:txBody>
      </p:sp>
      <p:sp>
        <p:nvSpPr>
          <p:cNvPr id="9812" name="Text Box 8"/>
          <p:cNvSpPr txBox="1"/>
          <p:nvPr/>
        </p:nvSpPr>
        <p:spPr>
          <a:xfrm>
            <a:off x="495425" y="5724388"/>
            <a:ext cx="1018987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</a:t>
            </a:r>
          </a:p>
        </p:txBody>
      </p:sp>
      <p:sp>
        <p:nvSpPr>
          <p:cNvPr id="9813" name="Freeform 10"/>
          <p:cNvSpPr/>
          <p:nvPr/>
        </p:nvSpPr>
        <p:spPr>
          <a:xfrm rot="10800000">
            <a:off x="975629" y="155954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816" name="Group 190"/>
          <p:cNvGrpSpPr/>
          <p:nvPr/>
        </p:nvGrpSpPr>
        <p:grpSpPr>
          <a:xfrm>
            <a:off x="635446" y="5073984"/>
            <a:ext cx="803275" cy="771526"/>
            <a:chOff x="0" y="0"/>
            <a:chExt cx="803274" cy="771525"/>
          </a:xfrm>
        </p:grpSpPr>
        <p:pic>
          <p:nvPicPr>
            <p:cNvPr id="9814" name="Picture 191" descr="Picture 19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03275" cy="771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815" name="Freeform 192"/>
            <p:cNvSpPr/>
            <p:nvPr/>
          </p:nvSpPr>
          <p:spPr>
            <a:xfrm>
              <a:off x="70419" y="74010"/>
              <a:ext cx="390584" cy="35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817" name="TextBox 143"/>
          <p:cNvSpPr txBox="1"/>
          <p:nvPr/>
        </p:nvSpPr>
        <p:spPr>
          <a:xfrm>
            <a:off x="3508447" y="3394795"/>
            <a:ext cx="5739734" cy="218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5275" indent="-295275">
              <a:lnSpc>
                <a:spcPct val="90000"/>
              </a:lnSpc>
              <a:buClr>
                <a:srgbClr val="0000A3"/>
              </a:buClr>
              <a:buSzPct val="100000"/>
              <a:buChar char="▪"/>
              <a:defRPr sz="2400"/>
            </a:pPr>
            <a:r>
              <a:t>transport-layer protocol </a:t>
            </a:r>
            <a:r>
              <a:rPr>
                <a:solidFill>
                  <a:srgbClr val="0000A3"/>
                </a:solidFill>
              </a:rPr>
              <a:t>encapsulates</a:t>
            </a:r>
            <a:r>
              <a:t> application-layer message, M, with </a:t>
            </a:r>
            <a:r>
              <a:rPr i="1"/>
              <a:t>transport</a:t>
            </a:r>
            <a:r>
              <a:t> layer-layer header H</a:t>
            </a:r>
            <a:r>
              <a:rPr baseline="-25000"/>
              <a:t>t </a:t>
            </a:r>
            <a:r>
              <a:t>to create a transport-layer </a:t>
            </a:r>
            <a:r>
              <a:rPr>
                <a:solidFill>
                  <a:srgbClr val="C00000"/>
                </a:solidFill>
              </a:rPr>
              <a:t>segment</a:t>
            </a:r>
            <a:endParaRPr baseline="-25000">
              <a:solidFill>
                <a:srgbClr val="C00000"/>
              </a:solidFill>
            </a:endParaRPr>
          </a:p>
          <a:p>
            <a:pPr lvl="1" marL="574675" indent="-231775">
              <a:lnSpc>
                <a:spcPct val="90000"/>
              </a:lnSpc>
              <a:buClr>
                <a:srgbClr val="0000A3"/>
              </a:buClr>
              <a:buSzPct val="100000"/>
              <a:buFont typeface="Arial"/>
              <a:buChar char="•"/>
              <a:defRPr sz="2400"/>
            </a:pPr>
            <a:r>
              <a:t>H</a:t>
            </a:r>
            <a:r>
              <a:rPr baseline="-25000"/>
              <a:t>t </a:t>
            </a:r>
            <a:r>
              <a:t> used by transport layer protocol to implement its service</a:t>
            </a:r>
          </a:p>
        </p:txBody>
      </p:sp>
      <p:grpSp>
        <p:nvGrpSpPr>
          <p:cNvPr id="9824" name="Group 211"/>
          <p:cNvGrpSpPr/>
          <p:nvPr/>
        </p:nvGrpSpPr>
        <p:grpSpPr>
          <a:xfrm>
            <a:off x="1357050" y="1421666"/>
            <a:ext cx="1697081" cy="4034754"/>
            <a:chOff x="0" y="0"/>
            <a:chExt cx="1697080" cy="4034752"/>
          </a:xfrm>
        </p:grpSpPr>
        <p:sp>
          <p:nvSpPr>
            <p:cNvPr id="9818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19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9820" name="Straight Connector 116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21" name="Straight Connector 147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22" name="Straight Connector 148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23" name="Straight Connector 149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857" name="Group 950"/>
          <p:cNvGrpSpPr/>
          <p:nvPr/>
        </p:nvGrpSpPr>
        <p:grpSpPr>
          <a:xfrm>
            <a:off x="11107712" y="4961744"/>
            <a:ext cx="374756" cy="833727"/>
            <a:chOff x="0" y="0"/>
            <a:chExt cx="374754" cy="833726"/>
          </a:xfrm>
        </p:grpSpPr>
        <p:sp>
          <p:nvSpPr>
            <p:cNvPr id="9825" name="Freeform 951"/>
            <p:cNvSpPr/>
            <p:nvPr/>
          </p:nvSpPr>
          <p:spPr>
            <a:xfrm>
              <a:off x="296647" y="1391"/>
              <a:ext cx="74426" cy="795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26" name="Rectangle 952"/>
            <p:cNvSpPr/>
            <p:nvPr/>
          </p:nvSpPr>
          <p:spPr>
            <a:xfrm>
              <a:off x="18408" y="-1"/>
              <a:ext cx="275083" cy="795103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27" name="Freeform 953"/>
            <p:cNvSpPr/>
            <p:nvPr/>
          </p:nvSpPr>
          <p:spPr>
            <a:xfrm>
              <a:off x="312060" y="49063"/>
              <a:ext cx="42971" cy="72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28" name="Freeform 954"/>
            <p:cNvSpPr/>
            <p:nvPr/>
          </p:nvSpPr>
          <p:spPr>
            <a:xfrm>
              <a:off x="300855" y="421386"/>
              <a:ext cx="69166" cy="657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29" name="Rectangle 955"/>
            <p:cNvSpPr/>
            <p:nvPr/>
          </p:nvSpPr>
          <p:spPr>
            <a:xfrm>
              <a:off x="18408" y="90819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832" name="Group 956"/>
            <p:cNvGrpSpPr/>
            <p:nvPr/>
          </p:nvGrpSpPr>
          <p:grpSpPr>
            <a:xfrm>
              <a:off x="159947" y="82437"/>
              <a:ext cx="151952" cy="52271"/>
              <a:chOff x="0" y="0"/>
              <a:chExt cx="151951" cy="52269"/>
            </a:xfrm>
          </p:grpSpPr>
          <p:sp>
            <p:nvSpPr>
              <p:cNvPr id="9830" name="AutoShape 957"/>
              <p:cNvSpPr/>
              <p:nvPr/>
            </p:nvSpPr>
            <p:spPr>
              <a:xfrm>
                <a:off x="0" y="0"/>
                <a:ext cx="151952" cy="5227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831" name="AutoShape 958"/>
              <p:cNvSpPr/>
              <p:nvPr/>
            </p:nvSpPr>
            <p:spPr>
              <a:xfrm>
                <a:off x="2529" y="5444"/>
                <a:ext cx="146683" cy="4138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833" name="Rectangle 959"/>
            <p:cNvSpPr/>
            <p:nvPr/>
          </p:nvSpPr>
          <p:spPr>
            <a:xfrm>
              <a:off x="21038" y="206343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836" name="Group 960"/>
            <p:cNvGrpSpPr/>
            <p:nvPr/>
          </p:nvGrpSpPr>
          <p:grpSpPr>
            <a:xfrm>
              <a:off x="159842" y="195258"/>
              <a:ext cx="151953" cy="46629"/>
              <a:chOff x="0" y="0"/>
              <a:chExt cx="151951" cy="46627"/>
            </a:xfrm>
          </p:grpSpPr>
          <p:sp>
            <p:nvSpPr>
              <p:cNvPr id="9834" name="AutoShape 961"/>
              <p:cNvSpPr/>
              <p:nvPr/>
            </p:nvSpPr>
            <p:spPr>
              <a:xfrm>
                <a:off x="0" y="0"/>
                <a:ext cx="151952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835" name="AutoShape 962"/>
              <p:cNvSpPr/>
              <p:nvPr/>
            </p:nvSpPr>
            <p:spPr>
              <a:xfrm>
                <a:off x="2739" y="5702"/>
                <a:ext cx="146684" cy="358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837" name="Rectangle 963"/>
            <p:cNvSpPr/>
            <p:nvPr/>
          </p:nvSpPr>
          <p:spPr>
            <a:xfrm>
              <a:off x="21038" y="321868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38" name="Rectangle 964"/>
            <p:cNvSpPr/>
            <p:nvPr/>
          </p:nvSpPr>
          <p:spPr>
            <a:xfrm>
              <a:off x="23668" y="426606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841" name="Group 965"/>
            <p:cNvGrpSpPr/>
            <p:nvPr/>
          </p:nvGrpSpPr>
          <p:grpSpPr>
            <a:xfrm>
              <a:off x="157320" y="423667"/>
              <a:ext cx="152003" cy="46873"/>
              <a:chOff x="0" y="0"/>
              <a:chExt cx="152001" cy="46872"/>
            </a:xfrm>
          </p:grpSpPr>
          <p:sp>
            <p:nvSpPr>
              <p:cNvPr id="9839" name="AutoShape 966"/>
              <p:cNvSpPr/>
              <p:nvPr/>
            </p:nvSpPr>
            <p:spPr>
              <a:xfrm>
                <a:off x="0" y="0"/>
                <a:ext cx="152002" cy="4687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840" name="AutoShape 967"/>
              <p:cNvSpPr/>
              <p:nvPr/>
            </p:nvSpPr>
            <p:spPr>
              <a:xfrm>
                <a:off x="2533" y="0"/>
                <a:ext cx="146725" cy="4120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842" name="Freeform 968"/>
            <p:cNvSpPr/>
            <p:nvPr/>
          </p:nvSpPr>
          <p:spPr>
            <a:xfrm>
              <a:off x="301907" y="321868"/>
              <a:ext cx="69166" cy="65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845" name="Group 969"/>
            <p:cNvGrpSpPr/>
            <p:nvPr/>
          </p:nvGrpSpPr>
          <p:grpSpPr>
            <a:xfrm>
              <a:off x="157317" y="313517"/>
              <a:ext cx="154536" cy="46628"/>
              <a:chOff x="0" y="0"/>
              <a:chExt cx="154535" cy="46627"/>
            </a:xfrm>
          </p:grpSpPr>
          <p:sp>
            <p:nvSpPr>
              <p:cNvPr id="9843" name="AutoShape 970"/>
              <p:cNvSpPr/>
              <p:nvPr/>
            </p:nvSpPr>
            <p:spPr>
              <a:xfrm>
                <a:off x="0" y="0"/>
                <a:ext cx="154536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844" name="AutoShape 971"/>
              <p:cNvSpPr/>
              <p:nvPr/>
            </p:nvSpPr>
            <p:spPr>
              <a:xfrm>
                <a:off x="2533" y="5567"/>
                <a:ext cx="152003" cy="358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846" name="Rectangle 972"/>
            <p:cNvSpPr/>
            <p:nvPr/>
          </p:nvSpPr>
          <p:spPr>
            <a:xfrm>
              <a:off x="290861" y="-1"/>
              <a:ext cx="18409" cy="795103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47" name="Freeform 973"/>
            <p:cNvSpPr/>
            <p:nvPr/>
          </p:nvSpPr>
          <p:spPr>
            <a:xfrm>
              <a:off x="308218" y="201124"/>
              <a:ext cx="62329" cy="74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48" name="Freeform 974"/>
            <p:cNvSpPr/>
            <p:nvPr/>
          </p:nvSpPr>
          <p:spPr>
            <a:xfrm>
              <a:off x="309007" y="87339"/>
              <a:ext cx="64170" cy="83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49" name="Oval 975"/>
            <p:cNvSpPr/>
            <p:nvPr/>
          </p:nvSpPr>
          <p:spPr>
            <a:xfrm>
              <a:off x="361604" y="759261"/>
              <a:ext cx="13151" cy="3305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50" name="Freeform 976"/>
            <p:cNvSpPr/>
            <p:nvPr/>
          </p:nvSpPr>
          <p:spPr>
            <a:xfrm>
              <a:off x="305588" y="760305"/>
              <a:ext cx="64433" cy="69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51" name="AutoShape 977"/>
            <p:cNvSpPr/>
            <p:nvPr/>
          </p:nvSpPr>
          <p:spPr>
            <a:xfrm>
              <a:off x="-1" y="781531"/>
              <a:ext cx="314532" cy="5219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52" name="AutoShape 978"/>
            <p:cNvSpPr/>
            <p:nvPr/>
          </p:nvSpPr>
          <p:spPr>
            <a:xfrm>
              <a:off x="18408" y="795101"/>
              <a:ext cx="280344" cy="2749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53" name="Oval 979"/>
            <p:cNvSpPr/>
            <p:nvPr/>
          </p:nvSpPr>
          <p:spPr>
            <a:xfrm>
              <a:off x="44444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54" name="Oval 980"/>
            <p:cNvSpPr/>
            <p:nvPr/>
          </p:nvSpPr>
          <p:spPr>
            <a:xfrm>
              <a:off x="91781" y="679577"/>
              <a:ext cx="41815" cy="49413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55" name="Oval 981"/>
            <p:cNvSpPr/>
            <p:nvPr/>
          </p:nvSpPr>
          <p:spPr>
            <a:xfrm>
              <a:off x="136226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56" name="Rectangle 982"/>
            <p:cNvSpPr/>
            <p:nvPr/>
          </p:nvSpPr>
          <p:spPr>
            <a:xfrm>
              <a:off x="243787" y="489935"/>
              <a:ext cx="21039" cy="264107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9858" name="Text Box 8"/>
          <p:cNvSpPr txBox="1"/>
          <p:nvPr/>
        </p:nvSpPr>
        <p:spPr>
          <a:xfrm>
            <a:off x="10262453" y="5716780"/>
            <a:ext cx="1578433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destination</a:t>
            </a:r>
          </a:p>
        </p:txBody>
      </p:sp>
      <p:grpSp>
        <p:nvGrpSpPr>
          <p:cNvPr id="9865" name="Group 212"/>
          <p:cNvGrpSpPr/>
          <p:nvPr/>
        </p:nvGrpSpPr>
        <p:grpSpPr>
          <a:xfrm>
            <a:off x="9244375" y="1413547"/>
            <a:ext cx="1697082" cy="4034754"/>
            <a:chOff x="0" y="0"/>
            <a:chExt cx="1697080" cy="4034752"/>
          </a:xfrm>
        </p:grpSpPr>
        <p:sp>
          <p:nvSpPr>
            <p:cNvPr id="9859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860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9861" name="Straight Connector 215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62" name="Straight Connector 216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63" name="Straight Connector 217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64" name="Straight Connector 218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876" name="Group 76"/>
          <p:cNvGrpSpPr/>
          <p:nvPr/>
        </p:nvGrpSpPr>
        <p:grpSpPr>
          <a:xfrm>
            <a:off x="3211642" y="2368400"/>
            <a:ext cx="5722996" cy="938131"/>
            <a:chOff x="0" y="0"/>
            <a:chExt cx="5722995" cy="938129"/>
          </a:xfrm>
        </p:grpSpPr>
        <p:sp>
          <p:nvSpPr>
            <p:cNvPr id="9866" name="Straight Arrow Connector 77"/>
            <p:cNvSpPr/>
            <p:nvPr/>
          </p:nvSpPr>
          <p:spPr>
            <a:xfrm>
              <a:off x="0" y="242386"/>
              <a:ext cx="5651292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67" name="TextBox 78"/>
            <p:cNvSpPr txBox="1"/>
            <p:nvPr/>
          </p:nvSpPr>
          <p:spPr>
            <a:xfrm>
              <a:off x="193567" y="349189"/>
              <a:ext cx="5529429" cy="58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85000"/>
                </a:lnSpc>
                <a:defRPr>
                  <a:solidFill>
                    <a:srgbClr val="C00000"/>
                  </a:solidFill>
                </a:defRPr>
              </a:pPr>
              <a:r>
                <a:t>Transport-layer </a:t>
              </a:r>
              <a:r>
                <a:rPr>
                  <a:solidFill>
                    <a:srgbClr val="000000"/>
                  </a:solidFill>
                </a:rPr>
                <a:t>protocol transfers M (e.g., reliably) from one </a:t>
              </a:r>
              <a:r>
                <a:rPr i="1">
                  <a:solidFill>
                    <a:srgbClr val="000000"/>
                  </a:solidFill>
                </a:rPr>
                <a:t>process</a:t>
              </a:r>
              <a:r>
                <a:rPr>
                  <a:solidFill>
                    <a:srgbClr val="000000"/>
                  </a:solidFill>
                </a:rPr>
                <a:t> to another, using services of network layer</a:t>
              </a:r>
            </a:p>
          </p:txBody>
        </p:sp>
        <p:sp>
          <p:nvSpPr>
            <p:cNvPr id="9868" name="Rectangle 79"/>
            <p:cNvSpPr/>
            <p:nvPr/>
          </p:nvSpPr>
          <p:spPr>
            <a:xfrm>
              <a:off x="2372940" y="0"/>
              <a:ext cx="971760" cy="3897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9875" name="Group 185"/>
            <p:cNvGrpSpPr/>
            <p:nvPr/>
          </p:nvGrpSpPr>
          <p:grpSpPr>
            <a:xfrm>
              <a:off x="2487098" y="16501"/>
              <a:ext cx="774701" cy="394097"/>
              <a:chOff x="0" y="0"/>
              <a:chExt cx="774700" cy="394095"/>
            </a:xfrm>
          </p:grpSpPr>
          <p:grpSp>
            <p:nvGrpSpPr>
              <p:cNvPr id="9871" name="Group 179"/>
              <p:cNvGrpSpPr/>
              <p:nvPr/>
            </p:nvGrpSpPr>
            <p:grpSpPr>
              <a:xfrm>
                <a:off x="0" y="0"/>
                <a:ext cx="280988" cy="394096"/>
                <a:chOff x="0" y="0"/>
                <a:chExt cx="280987" cy="394095"/>
              </a:xfrm>
            </p:grpSpPr>
            <p:sp>
              <p:nvSpPr>
                <p:cNvPr id="9869" name="Rectangle 180"/>
                <p:cNvSpPr/>
                <p:nvPr/>
              </p:nvSpPr>
              <p:spPr>
                <a:xfrm>
                  <a:off x="0" y="77985"/>
                  <a:ext cx="280988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9870" name="Rectangle 181"/>
                <p:cNvSpPr txBox="1"/>
                <p:nvPr/>
              </p:nvSpPr>
              <p:spPr>
                <a:xfrm>
                  <a:off x="3051" y="0"/>
                  <a:ext cx="274885" cy="3940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H</a:t>
                  </a:r>
                  <a:r>
                    <a:rPr baseline="-25000" sz="1800"/>
                    <a:t>t</a:t>
                  </a:r>
                </a:p>
              </p:txBody>
            </p:sp>
          </p:grpSp>
          <p:grpSp>
            <p:nvGrpSpPr>
              <p:cNvPr id="9874" name="Group 182"/>
              <p:cNvGrpSpPr/>
              <p:nvPr/>
            </p:nvGrpSpPr>
            <p:grpSpPr>
              <a:xfrm>
                <a:off x="279400" y="55811"/>
                <a:ext cx="495301" cy="288824"/>
                <a:chOff x="0" y="0"/>
                <a:chExt cx="495300" cy="288823"/>
              </a:xfrm>
            </p:grpSpPr>
            <p:sp>
              <p:nvSpPr>
                <p:cNvPr id="9872" name="Rectangle 183"/>
                <p:cNvSpPr/>
                <p:nvPr/>
              </p:nvSpPr>
              <p:spPr>
                <a:xfrm>
                  <a:off x="0" y="22174"/>
                  <a:ext cx="495300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9873" name="Rectangle 184"/>
                <p:cNvSpPr txBox="1"/>
                <p:nvPr/>
              </p:nvSpPr>
              <p:spPr>
                <a:xfrm>
                  <a:off x="154863" y="0"/>
                  <a:ext cx="252249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</p:grpSp>
      </p:grpSp>
      <p:sp>
        <p:nvSpPr>
          <p:cNvPr id="9877" name="TextBox 88"/>
          <p:cNvSpPr txBox="1"/>
          <p:nvPr/>
        </p:nvSpPr>
        <p:spPr>
          <a:xfrm>
            <a:off x="3421181" y="1789390"/>
            <a:ext cx="5527371" cy="58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85000"/>
              </a:lnSpc>
              <a:defRPr>
                <a:solidFill>
                  <a:srgbClr val="C00000"/>
                </a:solidFill>
              </a:defRPr>
            </a:pPr>
            <a:r>
              <a:t>Application </a:t>
            </a:r>
            <a:r>
              <a:rPr>
                <a:solidFill>
                  <a:srgbClr val="000000"/>
                </a:solidFill>
              </a:rPr>
              <a:t>exchanges </a:t>
            </a:r>
            <a:r>
              <a:t>messages</a:t>
            </a:r>
            <a:r>
              <a:rPr>
                <a:solidFill>
                  <a:srgbClr val="000000"/>
                </a:solidFill>
              </a:rPr>
              <a:t> to implement some application service using </a:t>
            </a:r>
            <a:r>
              <a:rPr i="1">
                <a:solidFill>
                  <a:srgbClr val="000000"/>
                </a:solidFill>
              </a:rPr>
              <a:t>services</a:t>
            </a:r>
            <a:r>
              <a:rPr>
                <a:solidFill>
                  <a:srgbClr val="000000"/>
                </a:solidFill>
              </a:rPr>
              <a:t> of transport layer</a:t>
            </a:r>
          </a:p>
        </p:txBody>
      </p:sp>
      <p:grpSp>
        <p:nvGrpSpPr>
          <p:cNvPr id="9883" name="Group 89"/>
          <p:cNvGrpSpPr/>
          <p:nvPr/>
        </p:nvGrpSpPr>
        <p:grpSpPr>
          <a:xfrm>
            <a:off x="3254290" y="1489592"/>
            <a:ext cx="5651292" cy="389744"/>
            <a:chOff x="0" y="0"/>
            <a:chExt cx="5651291" cy="389743"/>
          </a:xfrm>
        </p:grpSpPr>
        <p:sp>
          <p:nvSpPr>
            <p:cNvPr id="9878" name="Straight Arrow Connector 90"/>
            <p:cNvSpPr/>
            <p:nvPr/>
          </p:nvSpPr>
          <p:spPr>
            <a:xfrm>
              <a:off x="0" y="194867"/>
              <a:ext cx="5651292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79" name="Rectangle 91"/>
            <p:cNvSpPr/>
            <p:nvPr/>
          </p:nvSpPr>
          <p:spPr>
            <a:xfrm>
              <a:off x="2608284" y="0"/>
              <a:ext cx="674559" cy="3897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9882" name="Group 175"/>
            <p:cNvGrpSpPr/>
            <p:nvPr/>
          </p:nvGrpSpPr>
          <p:grpSpPr>
            <a:xfrm>
              <a:off x="2741851" y="65132"/>
              <a:ext cx="495301" cy="288825"/>
              <a:chOff x="0" y="0"/>
              <a:chExt cx="495300" cy="288823"/>
            </a:xfrm>
          </p:grpSpPr>
          <p:sp>
            <p:nvSpPr>
              <p:cNvPr id="9880" name="Rectangle 176"/>
              <p:cNvSpPr/>
              <p:nvPr/>
            </p:nvSpPr>
            <p:spPr>
              <a:xfrm>
                <a:off x="0" y="18999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881" name="Rectangle 177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sp>
        <p:nvSpPr>
          <p:cNvPr id="988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Class="exit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9" dur="500" fill="hold"/>
                                        <p:tgtEl>
                                          <p:spTgt spid="98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877" grpId="2"/>
      <p:bldP build="whole" bldLvl="1" animBg="1" rev="0" advAuto="0" spid="9876" grpId="3"/>
      <p:bldP build="whole" bldLvl="1" animBg="1" rev="0" advAuto="0" spid="9877" grpId="4"/>
      <p:bldP build="whole" bldLvl="1" animBg="1" rev="0" advAuto="0" spid="9883" grpId="1"/>
      <p:bldP build="whole" bldLvl="1" animBg="1" rev="0" advAuto="0" spid="9817" grpId="5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6" name="Freeform 10"/>
          <p:cNvSpPr/>
          <p:nvPr/>
        </p:nvSpPr>
        <p:spPr>
          <a:xfrm flipH="1" rot="10800000">
            <a:off x="10916607" y="157703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87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Services, Layering and Encapsulation</a:t>
            </a:r>
          </a:p>
        </p:txBody>
      </p:sp>
      <p:sp>
        <p:nvSpPr>
          <p:cNvPr id="9888" name="Text Box 8"/>
          <p:cNvSpPr txBox="1"/>
          <p:nvPr/>
        </p:nvSpPr>
        <p:spPr>
          <a:xfrm>
            <a:off x="495425" y="5724388"/>
            <a:ext cx="1018987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</a:t>
            </a:r>
          </a:p>
        </p:txBody>
      </p:sp>
      <p:sp>
        <p:nvSpPr>
          <p:cNvPr id="9889" name="Freeform 10"/>
          <p:cNvSpPr/>
          <p:nvPr/>
        </p:nvSpPr>
        <p:spPr>
          <a:xfrm rot="10800000">
            <a:off x="975629" y="155954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892" name="Group 190"/>
          <p:cNvGrpSpPr/>
          <p:nvPr/>
        </p:nvGrpSpPr>
        <p:grpSpPr>
          <a:xfrm>
            <a:off x="635446" y="5073984"/>
            <a:ext cx="803275" cy="771526"/>
            <a:chOff x="0" y="0"/>
            <a:chExt cx="803274" cy="771525"/>
          </a:xfrm>
        </p:grpSpPr>
        <p:pic>
          <p:nvPicPr>
            <p:cNvPr id="9890" name="Picture 191" descr="Picture 19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03275" cy="771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891" name="Freeform 192"/>
            <p:cNvSpPr/>
            <p:nvPr/>
          </p:nvSpPr>
          <p:spPr>
            <a:xfrm>
              <a:off x="70419" y="74010"/>
              <a:ext cx="390584" cy="35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893" name="Straight Arrow Connector 126"/>
          <p:cNvSpPr/>
          <p:nvPr/>
        </p:nvSpPr>
        <p:spPr>
          <a:xfrm>
            <a:off x="3211641" y="2610787"/>
            <a:ext cx="5651293" cy="1"/>
          </a:xfrm>
          <a:prstGeom prst="line">
            <a:avLst/>
          </a:prstGeom>
          <a:ln w="190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894" name="TextBox 127"/>
          <p:cNvSpPr txBox="1"/>
          <p:nvPr/>
        </p:nvSpPr>
        <p:spPr>
          <a:xfrm>
            <a:off x="3405209" y="2717589"/>
            <a:ext cx="5529429" cy="588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85000"/>
              </a:lnSpc>
              <a:defRPr>
                <a:solidFill>
                  <a:srgbClr val="C00000"/>
                </a:solidFill>
              </a:defRPr>
            </a:pPr>
            <a:r>
              <a:t>Transport-layer </a:t>
            </a:r>
            <a:r>
              <a:rPr>
                <a:solidFill>
                  <a:srgbClr val="000000"/>
                </a:solidFill>
              </a:rPr>
              <a:t>protocol transfers M (e.g., reliably) from one </a:t>
            </a:r>
            <a:r>
              <a:rPr i="1">
                <a:solidFill>
                  <a:srgbClr val="000000"/>
                </a:solidFill>
              </a:rPr>
              <a:t>process</a:t>
            </a:r>
            <a:r>
              <a:rPr>
                <a:solidFill>
                  <a:srgbClr val="000000"/>
                </a:solidFill>
              </a:rPr>
              <a:t> to another, using services of network layer</a:t>
            </a:r>
          </a:p>
        </p:txBody>
      </p:sp>
      <p:sp>
        <p:nvSpPr>
          <p:cNvPr id="9895" name="Rectangle 142"/>
          <p:cNvSpPr/>
          <p:nvPr/>
        </p:nvSpPr>
        <p:spPr>
          <a:xfrm>
            <a:off x="5584583" y="2368400"/>
            <a:ext cx="971760" cy="3897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9902" name="Group 185"/>
          <p:cNvGrpSpPr/>
          <p:nvPr/>
        </p:nvGrpSpPr>
        <p:grpSpPr>
          <a:xfrm>
            <a:off x="5698740" y="2384902"/>
            <a:ext cx="774701" cy="394097"/>
            <a:chOff x="0" y="0"/>
            <a:chExt cx="774700" cy="394095"/>
          </a:xfrm>
        </p:grpSpPr>
        <p:grpSp>
          <p:nvGrpSpPr>
            <p:cNvPr id="9898" name="Group 179"/>
            <p:cNvGrpSpPr/>
            <p:nvPr/>
          </p:nvGrpSpPr>
          <p:grpSpPr>
            <a:xfrm>
              <a:off x="0" y="0"/>
              <a:ext cx="280988" cy="394096"/>
              <a:chOff x="0" y="0"/>
              <a:chExt cx="280987" cy="394095"/>
            </a:xfrm>
          </p:grpSpPr>
          <p:sp>
            <p:nvSpPr>
              <p:cNvPr id="9896" name="Rectangle 180"/>
              <p:cNvSpPr/>
              <p:nvPr/>
            </p:nvSpPr>
            <p:spPr>
              <a:xfrm>
                <a:off x="0" y="77985"/>
                <a:ext cx="280988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897" name="Rectangle 181"/>
              <p:cNvSpPr txBox="1"/>
              <p:nvPr/>
            </p:nvSpPr>
            <p:spPr>
              <a:xfrm>
                <a:off x="3051" y="0"/>
                <a:ext cx="274885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</p:grpSp>
        <p:grpSp>
          <p:nvGrpSpPr>
            <p:cNvPr id="9901" name="Group 182"/>
            <p:cNvGrpSpPr/>
            <p:nvPr/>
          </p:nvGrpSpPr>
          <p:grpSpPr>
            <a:xfrm>
              <a:off x="279400" y="55811"/>
              <a:ext cx="495301" cy="288824"/>
              <a:chOff x="0" y="0"/>
              <a:chExt cx="495300" cy="288823"/>
            </a:xfrm>
          </p:grpSpPr>
          <p:sp>
            <p:nvSpPr>
              <p:cNvPr id="9899" name="Rectangle 183"/>
              <p:cNvSpPr/>
              <p:nvPr/>
            </p:nvSpPr>
            <p:spPr>
              <a:xfrm>
                <a:off x="0" y="22174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900" name="Rectangle 184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sp>
        <p:nvSpPr>
          <p:cNvPr id="9903" name="TextBox 143"/>
          <p:cNvSpPr txBox="1"/>
          <p:nvPr/>
        </p:nvSpPr>
        <p:spPr>
          <a:xfrm>
            <a:off x="3508447" y="4339175"/>
            <a:ext cx="5739734" cy="221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5275" indent="-295275">
              <a:lnSpc>
                <a:spcPct val="90000"/>
              </a:lnSpc>
              <a:buClr>
                <a:srgbClr val="0000A3"/>
              </a:buClr>
              <a:buSzPct val="100000"/>
              <a:buChar char="▪"/>
              <a:defRPr sz="2400"/>
            </a:pPr>
            <a:r>
              <a:t>network-layer protocol </a:t>
            </a:r>
            <a:r>
              <a:rPr>
                <a:solidFill>
                  <a:srgbClr val="0000A3"/>
                </a:solidFill>
              </a:rPr>
              <a:t>encapsulates</a:t>
            </a:r>
            <a:r>
              <a:t> transport-layer segment</a:t>
            </a:r>
            <a:r>
              <a:rPr sz="2000"/>
              <a:t>  [H</a:t>
            </a:r>
            <a:r>
              <a:rPr baseline="-25000" sz="2000"/>
              <a:t>t</a:t>
            </a:r>
            <a:r>
              <a:rPr sz="2000"/>
              <a:t> | M] </a:t>
            </a:r>
            <a:r>
              <a:t>with network layer-layer header H</a:t>
            </a:r>
            <a:r>
              <a:rPr baseline="-25000"/>
              <a:t>n </a:t>
            </a:r>
            <a:r>
              <a:t> to create a network-layer </a:t>
            </a:r>
            <a:r>
              <a:rPr>
                <a:solidFill>
                  <a:srgbClr val="C00000"/>
                </a:solidFill>
              </a:rPr>
              <a:t>datagram </a:t>
            </a:r>
            <a:endParaRPr>
              <a:solidFill>
                <a:srgbClr val="C00000"/>
              </a:solidFill>
            </a:endParaRPr>
          </a:p>
          <a:p>
            <a:pPr lvl="1" marL="574675" indent="-231775">
              <a:lnSpc>
                <a:spcPct val="90000"/>
              </a:lnSpc>
              <a:buClr>
                <a:srgbClr val="0000A3"/>
              </a:buClr>
              <a:buSzPct val="100000"/>
              <a:buFont typeface="Arial"/>
              <a:buChar char="•"/>
              <a:defRPr sz="2400"/>
            </a:pPr>
            <a:r>
              <a:t>H</a:t>
            </a:r>
            <a:r>
              <a:rPr baseline="-25000"/>
              <a:t>n </a:t>
            </a:r>
            <a:r>
              <a:t> used by network layer protocol to implement its service</a:t>
            </a:r>
          </a:p>
        </p:txBody>
      </p:sp>
      <p:grpSp>
        <p:nvGrpSpPr>
          <p:cNvPr id="9910" name="Group 211"/>
          <p:cNvGrpSpPr/>
          <p:nvPr/>
        </p:nvGrpSpPr>
        <p:grpSpPr>
          <a:xfrm>
            <a:off x="1357050" y="1421666"/>
            <a:ext cx="1697081" cy="4034754"/>
            <a:chOff x="0" y="0"/>
            <a:chExt cx="1697080" cy="4034752"/>
          </a:xfrm>
        </p:grpSpPr>
        <p:sp>
          <p:nvSpPr>
            <p:cNvPr id="9904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05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9906" name="Straight Connector 116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07" name="Straight Connector 147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08" name="Straight Connector 148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09" name="Straight Connector 149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943" name="Group 950"/>
          <p:cNvGrpSpPr/>
          <p:nvPr/>
        </p:nvGrpSpPr>
        <p:grpSpPr>
          <a:xfrm>
            <a:off x="11107712" y="4961744"/>
            <a:ext cx="374756" cy="833727"/>
            <a:chOff x="0" y="0"/>
            <a:chExt cx="374754" cy="833726"/>
          </a:xfrm>
        </p:grpSpPr>
        <p:sp>
          <p:nvSpPr>
            <p:cNvPr id="9911" name="Freeform 951"/>
            <p:cNvSpPr/>
            <p:nvPr/>
          </p:nvSpPr>
          <p:spPr>
            <a:xfrm>
              <a:off x="296647" y="1391"/>
              <a:ext cx="74426" cy="795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12" name="Rectangle 952"/>
            <p:cNvSpPr/>
            <p:nvPr/>
          </p:nvSpPr>
          <p:spPr>
            <a:xfrm>
              <a:off x="18408" y="-1"/>
              <a:ext cx="275083" cy="795103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13" name="Freeform 953"/>
            <p:cNvSpPr/>
            <p:nvPr/>
          </p:nvSpPr>
          <p:spPr>
            <a:xfrm>
              <a:off x="312060" y="49063"/>
              <a:ext cx="42971" cy="72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14" name="Freeform 954"/>
            <p:cNvSpPr/>
            <p:nvPr/>
          </p:nvSpPr>
          <p:spPr>
            <a:xfrm>
              <a:off x="300855" y="421386"/>
              <a:ext cx="69166" cy="657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15" name="Rectangle 955"/>
            <p:cNvSpPr/>
            <p:nvPr/>
          </p:nvSpPr>
          <p:spPr>
            <a:xfrm>
              <a:off x="18408" y="90819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918" name="Group 956"/>
            <p:cNvGrpSpPr/>
            <p:nvPr/>
          </p:nvGrpSpPr>
          <p:grpSpPr>
            <a:xfrm>
              <a:off x="159947" y="82437"/>
              <a:ext cx="151952" cy="52271"/>
              <a:chOff x="0" y="0"/>
              <a:chExt cx="151951" cy="52269"/>
            </a:xfrm>
          </p:grpSpPr>
          <p:sp>
            <p:nvSpPr>
              <p:cNvPr id="9916" name="AutoShape 957"/>
              <p:cNvSpPr/>
              <p:nvPr/>
            </p:nvSpPr>
            <p:spPr>
              <a:xfrm>
                <a:off x="0" y="0"/>
                <a:ext cx="151952" cy="5227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917" name="AutoShape 958"/>
              <p:cNvSpPr/>
              <p:nvPr/>
            </p:nvSpPr>
            <p:spPr>
              <a:xfrm>
                <a:off x="2529" y="5444"/>
                <a:ext cx="146683" cy="4138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919" name="Rectangle 959"/>
            <p:cNvSpPr/>
            <p:nvPr/>
          </p:nvSpPr>
          <p:spPr>
            <a:xfrm>
              <a:off x="21038" y="206343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922" name="Group 960"/>
            <p:cNvGrpSpPr/>
            <p:nvPr/>
          </p:nvGrpSpPr>
          <p:grpSpPr>
            <a:xfrm>
              <a:off x="159842" y="195258"/>
              <a:ext cx="151953" cy="46629"/>
              <a:chOff x="0" y="0"/>
              <a:chExt cx="151951" cy="46627"/>
            </a:xfrm>
          </p:grpSpPr>
          <p:sp>
            <p:nvSpPr>
              <p:cNvPr id="9920" name="AutoShape 961"/>
              <p:cNvSpPr/>
              <p:nvPr/>
            </p:nvSpPr>
            <p:spPr>
              <a:xfrm>
                <a:off x="0" y="0"/>
                <a:ext cx="151952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921" name="AutoShape 962"/>
              <p:cNvSpPr/>
              <p:nvPr/>
            </p:nvSpPr>
            <p:spPr>
              <a:xfrm>
                <a:off x="2739" y="5702"/>
                <a:ext cx="146684" cy="358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923" name="Rectangle 963"/>
            <p:cNvSpPr/>
            <p:nvPr/>
          </p:nvSpPr>
          <p:spPr>
            <a:xfrm>
              <a:off x="21038" y="321868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24" name="Rectangle 964"/>
            <p:cNvSpPr/>
            <p:nvPr/>
          </p:nvSpPr>
          <p:spPr>
            <a:xfrm>
              <a:off x="23668" y="426606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9927" name="Group 965"/>
            <p:cNvGrpSpPr/>
            <p:nvPr/>
          </p:nvGrpSpPr>
          <p:grpSpPr>
            <a:xfrm>
              <a:off x="157320" y="423667"/>
              <a:ext cx="152003" cy="46873"/>
              <a:chOff x="0" y="0"/>
              <a:chExt cx="152001" cy="46872"/>
            </a:xfrm>
          </p:grpSpPr>
          <p:sp>
            <p:nvSpPr>
              <p:cNvPr id="9925" name="AutoShape 966"/>
              <p:cNvSpPr/>
              <p:nvPr/>
            </p:nvSpPr>
            <p:spPr>
              <a:xfrm>
                <a:off x="0" y="0"/>
                <a:ext cx="152002" cy="4687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926" name="AutoShape 967"/>
              <p:cNvSpPr/>
              <p:nvPr/>
            </p:nvSpPr>
            <p:spPr>
              <a:xfrm>
                <a:off x="2533" y="0"/>
                <a:ext cx="146725" cy="4120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928" name="Freeform 968"/>
            <p:cNvSpPr/>
            <p:nvPr/>
          </p:nvSpPr>
          <p:spPr>
            <a:xfrm>
              <a:off x="301907" y="321868"/>
              <a:ext cx="69166" cy="65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931" name="Group 969"/>
            <p:cNvGrpSpPr/>
            <p:nvPr/>
          </p:nvGrpSpPr>
          <p:grpSpPr>
            <a:xfrm>
              <a:off x="157317" y="313517"/>
              <a:ext cx="154536" cy="46628"/>
              <a:chOff x="0" y="0"/>
              <a:chExt cx="154535" cy="46627"/>
            </a:xfrm>
          </p:grpSpPr>
          <p:sp>
            <p:nvSpPr>
              <p:cNvPr id="9929" name="AutoShape 970"/>
              <p:cNvSpPr/>
              <p:nvPr/>
            </p:nvSpPr>
            <p:spPr>
              <a:xfrm>
                <a:off x="0" y="0"/>
                <a:ext cx="154536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930" name="AutoShape 971"/>
              <p:cNvSpPr/>
              <p:nvPr/>
            </p:nvSpPr>
            <p:spPr>
              <a:xfrm>
                <a:off x="2533" y="5567"/>
                <a:ext cx="152003" cy="358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9932" name="Rectangle 972"/>
            <p:cNvSpPr/>
            <p:nvPr/>
          </p:nvSpPr>
          <p:spPr>
            <a:xfrm>
              <a:off x="290861" y="-1"/>
              <a:ext cx="18409" cy="795103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33" name="Freeform 973"/>
            <p:cNvSpPr/>
            <p:nvPr/>
          </p:nvSpPr>
          <p:spPr>
            <a:xfrm>
              <a:off x="308218" y="201124"/>
              <a:ext cx="62329" cy="74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34" name="Freeform 974"/>
            <p:cNvSpPr/>
            <p:nvPr/>
          </p:nvSpPr>
          <p:spPr>
            <a:xfrm>
              <a:off x="309007" y="87339"/>
              <a:ext cx="64170" cy="83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35" name="Oval 975"/>
            <p:cNvSpPr/>
            <p:nvPr/>
          </p:nvSpPr>
          <p:spPr>
            <a:xfrm>
              <a:off x="361604" y="759261"/>
              <a:ext cx="13151" cy="3305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36" name="Freeform 976"/>
            <p:cNvSpPr/>
            <p:nvPr/>
          </p:nvSpPr>
          <p:spPr>
            <a:xfrm>
              <a:off x="305588" y="760305"/>
              <a:ext cx="64433" cy="69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37" name="AutoShape 977"/>
            <p:cNvSpPr/>
            <p:nvPr/>
          </p:nvSpPr>
          <p:spPr>
            <a:xfrm>
              <a:off x="-1" y="781531"/>
              <a:ext cx="314532" cy="5219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38" name="AutoShape 978"/>
            <p:cNvSpPr/>
            <p:nvPr/>
          </p:nvSpPr>
          <p:spPr>
            <a:xfrm>
              <a:off x="18408" y="795101"/>
              <a:ext cx="280344" cy="2749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39" name="Oval 979"/>
            <p:cNvSpPr/>
            <p:nvPr/>
          </p:nvSpPr>
          <p:spPr>
            <a:xfrm>
              <a:off x="44444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40" name="Oval 980"/>
            <p:cNvSpPr/>
            <p:nvPr/>
          </p:nvSpPr>
          <p:spPr>
            <a:xfrm>
              <a:off x="91781" y="679577"/>
              <a:ext cx="41815" cy="49413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41" name="Oval 981"/>
            <p:cNvSpPr/>
            <p:nvPr/>
          </p:nvSpPr>
          <p:spPr>
            <a:xfrm>
              <a:off x="136226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42" name="Rectangle 982"/>
            <p:cNvSpPr/>
            <p:nvPr/>
          </p:nvSpPr>
          <p:spPr>
            <a:xfrm>
              <a:off x="243787" y="489935"/>
              <a:ext cx="21039" cy="264107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9944" name="Text Box 8"/>
          <p:cNvSpPr txBox="1"/>
          <p:nvPr/>
        </p:nvSpPr>
        <p:spPr>
          <a:xfrm>
            <a:off x="10262453" y="5716780"/>
            <a:ext cx="1578433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destination</a:t>
            </a:r>
          </a:p>
        </p:txBody>
      </p:sp>
      <p:grpSp>
        <p:nvGrpSpPr>
          <p:cNvPr id="9950" name="Group 206"/>
          <p:cNvGrpSpPr/>
          <p:nvPr/>
        </p:nvGrpSpPr>
        <p:grpSpPr>
          <a:xfrm>
            <a:off x="3254290" y="1489592"/>
            <a:ext cx="5651292" cy="389744"/>
            <a:chOff x="0" y="0"/>
            <a:chExt cx="5651291" cy="389743"/>
          </a:xfrm>
        </p:grpSpPr>
        <p:sp>
          <p:nvSpPr>
            <p:cNvPr id="9945" name="Straight Arrow Connector 7"/>
            <p:cNvSpPr/>
            <p:nvPr/>
          </p:nvSpPr>
          <p:spPr>
            <a:xfrm>
              <a:off x="0" y="194867"/>
              <a:ext cx="5651292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46" name="Rectangle 111"/>
            <p:cNvSpPr/>
            <p:nvPr/>
          </p:nvSpPr>
          <p:spPr>
            <a:xfrm>
              <a:off x="2608284" y="0"/>
              <a:ext cx="674559" cy="3897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9949" name="Group 175"/>
            <p:cNvGrpSpPr/>
            <p:nvPr/>
          </p:nvGrpSpPr>
          <p:grpSpPr>
            <a:xfrm>
              <a:off x="2741851" y="65132"/>
              <a:ext cx="495301" cy="288825"/>
              <a:chOff x="0" y="0"/>
              <a:chExt cx="495300" cy="288823"/>
            </a:xfrm>
          </p:grpSpPr>
          <p:sp>
            <p:nvSpPr>
              <p:cNvPr id="9947" name="Rectangle 176"/>
              <p:cNvSpPr/>
              <p:nvPr/>
            </p:nvSpPr>
            <p:spPr>
              <a:xfrm>
                <a:off x="0" y="18999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948" name="Rectangle 177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grpSp>
        <p:nvGrpSpPr>
          <p:cNvPr id="9957" name="Group 212"/>
          <p:cNvGrpSpPr/>
          <p:nvPr/>
        </p:nvGrpSpPr>
        <p:grpSpPr>
          <a:xfrm>
            <a:off x="9244375" y="1413547"/>
            <a:ext cx="1697082" cy="4034754"/>
            <a:chOff x="0" y="0"/>
            <a:chExt cx="1697080" cy="4034752"/>
          </a:xfrm>
        </p:grpSpPr>
        <p:sp>
          <p:nvSpPr>
            <p:cNvPr id="9951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52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9953" name="Straight Connector 215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54" name="Straight Connector 216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55" name="Straight Connector 217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56" name="Straight Connector 218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969" name="Group 2"/>
          <p:cNvGrpSpPr/>
          <p:nvPr/>
        </p:nvGrpSpPr>
        <p:grpSpPr>
          <a:xfrm>
            <a:off x="3211642" y="3309609"/>
            <a:ext cx="5836762" cy="972245"/>
            <a:chOff x="0" y="0"/>
            <a:chExt cx="5836761" cy="972243"/>
          </a:xfrm>
        </p:grpSpPr>
        <p:sp>
          <p:nvSpPr>
            <p:cNvPr id="9958" name="Straight Arrow Connector 77"/>
            <p:cNvSpPr/>
            <p:nvPr/>
          </p:nvSpPr>
          <p:spPr>
            <a:xfrm>
              <a:off x="0" y="233067"/>
              <a:ext cx="5651292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59" name="Rectangle 79"/>
            <p:cNvSpPr/>
            <p:nvPr/>
          </p:nvSpPr>
          <p:spPr>
            <a:xfrm>
              <a:off x="2144529" y="9889"/>
              <a:ext cx="1210366" cy="38974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9967" name="Group 5"/>
            <p:cNvGrpSpPr/>
            <p:nvPr/>
          </p:nvGrpSpPr>
          <p:grpSpPr>
            <a:xfrm>
              <a:off x="2196764" y="0"/>
              <a:ext cx="1068594" cy="396353"/>
              <a:chOff x="0" y="0"/>
              <a:chExt cx="1068593" cy="396352"/>
            </a:xfrm>
          </p:grpSpPr>
          <p:grpSp>
            <p:nvGrpSpPr>
              <p:cNvPr id="9962" name="Group 182"/>
              <p:cNvGrpSpPr/>
              <p:nvPr/>
            </p:nvGrpSpPr>
            <p:grpSpPr>
              <a:xfrm>
                <a:off x="11317" y="63069"/>
                <a:ext cx="1057277" cy="288824"/>
                <a:chOff x="0" y="0"/>
                <a:chExt cx="1057275" cy="288823"/>
              </a:xfrm>
            </p:grpSpPr>
            <p:sp>
              <p:nvSpPr>
                <p:cNvPr id="9960" name="Rectangle 183"/>
                <p:cNvSpPr/>
                <p:nvPr/>
              </p:nvSpPr>
              <p:spPr>
                <a:xfrm>
                  <a:off x="0" y="22174"/>
                  <a:ext cx="1057276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9961" name="Rectangle 184"/>
                <p:cNvSpPr txBox="1"/>
                <p:nvPr/>
              </p:nvSpPr>
              <p:spPr>
                <a:xfrm>
                  <a:off x="704932" y="0"/>
                  <a:ext cx="252249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sp>
            <p:nvSpPr>
              <p:cNvPr id="9963" name="Rectangle 181"/>
              <p:cNvSpPr txBox="1"/>
              <p:nvPr/>
            </p:nvSpPr>
            <p:spPr>
              <a:xfrm>
                <a:off x="283512" y="2256"/>
                <a:ext cx="274884" cy="39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  <p:sp>
            <p:nvSpPr>
              <p:cNvPr id="9964" name="Rectangle 181"/>
              <p:cNvSpPr txBox="1"/>
              <p:nvPr/>
            </p:nvSpPr>
            <p:spPr>
              <a:xfrm>
                <a:off x="0" y="0"/>
                <a:ext cx="317300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n</a:t>
                </a:r>
              </a:p>
            </p:txBody>
          </p:sp>
          <p:sp>
            <p:nvSpPr>
              <p:cNvPr id="9965" name="Straight Connector 3"/>
              <p:cNvSpPr/>
              <p:nvPr/>
            </p:nvSpPr>
            <p:spPr>
              <a:xfrm flipH="1">
                <a:off x="577659" y="85243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966" name="Straight Connector 90"/>
              <p:cNvSpPr/>
              <p:nvPr/>
            </p:nvSpPr>
            <p:spPr>
              <a:xfrm flipH="1">
                <a:off x="297160" y="83531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9968" name="TextBox 78"/>
            <p:cNvSpPr txBox="1"/>
            <p:nvPr/>
          </p:nvSpPr>
          <p:spPr>
            <a:xfrm>
              <a:off x="193567" y="339869"/>
              <a:ext cx="5643195" cy="632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85000"/>
                </a:lnSpc>
                <a:defRPr>
                  <a:solidFill>
                    <a:srgbClr val="C00000"/>
                  </a:solidFill>
                </a:defRPr>
              </a:pPr>
              <a:r>
                <a:t>Network-layer </a:t>
              </a:r>
              <a:r>
                <a:rPr>
                  <a:solidFill>
                    <a:srgbClr val="000000"/>
                  </a:solidFill>
                </a:rPr>
                <a:t>protocol transfers transport-layer segment [H</a:t>
              </a:r>
              <a:r>
                <a:rPr baseline="-25000">
                  <a:solidFill>
                    <a:srgbClr val="000000"/>
                  </a:solidFill>
                </a:rPr>
                <a:t>t</a:t>
              </a:r>
              <a:r>
                <a:rPr>
                  <a:solidFill>
                    <a:srgbClr val="000000"/>
                  </a:solidFill>
                </a:rPr>
                <a:t> | M] from one </a:t>
              </a:r>
              <a:r>
                <a:rPr i="1">
                  <a:solidFill>
                    <a:srgbClr val="000000"/>
                  </a:solidFill>
                </a:rPr>
                <a:t>host</a:t>
              </a:r>
              <a:r>
                <a:rPr>
                  <a:solidFill>
                    <a:srgbClr val="000000"/>
                  </a:solidFill>
                </a:rPr>
                <a:t> to another, using link layer services</a:t>
              </a:r>
            </a:p>
          </p:txBody>
        </p:sp>
      </p:grpSp>
      <p:sp>
        <p:nvSpPr>
          <p:cNvPr id="9970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6" dur="500" fill="hold"/>
                                        <p:tgtEl>
                                          <p:spTgt spid="9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894" grpId="1"/>
      <p:bldP build="whole" bldLvl="1" animBg="1" rev="0" advAuto="0" spid="9969" grpId="2"/>
      <p:bldP build="whole" bldLvl="1" animBg="1" rev="0" advAuto="0" spid="9903" grpId="3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2" name="Freeform 10"/>
          <p:cNvSpPr/>
          <p:nvPr/>
        </p:nvSpPr>
        <p:spPr>
          <a:xfrm flipH="1" rot="10800000">
            <a:off x="10916607" y="157703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73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Services, Layering and Encapsulation</a:t>
            </a:r>
          </a:p>
        </p:txBody>
      </p:sp>
      <p:sp>
        <p:nvSpPr>
          <p:cNvPr id="9974" name="Text Box 8"/>
          <p:cNvSpPr txBox="1"/>
          <p:nvPr/>
        </p:nvSpPr>
        <p:spPr>
          <a:xfrm>
            <a:off x="495425" y="5724388"/>
            <a:ext cx="1018987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</a:t>
            </a:r>
          </a:p>
        </p:txBody>
      </p:sp>
      <p:sp>
        <p:nvSpPr>
          <p:cNvPr id="9975" name="Freeform 10"/>
          <p:cNvSpPr/>
          <p:nvPr/>
        </p:nvSpPr>
        <p:spPr>
          <a:xfrm rot="10800000">
            <a:off x="975629" y="155954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978" name="Group 190"/>
          <p:cNvGrpSpPr/>
          <p:nvPr/>
        </p:nvGrpSpPr>
        <p:grpSpPr>
          <a:xfrm>
            <a:off x="635446" y="5073984"/>
            <a:ext cx="803275" cy="771526"/>
            <a:chOff x="0" y="0"/>
            <a:chExt cx="803274" cy="771525"/>
          </a:xfrm>
        </p:grpSpPr>
        <p:pic>
          <p:nvPicPr>
            <p:cNvPr id="9976" name="Picture 191" descr="Picture 19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03275" cy="771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977" name="Freeform 192"/>
            <p:cNvSpPr/>
            <p:nvPr/>
          </p:nvSpPr>
          <p:spPr>
            <a:xfrm>
              <a:off x="70419" y="74010"/>
              <a:ext cx="390584" cy="35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9979" name="Straight Arrow Connector 126"/>
          <p:cNvSpPr/>
          <p:nvPr/>
        </p:nvSpPr>
        <p:spPr>
          <a:xfrm>
            <a:off x="3211641" y="2610787"/>
            <a:ext cx="5651293" cy="1"/>
          </a:xfrm>
          <a:prstGeom prst="line">
            <a:avLst/>
          </a:prstGeom>
          <a:ln w="190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980" name="Rectangle 142"/>
          <p:cNvSpPr/>
          <p:nvPr/>
        </p:nvSpPr>
        <p:spPr>
          <a:xfrm>
            <a:off x="5584583" y="2368400"/>
            <a:ext cx="971760" cy="3897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9987" name="Group 185"/>
          <p:cNvGrpSpPr/>
          <p:nvPr/>
        </p:nvGrpSpPr>
        <p:grpSpPr>
          <a:xfrm>
            <a:off x="5698740" y="2384902"/>
            <a:ext cx="774701" cy="394097"/>
            <a:chOff x="0" y="0"/>
            <a:chExt cx="774700" cy="394095"/>
          </a:xfrm>
        </p:grpSpPr>
        <p:grpSp>
          <p:nvGrpSpPr>
            <p:cNvPr id="9983" name="Group 179"/>
            <p:cNvGrpSpPr/>
            <p:nvPr/>
          </p:nvGrpSpPr>
          <p:grpSpPr>
            <a:xfrm>
              <a:off x="0" y="0"/>
              <a:ext cx="280988" cy="394096"/>
              <a:chOff x="0" y="0"/>
              <a:chExt cx="280987" cy="394095"/>
            </a:xfrm>
          </p:grpSpPr>
          <p:sp>
            <p:nvSpPr>
              <p:cNvPr id="9981" name="Rectangle 180"/>
              <p:cNvSpPr/>
              <p:nvPr/>
            </p:nvSpPr>
            <p:spPr>
              <a:xfrm>
                <a:off x="0" y="77985"/>
                <a:ext cx="280988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982" name="Rectangle 181"/>
              <p:cNvSpPr txBox="1"/>
              <p:nvPr/>
            </p:nvSpPr>
            <p:spPr>
              <a:xfrm>
                <a:off x="3051" y="0"/>
                <a:ext cx="274885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</p:grpSp>
        <p:grpSp>
          <p:nvGrpSpPr>
            <p:cNvPr id="9986" name="Group 182"/>
            <p:cNvGrpSpPr/>
            <p:nvPr/>
          </p:nvGrpSpPr>
          <p:grpSpPr>
            <a:xfrm>
              <a:off x="279400" y="55811"/>
              <a:ext cx="495301" cy="288824"/>
              <a:chOff x="0" y="0"/>
              <a:chExt cx="495300" cy="288823"/>
            </a:xfrm>
          </p:grpSpPr>
          <p:sp>
            <p:nvSpPr>
              <p:cNvPr id="9984" name="Rectangle 183"/>
              <p:cNvSpPr/>
              <p:nvPr/>
            </p:nvSpPr>
            <p:spPr>
              <a:xfrm>
                <a:off x="0" y="22174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9985" name="Rectangle 184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sp>
        <p:nvSpPr>
          <p:cNvPr id="9988" name="TextBox 143"/>
          <p:cNvSpPr txBox="1"/>
          <p:nvPr/>
        </p:nvSpPr>
        <p:spPr>
          <a:xfrm>
            <a:off x="3417323" y="5096822"/>
            <a:ext cx="5739735" cy="1158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5275" indent="-295275">
              <a:lnSpc>
                <a:spcPct val="90000"/>
              </a:lnSpc>
              <a:buClr>
                <a:srgbClr val="0000A3"/>
              </a:buClr>
              <a:buSzPct val="100000"/>
              <a:buChar char="▪"/>
              <a:defRPr sz="2400"/>
            </a:pPr>
            <a:r>
              <a:t>link-layer protocol </a:t>
            </a:r>
            <a:r>
              <a:rPr>
                <a:solidFill>
                  <a:srgbClr val="0000A3"/>
                </a:solidFill>
              </a:rPr>
              <a:t>encapsulates</a:t>
            </a:r>
            <a:r>
              <a:t> network datagram </a:t>
            </a:r>
            <a:r>
              <a:rPr sz="2000"/>
              <a:t>[H</a:t>
            </a:r>
            <a:r>
              <a:rPr baseline="-25000" sz="2000"/>
              <a:t>n</a:t>
            </a:r>
            <a:r>
              <a:rPr sz="2000"/>
              <a:t>| [H</a:t>
            </a:r>
            <a:r>
              <a:rPr baseline="-25000" sz="2000"/>
              <a:t>t</a:t>
            </a:r>
            <a:r>
              <a:rPr sz="2000"/>
              <a:t> |M], </a:t>
            </a:r>
            <a:r>
              <a:t>with link-layer header H</a:t>
            </a:r>
            <a:r>
              <a:rPr baseline="-25000"/>
              <a:t>l </a:t>
            </a:r>
            <a:r>
              <a:t> to create a link-layer </a:t>
            </a:r>
            <a:r>
              <a:rPr>
                <a:solidFill>
                  <a:srgbClr val="C00000"/>
                </a:solidFill>
              </a:rPr>
              <a:t>frame </a:t>
            </a:r>
          </a:p>
        </p:txBody>
      </p:sp>
      <p:grpSp>
        <p:nvGrpSpPr>
          <p:cNvPr id="9995" name="Group 211"/>
          <p:cNvGrpSpPr/>
          <p:nvPr/>
        </p:nvGrpSpPr>
        <p:grpSpPr>
          <a:xfrm>
            <a:off x="1357050" y="1421666"/>
            <a:ext cx="1697081" cy="4034754"/>
            <a:chOff x="0" y="0"/>
            <a:chExt cx="1697080" cy="4034752"/>
          </a:xfrm>
        </p:grpSpPr>
        <p:sp>
          <p:nvSpPr>
            <p:cNvPr id="9989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90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9991" name="Straight Connector 116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92" name="Straight Connector 147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93" name="Straight Connector 148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94" name="Straight Connector 149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028" name="Group 950"/>
          <p:cNvGrpSpPr/>
          <p:nvPr/>
        </p:nvGrpSpPr>
        <p:grpSpPr>
          <a:xfrm>
            <a:off x="11107712" y="4961744"/>
            <a:ext cx="374756" cy="833727"/>
            <a:chOff x="0" y="0"/>
            <a:chExt cx="374754" cy="833726"/>
          </a:xfrm>
        </p:grpSpPr>
        <p:sp>
          <p:nvSpPr>
            <p:cNvPr id="9996" name="Freeform 951"/>
            <p:cNvSpPr/>
            <p:nvPr/>
          </p:nvSpPr>
          <p:spPr>
            <a:xfrm>
              <a:off x="296647" y="1391"/>
              <a:ext cx="74426" cy="795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97" name="Rectangle 952"/>
            <p:cNvSpPr/>
            <p:nvPr/>
          </p:nvSpPr>
          <p:spPr>
            <a:xfrm>
              <a:off x="18408" y="-1"/>
              <a:ext cx="275083" cy="795103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98" name="Freeform 953"/>
            <p:cNvSpPr/>
            <p:nvPr/>
          </p:nvSpPr>
          <p:spPr>
            <a:xfrm>
              <a:off x="312060" y="49063"/>
              <a:ext cx="42971" cy="72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99" name="Freeform 954"/>
            <p:cNvSpPr/>
            <p:nvPr/>
          </p:nvSpPr>
          <p:spPr>
            <a:xfrm>
              <a:off x="300855" y="421386"/>
              <a:ext cx="69166" cy="657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00" name="Rectangle 955"/>
            <p:cNvSpPr/>
            <p:nvPr/>
          </p:nvSpPr>
          <p:spPr>
            <a:xfrm>
              <a:off x="18408" y="90819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003" name="Group 956"/>
            <p:cNvGrpSpPr/>
            <p:nvPr/>
          </p:nvGrpSpPr>
          <p:grpSpPr>
            <a:xfrm>
              <a:off x="159947" y="82437"/>
              <a:ext cx="151952" cy="52271"/>
              <a:chOff x="0" y="0"/>
              <a:chExt cx="151951" cy="52269"/>
            </a:xfrm>
          </p:grpSpPr>
          <p:sp>
            <p:nvSpPr>
              <p:cNvPr id="10001" name="AutoShape 957"/>
              <p:cNvSpPr/>
              <p:nvPr/>
            </p:nvSpPr>
            <p:spPr>
              <a:xfrm>
                <a:off x="0" y="0"/>
                <a:ext cx="151952" cy="5227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002" name="AutoShape 958"/>
              <p:cNvSpPr/>
              <p:nvPr/>
            </p:nvSpPr>
            <p:spPr>
              <a:xfrm>
                <a:off x="2529" y="5444"/>
                <a:ext cx="146683" cy="4138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004" name="Rectangle 959"/>
            <p:cNvSpPr/>
            <p:nvPr/>
          </p:nvSpPr>
          <p:spPr>
            <a:xfrm>
              <a:off x="21038" y="206343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007" name="Group 960"/>
            <p:cNvGrpSpPr/>
            <p:nvPr/>
          </p:nvGrpSpPr>
          <p:grpSpPr>
            <a:xfrm>
              <a:off x="159842" y="195258"/>
              <a:ext cx="151953" cy="46629"/>
              <a:chOff x="0" y="0"/>
              <a:chExt cx="151951" cy="46627"/>
            </a:xfrm>
          </p:grpSpPr>
          <p:sp>
            <p:nvSpPr>
              <p:cNvPr id="10005" name="AutoShape 961"/>
              <p:cNvSpPr/>
              <p:nvPr/>
            </p:nvSpPr>
            <p:spPr>
              <a:xfrm>
                <a:off x="0" y="0"/>
                <a:ext cx="151952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006" name="AutoShape 962"/>
              <p:cNvSpPr/>
              <p:nvPr/>
            </p:nvSpPr>
            <p:spPr>
              <a:xfrm>
                <a:off x="2739" y="5702"/>
                <a:ext cx="146684" cy="358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008" name="Rectangle 963"/>
            <p:cNvSpPr/>
            <p:nvPr/>
          </p:nvSpPr>
          <p:spPr>
            <a:xfrm>
              <a:off x="21038" y="321868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09" name="Rectangle 964"/>
            <p:cNvSpPr/>
            <p:nvPr/>
          </p:nvSpPr>
          <p:spPr>
            <a:xfrm>
              <a:off x="23668" y="426606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012" name="Group 965"/>
            <p:cNvGrpSpPr/>
            <p:nvPr/>
          </p:nvGrpSpPr>
          <p:grpSpPr>
            <a:xfrm>
              <a:off x="157320" y="423667"/>
              <a:ext cx="152003" cy="46873"/>
              <a:chOff x="0" y="0"/>
              <a:chExt cx="152001" cy="46872"/>
            </a:xfrm>
          </p:grpSpPr>
          <p:sp>
            <p:nvSpPr>
              <p:cNvPr id="10010" name="AutoShape 966"/>
              <p:cNvSpPr/>
              <p:nvPr/>
            </p:nvSpPr>
            <p:spPr>
              <a:xfrm>
                <a:off x="0" y="0"/>
                <a:ext cx="152002" cy="4687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011" name="AutoShape 967"/>
              <p:cNvSpPr/>
              <p:nvPr/>
            </p:nvSpPr>
            <p:spPr>
              <a:xfrm>
                <a:off x="2533" y="0"/>
                <a:ext cx="146725" cy="4120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013" name="Freeform 968"/>
            <p:cNvSpPr/>
            <p:nvPr/>
          </p:nvSpPr>
          <p:spPr>
            <a:xfrm>
              <a:off x="301907" y="321868"/>
              <a:ext cx="69166" cy="65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016" name="Group 969"/>
            <p:cNvGrpSpPr/>
            <p:nvPr/>
          </p:nvGrpSpPr>
          <p:grpSpPr>
            <a:xfrm>
              <a:off x="157317" y="313517"/>
              <a:ext cx="154536" cy="46628"/>
              <a:chOff x="0" y="0"/>
              <a:chExt cx="154535" cy="46627"/>
            </a:xfrm>
          </p:grpSpPr>
          <p:sp>
            <p:nvSpPr>
              <p:cNvPr id="10014" name="AutoShape 970"/>
              <p:cNvSpPr/>
              <p:nvPr/>
            </p:nvSpPr>
            <p:spPr>
              <a:xfrm>
                <a:off x="0" y="0"/>
                <a:ext cx="154536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015" name="AutoShape 971"/>
              <p:cNvSpPr/>
              <p:nvPr/>
            </p:nvSpPr>
            <p:spPr>
              <a:xfrm>
                <a:off x="2533" y="5567"/>
                <a:ext cx="152003" cy="358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017" name="Rectangle 972"/>
            <p:cNvSpPr/>
            <p:nvPr/>
          </p:nvSpPr>
          <p:spPr>
            <a:xfrm>
              <a:off x="290861" y="-1"/>
              <a:ext cx="18409" cy="795103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18" name="Freeform 973"/>
            <p:cNvSpPr/>
            <p:nvPr/>
          </p:nvSpPr>
          <p:spPr>
            <a:xfrm>
              <a:off x="308218" y="201124"/>
              <a:ext cx="62329" cy="74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19" name="Freeform 974"/>
            <p:cNvSpPr/>
            <p:nvPr/>
          </p:nvSpPr>
          <p:spPr>
            <a:xfrm>
              <a:off x="309007" y="87339"/>
              <a:ext cx="64170" cy="83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20" name="Oval 975"/>
            <p:cNvSpPr/>
            <p:nvPr/>
          </p:nvSpPr>
          <p:spPr>
            <a:xfrm>
              <a:off x="361604" y="759261"/>
              <a:ext cx="13151" cy="3305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21" name="Freeform 976"/>
            <p:cNvSpPr/>
            <p:nvPr/>
          </p:nvSpPr>
          <p:spPr>
            <a:xfrm>
              <a:off x="305588" y="760305"/>
              <a:ext cx="64433" cy="69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22" name="AutoShape 977"/>
            <p:cNvSpPr/>
            <p:nvPr/>
          </p:nvSpPr>
          <p:spPr>
            <a:xfrm>
              <a:off x="-1" y="781531"/>
              <a:ext cx="314532" cy="5219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23" name="AutoShape 978"/>
            <p:cNvSpPr/>
            <p:nvPr/>
          </p:nvSpPr>
          <p:spPr>
            <a:xfrm>
              <a:off x="18408" y="795101"/>
              <a:ext cx="280344" cy="2749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24" name="Oval 979"/>
            <p:cNvSpPr/>
            <p:nvPr/>
          </p:nvSpPr>
          <p:spPr>
            <a:xfrm>
              <a:off x="44444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25" name="Oval 980"/>
            <p:cNvSpPr/>
            <p:nvPr/>
          </p:nvSpPr>
          <p:spPr>
            <a:xfrm>
              <a:off x="91781" y="679577"/>
              <a:ext cx="41815" cy="49413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26" name="Oval 981"/>
            <p:cNvSpPr/>
            <p:nvPr/>
          </p:nvSpPr>
          <p:spPr>
            <a:xfrm>
              <a:off x="136226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27" name="Rectangle 982"/>
            <p:cNvSpPr/>
            <p:nvPr/>
          </p:nvSpPr>
          <p:spPr>
            <a:xfrm>
              <a:off x="243787" y="489935"/>
              <a:ext cx="21039" cy="264107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10029" name="Text Box 8"/>
          <p:cNvSpPr txBox="1"/>
          <p:nvPr/>
        </p:nvSpPr>
        <p:spPr>
          <a:xfrm>
            <a:off x="10262453" y="5716780"/>
            <a:ext cx="1578433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destination</a:t>
            </a:r>
          </a:p>
        </p:txBody>
      </p:sp>
      <p:grpSp>
        <p:nvGrpSpPr>
          <p:cNvPr id="10035" name="Group 206"/>
          <p:cNvGrpSpPr/>
          <p:nvPr/>
        </p:nvGrpSpPr>
        <p:grpSpPr>
          <a:xfrm>
            <a:off x="3254290" y="1489592"/>
            <a:ext cx="5651292" cy="389744"/>
            <a:chOff x="0" y="0"/>
            <a:chExt cx="5651291" cy="389743"/>
          </a:xfrm>
        </p:grpSpPr>
        <p:sp>
          <p:nvSpPr>
            <p:cNvPr id="10030" name="Straight Arrow Connector 7"/>
            <p:cNvSpPr/>
            <p:nvPr/>
          </p:nvSpPr>
          <p:spPr>
            <a:xfrm>
              <a:off x="0" y="194867"/>
              <a:ext cx="5651292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31" name="Rectangle 111"/>
            <p:cNvSpPr/>
            <p:nvPr/>
          </p:nvSpPr>
          <p:spPr>
            <a:xfrm>
              <a:off x="2608284" y="0"/>
              <a:ext cx="674559" cy="3897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10034" name="Group 175"/>
            <p:cNvGrpSpPr/>
            <p:nvPr/>
          </p:nvGrpSpPr>
          <p:grpSpPr>
            <a:xfrm>
              <a:off x="2741851" y="65132"/>
              <a:ext cx="495301" cy="288825"/>
              <a:chOff x="0" y="0"/>
              <a:chExt cx="495300" cy="288823"/>
            </a:xfrm>
          </p:grpSpPr>
          <p:sp>
            <p:nvSpPr>
              <p:cNvPr id="10032" name="Rectangle 176"/>
              <p:cNvSpPr/>
              <p:nvPr/>
            </p:nvSpPr>
            <p:spPr>
              <a:xfrm>
                <a:off x="0" y="18999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033" name="Rectangle 177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grpSp>
        <p:nvGrpSpPr>
          <p:cNvPr id="10042" name="Group 212"/>
          <p:cNvGrpSpPr/>
          <p:nvPr/>
        </p:nvGrpSpPr>
        <p:grpSpPr>
          <a:xfrm>
            <a:off x="9244375" y="1413547"/>
            <a:ext cx="1697082" cy="4034754"/>
            <a:chOff x="0" y="0"/>
            <a:chExt cx="1697080" cy="4034752"/>
          </a:xfrm>
        </p:grpSpPr>
        <p:sp>
          <p:nvSpPr>
            <p:cNvPr id="10036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37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10038" name="Straight Connector 215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39" name="Straight Connector 216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40" name="Straight Connector 217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41" name="Straight Connector 218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043" name="Straight Arrow Connector 77"/>
          <p:cNvSpPr/>
          <p:nvPr/>
        </p:nvSpPr>
        <p:spPr>
          <a:xfrm>
            <a:off x="3211641" y="3542677"/>
            <a:ext cx="5651293" cy="1"/>
          </a:xfrm>
          <a:prstGeom prst="line">
            <a:avLst/>
          </a:prstGeom>
          <a:ln w="190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044" name="Rectangle 79"/>
          <p:cNvSpPr/>
          <p:nvPr/>
        </p:nvSpPr>
        <p:spPr>
          <a:xfrm>
            <a:off x="5356171" y="3319498"/>
            <a:ext cx="1210366" cy="3897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052" name="Group 5"/>
          <p:cNvGrpSpPr/>
          <p:nvPr/>
        </p:nvGrpSpPr>
        <p:grpSpPr>
          <a:xfrm>
            <a:off x="5408407" y="3309609"/>
            <a:ext cx="1068594" cy="396353"/>
            <a:chOff x="0" y="0"/>
            <a:chExt cx="1068593" cy="396352"/>
          </a:xfrm>
        </p:grpSpPr>
        <p:grpSp>
          <p:nvGrpSpPr>
            <p:cNvPr id="10047" name="Group 182"/>
            <p:cNvGrpSpPr/>
            <p:nvPr/>
          </p:nvGrpSpPr>
          <p:grpSpPr>
            <a:xfrm>
              <a:off x="11317" y="63069"/>
              <a:ext cx="1057277" cy="288824"/>
              <a:chOff x="0" y="0"/>
              <a:chExt cx="1057275" cy="288823"/>
            </a:xfrm>
          </p:grpSpPr>
          <p:sp>
            <p:nvSpPr>
              <p:cNvPr id="10045" name="Rectangle 183"/>
              <p:cNvSpPr/>
              <p:nvPr/>
            </p:nvSpPr>
            <p:spPr>
              <a:xfrm>
                <a:off x="0" y="22174"/>
                <a:ext cx="1057276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046" name="Rectangle 184"/>
              <p:cNvSpPr txBox="1"/>
              <p:nvPr/>
            </p:nvSpPr>
            <p:spPr>
              <a:xfrm>
                <a:off x="704932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sp>
          <p:nvSpPr>
            <p:cNvPr id="10048" name="Rectangle 181"/>
            <p:cNvSpPr txBox="1"/>
            <p:nvPr/>
          </p:nvSpPr>
          <p:spPr>
            <a:xfrm>
              <a:off x="283512" y="2256"/>
              <a:ext cx="274884" cy="3940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049" name="Rectangle 181"/>
            <p:cNvSpPr txBox="1"/>
            <p:nvPr/>
          </p:nvSpPr>
          <p:spPr>
            <a:xfrm>
              <a:off x="0" y="0"/>
              <a:ext cx="3173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050" name="Straight Connector 3"/>
            <p:cNvSpPr/>
            <p:nvPr/>
          </p:nvSpPr>
          <p:spPr>
            <a:xfrm flipH="1">
              <a:off x="577659" y="85243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51" name="Straight Connector 90"/>
            <p:cNvSpPr/>
            <p:nvPr/>
          </p:nvSpPr>
          <p:spPr>
            <a:xfrm flipH="1">
              <a:off x="297160" y="83531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053" name="TextBox 101"/>
          <p:cNvSpPr txBox="1"/>
          <p:nvPr/>
        </p:nvSpPr>
        <p:spPr>
          <a:xfrm>
            <a:off x="3420293" y="4483522"/>
            <a:ext cx="5529429" cy="625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85000"/>
              </a:lnSpc>
              <a:defRPr>
                <a:solidFill>
                  <a:srgbClr val="C00000"/>
                </a:solidFill>
              </a:defRPr>
            </a:pPr>
            <a:r>
              <a:t>Link-layer </a:t>
            </a:r>
            <a:r>
              <a:rPr>
                <a:solidFill>
                  <a:srgbClr val="000000"/>
                </a:solidFill>
              </a:rPr>
              <a:t>protocol transfers datagram [H</a:t>
            </a:r>
            <a:r>
              <a:rPr baseline="-25000">
                <a:solidFill>
                  <a:srgbClr val="000000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| [H</a:t>
            </a:r>
            <a:r>
              <a:rPr baseline="-25000">
                <a:solidFill>
                  <a:srgbClr val="000000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 |M] from </a:t>
            </a:r>
            <a:r>
              <a:rPr i="1">
                <a:solidFill>
                  <a:srgbClr val="000000"/>
                </a:solidFill>
              </a:rPr>
              <a:t>host </a:t>
            </a:r>
            <a:r>
              <a:rPr>
                <a:solidFill>
                  <a:srgbClr val="000000"/>
                </a:solidFill>
              </a:rPr>
              <a:t>to neighboring host, using network-layer services</a:t>
            </a:r>
          </a:p>
        </p:txBody>
      </p:sp>
      <p:grpSp>
        <p:nvGrpSpPr>
          <p:cNvPr id="10066" name="Group 6"/>
          <p:cNvGrpSpPr/>
          <p:nvPr/>
        </p:nvGrpSpPr>
        <p:grpSpPr>
          <a:xfrm>
            <a:off x="3226725" y="4143652"/>
            <a:ext cx="5651292" cy="399634"/>
            <a:chOff x="0" y="0"/>
            <a:chExt cx="5651291" cy="399633"/>
          </a:xfrm>
        </p:grpSpPr>
        <p:sp>
          <p:nvSpPr>
            <p:cNvPr id="10054" name="Straight Arrow Connector 85"/>
            <p:cNvSpPr/>
            <p:nvPr/>
          </p:nvSpPr>
          <p:spPr>
            <a:xfrm>
              <a:off x="0" y="233067"/>
              <a:ext cx="5651292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065" name="Group 4"/>
            <p:cNvGrpSpPr/>
            <p:nvPr/>
          </p:nvGrpSpPr>
          <p:grpSpPr>
            <a:xfrm>
              <a:off x="1836257" y="0"/>
              <a:ext cx="1518638" cy="399634"/>
              <a:chOff x="0" y="0"/>
              <a:chExt cx="1518637" cy="399633"/>
            </a:xfrm>
          </p:grpSpPr>
          <p:sp>
            <p:nvSpPr>
              <p:cNvPr id="10055" name="Rectangle 88"/>
              <p:cNvSpPr/>
              <p:nvPr/>
            </p:nvSpPr>
            <p:spPr>
              <a:xfrm>
                <a:off x="0" y="25407"/>
                <a:ext cx="1518638" cy="37422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10058" name="Group 182"/>
              <p:cNvGrpSpPr/>
              <p:nvPr/>
            </p:nvGrpSpPr>
            <p:grpSpPr>
              <a:xfrm>
                <a:off x="81310" y="63069"/>
                <a:ext cx="1347791" cy="288824"/>
                <a:chOff x="0" y="0"/>
                <a:chExt cx="1347789" cy="288823"/>
              </a:xfrm>
            </p:grpSpPr>
            <p:sp>
              <p:nvSpPr>
                <p:cNvPr id="10056" name="Rectangle 183"/>
                <p:cNvSpPr/>
                <p:nvPr/>
              </p:nvSpPr>
              <p:spPr>
                <a:xfrm>
                  <a:off x="0" y="22174"/>
                  <a:ext cx="1347790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057" name="Rectangle 184"/>
                <p:cNvSpPr txBox="1"/>
                <p:nvPr/>
              </p:nvSpPr>
              <p:spPr>
                <a:xfrm>
                  <a:off x="995445" y="0"/>
                  <a:ext cx="252250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sp>
            <p:nvSpPr>
              <p:cNvPr id="10059" name="Rectangle 181"/>
              <p:cNvSpPr txBox="1"/>
              <p:nvPr/>
            </p:nvSpPr>
            <p:spPr>
              <a:xfrm>
                <a:off x="644019" y="2256"/>
                <a:ext cx="274884" cy="39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  <p:sp>
            <p:nvSpPr>
              <p:cNvPr id="10060" name="Rectangle 181"/>
              <p:cNvSpPr txBox="1"/>
              <p:nvPr/>
            </p:nvSpPr>
            <p:spPr>
              <a:xfrm>
                <a:off x="360507" y="0"/>
                <a:ext cx="317300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n</a:t>
                </a:r>
              </a:p>
            </p:txBody>
          </p:sp>
          <p:sp>
            <p:nvSpPr>
              <p:cNvPr id="10061" name="Straight Connector 94"/>
              <p:cNvSpPr/>
              <p:nvPr/>
            </p:nvSpPr>
            <p:spPr>
              <a:xfrm>
                <a:off x="938166" y="85243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062" name="Straight Connector 98"/>
              <p:cNvSpPr/>
              <p:nvPr/>
            </p:nvSpPr>
            <p:spPr>
              <a:xfrm flipH="1">
                <a:off x="657667" y="83531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063" name="Rectangle 181"/>
              <p:cNvSpPr txBox="1"/>
              <p:nvPr/>
            </p:nvSpPr>
            <p:spPr>
              <a:xfrm>
                <a:off x="101426" y="3753"/>
                <a:ext cx="266401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l</a:t>
                </a:r>
              </a:p>
            </p:txBody>
          </p:sp>
          <p:sp>
            <p:nvSpPr>
              <p:cNvPr id="10064" name="Straight Connector 103"/>
              <p:cNvSpPr/>
              <p:nvPr/>
            </p:nvSpPr>
            <p:spPr>
              <a:xfrm flipH="1">
                <a:off x="355119" y="82780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10067" name="Straight Arrow Connector 105"/>
          <p:cNvSpPr/>
          <p:nvPr/>
        </p:nvSpPr>
        <p:spPr>
          <a:xfrm>
            <a:off x="3594027" y="-1079199"/>
            <a:ext cx="5651293" cy="1"/>
          </a:xfrm>
          <a:prstGeom prst="line">
            <a:avLst/>
          </a:prstGeom>
          <a:ln w="190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068" name="Rectangle 106"/>
          <p:cNvSpPr/>
          <p:nvPr/>
        </p:nvSpPr>
        <p:spPr>
          <a:xfrm>
            <a:off x="5738557" y="-1302378"/>
            <a:ext cx="1210366" cy="3897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076" name="Group 107"/>
          <p:cNvGrpSpPr/>
          <p:nvPr/>
        </p:nvGrpSpPr>
        <p:grpSpPr>
          <a:xfrm>
            <a:off x="5790791" y="-1312267"/>
            <a:ext cx="1068594" cy="396353"/>
            <a:chOff x="0" y="0"/>
            <a:chExt cx="1068593" cy="396352"/>
          </a:xfrm>
        </p:grpSpPr>
        <p:grpSp>
          <p:nvGrpSpPr>
            <p:cNvPr id="10071" name="Group 182"/>
            <p:cNvGrpSpPr/>
            <p:nvPr/>
          </p:nvGrpSpPr>
          <p:grpSpPr>
            <a:xfrm>
              <a:off x="11317" y="63069"/>
              <a:ext cx="1057277" cy="288824"/>
              <a:chOff x="0" y="0"/>
              <a:chExt cx="1057275" cy="288823"/>
            </a:xfrm>
          </p:grpSpPr>
          <p:sp>
            <p:nvSpPr>
              <p:cNvPr id="10069" name="Rectangle 183"/>
              <p:cNvSpPr/>
              <p:nvPr/>
            </p:nvSpPr>
            <p:spPr>
              <a:xfrm>
                <a:off x="0" y="22174"/>
                <a:ext cx="1057276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070" name="Rectangle 184"/>
              <p:cNvSpPr txBox="1"/>
              <p:nvPr/>
            </p:nvSpPr>
            <p:spPr>
              <a:xfrm>
                <a:off x="704932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sp>
          <p:nvSpPr>
            <p:cNvPr id="10072" name="Rectangle 181"/>
            <p:cNvSpPr txBox="1"/>
            <p:nvPr/>
          </p:nvSpPr>
          <p:spPr>
            <a:xfrm>
              <a:off x="283512" y="2256"/>
              <a:ext cx="274884" cy="3940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073" name="Rectangle 181"/>
            <p:cNvSpPr txBox="1"/>
            <p:nvPr/>
          </p:nvSpPr>
          <p:spPr>
            <a:xfrm>
              <a:off x="0" y="0"/>
              <a:ext cx="3173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074" name="Straight Connector 113"/>
            <p:cNvSpPr/>
            <p:nvPr/>
          </p:nvSpPr>
          <p:spPr>
            <a:xfrm flipH="1">
              <a:off x="577659" y="85243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75" name="Straight Connector 114"/>
            <p:cNvSpPr/>
            <p:nvPr/>
          </p:nvSpPr>
          <p:spPr>
            <a:xfrm flipH="1">
              <a:off x="297160" y="83531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077" name="TextBox 118"/>
          <p:cNvSpPr txBox="1"/>
          <p:nvPr/>
        </p:nvSpPr>
        <p:spPr>
          <a:xfrm>
            <a:off x="3405209" y="3649479"/>
            <a:ext cx="5643195" cy="632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85000"/>
              </a:lnSpc>
              <a:defRPr>
                <a:solidFill>
                  <a:srgbClr val="C00000"/>
                </a:solidFill>
              </a:defRPr>
            </a:pPr>
            <a:r>
              <a:t>Network-layer </a:t>
            </a:r>
            <a:r>
              <a:rPr>
                <a:solidFill>
                  <a:srgbClr val="000000"/>
                </a:solidFill>
              </a:rPr>
              <a:t>protocol transfers transport-layer segment [H</a:t>
            </a:r>
            <a:r>
              <a:rPr baseline="-25000">
                <a:solidFill>
                  <a:srgbClr val="000000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 | M] from one </a:t>
            </a:r>
            <a:r>
              <a:rPr i="1">
                <a:solidFill>
                  <a:srgbClr val="000000"/>
                </a:solidFill>
              </a:rPr>
              <a:t>host</a:t>
            </a:r>
            <a:r>
              <a:rPr>
                <a:solidFill>
                  <a:srgbClr val="000000"/>
                </a:solidFill>
              </a:rPr>
              <a:t> to another, using link layer services</a:t>
            </a:r>
          </a:p>
        </p:txBody>
      </p:sp>
      <p:sp>
        <p:nvSpPr>
          <p:cNvPr id="1007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6" dur="500" fill="hold"/>
                                        <p:tgtEl>
                                          <p:spTgt spid="100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066" grpId="2"/>
      <p:bldP build="whole" bldLvl="1" animBg="1" rev="0" advAuto="0" spid="10077" grpId="1"/>
      <p:bldP build="whole" bldLvl="1" animBg="1" rev="0" advAuto="0" spid="10053" grpId="3"/>
      <p:bldP build="whole" bldLvl="1" animBg="1" rev="0" advAuto="0" spid="9988" grpId="4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0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Encapsulation</a:t>
            </a:r>
          </a:p>
        </p:txBody>
      </p:sp>
      <p:sp>
        <p:nvSpPr>
          <p:cNvPr id="10081" name="Slide Number Placeholder 4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082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4185" y="2071686"/>
            <a:ext cx="5214122" cy="3910593"/>
          </a:xfrm>
          <a:prstGeom prst="rect">
            <a:avLst/>
          </a:prstGeom>
          <a:ln w="12700">
            <a:miter lim="400000"/>
          </a:ln>
        </p:spPr>
      </p:pic>
      <p:sp>
        <p:nvSpPr>
          <p:cNvPr id="10083" name="TextBox 6"/>
          <p:cNvSpPr txBox="1"/>
          <p:nvPr/>
        </p:nvSpPr>
        <p:spPr>
          <a:xfrm>
            <a:off x="6290858" y="5073301"/>
            <a:ext cx="92143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/>
            </a:lvl1pPr>
          </a:lstStyle>
          <a:p>
            <a:pPr/>
            <a:r>
              <a:t>message</a:t>
            </a:r>
          </a:p>
        </p:txBody>
      </p:sp>
      <p:sp>
        <p:nvSpPr>
          <p:cNvPr id="10084" name="TextBox 7"/>
          <p:cNvSpPr txBox="1"/>
          <p:nvPr/>
        </p:nvSpPr>
        <p:spPr>
          <a:xfrm>
            <a:off x="7438522" y="5073301"/>
            <a:ext cx="91964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/>
            </a:lvl1pPr>
          </a:lstStyle>
          <a:p>
            <a:pPr/>
            <a:r>
              <a:t>segment</a:t>
            </a:r>
          </a:p>
        </p:txBody>
      </p:sp>
      <p:sp>
        <p:nvSpPr>
          <p:cNvPr id="10085" name="TextBox 8"/>
          <p:cNvSpPr txBox="1"/>
          <p:nvPr/>
        </p:nvSpPr>
        <p:spPr>
          <a:xfrm>
            <a:off x="8784536" y="5059743"/>
            <a:ext cx="101083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/>
            </a:lvl1pPr>
          </a:lstStyle>
          <a:p>
            <a:pPr/>
            <a:r>
              <a:t>datagram</a:t>
            </a:r>
          </a:p>
        </p:txBody>
      </p:sp>
      <p:sp>
        <p:nvSpPr>
          <p:cNvPr id="10086" name="TextBox 9"/>
          <p:cNvSpPr txBox="1"/>
          <p:nvPr/>
        </p:nvSpPr>
        <p:spPr>
          <a:xfrm>
            <a:off x="10533828" y="5065259"/>
            <a:ext cx="66660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/>
            </a:lvl1pPr>
          </a:lstStyle>
          <a:p>
            <a:pPr/>
            <a:r>
              <a:t>frame</a:t>
            </a:r>
          </a:p>
        </p:txBody>
      </p:sp>
      <p:sp>
        <p:nvSpPr>
          <p:cNvPr id="10087" name="Rectangle 11"/>
          <p:cNvSpPr txBox="1"/>
          <p:nvPr/>
        </p:nvSpPr>
        <p:spPr>
          <a:xfrm>
            <a:off x="883919" y="1285428"/>
            <a:ext cx="5480805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3200">
                <a:solidFill>
                  <a:srgbClr val="C00000"/>
                </a:solidFill>
              </a:defRPr>
            </a:lvl1pPr>
          </a:lstStyle>
          <a:p>
            <a:pPr/>
            <a:r>
              <a:t>Matryoshka dolls (stacking dolls)</a:t>
            </a:r>
          </a:p>
        </p:txBody>
      </p:sp>
      <p:pic>
        <p:nvPicPr>
          <p:cNvPr id="10088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99754" y="3663601"/>
            <a:ext cx="1016001" cy="140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89" name="Picture 15" descr="Picture 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287590" y="3409601"/>
            <a:ext cx="1206501" cy="166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90" name="Picture 17" descr="Picture 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97316" y="3041508"/>
            <a:ext cx="1481343" cy="2038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91" name="Picture 19" descr="Picture 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997230" y="2709865"/>
            <a:ext cx="1722730" cy="2369803"/>
          </a:xfrm>
          <a:prstGeom prst="rect">
            <a:avLst/>
          </a:prstGeom>
          <a:ln w="12700">
            <a:miter lim="400000"/>
          </a:ln>
        </p:spPr>
      </p:pic>
      <p:sp>
        <p:nvSpPr>
          <p:cNvPr id="10092" name="TextBox 21"/>
          <p:cNvSpPr txBox="1"/>
          <p:nvPr/>
        </p:nvSpPr>
        <p:spPr>
          <a:xfrm>
            <a:off x="92323" y="6519288"/>
            <a:ext cx="600456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t>Credit: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8" invalidUrl="" action="" tgtFrame="" tooltip="" history="1" highlightClick="0" endSnd="0"/>
              </a:rPr>
              <a:t>https://dribbble.com/shots/7182188-Babushka-Boi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28349" y="1695405"/>
            <a:ext cx="351910" cy="488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099" name="Freeform 8"/>
          <p:cNvGrpSpPr/>
          <p:nvPr/>
        </p:nvGrpSpPr>
        <p:grpSpPr>
          <a:xfrm>
            <a:off x="3129205" y="1573967"/>
            <a:ext cx="465905" cy="3104608"/>
            <a:chOff x="0" y="0"/>
            <a:chExt cx="465903" cy="3104606"/>
          </a:xfrm>
        </p:grpSpPr>
        <p:sp>
          <p:nvSpPr>
            <p:cNvPr id="10097" name="Line"/>
            <p:cNvSpPr/>
            <p:nvPr/>
          </p:nvSpPr>
          <p:spPr>
            <a:xfrm>
              <a:off x="418935" y="-1"/>
              <a:ext cx="4993" cy="3104608"/>
            </a:xfrm>
            <a:prstGeom prst="line">
              <a:avLst/>
            </a:prstGeom>
            <a:noFill/>
            <a:ln w="44450" cap="flat">
              <a:solidFill>
                <a:srgbClr val="C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98" name="Text"/>
            <p:cNvSpPr txBox="1"/>
            <p:nvPr/>
          </p:nvSpPr>
          <p:spPr>
            <a:xfrm flipH="1">
              <a:off x="0" y="1385759"/>
              <a:ext cx="46590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       </a:t>
              </a:r>
            </a:p>
          </p:txBody>
        </p:sp>
      </p:grpSp>
      <p:sp>
        <p:nvSpPr>
          <p:cNvPr id="10100" name="Freeform 10"/>
          <p:cNvSpPr/>
          <p:nvPr/>
        </p:nvSpPr>
        <p:spPr>
          <a:xfrm flipH="1" rot="10800000">
            <a:off x="10916607" y="157703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01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Services, Layering and Encapsulation</a:t>
            </a:r>
          </a:p>
        </p:txBody>
      </p:sp>
      <p:sp>
        <p:nvSpPr>
          <p:cNvPr id="10102" name="Text Box 8"/>
          <p:cNvSpPr txBox="1"/>
          <p:nvPr/>
        </p:nvSpPr>
        <p:spPr>
          <a:xfrm>
            <a:off x="495425" y="5724388"/>
            <a:ext cx="1018987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</a:t>
            </a:r>
          </a:p>
        </p:txBody>
      </p:sp>
      <p:sp>
        <p:nvSpPr>
          <p:cNvPr id="10103" name="Freeform 10"/>
          <p:cNvSpPr/>
          <p:nvPr/>
        </p:nvSpPr>
        <p:spPr>
          <a:xfrm rot="10800000">
            <a:off x="975629" y="155954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106" name="Group 190"/>
          <p:cNvGrpSpPr/>
          <p:nvPr/>
        </p:nvGrpSpPr>
        <p:grpSpPr>
          <a:xfrm>
            <a:off x="635446" y="5073984"/>
            <a:ext cx="803275" cy="771526"/>
            <a:chOff x="0" y="0"/>
            <a:chExt cx="803274" cy="771525"/>
          </a:xfrm>
        </p:grpSpPr>
        <p:pic>
          <p:nvPicPr>
            <p:cNvPr id="10104" name="Picture 191" descr="Picture 19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803275" cy="771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105" name="Freeform 192"/>
            <p:cNvSpPr/>
            <p:nvPr/>
          </p:nvSpPr>
          <p:spPr>
            <a:xfrm>
              <a:off x="70419" y="74010"/>
              <a:ext cx="390584" cy="35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113" name="Group 211"/>
          <p:cNvGrpSpPr/>
          <p:nvPr/>
        </p:nvGrpSpPr>
        <p:grpSpPr>
          <a:xfrm>
            <a:off x="1357050" y="1421666"/>
            <a:ext cx="1697081" cy="4034754"/>
            <a:chOff x="0" y="0"/>
            <a:chExt cx="1697080" cy="4034752"/>
          </a:xfrm>
        </p:grpSpPr>
        <p:sp>
          <p:nvSpPr>
            <p:cNvPr id="10107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08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10109" name="Straight Connector 116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10" name="Straight Connector 147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11" name="Straight Connector 148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12" name="Straight Connector 149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146" name="Group 950"/>
          <p:cNvGrpSpPr/>
          <p:nvPr/>
        </p:nvGrpSpPr>
        <p:grpSpPr>
          <a:xfrm>
            <a:off x="11107712" y="4961744"/>
            <a:ext cx="374756" cy="833727"/>
            <a:chOff x="0" y="0"/>
            <a:chExt cx="374754" cy="833726"/>
          </a:xfrm>
        </p:grpSpPr>
        <p:sp>
          <p:nvSpPr>
            <p:cNvPr id="10114" name="Freeform 951"/>
            <p:cNvSpPr/>
            <p:nvPr/>
          </p:nvSpPr>
          <p:spPr>
            <a:xfrm>
              <a:off x="296647" y="1391"/>
              <a:ext cx="74426" cy="795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15" name="Rectangle 952"/>
            <p:cNvSpPr/>
            <p:nvPr/>
          </p:nvSpPr>
          <p:spPr>
            <a:xfrm>
              <a:off x="18408" y="-1"/>
              <a:ext cx="275083" cy="795103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16" name="Freeform 953"/>
            <p:cNvSpPr/>
            <p:nvPr/>
          </p:nvSpPr>
          <p:spPr>
            <a:xfrm>
              <a:off x="312060" y="49063"/>
              <a:ext cx="42971" cy="72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17" name="Freeform 954"/>
            <p:cNvSpPr/>
            <p:nvPr/>
          </p:nvSpPr>
          <p:spPr>
            <a:xfrm>
              <a:off x="300855" y="421386"/>
              <a:ext cx="69166" cy="657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18" name="Rectangle 955"/>
            <p:cNvSpPr/>
            <p:nvPr/>
          </p:nvSpPr>
          <p:spPr>
            <a:xfrm>
              <a:off x="18408" y="90819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121" name="Group 956"/>
            <p:cNvGrpSpPr/>
            <p:nvPr/>
          </p:nvGrpSpPr>
          <p:grpSpPr>
            <a:xfrm>
              <a:off x="159947" y="82437"/>
              <a:ext cx="151952" cy="52271"/>
              <a:chOff x="0" y="0"/>
              <a:chExt cx="151951" cy="52269"/>
            </a:xfrm>
          </p:grpSpPr>
          <p:sp>
            <p:nvSpPr>
              <p:cNvPr id="10119" name="AutoShape 957"/>
              <p:cNvSpPr/>
              <p:nvPr/>
            </p:nvSpPr>
            <p:spPr>
              <a:xfrm>
                <a:off x="0" y="0"/>
                <a:ext cx="151952" cy="5227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120" name="AutoShape 958"/>
              <p:cNvSpPr/>
              <p:nvPr/>
            </p:nvSpPr>
            <p:spPr>
              <a:xfrm>
                <a:off x="2529" y="5444"/>
                <a:ext cx="146683" cy="4138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122" name="Rectangle 959"/>
            <p:cNvSpPr/>
            <p:nvPr/>
          </p:nvSpPr>
          <p:spPr>
            <a:xfrm>
              <a:off x="21038" y="206343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125" name="Group 960"/>
            <p:cNvGrpSpPr/>
            <p:nvPr/>
          </p:nvGrpSpPr>
          <p:grpSpPr>
            <a:xfrm>
              <a:off x="159842" y="195258"/>
              <a:ext cx="151953" cy="46629"/>
              <a:chOff x="0" y="0"/>
              <a:chExt cx="151951" cy="46627"/>
            </a:xfrm>
          </p:grpSpPr>
          <p:sp>
            <p:nvSpPr>
              <p:cNvPr id="10123" name="AutoShape 961"/>
              <p:cNvSpPr/>
              <p:nvPr/>
            </p:nvSpPr>
            <p:spPr>
              <a:xfrm>
                <a:off x="0" y="0"/>
                <a:ext cx="151952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124" name="AutoShape 962"/>
              <p:cNvSpPr/>
              <p:nvPr/>
            </p:nvSpPr>
            <p:spPr>
              <a:xfrm>
                <a:off x="2739" y="5702"/>
                <a:ext cx="146684" cy="358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126" name="Rectangle 963"/>
            <p:cNvSpPr/>
            <p:nvPr/>
          </p:nvSpPr>
          <p:spPr>
            <a:xfrm>
              <a:off x="21038" y="321868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27" name="Rectangle 964"/>
            <p:cNvSpPr/>
            <p:nvPr/>
          </p:nvSpPr>
          <p:spPr>
            <a:xfrm>
              <a:off x="23668" y="426606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130" name="Group 965"/>
            <p:cNvGrpSpPr/>
            <p:nvPr/>
          </p:nvGrpSpPr>
          <p:grpSpPr>
            <a:xfrm>
              <a:off x="157320" y="423667"/>
              <a:ext cx="152003" cy="46873"/>
              <a:chOff x="0" y="0"/>
              <a:chExt cx="152001" cy="46872"/>
            </a:xfrm>
          </p:grpSpPr>
          <p:sp>
            <p:nvSpPr>
              <p:cNvPr id="10128" name="AutoShape 966"/>
              <p:cNvSpPr/>
              <p:nvPr/>
            </p:nvSpPr>
            <p:spPr>
              <a:xfrm>
                <a:off x="0" y="0"/>
                <a:ext cx="152002" cy="4687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129" name="AutoShape 967"/>
              <p:cNvSpPr/>
              <p:nvPr/>
            </p:nvSpPr>
            <p:spPr>
              <a:xfrm>
                <a:off x="2533" y="0"/>
                <a:ext cx="146725" cy="4120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131" name="Freeform 968"/>
            <p:cNvSpPr/>
            <p:nvPr/>
          </p:nvSpPr>
          <p:spPr>
            <a:xfrm>
              <a:off x="301907" y="321868"/>
              <a:ext cx="69166" cy="65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134" name="Group 969"/>
            <p:cNvGrpSpPr/>
            <p:nvPr/>
          </p:nvGrpSpPr>
          <p:grpSpPr>
            <a:xfrm>
              <a:off x="157317" y="313517"/>
              <a:ext cx="154536" cy="46628"/>
              <a:chOff x="0" y="0"/>
              <a:chExt cx="154535" cy="46627"/>
            </a:xfrm>
          </p:grpSpPr>
          <p:sp>
            <p:nvSpPr>
              <p:cNvPr id="10132" name="AutoShape 970"/>
              <p:cNvSpPr/>
              <p:nvPr/>
            </p:nvSpPr>
            <p:spPr>
              <a:xfrm>
                <a:off x="0" y="0"/>
                <a:ext cx="154536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133" name="AutoShape 971"/>
              <p:cNvSpPr/>
              <p:nvPr/>
            </p:nvSpPr>
            <p:spPr>
              <a:xfrm>
                <a:off x="2533" y="5567"/>
                <a:ext cx="152003" cy="358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135" name="Rectangle 972"/>
            <p:cNvSpPr/>
            <p:nvPr/>
          </p:nvSpPr>
          <p:spPr>
            <a:xfrm>
              <a:off x="290861" y="-1"/>
              <a:ext cx="18409" cy="795103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36" name="Freeform 973"/>
            <p:cNvSpPr/>
            <p:nvPr/>
          </p:nvSpPr>
          <p:spPr>
            <a:xfrm>
              <a:off x="308218" y="201124"/>
              <a:ext cx="62329" cy="74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37" name="Freeform 974"/>
            <p:cNvSpPr/>
            <p:nvPr/>
          </p:nvSpPr>
          <p:spPr>
            <a:xfrm>
              <a:off x="309007" y="87339"/>
              <a:ext cx="64170" cy="83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38" name="Oval 975"/>
            <p:cNvSpPr/>
            <p:nvPr/>
          </p:nvSpPr>
          <p:spPr>
            <a:xfrm>
              <a:off x="361604" y="759261"/>
              <a:ext cx="13151" cy="3305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39" name="Freeform 976"/>
            <p:cNvSpPr/>
            <p:nvPr/>
          </p:nvSpPr>
          <p:spPr>
            <a:xfrm>
              <a:off x="305588" y="760305"/>
              <a:ext cx="64433" cy="69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40" name="AutoShape 977"/>
            <p:cNvSpPr/>
            <p:nvPr/>
          </p:nvSpPr>
          <p:spPr>
            <a:xfrm>
              <a:off x="-1" y="781531"/>
              <a:ext cx="314532" cy="5219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41" name="AutoShape 978"/>
            <p:cNvSpPr/>
            <p:nvPr/>
          </p:nvSpPr>
          <p:spPr>
            <a:xfrm>
              <a:off x="18408" y="795101"/>
              <a:ext cx="280344" cy="2749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42" name="Oval 979"/>
            <p:cNvSpPr/>
            <p:nvPr/>
          </p:nvSpPr>
          <p:spPr>
            <a:xfrm>
              <a:off x="44444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43" name="Oval 980"/>
            <p:cNvSpPr/>
            <p:nvPr/>
          </p:nvSpPr>
          <p:spPr>
            <a:xfrm>
              <a:off x="91781" y="679577"/>
              <a:ext cx="41815" cy="49413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44" name="Oval 981"/>
            <p:cNvSpPr/>
            <p:nvPr/>
          </p:nvSpPr>
          <p:spPr>
            <a:xfrm>
              <a:off x="136226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45" name="Rectangle 982"/>
            <p:cNvSpPr/>
            <p:nvPr/>
          </p:nvSpPr>
          <p:spPr>
            <a:xfrm>
              <a:off x="243787" y="489935"/>
              <a:ext cx="21039" cy="264107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10147" name="Text Box 8"/>
          <p:cNvSpPr txBox="1"/>
          <p:nvPr/>
        </p:nvSpPr>
        <p:spPr>
          <a:xfrm>
            <a:off x="10262453" y="5716780"/>
            <a:ext cx="1578433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destination</a:t>
            </a:r>
          </a:p>
        </p:txBody>
      </p:sp>
      <p:grpSp>
        <p:nvGrpSpPr>
          <p:cNvPr id="10154" name="Group 212"/>
          <p:cNvGrpSpPr/>
          <p:nvPr/>
        </p:nvGrpSpPr>
        <p:grpSpPr>
          <a:xfrm>
            <a:off x="9244375" y="1413547"/>
            <a:ext cx="1697082" cy="4034754"/>
            <a:chOff x="0" y="0"/>
            <a:chExt cx="1697080" cy="4034752"/>
          </a:xfrm>
        </p:grpSpPr>
        <p:sp>
          <p:nvSpPr>
            <p:cNvPr id="10148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49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10150" name="Straight Connector 215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51" name="Straight Connector 216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52" name="Straight Connector 217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53" name="Straight Connector 218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155" name="Rectangle 142"/>
          <p:cNvSpPr/>
          <p:nvPr/>
        </p:nvSpPr>
        <p:spPr>
          <a:xfrm>
            <a:off x="5584583" y="1981530"/>
            <a:ext cx="971760" cy="3897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188" name="Group 8"/>
          <p:cNvGrpSpPr/>
          <p:nvPr/>
        </p:nvGrpSpPr>
        <p:grpSpPr>
          <a:xfrm>
            <a:off x="7629993" y="1484027"/>
            <a:ext cx="1533996" cy="3792512"/>
            <a:chOff x="0" y="0"/>
            <a:chExt cx="1533995" cy="3792511"/>
          </a:xfrm>
        </p:grpSpPr>
        <p:grpSp>
          <p:nvGrpSpPr>
            <p:cNvPr id="10158" name="Freeform 118"/>
            <p:cNvGrpSpPr/>
            <p:nvPr/>
          </p:nvGrpSpPr>
          <p:grpSpPr>
            <a:xfrm>
              <a:off x="0" y="0"/>
              <a:ext cx="1201063" cy="3792512"/>
              <a:chOff x="0" y="0"/>
              <a:chExt cx="1201062" cy="3792511"/>
            </a:xfrm>
          </p:grpSpPr>
          <p:sp>
            <p:nvSpPr>
              <p:cNvPr id="10156" name="Line"/>
              <p:cNvSpPr/>
              <p:nvPr/>
            </p:nvSpPr>
            <p:spPr>
              <a:xfrm flipH="1">
                <a:off x="-1" y="0"/>
                <a:ext cx="1201064" cy="37925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74" y="18159"/>
                    </a:lnTo>
                    <a:cubicBezTo>
                      <a:pt x="49" y="12106"/>
                      <a:pt x="25" y="6053"/>
                      <a:pt x="0" y="0"/>
                    </a:cubicBezTo>
                  </a:path>
                </a:pathLst>
              </a:custGeom>
              <a:noFill/>
              <a:ln w="44450" cap="flat">
                <a:solidFill>
                  <a:srgbClr val="C00000"/>
                </a:solidFill>
                <a:prstDash val="solid"/>
                <a:miter lim="800000"/>
                <a:tailEnd type="triangle" w="med" len="med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157" name="Text"/>
              <p:cNvSpPr txBox="1"/>
              <p:nvPr/>
            </p:nvSpPr>
            <p:spPr>
              <a:xfrm>
                <a:off x="67945" y="1729711"/>
                <a:ext cx="106517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 </a:t>
                </a:r>
              </a:p>
            </p:txBody>
          </p:sp>
        </p:grpSp>
        <p:grpSp>
          <p:nvGrpSpPr>
            <p:cNvPr id="10169" name="Group 119"/>
            <p:cNvGrpSpPr/>
            <p:nvPr/>
          </p:nvGrpSpPr>
          <p:grpSpPr>
            <a:xfrm>
              <a:off x="63332" y="2574039"/>
              <a:ext cx="1470664" cy="429615"/>
              <a:chOff x="0" y="0"/>
              <a:chExt cx="1470663" cy="429613"/>
            </a:xfrm>
          </p:grpSpPr>
          <p:sp>
            <p:nvSpPr>
              <p:cNvPr id="10159" name="Rectangle 120"/>
              <p:cNvSpPr/>
              <p:nvPr/>
            </p:nvSpPr>
            <p:spPr>
              <a:xfrm>
                <a:off x="260298" y="39869"/>
                <a:ext cx="1210366" cy="38974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10162" name="Group 182"/>
              <p:cNvGrpSpPr/>
              <p:nvPr/>
            </p:nvGrpSpPr>
            <p:grpSpPr>
              <a:xfrm>
                <a:off x="0" y="63069"/>
                <a:ext cx="1381127" cy="288824"/>
                <a:chOff x="0" y="0"/>
                <a:chExt cx="1381126" cy="288823"/>
              </a:xfrm>
            </p:grpSpPr>
            <p:sp>
              <p:nvSpPr>
                <p:cNvPr id="10160" name="Rectangle 183"/>
                <p:cNvSpPr/>
                <p:nvPr/>
              </p:nvSpPr>
              <p:spPr>
                <a:xfrm>
                  <a:off x="0" y="22174"/>
                  <a:ext cx="1381127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161" name="Rectangle 184"/>
                <p:cNvSpPr txBox="1"/>
                <p:nvPr/>
              </p:nvSpPr>
              <p:spPr>
                <a:xfrm>
                  <a:off x="1028782" y="0"/>
                  <a:ext cx="252250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sp>
            <p:nvSpPr>
              <p:cNvPr id="10163" name="Rectangle 181"/>
              <p:cNvSpPr txBox="1"/>
              <p:nvPr/>
            </p:nvSpPr>
            <p:spPr>
              <a:xfrm>
                <a:off x="596044" y="2256"/>
                <a:ext cx="274885" cy="39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  <p:sp>
            <p:nvSpPr>
              <p:cNvPr id="10164" name="Rectangle 181"/>
              <p:cNvSpPr txBox="1"/>
              <p:nvPr/>
            </p:nvSpPr>
            <p:spPr>
              <a:xfrm>
                <a:off x="312532" y="0"/>
                <a:ext cx="317301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n</a:t>
                </a:r>
              </a:p>
            </p:txBody>
          </p:sp>
          <p:sp>
            <p:nvSpPr>
              <p:cNvPr id="10165" name="Straight Connector 124"/>
              <p:cNvSpPr/>
              <p:nvPr/>
            </p:nvSpPr>
            <p:spPr>
              <a:xfrm>
                <a:off x="890192" y="85243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166" name="Straight Connector 125"/>
              <p:cNvSpPr/>
              <p:nvPr/>
            </p:nvSpPr>
            <p:spPr>
              <a:xfrm flipH="1">
                <a:off x="609693" y="83531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167" name="Rectangle 181"/>
              <p:cNvSpPr txBox="1"/>
              <p:nvPr/>
            </p:nvSpPr>
            <p:spPr>
              <a:xfrm>
                <a:off x="34947" y="7649"/>
                <a:ext cx="266401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l</a:t>
                </a:r>
              </a:p>
            </p:txBody>
          </p:sp>
          <p:sp>
            <p:nvSpPr>
              <p:cNvPr id="10168" name="Straight Connector 128"/>
              <p:cNvSpPr/>
              <p:nvPr/>
            </p:nvSpPr>
            <p:spPr>
              <a:xfrm flipH="1">
                <a:off x="289006" y="84120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177" name="Group 131"/>
            <p:cNvGrpSpPr/>
            <p:nvPr/>
          </p:nvGrpSpPr>
          <p:grpSpPr>
            <a:xfrm>
              <a:off x="374210" y="1828081"/>
              <a:ext cx="1068594" cy="396353"/>
              <a:chOff x="0" y="0"/>
              <a:chExt cx="1068593" cy="396352"/>
            </a:xfrm>
          </p:grpSpPr>
          <p:grpSp>
            <p:nvGrpSpPr>
              <p:cNvPr id="10172" name="Group 182"/>
              <p:cNvGrpSpPr/>
              <p:nvPr/>
            </p:nvGrpSpPr>
            <p:grpSpPr>
              <a:xfrm>
                <a:off x="11317" y="63069"/>
                <a:ext cx="1057277" cy="288824"/>
                <a:chOff x="0" y="0"/>
                <a:chExt cx="1057275" cy="288823"/>
              </a:xfrm>
            </p:grpSpPr>
            <p:sp>
              <p:nvSpPr>
                <p:cNvPr id="10170" name="Rectangle 183"/>
                <p:cNvSpPr/>
                <p:nvPr/>
              </p:nvSpPr>
              <p:spPr>
                <a:xfrm>
                  <a:off x="0" y="22174"/>
                  <a:ext cx="1057276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171" name="Rectangle 184"/>
                <p:cNvSpPr txBox="1"/>
                <p:nvPr/>
              </p:nvSpPr>
              <p:spPr>
                <a:xfrm>
                  <a:off x="704932" y="0"/>
                  <a:ext cx="252249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sp>
            <p:nvSpPr>
              <p:cNvPr id="10173" name="Rectangle 181"/>
              <p:cNvSpPr txBox="1"/>
              <p:nvPr/>
            </p:nvSpPr>
            <p:spPr>
              <a:xfrm>
                <a:off x="283512" y="2256"/>
                <a:ext cx="274884" cy="39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  <p:sp>
            <p:nvSpPr>
              <p:cNvPr id="10174" name="Rectangle 181"/>
              <p:cNvSpPr txBox="1"/>
              <p:nvPr/>
            </p:nvSpPr>
            <p:spPr>
              <a:xfrm>
                <a:off x="0" y="0"/>
                <a:ext cx="317300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n</a:t>
                </a:r>
              </a:p>
            </p:txBody>
          </p:sp>
          <p:sp>
            <p:nvSpPr>
              <p:cNvPr id="10175" name="Straight Connector 144"/>
              <p:cNvSpPr/>
              <p:nvPr/>
            </p:nvSpPr>
            <p:spPr>
              <a:xfrm flipH="1">
                <a:off x="577659" y="85243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176" name="Straight Connector 145"/>
              <p:cNvSpPr/>
              <p:nvPr/>
            </p:nvSpPr>
            <p:spPr>
              <a:xfrm flipH="1">
                <a:off x="297160" y="83531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184" name="Group 6"/>
            <p:cNvGrpSpPr/>
            <p:nvPr/>
          </p:nvGrpSpPr>
          <p:grpSpPr>
            <a:xfrm>
              <a:off x="635793" y="1125533"/>
              <a:ext cx="774701" cy="394096"/>
              <a:chOff x="0" y="0"/>
              <a:chExt cx="774699" cy="394095"/>
            </a:xfrm>
          </p:grpSpPr>
          <p:grpSp>
            <p:nvGrpSpPr>
              <p:cNvPr id="10180" name="Group 179"/>
              <p:cNvGrpSpPr/>
              <p:nvPr/>
            </p:nvGrpSpPr>
            <p:grpSpPr>
              <a:xfrm>
                <a:off x="0" y="0"/>
                <a:ext cx="280988" cy="394096"/>
                <a:chOff x="0" y="0"/>
                <a:chExt cx="280987" cy="394095"/>
              </a:xfrm>
            </p:grpSpPr>
            <p:sp>
              <p:nvSpPr>
                <p:cNvPr id="10178" name="Rectangle 180"/>
                <p:cNvSpPr/>
                <p:nvPr/>
              </p:nvSpPr>
              <p:spPr>
                <a:xfrm>
                  <a:off x="0" y="77985"/>
                  <a:ext cx="280988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179" name="Rectangle 181"/>
                <p:cNvSpPr txBox="1"/>
                <p:nvPr/>
              </p:nvSpPr>
              <p:spPr>
                <a:xfrm>
                  <a:off x="3052" y="0"/>
                  <a:ext cx="274884" cy="3940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H</a:t>
                  </a:r>
                  <a:r>
                    <a:rPr baseline="-25000" sz="1800"/>
                    <a:t>t</a:t>
                  </a:r>
                </a:p>
              </p:txBody>
            </p:sp>
          </p:grpSp>
          <p:grpSp>
            <p:nvGrpSpPr>
              <p:cNvPr id="10183" name="Group 182"/>
              <p:cNvGrpSpPr/>
              <p:nvPr/>
            </p:nvGrpSpPr>
            <p:grpSpPr>
              <a:xfrm>
                <a:off x="279399" y="55810"/>
                <a:ext cx="495301" cy="288824"/>
                <a:chOff x="0" y="0"/>
                <a:chExt cx="495300" cy="288823"/>
              </a:xfrm>
            </p:grpSpPr>
            <p:sp>
              <p:nvSpPr>
                <p:cNvPr id="10181" name="Rectangle 183"/>
                <p:cNvSpPr/>
                <p:nvPr/>
              </p:nvSpPr>
              <p:spPr>
                <a:xfrm>
                  <a:off x="0" y="22174"/>
                  <a:ext cx="495300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182" name="Rectangle 184"/>
                <p:cNvSpPr txBox="1"/>
                <p:nvPr/>
              </p:nvSpPr>
              <p:spPr>
                <a:xfrm>
                  <a:off x="154863" y="0"/>
                  <a:ext cx="252249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</p:grpSp>
        <p:grpSp>
          <p:nvGrpSpPr>
            <p:cNvPr id="10187" name="Group 175"/>
            <p:cNvGrpSpPr/>
            <p:nvPr/>
          </p:nvGrpSpPr>
          <p:grpSpPr>
            <a:xfrm>
              <a:off x="894195" y="402393"/>
              <a:ext cx="495301" cy="288825"/>
              <a:chOff x="0" y="0"/>
              <a:chExt cx="495300" cy="288823"/>
            </a:xfrm>
          </p:grpSpPr>
          <p:sp>
            <p:nvSpPr>
              <p:cNvPr id="10185" name="Rectangle 176"/>
              <p:cNvSpPr/>
              <p:nvPr/>
            </p:nvSpPr>
            <p:spPr>
              <a:xfrm>
                <a:off x="0" y="18999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186" name="Rectangle 177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grpSp>
        <p:nvGrpSpPr>
          <p:cNvPr id="10191" name="Freeform 8"/>
          <p:cNvGrpSpPr/>
          <p:nvPr/>
        </p:nvGrpSpPr>
        <p:grpSpPr>
          <a:xfrm>
            <a:off x="3570599" y="4675377"/>
            <a:ext cx="4136845" cy="601046"/>
            <a:chOff x="0" y="0"/>
            <a:chExt cx="4136844" cy="601044"/>
          </a:xfrm>
        </p:grpSpPr>
        <p:sp>
          <p:nvSpPr>
            <p:cNvPr id="10189" name="Line"/>
            <p:cNvSpPr/>
            <p:nvPr/>
          </p:nvSpPr>
          <p:spPr>
            <a:xfrm>
              <a:off x="0" y="0"/>
              <a:ext cx="4136845" cy="6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4987" y="21081"/>
                  </a:lnTo>
                  <a:lnTo>
                    <a:pt x="21600" y="21600"/>
                  </a:lnTo>
                </a:path>
              </a:pathLst>
            </a:custGeom>
            <a:noFill/>
            <a:ln w="44450" cap="flat">
              <a:solidFill>
                <a:srgbClr val="C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190" name="Text"/>
            <p:cNvSpPr txBox="1"/>
            <p:nvPr/>
          </p:nvSpPr>
          <p:spPr>
            <a:xfrm>
              <a:off x="67944" y="133978"/>
              <a:ext cx="465905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       </a:t>
              </a:r>
            </a:p>
          </p:txBody>
        </p:sp>
      </p:grpSp>
      <p:grpSp>
        <p:nvGrpSpPr>
          <p:cNvPr id="10196" name="Group 20"/>
          <p:cNvGrpSpPr/>
          <p:nvPr/>
        </p:nvGrpSpPr>
        <p:grpSpPr>
          <a:xfrm>
            <a:off x="4204104" y="1778534"/>
            <a:ext cx="2074306" cy="333088"/>
            <a:chOff x="0" y="0"/>
            <a:chExt cx="2074305" cy="333087"/>
          </a:xfrm>
        </p:grpSpPr>
        <p:grpSp>
          <p:nvGrpSpPr>
            <p:cNvPr id="10194" name="Group 175"/>
            <p:cNvGrpSpPr/>
            <p:nvPr/>
          </p:nvGrpSpPr>
          <p:grpSpPr>
            <a:xfrm>
              <a:off x="1579006" y="30373"/>
              <a:ext cx="495300" cy="288825"/>
              <a:chOff x="0" y="0"/>
              <a:chExt cx="495299" cy="288823"/>
            </a:xfrm>
          </p:grpSpPr>
          <p:sp>
            <p:nvSpPr>
              <p:cNvPr id="10192" name="Rectangle 176"/>
              <p:cNvSpPr/>
              <p:nvPr/>
            </p:nvSpPr>
            <p:spPr>
              <a:xfrm>
                <a:off x="0" y="18999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193" name="Rectangle 177"/>
              <p:cNvSpPr txBox="1"/>
              <p:nvPr/>
            </p:nvSpPr>
            <p:spPr>
              <a:xfrm>
                <a:off x="154862" y="0"/>
                <a:ext cx="252250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sp>
          <p:nvSpPr>
            <p:cNvPr id="10195" name="TextBox 9"/>
            <p:cNvSpPr txBox="1"/>
            <p:nvPr/>
          </p:nvSpPr>
          <p:spPr>
            <a:xfrm>
              <a:off x="0" y="0"/>
              <a:ext cx="908259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message</a:t>
              </a:r>
            </a:p>
          </p:txBody>
        </p:sp>
      </p:grpSp>
      <p:grpSp>
        <p:nvGrpSpPr>
          <p:cNvPr id="10205" name="Group 21"/>
          <p:cNvGrpSpPr/>
          <p:nvPr/>
        </p:nvGrpSpPr>
        <p:grpSpPr>
          <a:xfrm>
            <a:off x="4201391" y="2565787"/>
            <a:ext cx="2082293" cy="395810"/>
            <a:chOff x="0" y="0"/>
            <a:chExt cx="2082292" cy="395808"/>
          </a:xfrm>
        </p:grpSpPr>
        <p:grpSp>
          <p:nvGrpSpPr>
            <p:cNvPr id="10203" name="Group 185"/>
            <p:cNvGrpSpPr/>
            <p:nvPr/>
          </p:nvGrpSpPr>
          <p:grpSpPr>
            <a:xfrm>
              <a:off x="1307592" y="1712"/>
              <a:ext cx="774701" cy="394097"/>
              <a:chOff x="0" y="0"/>
              <a:chExt cx="774700" cy="394095"/>
            </a:xfrm>
          </p:grpSpPr>
          <p:grpSp>
            <p:nvGrpSpPr>
              <p:cNvPr id="10199" name="Group 179"/>
              <p:cNvGrpSpPr/>
              <p:nvPr/>
            </p:nvGrpSpPr>
            <p:grpSpPr>
              <a:xfrm>
                <a:off x="0" y="0"/>
                <a:ext cx="280988" cy="394096"/>
                <a:chOff x="0" y="0"/>
                <a:chExt cx="280987" cy="394095"/>
              </a:xfrm>
            </p:grpSpPr>
            <p:sp>
              <p:nvSpPr>
                <p:cNvPr id="10197" name="Rectangle 180"/>
                <p:cNvSpPr/>
                <p:nvPr/>
              </p:nvSpPr>
              <p:spPr>
                <a:xfrm>
                  <a:off x="0" y="77985"/>
                  <a:ext cx="280988" cy="257176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198" name="Rectangle 181"/>
                <p:cNvSpPr txBox="1"/>
                <p:nvPr/>
              </p:nvSpPr>
              <p:spPr>
                <a:xfrm>
                  <a:off x="3051" y="0"/>
                  <a:ext cx="274885" cy="3940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H</a:t>
                  </a:r>
                  <a:r>
                    <a:rPr baseline="-25000" sz="1800"/>
                    <a:t>t</a:t>
                  </a:r>
                </a:p>
              </p:txBody>
            </p:sp>
          </p:grpSp>
          <p:grpSp>
            <p:nvGrpSpPr>
              <p:cNvPr id="10202" name="Group 182"/>
              <p:cNvGrpSpPr/>
              <p:nvPr/>
            </p:nvGrpSpPr>
            <p:grpSpPr>
              <a:xfrm>
                <a:off x="279400" y="55811"/>
                <a:ext cx="495301" cy="288824"/>
                <a:chOff x="0" y="0"/>
                <a:chExt cx="495300" cy="288823"/>
              </a:xfrm>
            </p:grpSpPr>
            <p:sp>
              <p:nvSpPr>
                <p:cNvPr id="10200" name="Rectangle 183"/>
                <p:cNvSpPr/>
                <p:nvPr/>
              </p:nvSpPr>
              <p:spPr>
                <a:xfrm>
                  <a:off x="0" y="22174"/>
                  <a:ext cx="495300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201" name="Rectangle 184"/>
                <p:cNvSpPr txBox="1"/>
                <p:nvPr/>
              </p:nvSpPr>
              <p:spPr>
                <a:xfrm>
                  <a:off x="154863" y="0"/>
                  <a:ext cx="252249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</p:grpSp>
        <p:sp>
          <p:nvSpPr>
            <p:cNvPr id="10204" name="TextBox 165"/>
            <p:cNvSpPr txBox="1"/>
            <p:nvPr/>
          </p:nvSpPr>
          <p:spPr>
            <a:xfrm>
              <a:off x="0" y="0"/>
              <a:ext cx="905803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segment</a:t>
              </a:r>
            </a:p>
          </p:txBody>
        </p:sp>
      </p:grpSp>
      <p:grpSp>
        <p:nvGrpSpPr>
          <p:cNvPr id="10215" name="Group 22"/>
          <p:cNvGrpSpPr/>
          <p:nvPr/>
        </p:nvGrpSpPr>
        <p:grpSpPr>
          <a:xfrm>
            <a:off x="4180138" y="3268365"/>
            <a:ext cx="2107123" cy="396353"/>
            <a:chOff x="0" y="0"/>
            <a:chExt cx="2107122" cy="396352"/>
          </a:xfrm>
        </p:grpSpPr>
        <p:grpSp>
          <p:nvGrpSpPr>
            <p:cNvPr id="10213" name="Group 5"/>
            <p:cNvGrpSpPr/>
            <p:nvPr/>
          </p:nvGrpSpPr>
          <p:grpSpPr>
            <a:xfrm>
              <a:off x="1038529" y="0"/>
              <a:ext cx="1068594" cy="396353"/>
              <a:chOff x="0" y="0"/>
              <a:chExt cx="1068593" cy="396352"/>
            </a:xfrm>
          </p:grpSpPr>
          <p:grpSp>
            <p:nvGrpSpPr>
              <p:cNvPr id="10208" name="Group 182"/>
              <p:cNvGrpSpPr/>
              <p:nvPr/>
            </p:nvGrpSpPr>
            <p:grpSpPr>
              <a:xfrm>
                <a:off x="11317" y="63069"/>
                <a:ext cx="1057277" cy="288824"/>
                <a:chOff x="0" y="0"/>
                <a:chExt cx="1057275" cy="288823"/>
              </a:xfrm>
            </p:grpSpPr>
            <p:sp>
              <p:nvSpPr>
                <p:cNvPr id="10206" name="Rectangle 183"/>
                <p:cNvSpPr/>
                <p:nvPr/>
              </p:nvSpPr>
              <p:spPr>
                <a:xfrm>
                  <a:off x="0" y="22174"/>
                  <a:ext cx="1057276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207" name="Rectangle 184"/>
                <p:cNvSpPr txBox="1"/>
                <p:nvPr/>
              </p:nvSpPr>
              <p:spPr>
                <a:xfrm>
                  <a:off x="704932" y="0"/>
                  <a:ext cx="252249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sp>
            <p:nvSpPr>
              <p:cNvPr id="10209" name="Rectangle 181"/>
              <p:cNvSpPr txBox="1"/>
              <p:nvPr/>
            </p:nvSpPr>
            <p:spPr>
              <a:xfrm>
                <a:off x="283512" y="2256"/>
                <a:ext cx="274884" cy="39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  <p:sp>
            <p:nvSpPr>
              <p:cNvPr id="10210" name="Rectangle 181"/>
              <p:cNvSpPr txBox="1"/>
              <p:nvPr/>
            </p:nvSpPr>
            <p:spPr>
              <a:xfrm>
                <a:off x="0" y="0"/>
                <a:ext cx="317300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n</a:t>
                </a:r>
              </a:p>
            </p:txBody>
          </p:sp>
          <p:sp>
            <p:nvSpPr>
              <p:cNvPr id="10211" name="Straight Connector 3"/>
              <p:cNvSpPr/>
              <p:nvPr/>
            </p:nvSpPr>
            <p:spPr>
              <a:xfrm flipH="1">
                <a:off x="577659" y="85243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12" name="Straight Connector 90"/>
              <p:cNvSpPr/>
              <p:nvPr/>
            </p:nvSpPr>
            <p:spPr>
              <a:xfrm flipH="1">
                <a:off x="297160" y="83531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10214" name="TextBox 199"/>
            <p:cNvSpPr txBox="1"/>
            <p:nvPr/>
          </p:nvSpPr>
          <p:spPr>
            <a:xfrm>
              <a:off x="0" y="23264"/>
              <a:ext cx="989631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datagram</a:t>
              </a:r>
            </a:p>
          </p:txBody>
        </p:sp>
      </p:grpSp>
      <p:grpSp>
        <p:nvGrpSpPr>
          <p:cNvPr id="10227" name="Group 26"/>
          <p:cNvGrpSpPr/>
          <p:nvPr/>
        </p:nvGrpSpPr>
        <p:grpSpPr>
          <a:xfrm>
            <a:off x="4198304" y="4066274"/>
            <a:ext cx="2088958" cy="397849"/>
            <a:chOff x="0" y="0"/>
            <a:chExt cx="2088956" cy="397848"/>
          </a:xfrm>
        </p:grpSpPr>
        <p:sp>
          <p:nvSpPr>
            <p:cNvPr id="10216" name="TextBox 200"/>
            <p:cNvSpPr txBox="1"/>
            <p:nvPr/>
          </p:nvSpPr>
          <p:spPr>
            <a:xfrm>
              <a:off x="0" y="38275"/>
              <a:ext cx="654767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frame</a:t>
              </a:r>
            </a:p>
          </p:txBody>
        </p:sp>
        <p:grpSp>
          <p:nvGrpSpPr>
            <p:cNvPr id="10226" name="Group 2"/>
            <p:cNvGrpSpPr/>
            <p:nvPr/>
          </p:nvGrpSpPr>
          <p:grpSpPr>
            <a:xfrm>
              <a:off x="741167" y="0"/>
              <a:ext cx="1347790" cy="397849"/>
              <a:chOff x="0" y="0"/>
              <a:chExt cx="1347789" cy="397848"/>
            </a:xfrm>
          </p:grpSpPr>
          <p:grpSp>
            <p:nvGrpSpPr>
              <p:cNvPr id="10219" name="Group 182"/>
              <p:cNvGrpSpPr/>
              <p:nvPr/>
            </p:nvGrpSpPr>
            <p:grpSpPr>
              <a:xfrm>
                <a:off x="0" y="63069"/>
                <a:ext cx="1347790" cy="288824"/>
                <a:chOff x="0" y="0"/>
                <a:chExt cx="1347789" cy="288823"/>
              </a:xfrm>
            </p:grpSpPr>
            <p:sp>
              <p:nvSpPr>
                <p:cNvPr id="10217" name="Rectangle 183"/>
                <p:cNvSpPr/>
                <p:nvPr/>
              </p:nvSpPr>
              <p:spPr>
                <a:xfrm>
                  <a:off x="0" y="22174"/>
                  <a:ext cx="1347790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218" name="Rectangle 184"/>
                <p:cNvSpPr txBox="1"/>
                <p:nvPr/>
              </p:nvSpPr>
              <p:spPr>
                <a:xfrm>
                  <a:off x="995445" y="0"/>
                  <a:ext cx="252250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sp>
            <p:nvSpPr>
              <p:cNvPr id="10220" name="Rectangle 181"/>
              <p:cNvSpPr txBox="1"/>
              <p:nvPr/>
            </p:nvSpPr>
            <p:spPr>
              <a:xfrm>
                <a:off x="562708" y="2256"/>
                <a:ext cx="274884" cy="39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  <p:sp>
            <p:nvSpPr>
              <p:cNvPr id="10221" name="Rectangle 181"/>
              <p:cNvSpPr txBox="1"/>
              <p:nvPr/>
            </p:nvSpPr>
            <p:spPr>
              <a:xfrm>
                <a:off x="279196" y="0"/>
                <a:ext cx="317300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n</a:t>
                </a:r>
              </a:p>
            </p:txBody>
          </p:sp>
          <p:sp>
            <p:nvSpPr>
              <p:cNvPr id="10222" name="Straight Connector 221"/>
              <p:cNvSpPr/>
              <p:nvPr/>
            </p:nvSpPr>
            <p:spPr>
              <a:xfrm>
                <a:off x="856855" y="85243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23" name="Straight Connector 222"/>
              <p:cNvSpPr/>
              <p:nvPr/>
            </p:nvSpPr>
            <p:spPr>
              <a:xfrm flipH="1">
                <a:off x="576356" y="83531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224" name="Rectangle 181"/>
              <p:cNvSpPr txBox="1"/>
              <p:nvPr/>
            </p:nvSpPr>
            <p:spPr>
              <a:xfrm>
                <a:off x="20115" y="3753"/>
                <a:ext cx="266401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l</a:t>
                </a:r>
              </a:p>
            </p:txBody>
          </p:sp>
          <p:sp>
            <p:nvSpPr>
              <p:cNvPr id="10225" name="Straight Connector 224"/>
              <p:cNvSpPr/>
              <p:nvPr/>
            </p:nvSpPr>
            <p:spPr>
              <a:xfrm flipH="1">
                <a:off x="273808" y="82780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1022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229" name="Picture 19" descr="Picture 1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03651" y="2422861"/>
            <a:ext cx="401302" cy="5533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30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681955" y="3154579"/>
            <a:ext cx="451830" cy="621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31" name="Picture 18" descr="Picture 1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655898" y="3926006"/>
            <a:ext cx="505594" cy="6954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32" name="Picture 27" descr="Picture 2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43303" y="3225238"/>
            <a:ext cx="451830" cy="621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33" name="Picture 28" descr="Picture 2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66221" y="2509416"/>
            <a:ext cx="401302" cy="5533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34" name="Picture 29" descr="Picture 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81613" y="1739407"/>
            <a:ext cx="351910" cy="4882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7" dur="500"/>
                                        <p:tgtEl>
                                          <p:spTgt spid="1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path" nodeType="clickEffect" presetSubtype="0" presetID="-1" grpId="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001170 0.113660" origin="layout" pathEditMode="relative">
                                      <p:cBhvr>
                                        <p:cTn id="19" dur="2000" fill="hold"/>
                                        <p:tgtEl>
                                          <p:spTgt spid="10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Class="exit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2" dur="500" fill="hold"/>
                                        <p:tgtEl>
                                          <p:spTgt spid="10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Class="entr" nodeType="afterEffect" presetSubtype="1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7" dur="500"/>
                                        <p:tgtEl>
                                          <p:spTgt spid="1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Class="exit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500"/>
                                        <p:tgtEl>
                                          <p:spTgt spid="1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path" nodeType="clickEffect" presetSubtype="0" presetID="-1" grpId="9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000258 0.113419" origin="layout" pathEditMode="relative">
                                      <p:cBhvr>
                                        <p:cTn id="38" dur="2000" fill="hold"/>
                                        <p:tgtEl>
                                          <p:spTgt spid="10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Class="exit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1" dur="500" fill="hold"/>
                                        <p:tgtEl>
                                          <p:spTgt spid="10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Class="entr" nodeType="afterEffect" presetSubtype="1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6" dur="500"/>
                                        <p:tgtEl>
                                          <p:spTgt spid="1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Class="exit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Class="entr" nodeType="afterEffect" presetID="10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3" dur="500"/>
                                        <p:tgtEl>
                                          <p:spTgt spid="1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path" nodeType="clickEffect" presetSubtype="0" presetID="-1" grpId="1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000 0.111570" origin="layout" pathEditMode="relative">
                                      <p:cBhvr>
                                        <p:cTn id="57" dur="2000" fill="hold"/>
                                        <p:tgtEl>
                                          <p:spTgt spid="10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Class="exit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60" dur="500" fill="hold"/>
                                        <p:tgtEl>
                                          <p:spTgt spid="10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Class="entr" nodeType="afterEffect" presetSubtype="1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5" dur="500"/>
                                        <p:tgtEl>
                                          <p:spTgt spid="1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Class="exit" nodeType="after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Class="entr" nodeType="afterEffect" presetID="10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2" dur="500"/>
                                        <p:tgtEl>
                                          <p:spTgt spid="1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click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7" dur="500"/>
                                        <p:tgtEl>
                                          <p:spTgt spid="1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Class="entr" nodeType="afterEffect" presetSubtype="4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81" dur="500"/>
                                        <p:tgtEl>
                                          <p:spTgt spid="1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Class="exit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84" dur="500" fill="hold"/>
                                        <p:tgtEl>
                                          <p:spTgt spid="10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Class="path" nodeType="afterEffect" presetSubtype="0" presetID="-1" grpId="2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51700 0.058800 L 0.303520 0.058800 L 0.439850 -0.050920" origin="layout" pathEditMode="relative">
                                      <p:cBhvr>
                                        <p:cTn id="88" dur="2000" fill="hold"/>
                                        <p:tgtEl>
                                          <p:spTgt spid="102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Class="entr" nodeType="afterEffect" presetID="10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2" dur="500"/>
                                        <p:tgtEl>
                                          <p:spTgt spid="1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Class="entr" nodeType="afterEffect" presetID="10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6" dur="500"/>
                                        <p:tgtEl>
                                          <p:spTgt spid="1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Class="entr" nodeType="after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1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0" dur="500"/>
                                        <p:tgtEl>
                                          <p:spTgt spid="1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229" grpId="12"/>
      <p:bldP build="whole" bldLvl="1" animBg="1" rev="0" advAuto="0" spid="10231" grpId="16"/>
      <p:bldP build="whole" bldLvl="1" animBg="1" rev="0" advAuto="0" spid="10230" grpId="17"/>
      <p:bldP build="whole" bldLvl="1" animBg="1" rev="0" advAuto="0" spid="10233" grpId="24"/>
      <p:bldP build="whole" bldLvl="1" animBg="1" rev="0" advAuto="0" spid="10232" grpId="23"/>
      <p:bldP build="whole" bldLvl="1" animBg="1" rev="0" advAuto="0" spid="10234" grpId="25"/>
      <p:bldP build="whole" bldLvl="1" animBg="1" rev="0" advAuto="0" spid="10227" grpId="18"/>
      <p:bldP build="whole" bldLvl="1" animBg="1" rev="0" advAuto="0" spid="10191" grpId="19"/>
      <p:bldP build="whole" bldLvl="1" animBg="1" rev="0" advAuto="0" spid="10227" grpId="21"/>
      <p:bldP build="whole" bldLvl="1" animBg="1" rev="0" advAuto="0" spid="10096" grpId="2"/>
      <p:bldP build="whole" bldLvl="1" animBg="1" rev="0" advAuto="0" spid="10215" grpId="13"/>
      <p:bldP build="whole" bldLvl="1" animBg="1" rev="0" advAuto="0" spid="10215" grpId="15"/>
      <p:bldP build="whole" bldLvl="1" animBg="1" rev="0" advAuto="0" spid="10205" grpId="8"/>
      <p:bldP build="whole" bldLvl="1" animBg="1" rev="0" advAuto="0" spid="10096" grpId="7"/>
      <p:bldP build="whole" bldLvl="1" animBg="1" rev="0" advAuto="0" spid="10205" grpId="10"/>
      <p:bldP build="whole" bldLvl="1" animBg="1" rev="0" advAuto="0" spid="10188" grpId="20"/>
      <p:bldP build="whole" bldLvl="1" animBg="1" rev="0" advAuto="0" spid="10099" grpId="1"/>
      <p:bldP build="whole" bldLvl="1" animBg="1" rev="0" advAuto="0" spid="10196" grpId="3"/>
      <p:bldP build="whole" bldLvl="1" animBg="1" rev="0" advAuto="0" spid="10196" grpId="5"/>
      <p:bldP build="whole" bldLvl="1" animBg="1" rev="0" advAuto="0" spid="10229" grpId="6"/>
      <p:bldP build="whole" bldLvl="1" animBg="1" rev="0" advAuto="0" spid="10230" grpId="1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6" name="Freeform 99"/>
          <p:cNvSpPr/>
          <p:nvPr/>
        </p:nvSpPr>
        <p:spPr>
          <a:xfrm>
            <a:off x="8197854" y="4478480"/>
            <a:ext cx="454108" cy="9924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6" h="21600" fill="norm" stroke="1" extrusionOk="0">
                <a:moveTo>
                  <a:pt x="21268" y="17156"/>
                </a:moveTo>
                <a:lnTo>
                  <a:pt x="672" y="0"/>
                </a:lnTo>
                <a:cubicBezTo>
                  <a:pt x="447" y="7069"/>
                  <a:pt x="225" y="14139"/>
                  <a:pt x="0" y="21208"/>
                </a:cubicBezTo>
                <a:lnTo>
                  <a:pt x="21070" y="21600"/>
                </a:lnTo>
                <a:cubicBezTo>
                  <a:pt x="20736" y="19934"/>
                  <a:pt x="21600" y="18822"/>
                  <a:pt x="21268" y="17156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248" name="Group 296"/>
          <p:cNvGrpSpPr/>
          <p:nvPr/>
        </p:nvGrpSpPr>
        <p:grpSpPr>
          <a:xfrm>
            <a:off x="8637065" y="5103568"/>
            <a:ext cx="958851" cy="499487"/>
            <a:chOff x="0" y="0"/>
            <a:chExt cx="958850" cy="499486"/>
          </a:xfrm>
        </p:grpSpPr>
        <p:grpSp>
          <p:nvGrpSpPr>
            <p:cNvPr id="10239" name="Freeform 297"/>
            <p:cNvGrpSpPr/>
            <p:nvPr/>
          </p:nvGrpSpPr>
          <p:grpSpPr>
            <a:xfrm>
              <a:off x="-1" y="166398"/>
              <a:ext cx="958852" cy="333089"/>
              <a:chOff x="0" y="0"/>
              <a:chExt cx="958850" cy="333087"/>
            </a:xfrm>
          </p:grpSpPr>
          <p:sp>
            <p:nvSpPr>
              <p:cNvPr id="10237" name="Shape"/>
              <p:cNvSpPr/>
              <p:nvPr/>
            </p:nvSpPr>
            <p:spPr>
              <a:xfrm>
                <a:off x="0" y="10844"/>
                <a:ext cx="958851" cy="3114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3" h="21598" fill="norm" stroke="1" extrusionOk="0">
                    <a:moveTo>
                      <a:pt x="21591" y="51"/>
                    </a:moveTo>
                    <a:lnTo>
                      <a:pt x="21593" y="11403"/>
                    </a:lnTo>
                    <a:cubicBezTo>
                      <a:pt x="20935" y="19011"/>
                      <a:pt x="14479" y="21600"/>
                      <a:pt x="10884" y="21598"/>
                    </a:cubicBezTo>
                    <a:cubicBezTo>
                      <a:pt x="7289" y="21596"/>
                      <a:pt x="649" y="19123"/>
                      <a:pt x="23" y="11390"/>
                    </a:cubicBezTo>
                    <a:cubicBezTo>
                      <a:pt x="32" y="8472"/>
                      <a:pt x="-7" y="2919"/>
                      <a:pt x="1" y="0"/>
                    </a:cubicBezTo>
                    <a:cubicBezTo>
                      <a:pt x="1019" y="6646"/>
                      <a:pt x="7140" y="10014"/>
                      <a:pt x="10738" y="10023"/>
                    </a:cubicBezTo>
                    <a:cubicBezTo>
                      <a:pt x="14336" y="10031"/>
                      <a:pt x="20606" y="7591"/>
                      <a:pt x="21591" y="5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8C2C9"/>
                  </a:gs>
                  <a:gs pos="21000">
                    <a:srgbClr val="FFFFFF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38" name="Text"/>
              <p:cNvSpPr txBox="1"/>
              <p:nvPr/>
            </p:nvSpPr>
            <p:spPr>
              <a:xfrm>
                <a:off x="48894" y="0"/>
                <a:ext cx="861061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</a:t>
                </a:r>
              </a:p>
            </p:txBody>
          </p:sp>
        </p:grpSp>
        <p:grpSp>
          <p:nvGrpSpPr>
            <p:cNvPr id="10242" name="Oval 298"/>
            <p:cNvGrpSpPr/>
            <p:nvPr/>
          </p:nvGrpSpPr>
          <p:grpSpPr>
            <a:xfrm>
              <a:off x="551" y="-1"/>
              <a:ext cx="957689" cy="333089"/>
              <a:chOff x="0" y="0"/>
              <a:chExt cx="957688" cy="333087"/>
            </a:xfrm>
          </p:grpSpPr>
          <p:sp>
            <p:nvSpPr>
              <p:cNvPr id="10240" name="Oval"/>
              <p:cNvSpPr/>
              <p:nvPr/>
            </p:nvSpPr>
            <p:spPr>
              <a:xfrm>
                <a:off x="0" y="12391"/>
                <a:ext cx="957689" cy="308305"/>
              </a:xfrm>
              <a:prstGeom prst="ellipse">
                <a:avLst/>
              </a:prstGeom>
              <a:solidFill>
                <a:srgbClr val="B8C2C9"/>
              </a:solidFill>
              <a:ln w="635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41" name="Text"/>
              <p:cNvSpPr txBox="1"/>
              <p:nvPr/>
            </p:nvSpPr>
            <p:spPr>
              <a:xfrm>
                <a:off x="189145" y="0"/>
                <a:ext cx="579399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</a:t>
                </a:r>
              </a:p>
            </p:txBody>
          </p:sp>
        </p:grpSp>
        <p:grpSp>
          <p:nvGrpSpPr>
            <p:cNvPr id="10247" name="Group 299"/>
            <p:cNvGrpSpPr/>
            <p:nvPr/>
          </p:nvGrpSpPr>
          <p:grpSpPr>
            <a:xfrm>
              <a:off x="142205" y="51576"/>
              <a:ext cx="674261" cy="226539"/>
              <a:chOff x="0" y="0"/>
              <a:chExt cx="674259" cy="226537"/>
            </a:xfrm>
          </p:grpSpPr>
          <p:sp>
            <p:nvSpPr>
              <p:cNvPr id="10243" name="Freeform 300"/>
              <p:cNvSpPr/>
              <p:nvPr/>
            </p:nvSpPr>
            <p:spPr>
              <a:xfrm>
                <a:off x="18650" y="0"/>
                <a:ext cx="637837" cy="1268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44" name="Freeform 301"/>
              <p:cNvSpPr/>
              <p:nvPr/>
            </p:nvSpPr>
            <p:spPr>
              <a:xfrm>
                <a:off x="436116" y="108472"/>
                <a:ext cx="238144" cy="1091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45" name="Freeform 302"/>
              <p:cNvSpPr/>
              <p:nvPr/>
            </p:nvSpPr>
            <p:spPr>
              <a:xfrm>
                <a:off x="-1" y="108472"/>
                <a:ext cx="233840" cy="1079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46" name="Freeform 303"/>
              <p:cNvSpPr/>
              <p:nvPr/>
            </p:nvSpPr>
            <p:spPr>
              <a:xfrm>
                <a:off x="81177" y="55153"/>
                <a:ext cx="508441" cy="1713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10249" name="Rectangle 90"/>
          <p:cNvSpPr/>
          <p:nvPr/>
        </p:nvSpPr>
        <p:spPr>
          <a:xfrm>
            <a:off x="6916745" y="4489446"/>
            <a:ext cx="1273176" cy="94615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  <a:effectLst>
            <a:outerShdw sx="100000" sy="100000" kx="0" ky="0" algn="b" rotWithShape="0" blurRad="127000" dist="38100" dir="1890000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250" name="Text Box 92"/>
          <p:cNvSpPr txBox="1"/>
          <p:nvPr/>
        </p:nvSpPr>
        <p:spPr>
          <a:xfrm>
            <a:off x="6919601" y="4456107"/>
            <a:ext cx="1226186" cy="93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network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link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physical</a:t>
            </a:r>
          </a:p>
        </p:txBody>
      </p:sp>
      <p:sp>
        <p:nvSpPr>
          <p:cNvPr id="10251" name="Rectangle 24"/>
          <p:cNvSpPr/>
          <p:nvPr/>
        </p:nvSpPr>
        <p:spPr>
          <a:xfrm>
            <a:off x="2886137" y="4865756"/>
            <a:ext cx="1273176" cy="153670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  <a:effectLst>
            <a:outerShdw sx="100000" sy="100000" kx="0" ky="0" algn="b" rotWithShape="0" blurRad="76200" dist="38100" dir="1890000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252" name="Text Box 26"/>
          <p:cNvSpPr txBox="1"/>
          <p:nvPr/>
        </p:nvSpPr>
        <p:spPr>
          <a:xfrm>
            <a:off x="2878485" y="4821906"/>
            <a:ext cx="1226186" cy="152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application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transport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network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link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physical</a:t>
            </a:r>
          </a:p>
        </p:txBody>
      </p:sp>
      <p:sp>
        <p:nvSpPr>
          <p:cNvPr id="10253" name="Line 25"/>
          <p:cNvSpPr/>
          <p:nvPr/>
        </p:nvSpPr>
        <p:spPr>
          <a:xfrm>
            <a:off x="2886136" y="5183256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54" name="Line 27"/>
          <p:cNvSpPr/>
          <p:nvPr/>
        </p:nvSpPr>
        <p:spPr>
          <a:xfrm>
            <a:off x="2894073" y="5503931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55" name="Line 28"/>
          <p:cNvSpPr/>
          <p:nvPr/>
        </p:nvSpPr>
        <p:spPr>
          <a:xfrm>
            <a:off x="2898836" y="5784918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56" name="Line 29"/>
          <p:cNvSpPr/>
          <p:nvPr/>
        </p:nvSpPr>
        <p:spPr>
          <a:xfrm>
            <a:off x="2898836" y="6061143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57" name="Rectangle 24"/>
          <p:cNvSpPr/>
          <p:nvPr/>
        </p:nvSpPr>
        <p:spPr>
          <a:xfrm>
            <a:off x="3816356" y="985833"/>
            <a:ext cx="1273176" cy="153670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  <a:effectLst>
            <a:outerShdw sx="100000" sy="100000" kx="0" ky="0" algn="b" rotWithShape="0" blurRad="76200" dist="38100" dir="1890000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258" name="Text Box 26"/>
          <p:cNvSpPr txBox="1"/>
          <p:nvPr/>
        </p:nvSpPr>
        <p:spPr>
          <a:xfrm>
            <a:off x="3808705" y="941983"/>
            <a:ext cx="1226186" cy="152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application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transport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network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link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physical</a:t>
            </a:r>
          </a:p>
        </p:txBody>
      </p:sp>
      <p:sp>
        <p:nvSpPr>
          <p:cNvPr id="10259" name="Freeform 3"/>
          <p:cNvSpPr/>
          <p:nvPr/>
        </p:nvSpPr>
        <p:spPr>
          <a:xfrm>
            <a:off x="8317496" y="2564096"/>
            <a:ext cx="638176" cy="7817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4601"/>
                </a:moveTo>
                <a:lnTo>
                  <a:pt x="1504" y="0"/>
                </a:lnTo>
                <a:lnTo>
                  <a:pt x="0" y="18905"/>
                </a:lnTo>
                <a:lnTo>
                  <a:pt x="13003" y="21600"/>
                </a:lnTo>
                <a:lnTo>
                  <a:pt x="21600" y="14601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267" name="Group 304"/>
          <p:cNvGrpSpPr/>
          <p:nvPr/>
        </p:nvGrpSpPr>
        <p:grpSpPr>
          <a:xfrm>
            <a:off x="8737109" y="2942202"/>
            <a:ext cx="959349" cy="478062"/>
            <a:chOff x="0" y="0"/>
            <a:chExt cx="959348" cy="478061"/>
          </a:xfrm>
        </p:grpSpPr>
        <p:sp>
          <p:nvSpPr>
            <p:cNvPr id="10260" name="Rectangle 305"/>
            <p:cNvSpPr/>
            <p:nvPr/>
          </p:nvSpPr>
          <p:spPr>
            <a:xfrm>
              <a:off x="0" y="285384"/>
              <a:ext cx="955897" cy="192678"/>
            </a:xfrm>
            <a:prstGeom prst="rect">
              <a:avLst/>
            </a:prstGeom>
            <a:gradFill flip="none" rotWithShape="1">
              <a:gsLst>
                <a:gs pos="0">
                  <a:srgbClr val="B8C2C9"/>
                </a:gs>
                <a:gs pos="21000">
                  <a:srgbClr val="FFFFFF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261" name="Freeform 306"/>
            <p:cNvSpPr/>
            <p:nvPr/>
          </p:nvSpPr>
          <p:spPr>
            <a:xfrm>
              <a:off x="2657" y="0"/>
              <a:ext cx="956692" cy="292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429"/>
                  </a:moveTo>
                  <a:lnTo>
                    <a:pt x="1440" y="0"/>
                  </a:lnTo>
                  <a:lnTo>
                    <a:pt x="19500" y="343"/>
                  </a:lnTo>
                  <a:lnTo>
                    <a:pt x="21600" y="21600"/>
                  </a:lnTo>
                  <a:lnTo>
                    <a:pt x="0" y="21429"/>
                  </a:lnTo>
                  <a:close/>
                </a:path>
              </a:pathLst>
            </a:custGeom>
            <a:solidFill>
              <a:srgbClr val="B8C2C9"/>
            </a:solidFill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10266" name="Group 307"/>
            <p:cNvGrpSpPr/>
            <p:nvPr/>
          </p:nvGrpSpPr>
          <p:grpSpPr>
            <a:xfrm>
              <a:off x="69094" y="34076"/>
              <a:ext cx="809621" cy="235399"/>
              <a:chOff x="0" y="0"/>
              <a:chExt cx="809620" cy="235397"/>
            </a:xfrm>
          </p:grpSpPr>
          <p:sp>
            <p:nvSpPr>
              <p:cNvPr id="10262" name="Freeform 308"/>
              <p:cNvSpPr/>
              <p:nvPr/>
            </p:nvSpPr>
            <p:spPr>
              <a:xfrm>
                <a:off x="22394" y="-1"/>
                <a:ext cx="765886" cy="1317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7365" y="0"/>
                    </a:moveTo>
                    <a:lnTo>
                      <a:pt x="21600" y="4925"/>
                    </a:lnTo>
                    <a:lnTo>
                      <a:pt x="18461" y="11148"/>
                    </a:lnTo>
                    <a:lnTo>
                      <a:pt x="17638" y="9623"/>
                    </a:lnTo>
                    <a:lnTo>
                      <a:pt x="10634" y="21600"/>
                    </a:lnTo>
                    <a:lnTo>
                      <a:pt x="4216" y="9406"/>
                    </a:lnTo>
                    <a:lnTo>
                      <a:pt x="2885" y="11148"/>
                    </a:lnTo>
                    <a:lnTo>
                      <a:pt x="0" y="5658"/>
                    </a:lnTo>
                    <a:lnTo>
                      <a:pt x="4216" y="348"/>
                    </a:lnTo>
                    <a:lnTo>
                      <a:pt x="10742" y="12674"/>
                    </a:lnTo>
                    <a:lnTo>
                      <a:pt x="17365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63" name="Freeform 309"/>
              <p:cNvSpPr/>
              <p:nvPr/>
            </p:nvSpPr>
            <p:spPr>
              <a:xfrm>
                <a:off x="523669" y="112714"/>
                <a:ext cx="285952" cy="1134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60" y="0"/>
                    </a:moveTo>
                    <a:lnTo>
                      <a:pt x="21600" y="16577"/>
                    </a:lnTo>
                    <a:lnTo>
                      <a:pt x="14183" y="21600"/>
                    </a:lnTo>
                    <a:lnTo>
                      <a:pt x="0" y="10800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64" name="Freeform 310"/>
              <p:cNvSpPr/>
              <p:nvPr/>
            </p:nvSpPr>
            <p:spPr>
              <a:xfrm>
                <a:off x="0" y="112714"/>
                <a:ext cx="280784" cy="1121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467" y="0"/>
                    </a:moveTo>
                    <a:lnTo>
                      <a:pt x="21600" y="11435"/>
                    </a:lnTo>
                    <a:lnTo>
                      <a:pt x="7288" y="21600"/>
                    </a:lnTo>
                    <a:lnTo>
                      <a:pt x="0" y="16772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265" name="Freeform 311"/>
              <p:cNvSpPr/>
              <p:nvPr/>
            </p:nvSpPr>
            <p:spPr>
              <a:xfrm>
                <a:off x="97473" y="57310"/>
                <a:ext cx="610514" cy="178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939" y="1120"/>
                    </a:moveTo>
                    <a:lnTo>
                      <a:pt x="2585" y="0"/>
                    </a:lnTo>
                    <a:lnTo>
                      <a:pt x="10744" y="9007"/>
                    </a:lnTo>
                    <a:lnTo>
                      <a:pt x="19467" y="0"/>
                    </a:lnTo>
                    <a:lnTo>
                      <a:pt x="20747" y="1120"/>
                    </a:lnTo>
                    <a:lnTo>
                      <a:pt x="15265" y="6833"/>
                    </a:lnTo>
                    <a:lnTo>
                      <a:pt x="15222" y="13740"/>
                    </a:lnTo>
                    <a:lnTo>
                      <a:pt x="21600" y="20480"/>
                    </a:lnTo>
                    <a:lnTo>
                      <a:pt x="19954" y="21440"/>
                    </a:lnTo>
                    <a:lnTo>
                      <a:pt x="10813" y="11360"/>
                    </a:lnTo>
                    <a:lnTo>
                      <a:pt x="1488" y="21600"/>
                    </a:lnTo>
                    <a:lnTo>
                      <a:pt x="0" y="20263"/>
                    </a:lnTo>
                    <a:lnTo>
                      <a:pt x="6457" y="13760"/>
                    </a:lnTo>
                    <a:cubicBezTo>
                      <a:pt x="6457" y="11573"/>
                      <a:pt x="6392" y="9067"/>
                      <a:pt x="6392" y="6880"/>
                    </a:cubicBezTo>
                    <a:lnTo>
                      <a:pt x="1061" y="1280"/>
                    </a:lnTo>
                    <a:cubicBezTo>
                      <a:pt x="153" y="320"/>
                      <a:pt x="980" y="1173"/>
                      <a:pt x="939" y="1120"/>
                    </a:cubicBezTo>
                    <a:close/>
                  </a:path>
                </a:pathLst>
              </a:custGeom>
              <a:solidFill>
                <a:srgbClr val="8FAAD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sp>
        <p:nvSpPr>
          <p:cNvPr id="10268" name="Title 1"/>
          <p:cNvSpPr txBox="1"/>
          <p:nvPr>
            <p:ph type="title"/>
          </p:nvPr>
        </p:nvSpPr>
        <p:spPr>
          <a:xfrm>
            <a:off x="6978812" y="264748"/>
            <a:ext cx="4683535" cy="1680849"/>
          </a:xfrm>
          <a:prstGeom prst="rect">
            <a:avLst/>
          </a:prstGeom>
        </p:spPr>
        <p:txBody>
          <a:bodyPr/>
          <a:lstStyle/>
          <a:p>
            <a:pPr/>
            <a:r>
              <a:t>Encapsulation: an end-end view</a:t>
            </a:r>
          </a:p>
        </p:txBody>
      </p:sp>
      <p:sp>
        <p:nvSpPr>
          <p:cNvPr id="10269" name="Freeform 2"/>
          <p:cNvSpPr/>
          <p:nvPr/>
        </p:nvSpPr>
        <p:spPr>
          <a:xfrm>
            <a:off x="5037144" y="1701795"/>
            <a:ext cx="4048126" cy="3833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15" y="0"/>
                </a:moveTo>
                <a:lnTo>
                  <a:pt x="21549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>
            <a:solidFill>
              <a:srgbClr val="E7E6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70" name="Text Box 8"/>
          <p:cNvSpPr txBox="1"/>
          <p:nvPr/>
        </p:nvSpPr>
        <p:spPr>
          <a:xfrm>
            <a:off x="3981139" y="477832"/>
            <a:ext cx="1018988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</a:t>
            </a:r>
          </a:p>
        </p:txBody>
      </p:sp>
      <p:sp>
        <p:nvSpPr>
          <p:cNvPr id="10271" name="Freeform 10"/>
          <p:cNvSpPr/>
          <p:nvPr/>
        </p:nvSpPr>
        <p:spPr>
          <a:xfrm>
            <a:off x="5087944" y="959944"/>
            <a:ext cx="360363" cy="1596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548" y="8487"/>
                </a:moveTo>
                <a:lnTo>
                  <a:pt x="0" y="0"/>
                </a:lnTo>
                <a:lnTo>
                  <a:pt x="0" y="21600"/>
                </a:lnTo>
                <a:lnTo>
                  <a:pt x="21600" y="11875"/>
                </a:lnTo>
                <a:lnTo>
                  <a:pt x="20548" y="8487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72" name="Line 25"/>
          <p:cNvSpPr/>
          <p:nvPr/>
        </p:nvSpPr>
        <p:spPr>
          <a:xfrm>
            <a:off x="3816355" y="1303334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73" name="Line 27"/>
          <p:cNvSpPr/>
          <p:nvPr/>
        </p:nvSpPr>
        <p:spPr>
          <a:xfrm>
            <a:off x="3824294" y="1624009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74" name="Line 28"/>
          <p:cNvSpPr/>
          <p:nvPr/>
        </p:nvSpPr>
        <p:spPr>
          <a:xfrm>
            <a:off x="3829055" y="1904995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75" name="Line 29"/>
          <p:cNvSpPr/>
          <p:nvPr/>
        </p:nvSpPr>
        <p:spPr>
          <a:xfrm>
            <a:off x="3829055" y="2181220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282" name="Group 39"/>
          <p:cNvGrpSpPr/>
          <p:nvPr/>
        </p:nvGrpSpPr>
        <p:grpSpPr>
          <a:xfrm>
            <a:off x="2438406" y="1571423"/>
            <a:ext cx="1082676" cy="394096"/>
            <a:chOff x="0" y="0"/>
            <a:chExt cx="1082675" cy="394095"/>
          </a:xfrm>
        </p:grpSpPr>
        <p:sp>
          <p:nvSpPr>
            <p:cNvPr id="10276" name="Rectangle 40"/>
            <p:cNvSpPr/>
            <p:nvPr/>
          </p:nvSpPr>
          <p:spPr>
            <a:xfrm>
              <a:off x="0" y="77985"/>
              <a:ext cx="1082675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277" name="Rectangle 41"/>
            <p:cNvSpPr txBox="1"/>
            <p:nvPr/>
          </p:nvSpPr>
          <p:spPr>
            <a:xfrm>
              <a:off x="333252" y="0"/>
              <a:ext cx="274884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278" name="Rectangle 42"/>
            <p:cNvSpPr txBox="1"/>
            <p:nvPr/>
          </p:nvSpPr>
          <p:spPr>
            <a:xfrm>
              <a:off x="16768" y="0"/>
              <a:ext cx="317301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279" name="Rectangle 43"/>
            <p:cNvSpPr txBox="1"/>
            <p:nvPr/>
          </p:nvSpPr>
          <p:spPr>
            <a:xfrm>
              <a:off x="742238" y="58986"/>
              <a:ext cx="252250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10280" name="Line 44"/>
            <p:cNvSpPr/>
            <p:nvPr/>
          </p:nvSpPr>
          <p:spPr>
            <a:xfrm flipH="1">
              <a:off x="296862" y="87510"/>
              <a:ext cx="1" cy="2444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281" name="Line 45"/>
            <p:cNvSpPr/>
            <p:nvPr/>
          </p:nvSpPr>
          <p:spPr>
            <a:xfrm flipH="1">
              <a:off x="601662" y="82747"/>
              <a:ext cx="1" cy="2476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283" name="Text Box 5"/>
          <p:cNvSpPr txBox="1"/>
          <p:nvPr/>
        </p:nvSpPr>
        <p:spPr>
          <a:xfrm>
            <a:off x="1660213" y="1250944"/>
            <a:ext cx="883505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segment</a:t>
            </a:r>
          </a:p>
        </p:txBody>
      </p:sp>
      <p:grpSp>
        <p:nvGrpSpPr>
          <p:cNvPr id="10286" name="Group 178"/>
          <p:cNvGrpSpPr/>
          <p:nvPr/>
        </p:nvGrpSpPr>
        <p:grpSpPr>
          <a:xfrm>
            <a:off x="2755906" y="1239635"/>
            <a:ext cx="290637" cy="394096"/>
            <a:chOff x="0" y="0"/>
            <a:chExt cx="290635" cy="394095"/>
          </a:xfrm>
        </p:grpSpPr>
        <p:sp>
          <p:nvSpPr>
            <p:cNvPr id="10284" name="Rectangle 47"/>
            <p:cNvSpPr/>
            <p:nvPr/>
          </p:nvSpPr>
          <p:spPr>
            <a:xfrm>
              <a:off x="0" y="77985"/>
              <a:ext cx="280988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285" name="Rectangle 48"/>
            <p:cNvSpPr txBox="1"/>
            <p:nvPr/>
          </p:nvSpPr>
          <p:spPr>
            <a:xfrm>
              <a:off x="15751" y="0"/>
              <a:ext cx="274885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</p:grpSp>
      <p:sp>
        <p:nvSpPr>
          <p:cNvPr id="10287" name="Text Box 4"/>
          <p:cNvSpPr txBox="1"/>
          <p:nvPr/>
        </p:nvSpPr>
        <p:spPr>
          <a:xfrm>
            <a:off x="1460189" y="1590669"/>
            <a:ext cx="962582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datagram</a:t>
            </a:r>
          </a:p>
        </p:txBody>
      </p:sp>
      <p:sp>
        <p:nvSpPr>
          <p:cNvPr id="10288" name="Text Box 54"/>
          <p:cNvSpPr txBox="1"/>
          <p:nvPr/>
        </p:nvSpPr>
        <p:spPr>
          <a:xfrm>
            <a:off x="2812740" y="4411659"/>
            <a:ext cx="1332717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0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destination</a:t>
            </a:r>
          </a:p>
        </p:txBody>
      </p:sp>
      <p:grpSp>
        <p:nvGrpSpPr>
          <p:cNvPr id="10297" name="Group 64"/>
          <p:cNvGrpSpPr/>
          <p:nvPr/>
        </p:nvGrpSpPr>
        <p:grpSpPr>
          <a:xfrm>
            <a:off x="1386837" y="5730673"/>
            <a:ext cx="1338907" cy="394096"/>
            <a:chOff x="0" y="0"/>
            <a:chExt cx="1338906" cy="394095"/>
          </a:xfrm>
        </p:grpSpPr>
        <p:sp>
          <p:nvSpPr>
            <p:cNvPr id="10289" name="Rectangle 65"/>
            <p:cNvSpPr/>
            <p:nvPr/>
          </p:nvSpPr>
          <p:spPr>
            <a:xfrm>
              <a:off x="5406" y="77985"/>
              <a:ext cx="1333501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290" name="Rectangle 66"/>
            <p:cNvSpPr txBox="1"/>
            <p:nvPr/>
          </p:nvSpPr>
          <p:spPr>
            <a:xfrm>
              <a:off x="589483" y="0"/>
              <a:ext cx="274884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291" name="Rectangle 67"/>
            <p:cNvSpPr txBox="1"/>
            <p:nvPr/>
          </p:nvSpPr>
          <p:spPr>
            <a:xfrm>
              <a:off x="273000" y="0"/>
              <a:ext cx="3173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292" name="Rectangle 68"/>
            <p:cNvSpPr txBox="1"/>
            <p:nvPr/>
          </p:nvSpPr>
          <p:spPr>
            <a:xfrm>
              <a:off x="0" y="0"/>
              <a:ext cx="2664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l</a:t>
              </a:r>
            </a:p>
          </p:txBody>
        </p:sp>
        <p:sp>
          <p:nvSpPr>
            <p:cNvPr id="10293" name="Rectangle 69"/>
            <p:cNvSpPr txBox="1"/>
            <p:nvPr/>
          </p:nvSpPr>
          <p:spPr>
            <a:xfrm>
              <a:off x="998469" y="58986"/>
              <a:ext cx="252250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10294" name="Line 70"/>
            <p:cNvSpPr/>
            <p:nvPr/>
          </p:nvSpPr>
          <p:spPr>
            <a:xfrm flipH="1">
              <a:off x="267343" y="77985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295" name="Line 71"/>
            <p:cNvSpPr/>
            <p:nvPr/>
          </p:nvSpPr>
          <p:spPr>
            <a:xfrm>
              <a:off x="553093" y="87510"/>
              <a:ext cx="1" cy="2444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296" name="Line 72"/>
            <p:cNvSpPr/>
            <p:nvPr/>
          </p:nvSpPr>
          <p:spPr>
            <a:xfrm>
              <a:off x="857893" y="82747"/>
              <a:ext cx="1" cy="2476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304" name="Group 73"/>
          <p:cNvGrpSpPr/>
          <p:nvPr/>
        </p:nvGrpSpPr>
        <p:grpSpPr>
          <a:xfrm>
            <a:off x="1639895" y="5432223"/>
            <a:ext cx="1082675" cy="394096"/>
            <a:chOff x="0" y="0"/>
            <a:chExt cx="1082674" cy="394095"/>
          </a:xfrm>
        </p:grpSpPr>
        <p:sp>
          <p:nvSpPr>
            <p:cNvPr id="10298" name="Rectangle 74"/>
            <p:cNvSpPr/>
            <p:nvPr/>
          </p:nvSpPr>
          <p:spPr>
            <a:xfrm>
              <a:off x="0" y="77985"/>
              <a:ext cx="1082675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299" name="Rectangle 75"/>
            <p:cNvSpPr txBox="1"/>
            <p:nvPr/>
          </p:nvSpPr>
          <p:spPr>
            <a:xfrm>
              <a:off x="333251" y="0"/>
              <a:ext cx="274884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300" name="Rectangle 76"/>
            <p:cNvSpPr txBox="1"/>
            <p:nvPr/>
          </p:nvSpPr>
          <p:spPr>
            <a:xfrm>
              <a:off x="16768" y="0"/>
              <a:ext cx="317301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301" name="Rectangle 77"/>
            <p:cNvSpPr txBox="1"/>
            <p:nvPr/>
          </p:nvSpPr>
          <p:spPr>
            <a:xfrm>
              <a:off x="742237" y="58986"/>
              <a:ext cx="252250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10302" name="Line 78"/>
            <p:cNvSpPr/>
            <p:nvPr/>
          </p:nvSpPr>
          <p:spPr>
            <a:xfrm flipH="1">
              <a:off x="296862" y="87510"/>
              <a:ext cx="1" cy="2444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03" name="Line 79"/>
            <p:cNvSpPr/>
            <p:nvPr/>
          </p:nvSpPr>
          <p:spPr>
            <a:xfrm flipH="1">
              <a:off x="601662" y="82747"/>
              <a:ext cx="1" cy="2476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309" name="Group 80"/>
          <p:cNvGrpSpPr/>
          <p:nvPr/>
        </p:nvGrpSpPr>
        <p:grpSpPr>
          <a:xfrm>
            <a:off x="1943105" y="5124248"/>
            <a:ext cx="765176" cy="394096"/>
            <a:chOff x="0" y="0"/>
            <a:chExt cx="765175" cy="394095"/>
          </a:xfrm>
        </p:grpSpPr>
        <p:sp>
          <p:nvSpPr>
            <p:cNvPr id="10305" name="Rectangle 81"/>
            <p:cNvSpPr/>
            <p:nvPr/>
          </p:nvSpPr>
          <p:spPr>
            <a:xfrm>
              <a:off x="0" y="77985"/>
              <a:ext cx="765175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06" name="Rectangle 82"/>
            <p:cNvSpPr txBox="1"/>
            <p:nvPr/>
          </p:nvSpPr>
          <p:spPr>
            <a:xfrm>
              <a:off x="15751" y="0"/>
              <a:ext cx="274885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307" name="Rectangle 83"/>
            <p:cNvSpPr txBox="1"/>
            <p:nvPr/>
          </p:nvSpPr>
          <p:spPr>
            <a:xfrm>
              <a:off x="424738" y="58986"/>
              <a:ext cx="252250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10308" name="Line 84"/>
            <p:cNvSpPr/>
            <p:nvPr/>
          </p:nvSpPr>
          <p:spPr>
            <a:xfrm flipH="1">
              <a:off x="284162" y="82747"/>
              <a:ext cx="1" cy="2476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312" name="Group 85"/>
          <p:cNvGrpSpPr/>
          <p:nvPr/>
        </p:nvGrpSpPr>
        <p:grpSpPr>
          <a:xfrm>
            <a:off x="2208218" y="4870496"/>
            <a:ext cx="495301" cy="288825"/>
            <a:chOff x="0" y="0"/>
            <a:chExt cx="495300" cy="288823"/>
          </a:xfrm>
        </p:grpSpPr>
        <p:sp>
          <p:nvSpPr>
            <p:cNvPr id="10310" name="Rectangle 86"/>
            <p:cNvSpPr/>
            <p:nvPr/>
          </p:nvSpPr>
          <p:spPr>
            <a:xfrm>
              <a:off x="0" y="18999"/>
              <a:ext cx="495300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11" name="Rectangle 87"/>
            <p:cNvSpPr txBox="1"/>
            <p:nvPr/>
          </p:nvSpPr>
          <p:spPr>
            <a:xfrm>
              <a:off x="154863" y="0"/>
              <a:ext cx="252249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</p:grpSp>
      <p:sp>
        <p:nvSpPr>
          <p:cNvPr id="10313" name="Line 91"/>
          <p:cNvSpPr/>
          <p:nvPr/>
        </p:nvSpPr>
        <p:spPr>
          <a:xfrm>
            <a:off x="6916745" y="4806946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14" name="Line 93"/>
          <p:cNvSpPr/>
          <p:nvPr/>
        </p:nvSpPr>
        <p:spPr>
          <a:xfrm>
            <a:off x="6924681" y="5127621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15" name="Rectangle 96"/>
          <p:cNvSpPr/>
          <p:nvPr/>
        </p:nvSpPr>
        <p:spPr>
          <a:xfrm>
            <a:off x="7083432" y="2597147"/>
            <a:ext cx="1273176" cy="65563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/>
          </a:ln>
          <a:effectLst>
            <a:outerShdw sx="100000" sy="100000" kx="0" ky="0" algn="b" rotWithShape="0" blurRad="50800" dist="38100" dir="1890000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316" name="Line 97"/>
          <p:cNvSpPr/>
          <p:nvPr/>
        </p:nvSpPr>
        <p:spPr>
          <a:xfrm>
            <a:off x="7083432" y="2914647"/>
            <a:ext cx="1263651" cy="3176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17" name="Freeform 114"/>
          <p:cNvSpPr/>
          <p:nvPr/>
        </p:nvSpPr>
        <p:spPr>
          <a:xfrm>
            <a:off x="3048006" y="787395"/>
            <a:ext cx="5264151" cy="54943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680" y="0"/>
                </a:moveTo>
                <a:lnTo>
                  <a:pt x="5719" y="9243"/>
                </a:lnTo>
                <a:lnTo>
                  <a:pt x="17014" y="9243"/>
                </a:lnTo>
                <a:lnTo>
                  <a:pt x="17014" y="7358"/>
                </a:lnTo>
                <a:lnTo>
                  <a:pt x="21457" y="7358"/>
                </a:lnTo>
                <a:lnTo>
                  <a:pt x="21600" y="19540"/>
                </a:lnTo>
                <a:lnTo>
                  <a:pt x="20506" y="18636"/>
                </a:lnTo>
                <a:lnTo>
                  <a:pt x="20473" y="14897"/>
                </a:lnTo>
                <a:lnTo>
                  <a:pt x="16317" y="14897"/>
                </a:lnTo>
                <a:lnTo>
                  <a:pt x="16317" y="19160"/>
                </a:lnTo>
                <a:lnTo>
                  <a:pt x="6885" y="21600"/>
                </a:lnTo>
                <a:lnTo>
                  <a:pt x="0" y="21600"/>
                </a:lnTo>
                <a:lnTo>
                  <a:pt x="0" y="15634"/>
                </a:lnTo>
              </a:path>
            </a:pathLst>
          </a:custGeom>
          <a:ln w="28575">
            <a:solidFill>
              <a:srgbClr val="CC0000"/>
            </a:solidFill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10326" name="Group 115"/>
          <p:cNvGrpSpPr/>
          <p:nvPr/>
        </p:nvGrpSpPr>
        <p:grpSpPr>
          <a:xfrm>
            <a:off x="5473061" y="4749598"/>
            <a:ext cx="1338908" cy="394096"/>
            <a:chOff x="0" y="0"/>
            <a:chExt cx="1338906" cy="394095"/>
          </a:xfrm>
        </p:grpSpPr>
        <p:sp>
          <p:nvSpPr>
            <p:cNvPr id="10318" name="Rectangle 116"/>
            <p:cNvSpPr/>
            <p:nvPr/>
          </p:nvSpPr>
          <p:spPr>
            <a:xfrm>
              <a:off x="5406" y="77985"/>
              <a:ext cx="1333501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19" name="Rectangle 117"/>
            <p:cNvSpPr txBox="1"/>
            <p:nvPr/>
          </p:nvSpPr>
          <p:spPr>
            <a:xfrm>
              <a:off x="589483" y="0"/>
              <a:ext cx="274884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320" name="Rectangle 118"/>
            <p:cNvSpPr txBox="1"/>
            <p:nvPr/>
          </p:nvSpPr>
          <p:spPr>
            <a:xfrm>
              <a:off x="273000" y="0"/>
              <a:ext cx="3173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321" name="Rectangle 119"/>
            <p:cNvSpPr txBox="1"/>
            <p:nvPr/>
          </p:nvSpPr>
          <p:spPr>
            <a:xfrm>
              <a:off x="0" y="0"/>
              <a:ext cx="2664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l</a:t>
              </a:r>
            </a:p>
          </p:txBody>
        </p:sp>
        <p:sp>
          <p:nvSpPr>
            <p:cNvPr id="10322" name="Rectangle 120"/>
            <p:cNvSpPr txBox="1"/>
            <p:nvPr/>
          </p:nvSpPr>
          <p:spPr>
            <a:xfrm>
              <a:off x="998469" y="58986"/>
              <a:ext cx="252250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10323" name="Line 121"/>
            <p:cNvSpPr/>
            <p:nvPr/>
          </p:nvSpPr>
          <p:spPr>
            <a:xfrm flipH="1">
              <a:off x="267343" y="77985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24" name="Line 122"/>
            <p:cNvSpPr/>
            <p:nvPr/>
          </p:nvSpPr>
          <p:spPr>
            <a:xfrm>
              <a:off x="553093" y="87510"/>
              <a:ext cx="1" cy="2444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25" name="Line 123"/>
            <p:cNvSpPr/>
            <p:nvPr/>
          </p:nvSpPr>
          <p:spPr>
            <a:xfrm>
              <a:off x="857893" y="82747"/>
              <a:ext cx="1" cy="2476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333" name="Group 124"/>
          <p:cNvGrpSpPr/>
          <p:nvPr/>
        </p:nvGrpSpPr>
        <p:grpSpPr>
          <a:xfrm>
            <a:off x="5716594" y="4443209"/>
            <a:ext cx="1082675" cy="394097"/>
            <a:chOff x="0" y="0"/>
            <a:chExt cx="1082674" cy="394095"/>
          </a:xfrm>
        </p:grpSpPr>
        <p:sp>
          <p:nvSpPr>
            <p:cNvPr id="10327" name="Rectangle 125"/>
            <p:cNvSpPr/>
            <p:nvPr/>
          </p:nvSpPr>
          <p:spPr>
            <a:xfrm>
              <a:off x="0" y="77985"/>
              <a:ext cx="1082675" cy="25717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28" name="Rectangle 126"/>
            <p:cNvSpPr txBox="1"/>
            <p:nvPr/>
          </p:nvSpPr>
          <p:spPr>
            <a:xfrm>
              <a:off x="333251" y="0"/>
              <a:ext cx="274884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329" name="Rectangle 127"/>
            <p:cNvSpPr txBox="1"/>
            <p:nvPr/>
          </p:nvSpPr>
          <p:spPr>
            <a:xfrm>
              <a:off x="16768" y="0"/>
              <a:ext cx="317301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330" name="Rectangle 128"/>
            <p:cNvSpPr txBox="1"/>
            <p:nvPr/>
          </p:nvSpPr>
          <p:spPr>
            <a:xfrm>
              <a:off x="742237" y="58986"/>
              <a:ext cx="252250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10331" name="Line 129"/>
            <p:cNvSpPr/>
            <p:nvPr/>
          </p:nvSpPr>
          <p:spPr>
            <a:xfrm flipH="1">
              <a:off x="296862" y="87510"/>
              <a:ext cx="1" cy="2444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32" name="Line 130"/>
            <p:cNvSpPr/>
            <p:nvPr/>
          </p:nvSpPr>
          <p:spPr>
            <a:xfrm flipH="1">
              <a:off x="601662" y="82748"/>
              <a:ext cx="1" cy="2476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340" name="Group 140"/>
          <p:cNvGrpSpPr/>
          <p:nvPr/>
        </p:nvGrpSpPr>
        <p:grpSpPr>
          <a:xfrm>
            <a:off x="8488370" y="4809923"/>
            <a:ext cx="1082675" cy="394096"/>
            <a:chOff x="0" y="0"/>
            <a:chExt cx="1082674" cy="394095"/>
          </a:xfrm>
        </p:grpSpPr>
        <p:sp>
          <p:nvSpPr>
            <p:cNvPr id="10334" name="Rectangle 141"/>
            <p:cNvSpPr/>
            <p:nvPr/>
          </p:nvSpPr>
          <p:spPr>
            <a:xfrm>
              <a:off x="0" y="77985"/>
              <a:ext cx="1082675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35" name="Rectangle 142"/>
            <p:cNvSpPr txBox="1"/>
            <p:nvPr/>
          </p:nvSpPr>
          <p:spPr>
            <a:xfrm>
              <a:off x="333251" y="0"/>
              <a:ext cx="274884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336" name="Rectangle 143"/>
            <p:cNvSpPr txBox="1"/>
            <p:nvPr/>
          </p:nvSpPr>
          <p:spPr>
            <a:xfrm>
              <a:off x="16768" y="0"/>
              <a:ext cx="317301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337" name="Rectangle 144"/>
            <p:cNvSpPr txBox="1"/>
            <p:nvPr/>
          </p:nvSpPr>
          <p:spPr>
            <a:xfrm>
              <a:off x="742237" y="58986"/>
              <a:ext cx="252250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10338" name="Line 145"/>
            <p:cNvSpPr/>
            <p:nvPr/>
          </p:nvSpPr>
          <p:spPr>
            <a:xfrm flipH="1">
              <a:off x="296862" y="87510"/>
              <a:ext cx="1" cy="2444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39" name="Line 146"/>
            <p:cNvSpPr/>
            <p:nvPr/>
          </p:nvSpPr>
          <p:spPr>
            <a:xfrm flipH="1">
              <a:off x="601662" y="82747"/>
              <a:ext cx="1" cy="2476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349" name="Group 156"/>
          <p:cNvGrpSpPr/>
          <p:nvPr/>
        </p:nvGrpSpPr>
        <p:grpSpPr>
          <a:xfrm>
            <a:off x="2172650" y="1868284"/>
            <a:ext cx="1338907" cy="394097"/>
            <a:chOff x="0" y="0"/>
            <a:chExt cx="1338906" cy="394095"/>
          </a:xfrm>
        </p:grpSpPr>
        <p:sp>
          <p:nvSpPr>
            <p:cNvPr id="10341" name="Rectangle 157"/>
            <p:cNvSpPr/>
            <p:nvPr/>
          </p:nvSpPr>
          <p:spPr>
            <a:xfrm>
              <a:off x="5406" y="77985"/>
              <a:ext cx="1333501" cy="25717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42" name="Rectangle 158"/>
            <p:cNvSpPr txBox="1"/>
            <p:nvPr/>
          </p:nvSpPr>
          <p:spPr>
            <a:xfrm>
              <a:off x="589483" y="0"/>
              <a:ext cx="274884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343" name="Rectangle 159"/>
            <p:cNvSpPr txBox="1"/>
            <p:nvPr/>
          </p:nvSpPr>
          <p:spPr>
            <a:xfrm>
              <a:off x="273000" y="0"/>
              <a:ext cx="3173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344" name="Rectangle 160"/>
            <p:cNvSpPr txBox="1"/>
            <p:nvPr/>
          </p:nvSpPr>
          <p:spPr>
            <a:xfrm>
              <a:off x="0" y="0"/>
              <a:ext cx="2664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l</a:t>
              </a:r>
            </a:p>
          </p:txBody>
        </p:sp>
        <p:sp>
          <p:nvSpPr>
            <p:cNvPr id="10345" name="Rectangle 161"/>
            <p:cNvSpPr txBox="1"/>
            <p:nvPr/>
          </p:nvSpPr>
          <p:spPr>
            <a:xfrm>
              <a:off x="998469" y="58986"/>
              <a:ext cx="252250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10346" name="Line 162"/>
            <p:cNvSpPr/>
            <p:nvPr/>
          </p:nvSpPr>
          <p:spPr>
            <a:xfrm flipH="1">
              <a:off x="267343" y="77985"/>
              <a:ext cx="1" cy="2571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47" name="Line 163"/>
            <p:cNvSpPr/>
            <p:nvPr/>
          </p:nvSpPr>
          <p:spPr>
            <a:xfrm>
              <a:off x="553093" y="87510"/>
              <a:ext cx="1" cy="2444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48" name="Line 164"/>
            <p:cNvSpPr/>
            <p:nvPr/>
          </p:nvSpPr>
          <p:spPr>
            <a:xfrm>
              <a:off x="857893" y="82748"/>
              <a:ext cx="1" cy="2476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350" name="Text Box 166"/>
          <p:cNvSpPr txBox="1"/>
          <p:nvPr/>
        </p:nvSpPr>
        <p:spPr>
          <a:xfrm>
            <a:off x="9186551" y="5665782"/>
            <a:ext cx="75327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router</a:t>
            </a:r>
          </a:p>
        </p:txBody>
      </p:sp>
      <p:sp>
        <p:nvSpPr>
          <p:cNvPr id="10351" name="Text Box 167"/>
          <p:cNvSpPr txBox="1"/>
          <p:nvPr/>
        </p:nvSpPr>
        <p:spPr>
          <a:xfrm>
            <a:off x="9200838" y="3386661"/>
            <a:ext cx="76493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switch</a:t>
            </a:r>
          </a:p>
        </p:txBody>
      </p:sp>
      <p:sp>
        <p:nvSpPr>
          <p:cNvPr id="10352" name="Text Box 174"/>
          <p:cNvSpPr txBox="1"/>
          <p:nvPr/>
        </p:nvSpPr>
        <p:spPr>
          <a:xfrm>
            <a:off x="1968189" y="946144"/>
            <a:ext cx="928648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message</a:t>
            </a:r>
          </a:p>
        </p:txBody>
      </p:sp>
      <p:grpSp>
        <p:nvGrpSpPr>
          <p:cNvPr id="10355" name="Group 175"/>
          <p:cNvGrpSpPr/>
          <p:nvPr/>
        </p:nvGrpSpPr>
        <p:grpSpPr>
          <a:xfrm>
            <a:off x="3041656" y="979534"/>
            <a:ext cx="495301" cy="288825"/>
            <a:chOff x="0" y="0"/>
            <a:chExt cx="495300" cy="288823"/>
          </a:xfrm>
        </p:grpSpPr>
        <p:sp>
          <p:nvSpPr>
            <p:cNvPr id="10353" name="Rectangle 176"/>
            <p:cNvSpPr/>
            <p:nvPr/>
          </p:nvSpPr>
          <p:spPr>
            <a:xfrm>
              <a:off x="0" y="18999"/>
              <a:ext cx="495300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54" name="Rectangle 177"/>
            <p:cNvSpPr txBox="1"/>
            <p:nvPr/>
          </p:nvSpPr>
          <p:spPr>
            <a:xfrm>
              <a:off x="154863" y="0"/>
              <a:ext cx="252249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</p:grpSp>
      <p:grpSp>
        <p:nvGrpSpPr>
          <p:cNvPr id="10362" name="Group 185"/>
          <p:cNvGrpSpPr/>
          <p:nvPr/>
        </p:nvGrpSpPr>
        <p:grpSpPr>
          <a:xfrm>
            <a:off x="2754321" y="1241223"/>
            <a:ext cx="774701" cy="394097"/>
            <a:chOff x="0" y="0"/>
            <a:chExt cx="774700" cy="394095"/>
          </a:xfrm>
        </p:grpSpPr>
        <p:grpSp>
          <p:nvGrpSpPr>
            <p:cNvPr id="10358" name="Group 179"/>
            <p:cNvGrpSpPr/>
            <p:nvPr/>
          </p:nvGrpSpPr>
          <p:grpSpPr>
            <a:xfrm>
              <a:off x="0" y="0"/>
              <a:ext cx="280988" cy="394096"/>
              <a:chOff x="0" y="0"/>
              <a:chExt cx="280987" cy="394095"/>
            </a:xfrm>
          </p:grpSpPr>
          <p:sp>
            <p:nvSpPr>
              <p:cNvPr id="10356" name="Rectangle 180"/>
              <p:cNvSpPr/>
              <p:nvPr/>
            </p:nvSpPr>
            <p:spPr>
              <a:xfrm>
                <a:off x="0" y="77985"/>
                <a:ext cx="280988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357" name="Rectangle 181"/>
              <p:cNvSpPr txBox="1"/>
              <p:nvPr/>
            </p:nvSpPr>
            <p:spPr>
              <a:xfrm>
                <a:off x="3051" y="0"/>
                <a:ext cx="274885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</p:grpSp>
        <p:grpSp>
          <p:nvGrpSpPr>
            <p:cNvPr id="10361" name="Group 182"/>
            <p:cNvGrpSpPr/>
            <p:nvPr/>
          </p:nvGrpSpPr>
          <p:grpSpPr>
            <a:xfrm>
              <a:off x="279400" y="55811"/>
              <a:ext cx="495301" cy="288824"/>
              <a:chOff x="0" y="0"/>
              <a:chExt cx="495300" cy="288823"/>
            </a:xfrm>
          </p:grpSpPr>
          <p:sp>
            <p:nvSpPr>
              <p:cNvPr id="10359" name="Rectangle 183"/>
              <p:cNvSpPr/>
              <p:nvPr/>
            </p:nvSpPr>
            <p:spPr>
              <a:xfrm>
                <a:off x="0" y="22174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360" name="Rectangle 184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grpSp>
        <p:nvGrpSpPr>
          <p:cNvPr id="10365" name="Group 187"/>
          <p:cNvGrpSpPr/>
          <p:nvPr/>
        </p:nvGrpSpPr>
        <p:grpSpPr>
          <a:xfrm>
            <a:off x="2438406" y="1573014"/>
            <a:ext cx="334070" cy="394096"/>
            <a:chOff x="0" y="0"/>
            <a:chExt cx="334068" cy="394095"/>
          </a:xfrm>
        </p:grpSpPr>
        <p:sp>
          <p:nvSpPr>
            <p:cNvPr id="10363" name="Rectangle 188"/>
            <p:cNvSpPr/>
            <p:nvPr/>
          </p:nvSpPr>
          <p:spPr>
            <a:xfrm>
              <a:off x="0" y="76691"/>
              <a:ext cx="303213" cy="25997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64" name="Rectangle 189"/>
            <p:cNvSpPr txBox="1"/>
            <p:nvPr/>
          </p:nvSpPr>
          <p:spPr>
            <a:xfrm>
              <a:off x="16768" y="0"/>
              <a:ext cx="317301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</p:grpSp>
      <p:sp>
        <p:nvSpPr>
          <p:cNvPr id="10366" name="Text Box 7"/>
          <p:cNvSpPr txBox="1"/>
          <p:nvPr/>
        </p:nvSpPr>
        <p:spPr>
          <a:xfrm>
            <a:off x="1422088" y="1897058"/>
            <a:ext cx="623552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frame</a:t>
            </a:r>
          </a:p>
        </p:txBody>
      </p:sp>
      <p:grpSp>
        <p:nvGrpSpPr>
          <p:cNvPr id="10369" name="Group 190"/>
          <p:cNvGrpSpPr/>
          <p:nvPr/>
        </p:nvGrpSpPr>
        <p:grpSpPr>
          <a:xfrm>
            <a:off x="5359407" y="1341434"/>
            <a:ext cx="803275" cy="771526"/>
            <a:chOff x="0" y="0"/>
            <a:chExt cx="803274" cy="771525"/>
          </a:xfrm>
        </p:grpSpPr>
        <p:pic>
          <p:nvPicPr>
            <p:cNvPr id="10367" name="Picture 191" descr="Picture 19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03275" cy="771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368" name="Freeform 192"/>
            <p:cNvSpPr/>
            <p:nvPr/>
          </p:nvSpPr>
          <p:spPr>
            <a:xfrm>
              <a:off x="70419" y="74010"/>
              <a:ext cx="390584" cy="35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370" name="Freeform 10"/>
          <p:cNvSpPr/>
          <p:nvPr/>
        </p:nvSpPr>
        <p:spPr>
          <a:xfrm>
            <a:off x="4178506" y="4871041"/>
            <a:ext cx="360363" cy="15229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548" y="8487"/>
                </a:moveTo>
                <a:lnTo>
                  <a:pt x="0" y="0"/>
                </a:lnTo>
                <a:lnTo>
                  <a:pt x="0" y="21600"/>
                </a:lnTo>
                <a:lnTo>
                  <a:pt x="21600" y="11875"/>
                </a:lnTo>
                <a:lnTo>
                  <a:pt x="20548" y="8487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373" name="Group 187"/>
          <p:cNvGrpSpPr/>
          <p:nvPr/>
        </p:nvGrpSpPr>
        <p:grpSpPr>
          <a:xfrm>
            <a:off x="4397382" y="5224459"/>
            <a:ext cx="803275" cy="771526"/>
            <a:chOff x="0" y="0"/>
            <a:chExt cx="803274" cy="771525"/>
          </a:xfrm>
        </p:grpSpPr>
        <p:pic>
          <p:nvPicPr>
            <p:cNvPr id="10371" name="Picture 188" descr="Picture 188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03275" cy="771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372" name="Freeform 189"/>
            <p:cNvSpPr/>
            <p:nvPr/>
          </p:nvSpPr>
          <p:spPr>
            <a:xfrm>
              <a:off x="70419" y="74010"/>
              <a:ext cx="390584" cy="35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374" name="Text Box 98"/>
          <p:cNvSpPr txBox="1"/>
          <p:nvPr/>
        </p:nvSpPr>
        <p:spPr>
          <a:xfrm>
            <a:off x="7075900" y="2584589"/>
            <a:ext cx="1226186" cy="64328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14300" dist="38100" dir="18900000">
              <a:srgbClr val="000000">
                <a:alpha val="4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link</a:t>
            </a:r>
            <a:endParaRPr sz="2800">
              <a:latin typeface="Gill Sans MT"/>
              <a:ea typeface="Gill Sans MT"/>
              <a:cs typeface="Gill Sans MT"/>
              <a:sym typeface="Gill Sans MT"/>
            </a:endParaRPr>
          </a:p>
          <a:p>
            <a:pPr algn="ctr"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pPr>
            <a:r>
              <a:t>physical</a:t>
            </a:r>
          </a:p>
        </p:txBody>
      </p:sp>
      <p:sp>
        <p:nvSpPr>
          <p:cNvPr id="1037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000 0.049530" origin="layout" pathEditMode="relative">
                                      <p:cBhvr>
                                        <p:cTn id="6" dur="2000" fill="hold"/>
                                        <p:tgtEl>
                                          <p:spTgt spid="103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Class="exit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9" dur="2000" fill="hold"/>
                                        <p:tgtEl>
                                          <p:spTgt spid="10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xit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xit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xit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7" dur="500" fill="hold"/>
                                        <p:tgtEl>
                                          <p:spTgt spid="10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path" nodeType="afterEffect" presetSubtype="0" presetID="-1" grpId="9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000 0.047920" origin="layout" pathEditMode="relative">
                                      <p:cBhvr>
                                        <p:cTn id="34" dur="2000" fill="hold"/>
                                        <p:tgtEl>
                                          <p:spTgt spid="10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xit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xit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xit" nodeType="afterEffect" presetID="10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51" dur="500" fill="hold"/>
                                        <p:tgtEl>
                                          <p:spTgt spid="10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path" nodeType="afterEffect" presetSubtype="0" presetID="-1" grpId="1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000 0.042135" origin="layout" pathEditMode="relative">
                                      <p:cBhvr>
                                        <p:cTn id="58" dur="2000" fill="hold"/>
                                        <p:tgtEl>
                                          <p:spTgt spid="10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exit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exit" nodeType="afterEffect" presetID="10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72" dur="500" fill="hold"/>
                                        <p:tgtEl>
                                          <p:spTgt spid="10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path" nodeType="afterEffect" presetSubtype="0" presetID="-1" grpId="2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0.000260 0.023266 0.000228 0.041496 0.000130 0.058887 C 0.000033 0.076277 -0.000130 0.092827 -0.000130 0.112732 L 0.298180 0.111582 L 0.298180 0.073152 L 0.586980 0.070842 C 0.587305 0.147342 0.587793 0.221704 0.588525 0.296271 C 0.589258 0.370837 0.590235 0.445607 0.591540 0.522922 L 0.496220 0.518522 C 0.496220 0.504982 0.495895 0.488314 0.495570 0.471618 C 0.495245 0.454922 0.494920 0.438197 0.494920 0.424542" origin="layout" pathEditMode="relative">
                                      <p:cBhvr>
                                        <p:cTn id="76" dur="3000" fill="hold"/>
                                        <p:tgtEl>
                                          <p:spTgt spid="103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Class="exit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Class="entr" nodeType="after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Class="path" nodeType="clickEffect" presetSubtype="0" presetID="-1" grpId="2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000777 -0.049313" origin="layout" pathEditMode="relative">
                                      <p:cBhvr>
                                        <p:cTn id="87" dur="2000" fill="hold"/>
                                        <p:tgtEl>
                                          <p:spTgt spid="103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Class="entr" nodeType="clickEffect" presetID="10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2" dur="500"/>
                                        <p:tgtEl>
                                          <p:spTgt spid="10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Class="entr" nodeType="clickEffect" presetID="10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97" dur="500"/>
                                        <p:tgtEl>
                                          <p:spTgt spid="1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Class="entr" nodeType="clickEffect" presetID="10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2" dur="500"/>
                                        <p:tgtEl>
                                          <p:spTgt spid="1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ID="10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7" dur="500"/>
                                        <p:tgtEl>
                                          <p:spTgt spid="1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Class="entr" nodeType="clickEffect" presetID="10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2" dur="500"/>
                                        <p:tgtEl>
                                          <p:spTgt spid="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Class="entr" nodeType="clickEffect" presetID="10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7" dur="500"/>
                                        <p:tgtEl>
                                          <p:spTgt spid="1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349" grpId="22"/>
      <p:bldP build="whole" bldLvl="1" animBg="1" rev="0" advAuto="0" spid="10352" grpId="2"/>
      <p:bldP build="whole" bldLvl="1" animBg="1" rev="0" advAuto="0" spid="10366" grpId="18"/>
      <p:bldP build="whole" bldLvl="1" animBg="1" rev="0" advAuto="0" spid="10287" grpId="11"/>
      <p:bldP build="whole" bldLvl="1" animBg="1" rev="0" advAuto="0" spid="10297" grpId="27"/>
      <p:bldP build="whole" bldLvl="1" animBg="1" rev="0" advAuto="0" spid="10362" grpId="8"/>
      <p:bldP build="whole" bldLvl="1" animBg="1" rev="0" advAuto="0" spid="10340" grpId="23"/>
      <p:bldP build="whole" bldLvl="1" animBg="1" rev="0" advAuto="0" spid="10286" grpId="3"/>
      <p:bldP build="whole" bldLvl="1" animBg="1" rev="0" advAuto="0" spid="10362" grpId="12"/>
      <p:bldP build="whole" bldLvl="1" animBg="1" rev="0" advAuto="0" spid="10312" grpId="30"/>
      <p:bldP build="whole" bldLvl="1" animBg="1" rev="0" advAuto="0" spid="10286" grpId="6"/>
      <p:bldP build="whole" bldLvl="1" animBg="1" rev="0" advAuto="0" spid="10355" grpId="5"/>
      <p:bldP build="whole" bldLvl="1" animBg="1" rev="0" advAuto="0" spid="10326" grpId="26"/>
      <p:bldP build="whole" bldLvl="1" animBg="1" rev="0" advAuto="0" spid="10304" grpId="28"/>
      <p:bldP build="whole" bldLvl="1" animBg="1" rev="0" advAuto="0" spid="10282" grpId="15"/>
      <p:bldP build="whole" bldLvl="1" animBg="1" rev="0" advAuto="0" spid="10309" grpId="29"/>
      <p:bldP build="whole" bldLvl="1" animBg="1" rev="0" advAuto="0" spid="10282" grpId="19"/>
      <p:bldP build="whole" bldLvl="1" animBg="1" rev="0" advAuto="0" spid="10333" grpId="25"/>
      <p:bldP build="whole" bldLvl="1" animBg="1" rev="0" advAuto="0" spid="10283" grpId="4"/>
      <p:bldP build="whole" bldLvl="1" animBg="1" rev="0" advAuto="0" spid="10366" grpId="20"/>
      <p:bldP build="whole" bldLvl="1" animBg="1" rev="0" advAuto="0" spid="10349" grpId="17"/>
      <p:bldP build="whole" bldLvl="1" animBg="1" rev="0" advAuto="0" spid="10365" grpId="10"/>
      <p:bldP build="whole" bldLvl="1" animBg="1" rev="0" advAuto="0" spid="10287" grpId="14"/>
      <p:bldP build="whole" bldLvl="1" animBg="1" rev="0" advAuto="0" spid="10283" grpId="7"/>
      <p:bldP build="whole" bldLvl="1" animBg="1" rev="0" advAuto="0" spid="10365" grpId="13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7" name="Title 1"/>
          <p:cNvSpPr txBox="1"/>
          <p:nvPr>
            <p:ph type="title"/>
          </p:nvPr>
        </p:nvSpPr>
        <p:spPr>
          <a:xfrm>
            <a:off x="798690" y="289324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Chapter 1: roadmap</a:t>
            </a:r>
          </a:p>
        </p:txBody>
      </p:sp>
      <p:sp>
        <p:nvSpPr>
          <p:cNvPr id="10378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379" name="Rectangle 4"/>
          <p:cNvSpPr txBox="1"/>
          <p:nvPr>
            <p:ph type="body" sz="half" idx="1"/>
          </p:nvPr>
        </p:nvSpPr>
        <p:spPr>
          <a:xfrm>
            <a:off x="798689" y="1414011"/>
            <a:ext cx="6618111" cy="5029078"/>
          </a:xfrm>
          <a:prstGeom prst="rect">
            <a:avLst/>
          </a:prstGeom>
        </p:spPr>
        <p:txBody>
          <a:bodyPr/>
          <a:lstStyle/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 </a:t>
            </a:r>
            <a:r>
              <a:rPr i="1"/>
              <a:t>is</a:t>
            </a:r>
            <a:r>
              <a:t> the Internet?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What</a:t>
            </a:r>
            <a:r>
              <a:rPr i="1"/>
              <a:t> is </a:t>
            </a:r>
            <a:r>
              <a:t>a protocol?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BFBFBF"/>
                </a:solidFill>
              </a:defRPr>
            </a:pPr>
            <a:r>
              <a:t>Network edge: hosts, access network, physical media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D9D9D9"/>
              </a:buClr>
              <a:defRPr sz="2900">
                <a:solidFill>
                  <a:srgbClr val="BFBFBF"/>
                </a:solidFill>
              </a:defRPr>
            </a:pPr>
            <a:r>
              <a:t>Network core: packet/circuit switching, internet structure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BFBFBF"/>
                </a:solidFill>
              </a:defRPr>
            </a:pPr>
            <a:r>
              <a:t>Performance: loss, delay, throughput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Security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BFBFBF"/>
              </a:buClr>
              <a:defRPr sz="2900">
                <a:solidFill>
                  <a:srgbClr val="A6A6A6"/>
                </a:solidFill>
              </a:defRPr>
            </a:pPr>
            <a:r>
              <a:t>Protocol layers, service models</a:t>
            </a:r>
            <a:endParaRPr sz="2500"/>
          </a:p>
          <a:p>
            <a:pPr marL="403225" indent="-285750">
              <a:spcBef>
                <a:spcPts val="800"/>
              </a:spcBef>
              <a:buClr>
                <a:srgbClr val="0000A8"/>
              </a:buClr>
              <a:defRPr sz="2900"/>
            </a:pPr>
            <a:r>
              <a:t>History</a:t>
            </a:r>
          </a:p>
        </p:txBody>
      </p:sp>
      <p:grpSp>
        <p:nvGrpSpPr>
          <p:cNvPr id="10382" name="Group 2"/>
          <p:cNvGrpSpPr/>
          <p:nvPr/>
        </p:nvGrpSpPr>
        <p:grpSpPr>
          <a:xfrm>
            <a:off x="8080171" y="1371942"/>
            <a:ext cx="3313139" cy="2488927"/>
            <a:chOff x="0" y="0"/>
            <a:chExt cx="3313138" cy="2488925"/>
          </a:xfrm>
        </p:grpSpPr>
        <p:pic>
          <p:nvPicPr>
            <p:cNvPr id="10380" name="Picture 3" descr="Picture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48603"/>
              <a:ext cx="3313139" cy="2440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381" name="Rectangle 4"/>
            <p:cNvSpPr/>
            <p:nvPr/>
          </p:nvSpPr>
          <p:spPr>
            <a:xfrm>
              <a:off x="-1" y="-1"/>
              <a:ext cx="3313140" cy="244550"/>
            </a:xfrm>
            <a:prstGeom prst="rect">
              <a:avLst/>
            </a:prstGeom>
            <a:solidFill>
              <a:srgbClr val="559BD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rcRect l="0" t="0" r="0" b="8458"/>
          <a:stretch>
            <a:fillRect/>
          </a:stretch>
        </p:blipFill>
        <p:spPr>
          <a:xfrm>
            <a:off x="9282054" y="4269292"/>
            <a:ext cx="2443027" cy="2370207"/>
          </a:xfrm>
          <a:prstGeom prst="rect">
            <a:avLst/>
          </a:prstGeom>
          <a:ln w="12700">
            <a:miter lim="400000"/>
          </a:ln>
        </p:spPr>
      </p:pic>
      <p:sp>
        <p:nvSpPr>
          <p:cNvPr id="10385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history</a:t>
            </a:r>
          </a:p>
        </p:txBody>
      </p:sp>
      <p:sp>
        <p:nvSpPr>
          <p:cNvPr id="10386" name="Rectangle 5"/>
          <p:cNvSpPr txBox="1"/>
          <p:nvPr/>
        </p:nvSpPr>
        <p:spPr>
          <a:xfrm>
            <a:off x="820419" y="2095499"/>
            <a:ext cx="4886962" cy="4347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78717" indent="-278717" defTabSz="886968">
              <a:lnSpc>
                <a:spcPct val="90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1961:</a:t>
            </a:r>
            <a:r>
              <a:rPr>
                <a:solidFill>
                  <a:srgbClr val="000000"/>
                </a:solidFill>
              </a:rPr>
              <a:t> Kleinrock - queueing theory shows effectiveness of packet-switching</a:t>
            </a:r>
          </a:p>
          <a:p>
            <a:pPr marL="278717" indent="-278717" defTabSz="886968">
              <a:lnSpc>
                <a:spcPct val="90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1964:</a:t>
            </a:r>
            <a:r>
              <a:rPr>
                <a:solidFill>
                  <a:srgbClr val="000000"/>
                </a:solidFill>
              </a:rPr>
              <a:t> Baran - packet-switching in military nets</a:t>
            </a:r>
          </a:p>
          <a:p>
            <a:pPr marL="278717" indent="-278717" defTabSz="886968">
              <a:lnSpc>
                <a:spcPct val="90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1967:</a:t>
            </a:r>
            <a:r>
              <a:rPr>
                <a:solidFill>
                  <a:srgbClr val="000000"/>
                </a:solidFill>
              </a:rPr>
              <a:t> ARPAnet conceived by Advanced Research Projects Agency</a:t>
            </a:r>
          </a:p>
          <a:p>
            <a:pPr marL="278717" indent="-278717" defTabSz="886968">
              <a:lnSpc>
                <a:spcPct val="90000"/>
              </a:lnSpc>
              <a:spcBef>
                <a:spcPts val="900"/>
              </a:spcBef>
              <a:buClr>
                <a:srgbClr val="0000A3"/>
              </a:buClr>
              <a:buSzPct val="100000"/>
              <a:buChar char="▪"/>
              <a:defRPr sz="2716">
                <a:solidFill>
                  <a:srgbClr val="000099"/>
                </a:solidFill>
              </a:defRPr>
            </a:pPr>
            <a:r>
              <a:t>1969:</a:t>
            </a:r>
            <a:r>
              <a:rPr>
                <a:solidFill>
                  <a:srgbClr val="000000"/>
                </a:solidFill>
              </a:rPr>
              <a:t> first ARPAnet node operational</a:t>
            </a:r>
          </a:p>
        </p:txBody>
      </p:sp>
      <p:sp>
        <p:nvSpPr>
          <p:cNvPr id="10387" name="Rectangle 5"/>
          <p:cNvSpPr txBox="1"/>
          <p:nvPr/>
        </p:nvSpPr>
        <p:spPr>
          <a:xfrm>
            <a:off x="6192518" y="2087566"/>
            <a:ext cx="5486842" cy="4343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1972:</a:t>
            </a:r>
            <a:r>
              <a:rPr>
                <a:solidFill>
                  <a:srgbClr val="000000"/>
                </a:solidFill>
              </a:rPr>
              <a:t> </a:t>
            </a:r>
          </a:p>
          <a:p>
            <a:pPr lvl="1" marL="523875" indent="-236538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ARPAnet public demo</a:t>
            </a:r>
            <a:endParaRPr sz="2400"/>
          </a:p>
          <a:p>
            <a:pPr lvl="1" marL="523875" indent="-236538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NCP (Network Control Protocol) first host-host protocol </a:t>
            </a:r>
            <a:endParaRPr sz="2400"/>
          </a:p>
          <a:p>
            <a:pPr lvl="1" marL="523875" indent="-236538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first e-mail program</a:t>
            </a:r>
            <a:endParaRPr sz="2400"/>
          </a:p>
          <a:p>
            <a:pPr lvl="1" marL="523875" indent="-236538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ARPAnet has 15 nodes</a:t>
            </a:r>
            <a:endParaRPr sz="2400"/>
          </a:p>
        </p:txBody>
      </p:sp>
      <p:sp>
        <p:nvSpPr>
          <p:cNvPr id="10388" name="Rectangle 2"/>
          <p:cNvSpPr txBox="1"/>
          <p:nvPr/>
        </p:nvSpPr>
        <p:spPr>
          <a:xfrm>
            <a:off x="845587" y="1211969"/>
            <a:ext cx="7400886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3200">
                <a:solidFill>
                  <a:srgbClr val="C00000"/>
                </a:solidFill>
              </a:defRPr>
            </a:lvl1pPr>
          </a:lstStyle>
          <a:p>
            <a:pPr/>
            <a:r>
              <a:t>1961-1972: Early packet-switching principles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03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10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0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10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10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1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500"/>
                                        <p:tgtEl>
                                          <p:spTgt spid="1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387" grpId="3"/>
      <p:bldP build="p" bldLvl="5" animBg="1" rev="0" advAuto="0" spid="10386" grpId="1"/>
      <p:bldP build="whole" bldLvl="1" animBg="1" rev="0" advAuto="0" spid="10384" grpId="2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0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history</a:t>
            </a:r>
          </a:p>
        </p:txBody>
      </p:sp>
      <p:sp>
        <p:nvSpPr>
          <p:cNvPr id="10391" name="Rectangle 5"/>
          <p:cNvSpPr txBox="1"/>
          <p:nvPr/>
        </p:nvSpPr>
        <p:spPr>
          <a:xfrm>
            <a:off x="706119" y="2095499"/>
            <a:ext cx="5191762" cy="4347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1970:</a:t>
            </a:r>
            <a:r>
              <a:rPr>
                <a:solidFill>
                  <a:srgbClr val="000000"/>
                </a:solidFill>
              </a:rPr>
              <a:t> ALOHAnet satellite network in Hawaii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1974:</a:t>
            </a:r>
            <a:r>
              <a:rPr>
                <a:solidFill>
                  <a:srgbClr val="000000"/>
                </a:solidFill>
              </a:rPr>
              <a:t> Cerf and Kahn - architecture for interconnecting networks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1976:</a:t>
            </a:r>
            <a:r>
              <a:rPr>
                <a:solidFill>
                  <a:srgbClr val="000000"/>
                </a:solidFill>
              </a:rPr>
              <a:t> Ethernet at Xerox PARC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late70’s:</a:t>
            </a:r>
            <a:r>
              <a:rPr>
                <a:solidFill>
                  <a:srgbClr val="000000"/>
                </a:solidFill>
              </a:rPr>
              <a:t> proprietary architectures: DECnet, SNA, XNA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1979:</a:t>
            </a:r>
            <a:r>
              <a:rPr>
                <a:solidFill>
                  <a:srgbClr val="000000"/>
                </a:solidFill>
              </a:rPr>
              <a:t> ARPAnet has 200 nodes</a:t>
            </a:r>
          </a:p>
        </p:txBody>
      </p:sp>
      <p:sp>
        <p:nvSpPr>
          <p:cNvPr id="10392" name="Rectangle 2"/>
          <p:cNvSpPr txBox="1"/>
          <p:nvPr/>
        </p:nvSpPr>
        <p:spPr>
          <a:xfrm>
            <a:off x="836504" y="1202605"/>
            <a:ext cx="9875204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3200">
                <a:solidFill>
                  <a:srgbClr val="C00000"/>
                </a:solidFill>
              </a:defRPr>
            </a:lvl1pPr>
          </a:lstStyle>
          <a:p>
            <a:pPr/>
            <a:r>
              <a:t>1972-1980: Internetworking, new and proprietary networks</a:t>
            </a:r>
          </a:p>
        </p:txBody>
      </p:sp>
      <p:grpSp>
        <p:nvGrpSpPr>
          <p:cNvPr id="10395" name="Group 3"/>
          <p:cNvGrpSpPr/>
          <p:nvPr/>
        </p:nvGrpSpPr>
        <p:grpSpPr>
          <a:xfrm>
            <a:off x="6851353" y="2147296"/>
            <a:ext cx="4978399" cy="4075896"/>
            <a:chOff x="0" y="0"/>
            <a:chExt cx="4978398" cy="4075894"/>
          </a:xfrm>
        </p:grpSpPr>
        <p:sp>
          <p:nvSpPr>
            <p:cNvPr id="10393" name="Rectangle 4"/>
            <p:cNvSpPr txBox="1"/>
            <p:nvPr/>
          </p:nvSpPr>
          <p:spPr>
            <a:xfrm>
              <a:off x="74296" y="173035"/>
              <a:ext cx="4644364" cy="39028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 indent="130175">
                <a:lnSpc>
                  <a:spcPct val="90000"/>
                </a:lnSpc>
                <a:spcBef>
                  <a:spcPts val="1000"/>
                </a:spcBef>
                <a:defRPr sz="2400">
                  <a:solidFill>
                    <a:srgbClr val="000090"/>
                  </a:solidFill>
                </a:defRPr>
              </a:pPr>
              <a:r>
                <a:t>Cerf and Kahn’s internetworking principles:</a:t>
              </a:r>
              <a:endParaRPr sz="2800"/>
            </a:p>
            <a:p>
              <a:pPr lvl="1" marL="473075" indent="-288925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SzPct val="100000"/>
                <a:buChar char="▪"/>
                <a:defRPr sz="2400"/>
              </a:pPr>
              <a:r>
                <a:t>minimalism, autonomy - no internal changes required to interconnect networks</a:t>
              </a:r>
            </a:p>
            <a:p>
              <a:pPr lvl="1" marL="473075" indent="-288925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SzPct val="100000"/>
                <a:buChar char="▪"/>
                <a:defRPr sz="2400"/>
              </a:pPr>
              <a:r>
                <a:t>best-effort service model</a:t>
              </a:r>
            </a:p>
            <a:p>
              <a:pPr lvl="1" marL="473075" indent="-288925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SzPct val="100000"/>
                <a:buChar char="▪"/>
                <a:defRPr sz="2400"/>
              </a:pPr>
              <a:r>
                <a:t>stateless routing</a:t>
              </a:r>
            </a:p>
            <a:p>
              <a:pPr lvl="1" marL="473075" indent="-288925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SzPct val="100000"/>
                <a:buChar char="▪"/>
                <a:defRPr sz="2400"/>
              </a:pPr>
              <a:r>
                <a:t>decentralized control</a:t>
              </a:r>
            </a:p>
            <a:p>
              <a:pPr indent="117475">
                <a:lnSpc>
                  <a:spcPct val="90000"/>
                </a:lnSpc>
                <a:spcBef>
                  <a:spcPts val="1000"/>
                </a:spcBef>
                <a:defRPr sz="2400">
                  <a:solidFill>
                    <a:srgbClr val="000090"/>
                  </a:solidFill>
                </a:defRPr>
              </a:pPr>
              <a:r>
                <a:t>define today’s Internet architecture</a:t>
              </a:r>
            </a:p>
          </p:txBody>
        </p:sp>
        <p:sp>
          <p:nvSpPr>
            <p:cNvPr id="10394" name="Rectangle 6"/>
            <p:cNvSpPr/>
            <p:nvPr/>
          </p:nvSpPr>
          <p:spPr>
            <a:xfrm>
              <a:off x="0" y="0"/>
              <a:ext cx="4978399" cy="4050305"/>
            </a:xfrm>
            <a:prstGeom prst="rect">
              <a:avLst/>
            </a:prstGeom>
            <a:noFill/>
            <a:ln w="28575" cap="flat">
              <a:solidFill>
                <a:srgbClr val="CC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10396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03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10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0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1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10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0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500"/>
                                        <p:tgtEl>
                                          <p:spTgt spid="103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103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395" grpId="2"/>
      <p:bldP build="p" bldLvl="5" animBg="1" rev="0" advAuto="0" spid="10391" grpId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8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history</a:t>
            </a:r>
          </a:p>
        </p:txBody>
      </p:sp>
      <p:sp>
        <p:nvSpPr>
          <p:cNvPr id="10399" name="Rectangle 5"/>
          <p:cNvSpPr txBox="1"/>
          <p:nvPr/>
        </p:nvSpPr>
        <p:spPr>
          <a:xfrm>
            <a:off x="807719" y="2095499"/>
            <a:ext cx="4886962" cy="4347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1983:</a:t>
            </a:r>
            <a:r>
              <a:rPr>
                <a:solidFill>
                  <a:srgbClr val="000000"/>
                </a:solidFill>
              </a:rPr>
              <a:t> deployment of TCP/IP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1982:</a:t>
            </a:r>
            <a:r>
              <a:rPr>
                <a:solidFill>
                  <a:srgbClr val="000000"/>
                </a:solidFill>
              </a:rPr>
              <a:t> smtp e-mail protocol defined 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1983:</a:t>
            </a:r>
            <a:r>
              <a:rPr>
                <a:solidFill>
                  <a:srgbClr val="000000"/>
                </a:solidFill>
              </a:rPr>
              <a:t> DNS defined for name-to-IP-address translation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1985:</a:t>
            </a:r>
            <a:r>
              <a:rPr>
                <a:solidFill>
                  <a:srgbClr val="000000"/>
                </a:solidFill>
              </a:rPr>
              <a:t> ftp protocol defined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1988:</a:t>
            </a:r>
            <a:r>
              <a:rPr>
                <a:solidFill>
                  <a:srgbClr val="000000"/>
                </a:solidFill>
              </a:rPr>
              <a:t> TCP congestion control</a:t>
            </a:r>
          </a:p>
        </p:txBody>
      </p:sp>
      <p:sp>
        <p:nvSpPr>
          <p:cNvPr id="10400" name="Rectangle 5"/>
          <p:cNvSpPr txBox="1"/>
          <p:nvPr/>
        </p:nvSpPr>
        <p:spPr>
          <a:xfrm>
            <a:off x="6192518" y="2087566"/>
            <a:ext cx="5486842" cy="4343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new national networks: CSnet, BITnet, NSFnet, Minitel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100,000 hosts connected to confederation of networks</a:t>
            </a:r>
          </a:p>
        </p:txBody>
      </p:sp>
      <p:sp>
        <p:nvSpPr>
          <p:cNvPr id="10401" name="Rectangle 2"/>
          <p:cNvSpPr txBox="1"/>
          <p:nvPr/>
        </p:nvSpPr>
        <p:spPr>
          <a:xfrm>
            <a:off x="807720" y="1212519"/>
            <a:ext cx="895743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3200">
                <a:solidFill>
                  <a:srgbClr val="C00000"/>
                </a:solidFill>
              </a:defRPr>
            </a:lvl1pPr>
          </a:lstStyle>
          <a:p>
            <a:pPr/>
            <a:r>
              <a:t>1980-1990: new protocols, a proliferation of networks</a:t>
            </a:r>
          </a:p>
        </p:txBody>
      </p:sp>
      <p:pic>
        <p:nvPicPr>
          <p:cNvPr id="104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75397" y="3880532"/>
            <a:ext cx="3906332" cy="2875061"/>
          </a:xfrm>
          <a:prstGeom prst="rect">
            <a:avLst/>
          </a:prstGeom>
          <a:ln w="12700">
            <a:miter lim="400000"/>
          </a:ln>
        </p:spPr>
      </p:pic>
      <p:sp>
        <p:nvSpPr>
          <p:cNvPr id="10403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039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10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0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10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10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0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500"/>
                                        <p:tgtEl>
                                          <p:spTgt spid="10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500"/>
                                        <p:tgtEl>
                                          <p:spTgt spid="10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500"/>
                                        <p:tgtEl>
                                          <p:spTgt spid="1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400" grpId="2"/>
      <p:bldP build="p" bldLvl="5" animBg="1" rev="0" advAuto="0" spid="10399" grpId="1"/>
      <p:bldP build="whole" bldLvl="1" animBg="1" rev="0" advAuto="0" spid="10402" grpId="3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5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history</a:t>
            </a:r>
          </a:p>
        </p:txBody>
      </p:sp>
      <p:sp>
        <p:nvSpPr>
          <p:cNvPr id="10406" name="Rectangle 5"/>
          <p:cNvSpPr txBox="1"/>
          <p:nvPr/>
        </p:nvSpPr>
        <p:spPr>
          <a:xfrm>
            <a:off x="832886" y="2079633"/>
            <a:ext cx="5486843" cy="4712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early 1990s:</a:t>
            </a:r>
            <a:r>
              <a:rPr>
                <a:solidFill>
                  <a:schemeClr val="accent2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ARPAnet decommissioned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1991:</a:t>
            </a:r>
            <a:r>
              <a:rPr>
                <a:solidFill>
                  <a:schemeClr val="accent2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NSF lifts restrictions on commercial use of NSFnet (decommissioned, 1995)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>
                <a:solidFill>
                  <a:srgbClr val="000099"/>
                </a:solidFill>
              </a:defRPr>
            </a:pPr>
            <a:r>
              <a:t>early 1990s:</a:t>
            </a:r>
            <a:r>
              <a:rPr>
                <a:solidFill>
                  <a:srgbClr val="000000"/>
                </a:solidFill>
              </a:rPr>
              <a:t> Web</a:t>
            </a:r>
          </a:p>
          <a:p>
            <a:pPr lvl="1" marL="569912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hypertext </a:t>
            </a:r>
            <a:r>
              <a:rPr sz="1800"/>
              <a:t>[Bush 1945, Nelson 1960’s]</a:t>
            </a:r>
          </a:p>
          <a:p>
            <a:pPr lvl="1" marL="569912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/>
            </a:pPr>
            <a:r>
              <a:t>HTML, HTTP: Berners-Lee</a:t>
            </a:r>
          </a:p>
          <a:p>
            <a:pPr lvl="1" marL="569912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>
                <a:solidFill>
                  <a:srgbClr val="0000A8"/>
                </a:solidFill>
              </a:defRPr>
            </a:pPr>
            <a:r>
              <a:t>1994: </a:t>
            </a:r>
            <a:r>
              <a:rPr>
                <a:solidFill>
                  <a:srgbClr val="000000"/>
                </a:solidFill>
              </a:rPr>
              <a:t>Mosaic, later Netscape</a:t>
            </a:r>
          </a:p>
          <a:p>
            <a:pPr lvl="1" marL="569912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400">
                <a:solidFill>
                  <a:srgbClr val="0000A8"/>
                </a:solidFill>
              </a:defRPr>
            </a:pPr>
            <a:r>
              <a:t>late 1990s: </a:t>
            </a:r>
            <a:r>
              <a:rPr>
                <a:solidFill>
                  <a:srgbClr val="000000"/>
                </a:solidFill>
              </a:rPr>
              <a:t>commercialization</a:t>
            </a:r>
            <a:r>
              <a:rPr sz="2000">
                <a:solidFill>
                  <a:srgbClr val="000000"/>
                </a:solidFill>
              </a:rPr>
              <a:t> of the Web</a:t>
            </a:r>
          </a:p>
        </p:txBody>
      </p:sp>
      <p:sp>
        <p:nvSpPr>
          <p:cNvPr id="10407" name="Rectangle 5"/>
          <p:cNvSpPr txBox="1"/>
          <p:nvPr/>
        </p:nvSpPr>
        <p:spPr>
          <a:xfrm>
            <a:off x="6192518" y="2087566"/>
            <a:ext cx="5486842" cy="4343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2250" indent="-92075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000099"/>
                </a:solidFill>
              </a:defRPr>
            </a:pPr>
            <a:r>
              <a:t>late 1990s – 2000s: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more killer apps: instant messaging, P2P file sharing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network security to forefront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est. 50 million host, 100 million+ users</a:t>
            </a:r>
          </a:p>
          <a:p>
            <a:pPr marL="352425" indent="-22225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backbone links running at Gbps</a:t>
            </a:r>
          </a:p>
        </p:txBody>
      </p:sp>
      <p:sp>
        <p:nvSpPr>
          <p:cNvPr id="10408" name="Rectangle 2"/>
          <p:cNvSpPr txBox="1"/>
          <p:nvPr/>
        </p:nvSpPr>
        <p:spPr>
          <a:xfrm>
            <a:off x="786298" y="1215135"/>
            <a:ext cx="9864488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3200">
                <a:solidFill>
                  <a:srgbClr val="C00000"/>
                </a:solidFill>
              </a:defRPr>
            </a:lvl1pPr>
          </a:lstStyle>
          <a:p>
            <a:pPr/>
            <a:r>
              <a:t>1990, 2000s: commercialization, the Web, new applications</a:t>
            </a:r>
          </a:p>
        </p:txBody>
      </p:sp>
      <p:sp>
        <p:nvSpPr>
          <p:cNvPr id="10409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4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040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10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0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10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04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500"/>
                                        <p:tgtEl>
                                          <p:spTgt spid="104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4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500"/>
                                        <p:tgtEl>
                                          <p:spTgt spid="104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4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500"/>
                                        <p:tgtEl>
                                          <p:spTgt spid="104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4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104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500"/>
                                        <p:tgtEl>
                                          <p:spTgt spid="1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407" grpId="2"/>
      <p:bldP build="p" bldLvl="5" animBg="1" rev="0" advAuto="0" spid="10406" grpId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1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Internet history</a:t>
            </a:r>
          </a:p>
        </p:txBody>
      </p:sp>
      <p:sp>
        <p:nvSpPr>
          <p:cNvPr id="10412" name="Rectangle 5"/>
          <p:cNvSpPr txBox="1"/>
          <p:nvPr/>
        </p:nvSpPr>
        <p:spPr>
          <a:xfrm>
            <a:off x="809252" y="1770591"/>
            <a:ext cx="11050694" cy="4734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lvl="1" marL="477583" indent="-357822" defTabSz="841247">
              <a:spcBef>
                <a:spcPts val="500"/>
              </a:spcBef>
              <a:buClr>
                <a:srgbClr val="0000A8"/>
              </a:buClr>
              <a:buSzPct val="100000"/>
              <a:buChar char="▪"/>
              <a:defRPr sz="2576"/>
            </a:pPr>
            <a:r>
              <a:t>aggressive deployment of broadband home access (10-100’s Mbps)</a:t>
            </a:r>
            <a:endParaRPr sz="2208"/>
          </a:p>
          <a:p>
            <a:pPr marL="435229" indent="-315468" defTabSz="841247">
              <a:spcBef>
                <a:spcPts val="500"/>
              </a:spcBef>
              <a:buClr>
                <a:srgbClr val="0000A3"/>
              </a:buClr>
              <a:buSzPct val="100000"/>
              <a:buChar char="▪"/>
              <a:defRPr sz="2576"/>
            </a:pPr>
            <a:r>
              <a:t>2008: software-defined networking (SDN)</a:t>
            </a:r>
          </a:p>
          <a:p>
            <a:pPr marL="435229" indent="-315468" defTabSz="841247">
              <a:spcBef>
                <a:spcPts val="500"/>
              </a:spcBef>
              <a:buClr>
                <a:srgbClr val="0000A3"/>
              </a:buClr>
              <a:buSzPct val="100000"/>
              <a:buChar char="▪"/>
              <a:defRPr sz="2576"/>
            </a:pPr>
            <a:r>
              <a:t>increasing ubiquity of high-speed wireless access: 4G/5G, WiFi</a:t>
            </a:r>
          </a:p>
          <a:p>
            <a:pPr marL="435229" indent="-315468" defTabSz="841247">
              <a:spcBef>
                <a:spcPts val="500"/>
              </a:spcBef>
              <a:buClr>
                <a:srgbClr val="0000A3"/>
              </a:buClr>
              <a:buSzPct val="100000"/>
              <a:buChar char="▪"/>
              <a:defRPr sz="2576"/>
            </a:pPr>
            <a:r>
              <a:t>service providers </a:t>
            </a:r>
            <a:r>
              <a:rPr sz="2208"/>
              <a:t>(Google, FB, Microsoft</a:t>
            </a:r>
            <a:r>
              <a:t>) create their own networks</a:t>
            </a:r>
          </a:p>
          <a:p>
            <a:pPr lvl="2" marL="747776" indent="-216154" defTabSz="841247">
              <a:spcBef>
                <a:spcPts val="500"/>
              </a:spcBef>
              <a:buSzPct val="100000"/>
              <a:buFont typeface="Arial"/>
              <a:buChar char="•"/>
              <a:defRPr sz="2208"/>
            </a:pPr>
            <a:r>
              <a:t>bypass commercial Internet to connect “close” to end user, providing </a:t>
            </a:r>
            <a:r>
              <a:t>“</a:t>
            </a:r>
            <a:r>
              <a:t>instantaneous</a:t>
            </a:r>
            <a:r>
              <a:t>”</a:t>
            </a:r>
            <a:r>
              <a:t> access to social media, search, video content, …</a:t>
            </a:r>
            <a:endParaRPr sz="1840"/>
          </a:p>
          <a:p>
            <a:pPr marL="435229" indent="-315468" defTabSz="841247">
              <a:spcBef>
                <a:spcPts val="500"/>
              </a:spcBef>
              <a:buClr>
                <a:srgbClr val="0000A3"/>
              </a:buClr>
              <a:buSzPct val="100000"/>
              <a:buChar char="▪"/>
              <a:defRPr sz="2576"/>
            </a:pPr>
            <a:r>
              <a:t>enterprises run their services in “cloud” </a:t>
            </a:r>
            <a:r>
              <a:rPr sz="2208"/>
              <a:t>(e.g., Amazon Web Services, Microsoft Azure)</a:t>
            </a:r>
          </a:p>
          <a:p>
            <a:pPr marL="435229" indent="-315468" defTabSz="841247">
              <a:spcBef>
                <a:spcPts val="500"/>
              </a:spcBef>
              <a:buClr>
                <a:srgbClr val="0000A3"/>
              </a:buClr>
              <a:buSzPct val="100000"/>
              <a:buChar char="▪"/>
              <a:defRPr sz="2576"/>
            </a:pPr>
            <a:r>
              <a:t>rise of smartphones: more mobile than fixed devices on Internet </a:t>
            </a:r>
            <a:r>
              <a:rPr sz="1656"/>
              <a:t>(2017)</a:t>
            </a:r>
          </a:p>
          <a:p>
            <a:pPr marL="435229" indent="-315468" defTabSz="841247">
              <a:spcBef>
                <a:spcPts val="500"/>
              </a:spcBef>
              <a:buClr>
                <a:srgbClr val="0000A3"/>
              </a:buClr>
              <a:buSzPct val="100000"/>
              <a:buChar char="▪"/>
              <a:defRPr sz="2576"/>
            </a:pPr>
            <a:r>
              <a:t>~15B devices attached to Internet </a:t>
            </a:r>
            <a:r>
              <a:rPr sz="1840"/>
              <a:t>(2023, statista.com)</a:t>
            </a:r>
          </a:p>
        </p:txBody>
      </p:sp>
      <p:sp>
        <p:nvSpPr>
          <p:cNvPr id="10413" name="Rectangle 2"/>
          <p:cNvSpPr txBox="1"/>
          <p:nvPr/>
        </p:nvSpPr>
        <p:spPr>
          <a:xfrm>
            <a:off x="846052" y="1211969"/>
            <a:ext cx="6787120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3200">
                <a:solidFill>
                  <a:srgbClr val="C00000"/>
                </a:solidFill>
              </a:defRPr>
            </a:lvl1pPr>
          </a:lstStyle>
          <a:p>
            <a:pPr/>
            <a:r>
              <a:t>2005-present: scale, SDN, mobility, cloud</a:t>
            </a:r>
          </a:p>
        </p:txBody>
      </p:sp>
      <p:sp>
        <p:nvSpPr>
          <p:cNvPr id="1041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4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04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1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10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10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10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0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10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500"/>
                                        <p:tgtEl>
                                          <p:spTgt spid="10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9" dur="500"/>
                                        <p:tgtEl>
                                          <p:spTgt spid="10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0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500"/>
                                        <p:tgtEl>
                                          <p:spTgt spid="10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0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9" dur="500"/>
                                        <p:tgtEl>
                                          <p:spTgt spid="10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0412" grpId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6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Chapter 1: summary</a:t>
            </a:r>
          </a:p>
        </p:txBody>
      </p:sp>
      <p:sp>
        <p:nvSpPr>
          <p:cNvPr id="10417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418" name="Rectangle 5"/>
          <p:cNvSpPr txBox="1"/>
          <p:nvPr/>
        </p:nvSpPr>
        <p:spPr>
          <a:xfrm>
            <a:off x="723052" y="1325518"/>
            <a:ext cx="6098170" cy="521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2250" indent="-92075">
              <a:lnSpc>
                <a:spcPct val="90000"/>
              </a:lnSpc>
              <a:spcBef>
                <a:spcPts val="1000"/>
              </a:spcBef>
              <a:defRPr i="1" sz="3200">
                <a:solidFill>
                  <a:srgbClr val="C00000"/>
                </a:solidFill>
              </a:defRPr>
            </a:pPr>
            <a:r>
              <a:t>We’ve covered a “ton” of material!</a:t>
            </a:r>
            <a:endParaRPr sz="2800"/>
          </a:p>
          <a:p>
            <a:pPr marL="473075" indent="-355600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Internet overview</a:t>
            </a:r>
          </a:p>
          <a:p>
            <a:pPr marL="473075" indent="-355600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what</a:t>
            </a:r>
            <a:r>
              <a:t>’</a:t>
            </a:r>
            <a:r>
              <a:t>s a protocol?</a:t>
            </a:r>
          </a:p>
          <a:p>
            <a:pPr marL="473075" indent="-355600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network edge, access network, core</a:t>
            </a:r>
          </a:p>
          <a:p>
            <a:pPr lvl="1" marL="682625" indent="-225425">
              <a:lnSpc>
                <a:spcPct val="8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packet-switching versus circuit-switching</a:t>
            </a:r>
            <a:endParaRPr sz="2400"/>
          </a:p>
          <a:p>
            <a:pPr lvl="1" marL="682625" indent="-225425">
              <a:lnSpc>
                <a:spcPct val="8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Internet structure</a:t>
            </a:r>
            <a:endParaRPr sz="2400"/>
          </a:p>
          <a:p>
            <a:pPr marL="473075" indent="-406400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performance: loss, delay, throughput</a:t>
            </a:r>
          </a:p>
          <a:p>
            <a:pPr marL="473075" indent="-406400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layering, service models</a:t>
            </a:r>
          </a:p>
          <a:p>
            <a:pPr marL="473075" indent="-406400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security</a:t>
            </a:r>
          </a:p>
          <a:p>
            <a:pPr marL="473075" indent="-406400">
              <a:lnSpc>
                <a:spcPct val="8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history</a:t>
            </a:r>
          </a:p>
        </p:txBody>
      </p:sp>
      <p:sp>
        <p:nvSpPr>
          <p:cNvPr id="10419" name="Rectangle 4"/>
          <p:cNvSpPr txBox="1"/>
          <p:nvPr/>
        </p:nvSpPr>
        <p:spPr>
          <a:xfrm>
            <a:off x="7662311" y="2335166"/>
            <a:ext cx="3632836" cy="3625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2250" indent="-92075">
              <a:lnSpc>
                <a:spcPct val="90000"/>
              </a:lnSpc>
              <a:spcBef>
                <a:spcPts val="1000"/>
              </a:spcBef>
              <a:defRPr i="1" sz="3200">
                <a:solidFill>
                  <a:srgbClr val="C00000"/>
                </a:solidFill>
              </a:defRPr>
            </a:pPr>
            <a:r>
              <a:t>You now have:</a:t>
            </a:r>
            <a:r>
              <a:rPr i="0" sz="2800"/>
              <a:t> </a:t>
            </a:r>
            <a:endParaRPr sz="2800"/>
          </a:p>
          <a:p>
            <a:pPr marL="473075" indent="-35560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3200"/>
            </a:pPr>
            <a:r>
              <a:t>context, overview, vocabulary,  “feel” of networking</a:t>
            </a:r>
            <a:endParaRPr sz="2800"/>
          </a:p>
          <a:p>
            <a:pPr marL="473075" indent="-355600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3200"/>
            </a:pPr>
            <a:r>
              <a:t>more depth, detail, </a:t>
            </a:r>
            <a:r>
              <a:rPr i="1"/>
              <a:t>and fun </a:t>
            </a:r>
            <a:r>
              <a:t>to follow</a:t>
            </a:r>
            <a:r>
              <a:rPr i="1"/>
              <a:t>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1" name="Title 1"/>
          <p:cNvSpPr txBox="1"/>
          <p:nvPr>
            <p:ph type="title"/>
          </p:nvPr>
        </p:nvSpPr>
        <p:spPr>
          <a:xfrm>
            <a:off x="838200" y="2981688"/>
            <a:ext cx="10515600" cy="894623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Additional Chapter 1 slides</a:t>
            </a:r>
          </a:p>
        </p:txBody>
      </p:sp>
      <p:sp>
        <p:nvSpPr>
          <p:cNvPr id="10422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4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ISO/OSI reference model</a:t>
            </a:r>
          </a:p>
        </p:txBody>
      </p:sp>
      <p:sp>
        <p:nvSpPr>
          <p:cNvPr id="10425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426" name="Rectangle 5"/>
          <p:cNvSpPr txBox="1"/>
          <p:nvPr/>
        </p:nvSpPr>
        <p:spPr>
          <a:xfrm>
            <a:off x="711062" y="1341921"/>
            <a:ext cx="6674014" cy="513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3200"/>
            </a:pPr>
            <a:r>
              <a:t>Two layers not found in  Internet protocol stack!</a:t>
            </a:r>
            <a:endParaRPr sz="2800"/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2800">
                <a:solidFill>
                  <a:srgbClr val="C00000"/>
                </a:solidFill>
              </a:defRPr>
            </a:pPr>
            <a:r>
              <a:t>presentation:</a:t>
            </a:r>
            <a:r>
              <a:rPr i="0"/>
              <a:t> </a:t>
            </a:r>
            <a:r>
              <a:rPr i="0">
                <a:solidFill>
                  <a:srgbClr val="000000"/>
                </a:solidFill>
              </a:rPr>
              <a:t>allow applications to interpret meaning of data, e.g., encryption, compression, machine-specific conventions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i="1" sz="2800">
                <a:solidFill>
                  <a:srgbClr val="C00000"/>
                </a:solidFill>
              </a:defRPr>
            </a:pPr>
            <a:r>
              <a:t>session:</a:t>
            </a:r>
            <a:r>
              <a:rPr i="0"/>
              <a:t> </a:t>
            </a:r>
            <a:r>
              <a:rPr i="0">
                <a:solidFill>
                  <a:srgbClr val="000000"/>
                </a:solidFill>
              </a:rPr>
              <a:t>synchronization, checkpointing, recovery of data exchange</a:t>
            </a:r>
          </a:p>
          <a:p>
            <a:pPr marL="287338" indent="-287338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SzPct val="100000"/>
              <a:buChar char="▪"/>
              <a:defRPr sz="2800"/>
            </a:pPr>
            <a:r>
              <a:t>Internet stack “missing” these layers!</a:t>
            </a:r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these services, </a:t>
            </a:r>
            <a:r>
              <a:rPr i="1"/>
              <a:t>if needed,</a:t>
            </a:r>
            <a:r>
              <a:t> must be implemented in application</a:t>
            </a:r>
            <a:endParaRPr sz="2400"/>
          </a:p>
          <a:p>
            <a:pPr lvl="1" marL="682625" indent="-225425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SzPct val="100000"/>
              <a:buFont typeface="Arial"/>
              <a:buChar char="•"/>
              <a:defRPr sz="2800"/>
            </a:pPr>
            <a:r>
              <a:t>needed?</a:t>
            </a:r>
          </a:p>
        </p:txBody>
      </p:sp>
      <p:sp>
        <p:nvSpPr>
          <p:cNvPr id="10427" name="Rectangle 2"/>
          <p:cNvSpPr/>
          <p:nvPr/>
        </p:nvSpPr>
        <p:spPr>
          <a:xfrm>
            <a:off x="8622241" y="1413667"/>
            <a:ext cx="1892301" cy="3530601"/>
          </a:xfrm>
          <a:prstGeom prst="rect">
            <a:avLst/>
          </a:prstGeom>
          <a:solidFill>
            <a:srgbClr val="00009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0428" name="Rectangle 6"/>
          <p:cNvSpPr/>
          <p:nvPr/>
        </p:nvSpPr>
        <p:spPr>
          <a:xfrm>
            <a:off x="8507941" y="1550193"/>
            <a:ext cx="1892301" cy="358616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0429" name="Text Box 7"/>
          <p:cNvSpPr txBox="1"/>
          <p:nvPr/>
        </p:nvSpPr>
        <p:spPr>
          <a:xfrm>
            <a:off x="8510798" y="1721643"/>
            <a:ext cx="1891347" cy="3460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application</a:t>
            </a: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presentation</a:t>
            </a: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session</a:t>
            </a: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transport</a:t>
            </a: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network</a:t>
            </a: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link</a:t>
            </a: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lnSpc>
                <a:spcPct val="70000"/>
              </a:lnSpc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physical</a:t>
            </a:r>
          </a:p>
        </p:txBody>
      </p:sp>
      <p:sp>
        <p:nvSpPr>
          <p:cNvPr id="10430" name="Line 8"/>
          <p:cNvSpPr/>
          <p:nvPr/>
        </p:nvSpPr>
        <p:spPr>
          <a:xfrm>
            <a:off x="8487303" y="2142331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31" name="Line 9"/>
          <p:cNvSpPr/>
          <p:nvPr/>
        </p:nvSpPr>
        <p:spPr>
          <a:xfrm>
            <a:off x="8501591" y="3118642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32" name="Line 10"/>
          <p:cNvSpPr/>
          <p:nvPr/>
        </p:nvSpPr>
        <p:spPr>
          <a:xfrm>
            <a:off x="8501591" y="3658392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33" name="Line 11"/>
          <p:cNvSpPr/>
          <p:nvPr/>
        </p:nvSpPr>
        <p:spPr>
          <a:xfrm>
            <a:off x="8503178" y="4674392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34" name="Line 12"/>
          <p:cNvSpPr/>
          <p:nvPr/>
        </p:nvSpPr>
        <p:spPr>
          <a:xfrm>
            <a:off x="8487303" y="4191792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35" name="Line 13"/>
          <p:cNvSpPr/>
          <p:nvPr/>
        </p:nvSpPr>
        <p:spPr>
          <a:xfrm>
            <a:off x="8485716" y="2661442"/>
            <a:ext cx="1885951" cy="1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36" name="TextBox 3"/>
          <p:cNvSpPr txBox="1"/>
          <p:nvPr/>
        </p:nvSpPr>
        <p:spPr>
          <a:xfrm>
            <a:off x="8299196" y="5352939"/>
            <a:ext cx="2361120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/>
            <a:r>
              <a:t>The seven layer OSI/ISO </a:t>
            </a:r>
          </a:p>
          <a:p>
            <a:pPr algn="ctr"/>
            <a:r>
              <a:t>reference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8" name="Title 1"/>
          <p:cNvSpPr txBox="1"/>
          <p:nvPr>
            <p:ph type="title"/>
          </p:nvPr>
        </p:nvSpPr>
        <p:spPr>
          <a:xfrm>
            <a:off x="838200" y="451820"/>
            <a:ext cx="10515600" cy="894624"/>
          </a:xfrm>
          <a:prstGeom prst="rect">
            <a:avLst/>
          </a:prstGeom>
        </p:spPr>
        <p:txBody>
          <a:bodyPr/>
          <a:lstStyle/>
          <a:p>
            <a:pPr/>
            <a:r>
              <a:t>More than seven OSI layers</a:t>
            </a:r>
          </a:p>
        </p:txBody>
      </p:sp>
      <p:sp>
        <p:nvSpPr>
          <p:cNvPr id="10439" name="Slide Number Placeholder 4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44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2608" y="1700205"/>
            <a:ext cx="3748716" cy="4389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4" name="Freeform 8"/>
          <p:cNvGrpSpPr/>
          <p:nvPr/>
        </p:nvGrpSpPr>
        <p:grpSpPr>
          <a:xfrm>
            <a:off x="3129205" y="1573967"/>
            <a:ext cx="465905" cy="3104608"/>
            <a:chOff x="0" y="0"/>
            <a:chExt cx="465903" cy="3104606"/>
          </a:xfrm>
        </p:grpSpPr>
        <p:sp>
          <p:nvSpPr>
            <p:cNvPr id="10442" name="Line"/>
            <p:cNvSpPr/>
            <p:nvPr/>
          </p:nvSpPr>
          <p:spPr>
            <a:xfrm>
              <a:off x="418935" y="-1"/>
              <a:ext cx="4993" cy="3104608"/>
            </a:xfrm>
            <a:prstGeom prst="line">
              <a:avLst/>
            </a:prstGeom>
            <a:noFill/>
            <a:ln w="44450" cap="flat">
              <a:solidFill>
                <a:srgbClr val="C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43" name="Text"/>
            <p:cNvSpPr txBox="1"/>
            <p:nvPr/>
          </p:nvSpPr>
          <p:spPr>
            <a:xfrm flipH="1">
              <a:off x="0" y="1385759"/>
              <a:ext cx="46590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       </a:t>
              </a:r>
            </a:p>
          </p:txBody>
        </p:sp>
      </p:grpSp>
      <p:sp>
        <p:nvSpPr>
          <p:cNvPr id="10445" name="Freeform 10"/>
          <p:cNvSpPr/>
          <p:nvPr/>
        </p:nvSpPr>
        <p:spPr>
          <a:xfrm flipH="1" rot="10800000">
            <a:off x="10916607" y="157703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46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Services, Layering and Encapsulation</a:t>
            </a:r>
          </a:p>
        </p:txBody>
      </p:sp>
      <p:sp>
        <p:nvSpPr>
          <p:cNvPr id="10447" name="Text Box 8"/>
          <p:cNvSpPr txBox="1"/>
          <p:nvPr/>
        </p:nvSpPr>
        <p:spPr>
          <a:xfrm>
            <a:off x="495425" y="5724388"/>
            <a:ext cx="1018987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</a:t>
            </a:r>
          </a:p>
        </p:txBody>
      </p:sp>
      <p:sp>
        <p:nvSpPr>
          <p:cNvPr id="10448" name="Freeform 10"/>
          <p:cNvSpPr/>
          <p:nvPr/>
        </p:nvSpPr>
        <p:spPr>
          <a:xfrm rot="10800000">
            <a:off x="975629" y="1559548"/>
            <a:ext cx="450310" cy="40617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77" y="0"/>
                </a:moveTo>
                <a:lnTo>
                  <a:pt x="0" y="1513"/>
                </a:lnTo>
                <a:lnTo>
                  <a:pt x="2157" y="21600"/>
                </a:lnTo>
                <a:cubicBezTo>
                  <a:pt x="7919" y="12923"/>
                  <a:pt x="11524" y="10241"/>
                  <a:pt x="21600" y="4842"/>
                </a:cubicBezTo>
                <a:cubicBezTo>
                  <a:pt x="21559" y="3228"/>
                  <a:pt x="21519" y="1614"/>
                  <a:pt x="21477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451" name="Group 190"/>
          <p:cNvGrpSpPr/>
          <p:nvPr/>
        </p:nvGrpSpPr>
        <p:grpSpPr>
          <a:xfrm>
            <a:off x="635446" y="5073984"/>
            <a:ext cx="803275" cy="771526"/>
            <a:chOff x="0" y="0"/>
            <a:chExt cx="803274" cy="771525"/>
          </a:xfrm>
        </p:grpSpPr>
        <p:pic>
          <p:nvPicPr>
            <p:cNvPr id="10449" name="Picture 191" descr="Picture 19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803275" cy="771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450" name="Freeform 192"/>
            <p:cNvSpPr/>
            <p:nvPr/>
          </p:nvSpPr>
          <p:spPr>
            <a:xfrm>
              <a:off x="70419" y="74010"/>
              <a:ext cx="390584" cy="35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458" name="Group 211"/>
          <p:cNvGrpSpPr/>
          <p:nvPr/>
        </p:nvGrpSpPr>
        <p:grpSpPr>
          <a:xfrm>
            <a:off x="1357050" y="1421666"/>
            <a:ext cx="1697081" cy="4034754"/>
            <a:chOff x="0" y="0"/>
            <a:chExt cx="1697080" cy="4034752"/>
          </a:xfrm>
        </p:grpSpPr>
        <p:sp>
          <p:nvSpPr>
            <p:cNvPr id="10452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53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10454" name="Straight Connector 116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55" name="Straight Connector 147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56" name="Straight Connector 148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57" name="Straight Connector 149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491" name="Group 950"/>
          <p:cNvGrpSpPr/>
          <p:nvPr/>
        </p:nvGrpSpPr>
        <p:grpSpPr>
          <a:xfrm>
            <a:off x="11107712" y="4961744"/>
            <a:ext cx="374756" cy="833727"/>
            <a:chOff x="0" y="0"/>
            <a:chExt cx="374754" cy="833726"/>
          </a:xfrm>
        </p:grpSpPr>
        <p:sp>
          <p:nvSpPr>
            <p:cNvPr id="10459" name="Freeform 951"/>
            <p:cNvSpPr/>
            <p:nvPr/>
          </p:nvSpPr>
          <p:spPr>
            <a:xfrm>
              <a:off x="296647" y="1391"/>
              <a:ext cx="74426" cy="795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4" y="0"/>
                  </a:moveTo>
                  <a:lnTo>
                    <a:pt x="21600" y="2670"/>
                  </a:lnTo>
                  <a:lnTo>
                    <a:pt x="21112" y="20670"/>
                  </a:lnTo>
                  <a:lnTo>
                    <a:pt x="0" y="21600"/>
                  </a:lnTo>
                  <a:lnTo>
                    <a:pt x="384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60" name="Rectangle 952"/>
            <p:cNvSpPr/>
            <p:nvPr/>
          </p:nvSpPr>
          <p:spPr>
            <a:xfrm>
              <a:off x="18408" y="-1"/>
              <a:ext cx="275083" cy="795103"/>
            </a:xfrm>
            <a:prstGeom prst="rect">
              <a:avLst/>
            </a:pr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61" name="Freeform 953"/>
            <p:cNvSpPr/>
            <p:nvPr/>
          </p:nvSpPr>
          <p:spPr>
            <a:xfrm>
              <a:off x="312060" y="49063"/>
              <a:ext cx="42971" cy="72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3" h="21300" fill="norm" stroke="1" extrusionOk="0">
                  <a:moveTo>
                    <a:pt x="0" y="0"/>
                  </a:moveTo>
                  <a:cubicBezTo>
                    <a:pt x="0" y="0"/>
                    <a:pt x="5118" y="238"/>
                    <a:pt x="20883" y="1856"/>
                  </a:cubicBezTo>
                  <a:cubicBezTo>
                    <a:pt x="-717" y="10464"/>
                    <a:pt x="3480" y="21600"/>
                    <a:pt x="0" y="21293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62" name="Freeform 954"/>
            <p:cNvSpPr/>
            <p:nvPr/>
          </p:nvSpPr>
          <p:spPr>
            <a:xfrm>
              <a:off x="300855" y="421386"/>
              <a:ext cx="69166" cy="657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63" name="Rectangle 955"/>
            <p:cNvSpPr/>
            <p:nvPr/>
          </p:nvSpPr>
          <p:spPr>
            <a:xfrm>
              <a:off x="18408" y="90819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466" name="Group 956"/>
            <p:cNvGrpSpPr/>
            <p:nvPr/>
          </p:nvGrpSpPr>
          <p:grpSpPr>
            <a:xfrm>
              <a:off x="159947" y="82437"/>
              <a:ext cx="151952" cy="52271"/>
              <a:chOff x="0" y="0"/>
              <a:chExt cx="151951" cy="52269"/>
            </a:xfrm>
          </p:grpSpPr>
          <p:sp>
            <p:nvSpPr>
              <p:cNvPr id="10464" name="AutoShape 957"/>
              <p:cNvSpPr/>
              <p:nvPr/>
            </p:nvSpPr>
            <p:spPr>
              <a:xfrm>
                <a:off x="0" y="0"/>
                <a:ext cx="151952" cy="5227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465" name="AutoShape 958"/>
              <p:cNvSpPr/>
              <p:nvPr/>
            </p:nvSpPr>
            <p:spPr>
              <a:xfrm>
                <a:off x="2529" y="5444"/>
                <a:ext cx="146683" cy="4138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467" name="Rectangle 959"/>
            <p:cNvSpPr/>
            <p:nvPr/>
          </p:nvSpPr>
          <p:spPr>
            <a:xfrm>
              <a:off x="21038" y="206343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470" name="Group 960"/>
            <p:cNvGrpSpPr/>
            <p:nvPr/>
          </p:nvGrpSpPr>
          <p:grpSpPr>
            <a:xfrm>
              <a:off x="159842" y="195258"/>
              <a:ext cx="151953" cy="46629"/>
              <a:chOff x="0" y="0"/>
              <a:chExt cx="151951" cy="46627"/>
            </a:xfrm>
          </p:grpSpPr>
          <p:sp>
            <p:nvSpPr>
              <p:cNvPr id="10468" name="AutoShape 961"/>
              <p:cNvSpPr/>
              <p:nvPr/>
            </p:nvSpPr>
            <p:spPr>
              <a:xfrm>
                <a:off x="0" y="0"/>
                <a:ext cx="151952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469" name="AutoShape 962"/>
              <p:cNvSpPr/>
              <p:nvPr/>
            </p:nvSpPr>
            <p:spPr>
              <a:xfrm>
                <a:off x="2739" y="5702"/>
                <a:ext cx="146684" cy="358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471" name="Rectangle 963"/>
            <p:cNvSpPr/>
            <p:nvPr/>
          </p:nvSpPr>
          <p:spPr>
            <a:xfrm>
              <a:off x="21038" y="321868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72" name="Rectangle 964"/>
            <p:cNvSpPr/>
            <p:nvPr/>
          </p:nvSpPr>
          <p:spPr>
            <a:xfrm>
              <a:off x="23668" y="426606"/>
              <a:ext cx="157266" cy="16355"/>
            </a:xfrm>
            <a:prstGeom prst="rect">
              <a:avLst/>
            </a:pr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10475" name="Group 965"/>
            <p:cNvGrpSpPr/>
            <p:nvPr/>
          </p:nvGrpSpPr>
          <p:grpSpPr>
            <a:xfrm>
              <a:off x="157320" y="423667"/>
              <a:ext cx="152003" cy="46873"/>
              <a:chOff x="0" y="0"/>
              <a:chExt cx="152001" cy="46872"/>
            </a:xfrm>
          </p:grpSpPr>
          <p:sp>
            <p:nvSpPr>
              <p:cNvPr id="10473" name="AutoShape 966"/>
              <p:cNvSpPr/>
              <p:nvPr/>
            </p:nvSpPr>
            <p:spPr>
              <a:xfrm>
                <a:off x="0" y="0"/>
                <a:ext cx="152002" cy="4687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474" name="AutoShape 967"/>
              <p:cNvSpPr/>
              <p:nvPr/>
            </p:nvSpPr>
            <p:spPr>
              <a:xfrm>
                <a:off x="2533" y="0"/>
                <a:ext cx="146725" cy="4120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476" name="Freeform 968"/>
            <p:cNvSpPr/>
            <p:nvPr/>
          </p:nvSpPr>
          <p:spPr>
            <a:xfrm>
              <a:off x="301907" y="321868"/>
              <a:ext cx="69166" cy="65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63" y="0"/>
                  </a:moveTo>
                  <a:cubicBezTo>
                    <a:pt x="3951" y="956"/>
                    <a:pt x="11985" y="7073"/>
                    <a:pt x="21600" y="12234"/>
                  </a:cubicBezTo>
                  <a:cubicBezTo>
                    <a:pt x="21468" y="15483"/>
                    <a:pt x="21468" y="15101"/>
                    <a:pt x="21468" y="21600"/>
                  </a:cubicBezTo>
                  <a:cubicBezTo>
                    <a:pt x="21468" y="21600"/>
                    <a:pt x="11129" y="14814"/>
                    <a:pt x="0" y="9558"/>
                  </a:cubicBezTo>
                  <a:cubicBezTo>
                    <a:pt x="0" y="4588"/>
                    <a:pt x="263" y="1625"/>
                    <a:pt x="26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479" name="Group 969"/>
            <p:cNvGrpSpPr/>
            <p:nvPr/>
          </p:nvGrpSpPr>
          <p:grpSpPr>
            <a:xfrm>
              <a:off x="157317" y="313517"/>
              <a:ext cx="154536" cy="46628"/>
              <a:chOff x="0" y="0"/>
              <a:chExt cx="154535" cy="46627"/>
            </a:xfrm>
          </p:grpSpPr>
          <p:sp>
            <p:nvSpPr>
              <p:cNvPr id="10477" name="AutoShape 970"/>
              <p:cNvSpPr/>
              <p:nvPr/>
            </p:nvSpPr>
            <p:spPr>
              <a:xfrm>
                <a:off x="0" y="0"/>
                <a:ext cx="154536" cy="4662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478" name="AutoShape 971"/>
              <p:cNvSpPr/>
              <p:nvPr/>
            </p:nvSpPr>
            <p:spPr>
              <a:xfrm>
                <a:off x="2533" y="5567"/>
                <a:ext cx="152003" cy="3584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sp>
          <p:nvSpPr>
            <p:cNvPr id="10480" name="Rectangle 972"/>
            <p:cNvSpPr/>
            <p:nvPr/>
          </p:nvSpPr>
          <p:spPr>
            <a:xfrm>
              <a:off x="290861" y="-1"/>
              <a:ext cx="18409" cy="795103"/>
            </a:xfrm>
            <a:prstGeom prst="rect">
              <a:avLst/>
            </a:prstGeom>
            <a:gradFill flip="none"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81" name="Freeform 973"/>
            <p:cNvSpPr/>
            <p:nvPr/>
          </p:nvSpPr>
          <p:spPr>
            <a:xfrm>
              <a:off x="308218" y="201124"/>
              <a:ext cx="62329" cy="74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2" y="0"/>
                  </a:moveTo>
                  <a:cubicBezTo>
                    <a:pt x="4014" y="844"/>
                    <a:pt x="10508" y="5738"/>
                    <a:pt x="21308" y="12150"/>
                  </a:cubicBezTo>
                  <a:cubicBezTo>
                    <a:pt x="21162" y="15019"/>
                    <a:pt x="21600" y="15862"/>
                    <a:pt x="21600" y="21600"/>
                  </a:cubicBezTo>
                  <a:cubicBezTo>
                    <a:pt x="21600" y="21600"/>
                    <a:pt x="11676" y="14850"/>
                    <a:pt x="0" y="8438"/>
                  </a:cubicBezTo>
                  <a:cubicBezTo>
                    <a:pt x="0" y="4050"/>
                    <a:pt x="292" y="1434"/>
                    <a:pt x="29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82" name="Freeform 974"/>
            <p:cNvSpPr/>
            <p:nvPr/>
          </p:nvSpPr>
          <p:spPr>
            <a:xfrm>
              <a:off x="309007" y="87339"/>
              <a:ext cx="64170" cy="83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24" y="750"/>
                    <a:pt x="10516" y="5700"/>
                    <a:pt x="21600" y="12300"/>
                  </a:cubicBezTo>
                  <a:cubicBezTo>
                    <a:pt x="21458" y="14850"/>
                    <a:pt x="20179" y="16500"/>
                    <a:pt x="20179" y="21600"/>
                  </a:cubicBezTo>
                  <a:cubicBezTo>
                    <a:pt x="20179" y="21600"/>
                    <a:pt x="11582" y="13425"/>
                    <a:pt x="568" y="9300"/>
                  </a:cubicBezTo>
                  <a:cubicBezTo>
                    <a:pt x="568" y="5400"/>
                    <a:pt x="0" y="1275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83" name="Oval 975"/>
            <p:cNvSpPr/>
            <p:nvPr/>
          </p:nvSpPr>
          <p:spPr>
            <a:xfrm>
              <a:off x="361604" y="759261"/>
              <a:ext cx="13151" cy="33057"/>
            </a:xfrm>
            <a:prstGeom prst="ellipse">
              <a:avLst/>
            </a:pr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84" name="Freeform 976"/>
            <p:cNvSpPr/>
            <p:nvPr/>
          </p:nvSpPr>
          <p:spPr>
            <a:xfrm>
              <a:off x="305588" y="760305"/>
              <a:ext cx="64433" cy="69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9540"/>
                  </a:moveTo>
                  <a:lnTo>
                    <a:pt x="141" y="21600"/>
                  </a:lnTo>
                  <a:lnTo>
                    <a:pt x="21600" y="9900"/>
                  </a:lnTo>
                  <a:lnTo>
                    <a:pt x="21176" y="0"/>
                  </a:lnTo>
                  <a:lnTo>
                    <a:pt x="0" y="9540"/>
                  </a:lnTo>
                  <a:close/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85" name="AutoShape 977"/>
            <p:cNvSpPr/>
            <p:nvPr/>
          </p:nvSpPr>
          <p:spPr>
            <a:xfrm>
              <a:off x="-1" y="781531"/>
              <a:ext cx="314532" cy="5219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86" name="AutoShape 978"/>
            <p:cNvSpPr/>
            <p:nvPr/>
          </p:nvSpPr>
          <p:spPr>
            <a:xfrm>
              <a:off x="18408" y="795101"/>
              <a:ext cx="280344" cy="2749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E7E6E6"/>
                </a:gs>
              </a:gsLst>
              <a:lin ang="0" scaled="0"/>
            </a:gra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87" name="Oval 979"/>
            <p:cNvSpPr/>
            <p:nvPr/>
          </p:nvSpPr>
          <p:spPr>
            <a:xfrm>
              <a:off x="44444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88" name="Oval 980"/>
            <p:cNvSpPr/>
            <p:nvPr/>
          </p:nvSpPr>
          <p:spPr>
            <a:xfrm>
              <a:off x="91781" y="679577"/>
              <a:ext cx="41815" cy="49413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89" name="Oval 981"/>
            <p:cNvSpPr/>
            <p:nvPr/>
          </p:nvSpPr>
          <p:spPr>
            <a:xfrm>
              <a:off x="136226" y="679577"/>
              <a:ext cx="41815" cy="49413"/>
            </a:xfrm>
            <a:prstGeom prst="ellipse">
              <a:avLst/>
            </a:prstGeom>
            <a:solidFill>
              <a:srgbClr val="33CC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90" name="Rectangle 982"/>
            <p:cNvSpPr/>
            <p:nvPr/>
          </p:nvSpPr>
          <p:spPr>
            <a:xfrm>
              <a:off x="243787" y="489935"/>
              <a:ext cx="21039" cy="264107"/>
            </a:xfrm>
            <a:prstGeom prst="rect">
              <a:avLst/>
            </a:prstGeom>
            <a:solidFill>
              <a:srgbClr val="292929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10492" name="Text Box 8"/>
          <p:cNvSpPr txBox="1"/>
          <p:nvPr/>
        </p:nvSpPr>
        <p:spPr>
          <a:xfrm>
            <a:off x="10262453" y="5716780"/>
            <a:ext cx="1578433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destination</a:t>
            </a:r>
          </a:p>
        </p:txBody>
      </p:sp>
      <p:grpSp>
        <p:nvGrpSpPr>
          <p:cNvPr id="10499" name="Group 212"/>
          <p:cNvGrpSpPr/>
          <p:nvPr/>
        </p:nvGrpSpPr>
        <p:grpSpPr>
          <a:xfrm>
            <a:off x="9244375" y="1413547"/>
            <a:ext cx="1697082" cy="4034754"/>
            <a:chOff x="0" y="0"/>
            <a:chExt cx="1697080" cy="4034752"/>
          </a:xfrm>
        </p:grpSpPr>
        <p:sp>
          <p:nvSpPr>
            <p:cNvPr id="10493" name="Rectangle 24"/>
            <p:cNvSpPr/>
            <p:nvPr/>
          </p:nvSpPr>
          <p:spPr>
            <a:xfrm>
              <a:off x="22045" y="163767"/>
              <a:ext cx="1648917" cy="3870986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76200" dist="38100" dir="1890000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494" name="Text Box 26"/>
            <p:cNvSpPr txBox="1"/>
            <p:nvPr/>
          </p:nvSpPr>
          <p:spPr>
            <a:xfrm>
              <a:off x="22795" y="0"/>
              <a:ext cx="1674286" cy="3250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lnSpc>
                  <a:spcPct val="215000"/>
                </a:lnSpc>
                <a:defRPr sz="2400"/>
              </a:pPr>
              <a:r>
                <a:t>application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transport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network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link</a:t>
              </a:r>
              <a:endParaRPr sz="2800">
                <a:latin typeface="Gill Sans MT"/>
                <a:ea typeface="Gill Sans MT"/>
                <a:cs typeface="Gill Sans MT"/>
                <a:sym typeface="Gill Sans MT"/>
              </a:endParaRPr>
            </a:p>
            <a:p>
              <a:pPr algn="ctr">
                <a:lnSpc>
                  <a:spcPct val="215000"/>
                </a:lnSpc>
                <a:defRPr sz="2400"/>
              </a:pPr>
              <a:r>
                <a:t>physical</a:t>
              </a:r>
            </a:p>
          </p:txBody>
        </p:sp>
        <p:sp>
          <p:nvSpPr>
            <p:cNvPr id="10495" name="Straight Connector 215"/>
            <p:cNvSpPr/>
            <p:nvPr/>
          </p:nvSpPr>
          <p:spPr>
            <a:xfrm>
              <a:off x="27480" y="969265"/>
              <a:ext cx="1643482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96" name="Straight Connector 216"/>
            <p:cNvSpPr/>
            <p:nvPr/>
          </p:nvSpPr>
          <p:spPr>
            <a:xfrm>
              <a:off x="0" y="1766242"/>
              <a:ext cx="1655974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97" name="Straight Connector 217"/>
            <p:cNvSpPr/>
            <p:nvPr/>
          </p:nvSpPr>
          <p:spPr>
            <a:xfrm>
              <a:off x="2498" y="2503257"/>
              <a:ext cx="1668465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98" name="Straight Connector 218"/>
            <p:cNvSpPr/>
            <p:nvPr/>
          </p:nvSpPr>
          <p:spPr>
            <a:xfrm>
              <a:off x="4995" y="3285246"/>
              <a:ext cx="1650977" cy="1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500" name="Rectangle 142"/>
          <p:cNvSpPr/>
          <p:nvPr/>
        </p:nvSpPr>
        <p:spPr>
          <a:xfrm>
            <a:off x="5584583" y="2368400"/>
            <a:ext cx="971760" cy="3897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507" name="Group 185"/>
          <p:cNvGrpSpPr/>
          <p:nvPr/>
        </p:nvGrpSpPr>
        <p:grpSpPr>
          <a:xfrm>
            <a:off x="5698740" y="2384902"/>
            <a:ext cx="774701" cy="394097"/>
            <a:chOff x="0" y="0"/>
            <a:chExt cx="774700" cy="394095"/>
          </a:xfrm>
        </p:grpSpPr>
        <p:grpSp>
          <p:nvGrpSpPr>
            <p:cNvPr id="10503" name="Group 179"/>
            <p:cNvGrpSpPr/>
            <p:nvPr/>
          </p:nvGrpSpPr>
          <p:grpSpPr>
            <a:xfrm>
              <a:off x="0" y="0"/>
              <a:ext cx="280988" cy="394096"/>
              <a:chOff x="0" y="0"/>
              <a:chExt cx="280987" cy="394095"/>
            </a:xfrm>
          </p:grpSpPr>
          <p:sp>
            <p:nvSpPr>
              <p:cNvPr id="10501" name="Rectangle 180"/>
              <p:cNvSpPr/>
              <p:nvPr/>
            </p:nvSpPr>
            <p:spPr>
              <a:xfrm>
                <a:off x="0" y="77985"/>
                <a:ext cx="280988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502" name="Rectangle 181"/>
              <p:cNvSpPr txBox="1"/>
              <p:nvPr/>
            </p:nvSpPr>
            <p:spPr>
              <a:xfrm>
                <a:off x="3051" y="0"/>
                <a:ext cx="274885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</p:grpSp>
        <p:grpSp>
          <p:nvGrpSpPr>
            <p:cNvPr id="10506" name="Group 182"/>
            <p:cNvGrpSpPr/>
            <p:nvPr/>
          </p:nvGrpSpPr>
          <p:grpSpPr>
            <a:xfrm>
              <a:off x="279400" y="55811"/>
              <a:ext cx="495301" cy="288824"/>
              <a:chOff x="0" y="0"/>
              <a:chExt cx="495300" cy="288823"/>
            </a:xfrm>
          </p:grpSpPr>
          <p:sp>
            <p:nvSpPr>
              <p:cNvPr id="10504" name="Rectangle 183"/>
              <p:cNvSpPr/>
              <p:nvPr/>
            </p:nvSpPr>
            <p:spPr>
              <a:xfrm>
                <a:off x="0" y="22174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505" name="Rectangle 184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grpSp>
        <p:nvGrpSpPr>
          <p:cNvPr id="10510" name="Group 175"/>
          <p:cNvGrpSpPr/>
          <p:nvPr/>
        </p:nvGrpSpPr>
        <p:grpSpPr>
          <a:xfrm>
            <a:off x="5996141" y="1554724"/>
            <a:ext cx="495301" cy="288825"/>
            <a:chOff x="0" y="0"/>
            <a:chExt cx="495300" cy="288823"/>
          </a:xfrm>
        </p:grpSpPr>
        <p:sp>
          <p:nvSpPr>
            <p:cNvPr id="10508" name="Rectangle 176"/>
            <p:cNvSpPr/>
            <p:nvPr/>
          </p:nvSpPr>
          <p:spPr>
            <a:xfrm>
              <a:off x="0" y="18999"/>
              <a:ext cx="495300" cy="25717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509" name="Rectangle 177"/>
            <p:cNvSpPr txBox="1"/>
            <p:nvPr/>
          </p:nvSpPr>
          <p:spPr>
            <a:xfrm>
              <a:off x="154863" y="0"/>
              <a:ext cx="252249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</a:t>
              </a:r>
            </a:p>
          </p:txBody>
        </p:sp>
      </p:grpSp>
      <p:sp>
        <p:nvSpPr>
          <p:cNvPr id="10511" name="Rectangle 79"/>
          <p:cNvSpPr/>
          <p:nvPr/>
        </p:nvSpPr>
        <p:spPr>
          <a:xfrm>
            <a:off x="5356171" y="3319498"/>
            <a:ext cx="1210366" cy="3897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519" name="Group 5"/>
          <p:cNvGrpSpPr/>
          <p:nvPr/>
        </p:nvGrpSpPr>
        <p:grpSpPr>
          <a:xfrm>
            <a:off x="5408407" y="3309609"/>
            <a:ext cx="1068594" cy="396353"/>
            <a:chOff x="0" y="0"/>
            <a:chExt cx="1068593" cy="396352"/>
          </a:xfrm>
        </p:grpSpPr>
        <p:grpSp>
          <p:nvGrpSpPr>
            <p:cNvPr id="10514" name="Group 182"/>
            <p:cNvGrpSpPr/>
            <p:nvPr/>
          </p:nvGrpSpPr>
          <p:grpSpPr>
            <a:xfrm>
              <a:off x="11317" y="63069"/>
              <a:ext cx="1057277" cy="288824"/>
              <a:chOff x="0" y="0"/>
              <a:chExt cx="1057275" cy="288823"/>
            </a:xfrm>
          </p:grpSpPr>
          <p:sp>
            <p:nvSpPr>
              <p:cNvPr id="10512" name="Rectangle 183"/>
              <p:cNvSpPr/>
              <p:nvPr/>
            </p:nvSpPr>
            <p:spPr>
              <a:xfrm>
                <a:off x="0" y="22174"/>
                <a:ext cx="1057276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513" name="Rectangle 184"/>
              <p:cNvSpPr txBox="1"/>
              <p:nvPr/>
            </p:nvSpPr>
            <p:spPr>
              <a:xfrm>
                <a:off x="704932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sp>
          <p:nvSpPr>
            <p:cNvPr id="10515" name="Rectangle 181"/>
            <p:cNvSpPr txBox="1"/>
            <p:nvPr/>
          </p:nvSpPr>
          <p:spPr>
            <a:xfrm>
              <a:off x="283512" y="2256"/>
              <a:ext cx="274884" cy="3940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516" name="Rectangle 181"/>
            <p:cNvSpPr txBox="1"/>
            <p:nvPr/>
          </p:nvSpPr>
          <p:spPr>
            <a:xfrm>
              <a:off x="0" y="0"/>
              <a:ext cx="3173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517" name="Straight Connector 3"/>
            <p:cNvSpPr/>
            <p:nvPr/>
          </p:nvSpPr>
          <p:spPr>
            <a:xfrm flipH="1">
              <a:off x="577659" y="85243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18" name="Straight Connector 90"/>
            <p:cNvSpPr/>
            <p:nvPr/>
          </p:nvSpPr>
          <p:spPr>
            <a:xfrm flipH="1">
              <a:off x="297160" y="83531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552" name="Group 8"/>
          <p:cNvGrpSpPr/>
          <p:nvPr/>
        </p:nvGrpSpPr>
        <p:grpSpPr>
          <a:xfrm>
            <a:off x="7629993" y="1484027"/>
            <a:ext cx="1533996" cy="3792512"/>
            <a:chOff x="0" y="0"/>
            <a:chExt cx="1533995" cy="3792511"/>
          </a:xfrm>
        </p:grpSpPr>
        <p:grpSp>
          <p:nvGrpSpPr>
            <p:cNvPr id="10522" name="Freeform 118"/>
            <p:cNvGrpSpPr/>
            <p:nvPr/>
          </p:nvGrpSpPr>
          <p:grpSpPr>
            <a:xfrm>
              <a:off x="0" y="0"/>
              <a:ext cx="1201063" cy="3792512"/>
              <a:chOff x="0" y="0"/>
              <a:chExt cx="1201062" cy="3792511"/>
            </a:xfrm>
          </p:grpSpPr>
          <p:sp>
            <p:nvSpPr>
              <p:cNvPr id="10520" name="Line"/>
              <p:cNvSpPr/>
              <p:nvPr/>
            </p:nvSpPr>
            <p:spPr>
              <a:xfrm flipH="1">
                <a:off x="-1" y="0"/>
                <a:ext cx="1201064" cy="37925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74" y="18159"/>
                    </a:lnTo>
                    <a:cubicBezTo>
                      <a:pt x="49" y="12106"/>
                      <a:pt x="25" y="6053"/>
                      <a:pt x="0" y="0"/>
                    </a:cubicBezTo>
                  </a:path>
                </a:pathLst>
              </a:custGeom>
              <a:noFill/>
              <a:ln w="44450" cap="flat">
                <a:solidFill>
                  <a:srgbClr val="C00000"/>
                </a:solidFill>
                <a:prstDash val="solid"/>
                <a:miter lim="800000"/>
                <a:tailEnd type="triangle" w="med" len="med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521" name="Text"/>
              <p:cNvSpPr txBox="1"/>
              <p:nvPr/>
            </p:nvSpPr>
            <p:spPr>
              <a:xfrm>
                <a:off x="67945" y="1729711"/>
                <a:ext cx="1065173" cy="3330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                    </a:t>
                </a:r>
              </a:p>
            </p:txBody>
          </p:sp>
        </p:grpSp>
        <p:grpSp>
          <p:nvGrpSpPr>
            <p:cNvPr id="10533" name="Group 119"/>
            <p:cNvGrpSpPr/>
            <p:nvPr/>
          </p:nvGrpSpPr>
          <p:grpSpPr>
            <a:xfrm>
              <a:off x="63332" y="2574039"/>
              <a:ext cx="1470664" cy="429615"/>
              <a:chOff x="0" y="0"/>
              <a:chExt cx="1470663" cy="429613"/>
            </a:xfrm>
          </p:grpSpPr>
          <p:sp>
            <p:nvSpPr>
              <p:cNvPr id="10523" name="Rectangle 120"/>
              <p:cNvSpPr/>
              <p:nvPr/>
            </p:nvSpPr>
            <p:spPr>
              <a:xfrm>
                <a:off x="260298" y="39869"/>
                <a:ext cx="1210366" cy="38974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grpSp>
            <p:nvGrpSpPr>
              <p:cNvPr id="10526" name="Group 182"/>
              <p:cNvGrpSpPr/>
              <p:nvPr/>
            </p:nvGrpSpPr>
            <p:grpSpPr>
              <a:xfrm>
                <a:off x="0" y="63069"/>
                <a:ext cx="1381127" cy="288824"/>
                <a:chOff x="0" y="0"/>
                <a:chExt cx="1381126" cy="288823"/>
              </a:xfrm>
            </p:grpSpPr>
            <p:sp>
              <p:nvSpPr>
                <p:cNvPr id="10524" name="Rectangle 183"/>
                <p:cNvSpPr/>
                <p:nvPr/>
              </p:nvSpPr>
              <p:spPr>
                <a:xfrm>
                  <a:off x="0" y="22174"/>
                  <a:ext cx="1381127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525" name="Rectangle 184"/>
                <p:cNvSpPr txBox="1"/>
                <p:nvPr/>
              </p:nvSpPr>
              <p:spPr>
                <a:xfrm>
                  <a:off x="1028782" y="0"/>
                  <a:ext cx="252250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sp>
            <p:nvSpPr>
              <p:cNvPr id="10527" name="Rectangle 181"/>
              <p:cNvSpPr txBox="1"/>
              <p:nvPr/>
            </p:nvSpPr>
            <p:spPr>
              <a:xfrm>
                <a:off x="596044" y="2256"/>
                <a:ext cx="274885" cy="39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  <p:sp>
            <p:nvSpPr>
              <p:cNvPr id="10528" name="Rectangle 181"/>
              <p:cNvSpPr txBox="1"/>
              <p:nvPr/>
            </p:nvSpPr>
            <p:spPr>
              <a:xfrm>
                <a:off x="312532" y="0"/>
                <a:ext cx="317301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n</a:t>
                </a:r>
              </a:p>
            </p:txBody>
          </p:sp>
          <p:sp>
            <p:nvSpPr>
              <p:cNvPr id="10529" name="Straight Connector 124"/>
              <p:cNvSpPr/>
              <p:nvPr/>
            </p:nvSpPr>
            <p:spPr>
              <a:xfrm>
                <a:off x="890192" y="85243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530" name="Straight Connector 125"/>
              <p:cNvSpPr/>
              <p:nvPr/>
            </p:nvSpPr>
            <p:spPr>
              <a:xfrm flipH="1">
                <a:off x="609693" y="83531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531" name="Rectangle 181"/>
              <p:cNvSpPr txBox="1"/>
              <p:nvPr/>
            </p:nvSpPr>
            <p:spPr>
              <a:xfrm>
                <a:off x="34947" y="7649"/>
                <a:ext cx="266401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l</a:t>
                </a:r>
              </a:p>
            </p:txBody>
          </p:sp>
          <p:sp>
            <p:nvSpPr>
              <p:cNvPr id="10532" name="Straight Connector 128"/>
              <p:cNvSpPr/>
              <p:nvPr/>
            </p:nvSpPr>
            <p:spPr>
              <a:xfrm flipH="1">
                <a:off x="289006" y="84120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541" name="Group 131"/>
            <p:cNvGrpSpPr/>
            <p:nvPr/>
          </p:nvGrpSpPr>
          <p:grpSpPr>
            <a:xfrm>
              <a:off x="374210" y="1828081"/>
              <a:ext cx="1068594" cy="396353"/>
              <a:chOff x="0" y="0"/>
              <a:chExt cx="1068593" cy="396352"/>
            </a:xfrm>
          </p:grpSpPr>
          <p:grpSp>
            <p:nvGrpSpPr>
              <p:cNvPr id="10536" name="Group 182"/>
              <p:cNvGrpSpPr/>
              <p:nvPr/>
            </p:nvGrpSpPr>
            <p:grpSpPr>
              <a:xfrm>
                <a:off x="11317" y="63069"/>
                <a:ext cx="1057277" cy="288824"/>
                <a:chOff x="0" y="0"/>
                <a:chExt cx="1057275" cy="288823"/>
              </a:xfrm>
            </p:grpSpPr>
            <p:sp>
              <p:nvSpPr>
                <p:cNvPr id="10534" name="Rectangle 183"/>
                <p:cNvSpPr/>
                <p:nvPr/>
              </p:nvSpPr>
              <p:spPr>
                <a:xfrm>
                  <a:off x="0" y="22174"/>
                  <a:ext cx="1057276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535" name="Rectangle 184"/>
                <p:cNvSpPr txBox="1"/>
                <p:nvPr/>
              </p:nvSpPr>
              <p:spPr>
                <a:xfrm>
                  <a:off x="704932" y="0"/>
                  <a:ext cx="252249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  <p:sp>
            <p:nvSpPr>
              <p:cNvPr id="10537" name="Rectangle 181"/>
              <p:cNvSpPr txBox="1"/>
              <p:nvPr/>
            </p:nvSpPr>
            <p:spPr>
              <a:xfrm>
                <a:off x="283512" y="2256"/>
                <a:ext cx="274884" cy="3940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t</a:t>
                </a:r>
              </a:p>
            </p:txBody>
          </p:sp>
          <p:sp>
            <p:nvSpPr>
              <p:cNvPr id="10538" name="Rectangle 181"/>
              <p:cNvSpPr txBox="1"/>
              <p:nvPr/>
            </p:nvSpPr>
            <p:spPr>
              <a:xfrm>
                <a:off x="0" y="0"/>
                <a:ext cx="317300" cy="3940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H</a:t>
                </a:r>
                <a:r>
                  <a:rPr baseline="-25000" sz="1800"/>
                  <a:t>n</a:t>
                </a:r>
              </a:p>
            </p:txBody>
          </p:sp>
          <p:sp>
            <p:nvSpPr>
              <p:cNvPr id="10539" name="Straight Connector 144"/>
              <p:cNvSpPr/>
              <p:nvPr/>
            </p:nvSpPr>
            <p:spPr>
              <a:xfrm flipH="1">
                <a:off x="577659" y="85243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540" name="Straight Connector 145"/>
              <p:cNvSpPr/>
              <p:nvPr/>
            </p:nvSpPr>
            <p:spPr>
              <a:xfrm flipH="1">
                <a:off x="297160" y="83531"/>
                <a:ext cx="1" cy="2571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548" name="Group 6"/>
            <p:cNvGrpSpPr/>
            <p:nvPr/>
          </p:nvGrpSpPr>
          <p:grpSpPr>
            <a:xfrm>
              <a:off x="635793" y="1125533"/>
              <a:ext cx="774701" cy="394096"/>
              <a:chOff x="0" y="0"/>
              <a:chExt cx="774699" cy="394095"/>
            </a:xfrm>
          </p:grpSpPr>
          <p:grpSp>
            <p:nvGrpSpPr>
              <p:cNvPr id="10544" name="Group 179"/>
              <p:cNvGrpSpPr/>
              <p:nvPr/>
            </p:nvGrpSpPr>
            <p:grpSpPr>
              <a:xfrm>
                <a:off x="0" y="0"/>
                <a:ext cx="280988" cy="394096"/>
                <a:chOff x="0" y="0"/>
                <a:chExt cx="280987" cy="394095"/>
              </a:xfrm>
            </p:grpSpPr>
            <p:sp>
              <p:nvSpPr>
                <p:cNvPr id="10542" name="Rectangle 180"/>
                <p:cNvSpPr/>
                <p:nvPr/>
              </p:nvSpPr>
              <p:spPr>
                <a:xfrm>
                  <a:off x="0" y="77985"/>
                  <a:ext cx="280988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543" name="Rectangle 181"/>
                <p:cNvSpPr txBox="1"/>
                <p:nvPr/>
              </p:nvSpPr>
              <p:spPr>
                <a:xfrm>
                  <a:off x="3052" y="0"/>
                  <a:ext cx="274884" cy="3940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/>
                <a:p>
                  <a: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H</a:t>
                  </a:r>
                  <a:r>
                    <a:rPr baseline="-25000" sz="1800"/>
                    <a:t>t</a:t>
                  </a:r>
                </a:p>
              </p:txBody>
            </p:sp>
          </p:grpSp>
          <p:grpSp>
            <p:nvGrpSpPr>
              <p:cNvPr id="10547" name="Group 182"/>
              <p:cNvGrpSpPr/>
              <p:nvPr/>
            </p:nvGrpSpPr>
            <p:grpSpPr>
              <a:xfrm>
                <a:off x="279399" y="55810"/>
                <a:ext cx="495301" cy="288824"/>
                <a:chOff x="0" y="0"/>
                <a:chExt cx="495300" cy="288823"/>
              </a:xfrm>
            </p:grpSpPr>
            <p:sp>
              <p:nvSpPr>
                <p:cNvPr id="10545" name="Rectangle 183"/>
                <p:cNvSpPr/>
                <p:nvPr/>
              </p:nvSpPr>
              <p:spPr>
                <a:xfrm>
                  <a:off x="0" y="22174"/>
                  <a:ext cx="495300" cy="257176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>
                    <a:defRPr sz="2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546" name="Rectangle 184"/>
                <p:cNvSpPr txBox="1"/>
                <p:nvPr/>
              </p:nvSpPr>
              <p:spPr>
                <a:xfrm>
                  <a:off x="154863" y="0"/>
                  <a:ext cx="252249" cy="2888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/>
                  <a:r>
                    <a:t>M</a:t>
                  </a:r>
                </a:p>
              </p:txBody>
            </p:sp>
          </p:grpSp>
        </p:grpSp>
        <p:grpSp>
          <p:nvGrpSpPr>
            <p:cNvPr id="10551" name="Group 175"/>
            <p:cNvGrpSpPr/>
            <p:nvPr/>
          </p:nvGrpSpPr>
          <p:grpSpPr>
            <a:xfrm>
              <a:off x="894195" y="402393"/>
              <a:ext cx="495301" cy="288825"/>
              <a:chOff x="0" y="0"/>
              <a:chExt cx="495300" cy="288823"/>
            </a:xfrm>
          </p:grpSpPr>
          <p:sp>
            <p:nvSpPr>
              <p:cNvPr id="10549" name="Rectangle 176"/>
              <p:cNvSpPr/>
              <p:nvPr/>
            </p:nvSpPr>
            <p:spPr>
              <a:xfrm>
                <a:off x="0" y="18999"/>
                <a:ext cx="495300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550" name="Rectangle 177"/>
              <p:cNvSpPr txBox="1"/>
              <p:nvPr/>
            </p:nvSpPr>
            <p:spPr>
              <a:xfrm>
                <a:off x="154863" y="0"/>
                <a:ext cx="252249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</p:grpSp>
      <p:grpSp>
        <p:nvGrpSpPr>
          <p:cNvPr id="10555" name="Freeform 8"/>
          <p:cNvGrpSpPr/>
          <p:nvPr/>
        </p:nvGrpSpPr>
        <p:grpSpPr>
          <a:xfrm>
            <a:off x="3570599" y="4675377"/>
            <a:ext cx="4136845" cy="601046"/>
            <a:chOff x="0" y="0"/>
            <a:chExt cx="4136844" cy="601044"/>
          </a:xfrm>
        </p:grpSpPr>
        <p:sp>
          <p:nvSpPr>
            <p:cNvPr id="10553" name="Line"/>
            <p:cNvSpPr/>
            <p:nvPr/>
          </p:nvSpPr>
          <p:spPr>
            <a:xfrm>
              <a:off x="0" y="0"/>
              <a:ext cx="4136845" cy="6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4987" y="21081"/>
                  </a:lnTo>
                  <a:lnTo>
                    <a:pt x="21600" y="21600"/>
                  </a:lnTo>
                </a:path>
              </a:pathLst>
            </a:custGeom>
            <a:noFill/>
            <a:ln w="44450" cap="flat">
              <a:solidFill>
                <a:srgbClr val="C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554" name="Text"/>
            <p:cNvSpPr txBox="1"/>
            <p:nvPr/>
          </p:nvSpPr>
          <p:spPr>
            <a:xfrm>
              <a:off x="67944" y="133978"/>
              <a:ext cx="465905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       </a:t>
              </a:r>
            </a:p>
          </p:txBody>
        </p:sp>
      </p:grpSp>
      <p:grpSp>
        <p:nvGrpSpPr>
          <p:cNvPr id="10559" name="Group 14"/>
          <p:cNvGrpSpPr/>
          <p:nvPr/>
        </p:nvGrpSpPr>
        <p:grpSpPr>
          <a:xfrm>
            <a:off x="3231941" y="2137611"/>
            <a:ext cx="989942" cy="1874076"/>
            <a:chOff x="0" y="0"/>
            <a:chExt cx="989940" cy="1874074"/>
          </a:xfrm>
        </p:grpSpPr>
        <p:sp>
          <p:nvSpPr>
            <p:cNvPr id="10556" name="TextBox 9"/>
            <p:cNvSpPr txBox="1"/>
            <p:nvPr/>
          </p:nvSpPr>
          <p:spPr>
            <a:xfrm>
              <a:off x="0" y="0"/>
              <a:ext cx="908259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message</a:t>
              </a:r>
            </a:p>
          </p:txBody>
        </p:sp>
        <p:sp>
          <p:nvSpPr>
            <p:cNvPr id="10557" name="TextBox 165"/>
            <p:cNvSpPr txBox="1"/>
            <p:nvPr/>
          </p:nvSpPr>
          <p:spPr>
            <a:xfrm>
              <a:off x="5878" y="790824"/>
              <a:ext cx="905803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segment</a:t>
              </a:r>
            </a:p>
          </p:txBody>
        </p:sp>
        <p:sp>
          <p:nvSpPr>
            <p:cNvPr id="10558" name="TextBox 199"/>
            <p:cNvSpPr txBox="1"/>
            <p:nvPr/>
          </p:nvSpPr>
          <p:spPr>
            <a:xfrm>
              <a:off x="309" y="1540987"/>
              <a:ext cx="98963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datagram</a:t>
              </a:r>
            </a:p>
          </p:txBody>
        </p:sp>
      </p:grpSp>
      <p:sp>
        <p:nvSpPr>
          <p:cNvPr id="10560" name="TextBox 200"/>
          <p:cNvSpPr txBox="1"/>
          <p:nvPr/>
        </p:nvSpPr>
        <p:spPr>
          <a:xfrm>
            <a:off x="3234686" y="4455188"/>
            <a:ext cx="65476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frame</a:t>
            </a:r>
          </a:p>
        </p:txBody>
      </p:sp>
      <p:grpSp>
        <p:nvGrpSpPr>
          <p:cNvPr id="10570" name="Group 2"/>
          <p:cNvGrpSpPr/>
          <p:nvPr/>
        </p:nvGrpSpPr>
        <p:grpSpPr>
          <a:xfrm>
            <a:off x="5144294" y="4143652"/>
            <a:ext cx="1347789" cy="397849"/>
            <a:chOff x="0" y="0"/>
            <a:chExt cx="1347787" cy="397848"/>
          </a:xfrm>
        </p:grpSpPr>
        <p:grpSp>
          <p:nvGrpSpPr>
            <p:cNvPr id="10563" name="Group 182"/>
            <p:cNvGrpSpPr/>
            <p:nvPr/>
          </p:nvGrpSpPr>
          <p:grpSpPr>
            <a:xfrm>
              <a:off x="0" y="63069"/>
              <a:ext cx="1347788" cy="288824"/>
              <a:chOff x="0" y="0"/>
              <a:chExt cx="1347787" cy="288823"/>
            </a:xfrm>
          </p:grpSpPr>
          <p:sp>
            <p:nvSpPr>
              <p:cNvPr id="10561" name="Rectangle 183"/>
              <p:cNvSpPr/>
              <p:nvPr/>
            </p:nvSpPr>
            <p:spPr>
              <a:xfrm>
                <a:off x="0" y="22174"/>
                <a:ext cx="1347788" cy="2571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562" name="Rectangle 184"/>
              <p:cNvSpPr txBox="1"/>
              <p:nvPr/>
            </p:nvSpPr>
            <p:spPr>
              <a:xfrm>
                <a:off x="995444" y="0"/>
                <a:ext cx="252250" cy="2888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M</a:t>
                </a:r>
              </a:p>
            </p:txBody>
          </p:sp>
        </p:grpSp>
        <p:sp>
          <p:nvSpPr>
            <p:cNvPr id="10564" name="Rectangle 181"/>
            <p:cNvSpPr txBox="1"/>
            <p:nvPr/>
          </p:nvSpPr>
          <p:spPr>
            <a:xfrm>
              <a:off x="562707" y="2256"/>
              <a:ext cx="274884" cy="3940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t</a:t>
              </a:r>
            </a:p>
          </p:txBody>
        </p:sp>
        <p:sp>
          <p:nvSpPr>
            <p:cNvPr id="10565" name="Rectangle 181"/>
            <p:cNvSpPr txBox="1"/>
            <p:nvPr/>
          </p:nvSpPr>
          <p:spPr>
            <a:xfrm>
              <a:off x="279195" y="0"/>
              <a:ext cx="317300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n</a:t>
              </a:r>
            </a:p>
          </p:txBody>
        </p:sp>
        <p:sp>
          <p:nvSpPr>
            <p:cNvPr id="10566" name="Straight Connector 221"/>
            <p:cNvSpPr/>
            <p:nvPr/>
          </p:nvSpPr>
          <p:spPr>
            <a:xfrm>
              <a:off x="856854" y="85243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67" name="Straight Connector 222"/>
            <p:cNvSpPr/>
            <p:nvPr/>
          </p:nvSpPr>
          <p:spPr>
            <a:xfrm flipH="1">
              <a:off x="576355" y="83531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68" name="Rectangle 181"/>
            <p:cNvSpPr txBox="1"/>
            <p:nvPr/>
          </p:nvSpPr>
          <p:spPr>
            <a:xfrm>
              <a:off x="20115" y="3753"/>
              <a:ext cx="266401" cy="394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r>
                <a:t>H</a:t>
              </a:r>
              <a:r>
                <a:rPr baseline="-25000" sz="1800"/>
                <a:t>l</a:t>
              </a:r>
            </a:p>
          </p:txBody>
        </p:sp>
        <p:sp>
          <p:nvSpPr>
            <p:cNvPr id="10569" name="Straight Connector 224"/>
            <p:cNvSpPr/>
            <p:nvPr/>
          </p:nvSpPr>
          <p:spPr>
            <a:xfrm flipH="1">
              <a:off x="273807" y="82780"/>
              <a:ext cx="1" cy="2571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0571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after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179170 0.010179" origin="layout" pathEditMode="relative">
                                      <p:cBhvr>
                                        <p:cTn id="6" dur="2000" fill="hold"/>
                                        <p:tgtEl>
                                          <p:spTgt spid="105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path" nodeType="withEffect" presetSubtype="0" presetID="-1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201574 0.034032" origin="layout" pathEditMode="relative">
                                      <p:cBhvr>
                                        <p:cTn id="9" dur="2000" fill="hold"/>
                                        <p:tgtEl>
                                          <p:spTgt spid="105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path" nodeType="withEffect" presetSubtype="0" presetID="-1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220956 0.049525" origin="layout" pathEditMode="relative">
                                      <p:cBhvr>
                                        <p:cTn id="12" dur="2000" fill="hold"/>
                                        <p:tgtEl>
                                          <p:spTgt spid="105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path" nodeType="withEffect" presetSubtype="0" presetID="-1" grpId="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162236 -0.006252" origin="layout" pathEditMode="relative">
                                      <p:cBhvr>
                                        <p:cTn id="15" dur="2000" fill="hold"/>
                                        <p:tgtEl>
                                          <p:spTgt spid="105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500"/>
                                        <p:tgtEl>
                                          <p:spTgt spid="10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3" dur="500"/>
                                        <p:tgtEl>
                                          <p:spTgt spid="10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xit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7" dur="500" fill="hold"/>
                                        <p:tgtEl>
                                          <p:spTgt spid="105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Class="exit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1" dur="500" fill="hold"/>
                                        <p:tgtEl>
                                          <p:spTgt spid="10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Class="entr" nodeType="afterEffect" presetSubtype="1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6" dur="500"/>
                                        <p:tgtEl>
                                          <p:spTgt spid="1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Class="entr" nodeType="after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0" dur="500"/>
                                        <p:tgtEl>
                                          <p:spTgt spid="1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Class="entr" nodeType="afterEffect" presetSubtype="4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44" dur="500"/>
                                        <p:tgtEl>
                                          <p:spTgt spid="1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444" grpId="9"/>
      <p:bldP build="whole" bldLvl="1" animBg="1" rev="0" advAuto="0" spid="10555" grpId="10"/>
      <p:bldP build="whole" bldLvl="1" animBg="1" rev="0" advAuto="0" spid="10552" grpId="11"/>
      <p:bldP build="whole" bldLvl="1" animBg="1" rev="0" advAuto="0" spid="10560" grpId="6"/>
      <p:bldP build="whole" bldLvl="1" animBg="1" rev="0" advAuto="0" spid="10559" grpId="5"/>
      <p:bldP build="whole" bldLvl="1" animBg="1" rev="0" advAuto="0" spid="10560" grpId="8"/>
      <p:bldP build="whole" bldLvl="1" animBg="1" rev="0" advAuto="0" spid="10559" grpId="7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3" name="Title 1"/>
          <p:cNvSpPr txBox="1"/>
          <p:nvPr>
            <p:ph type="title"/>
          </p:nvPr>
        </p:nvSpPr>
        <p:spPr>
          <a:xfrm>
            <a:off x="825266" y="291946"/>
            <a:ext cx="10515601" cy="894624"/>
          </a:xfrm>
          <a:prstGeom prst="rect">
            <a:avLst/>
          </a:prstGeom>
        </p:spPr>
        <p:txBody>
          <a:bodyPr/>
          <a:lstStyle/>
          <a:p>
            <a:pPr/>
            <a:r>
              <a:t>Wireshark</a:t>
            </a:r>
          </a:p>
        </p:txBody>
      </p:sp>
      <p:sp>
        <p:nvSpPr>
          <p:cNvPr id="10574" name="Slide Number Placeholder 5"/>
          <p:cNvSpPr txBox="1"/>
          <p:nvPr>
            <p:ph type="sldNum" sz="quarter" idx="2"/>
          </p:nvPr>
        </p:nvSpPr>
        <p:spPr>
          <a:xfrm>
            <a:off x="11717066" y="6512797"/>
            <a:ext cx="245751" cy="2257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577" name="Group 8"/>
          <p:cNvGrpSpPr/>
          <p:nvPr/>
        </p:nvGrpSpPr>
        <p:grpSpPr>
          <a:xfrm>
            <a:off x="3064933" y="1186569"/>
            <a:ext cx="5643563" cy="4216401"/>
            <a:chOff x="0" y="0"/>
            <a:chExt cx="5643562" cy="4216400"/>
          </a:xfrm>
        </p:grpSpPr>
        <p:sp>
          <p:nvSpPr>
            <p:cNvPr id="10575" name="Freeform 9"/>
            <p:cNvSpPr/>
            <p:nvPr/>
          </p:nvSpPr>
          <p:spPr>
            <a:xfrm>
              <a:off x="0" y="12700"/>
              <a:ext cx="431801" cy="4203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0945" y="17630"/>
                  </a:lnTo>
                  <a:cubicBezTo>
                    <a:pt x="21164" y="11753"/>
                    <a:pt x="21382" y="5877"/>
                    <a:pt x="21600" y="0"/>
                  </a:cubicBezTo>
                  <a:lnTo>
                    <a:pt x="655" y="21600"/>
                  </a:lnTo>
                  <a:lnTo>
                    <a:pt x="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DD7EE"/>
                </a:gs>
                <a:gs pos="100000">
                  <a:srgbClr val="FFFFFF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576" name="Rectangle 10"/>
            <p:cNvSpPr/>
            <p:nvPr/>
          </p:nvSpPr>
          <p:spPr>
            <a:xfrm>
              <a:off x="419100" y="-1"/>
              <a:ext cx="5224463" cy="3430589"/>
            </a:xfrm>
            <a:prstGeom prst="rect">
              <a:avLst/>
            </a:prstGeom>
            <a:solidFill>
              <a:srgbClr val="BDD7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10578" name="Picture 12" descr="Picture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30145" y="5561719"/>
            <a:ext cx="3959226" cy="100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79" name="Picture 120" descr="Picture 1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19596" y="4609219"/>
            <a:ext cx="1389063" cy="127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80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flipH="1">
            <a:off x="2909358" y="4955294"/>
            <a:ext cx="1231901" cy="1231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81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56008" y="4958469"/>
            <a:ext cx="1231901" cy="1231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82" name="Picture 20" descr="Picture 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flipH="1">
            <a:off x="9602258" y="4977519"/>
            <a:ext cx="1231901" cy="12319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596" name="Group 17"/>
          <p:cNvGrpSpPr/>
          <p:nvPr/>
        </p:nvGrpSpPr>
        <p:grpSpPr>
          <a:xfrm>
            <a:off x="6351058" y="1550106"/>
            <a:ext cx="2283692" cy="3171825"/>
            <a:chOff x="0" y="0"/>
            <a:chExt cx="2283691" cy="3171824"/>
          </a:xfrm>
        </p:grpSpPr>
        <p:sp>
          <p:nvSpPr>
            <p:cNvPr id="10583" name="Straight Connector 46"/>
            <p:cNvSpPr/>
            <p:nvPr/>
          </p:nvSpPr>
          <p:spPr>
            <a:xfrm flipH="1">
              <a:off x="1074136" y="1090009"/>
              <a:ext cx="1" cy="2081816"/>
            </a:xfrm>
            <a:prstGeom prst="line">
              <a:avLst/>
            </a:prstGeom>
            <a:noFill/>
            <a:ln w="25400" cap="flat">
              <a:solidFill>
                <a:srgbClr val="00009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589" name="Group 31"/>
            <p:cNvGrpSpPr/>
            <p:nvPr/>
          </p:nvGrpSpPr>
          <p:grpSpPr>
            <a:xfrm>
              <a:off x="78593" y="1694551"/>
              <a:ext cx="2191235" cy="1202638"/>
              <a:chOff x="0" y="0"/>
              <a:chExt cx="2191233" cy="1202636"/>
            </a:xfrm>
          </p:grpSpPr>
          <p:sp>
            <p:nvSpPr>
              <p:cNvPr id="10584" name="Rectangle 26"/>
              <p:cNvSpPr/>
              <p:nvPr/>
            </p:nvSpPr>
            <p:spPr>
              <a:xfrm>
                <a:off x="8719" y="50111"/>
                <a:ext cx="2165351" cy="115252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90"/>
                </a:solidFill>
                <a:prstDash val="solid"/>
                <a:round/>
              </a:ln>
              <a:effectLst>
                <a:outerShdw sx="100000" sy="100000" kx="0" ky="0" algn="b" rotWithShape="0" blurRad="50800" dist="38100" dir="2700000">
                  <a:srgbClr val="000090">
                    <a:alpha val="42999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585" name="TextBox 26"/>
              <p:cNvSpPr txBox="1"/>
              <p:nvPr/>
            </p:nvSpPr>
            <p:spPr>
              <a:xfrm>
                <a:off x="95688" y="0"/>
                <a:ext cx="1914363" cy="1196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lnSpc>
                    <a:spcPts val="2200"/>
                  </a:lnSpc>
                  <a:defRPr sz="16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Transport</a:t>
                </a:r>
                <a:r>
                  <a:rPr sz="1400"/>
                  <a:t> (TCP/UDP)</a:t>
                </a:r>
                <a:endParaRPr sz="2400"/>
              </a:p>
              <a:p>
                <a:pPr algn="ctr">
                  <a:lnSpc>
                    <a:spcPts val="2200"/>
                  </a:lnSpc>
                  <a:defRPr sz="16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Network</a:t>
                </a:r>
                <a:r>
                  <a:rPr sz="1400"/>
                  <a:t> (IP)</a:t>
                </a:r>
                <a:endParaRPr sz="2400"/>
              </a:p>
              <a:p>
                <a:pPr algn="ctr">
                  <a:lnSpc>
                    <a:spcPts val="2200"/>
                  </a:lnSpc>
                  <a:defRPr sz="16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Link</a:t>
                </a:r>
                <a:r>
                  <a:rPr sz="1400"/>
                  <a:t> (Ethernet)</a:t>
                </a:r>
                <a:endParaRPr sz="2400"/>
              </a:p>
              <a:p>
                <a:pPr algn="ctr">
                  <a:lnSpc>
                    <a:spcPts val="2200"/>
                  </a:lnSpc>
                  <a:defRPr sz="16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Physical</a:t>
                </a:r>
              </a:p>
            </p:txBody>
          </p:sp>
          <p:sp>
            <p:nvSpPr>
              <p:cNvPr id="10586" name="Straight Connector 28"/>
              <p:cNvSpPr/>
              <p:nvPr/>
            </p:nvSpPr>
            <p:spPr>
              <a:xfrm>
                <a:off x="0" y="364352"/>
                <a:ext cx="2174473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587" name="Straight Connector 29"/>
              <p:cNvSpPr/>
              <p:nvPr/>
            </p:nvSpPr>
            <p:spPr>
              <a:xfrm>
                <a:off x="8380" y="647674"/>
                <a:ext cx="2174473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588" name="Straight Connector 30"/>
              <p:cNvSpPr/>
              <p:nvPr/>
            </p:nvSpPr>
            <p:spPr>
              <a:xfrm>
                <a:off x="16761" y="930995"/>
                <a:ext cx="2174473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592" name="Group 35"/>
            <p:cNvGrpSpPr/>
            <p:nvPr/>
          </p:nvGrpSpPr>
          <p:grpSpPr>
            <a:xfrm>
              <a:off x="274080" y="0"/>
              <a:ext cx="1507096" cy="1020763"/>
              <a:chOff x="0" y="0"/>
              <a:chExt cx="1507095" cy="1020762"/>
            </a:xfrm>
          </p:grpSpPr>
          <p:sp>
            <p:nvSpPr>
              <p:cNvPr id="10590" name="Rectangle 24"/>
              <p:cNvSpPr/>
              <p:nvPr/>
            </p:nvSpPr>
            <p:spPr>
              <a:xfrm>
                <a:off x="41833" y="0"/>
                <a:ext cx="1465263" cy="1020763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90"/>
                </a:solidFill>
                <a:prstDash val="solid"/>
                <a:round/>
              </a:ln>
              <a:effectLst>
                <a:outerShdw sx="100000" sy="100000" kx="0" ky="0" algn="b" rotWithShape="0" blurRad="50800" dist="38100" dir="2700000">
                  <a:srgbClr val="000090">
                    <a:alpha val="42999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10591" name="TextBox 34"/>
              <p:cNvSpPr txBox="1"/>
              <p:nvPr/>
            </p:nvSpPr>
            <p:spPr>
              <a:xfrm>
                <a:off x="0" y="76402"/>
                <a:ext cx="1492905" cy="8324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6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application</a:t>
                </a:r>
                <a:endParaRPr sz="2400"/>
              </a:p>
              <a:p>
                <a:pPr algn="ctr">
                  <a:defRPr sz="16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(www browser, </a:t>
                </a:r>
                <a:endParaRPr sz="2400"/>
              </a:p>
              <a:p>
                <a:pPr algn="ctr">
                  <a:defRPr sz="1600"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email client</a:t>
                </a:r>
                <a:r>
                  <a:rPr sz="2000"/>
                  <a:t>)</a:t>
                </a:r>
              </a:p>
            </p:txBody>
          </p:sp>
        </p:grpSp>
        <p:sp>
          <p:nvSpPr>
            <p:cNvPr id="10593" name="Straight Connector 37"/>
            <p:cNvSpPr/>
            <p:nvPr/>
          </p:nvSpPr>
          <p:spPr>
            <a:xfrm flipV="1">
              <a:off x="0" y="1469710"/>
              <a:ext cx="2108977" cy="1309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94" name="TextBox 38"/>
            <p:cNvSpPr txBox="1"/>
            <p:nvPr/>
          </p:nvSpPr>
          <p:spPr>
            <a:xfrm>
              <a:off x="1329444" y="1090007"/>
              <a:ext cx="954248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application</a:t>
              </a:r>
            </a:p>
          </p:txBody>
        </p:sp>
        <p:sp>
          <p:nvSpPr>
            <p:cNvPr id="10595" name="TextBox 39"/>
            <p:cNvSpPr txBox="1"/>
            <p:nvPr/>
          </p:nvSpPr>
          <p:spPr>
            <a:xfrm>
              <a:off x="1591557" y="1464981"/>
              <a:ext cx="361031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OS</a:t>
              </a:r>
            </a:p>
          </p:txBody>
        </p:sp>
      </p:grpSp>
      <p:grpSp>
        <p:nvGrpSpPr>
          <p:cNvPr id="10610" name="Group 31"/>
          <p:cNvGrpSpPr/>
          <p:nvPr/>
        </p:nvGrpSpPr>
        <p:grpSpPr>
          <a:xfrm>
            <a:off x="3571346" y="1265943"/>
            <a:ext cx="2879511" cy="3168114"/>
            <a:chOff x="0" y="0"/>
            <a:chExt cx="2879510" cy="3168113"/>
          </a:xfrm>
        </p:grpSpPr>
        <p:grpSp>
          <p:nvGrpSpPr>
            <p:cNvPr id="10605" name="Group 44"/>
            <p:cNvGrpSpPr/>
            <p:nvPr/>
          </p:nvGrpSpPr>
          <p:grpSpPr>
            <a:xfrm>
              <a:off x="70188" y="0"/>
              <a:ext cx="1597390" cy="3168114"/>
              <a:chOff x="0" y="0"/>
              <a:chExt cx="1597389" cy="3168113"/>
            </a:xfrm>
          </p:grpSpPr>
          <p:grpSp>
            <p:nvGrpSpPr>
              <p:cNvPr id="10599" name="Group 22"/>
              <p:cNvGrpSpPr/>
              <p:nvPr/>
            </p:nvGrpSpPr>
            <p:grpSpPr>
              <a:xfrm>
                <a:off x="144123" y="2023057"/>
                <a:ext cx="1295401" cy="1040818"/>
                <a:chOff x="0" y="0"/>
                <a:chExt cx="1295400" cy="1040816"/>
              </a:xfrm>
            </p:grpSpPr>
            <p:sp>
              <p:nvSpPr>
                <p:cNvPr id="10597" name="Rectangle 43"/>
                <p:cNvSpPr/>
                <p:nvPr/>
              </p:nvSpPr>
              <p:spPr>
                <a:xfrm>
                  <a:off x="0" y="23229"/>
                  <a:ext cx="1295400" cy="1017588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90"/>
                  </a:solidFill>
                  <a:prstDash val="solid"/>
                  <a:round/>
                </a:ln>
                <a:effectLst>
                  <a:outerShdw sx="100000" sy="100000" kx="0" ky="0" algn="b" rotWithShape="0" blurRad="50800" dist="38100" dir="2700000">
                    <a:srgbClr val="000090">
                      <a:alpha val="42999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598" name="TextBox 14"/>
                <p:cNvSpPr txBox="1"/>
                <p:nvPr/>
              </p:nvSpPr>
              <p:spPr>
                <a:xfrm>
                  <a:off x="158518" y="-1"/>
                  <a:ext cx="951345" cy="9594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t">
                  <a:spAutoFit/>
                </a:bodyPr>
                <a:lstStyle/>
                <a:p>
                  <a:pPr algn="ctr">
                    <a:defRPr sz="20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packet</a:t>
                  </a:r>
                  <a:endParaRPr sz="2400"/>
                </a:p>
                <a:p>
                  <a:pPr algn="ctr">
                    <a:defRPr sz="20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capture</a:t>
                  </a:r>
                  <a:endParaRPr sz="2400"/>
                </a:p>
                <a:p>
                  <a:pPr algn="ctr">
                    <a:defRPr sz="20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(pcap)</a:t>
                  </a:r>
                </a:p>
              </p:txBody>
            </p:sp>
          </p:grpSp>
          <p:grpSp>
            <p:nvGrpSpPr>
              <p:cNvPr id="10602" name="Group 23"/>
              <p:cNvGrpSpPr/>
              <p:nvPr/>
            </p:nvGrpSpPr>
            <p:grpSpPr>
              <a:xfrm>
                <a:off x="133011" y="680023"/>
                <a:ext cx="1300163" cy="707452"/>
                <a:chOff x="0" y="0"/>
                <a:chExt cx="1300162" cy="707451"/>
              </a:xfrm>
            </p:grpSpPr>
            <p:sp>
              <p:nvSpPr>
                <p:cNvPr id="10600" name="Rectangle 41"/>
                <p:cNvSpPr/>
                <p:nvPr/>
              </p:nvSpPr>
              <p:spPr>
                <a:xfrm>
                  <a:off x="0" y="39113"/>
                  <a:ext cx="1300163" cy="668339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90"/>
                  </a:solidFill>
                  <a:prstDash val="solid"/>
                  <a:round/>
                </a:ln>
                <a:effectLst>
                  <a:outerShdw sx="100000" sy="100000" kx="0" ky="0" algn="b" rotWithShape="0" blurRad="50800" dist="38100" dir="2700000">
                    <a:srgbClr val="000090">
                      <a:alpha val="42999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10601" name="TextBox 16"/>
                <p:cNvSpPr txBox="1"/>
                <p:nvPr/>
              </p:nvSpPr>
              <p:spPr>
                <a:xfrm>
                  <a:off x="123995" y="0"/>
                  <a:ext cx="1064206" cy="66733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t">
                  <a:spAutoFit/>
                </a:bodyPr>
                <a:lstStyle/>
                <a:p>
                  <a:pPr algn="ctr">
                    <a:defRPr sz="20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packet</a:t>
                  </a:r>
                  <a:endParaRPr sz="2400"/>
                </a:p>
                <a:p>
                  <a:pPr algn="ctr">
                    <a:defRPr sz="2000"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analyzer</a:t>
                  </a:r>
                </a:p>
              </p:txBody>
            </p:sp>
          </p:grpSp>
          <p:sp>
            <p:nvSpPr>
              <p:cNvPr id="10603" name="Rectangle 42"/>
              <p:cNvSpPr/>
              <p:nvPr/>
            </p:nvSpPr>
            <p:spPr>
              <a:xfrm>
                <a:off x="-1" y="-1"/>
                <a:ext cx="1597391" cy="3168115"/>
              </a:xfrm>
              <a:prstGeom prst="rect">
                <a:avLst/>
              </a:prstGeom>
              <a:noFill/>
              <a:ln w="22225" cap="flat">
                <a:solidFill>
                  <a:srgbClr val="000090"/>
                </a:solidFill>
                <a:prstDash val="sys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pic>
            <p:nvPicPr>
              <p:cNvPr id="10604" name="Picture 43" descr="Picture 43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22583" y="47625"/>
                <a:ext cx="1089276" cy="36847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10606" name="Straight Connector 47"/>
            <p:cNvSpPr/>
            <p:nvPr/>
          </p:nvSpPr>
          <p:spPr>
            <a:xfrm flipH="1">
              <a:off x="864161" y="1453143"/>
              <a:ext cx="1" cy="558202"/>
            </a:xfrm>
            <a:prstGeom prst="line">
              <a:avLst/>
            </a:prstGeom>
            <a:noFill/>
            <a:ln w="25400" cap="flat">
              <a:solidFill>
                <a:srgbClr val="00009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607" name="Straight Connector 50"/>
            <p:cNvSpPr/>
            <p:nvPr/>
          </p:nvSpPr>
          <p:spPr>
            <a:xfrm>
              <a:off x="1340242" y="2775373"/>
              <a:ext cx="1427177" cy="1"/>
            </a:xfrm>
            <a:prstGeom prst="line">
              <a:avLst/>
            </a:prstGeom>
            <a:noFill/>
            <a:ln w="25400" cap="flat">
              <a:solidFill>
                <a:srgbClr val="00009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608" name="TextBox 56"/>
            <p:cNvSpPr txBox="1"/>
            <p:nvPr/>
          </p:nvSpPr>
          <p:spPr>
            <a:xfrm>
              <a:off x="1673963" y="2364809"/>
              <a:ext cx="1205548" cy="6198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copy of all Ethernet frames sent/received</a:t>
              </a:r>
            </a:p>
          </p:txBody>
        </p:sp>
        <p:sp>
          <p:nvSpPr>
            <p:cNvPr id="10609" name="Straight Connector 64"/>
            <p:cNvSpPr/>
            <p:nvPr/>
          </p:nvSpPr>
          <p:spPr>
            <a:xfrm flipV="1">
              <a:off x="-1" y="1762609"/>
              <a:ext cx="2108034" cy="1309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0613" name="Group 48"/>
          <p:cNvGrpSpPr/>
          <p:nvPr/>
        </p:nvGrpSpPr>
        <p:grpSpPr>
          <a:xfrm>
            <a:off x="1570774" y="4459440"/>
            <a:ext cx="1562101" cy="1511301"/>
            <a:chOff x="0" y="0"/>
            <a:chExt cx="1562100" cy="1511300"/>
          </a:xfrm>
        </p:grpSpPr>
        <p:pic>
          <p:nvPicPr>
            <p:cNvPr id="10611" name="Picture 49" descr="Picture 49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 flipH="1">
              <a:off x="0" y="0"/>
              <a:ext cx="1562100" cy="15113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612" name="Freeform 50"/>
            <p:cNvSpPr/>
            <p:nvPr/>
          </p:nvSpPr>
          <p:spPr>
            <a:xfrm flipH="1">
              <a:off x="665604" y="144975"/>
              <a:ext cx="759554" cy="692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202" y="822"/>
                  </a:lnTo>
                  <a:lnTo>
                    <a:pt x="21600" y="17257"/>
                  </a:lnTo>
                  <a:lnTo>
                    <a:pt x="4733" y="216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1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596" grpId="2"/>
      <p:bldP build="whole" bldLvl="1" animBg="1" rev="0" advAuto="0" spid="10610" grpId="3"/>
      <p:bldP build="whole" bldLvl="1" animBg="1" rev="0" advAuto="0" spid="10577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