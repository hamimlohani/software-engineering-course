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6" r:id="rId2"/>
    <p:sldId id="267" r:id="rId3"/>
    <p:sldId id="370" r:id="rId4"/>
    <p:sldId id="381" r:id="rId5"/>
    <p:sldId id="398" r:id="rId6"/>
    <p:sldId id="38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782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5AF17-6937-4F51-A7A2-0151030044CA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9E00B-A8A0-476A-9BF7-2FFA527AA4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57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Reference: chapter 2 of </a:t>
            </a:r>
            <a:r>
              <a:rPr lang="en-US" dirty="0" err="1"/>
              <a:t>Cormen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4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661F-7E7E-40E7-96D6-F1519D20FF24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74C2-1AE7-4C43-95CF-525567DF36A6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854-14B6-4E35-8FA9-D6FD18403020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FA94-A733-44A9-A332-6A834B50E43C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9F07-4AD9-4E85-8E49-2F506E8020DF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20FE-90ED-4D33-9BE5-5A9E3F143237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AAF2D-4BB6-4A6B-BE55-3EB8D3AE900D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5B21-DEC8-49AA-9B69-319FF215F5EE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114E-CDFD-429A-A509-06A5E6DDED0E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0FF3-A93C-4064-ABA5-4282999E0473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E77B-C308-42E0-B2B7-3DB5CAC8A6A0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4ECDE315-9D2C-4F9C-8950-26396E369A9B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BDA26-5AEB-4BCF-B8D0-00681A864F1E}" type="datetime1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Problem of Sorting (</a:t>
            </a:r>
            <a:r>
              <a:rPr lang="en-US" altLang="en-US" b="1" dirty="0"/>
              <a:t>Book: Chapter-2</a:t>
            </a:r>
            <a:r>
              <a:rPr lang="en-US" altLang="en-US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291" name="Text Box 11"/>
          <p:cNvSpPr txBox="1">
            <a:spLocks noChangeArrowheads="1"/>
          </p:cNvSpPr>
          <p:nvPr/>
        </p:nvSpPr>
        <p:spPr bwMode="auto">
          <a:xfrm>
            <a:off x="762000" y="1848873"/>
            <a:ext cx="7478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 dirty="0">
                <a:solidFill>
                  <a:schemeClr val="accent2"/>
                </a:solidFill>
              </a:rPr>
              <a:t>Input:</a:t>
            </a:r>
            <a:r>
              <a:rPr lang="en-US" altLang="en-US" dirty="0"/>
              <a:t> sequence  </a:t>
            </a:r>
            <a:r>
              <a:rPr lang="en-US" altLang="en-US" dirty="0">
                <a:solidFill>
                  <a:srgbClr val="009999"/>
                </a:solidFill>
                <a:latin typeface="Symbol" panose="05050102010706020507" pitchFamily="18" charset="2"/>
              </a:rPr>
              <a:t>á</a:t>
            </a:r>
            <a:r>
              <a:rPr lang="en-US" altLang="en-US" i="1" dirty="0">
                <a:solidFill>
                  <a:srgbClr val="009999"/>
                </a:solidFill>
              </a:rPr>
              <a:t>a</a:t>
            </a:r>
            <a:r>
              <a:rPr lang="en-US" altLang="en-US" baseline="-25000" dirty="0">
                <a:solidFill>
                  <a:srgbClr val="009999"/>
                </a:solidFill>
              </a:rPr>
              <a:t>1</a:t>
            </a:r>
            <a:r>
              <a:rPr lang="en-US" altLang="en-US" dirty="0">
                <a:solidFill>
                  <a:srgbClr val="009999"/>
                </a:solidFill>
              </a:rPr>
              <a:t>, </a:t>
            </a:r>
            <a:r>
              <a:rPr lang="en-US" altLang="en-US" i="1" dirty="0">
                <a:solidFill>
                  <a:srgbClr val="009999"/>
                </a:solidFill>
              </a:rPr>
              <a:t>a</a:t>
            </a:r>
            <a:r>
              <a:rPr lang="en-US" altLang="en-US" baseline="-25000" dirty="0">
                <a:solidFill>
                  <a:srgbClr val="009999"/>
                </a:solidFill>
              </a:rPr>
              <a:t>2</a:t>
            </a:r>
            <a:r>
              <a:rPr lang="en-US" altLang="en-US" dirty="0">
                <a:solidFill>
                  <a:srgbClr val="009999"/>
                </a:solidFill>
              </a:rPr>
              <a:t>, …, </a:t>
            </a:r>
            <a:r>
              <a:rPr lang="en-US" altLang="en-US" i="1" dirty="0" err="1">
                <a:solidFill>
                  <a:srgbClr val="009999"/>
                </a:solidFill>
              </a:rPr>
              <a:t>a</a:t>
            </a:r>
            <a:r>
              <a:rPr lang="en-US" altLang="en-US" i="1" baseline="-25000" dirty="0" err="1">
                <a:solidFill>
                  <a:srgbClr val="009999"/>
                </a:solidFill>
              </a:rPr>
              <a:t>n</a:t>
            </a:r>
            <a:r>
              <a:rPr lang="en-US" altLang="en-US" dirty="0" err="1">
                <a:solidFill>
                  <a:srgbClr val="009999"/>
                </a:solidFill>
                <a:latin typeface="Symbol" panose="05050102010706020507" pitchFamily="18" charset="2"/>
              </a:rPr>
              <a:t>ñ</a:t>
            </a:r>
            <a:r>
              <a:rPr lang="en-US" altLang="en-US" dirty="0"/>
              <a:t>  of numbers.</a:t>
            </a:r>
          </a:p>
        </p:txBody>
      </p:sp>
      <p:sp>
        <p:nvSpPr>
          <p:cNvPr id="12292" name="Text Box 29"/>
          <p:cNvSpPr txBox="1">
            <a:spLocks noChangeArrowheads="1"/>
          </p:cNvSpPr>
          <p:nvPr/>
        </p:nvSpPr>
        <p:spPr bwMode="auto">
          <a:xfrm>
            <a:off x="2408238" y="4267200"/>
            <a:ext cx="185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Example:</a:t>
            </a:r>
          </a:p>
        </p:txBody>
      </p:sp>
      <p:sp>
        <p:nvSpPr>
          <p:cNvPr id="12293" name="Rectangle 30"/>
          <p:cNvSpPr>
            <a:spLocks noChangeArrowheads="1"/>
          </p:cNvSpPr>
          <p:nvPr/>
        </p:nvSpPr>
        <p:spPr bwMode="auto">
          <a:xfrm>
            <a:off x="2805113" y="4857750"/>
            <a:ext cx="368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 dirty="0">
                <a:solidFill>
                  <a:schemeClr val="accent2"/>
                </a:solidFill>
              </a:rPr>
              <a:t>Input:</a:t>
            </a:r>
            <a:r>
              <a:rPr lang="en-US" altLang="en-US" dirty="0"/>
              <a:t>  </a:t>
            </a:r>
            <a:r>
              <a:rPr lang="en-US" altLang="en-US" dirty="0">
                <a:solidFill>
                  <a:srgbClr val="009999"/>
                </a:solidFill>
              </a:rPr>
              <a:t>8  2  4  9  3  6</a:t>
            </a:r>
            <a:endParaRPr lang="en-US" altLang="en-US" b="1" i="1" dirty="0">
              <a:solidFill>
                <a:srgbClr val="009999"/>
              </a:solidFill>
            </a:endParaRPr>
          </a:p>
        </p:txBody>
      </p:sp>
      <p:sp>
        <p:nvSpPr>
          <p:cNvPr id="12294" name="Rectangle 31"/>
          <p:cNvSpPr>
            <a:spLocks noChangeArrowheads="1"/>
          </p:cNvSpPr>
          <p:nvPr/>
        </p:nvSpPr>
        <p:spPr bwMode="auto">
          <a:xfrm>
            <a:off x="2805113" y="5543550"/>
            <a:ext cx="3930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</a:rPr>
              <a:t>Output:</a:t>
            </a:r>
            <a:r>
              <a:rPr lang="en-US" altLang="en-US"/>
              <a:t>  </a:t>
            </a:r>
            <a:r>
              <a:rPr lang="en-US" altLang="en-US">
                <a:solidFill>
                  <a:srgbClr val="009999"/>
                </a:solidFill>
              </a:rPr>
              <a:t>2  3  4  6  8  9</a:t>
            </a:r>
            <a:endParaRPr lang="en-US" altLang="en-US" b="1" i="1">
              <a:solidFill>
                <a:srgbClr val="009999"/>
              </a:solidFill>
            </a:endParaRPr>
          </a:p>
        </p:txBody>
      </p:sp>
      <p:sp>
        <p:nvSpPr>
          <p:cNvPr id="12295" name="Text Box 36"/>
          <p:cNvSpPr txBox="1">
            <a:spLocks noChangeArrowheads="1"/>
          </p:cNvSpPr>
          <p:nvPr/>
        </p:nvSpPr>
        <p:spPr bwMode="auto">
          <a:xfrm>
            <a:off x="762000" y="2849563"/>
            <a:ext cx="71945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 dirty="0">
                <a:solidFill>
                  <a:schemeClr val="accent2"/>
                </a:solidFill>
              </a:rPr>
              <a:t>Output:</a:t>
            </a:r>
            <a:r>
              <a:rPr lang="en-US" altLang="en-US" dirty="0"/>
              <a:t> permutation  </a:t>
            </a:r>
            <a:r>
              <a:rPr lang="en-US" altLang="en-US" dirty="0">
                <a:solidFill>
                  <a:srgbClr val="009999"/>
                </a:solidFill>
                <a:latin typeface="Symbol" panose="05050102010706020507" pitchFamily="18" charset="2"/>
              </a:rPr>
              <a:t>á</a:t>
            </a:r>
            <a:r>
              <a:rPr lang="en-US" altLang="en-US" i="1" dirty="0">
                <a:solidFill>
                  <a:srgbClr val="009999"/>
                </a:solidFill>
              </a:rPr>
              <a:t>a</a:t>
            </a:r>
            <a:r>
              <a:rPr lang="en-US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baseline="-25000" dirty="0">
                <a:solidFill>
                  <a:srgbClr val="009999"/>
                </a:solidFill>
              </a:rPr>
              <a:t>1</a:t>
            </a:r>
            <a:r>
              <a:rPr lang="en-US" altLang="en-US" i="1" dirty="0">
                <a:solidFill>
                  <a:srgbClr val="009999"/>
                </a:solidFill>
              </a:rPr>
              <a:t>, a</a:t>
            </a:r>
            <a:r>
              <a:rPr lang="en-US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baseline="-25000" dirty="0">
                <a:solidFill>
                  <a:srgbClr val="009999"/>
                </a:solidFill>
              </a:rPr>
              <a:t>2</a:t>
            </a:r>
            <a:r>
              <a:rPr lang="en-US" altLang="en-US" i="1" dirty="0">
                <a:solidFill>
                  <a:srgbClr val="009999"/>
                </a:solidFill>
              </a:rPr>
              <a:t>, </a:t>
            </a:r>
            <a:r>
              <a:rPr lang="en-US" altLang="en-US" dirty="0">
                <a:solidFill>
                  <a:srgbClr val="009999"/>
                </a:solidFill>
              </a:rPr>
              <a:t>…</a:t>
            </a:r>
            <a:r>
              <a:rPr lang="en-US" altLang="en-US" i="1" dirty="0">
                <a:solidFill>
                  <a:srgbClr val="009999"/>
                </a:solidFill>
              </a:rPr>
              <a:t>, </a:t>
            </a:r>
            <a:r>
              <a:rPr lang="en-US" altLang="en-US" i="1" dirty="0" err="1">
                <a:solidFill>
                  <a:srgbClr val="009999"/>
                </a:solidFill>
              </a:rPr>
              <a:t>a</a:t>
            </a:r>
            <a:r>
              <a:rPr lang="en-US" altLang="en-US" i="1" dirty="0" err="1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i="1" baseline="-25000" dirty="0" err="1">
                <a:solidFill>
                  <a:srgbClr val="009999"/>
                </a:solidFill>
              </a:rPr>
              <a:t>n</a:t>
            </a:r>
            <a:r>
              <a:rPr lang="en-US" altLang="en-US" dirty="0" err="1">
                <a:solidFill>
                  <a:srgbClr val="009999"/>
                </a:solidFill>
                <a:latin typeface="Symbol" panose="05050102010706020507" pitchFamily="18" charset="2"/>
              </a:rPr>
              <a:t>ñ</a:t>
            </a:r>
            <a:r>
              <a:rPr lang="en-US" altLang="en-US" baseline="-25000" dirty="0"/>
              <a:t>  </a:t>
            </a:r>
            <a:r>
              <a:rPr lang="en-US" altLang="en-US" dirty="0"/>
              <a:t>such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that  </a:t>
            </a:r>
            <a:r>
              <a:rPr lang="en-US" altLang="en-US" i="1" dirty="0">
                <a:solidFill>
                  <a:srgbClr val="009999"/>
                </a:solidFill>
              </a:rPr>
              <a:t>a</a:t>
            </a:r>
            <a:r>
              <a:rPr lang="en-US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baseline="-25000" dirty="0">
                <a:solidFill>
                  <a:srgbClr val="009999"/>
                </a:solidFill>
              </a:rPr>
              <a:t>1</a:t>
            </a:r>
            <a:r>
              <a:rPr lang="en-US" altLang="en-US" i="1" dirty="0">
                <a:solidFill>
                  <a:srgbClr val="009999"/>
                </a:solidFill>
              </a:rPr>
              <a:t> </a:t>
            </a:r>
            <a:r>
              <a:rPr lang="en-US" altLang="en-US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i="1" dirty="0">
                <a:solidFill>
                  <a:srgbClr val="009999"/>
                </a:solidFill>
              </a:rPr>
              <a:t> a</a:t>
            </a:r>
            <a:r>
              <a:rPr lang="en-US" altLang="en-US" i="1" dirty="0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baseline="-25000" dirty="0">
                <a:solidFill>
                  <a:srgbClr val="009999"/>
                </a:solidFill>
              </a:rPr>
              <a:t>2</a:t>
            </a:r>
            <a:r>
              <a:rPr lang="en-US" altLang="en-US" i="1" dirty="0">
                <a:solidFill>
                  <a:srgbClr val="009999"/>
                </a:solidFill>
              </a:rPr>
              <a:t> </a:t>
            </a:r>
            <a:r>
              <a:rPr lang="en-US" altLang="en-US" dirty="0">
                <a:solidFill>
                  <a:srgbClr val="009999"/>
                </a:solidFill>
                <a:latin typeface="Symbol" panose="05050102010706020507" pitchFamily="18" charset="2"/>
              </a:rPr>
              <a:t>£ </a:t>
            </a:r>
            <a:r>
              <a:rPr lang="en-US" altLang="en-US" sz="4400" baseline="20000" dirty="0">
                <a:solidFill>
                  <a:srgbClr val="009999"/>
                </a:solidFill>
              </a:rPr>
              <a:t>…</a:t>
            </a:r>
            <a:r>
              <a:rPr lang="en-US" altLang="en-US" dirty="0">
                <a:solidFill>
                  <a:srgbClr val="009999"/>
                </a:solidFill>
              </a:rPr>
              <a:t> </a:t>
            </a:r>
            <a:r>
              <a:rPr lang="en-US" altLang="en-US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i="1" dirty="0">
                <a:solidFill>
                  <a:srgbClr val="009999"/>
                </a:solidFill>
              </a:rPr>
              <a:t> </a:t>
            </a:r>
            <a:r>
              <a:rPr lang="en-US" altLang="en-US" i="1" dirty="0" err="1">
                <a:solidFill>
                  <a:srgbClr val="009999"/>
                </a:solidFill>
              </a:rPr>
              <a:t>a</a:t>
            </a:r>
            <a:r>
              <a:rPr lang="en-US" altLang="en-US" i="1" dirty="0" err="1">
                <a:solidFill>
                  <a:srgbClr val="009999"/>
                </a:solidFill>
                <a:cs typeface="Times New Roman" panose="02020603050405020304" pitchFamily="18" charset="0"/>
              </a:rPr>
              <a:t>'</a:t>
            </a:r>
            <a:r>
              <a:rPr lang="en-US" altLang="en-US" i="1" baseline="-25000" dirty="0" err="1">
                <a:solidFill>
                  <a:srgbClr val="009999"/>
                </a:solidFill>
              </a:rPr>
              <a:t>n</a:t>
            </a:r>
            <a:r>
              <a:rPr lang="en-US" altLang="en-US" i="1" baseline="-25000" dirty="0"/>
              <a:t> 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888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Insertion Sort </a:t>
            </a:r>
            <a:r>
              <a:rPr lang="en-US" altLang="en-US" dirty="0" err="1"/>
              <a:t>Pseudocode</a:t>
            </a:r>
            <a:endParaRPr lang="en-US" altLang="en-US" dirty="0"/>
          </a:p>
        </p:txBody>
      </p:sp>
      <p:sp>
        <p:nvSpPr>
          <p:cNvPr id="13332" name="Text Box 6"/>
          <p:cNvSpPr txBox="1">
            <a:spLocks noChangeArrowheads="1"/>
          </p:cNvSpPr>
          <p:nvPr/>
        </p:nvSpPr>
        <p:spPr bwMode="auto">
          <a:xfrm>
            <a:off x="17815" y="1464610"/>
            <a:ext cx="6272871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I</a:t>
            </a:r>
            <a:r>
              <a:rPr lang="en-US" altLang="en-US" sz="1800" dirty="0"/>
              <a:t>NSERTION</a:t>
            </a:r>
            <a:r>
              <a:rPr lang="en-US" altLang="en-US" sz="2400" dirty="0"/>
              <a:t>-S</a:t>
            </a:r>
            <a:r>
              <a:rPr lang="en-US" altLang="en-US" sz="1800" dirty="0"/>
              <a:t>ORT 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A</a:t>
            </a:r>
            <a:r>
              <a:rPr lang="en-US" altLang="en-US" sz="2400" dirty="0">
                <a:solidFill>
                  <a:srgbClr val="009999"/>
                </a:solidFill>
              </a:rPr>
              <a:t>, 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   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</a:t>
            </a:r>
            <a:r>
              <a:rPr lang="en-US" altLang="en-US" sz="18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[1 . . </a:t>
            </a:r>
            <a:r>
              <a:rPr lang="en-US" altLang="en-US" sz="18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</a:t>
            </a:r>
            <a:r>
              <a:rPr lang="en-US" altLang="en-US" sz="18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endParaRPr lang="en-US" altLang="en-US" sz="2400" dirty="0">
              <a:solidFill>
                <a:srgbClr val="00999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dirty="0">
              <a:solidFill>
                <a:srgbClr val="00999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b="1" dirty="0"/>
              <a:t>for</a:t>
            </a:r>
            <a:r>
              <a:rPr lang="en-US" altLang="en-US" sz="2400" dirty="0"/>
              <a:t>	 </a:t>
            </a:r>
            <a:r>
              <a:rPr lang="en-US" altLang="en-US" sz="2400" i="1" dirty="0">
                <a:solidFill>
                  <a:srgbClr val="009999"/>
                </a:solidFill>
              </a:rPr>
              <a:t>j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← 2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b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Insert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 j ]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into the sorted </a:t>
            </a:r>
            <a:r>
              <a:rPr lang="en-US" altLang="en-US" sz="1800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subarray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A[1..j -1]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800" kern="0" dirty="0">
                <a:solidFill>
                  <a:srgbClr val="000000"/>
                </a:solidFill>
                <a:cs typeface="Times New Roman" pitchFamily="18" charset="0"/>
              </a:rPr>
              <a:t>			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 such a position that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A[1..j]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becomes sorted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key ← 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j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while	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 &gt;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←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←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016688" y="713589"/>
            <a:ext cx="1921072" cy="1240894"/>
            <a:chOff x="6723529" y="758235"/>
            <a:chExt cx="1921072" cy="1240894"/>
          </a:xfrm>
        </p:grpSpPr>
        <p:sp>
          <p:nvSpPr>
            <p:cNvPr id="26" name="Rectangle 25"/>
            <p:cNvSpPr/>
            <p:nvPr/>
          </p:nvSpPr>
          <p:spPr>
            <a:xfrm>
              <a:off x="6723529" y="1604505"/>
              <a:ext cx="1613647" cy="394624"/>
            </a:xfrm>
            <a:prstGeom prst="rect">
              <a:avLst/>
            </a:prstGeom>
            <a:solidFill>
              <a:schemeClr val="bg1">
                <a:lumMod val="85000"/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ular Callout 26"/>
            <p:cNvSpPr/>
            <p:nvPr/>
          </p:nvSpPr>
          <p:spPr>
            <a:xfrm>
              <a:off x="7476564" y="758235"/>
              <a:ext cx="1168037" cy="367733"/>
            </a:xfrm>
            <a:prstGeom prst="wedgeRoundRectCallout">
              <a:avLst>
                <a:gd name="adj1" fmla="val -23250"/>
                <a:gd name="adj2" fmla="val 184294"/>
                <a:gd name="adj3" fmla="val 16667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Comment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3673" y="708209"/>
            <a:ext cx="3648635" cy="1246095"/>
            <a:chOff x="3541058" y="639437"/>
            <a:chExt cx="3648635" cy="1350727"/>
          </a:xfrm>
        </p:grpSpPr>
        <p:sp>
          <p:nvSpPr>
            <p:cNvPr id="25" name="Rectangular Callout 24"/>
            <p:cNvSpPr/>
            <p:nvPr/>
          </p:nvSpPr>
          <p:spPr>
            <a:xfrm>
              <a:off x="3567952" y="639437"/>
              <a:ext cx="3621741" cy="570798"/>
            </a:xfrm>
            <a:prstGeom prst="wedgeRectCallout">
              <a:avLst>
                <a:gd name="adj1" fmla="val -23803"/>
                <a:gd name="adj2" fmla="val 108417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Algorithm Name with parameters (like a C function-header)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541058" y="1541929"/>
              <a:ext cx="2752166" cy="448235"/>
            </a:xfrm>
            <a:prstGeom prst="rect">
              <a:avLst/>
            </a:prstGeom>
            <a:solidFill>
              <a:schemeClr val="bg1">
                <a:lumMod val="85000"/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-80687" y="2079811"/>
            <a:ext cx="547746" cy="3272117"/>
            <a:chOff x="-2" y="2079811"/>
            <a:chExt cx="547746" cy="2981501"/>
          </a:xfrm>
        </p:grpSpPr>
        <p:sp>
          <p:nvSpPr>
            <p:cNvPr id="33" name="Left Brace 32"/>
            <p:cNvSpPr/>
            <p:nvPr/>
          </p:nvSpPr>
          <p:spPr>
            <a:xfrm>
              <a:off x="304803" y="2079811"/>
              <a:ext cx="242941" cy="2981501"/>
            </a:xfrm>
            <a:prstGeom prst="leftBrac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 rot="16200000">
              <a:off x="-684912" y="3349239"/>
              <a:ext cx="1739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Algorithm body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91684" y="2429442"/>
            <a:ext cx="537868" cy="2770087"/>
            <a:chOff x="89649" y="2106707"/>
            <a:chExt cx="537868" cy="2770087"/>
          </a:xfrm>
        </p:grpSpPr>
        <p:sp>
          <p:nvSpPr>
            <p:cNvPr id="38" name="Left Brace 37"/>
            <p:cNvSpPr/>
            <p:nvPr/>
          </p:nvSpPr>
          <p:spPr>
            <a:xfrm>
              <a:off x="466153" y="2106707"/>
              <a:ext cx="161364" cy="2770087"/>
            </a:xfrm>
            <a:prstGeom prst="leftBrac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 rot="16200000">
              <a:off x="-595262" y="3191438"/>
              <a:ext cx="173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For loop body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247012" y="4078958"/>
            <a:ext cx="1065880" cy="914402"/>
            <a:chOff x="-492151" y="1981188"/>
            <a:chExt cx="1065880" cy="914402"/>
          </a:xfrm>
        </p:grpSpPr>
        <p:sp>
          <p:nvSpPr>
            <p:cNvPr id="41" name="Left Brace 40"/>
            <p:cNvSpPr/>
            <p:nvPr/>
          </p:nvSpPr>
          <p:spPr>
            <a:xfrm>
              <a:off x="358577" y="2106709"/>
              <a:ext cx="215152" cy="654414"/>
            </a:xfrm>
            <a:prstGeom prst="leftBrac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 rot="16200000">
              <a:off x="-487687" y="1976724"/>
              <a:ext cx="9144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While </a:t>
              </a:r>
            </a:p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Loop</a:t>
              </a:r>
            </a:p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body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811451" y="914400"/>
            <a:ext cx="4296689" cy="5222608"/>
            <a:chOff x="4811451" y="914400"/>
            <a:chExt cx="4296689" cy="5222608"/>
          </a:xfrm>
        </p:grpSpPr>
        <p:sp>
          <p:nvSpPr>
            <p:cNvPr id="43" name="Text Box 6"/>
            <p:cNvSpPr txBox="1">
              <a:spLocks noChangeArrowheads="1"/>
            </p:cNvSpPr>
            <p:nvPr/>
          </p:nvSpPr>
          <p:spPr bwMode="auto">
            <a:xfrm>
              <a:off x="4811451" y="1243361"/>
              <a:ext cx="4296689" cy="48936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B0F0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346075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/>
                <a:t>void </a:t>
              </a:r>
              <a:r>
                <a:rPr lang="en-US" altLang="en-US" sz="2400" dirty="0" err="1"/>
                <a:t>insertionSort</a:t>
              </a:r>
              <a:r>
                <a:rPr lang="en-US" altLang="en-US" sz="1800" dirty="0"/>
                <a:t> </a:t>
              </a:r>
              <a:r>
                <a:rPr lang="en-US" altLang="en-US" sz="2400" dirty="0">
                  <a:solidFill>
                    <a:srgbClr val="009999"/>
                  </a:solidFill>
                </a:rPr>
                <a:t>(</a:t>
              </a:r>
              <a:r>
                <a:rPr lang="en-US" altLang="en-US" sz="2400" dirty="0" err="1">
                  <a:solidFill>
                    <a:srgbClr val="00B0F0"/>
                  </a:solidFill>
                </a:rPr>
                <a:t>int</a:t>
              </a:r>
              <a:r>
                <a:rPr lang="en-US" altLang="en-US" sz="2400" dirty="0">
                  <a:solidFill>
                    <a:srgbClr val="009999"/>
                  </a:solidFill>
                </a:rPr>
                <a:t> </a:t>
              </a:r>
              <a:r>
                <a:rPr lang="en-US" altLang="en-US" sz="2400" i="1" dirty="0">
                  <a:solidFill>
                    <a:srgbClr val="009999"/>
                  </a:solidFill>
                </a:rPr>
                <a:t>A[]</a:t>
              </a:r>
              <a:r>
                <a:rPr lang="en-US" altLang="en-US" sz="2400" dirty="0">
                  <a:solidFill>
                    <a:srgbClr val="009999"/>
                  </a:solidFill>
                </a:rPr>
                <a:t>, </a:t>
              </a:r>
              <a:r>
                <a:rPr lang="en-US" altLang="en-US" sz="2400" dirty="0" err="1">
                  <a:solidFill>
                    <a:srgbClr val="00B0F0"/>
                  </a:solidFill>
                </a:rPr>
                <a:t>int</a:t>
              </a:r>
              <a:r>
                <a:rPr lang="en-US" altLang="en-US" sz="2400" dirty="0">
                  <a:solidFill>
                    <a:srgbClr val="009999"/>
                  </a:solidFill>
                </a:rPr>
                <a:t> </a:t>
              </a:r>
              <a:r>
                <a:rPr lang="en-US" altLang="en-US" sz="2400" i="1" dirty="0">
                  <a:solidFill>
                    <a:srgbClr val="009999"/>
                  </a:solidFill>
                </a:rPr>
                <a:t>n</a:t>
              </a:r>
              <a:r>
                <a:rPr lang="en-US" altLang="en-US" sz="2400" dirty="0">
                  <a:solidFill>
                    <a:srgbClr val="009999"/>
                  </a:solidFill>
                </a:rPr>
                <a:t>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9999"/>
                  </a:solidFill>
                </a:rPr>
                <a:t>{   </a:t>
              </a:r>
              <a:r>
                <a:rPr lang="en-US" altLang="en-US" sz="1800" dirty="0">
                  <a:solidFill>
                    <a:srgbClr val="009999"/>
                  </a:solidFill>
                </a:rPr>
                <a:t>//here </a:t>
              </a:r>
              <a:r>
                <a:rPr lang="en-US" altLang="en-US" sz="1800" i="1" dirty="0">
                  <a:solidFill>
                    <a:srgbClr val="009999"/>
                  </a:solidFill>
                </a:rPr>
                <a:t>A[0 . . n] </a:t>
              </a:r>
              <a:r>
                <a:rPr lang="en-US" altLang="en-US" sz="1800" dirty="0">
                  <a:solidFill>
                    <a:srgbClr val="009999"/>
                  </a:solidFill>
                </a:rPr>
                <a:t>is an </a:t>
              </a:r>
              <a:r>
                <a:rPr lang="en-US" altLang="en-US" sz="1800" dirty="0" err="1">
                  <a:solidFill>
                    <a:srgbClr val="009999"/>
                  </a:solidFill>
                </a:rPr>
                <a:t>int</a:t>
              </a:r>
              <a:r>
                <a:rPr lang="en-US" altLang="en-US" sz="1800" dirty="0">
                  <a:solidFill>
                    <a:srgbClr val="009999"/>
                  </a:solidFill>
                </a:rPr>
                <a:t> array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9999"/>
                  </a:solidFill>
                </a:rPr>
                <a:t>	</a:t>
              </a:r>
              <a:r>
                <a:rPr lang="en-US" altLang="en-US" sz="2400" dirty="0" err="1">
                  <a:solidFill>
                    <a:srgbClr val="00B0F0"/>
                  </a:solidFill>
                </a:rPr>
                <a:t>int</a:t>
              </a:r>
              <a:r>
                <a:rPr lang="en-US" altLang="en-US" sz="2400" dirty="0">
                  <a:solidFill>
                    <a:srgbClr val="00B0F0"/>
                  </a:solidFill>
                </a:rPr>
                <a:t> </a:t>
              </a:r>
              <a:r>
                <a:rPr lang="en-US" altLang="en-US" sz="2400" dirty="0" err="1">
                  <a:solidFill>
                    <a:srgbClr val="009999"/>
                  </a:solidFill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</a:rPr>
                <a:t>, j;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9999"/>
                  </a:solidFill>
                </a:rPr>
                <a:t> </a:t>
              </a:r>
              <a:r>
                <a:rPr lang="en-US" altLang="en-US" sz="2400" dirty="0"/>
                <a:t>	</a:t>
              </a:r>
              <a:r>
                <a:rPr lang="en-US" altLang="en-US" sz="2400" b="1" dirty="0"/>
                <a:t>for</a:t>
              </a:r>
              <a:r>
                <a:rPr lang="en-US" altLang="en-US" sz="2400" dirty="0"/>
                <a:t>	 (</a:t>
              </a:r>
              <a:r>
                <a:rPr lang="en-US" altLang="en-US" sz="2400" i="1" dirty="0">
                  <a:solidFill>
                    <a:srgbClr val="009999"/>
                  </a:solidFill>
                </a:rPr>
                <a:t>j =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2;</a:t>
              </a:r>
              <a:r>
                <a:rPr lang="en-US" altLang="en-US" sz="2400" dirty="0"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400" i="1" dirty="0"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en-US" sz="2400" dirty="0">
                  <a:cs typeface="Times New Roman" panose="02020603050405020304" pitchFamily="18" charset="0"/>
                  <a:sym typeface="Symbol" panose="05050102010706020507" pitchFamily="18" charset="2"/>
                </a:rPr>
                <a:t>&lt;=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n; j++)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	key = A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[ 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</a:t>
              </a:r>
              <a:r>
                <a:rPr lang="en-US" altLang="en-US" sz="2400" dirty="0">
                  <a:cs typeface="Times New Roman" panose="02020603050405020304" pitchFamily="18" charset="0"/>
                  <a:sym typeface="Symbol" panose="05050102010706020507" pitchFamily="18" charset="2"/>
                </a:rPr>
                <a:t>	</a:t>
              </a:r>
              <a:r>
                <a:rPr lang="en-US" altLang="en-US" sz="2400" i="1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= j – 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1370013" algn="r"/>
                  <a:tab pos="1489075" algn="l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b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lang="en-US" altLang="en-US" sz="2400" b="1" dirty="0">
                  <a:cs typeface="Times New Roman" panose="02020603050405020304" pitchFamily="18" charset="0"/>
                  <a:sym typeface="Symbol" panose="05050102010706020507" pitchFamily="18" charset="2"/>
                </a:rPr>
                <a:t>while(</a:t>
              </a:r>
              <a:r>
                <a:rPr lang="en-US" altLang="en-US" sz="2400" i="1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&gt; 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en-US" sz="2400" dirty="0">
                  <a:cs typeface="Times New Roman" panose="02020603050405020304" pitchFamily="18" charset="0"/>
                  <a:sym typeface="Symbol" panose="05050102010706020507" pitchFamily="18" charset="2"/>
                </a:rPr>
                <a:t> &amp;&amp; 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i="1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] &gt; 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key){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987425" algn="l"/>
                  <a:tab pos="1370013" algn="r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			A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i+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1] = 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i="1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987425" algn="l"/>
                  <a:tab pos="1370013" algn="r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		</a:t>
              </a:r>
              <a:r>
                <a:rPr lang="en-US" altLang="en-US" sz="2400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lang="en-US" altLang="en-US" sz="2400" i="1" dirty="0" err="1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– 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1;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tabLst>
                  <a:tab pos="346075" algn="l"/>
                  <a:tab pos="630238" algn="l"/>
                  <a:tab pos="987425" algn="l"/>
                  <a:tab pos="1370013" algn="r"/>
                  <a:tab pos="2513013" algn="r"/>
                  <a:tab pos="2632075" algn="l"/>
                  <a:tab pos="3203575" algn="l"/>
                </a:tabLst>
              </a:pP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	}</a:t>
              </a:r>
              <a:r>
                <a:rPr lang="en-US" altLang="en-US" sz="20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//while</a:t>
              </a:r>
              <a:endPara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	    A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[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i+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1] = </a:t>
              </a: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key;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     }</a:t>
              </a:r>
              <a:r>
                <a: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//for</a:t>
              </a:r>
              <a:endPara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29831" y="914400"/>
              <a:ext cx="2788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Equivalent CPP function</a:t>
              </a:r>
            </a:p>
          </p:txBody>
        </p:sp>
      </p:grpSp>
      <p:sp>
        <p:nvSpPr>
          <p:cNvPr id="47" name="Rounded Rectangular Callout 46"/>
          <p:cNvSpPr/>
          <p:nvPr/>
        </p:nvSpPr>
        <p:spPr>
          <a:xfrm>
            <a:off x="6598024" y="197223"/>
            <a:ext cx="2268070" cy="466165"/>
          </a:xfrm>
          <a:prstGeom prst="wedgeRoundRectCallout">
            <a:avLst>
              <a:gd name="adj1" fmla="val -91535"/>
              <a:gd name="adj2" fmla="val 277885"/>
              <a:gd name="adj3" fmla="val 1666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A[0] unused, valid elements: A[1] … A[n]</a:t>
            </a:r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134473" y="2554941"/>
            <a:ext cx="4356846" cy="3827932"/>
            <a:chOff x="134473" y="2554941"/>
            <a:chExt cx="4356846" cy="382793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1524000" y="2554941"/>
              <a:ext cx="17929" cy="2662517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ular Callout 31"/>
            <p:cNvSpPr/>
            <p:nvPr/>
          </p:nvSpPr>
          <p:spPr>
            <a:xfrm>
              <a:off x="134473" y="5844990"/>
              <a:ext cx="4356846" cy="537883"/>
            </a:xfrm>
            <a:prstGeom prst="wedgeRoundRectCallout">
              <a:avLst>
                <a:gd name="adj1" fmla="val -17786"/>
                <a:gd name="adj2" fmla="val -180158"/>
                <a:gd name="adj3" fmla="val 16667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Indentation/spacing determines where</a:t>
              </a:r>
            </a:p>
            <a:p>
              <a:pPr algn="ctr"/>
              <a:r>
                <a:rPr lang="en-US" dirty="0">
                  <a:solidFill>
                    <a:srgbClr val="7030A0"/>
                  </a:solidFill>
                </a:rPr>
                <a:t>the algorithm/loop/if/else-body 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207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75" y="116207"/>
            <a:ext cx="8797925" cy="6762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Insertion Sort Simulation</a:t>
            </a:r>
          </a:p>
        </p:txBody>
      </p:sp>
      <p:sp>
        <p:nvSpPr>
          <p:cNvPr id="13332" name="Text Box 6"/>
          <p:cNvSpPr txBox="1">
            <a:spLocks noChangeArrowheads="1"/>
          </p:cNvSpPr>
          <p:nvPr/>
        </p:nvSpPr>
        <p:spPr bwMode="auto">
          <a:xfrm>
            <a:off x="-35865" y="819151"/>
            <a:ext cx="6160661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I</a:t>
            </a:r>
            <a:r>
              <a:rPr lang="en-US" altLang="en-US" sz="1800" dirty="0"/>
              <a:t>NSERTION</a:t>
            </a:r>
            <a:r>
              <a:rPr lang="en-US" altLang="en-US" sz="2400" dirty="0"/>
              <a:t>-S</a:t>
            </a:r>
            <a:r>
              <a:rPr lang="en-US" altLang="en-US" sz="1800" dirty="0"/>
              <a:t>ORT 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A</a:t>
            </a:r>
            <a:r>
              <a:rPr lang="en-US" altLang="en-US" sz="2400" dirty="0">
                <a:solidFill>
                  <a:srgbClr val="009999"/>
                </a:solidFill>
              </a:rPr>
              <a:t>, 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    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</a:t>
            </a:r>
            <a:r>
              <a:rPr lang="en-US" altLang="en-US" sz="18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[1 . . </a:t>
            </a:r>
            <a:r>
              <a:rPr lang="en-US" altLang="en-US" sz="18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</a:t>
            </a:r>
            <a:r>
              <a:rPr lang="en-US" altLang="en-US" sz="18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endParaRPr lang="en-US" altLang="en-US" sz="2400" dirty="0">
              <a:solidFill>
                <a:srgbClr val="00999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00" dirty="0">
              <a:solidFill>
                <a:srgbClr val="00999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b="1" dirty="0"/>
              <a:t>for</a:t>
            </a:r>
            <a:r>
              <a:rPr lang="en-US" altLang="en-US" sz="2400" dirty="0"/>
              <a:t>	 </a:t>
            </a:r>
            <a:r>
              <a:rPr lang="en-US" altLang="en-US" sz="2400" i="1" dirty="0">
                <a:solidFill>
                  <a:srgbClr val="009999"/>
                </a:solidFill>
              </a:rPr>
              <a:t>j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← 2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Insert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 j ]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into the sorted </a:t>
            </a:r>
            <a:r>
              <a:rPr lang="en-US" altLang="en-US" sz="1800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subarray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A[1..j -1]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800" kern="0" dirty="0">
                <a:solidFill>
                  <a:srgbClr val="000000"/>
                </a:solidFill>
                <a:cs typeface="Times New Roman" pitchFamily="18" charset="0"/>
              </a:rPr>
              <a:t>			</a:t>
            </a:r>
            <a:r>
              <a:rPr lang="en-US" altLang="en-US" sz="1800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in such a position that </a:t>
            </a:r>
            <a:r>
              <a:rPr lang="en-US" altLang="en-US" sz="18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A[1..j] </a:t>
            </a:r>
            <a:r>
              <a:rPr lang="en-US" altLang="en-US" sz="18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becomes sorted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key ← 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j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while	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 &gt;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←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←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028330" y="43309"/>
          <a:ext cx="2017060" cy="103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29"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5" name="Straight Arrow Connector 44"/>
          <p:cNvCxnSpPr/>
          <p:nvPr/>
        </p:nvCxnSpPr>
        <p:spPr>
          <a:xfrm>
            <a:off x="7306236" y="896464"/>
            <a:ext cx="259977" cy="1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>
          <a:xfrm>
            <a:off x="6235040" y="707315"/>
            <a:ext cx="712608" cy="369332"/>
            <a:chOff x="7561816" y="3280193"/>
            <a:chExt cx="712608" cy="369332"/>
          </a:xfrm>
        </p:grpSpPr>
        <p:sp>
          <p:nvSpPr>
            <p:cNvPr id="60" name="Rectangle 59"/>
            <p:cNvSpPr/>
            <p:nvPr/>
          </p:nvSpPr>
          <p:spPr>
            <a:xfrm>
              <a:off x="7996523" y="3325901"/>
              <a:ext cx="277901" cy="2868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561816" y="3280193"/>
              <a:ext cx="492892" cy="3693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</a:rPr>
                <a:t>key</a:t>
              </a:r>
              <a:endParaRPr lang="en-US" dirty="0"/>
            </a:p>
          </p:txBody>
        </p:sp>
      </p:grpSp>
      <p:cxnSp>
        <p:nvCxnSpPr>
          <p:cNvPr id="70" name="Curved Connector 69"/>
          <p:cNvCxnSpPr>
            <a:stCxn id="60" idx="2"/>
            <a:endCxn id="71" idx="2"/>
          </p:cNvCxnSpPr>
          <p:nvPr/>
        </p:nvCxnSpPr>
        <p:spPr>
          <a:xfrm rot="5400000" flipH="1" flipV="1">
            <a:off x="7019368" y="829223"/>
            <a:ext cx="1" cy="421342"/>
          </a:xfrm>
          <a:prstGeom prst="curvedConnector3">
            <a:avLst>
              <a:gd name="adj1" fmla="val -2286000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7091089" y="753022"/>
            <a:ext cx="277901" cy="286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7028325" y="1325299"/>
          <a:ext cx="2017060" cy="103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5" name="Group 74"/>
          <p:cNvGrpSpPr/>
          <p:nvPr/>
        </p:nvGrpSpPr>
        <p:grpSpPr>
          <a:xfrm>
            <a:off x="6235035" y="1989305"/>
            <a:ext cx="712608" cy="369332"/>
            <a:chOff x="7561816" y="3280193"/>
            <a:chExt cx="712608" cy="369332"/>
          </a:xfrm>
        </p:grpSpPr>
        <p:sp>
          <p:nvSpPr>
            <p:cNvPr id="76" name="Rectangle 75"/>
            <p:cNvSpPr/>
            <p:nvPr/>
          </p:nvSpPr>
          <p:spPr>
            <a:xfrm>
              <a:off x="7996523" y="3325901"/>
              <a:ext cx="277901" cy="2868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561816" y="3280193"/>
              <a:ext cx="492892" cy="3693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</a:rPr>
                <a:t>key</a:t>
              </a:r>
              <a:endParaRPr lang="en-US" dirty="0"/>
            </a:p>
          </p:txBody>
        </p:sp>
      </p:grpSp>
      <p:cxnSp>
        <p:nvCxnSpPr>
          <p:cNvPr id="78" name="Curved Connector 77"/>
          <p:cNvCxnSpPr>
            <a:stCxn id="76" idx="2"/>
            <a:endCxn id="79" idx="2"/>
          </p:cNvCxnSpPr>
          <p:nvPr/>
        </p:nvCxnSpPr>
        <p:spPr>
          <a:xfrm rot="5400000" flipH="1" flipV="1">
            <a:off x="7409341" y="1712270"/>
            <a:ext cx="8966" cy="1210262"/>
          </a:xfrm>
          <a:prstGeom prst="curvedConnector3">
            <a:avLst>
              <a:gd name="adj1" fmla="val -4249377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7880004" y="2026047"/>
            <a:ext cx="277901" cy="286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7028320" y="2804519"/>
          <a:ext cx="2017060" cy="103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7" name="Group 74"/>
          <p:cNvGrpSpPr/>
          <p:nvPr/>
        </p:nvGrpSpPr>
        <p:grpSpPr>
          <a:xfrm>
            <a:off x="6235030" y="3468525"/>
            <a:ext cx="712608" cy="369332"/>
            <a:chOff x="7561816" y="3280193"/>
            <a:chExt cx="712608" cy="369332"/>
          </a:xfrm>
        </p:grpSpPr>
        <p:sp>
          <p:nvSpPr>
            <p:cNvPr id="90" name="Rectangle 89"/>
            <p:cNvSpPr/>
            <p:nvPr/>
          </p:nvSpPr>
          <p:spPr>
            <a:xfrm>
              <a:off x="7996523" y="3325901"/>
              <a:ext cx="277901" cy="2868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7561816" y="3280193"/>
              <a:ext cx="492892" cy="3693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i="1" dirty="0">
                  <a:solidFill>
                    <a:srgbClr val="0070C0"/>
                  </a:solidFill>
                </a:rPr>
                <a:t>key</a:t>
              </a:r>
              <a:endParaRPr lang="en-US" dirty="0"/>
            </a:p>
          </p:txBody>
        </p:sp>
      </p:grpSp>
      <p:cxnSp>
        <p:nvCxnSpPr>
          <p:cNvPr id="88" name="Curved Connector 87"/>
          <p:cNvCxnSpPr>
            <a:stCxn id="90" idx="2"/>
            <a:endCxn id="89" idx="2"/>
          </p:cNvCxnSpPr>
          <p:nvPr/>
        </p:nvCxnSpPr>
        <p:spPr>
          <a:xfrm rot="5400000" flipH="1" flipV="1">
            <a:off x="7212106" y="3388720"/>
            <a:ext cx="8966" cy="815802"/>
          </a:xfrm>
          <a:prstGeom prst="curvedConnector3">
            <a:avLst>
              <a:gd name="adj1" fmla="val -3649466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485539" y="3505267"/>
            <a:ext cx="277901" cy="286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92" name="Straight Arrow Connector 91"/>
          <p:cNvCxnSpPr/>
          <p:nvPr/>
        </p:nvCxnSpPr>
        <p:spPr>
          <a:xfrm>
            <a:off x="8130989" y="3657594"/>
            <a:ext cx="259977" cy="1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7718594" y="3657589"/>
            <a:ext cx="259977" cy="1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Table 95"/>
          <p:cNvGraphicFramePr>
            <a:graphicFrameLocks noGrp="1"/>
          </p:cNvGraphicFramePr>
          <p:nvPr/>
        </p:nvGraphicFramePr>
        <p:xfrm>
          <a:off x="7037290" y="4337479"/>
          <a:ext cx="2017060" cy="103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b="0" i="1" dirty="0">
                        <a:solidFill>
                          <a:srgbClr val="0070C0"/>
                        </a:solidFill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Rectangle 100"/>
          <p:cNvSpPr/>
          <p:nvPr/>
        </p:nvSpPr>
        <p:spPr>
          <a:xfrm>
            <a:off x="6678707" y="5047193"/>
            <a:ext cx="277901" cy="2868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44000" y="5001485"/>
            <a:ext cx="492892" cy="36933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key</a:t>
            </a:r>
            <a:endParaRPr lang="en-US" dirty="0"/>
          </a:p>
        </p:txBody>
      </p:sp>
      <p:cxnSp>
        <p:nvCxnSpPr>
          <p:cNvPr id="99" name="Curved Connector 98"/>
          <p:cNvCxnSpPr>
            <a:stCxn id="101" idx="2"/>
            <a:endCxn id="107" idx="2"/>
          </p:cNvCxnSpPr>
          <p:nvPr/>
        </p:nvCxnSpPr>
        <p:spPr>
          <a:xfrm rot="5400000" flipH="1" flipV="1">
            <a:off x="7023810" y="5118869"/>
            <a:ext cx="9042" cy="421347"/>
          </a:xfrm>
          <a:prstGeom prst="curvedConnector3">
            <a:avLst>
              <a:gd name="adj1" fmla="val -2528202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7494509" y="5038227"/>
            <a:ext cx="277901" cy="286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7333099" y="5190544"/>
            <a:ext cx="1470257" cy="8971"/>
            <a:chOff x="7333099" y="5190544"/>
            <a:chExt cx="1470257" cy="8971"/>
          </a:xfrm>
        </p:grpSpPr>
        <p:cxnSp>
          <p:nvCxnSpPr>
            <p:cNvPr id="103" name="Straight Arrow Connector 102"/>
            <p:cNvCxnSpPr/>
            <p:nvPr/>
          </p:nvCxnSpPr>
          <p:spPr>
            <a:xfrm>
              <a:off x="8139959" y="5190554"/>
              <a:ext cx="259977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>
              <a:off x="7727564" y="5190549"/>
              <a:ext cx="259977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>
              <a:off x="8543379" y="5199514"/>
              <a:ext cx="259977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/>
            <p:nvPr/>
          </p:nvCxnSpPr>
          <p:spPr>
            <a:xfrm>
              <a:off x="7333099" y="5190544"/>
              <a:ext cx="259977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7100054" y="5038151"/>
            <a:ext cx="277901" cy="286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028325" y="5959472"/>
          <a:ext cx="2017060" cy="68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2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36000" marR="36000" marT="36000" marB="36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4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5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7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030A0"/>
                          </a:solidFill>
                        </a:rPr>
                        <a:t>9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" name="Rectangle 111"/>
          <p:cNvSpPr/>
          <p:nvPr/>
        </p:nvSpPr>
        <p:spPr>
          <a:xfrm>
            <a:off x="860612" y="4999932"/>
            <a:ext cx="4894730" cy="8157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Loop Invariant: </a:t>
            </a:r>
            <a:r>
              <a:rPr lang="en-US" dirty="0">
                <a:solidFill>
                  <a:schemeClr val="tx1"/>
                </a:solidFill>
              </a:rPr>
              <a:t>At the beginning of each iteration of the </a:t>
            </a:r>
            <a:r>
              <a:rPr lang="en-US" i="1" dirty="0">
                <a:solidFill>
                  <a:schemeClr val="tx1"/>
                </a:solidFill>
              </a:rPr>
              <a:t>for</a:t>
            </a:r>
            <a:r>
              <a:rPr lang="en-US" dirty="0">
                <a:solidFill>
                  <a:schemeClr val="tx1"/>
                </a:solidFill>
              </a:rPr>
              <a:t> loop, </a:t>
            </a:r>
            <a:r>
              <a:rPr lang="en-US" i="1" dirty="0">
                <a:solidFill>
                  <a:schemeClr val="tx1"/>
                </a:solidFill>
              </a:rPr>
              <a:t>A[1..j-1] </a:t>
            </a:r>
            <a:r>
              <a:rPr lang="en-US" dirty="0">
                <a:solidFill>
                  <a:schemeClr val="tx1"/>
                </a:solidFill>
              </a:rPr>
              <a:t>is already sorted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0378" y="5897913"/>
            <a:ext cx="537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 </a:t>
            </a:r>
            <a:r>
              <a:rPr lang="en-US" dirty="0" err="1">
                <a:solidFill>
                  <a:srgbClr val="FF0000"/>
                </a:solidFill>
              </a:rPr>
              <a:t>Cormen</a:t>
            </a:r>
            <a:r>
              <a:rPr lang="en-US" dirty="0">
                <a:solidFill>
                  <a:srgbClr val="FF0000"/>
                </a:solidFill>
              </a:rPr>
              <a:t> Book (pp. 18-19) for the 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576" y="6267245"/>
            <a:ext cx="5848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Conclusion</a:t>
            </a:r>
            <a:r>
              <a:rPr lang="en-US" dirty="0">
                <a:solidFill>
                  <a:srgbClr val="0070C0"/>
                </a:solidFill>
              </a:rPr>
              <a:t>: when the for loop ends, j=n+1; so according to the loop invariant, A[1..(n+1-1)]=A[1..n]=A is sorted</a:t>
            </a:r>
          </a:p>
        </p:txBody>
      </p:sp>
    </p:spTree>
    <p:extLst>
      <p:ext uri="{BB962C8B-B14F-4D97-AF65-F5344CB8AC3E}">
        <p14:creationId xmlns:p14="http://schemas.microsoft.com/office/powerpoint/2010/main" val="390207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01" grpId="0" animBg="1"/>
      <p:bldP spid="102" grpId="0"/>
      <p:bldP spid="100" grpId="0"/>
      <p:bldP spid="107" grpId="0"/>
      <p:bldP spid="112" grpId="0" animBg="1"/>
      <p:bldP spid="113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Insertion Sort Algorithm Revisited</a:t>
            </a:r>
          </a:p>
        </p:txBody>
      </p:sp>
      <p:sp>
        <p:nvSpPr>
          <p:cNvPr id="7" name="Text Box 6"/>
          <p:cNvSpPr txBox="1">
            <a:spLocks noGrp="1" noChangeArrowheads="1"/>
          </p:cNvSpPr>
          <p:nvPr>
            <p:ph idx="1"/>
          </p:nvPr>
        </p:nvSpPr>
        <p:spPr bwMode="auto">
          <a:xfrm>
            <a:off x="155575" y="939800"/>
            <a:ext cx="57246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46075" algn="l"/>
                <a:tab pos="1370013" algn="r"/>
                <a:tab pos="1489075" algn="l"/>
                <a:tab pos="2513013" algn="r"/>
                <a:tab pos="2632075" algn="l"/>
                <a:tab pos="32035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I</a:t>
            </a:r>
            <a:r>
              <a:rPr lang="en-US" altLang="en-US" sz="1800" dirty="0"/>
              <a:t>NSERTION</a:t>
            </a:r>
            <a:r>
              <a:rPr lang="en-US" altLang="en-US" sz="2400" dirty="0"/>
              <a:t>-S</a:t>
            </a:r>
            <a:r>
              <a:rPr lang="en-US" altLang="en-US" sz="1800" dirty="0"/>
              <a:t>ORT </a:t>
            </a:r>
            <a:r>
              <a:rPr lang="en-US" altLang="en-US" sz="2400" dirty="0">
                <a:solidFill>
                  <a:srgbClr val="009999"/>
                </a:solidFill>
              </a:rPr>
              <a:t>(</a:t>
            </a:r>
            <a:r>
              <a:rPr lang="en-US" altLang="en-US" sz="2400" i="1" dirty="0">
                <a:solidFill>
                  <a:srgbClr val="009999"/>
                </a:solidFill>
              </a:rPr>
              <a:t>A</a:t>
            </a:r>
            <a:r>
              <a:rPr lang="en-US" altLang="en-US" sz="2400" dirty="0">
                <a:solidFill>
                  <a:srgbClr val="009999"/>
                </a:solidFill>
              </a:rPr>
              <a:t>, </a:t>
            </a:r>
            <a:r>
              <a:rPr lang="en-US" altLang="en-US" sz="2400" i="1" dirty="0">
                <a:solidFill>
                  <a:srgbClr val="009999"/>
                </a:solidFill>
              </a:rPr>
              <a:t>n</a:t>
            </a:r>
            <a:r>
              <a:rPr lang="en-US" altLang="en-US" sz="2400" dirty="0">
                <a:solidFill>
                  <a:srgbClr val="009999"/>
                </a:solidFill>
              </a:rPr>
              <a:t>)	</a:t>
            </a:r>
            <a:r>
              <a:rPr lang="en-US" altLang="en-US" dirty="0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⊳ </a:t>
            </a:r>
            <a:r>
              <a:rPr lang="en-US" altLang="en-US" sz="24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[1 . . </a:t>
            </a:r>
            <a:r>
              <a:rPr lang="en-US" altLang="en-US" sz="2400" i="1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n</a:t>
            </a:r>
            <a:r>
              <a:rPr lang="en-US" altLang="en-US" sz="2400" dirty="0">
                <a:solidFill>
                  <a:srgbClr val="009999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en-US" altLang="en-US" sz="2400" dirty="0">
                <a:solidFill>
                  <a:srgbClr val="009999"/>
                </a:solidFill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b="1" dirty="0"/>
              <a:t>for</a:t>
            </a:r>
            <a:r>
              <a:rPr lang="en-US" altLang="en-US" sz="2400" dirty="0"/>
              <a:t>	 </a:t>
            </a:r>
            <a:r>
              <a:rPr lang="en-US" altLang="en-US" sz="2400" i="1" dirty="0">
                <a:solidFill>
                  <a:srgbClr val="009999"/>
                </a:solidFill>
              </a:rPr>
              <a:t>j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← 2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 ← 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j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while	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 &gt;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endParaRPr lang="en-US" altLang="en-US" sz="2400" dirty="0">
              <a:solidFill>
                <a:srgbClr val="0099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←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		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← </a:t>
            </a:r>
            <a:r>
              <a:rPr lang="en-US" altLang="en-US" sz="2400" i="1" dirty="0" err="1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i+</a:t>
            </a:r>
            <a:r>
              <a:rPr lang="en-US" altLang="en-US" sz="2400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1] = </a:t>
            </a:r>
            <a:r>
              <a:rPr lang="en-US" altLang="en-US" sz="2400" i="1" dirty="0">
                <a:solidFill>
                  <a:srgbClr val="0099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810" y="4172663"/>
            <a:ext cx="8704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latin typeface="Arial" panose="020B0604020202020204" pitchFamily="34" charset="0"/>
              </a:rPr>
              <a:t>What is the time complexity? </a:t>
            </a:r>
          </a:p>
          <a:p>
            <a:r>
              <a:rPr lang="en-US" altLang="en-US" i="1" dirty="0">
                <a:latin typeface="Arial" panose="020B0604020202020204" pitchFamily="34" charset="0"/>
              </a:rPr>
              <a:t>Depends on arrangement of numbers in the input array. </a:t>
            </a:r>
            <a:endParaRPr lang="en-US" u="sng" dirty="0"/>
          </a:p>
        </p:txBody>
      </p:sp>
      <p:sp>
        <p:nvSpPr>
          <p:cNvPr id="6" name="Rectangle 5"/>
          <p:cNvSpPr/>
          <p:nvPr/>
        </p:nvSpPr>
        <p:spPr>
          <a:xfrm>
            <a:off x="1417414" y="4994394"/>
            <a:ext cx="6328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How can you arrange the input numbers so that this algorithm becomes most inefficient (worst case)?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78778" y="6061194"/>
            <a:ext cx="6328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cs typeface="Times New Roman" pitchFamily="18" charset="0"/>
              </a:rPr>
              <a:t>How can you arrange the input numbers so that this algorithm becomes most efficient (best case)?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4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8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Insertion Sort: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Grp="1" noChangeArrowheads="1"/>
              </p:cNvSpPr>
              <p:nvPr>
                <p:ph idx="1"/>
              </p:nvPr>
            </p:nvSpPr>
            <p:spPr bwMode="auto">
              <a:xfrm>
                <a:off x="155574" y="939800"/>
                <a:ext cx="8797925" cy="3349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u="sng" dirty="0"/>
                  <a:t>	Statement								cost      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2400" dirty="0"/>
                  <a:t>I</a:t>
                </a:r>
                <a:r>
                  <a:rPr lang="en-US" altLang="en-US" sz="1800" dirty="0"/>
                  <a:t>NSERTION</a:t>
                </a:r>
                <a:r>
                  <a:rPr lang="en-US" altLang="en-US" sz="2400" dirty="0"/>
                  <a:t>-S</a:t>
                </a:r>
                <a:r>
                  <a:rPr lang="en-US" altLang="en-US" sz="1800" dirty="0"/>
                  <a:t>ORT 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(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, 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n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)	</a:t>
                </a:r>
                <a:r>
                  <a:rPr lang="en-US" altLang="en-US" dirty="0">
                    <a:solidFill>
                      <a:schemeClr val="accent2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⊳ </a:t>
                </a:r>
                <a:r>
                  <a:rPr lang="en-US" altLang="en-US" sz="2400" i="1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[1 . . </a:t>
                </a:r>
                <a:r>
                  <a:rPr lang="en-US" altLang="en-US" sz="2400" i="1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</a:t>
                </a:r>
                <a:r>
                  <a:rPr lang="en-US" altLang="en-US" sz="2400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]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			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/>
                  <a:t>	</a:t>
                </a:r>
                <a:r>
                  <a:rPr lang="en-US" altLang="en-US" sz="2400" b="1" dirty="0"/>
                  <a:t>for</a:t>
                </a:r>
                <a:r>
                  <a:rPr lang="en-US" altLang="en-US" sz="2400" dirty="0"/>
                  <a:t>	 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j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← 2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to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n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 ← 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← j –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while	 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&gt;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and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 &gt;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i+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1] ←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		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← 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–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i+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1] =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55574" y="939800"/>
                <a:ext cx="8797925" cy="3349891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109" t="-2545" b="-141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dirty="0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1482" y="4391290"/>
                <a:ext cx="8386108" cy="10581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2" y="4391290"/>
                <a:ext cx="8386108" cy="1058175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73620" y="5509548"/>
            <a:ext cx="8970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no. of times the condition of while loop is tested for the current value of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977" y="6113388"/>
            <a:ext cx="813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How can we simplify T(n)? Hint: compute the value of T(n) in the best/worst case</a:t>
            </a:r>
          </a:p>
        </p:txBody>
      </p:sp>
    </p:spTree>
    <p:extLst>
      <p:ext uri="{BB962C8B-B14F-4D97-AF65-F5344CB8AC3E}">
        <p14:creationId xmlns:p14="http://schemas.microsoft.com/office/powerpoint/2010/main" val="11084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Insertion Sort: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Grp="1" noChangeArrowheads="1"/>
              </p:cNvSpPr>
              <p:nvPr>
                <p:ph idx="1"/>
              </p:nvPr>
            </p:nvSpPr>
            <p:spPr bwMode="auto">
              <a:xfrm>
                <a:off x="155574" y="939800"/>
                <a:ext cx="8797925" cy="3349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346075" algn="l"/>
                    <a:tab pos="1370013" algn="r"/>
                    <a:tab pos="1489075" algn="l"/>
                    <a:tab pos="2513013" algn="r"/>
                    <a:tab pos="2632075" algn="l"/>
                    <a:tab pos="3203575" algn="l"/>
                  </a:tabLs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u="sng" dirty="0"/>
                  <a:t>	Statement								cost      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en-US" altLang="en-US" sz="2400" dirty="0"/>
                  <a:t>I</a:t>
                </a:r>
                <a:r>
                  <a:rPr lang="en-US" altLang="en-US" sz="1800" dirty="0"/>
                  <a:t>NSERTION</a:t>
                </a:r>
                <a:r>
                  <a:rPr lang="en-US" altLang="en-US" sz="2400" dirty="0"/>
                  <a:t>-S</a:t>
                </a:r>
                <a:r>
                  <a:rPr lang="en-US" altLang="en-US" sz="1800" dirty="0"/>
                  <a:t>ORT 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(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, 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n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)	</a:t>
                </a:r>
                <a:r>
                  <a:rPr lang="en-US" altLang="en-US" dirty="0">
                    <a:solidFill>
                      <a:schemeClr val="accent2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⊳ </a:t>
                </a:r>
                <a:r>
                  <a:rPr lang="en-US" altLang="en-US" sz="2400" i="1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[1 . . </a:t>
                </a:r>
                <a:r>
                  <a:rPr lang="en-US" altLang="en-US" sz="2400" i="1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</a:t>
                </a:r>
                <a:r>
                  <a:rPr lang="en-US" altLang="en-US" sz="2400" dirty="0">
                    <a:solidFill>
                      <a:srgbClr val="009999"/>
                    </a:solidFill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]</a:t>
                </a:r>
                <a:r>
                  <a:rPr lang="en-US" altLang="en-US" sz="2400" dirty="0">
                    <a:solidFill>
                      <a:srgbClr val="009999"/>
                    </a:solidFill>
                  </a:rPr>
                  <a:t>			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/>
                  <a:t>	</a:t>
                </a:r>
                <a:r>
                  <a:rPr lang="en-US" altLang="en-US" sz="2400" b="1" dirty="0"/>
                  <a:t>for</a:t>
                </a:r>
                <a:r>
                  <a:rPr lang="en-US" altLang="en-US" sz="2400" dirty="0"/>
                  <a:t>	 </a:t>
                </a:r>
                <a:r>
                  <a:rPr lang="en-US" altLang="en-US" sz="2400" i="1" dirty="0">
                    <a:solidFill>
                      <a:srgbClr val="009999"/>
                    </a:solidFill>
                  </a:rPr>
                  <a:t>j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← 2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to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n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 ← 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← j –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while	 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&gt;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and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 &gt;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	</a:t>
                </a:r>
                <a:r>
                  <a:rPr lang="en-US" altLang="en-US" sz="2400" b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do</a:t>
                </a: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i+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1] ←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]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		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← </a:t>
                </a:r>
                <a:r>
                  <a:rPr lang="en-US" altLang="en-US" sz="2400" i="1" dirty="0" err="1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– 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endParaRPr lang="en-US" altLang="en-US" sz="2400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			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i+</a:t>
                </a:r>
                <a:r>
                  <a:rPr lang="en-US" altLang="en-US" sz="2400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1] = </a:t>
                </a:r>
                <a:r>
                  <a:rPr lang="en-US" altLang="en-US" sz="2400" i="1" dirty="0">
                    <a:solidFill>
                      <a:srgbClr val="009999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key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en-US" sz="2400" i="1" dirty="0">
                  <a:solidFill>
                    <a:srgbClr val="009999"/>
                  </a:solidFill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Text Box 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55574" y="939800"/>
                <a:ext cx="8797925" cy="3349891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109" t="-2545" b="-141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 dirty="0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1482" y="4391290"/>
                <a:ext cx="8386108" cy="10581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2" y="4391290"/>
                <a:ext cx="8386108" cy="1058175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73620" y="5440098"/>
            <a:ext cx="8970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no. of times the condition of while loop is tested for the current value of j.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worst case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(when input is reverse-sorted),  in each iteration of the for loop, all 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j-1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elements need to be right shifted,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i.e.,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=(j-1)+1 = j :[1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added to represent the last test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].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Putting this in the above eq., we get: T(n) = An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+Bn+C → O(n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where A, B, C are constants.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46" y="6530072"/>
            <a:ext cx="813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What is T(n) in the best case (when the input numbers are already sorted)?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650" y="3111240"/>
            <a:ext cx="8750460" cy="13079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you are asked to compute worst case time of Insertion-Sort, just say that the while loop runs </a:t>
            </a:r>
            <a:r>
              <a:rPr lang="en-US" i="1" dirty="0"/>
              <a:t>j</a:t>
            </a:r>
            <a:r>
              <a:rPr lang="en-US" dirty="0"/>
              <a:t> times for worst possible input i.e. reverse sorted array (explain why) and then compute </a:t>
            </a:r>
            <a:r>
              <a:rPr lang="en-US" i="1" dirty="0"/>
              <a:t>T(n)</a:t>
            </a:r>
            <a:r>
              <a:rPr lang="en-US" dirty="0"/>
              <a:t> from </a:t>
            </a:r>
            <a:r>
              <a:rPr lang="en-US" i="1" dirty="0"/>
              <a:t>T(n) = </a:t>
            </a:r>
            <a:r>
              <a:rPr lang="el-GR" i="1" dirty="0"/>
              <a:t>Σ</a:t>
            </a:r>
            <a:r>
              <a:rPr lang="en-US" i="1" baseline="30000" dirty="0" err="1"/>
              <a:t>n</a:t>
            </a:r>
            <a:r>
              <a:rPr lang="en-US" i="1" baseline="-25000" dirty="0" err="1"/>
              <a:t>j</a:t>
            </a:r>
            <a:r>
              <a:rPr lang="en-US" i="1" baseline="-25000" dirty="0"/>
              <a:t>=2 </a:t>
            </a:r>
            <a:r>
              <a:rPr lang="en-US" i="1" dirty="0"/>
              <a:t>(j) = …. = n(n+1)/2 – 1 which is O(n</a:t>
            </a:r>
            <a:r>
              <a:rPr lang="en-US" i="1" baseline="30000" dirty="0"/>
              <a:t>2</a:t>
            </a:r>
            <a:r>
              <a:rPr lang="en-US" i="1" dirty="0"/>
              <a:t>) </a:t>
            </a:r>
          </a:p>
          <a:p>
            <a:pPr algn="ctr"/>
            <a:r>
              <a:rPr lang="en-US" dirty="0"/>
              <a:t>You don’t really need to show such a detailed calculation as shown here &amp; in the book.</a:t>
            </a:r>
          </a:p>
        </p:txBody>
      </p:sp>
    </p:spTree>
    <p:extLst>
      <p:ext uri="{BB962C8B-B14F-4D97-AF65-F5344CB8AC3E}">
        <p14:creationId xmlns:p14="http://schemas.microsoft.com/office/powerpoint/2010/main" val="11084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4252</TotalTime>
  <Words>1454</Words>
  <Application>Microsoft Office PowerPoint</Application>
  <PresentationFormat>On-screen Show (4:3)</PresentationFormat>
  <Paragraphs>168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Arial Unicode MS</vt:lpstr>
      <vt:lpstr>Britannic Bold</vt:lpstr>
      <vt:lpstr>Calibri</vt:lpstr>
      <vt:lpstr>Calibri Light</vt:lpstr>
      <vt:lpstr>Cambria Math</vt:lpstr>
      <vt:lpstr>Impact</vt:lpstr>
      <vt:lpstr>Symbol</vt:lpstr>
      <vt:lpstr>Times New Roman</vt:lpstr>
      <vt:lpstr>Office Theme</vt:lpstr>
      <vt:lpstr>The Problem of Sorting (Book: Chapter-2)</vt:lpstr>
      <vt:lpstr>Insertion Sort Pseudocode</vt:lpstr>
      <vt:lpstr>Insertion Sort Simulation</vt:lpstr>
      <vt:lpstr>Insertion Sort Algorithm Revisited</vt:lpstr>
      <vt:lpstr>Insertion Sort: Running Time</vt:lpstr>
      <vt:lpstr>Insertion Sort: Running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DELL</cp:lastModifiedBy>
  <cp:revision>250</cp:revision>
  <dcterms:created xsi:type="dcterms:W3CDTF">2014-09-11T18:03:18Z</dcterms:created>
  <dcterms:modified xsi:type="dcterms:W3CDTF">2025-05-19T05:23:52Z</dcterms:modified>
</cp:coreProperties>
</file>