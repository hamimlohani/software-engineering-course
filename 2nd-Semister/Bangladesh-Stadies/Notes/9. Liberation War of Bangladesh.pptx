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68" r:id="rId1"/>
  </p:sldMasterIdLst>
  <p:sldIdLst>
    <p:sldId id="256" r:id="rId2"/>
    <p:sldId id="257" r:id="rId3"/>
    <p:sldId id="258" r:id="rId4"/>
    <p:sldId id="259" r:id="rId5"/>
    <p:sldId id="260" r:id="rId6"/>
    <p:sldId id="261" r:id="rId7"/>
    <p:sldId id="262" r:id="rId8"/>
    <p:sldId id="263" r:id="rId9"/>
    <p:sldId id="264" r:id="rId10"/>
    <p:sldId id="266" r:id="rId11"/>
    <p:sldId id="265" r:id="rId12"/>
    <p:sldId id="276" r:id="rId13"/>
    <p:sldId id="267" r:id="rId14"/>
    <p:sldId id="268" r:id="rId15"/>
    <p:sldId id="270" r:id="rId16"/>
    <p:sldId id="275" r:id="rId17"/>
    <p:sldId id="271" r:id="rId18"/>
    <p:sldId id="272" r:id="rId19"/>
    <p:sldId id="273" r:id="rId20"/>
    <p:sldId id="27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4" autoAdjust="0"/>
    <p:restoredTop sz="94660"/>
  </p:normalViewPr>
  <p:slideViewPr>
    <p:cSldViewPr snapToGrid="0">
      <p:cViewPr varScale="1">
        <p:scale>
          <a:sx n="85" d="100"/>
          <a:sy n="85" d="100"/>
        </p:scale>
        <p:origin x="365"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D9B7C33-BFA0-4E78-843F-FC7AAAD4D06D}"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4AD6D3B7-8E62-4F47-96D0-E5C90E240705}">
      <dgm:prSet phldrT="[Text]"/>
      <dgm:spPr/>
      <dgm:t>
        <a:bodyPr/>
        <a:lstStyle/>
        <a:p>
          <a:endParaRPr lang="en-US" dirty="0"/>
        </a:p>
      </dgm:t>
    </dgm:pt>
    <dgm:pt modelId="{82AD71F9-B3E0-4B8E-8F2D-CC873FE4016E}" type="parTrans" cxnId="{C8DCA9CC-16EF-4B57-BD04-EBA5648265B1}">
      <dgm:prSet/>
      <dgm:spPr/>
      <dgm:t>
        <a:bodyPr/>
        <a:lstStyle/>
        <a:p>
          <a:endParaRPr lang="en-US"/>
        </a:p>
      </dgm:t>
    </dgm:pt>
    <dgm:pt modelId="{8FCCE917-53CB-46B6-8B3A-FD06918918C8}" type="sibTrans" cxnId="{C8DCA9CC-16EF-4B57-BD04-EBA5648265B1}">
      <dgm:prSet/>
      <dgm:spPr/>
      <dgm:t>
        <a:bodyPr/>
        <a:lstStyle/>
        <a:p>
          <a:endParaRPr lang="en-US"/>
        </a:p>
      </dgm:t>
    </dgm:pt>
    <dgm:pt modelId="{D76AC86B-2653-4AAE-A240-40B2C13EEEAF}">
      <dgm:prSet phldrT="[Text]"/>
      <dgm:spPr/>
      <dgm:t>
        <a:bodyPr/>
        <a:lstStyle/>
        <a:p>
          <a:r>
            <a:rPr lang="en-US" dirty="0"/>
            <a:t>ASM ABDUR ROB-VP</a:t>
          </a:r>
        </a:p>
      </dgm:t>
    </dgm:pt>
    <dgm:pt modelId="{18A729E4-D33C-4FD6-AEBA-45E34844CC1E}" type="parTrans" cxnId="{0D642EFC-5C17-4626-9FF4-5CC1A01DA423}">
      <dgm:prSet/>
      <dgm:spPr/>
      <dgm:t>
        <a:bodyPr/>
        <a:lstStyle/>
        <a:p>
          <a:endParaRPr lang="en-US"/>
        </a:p>
      </dgm:t>
    </dgm:pt>
    <dgm:pt modelId="{45443E7C-AFFC-46D1-9134-F4B0373D5F64}" type="sibTrans" cxnId="{0D642EFC-5C17-4626-9FF4-5CC1A01DA423}">
      <dgm:prSet/>
      <dgm:spPr/>
      <dgm:t>
        <a:bodyPr/>
        <a:lstStyle/>
        <a:p>
          <a:endParaRPr lang="en-US"/>
        </a:p>
      </dgm:t>
    </dgm:pt>
    <dgm:pt modelId="{54ACD1C9-BE40-4A40-8309-8CC5347A1E33}">
      <dgm:prSet phldrT="[Text]"/>
      <dgm:spPr/>
      <dgm:t>
        <a:bodyPr/>
        <a:lstStyle/>
        <a:p>
          <a:r>
            <a:rPr lang="en-US" dirty="0"/>
            <a:t>Abdul </a:t>
          </a:r>
          <a:r>
            <a:rPr lang="en-US" dirty="0" err="1"/>
            <a:t>Kuddus</a:t>
          </a:r>
          <a:r>
            <a:rPr lang="en-US" dirty="0"/>
            <a:t> </a:t>
          </a:r>
          <a:r>
            <a:rPr lang="en-US" dirty="0" err="1"/>
            <a:t>Makhon</a:t>
          </a:r>
          <a:r>
            <a:rPr lang="en-US" dirty="0"/>
            <a:t>-GS</a:t>
          </a:r>
        </a:p>
      </dgm:t>
    </dgm:pt>
    <dgm:pt modelId="{A819543C-1E0C-4014-B9C5-9F55202C0D0B}" type="parTrans" cxnId="{AD918AF5-5853-43E3-A9BD-A0B0AE88DB20}">
      <dgm:prSet/>
      <dgm:spPr/>
      <dgm:t>
        <a:bodyPr/>
        <a:lstStyle/>
        <a:p>
          <a:endParaRPr lang="en-US"/>
        </a:p>
      </dgm:t>
    </dgm:pt>
    <dgm:pt modelId="{7FB3C608-14D7-4D36-8DBF-01E929B91BAD}" type="sibTrans" cxnId="{AD918AF5-5853-43E3-A9BD-A0B0AE88DB20}">
      <dgm:prSet/>
      <dgm:spPr/>
      <dgm:t>
        <a:bodyPr/>
        <a:lstStyle/>
        <a:p>
          <a:endParaRPr lang="en-US"/>
        </a:p>
      </dgm:t>
    </dgm:pt>
    <dgm:pt modelId="{893D7861-3567-4E80-AC09-1D45C0E2409A}">
      <dgm:prSet phldrT="[Text]" phldr="1"/>
      <dgm:spPr/>
      <dgm:t>
        <a:bodyPr/>
        <a:lstStyle/>
        <a:p>
          <a:endParaRPr lang="en-US"/>
        </a:p>
      </dgm:t>
    </dgm:pt>
    <dgm:pt modelId="{3F020B1B-116B-4FCF-83CC-3BE6ADE39223}" type="parTrans" cxnId="{D804FBFB-6EC9-42BE-AA81-15CF162FC44E}">
      <dgm:prSet/>
      <dgm:spPr/>
      <dgm:t>
        <a:bodyPr/>
        <a:lstStyle/>
        <a:p>
          <a:endParaRPr lang="en-US"/>
        </a:p>
      </dgm:t>
    </dgm:pt>
    <dgm:pt modelId="{891C61B9-139B-4356-9FDE-604DCD712B85}" type="sibTrans" cxnId="{D804FBFB-6EC9-42BE-AA81-15CF162FC44E}">
      <dgm:prSet/>
      <dgm:spPr/>
      <dgm:t>
        <a:bodyPr/>
        <a:lstStyle/>
        <a:p>
          <a:endParaRPr lang="en-US"/>
        </a:p>
      </dgm:t>
    </dgm:pt>
    <dgm:pt modelId="{217A5098-387D-4C94-AACC-62C9562AC245}">
      <dgm:prSet phldrT="[Text]"/>
      <dgm:spPr/>
      <dgm:t>
        <a:bodyPr/>
        <a:lstStyle/>
        <a:p>
          <a:r>
            <a:rPr lang="en-US" dirty="0"/>
            <a:t>NUR-E-ALAM-SIDDIQUI-PRESIDENT</a:t>
          </a:r>
        </a:p>
      </dgm:t>
    </dgm:pt>
    <dgm:pt modelId="{C9CFDDA7-9702-4D83-9BFC-3C9C72B86D39}" type="parTrans" cxnId="{DEAB9EBB-A0B2-4A71-93AD-40DFEE4C7C09}">
      <dgm:prSet/>
      <dgm:spPr/>
      <dgm:t>
        <a:bodyPr/>
        <a:lstStyle/>
        <a:p>
          <a:endParaRPr lang="en-US"/>
        </a:p>
      </dgm:t>
    </dgm:pt>
    <dgm:pt modelId="{DBD7CB88-C564-4CF6-B545-0C3899510383}" type="sibTrans" cxnId="{DEAB9EBB-A0B2-4A71-93AD-40DFEE4C7C09}">
      <dgm:prSet/>
      <dgm:spPr/>
      <dgm:t>
        <a:bodyPr/>
        <a:lstStyle/>
        <a:p>
          <a:endParaRPr lang="en-US"/>
        </a:p>
      </dgm:t>
    </dgm:pt>
    <dgm:pt modelId="{51D54B8B-9175-47FC-A568-479C0F05B9FD}">
      <dgm:prSet phldrT="[Text]"/>
      <dgm:spPr/>
      <dgm:t>
        <a:bodyPr/>
        <a:lstStyle/>
        <a:p>
          <a:r>
            <a:rPr lang="en-US" dirty="0"/>
            <a:t>SHAHJAHAN SIRAJ-GENERAL SECRETARY</a:t>
          </a:r>
        </a:p>
      </dgm:t>
    </dgm:pt>
    <dgm:pt modelId="{1F074B05-C544-4E5A-AF69-D454D07CF846}" type="parTrans" cxnId="{A1FC1C87-9CB9-4D4A-9300-71F701500EC1}">
      <dgm:prSet/>
      <dgm:spPr/>
      <dgm:t>
        <a:bodyPr/>
        <a:lstStyle/>
        <a:p>
          <a:endParaRPr lang="en-US"/>
        </a:p>
      </dgm:t>
    </dgm:pt>
    <dgm:pt modelId="{25DE41B8-031E-4CE3-9F3E-363C93773924}" type="sibTrans" cxnId="{A1FC1C87-9CB9-4D4A-9300-71F701500EC1}">
      <dgm:prSet/>
      <dgm:spPr/>
      <dgm:t>
        <a:bodyPr/>
        <a:lstStyle/>
        <a:p>
          <a:endParaRPr lang="en-US"/>
        </a:p>
      </dgm:t>
    </dgm:pt>
    <dgm:pt modelId="{02B85BFA-C37E-4CDC-8501-0C5D12C2777E}" type="pres">
      <dgm:prSet presAssocID="{1D9B7C33-BFA0-4E78-843F-FC7AAAD4D06D}" presName="diagram" presStyleCnt="0">
        <dgm:presLayoutVars>
          <dgm:chPref val="1"/>
          <dgm:dir/>
          <dgm:animOne val="branch"/>
          <dgm:animLvl val="lvl"/>
          <dgm:resizeHandles/>
        </dgm:presLayoutVars>
      </dgm:prSet>
      <dgm:spPr/>
    </dgm:pt>
    <dgm:pt modelId="{EE6AC9B9-3744-46C0-9AAB-0350B67D2301}" type="pres">
      <dgm:prSet presAssocID="{4AD6D3B7-8E62-4F47-96D0-E5C90E240705}" presName="root" presStyleCnt="0"/>
      <dgm:spPr/>
    </dgm:pt>
    <dgm:pt modelId="{73330A5E-00B4-4680-9B34-5C3F6C43A766}" type="pres">
      <dgm:prSet presAssocID="{4AD6D3B7-8E62-4F47-96D0-E5C90E240705}" presName="rootComposite" presStyleCnt="0"/>
      <dgm:spPr/>
    </dgm:pt>
    <dgm:pt modelId="{6048D7DF-4E43-40ED-BCAC-10A698E6E600}" type="pres">
      <dgm:prSet presAssocID="{4AD6D3B7-8E62-4F47-96D0-E5C90E240705}" presName="rootText" presStyleLbl="node1" presStyleIdx="0" presStyleCnt="2"/>
      <dgm:spPr/>
    </dgm:pt>
    <dgm:pt modelId="{76146B42-E5CD-43DF-9D65-31697E68ACFD}" type="pres">
      <dgm:prSet presAssocID="{4AD6D3B7-8E62-4F47-96D0-E5C90E240705}" presName="rootConnector" presStyleLbl="node1" presStyleIdx="0" presStyleCnt="2"/>
      <dgm:spPr/>
    </dgm:pt>
    <dgm:pt modelId="{9C973AAD-8A05-4860-9D68-FCEFA95E1280}" type="pres">
      <dgm:prSet presAssocID="{4AD6D3B7-8E62-4F47-96D0-E5C90E240705}" presName="childShape" presStyleCnt="0"/>
      <dgm:spPr/>
    </dgm:pt>
    <dgm:pt modelId="{444CA16A-9A66-491A-A9A0-6A41FEED242B}" type="pres">
      <dgm:prSet presAssocID="{18A729E4-D33C-4FD6-AEBA-45E34844CC1E}" presName="Name13" presStyleLbl="parChTrans1D2" presStyleIdx="0" presStyleCnt="4"/>
      <dgm:spPr/>
    </dgm:pt>
    <dgm:pt modelId="{FBB265F2-B8C5-40C4-B176-C4DABD048807}" type="pres">
      <dgm:prSet presAssocID="{D76AC86B-2653-4AAE-A240-40B2C13EEEAF}" presName="childText" presStyleLbl="bgAcc1" presStyleIdx="0" presStyleCnt="4" custScaleX="189871">
        <dgm:presLayoutVars>
          <dgm:bulletEnabled val="1"/>
        </dgm:presLayoutVars>
      </dgm:prSet>
      <dgm:spPr/>
    </dgm:pt>
    <dgm:pt modelId="{E499ED88-3555-4F44-90CD-7FF38E81B14F}" type="pres">
      <dgm:prSet presAssocID="{A819543C-1E0C-4014-B9C5-9F55202C0D0B}" presName="Name13" presStyleLbl="parChTrans1D2" presStyleIdx="1" presStyleCnt="4"/>
      <dgm:spPr/>
    </dgm:pt>
    <dgm:pt modelId="{2E4CBF33-11E2-4742-8619-295C0B8E3ABF}" type="pres">
      <dgm:prSet presAssocID="{54ACD1C9-BE40-4A40-8309-8CC5347A1E33}" presName="childText" presStyleLbl="bgAcc1" presStyleIdx="1" presStyleCnt="4" custScaleX="208233">
        <dgm:presLayoutVars>
          <dgm:bulletEnabled val="1"/>
        </dgm:presLayoutVars>
      </dgm:prSet>
      <dgm:spPr/>
    </dgm:pt>
    <dgm:pt modelId="{D886C9C6-6D89-41A3-B284-FE8545B5C00A}" type="pres">
      <dgm:prSet presAssocID="{893D7861-3567-4E80-AC09-1D45C0E2409A}" presName="root" presStyleCnt="0"/>
      <dgm:spPr/>
    </dgm:pt>
    <dgm:pt modelId="{C52A49F8-D813-49E7-AC9B-B86BEA6E7E1C}" type="pres">
      <dgm:prSet presAssocID="{893D7861-3567-4E80-AC09-1D45C0E2409A}" presName="rootComposite" presStyleCnt="0"/>
      <dgm:spPr/>
    </dgm:pt>
    <dgm:pt modelId="{D81666F0-0A5A-40C3-8C75-10C17EA6CB26}" type="pres">
      <dgm:prSet presAssocID="{893D7861-3567-4E80-AC09-1D45C0E2409A}" presName="rootText" presStyleLbl="node1" presStyleIdx="1" presStyleCnt="2"/>
      <dgm:spPr/>
    </dgm:pt>
    <dgm:pt modelId="{8710564B-555C-4D40-9B3B-205686DB8BB1}" type="pres">
      <dgm:prSet presAssocID="{893D7861-3567-4E80-AC09-1D45C0E2409A}" presName="rootConnector" presStyleLbl="node1" presStyleIdx="1" presStyleCnt="2"/>
      <dgm:spPr/>
    </dgm:pt>
    <dgm:pt modelId="{A989F008-D748-41B7-B6FB-4D2F8A82B1FA}" type="pres">
      <dgm:prSet presAssocID="{893D7861-3567-4E80-AC09-1D45C0E2409A}" presName="childShape" presStyleCnt="0"/>
      <dgm:spPr/>
    </dgm:pt>
    <dgm:pt modelId="{644705EA-9345-4323-962A-936E812F82B4}" type="pres">
      <dgm:prSet presAssocID="{C9CFDDA7-9702-4D83-9BFC-3C9C72B86D39}" presName="Name13" presStyleLbl="parChTrans1D2" presStyleIdx="2" presStyleCnt="4"/>
      <dgm:spPr/>
    </dgm:pt>
    <dgm:pt modelId="{0B2A2E83-B2D8-46C2-9EFF-F90D04243E84}" type="pres">
      <dgm:prSet presAssocID="{217A5098-387D-4C94-AACC-62C9562AC245}" presName="childText" presStyleLbl="bgAcc1" presStyleIdx="2" presStyleCnt="4" custScaleX="217080">
        <dgm:presLayoutVars>
          <dgm:bulletEnabled val="1"/>
        </dgm:presLayoutVars>
      </dgm:prSet>
      <dgm:spPr/>
    </dgm:pt>
    <dgm:pt modelId="{75E6D478-77E8-4F61-9C00-FDD78F7A4873}" type="pres">
      <dgm:prSet presAssocID="{1F074B05-C544-4E5A-AF69-D454D07CF846}" presName="Name13" presStyleLbl="parChTrans1D2" presStyleIdx="3" presStyleCnt="4"/>
      <dgm:spPr/>
    </dgm:pt>
    <dgm:pt modelId="{FE8E2C5D-73BA-49D1-888E-C27666FCA729}" type="pres">
      <dgm:prSet presAssocID="{51D54B8B-9175-47FC-A568-479C0F05B9FD}" presName="childText" presStyleLbl="bgAcc1" presStyleIdx="3" presStyleCnt="4" custScaleX="283291">
        <dgm:presLayoutVars>
          <dgm:bulletEnabled val="1"/>
        </dgm:presLayoutVars>
      </dgm:prSet>
      <dgm:spPr/>
    </dgm:pt>
  </dgm:ptLst>
  <dgm:cxnLst>
    <dgm:cxn modelId="{AAC4EE1D-2F78-418E-B70E-9140B1BD02B2}" type="presOf" srcId="{4AD6D3B7-8E62-4F47-96D0-E5C90E240705}" destId="{6048D7DF-4E43-40ED-BCAC-10A698E6E600}" srcOrd="0" destOrd="0" presId="urn:microsoft.com/office/officeart/2005/8/layout/hierarchy3"/>
    <dgm:cxn modelId="{DC6A4762-27F4-4F95-BF90-34ED740D2BDE}" type="presOf" srcId="{893D7861-3567-4E80-AC09-1D45C0E2409A}" destId="{D81666F0-0A5A-40C3-8C75-10C17EA6CB26}" srcOrd="0" destOrd="0" presId="urn:microsoft.com/office/officeart/2005/8/layout/hierarchy3"/>
    <dgm:cxn modelId="{73E21F75-7A6C-4825-AEA3-93F05410AE2C}" type="presOf" srcId="{51D54B8B-9175-47FC-A568-479C0F05B9FD}" destId="{FE8E2C5D-73BA-49D1-888E-C27666FCA729}" srcOrd="0" destOrd="0" presId="urn:microsoft.com/office/officeart/2005/8/layout/hierarchy3"/>
    <dgm:cxn modelId="{A1FC1C87-9CB9-4D4A-9300-71F701500EC1}" srcId="{893D7861-3567-4E80-AC09-1D45C0E2409A}" destId="{51D54B8B-9175-47FC-A568-479C0F05B9FD}" srcOrd="1" destOrd="0" parTransId="{1F074B05-C544-4E5A-AF69-D454D07CF846}" sibTransId="{25DE41B8-031E-4CE3-9F3E-363C93773924}"/>
    <dgm:cxn modelId="{E432E396-C086-43BE-9240-5BCC59EA630D}" type="presOf" srcId="{217A5098-387D-4C94-AACC-62C9562AC245}" destId="{0B2A2E83-B2D8-46C2-9EFF-F90D04243E84}" srcOrd="0" destOrd="0" presId="urn:microsoft.com/office/officeart/2005/8/layout/hierarchy3"/>
    <dgm:cxn modelId="{4AA0F7A9-CC62-4BEC-B043-E6DB1EE39B7F}" type="presOf" srcId="{1F074B05-C544-4E5A-AF69-D454D07CF846}" destId="{75E6D478-77E8-4F61-9C00-FDD78F7A4873}" srcOrd="0" destOrd="0" presId="urn:microsoft.com/office/officeart/2005/8/layout/hierarchy3"/>
    <dgm:cxn modelId="{6C3065AC-5A4C-4F2E-8F35-656E74EB26EC}" type="presOf" srcId="{54ACD1C9-BE40-4A40-8309-8CC5347A1E33}" destId="{2E4CBF33-11E2-4742-8619-295C0B8E3ABF}" srcOrd="0" destOrd="0" presId="urn:microsoft.com/office/officeart/2005/8/layout/hierarchy3"/>
    <dgm:cxn modelId="{8F3025B8-0163-4BA8-9746-5955806CE951}" type="presOf" srcId="{C9CFDDA7-9702-4D83-9BFC-3C9C72B86D39}" destId="{644705EA-9345-4323-962A-936E812F82B4}" srcOrd="0" destOrd="0" presId="urn:microsoft.com/office/officeart/2005/8/layout/hierarchy3"/>
    <dgm:cxn modelId="{DEAB9EBB-A0B2-4A71-93AD-40DFEE4C7C09}" srcId="{893D7861-3567-4E80-AC09-1D45C0E2409A}" destId="{217A5098-387D-4C94-AACC-62C9562AC245}" srcOrd="0" destOrd="0" parTransId="{C9CFDDA7-9702-4D83-9BFC-3C9C72B86D39}" sibTransId="{DBD7CB88-C564-4CF6-B545-0C3899510383}"/>
    <dgm:cxn modelId="{A6A356C9-0E0F-48A2-86F9-B4FC7FE7C970}" type="presOf" srcId="{D76AC86B-2653-4AAE-A240-40B2C13EEEAF}" destId="{FBB265F2-B8C5-40C4-B176-C4DABD048807}" srcOrd="0" destOrd="0" presId="urn:microsoft.com/office/officeart/2005/8/layout/hierarchy3"/>
    <dgm:cxn modelId="{C8DCA9CC-16EF-4B57-BD04-EBA5648265B1}" srcId="{1D9B7C33-BFA0-4E78-843F-FC7AAAD4D06D}" destId="{4AD6D3B7-8E62-4F47-96D0-E5C90E240705}" srcOrd="0" destOrd="0" parTransId="{82AD71F9-B3E0-4B8E-8F2D-CC873FE4016E}" sibTransId="{8FCCE917-53CB-46B6-8B3A-FD06918918C8}"/>
    <dgm:cxn modelId="{488304CE-E59F-47BC-850E-E9E38981E9AB}" type="presOf" srcId="{893D7861-3567-4E80-AC09-1D45C0E2409A}" destId="{8710564B-555C-4D40-9B3B-205686DB8BB1}" srcOrd="1" destOrd="0" presId="urn:microsoft.com/office/officeart/2005/8/layout/hierarchy3"/>
    <dgm:cxn modelId="{1FED24E7-DF55-4C2E-8FBA-4275D875BFE7}" type="presOf" srcId="{A819543C-1E0C-4014-B9C5-9F55202C0D0B}" destId="{E499ED88-3555-4F44-90CD-7FF38E81B14F}" srcOrd="0" destOrd="0" presId="urn:microsoft.com/office/officeart/2005/8/layout/hierarchy3"/>
    <dgm:cxn modelId="{80BC2EF5-3680-42B8-BE85-6B64D6592ACD}" type="presOf" srcId="{1D9B7C33-BFA0-4E78-843F-FC7AAAD4D06D}" destId="{02B85BFA-C37E-4CDC-8501-0C5D12C2777E}" srcOrd="0" destOrd="0" presId="urn:microsoft.com/office/officeart/2005/8/layout/hierarchy3"/>
    <dgm:cxn modelId="{AD918AF5-5853-43E3-A9BD-A0B0AE88DB20}" srcId="{4AD6D3B7-8E62-4F47-96D0-E5C90E240705}" destId="{54ACD1C9-BE40-4A40-8309-8CC5347A1E33}" srcOrd="1" destOrd="0" parTransId="{A819543C-1E0C-4014-B9C5-9F55202C0D0B}" sibTransId="{7FB3C608-14D7-4D36-8DBF-01E929B91BAD}"/>
    <dgm:cxn modelId="{F97AFEF6-CE9E-4465-BFD2-7FAFA2F62DD9}" type="presOf" srcId="{18A729E4-D33C-4FD6-AEBA-45E34844CC1E}" destId="{444CA16A-9A66-491A-A9A0-6A41FEED242B}" srcOrd="0" destOrd="0" presId="urn:microsoft.com/office/officeart/2005/8/layout/hierarchy3"/>
    <dgm:cxn modelId="{0A0243F9-5ECE-4C11-B2E1-D75DF9C51A20}" type="presOf" srcId="{4AD6D3B7-8E62-4F47-96D0-E5C90E240705}" destId="{76146B42-E5CD-43DF-9D65-31697E68ACFD}" srcOrd="1" destOrd="0" presId="urn:microsoft.com/office/officeart/2005/8/layout/hierarchy3"/>
    <dgm:cxn modelId="{D804FBFB-6EC9-42BE-AA81-15CF162FC44E}" srcId="{1D9B7C33-BFA0-4E78-843F-FC7AAAD4D06D}" destId="{893D7861-3567-4E80-AC09-1D45C0E2409A}" srcOrd="1" destOrd="0" parTransId="{3F020B1B-116B-4FCF-83CC-3BE6ADE39223}" sibTransId="{891C61B9-139B-4356-9FDE-604DCD712B85}"/>
    <dgm:cxn modelId="{0D642EFC-5C17-4626-9FF4-5CC1A01DA423}" srcId="{4AD6D3B7-8E62-4F47-96D0-E5C90E240705}" destId="{D76AC86B-2653-4AAE-A240-40B2C13EEEAF}" srcOrd="0" destOrd="0" parTransId="{18A729E4-D33C-4FD6-AEBA-45E34844CC1E}" sibTransId="{45443E7C-AFFC-46D1-9134-F4B0373D5F64}"/>
    <dgm:cxn modelId="{EB5BA34C-35CD-498F-A0AB-FECF8B3D6505}" type="presParOf" srcId="{02B85BFA-C37E-4CDC-8501-0C5D12C2777E}" destId="{EE6AC9B9-3744-46C0-9AAB-0350B67D2301}" srcOrd="0" destOrd="0" presId="urn:microsoft.com/office/officeart/2005/8/layout/hierarchy3"/>
    <dgm:cxn modelId="{4A8A1DA6-2846-470D-B6B5-C0D5A29B11A9}" type="presParOf" srcId="{EE6AC9B9-3744-46C0-9AAB-0350B67D2301}" destId="{73330A5E-00B4-4680-9B34-5C3F6C43A766}" srcOrd="0" destOrd="0" presId="urn:microsoft.com/office/officeart/2005/8/layout/hierarchy3"/>
    <dgm:cxn modelId="{B93E16AC-A742-4220-AB26-DF984D0F7C2B}" type="presParOf" srcId="{73330A5E-00B4-4680-9B34-5C3F6C43A766}" destId="{6048D7DF-4E43-40ED-BCAC-10A698E6E600}" srcOrd="0" destOrd="0" presId="urn:microsoft.com/office/officeart/2005/8/layout/hierarchy3"/>
    <dgm:cxn modelId="{98005814-0119-498D-B9E7-131C413DDFDF}" type="presParOf" srcId="{73330A5E-00B4-4680-9B34-5C3F6C43A766}" destId="{76146B42-E5CD-43DF-9D65-31697E68ACFD}" srcOrd="1" destOrd="0" presId="urn:microsoft.com/office/officeart/2005/8/layout/hierarchy3"/>
    <dgm:cxn modelId="{DF327B43-1679-4C72-8E12-72E29636BD8F}" type="presParOf" srcId="{EE6AC9B9-3744-46C0-9AAB-0350B67D2301}" destId="{9C973AAD-8A05-4860-9D68-FCEFA95E1280}" srcOrd="1" destOrd="0" presId="urn:microsoft.com/office/officeart/2005/8/layout/hierarchy3"/>
    <dgm:cxn modelId="{C699A32B-A8A1-4949-8665-214259455E5D}" type="presParOf" srcId="{9C973AAD-8A05-4860-9D68-FCEFA95E1280}" destId="{444CA16A-9A66-491A-A9A0-6A41FEED242B}" srcOrd="0" destOrd="0" presId="urn:microsoft.com/office/officeart/2005/8/layout/hierarchy3"/>
    <dgm:cxn modelId="{FEDA7930-BDFB-4B26-9139-33B206BDDF15}" type="presParOf" srcId="{9C973AAD-8A05-4860-9D68-FCEFA95E1280}" destId="{FBB265F2-B8C5-40C4-B176-C4DABD048807}" srcOrd="1" destOrd="0" presId="urn:microsoft.com/office/officeart/2005/8/layout/hierarchy3"/>
    <dgm:cxn modelId="{85646091-4D29-492A-BC99-7249222531EC}" type="presParOf" srcId="{9C973AAD-8A05-4860-9D68-FCEFA95E1280}" destId="{E499ED88-3555-4F44-90CD-7FF38E81B14F}" srcOrd="2" destOrd="0" presId="urn:microsoft.com/office/officeart/2005/8/layout/hierarchy3"/>
    <dgm:cxn modelId="{D1450231-C760-4517-8C0A-E9705CAD67D8}" type="presParOf" srcId="{9C973AAD-8A05-4860-9D68-FCEFA95E1280}" destId="{2E4CBF33-11E2-4742-8619-295C0B8E3ABF}" srcOrd="3" destOrd="0" presId="urn:microsoft.com/office/officeart/2005/8/layout/hierarchy3"/>
    <dgm:cxn modelId="{3A487FF0-BAA4-49EC-A54C-26C583ACC876}" type="presParOf" srcId="{02B85BFA-C37E-4CDC-8501-0C5D12C2777E}" destId="{D886C9C6-6D89-41A3-B284-FE8545B5C00A}" srcOrd="1" destOrd="0" presId="urn:microsoft.com/office/officeart/2005/8/layout/hierarchy3"/>
    <dgm:cxn modelId="{D4A4B515-4BB4-4661-8A0C-7D5D44D2E488}" type="presParOf" srcId="{D886C9C6-6D89-41A3-B284-FE8545B5C00A}" destId="{C52A49F8-D813-49E7-AC9B-B86BEA6E7E1C}" srcOrd="0" destOrd="0" presId="urn:microsoft.com/office/officeart/2005/8/layout/hierarchy3"/>
    <dgm:cxn modelId="{21D0E0E3-E61F-4489-A4B7-3292AC2C1736}" type="presParOf" srcId="{C52A49F8-D813-49E7-AC9B-B86BEA6E7E1C}" destId="{D81666F0-0A5A-40C3-8C75-10C17EA6CB26}" srcOrd="0" destOrd="0" presId="urn:microsoft.com/office/officeart/2005/8/layout/hierarchy3"/>
    <dgm:cxn modelId="{F6C03F3E-8739-4599-8B9C-0FD33D517EA9}" type="presParOf" srcId="{C52A49F8-D813-49E7-AC9B-B86BEA6E7E1C}" destId="{8710564B-555C-4D40-9B3B-205686DB8BB1}" srcOrd="1" destOrd="0" presId="urn:microsoft.com/office/officeart/2005/8/layout/hierarchy3"/>
    <dgm:cxn modelId="{CE304320-8A30-42FA-AAD7-6787F702068F}" type="presParOf" srcId="{D886C9C6-6D89-41A3-B284-FE8545B5C00A}" destId="{A989F008-D748-41B7-B6FB-4D2F8A82B1FA}" srcOrd="1" destOrd="0" presId="urn:microsoft.com/office/officeart/2005/8/layout/hierarchy3"/>
    <dgm:cxn modelId="{C7EB34CC-766E-4889-9240-CA7A2AF4639D}" type="presParOf" srcId="{A989F008-D748-41B7-B6FB-4D2F8A82B1FA}" destId="{644705EA-9345-4323-962A-936E812F82B4}" srcOrd="0" destOrd="0" presId="urn:microsoft.com/office/officeart/2005/8/layout/hierarchy3"/>
    <dgm:cxn modelId="{68070317-79E1-4752-835F-1C850798BB75}" type="presParOf" srcId="{A989F008-D748-41B7-B6FB-4D2F8A82B1FA}" destId="{0B2A2E83-B2D8-46C2-9EFF-F90D04243E84}" srcOrd="1" destOrd="0" presId="urn:microsoft.com/office/officeart/2005/8/layout/hierarchy3"/>
    <dgm:cxn modelId="{95398D67-B23E-4C69-BCB7-A0727A95F880}" type="presParOf" srcId="{A989F008-D748-41B7-B6FB-4D2F8A82B1FA}" destId="{75E6D478-77E8-4F61-9C00-FDD78F7A4873}" srcOrd="2" destOrd="0" presId="urn:microsoft.com/office/officeart/2005/8/layout/hierarchy3"/>
    <dgm:cxn modelId="{7CEE8447-A7FA-4743-914F-859959B1BA82}" type="presParOf" srcId="{A989F008-D748-41B7-B6FB-4D2F8A82B1FA}" destId="{FE8E2C5D-73BA-49D1-888E-C27666FCA729}" srcOrd="3"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48D7DF-4E43-40ED-BCAC-10A698E6E600}">
      <dsp:nvSpPr>
        <dsp:cNvPr id="0" name=""/>
        <dsp:cNvSpPr/>
      </dsp:nvSpPr>
      <dsp:spPr>
        <a:xfrm>
          <a:off x="105954" y="52"/>
          <a:ext cx="2246932" cy="112346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015" tIns="80010" rIns="120015" bIns="80010" numCol="1" spcCol="1270" anchor="ctr" anchorCtr="0">
          <a:noAutofit/>
        </a:bodyPr>
        <a:lstStyle/>
        <a:p>
          <a:pPr marL="0" lvl="0" indent="0" algn="ctr" defTabSz="2800350">
            <a:lnSpc>
              <a:spcPct val="90000"/>
            </a:lnSpc>
            <a:spcBef>
              <a:spcPct val="0"/>
            </a:spcBef>
            <a:spcAft>
              <a:spcPct val="35000"/>
            </a:spcAft>
            <a:buNone/>
          </a:pPr>
          <a:endParaRPr lang="en-US" sz="6300" kern="1200" dirty="0"/>
        </a:p>
      </dsp:txBody>
      <dsp:txXfrm>
        <a:off x="138859" y="32957"/>
        <a:ext cx="2181122" cy="1057656"/>
      </dsp:txXfrm>
    </dsp:sp>
    <dsp:sp modelId="{444CA16A-9A66-491A-A9A0-6A41FEED242B}">
      <dsp:nvSpPr>
        <dsp:cNvPr id="0" name=""/>
        <dsp:cNvSpPr/>
      </dsp:nvSpPr>
      <dsp:spPr>
        <a:xfrm>
          <a:off x="330648" y="1123518"/>
          <a:ext cx="224693" cy="842599"/>
        </a:xfrm>
        <a:custGeom>
          <a:avLst/>
          <a:gdLst/>
          <a:ahLst/>
          <a:cxnLst/>
          <a:rect l="0" t="0" r="0" b="0"/>
          <a:pathLst>
            <a:path>
              <a:moveTo>
                <a:pt x="0" y="0"/>
              </a:moveTo>
              <a:lnTo>
                <a:pt x="0" y="842599"/>
              </a:lnTo>
              <a:lnTo>
                <a:pt x="224693" y="842599"/>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BB265F2-B8C5-40C4-B176-C4DABD048807}">
      <dsp:nvSpPr>
        <dsp:cNvPr id="0" name=""/>
        <dsp:cNvSpPr/>
      </dsp:nvSpPr>
      <dsp:spPr>
        <a:xfrm>
          <a:off x="555341" y="1404385"/>
          <a:ext cx="3413018" cy="112346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9055" tIns="39370" rIns="59055" bIns="39370" numCol="1" spcCol="1270" anchor="ctr" anchorCtr="0">
          <a:noAutofit/>
        </a:bodyPr>
        <a:lstStyle/>
        <a:p>
          <a:pPr marL="0" lvl="0" indent="0" algn="ctr" defTabSz="1377950">
            <a:lnSpc>
              <a:spcPct val="90000"/>
            </a:lnSpc>
            <a:spcBef>
              <a:spcPct val="0"/>
            </a:spcBef>
            <a:spcAft>
              <a:spcPct val="35000"/>
            </a:spcAft>
            <a:buNone/>
          </a:pPr>
          <a:r>
            <a:rPr lang="en-US" sz="3100" kern="1200" dirty="0"/>
            <a:t>ASM ABDUR ROB-VP</a:t>
          </a:r>
        </a:p>
      </dsp:txBody>
      <dsp:txXfrm>
        <a:off x="588246" y="1437290"/>
        <a:ext cx="3347208" cy="1057656"/>
      </dsp:txXfrm>
    </dsp:sp>
    <dsp:sp modelId="{E499ED88-3555-4F44-90CD-7FF38E81B14F}">
      <dsp:nvSpPr>
        <dsp:cNvPr id="0" name=""/>
        <dsp:cNvSpPr/>
      </dsp:nvSpPr>
      <dsp:spPr>
        <a:xfrm>
          <a:off x="330648" y="1123518"/>
          <a:ext cx="224693" cy="2246932"/>
        </a:xfrm>
        <a:custGeom>
          <a:avLst/>
          <a:gdLst/>
          <a:ahLst/>
          <a:cxnLst/>
          <a:rect l="0" t="0" r="0" b="0"/>
          <a:pathLst>
            <a:path>
              <a:moveTo>
                <a:pt x="0" y="0"/>
              </a:moveTo>
              <a:lnTo>
                <a:pt x="0" y="2246932"/>
              </a:lnTo>
              <a:lnTo>
                <a:pt x="224693" y="2246932"/>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E4CBF33-11E2-4742-8619-295C0B8E3ABF}">
      <dsp:nvSpPr>
        <dsp:cNvPr id="0" name=""/>
        <dsp:cNvSpPr/>
      </dsp:nvSpPr>
      <dsp:spPr>
        <a:xfrm>
          <a:off x="555341" y="2808718"/>
          <a:ext cx="3743084" cy="112346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9055" tIns="39370" rIns="59055" bIns="39370" numCol="1" spcCol="1270" anchor="ctr" anchorCtr="0">
          <a:noAutofit/>
        </a:bodyPr>
        <a:lstStyle/>
        <a:p>
          <a:pPr marL="0" lvl="0" indent="0" algn="ctr" defTabSz="1377950">
            <a:lnSpc>
              <a:spcPct val="90000"/>
            </a:lnSpc>
            <a:spcBef>
              <a:spcPct val="0"/>
            </a:spcBef>
            <a:spcAft>
              <a:spcPct val="35000"/>
            </a:spcAft>
            <a:buNone/>
          </a:pPr>
          <a:r>
            <a:rPr lang="en-US" sz="3100" kern="1200" dirty="0"/>
            <a:t>Abdul </a:t>
          </a:r>
          <a:r>
            <a:rPr lang="en-US" sz="3100" kern="1200" dirty="0" err="1"/>
            <a:t>Kuddus</a:t>
          </a:r>
          <a:r>
            <a:rPr lang="en-US" sz="3100" kern="1200" dirty="0"/>
            <a:t> </a:t>
          </a:r>
          <a:r>
            <a:rPr lang="en-US" sz="3100" kern="1200" dirty="0" err="1"/>
            <a:t>Makhon</a:t>
          </a:r>
          <a:r>
            <a:rPr lang="en-US" sz="3100" kern="1200" dirty="0"/>
            <a:t>-GS</a:t>
          </a:r>
        </a:p>
      </dsp:txBody>
      <dsp:txXfrm>
        <a:off x="588246" y="2841623"/>
        <a:ext cx="3677274" cy="1057656"/>
      </dsp:txXfrm>
    </dsp:sp>
    <dsp:sp modelId="{D81666F0-0A5A-40C3-8C75-10C17EA6CB26}">
      <dsp:nvSpPr>
        <dsp:cNvPr id="0" name=""/>
        <dsp:cNvSpPr/>
      </dsp:nvSpPr>
      <dsp:spPr>
        <a:xfrm>
          <a:off x="4410772" y="52"/>
          <a:ext cx="2246932" cy="112346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395" tIns="74930" rIns="112395" bIns="74930" numCol="1" spcCol="1270" anchor="ctr" anchorCtr="0">
          <a:noAutofit/>
        </a:bodyPr>
        <a:lstStyle/>
        <a:p>
          <a:pPr marL="0" lvl="0" indent="0" algn="ctr" defTabSz="2622550">
            <a:lnSpc>
              <a:spcPct val="90000"/>
            </a:lnSpc>
            <a:spcBef>
              <a:spcPct val="0"/>
            </a:spcBef>
            <a:spcAft>
              <a:spcPct val="35000"/>
            </a:spcAft>
            <a:buNone/>
          </a:pPr>
          <a:endParaRPr lang="en-US" sz="5900" kern="1200"/>
        </a:p>
      </dsp:txBody>
      <dsp:txXfrm>
        <a:off x="4443677" y="32957"/>
        <a:ext cx="2181122" cy="1057656"/>
      </dsp:txXfrm>
    </dsp:sp>
    <dsp:sp modelId="{644705EA-9345-4323-962A-936E812F82B4}">
      <dsp:nvSpPr>
        <dsp:cNvPr id="0" name=""/>
        <dsp:cNvSpPr/>
      </dsp:nvSpPr>
      <dsp:spPr>
        <a:xfrm>
          <a:off x="4635465" y="1123518"/>
          <a:ext cx="224693" cy="842599"/>
        </a:xfrm>
        <a:custGeom>
          <a:avLst/>
          <a:gdLst/>
          <a:ahLst/>
          <a:cxnLst/>
          <a:rect l="0" t="0" r="0" b="0"/>
          <a:pathLst>
            <a:path>
              <a:moveTo>
                <a:pt x="0" y="0"/>
              </a:moveTo>
              <a:lnTo>
                <a:pt x="0" y="842599"/>
              </a:lnTo>
              <a:lnTo>
                <a:pt x="224693" y="842599"/>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B2A2E83-B2D8-46C2-9EFF-F90D04243E84}">
      <dsp:nvSpPr>
        <dsp:cNvPr id="0" name=""/>
        <dsp:cNvSpPr/>
      </dsp:nvSpPr>
      <dsp:spPr>
        <a:xfrm>
          <a:off x="4860158" y="1404385"/>
          <a:ext cx="3902113" cy="112346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9055" tIns="39370" rIns="59055" bIns="39370" numCol="1" spcCol="1270" anchor="ctr" anchorCtr="0">
          <a:noAutofit/>
        </a:bodyPr>
        <a:lstStyle/>
        <a:p>
          <a:pPr marL="0" lvl="0" indent="0" algn="ctr" defTabSz="1377950">
            <a:lnSpc>
              <a:spcPct val="90000"/>
            </a:lnSpc>
            <a:spcBef>
              <a:spcPct val="0"/>
            </a:spcBef>
            <a:spcAft>
              <a:spcPct val="35000"/>
            </a:spcAft>
            <a:buNone/>
          </a:pPr>
          <a:r>
            <a:rPr lang="en-US" sz="3100" kern="1200" dirty="0"/>
            <a:t>NUR-E-ALAM-SIDDIQUI-PRESIDENT</a:t>
          </a:r>
        </a:p>
      </dsp:txBody>
      <dsp:txXfrm>
        <a:off x="4893063" y="1437290"/>
        <a:ext cx="3836303" cy="1057656"/>
      </dsp:txXfrm>
    </dsp:sp>
    <dsp:sp modelId="{75E6D478-77E8-4F61-9C00-FDD78F7A4873}">
      <dsp:nvSpPr>
        <dsp:cNvPr id="0" name=""/>
        <dsp:cNvSpPr/>
      </dsp:nvSpPr>
      <dsp:spPr>
        <a:xfrm>
          <a:off x="4635465" y="1123518"/>
          <a:ext cx="224693" cy="2246932"/>
        </a:xfrm>
        <a:custGeom>
          <a:avLst/>
          <a:gdLst/>
          <a:ahLst/>
          <a:cxnLst/>
          <a:rect l="0" t="0" r="0" b="0"/>
          <a:pathLst>
            <a:path>
              <a:moveTo>
                <a:pt x="0" y="0"/>
              </a:moveTo>
              <a:lnTo>
                <a:pt x="0" y="2246932"/>
              </a:lnTo>
              <a:lnTo>
                <a:pt x="224693" y="2246932"/>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E8E2C5D-73BA-49D1-888E-C27666FCA729}">
      <dsp:nvSpPr>
        <dsp:cNvPr id="0" name=""/>
        <dsp:cNvSpPr/>
      </dsp:nvSpPr>
      <dsp:spPr>
        <a:xfrm>
          <a:off x="4860158" y="2808718"/>
          <a:ext cx="5092286" cy="112346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9055" tIns="39370" rIns="59055" bIns="39370" numCol="1" spcCol="1270" anchor="ctr" anchorCtr="0">
          <a:noAutofit/>
        </a:bodyPr>
        <a:lstStyle/>
        <a:p>
          <a:pPr marL="0" lvl="0" indent="0" algn="ctr" defTabSz="1377950">
            <a:lnSpc>
              <a:spcPct val="90000"/>
            </a:lnSpc>
            <a:spcBef>
              <a:spcPct val="0"/>
            </a:spcBef>
            <a:spcAft>
              <a:spcPct val="35000"/>
            </a:spcAft>
            <a:buNone/>
          </a:pPr>
          <a:r>
            <a:rPr lang="en-US" sz="3100" kern="1200" dirty="0"/>
            <a:t>SHAHJAHAN SIRAJ-GENERAL SECRETARY</a:t>
          </a:r>
        </a:p>
      </dsp:txBody>
      <dsp:txXfrm>
        <a:off x="4893063" y="2841623"/>
        <a:ext cx="5026476" cy="1057656"/>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DDA51639-B2D6-4652-B8C3-1B4C224A7BAF}" type="datetimeFigureOut">
              <a:rPr lang="en-US" dirty="0"/>
              <a:pPr/>
              <a:t>7/6/2025</a:t>
            </a:fld>
            <a:endParaRPr lang="en-US" dirty="0"/>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US" dirty="0"/>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4FAB73BC-B049-4115-A692-8D63A059BFB8}" type="slidenum">
              <a:rPr lang="en-US" dirty="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2FF5DD9-2C52-442D-92E2-8072C0C3D7CD}" type="datetimeFigureOut">
              <a:rPr lang="en-US" dirty="0"/>
              <a:pPr/>
              <a:t>7/6/2025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C44961B7-6B89-48AB-966F-622E2788EECC}" type="datetimeFigureOut">
              <a:rPr lang="en-US" dirty="0"/>
              <a:pPr/>
              <a:t>7/6/2025</a:t>
            </a:fld>
            <a:endParaRPr lang="en-US" dirty="0"/>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US" dirty="0"/>
          </a:p>
        </p:txBody>
      </p:sp>
      <p:sp>
        <p:nvSpPr>
          <p:cNvPr id="6" name="Slide Number Placeholder 5"/>
          <p:cNvSpPr>
            <a:spLocks noGrp="1"/>
          </p:cNvSpPr>
          <p:nvPr>
            <p:ph type="sldNum" sz="quarter" idx="12"/>
          </p:nvPr>
        </p:nvSpPr>
        <p:spPr>
          <a:xfrm>
            <a:off x="8604504" y="5211060"/>
            <a:ext cx="2112264" cy="228600"/>
          </a:xfrm>
        </p:spPr>
        <p:txBody>
          <a:bodyPr/>
          <a:lstStyle/>
          <a:p>
            <a:fld id="{4FAB73BC-B049-4115-A692-8D63A059BFB8}" type="slidenum">
              <a:rPr lang="en-US" dirty="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BD3D6FB-79CC-4683-A046-BBE785BA1BED}" type="datetimeFigureOut">
              <a:rPr lang="en-US" dirty="0"/>
              <a:pPr/>
              <a:t>7/6/2025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512B3E8-48F1-4B23-8498-D8A04A81EC9C}" type="datetimeFigureOut">
              <a:rPr lang="en-US" dirty="0"/>
              <a:pPr/>
              <a:t>7/6/2025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0B90D90-AA62-404D-A741-635B4370F9CB}" type="datetimeFigureOut">
              <a:rPr lang="en-US" dirty="0"/>
              <a:pPr/>
              <a:t>7/6/2025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7002E4-6836-46D1-9DBB-3C27C0DD3A89}" type="datetimeFigureOut">
              <a:rPr lang="en-US" dirty="0"/>
              <a:pPr/>
              <a:t>7/6/2025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1CF131DD-A141-4471-BCF9-C6073EDD7E20}" type="datetimeFigureOut">
              <a:rPr lang="en-US" dirty="0"/>
              <a:pPr/>
              <a:t>7/6/2025</a:t>
            </a:fld>
            <a:endParaRPr lang="en-US" dirty="0"/>
          </a:p>
        </p:txBody>
      </p:sp>
      <p:sp>
        <p:nvSpPr>
          <p:cNvPr id="9" name="Footer Placeholder 8"/>
          <p:cNvSpPr>
            <a:spLocks noGrp="1"/>
          </p:cNvSpPr>
          <p:nvPr>
            <p:ph type="ftr" sz="quarter" idx="11"/>
          </p:nvPr>
        </p:nvSpPr>
        <p:spPr/>
        <p:txBody>
          <a:bodyPr/>
          <a:lstStyle>
            <a:lvl1pPr algn="r">
              <a:defRPr/>
            </a:lvl1pPr>
          </a:lstStyle>
          <a:p>
            <a:endParaRPr lang="en-US" dirty="0"/>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4FAB73BC-B049-4115-A692-8D63A059BFB8}" type="slidenum">
              <a:rPr lang="en-US" dirty="0"/>
              <a:pPr/>
              <a:t>‹#›</a:t>
            </a:fld>
            <a:endParaRPr lang="en-US" dirty="0"/>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AB334A90-EB03-42F3-8859-2C2B2724C058}" type="datetimeFigureOut">
              <a:rPr lang="en-US" dirty="0"/>
              <a:pPr/>
              <a:t>7/6/2025</a:t>
            </a:fld>
            <a:endParaRPr lang="en-US" dirty="0"/>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US" dirty="0"/>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4FAB73BC-B049-4115-A692-8D63A059BFB8}" type="slidenum">
              <a:rPr lang="en-US" dirty="0"/>
              <a:pPr/>
              <a:t>‹#›</a:t>
            </a:fld>
            <a:endParaRPr lang="en-US" dirty="0"/>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11A6AA8-A04B-4104-9AE2-BD48D340E27F}" type="datetimeFigureOut">
              <a:rPr lang="en-US" dirty="0"/>
              <a:pPr/>
              <a:t>7/6/2025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4E0BF79-FAC6-4A96-8DE1-F7B82E2E1652}" type="datetimeFigureOut">
              <a:rPr lang="en-US" dirty="0"/>
              <a:pPr/>
              <a:t>7/6/2025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CBC48EC7-AF6A-48D3-8284-14BACBEBDD84}" type="datetimeFigureOut">
              <a:rPr lang="en-US" dirty="0"/>
              <a:pPr/>
              <a:t>7/6/2025</a:t>
            </a:fld>
            <a:endParaRPr lang="en-US" dirty="0"/>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sldNum="0" hdr="0" ftr="0" dt="0"/>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Layout" Target="../diagrams/layout1.xml"/><Relationship Id="rId7" Type="http://schemas.openxmlformats.org/officeDocument/2006/relationships/image" Target="../media/image4.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video" Target="file:///C:\Users\user\Downloads\Bangabandhu%20Sheikh%20Mujibur%20Rahman's%20historic%207th%20March%20speech%20%20coloured%20version%20HD.mp4"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5.xml"/><Relationship Id="rId4" Type="http://schemas.openxmlformats.org/officeDocument/2006/relationships/image" Target="../media/image11.gif"/></Relationships>
</file>

<file path=ppt/slides/_rels/slide1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Liberation war of bangladesh</a:t>
            </a:r>
            <a:endParaRPr lang="en-US" dirty="0"/>
          </a:p>
        </p:txBody>
      </p:sp>
      <p:sp>
        <p:nvSpPr>
          <p:cNvPr id="3" name="Subtitle 2"/>
          <p:cNvSpPr>
            <a:spLocks noGrp="1"/>
          </p:cNvSpPr>
          <p:nvPr>
            <p:ph type="subTitle" idx="1"/>
          </p:nvPr>
        </p:nvSpPr>
        <p:spPr>
          <a:xfrm>
            <a:off x="1463040" y="4441371"/>
            <a:ext cx="9169908" cy="940525"/>
          </a:xfrm>
        </p:spPr>
        <p:txBody>
          <a:bodyPr>
            <a:normAutofit/>
          </a:bodyPr>
          <a:lstStyle/>
          <a:p>
            <a:r>
              <a:rPr lang="en-US" dirty="0"/>
              <a:t>Non-cooperation Movement-Quest for Constitutional Solution-Genocide of March-The Beginning of the Liberation War </a:t>
            </a:r>
          </a:p>
        </p:txBody>
      </p:sp>
    </p:spTree>
    <p:extLst>
      <p:ext uri="{BB962C8B-B14F-4D97-AF65-F5344CB8AC3E}">
        <p14:creationId xmlns:p14="http://schemas.microsoft.com/office/powerpoint/2010/main" val="16271976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Topographical Situation</a:t>
            </a:r>
            <a:endParaRPr lang="en-US" dirty="0"/>
          </a:p>
        </p:txBody>
      </p:sp>
      <p:sp>
        <p:nvSpPr>
          <p:cNvPr id="3" name="Content Placeholder 2"/>
          <p:cNvSpPr>
            <a:spLocks noGrp="1"/>
          </p:cNvSpPr>
          <p:nvPr>
            <p:ph idx="1"/>
          </p:nvPr>
        </p:nvSpPr>
        <p:spPr>
          <a:xfrm>
            <a:off x="1066800" y="2103120"/>
            <a:ext cx="10058400" cy="3526971"/>
          </a:xfrm>
        </p:spPr>
        <p:txBody>
          <a:bodyPr/>
          <a:lstStyle/>
          <a:p>
            <a:r>
              <a:rPr lang="en-US" dirty="0"/>
              <a:t>Separated by 1600 km and India was surrounded by 3 sides</a:t>
            </a:r>
          </a:p>
          <a:p>
            <a:r>
              <a:rPr lang="en-US" dirty="0"/>
              <a:t>Bay of Bengal was in South</a:t>
            </a:r>
          </a:p>
          <a:p>
            <a:r>
              <a:rPr lang="en-US" dirty="0"/>
              <a:t>The West is alluvial soil divided by four natural zones-</a:t>
            </a:r>
            <a:r>
              <a:rPr lang="en-US" dirty="0" err="1"/>
              <a:t>Padma</a:t>
            </a:r>
            <a:r>
              <a:rPr lang="en-US" dirty="0"/>
              <a:t>, </a:t>
            </a:r>
            <a:r>
              <a:rPr lang="en-US" dirty="0" err="1"/>
              <a:t>Meghna</a:t>
            </a:r>
            <a:r>
              <a:rPr lang="en-US" dirty="0"/>
              <a:t>, </a:t>
            </a:r>
            <a:r>
              <a:rPr lang="en-US" dirty="0" err="1"/>
              <a:t>Jamuna</a:t>
            </a:r>
            <a:r>
              <a:rPr lang="en-US" dirty="0"/>
              <a:t> and Brahmaputra</a:t>
            </a:r>
          </a:p>
          <a:p>
            <a:r>
              <a:rPr lang="en-US" dirty="0"/>
              <a:t>There are hundreds of Water ways and marshy land</a:t>
            </a:r>
          </a:p>
          <a:p>
            <a:r>
              <a:rPr lang="en-US" dirty="0"/>
              <a:t>There are two formidable forests-</a:t>
            </a:r>
            <a:r>
              <a:rPr lang="en-US" dirty="0" err="1"/>
              <a:t>Sunderban</a:t>
            </a:r>
            <a:r>
              <a:rPr lang="en-US" dirty="0"/>
              <a:t> and </a:t>
            </a:r>
            <a:r>
              <a:rPr lang="en-US" dirty="0" err="1"/>
              <a:t>Modhupur</a:t>
            </a:r>
            <a:r>
              <a:rPr lang="en-US" dirty="0"/>
              <a:t> in the North of </a:t>
            </a:r>
            <a:r>
              <a:rPr lang="en-US" dirty="0" err="1"/>
              <a:t>Tangail</a:t>
            </a:r>
            <a:endParaRPr lang="en-US" dirty="0"/>
          </a:p>
          <a:p>
            <a:endParaRPr lang="en-US" dirty="0"/>
          </a:p>
          <a:p>
            <a:r>
              <a:rPr lang="en-US" dirty="0"/>
              <a:t>Almost every year flood inundates vast areas, disrupting all means of communication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8" name="Content Placeholder 7" descr="main-qimg-b97d670001d758d6376a5596f60667d4 (2).png"/>
          <p:cNvPicPr>
            <a:picLocks noGrp="1" noChangeAspect="1"/>
          </p:cNvPicPr>
          <p:nvPr>
            <p:ph idx="1"/>
          </p:nvPr>
        </p:nvPicPr>
        <p:blipFill>
          <a:blip r:embed="rId2"/>
          <a:stretch>
            <a:fillRect/>
          </a:stretch>
        </p:blipFill>
        <p:spPr>
          <a:xfrm>
            <a:off x="483327" y="1724297"/>
            <a:ext cx="10946674" cy="398417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Non-cooperation Movement</a:t>
            </a:r>
            <a:endParaRPr lang="en-US" dirty="0"/>
          </a:p>
        </p:txBody>
      </p:sp>
      <p:sp>
        <p:nvSpPr>
          <p:cNvPr id="3" name="Content Placeholder 2"/>
          <p:cNvSpPr>
            <a:spLocks noGrp="1"/>
          </p:cNvSpPr>
          <p:nvPr>
            <p:ph idx="1"/>
          </p:nvPr>
        </p:nvSpPr>
        <p:spPr/>
        <p:txBody>
          <a:bodyPr/>
          <a:lstStyle/>
          <a:p>
            <a:pPr>
              <a:buNone/>
            </a:pPr>
            <a:r>
              <a:rPr lang="en-US" dirty="0"/>
              <a:t>1. The Election of 1970 and the Unwillingness of the Government-</a:t>
            </a:r>
          </a:p>
          <a:p>
            <a:pPr>
              <a:buFont typeface="Arial" pitchFamily="34" charset="0"/>
              <a:buChar char="•"/>
            </a:pPr>
            <a:r>
              <a:rPr lang="en-US" dirty="0"/>
              <a:t>The majority of AL in national assembly , 169 out of 313</a:t>
            </a:r>
          </a:p>
          <a:p>
            <a:pPr>
              <a:buFont typeface="Arial" pitchFamily="34" charset="0"/>
              <a:buChar char="•"/>
            </a:pPr>
            <a:r>
              <a:rPr lang="en-US" dirty="0"/>
              <a:t>PPP became the major party in West Pakistan having 88 of 138 seats</a:t>
            </a:r>
          </a:p>
          <a:p>
            <a:pPr>
              <a:buFont typeface="Arial" pitchFamily="34" charset="0"/>
              <a:buChar char="•"/>
            </a:pPr>
            <a:r>
              <a:rPr lang="en-US" dirty="0"/>
              <a:t> In East Pakistan provincial assembly AL got 298 out of 310 seats</a:t>
            </a:r>
          </a:p>
          <a:p>
            <a:pPr>
              <a:buFont typeface="Arial" pitchFamily="34" charset="0"/>
              <a:buChar char="•"/>
            </a:pPr>
            <a:r>
              <a:rPr lang="en-US" dirty="0"/>
              <a:t>West Pakistani elites got afraid and started to procrastinate to transfer the power</a:t>
            </a:r>
          </a:p>
          <a:p>
            <a:pPr>
              <a:buNone/>
            </a:pPr>
            <a:r>
              <a:rPr lang="en-US" dirty="0"/>
              <a:t>2. The Action of the Students and Mass People-</a:t>
            </a:r>
          </a:p>
          <a:p>
            <a:r>
              <a:rPr lang="en-US" dirty="0"/>
              <a:t>1</a:t>
            </a:r>
            <a:r>
              <a:rPr lang="en-US" baseline="30000" dirty="0"/>
              <a:t>st</a:t>
            </a:r>
            <a:r>
              <a:rPr lang="en-US" dirty="0"/>
              <a:t> March- The session of National Assembly was adjourned for an indefinite time as a result all walks of people reacted severely, Pak army were attacked in several areas by the Mob. Many People died and wounded in these clashes</a:t>
            </a:r>
          </a:p>
          <a:p>
            <a:r>
              <a:rPr lang="en-US" dirty="0"/>
              <a:t>3</a:t>
            </a:r>
            <a:r>
              <a:rPr lang="en-US" baseline="30000" dirty="0"/>
              <a:t>rd</a:t>
            </a:r>
            <a:r>
              <a:rPr lang="en-US" dirty="0"/>
              <a:t> March- ‘</a:t>
            </a:r>
            <a:r>
              <a:rPr lang="en-US" dirty="0" err="1"/>
              <a:t>Swadin</a:t>
            </a:r>
            <a:r>
              <a:rPr lang="en-US" dirty="0"/>
              <a:t> </a:t>
            </a:r>
            <a:r>
              <a:rPr lang="en-US" dirty="0" err="1"/>
              <a:t>Bangla</a:t>
            </a:r>
            <a:r>
              <a:rPr lang="en-US" dirty="0"/>
              <a:t> </a:t>
            </a:r>
            <a:r>
              <a:rPr lang="en-US" dirty="0" err="1"/>
              <a:t>Chattra</a:t>
            </a:r>
            <a:r>
              <a:rPr lang="en-US" dirty="0"/>
              <a:t> </a:t>
            </a:r>
            <a:r>
              <a:rPr lang="en-US" dirty="0" err="1"/>
              <a:t>Sangram</a:t>
            </a:r>
            <a:r>
              <a:rPr lang="en-US" dirty="0"/>
              <a:t> </a:t>
            </a:r>
            <a:r>
              <a:rPr lang="en-US" dirty="0" err="1"/>
              <a:t>Parishad</a:t>
            </a:r>
            <a:r>
              <a:rPr lang="en-US" dirty="0"/>
              <a:t>’ was formed having representation from both DUCSU and </a:t>
            </a:r>
            <a:r>
              <a:rPr lang="en-US" dirty="0" err="1"/>
              <a:t>Chattra</a:t>
            </a:r>
            <a:r>
              <a:rPr lang="en-US" dirty="0"/>
              <a:t> League.</a:t>
            </a:r>
          </a:p>
          <a:p>
            <a:pPr>
              <a:buFont typeface="Wingdings" pitchFamily="2" charset="2"/>
              <a:buChar char="§"/>
            </a:pPr>
            <a:endParaRPr lang="en-US" dirty="0"/>
          </a:p>
          <a:p>
            <a:pPr>
              <a:buNone/>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nvPr>
        </p:nvGraphicFramePr>
        <p:xfrm>
          <a:off x="1066800" y="2103438"/>
          <a:ext cx="10058400" cy="39322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descr="download.png"/>
          <p:cNvPicPr>
            <a:picLocks noChangeAspect="1"/>
          </p:cNvPicPr>
          <p:nvPr/>
        </p:nvPicPr>
        <p:blipFill>
          <a:blip r:embed="rId7"/>
          <a:stretch>
            <a:fillRect/>
          </a:stretch>
        </p:blipFill>
        <p:spPr>
          <a:xfrm>
            <a:off x="2150608" y="2148431"/>
            <a:ext cx="2042569" cy="986655"/>
          </a:xfrm>
          <a:prstGeom prst="rect">
            <a:avLst/>
          </a:prstGeom>
        </p:spPr>
      </p:pic>
      <p:pic>
        <p:nvPicPr>
          <p:cNvPr id="6" name="Picture 5" descr="download (1).png"/>
          <p:cNvPicPr>
            <a:picLocks noChangeAspect="1"/>
          </p:cNvPicPr>
          <p:nvPr/>
        </p:nvPicPr>
        <p:blipFill>
          <a:blip r:embed="rId8"/>
          <a:stretch>
            <a:fillRect/>
          </a:stretch>
        </p:blipFill>
        <p:spPr>
          <a:xfrm>
            <a:off x="6222682" y="2220685"/>
            <a:ext cx="2124075" cy="96665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3</a:t>
            </a:r>
            <a:r>
              <a:rPr lang="en-US" baseline="30000" dirty="0"/>
              <a:t>rd</a:t>
            </a:r>
            <a:r>
              <a:rPr lang="en-US" dirty="0"/>
              <a:t> March- This organization called country wide </a:t>
            </a:r>
            <a:r>
              <a:rPr lang="en-US" dirty="0" err="1"/>
              <a:t>hartal</a:t>
            </a:r>
            <a:r>
              <a:rPr lang="en-US" dirty="0"/>
              <a:t> and in the same day the flag of Bangladesh was hoisted for the first time in Arts Building premises. In a student meeting at </a:t>
            </a:r>
            <a:r>
              <a:rPr lang="en-US" dirty="0" err="1"/>
              <a:t>Paltan</a:t>
            </a:r>
            <a:r>
              <a:rPr lang="en-US" dirty="0"/>
              <a:t> </a:t>
            </a:r>
            <a:r>
              <a:rPr lang="en-US" dirty="0" err="1"/>
              <a:t>maidan</a:t>
            </a:r>
            <a:r>
              <a:rPr lang="en-US" dirty="0"/>
              <a:t> where </a:t>
            </a:r>
            <a:r>
              <a:rPr lang="en-US" dirty="0" err="1"/>
              <a:t>Bangabandhu</a:t>
            </a:r>
            <a:r>
              <a:rPr lang="en-US" dirty="0"/>
              <a:t> was the chief guest urged people to extend their support for the success of </a:t>
            </a:r>
            <a:r>
              <a:rPr lang="en-US" dirty="0" err="1"/>
              <a:t>hartal</a:t>
            </a:r>
            <a:r>
              <a:rPr lang="en-US" dirty="0"/>
              <a:t> from 4</a:t>
            </a:r>
            <a:r>
              <a:rPr lang="en-US" baseline="30000" dirty="0"/>
              <a:t>th</a:t>
            </a:r>
            <a:r>
              <a:rPr lang="en-US" dirty="0"/>
              <a:t> to 6</a:t>
            </a:r>
            <a:r>
              <a:rPr lang="en-US" baseline="30000" dirty="0"/>
              <a:t>th</a:t>
            </a:r>
            <a:r>
              <a:rPr lang="en-US" dirty="0"/>
              <a:t> march.</a:t>
            </a:r>
          </a:p>
          <a:p>
            <a:r>
              <a:rPr lang="en-US" dirty="0"/>
              <a:t>4</a:t>
            </a:r>
            <a:r>
              <a:rPr lang="en-US" baseline="30000" dirty="0"/>
              <a:t>th</a:t>
            </a:r>
            <a:r>
              <a:rPr lang="en-US" dirty="0"/>
              <a:t> March to 6</a:t>
            </a:r>
            <a:r>
              <a:rPr lang="en-US" baseline="30000" dirty="0"/>
              <a:t>th</a:t>
            </a:r>
            <a:r>
              <a:rPr lang="en-US" dirty="0"/>
              <a:t> March- All walks of people showed an impressive support for the </a:t>
            </a:r>
            <a:r>
              <a:rPr lang="en-US" dirty="0" err="1"/>
              <a:t>hartal</a:t>
            </a:r>
            <a:r>
              <a:rPr lang="en-US" dirty="0"/>
              <a:t>. Programs were boycotted by the artists of </a:t>
            </a:r>
            <a:r>
              <a:rPr lang="en-US" dirty="0" err="1"/>
              <a:t>Betar</a:t>
            </a:r>
            <a:r>
              <a:rPr lang="en-US" dirty="0"/>
              <a:t> and TV. Students-Teachers –Lawyers were also expressed their solidarity with the non-cooperation movement . The movement got a momentum and </a:t>
            </a:r>
            <a:r>
              <a:rPr lang="en-US" dirty="0" err="1"/>
              <a:t>Yahyah</a:t>
            </a:r>
            <a:r>
              <a:rPr lang="en-US" dirty="0"/>
              <a:t> Khan became very frightened.  </a:t>
            </a:r>
          </a:p>
          <a:p>
            <a:r>
              <a:rPr lang="en-US" dirty="0"/>
              <a:t>6</a:t>
            </a:r>
            <a:r>
              <a:rPr lang="en-US" baseline="30000" dirty="0"/>
              <a:t>th</a:t>
            </a:r>
            <a:r>
              <a:rPr lang="en-US" dirty="0"/>
              <a:t> March- As a result in a </a:t>
            </a:r>
            <a:r>
              <a:rPr lang="en-US" dirty="0" err="1"/>
              <a:t>Betar</a:t>
            </a:r>
            <a:r>
              <a:rPr lang="en-US" dirty="0"/>
              <a:t> speech </a:t>
            </a:r>
            <a:r>
              <a:rPr lang="en-US" dirty="0" err="1"/>
              <a:t>Yahyah</a:t>
            </a:r>
            <a:r>
              <a:rPr lang="en-US" dirty="0"/>
              <a:t> khan called for the session of National Assembly on 25</a:t>
            </a:r>
            <a:r>
              <a:rPr lang="en-US" baseline="30000" dirty="0"/>
              <a:t>th</a:t>
            </a:r>
            <a:r>
              <a:rPr lang="en-US" dirty="0"/>
              <a:t> March but the ruffled people along with sheikh </a:t>
            </a:r>
            <a:r>
              <a:rPr lang="en-US" dirty="0" err="1"/>
              <a:t>Mujibur</a:t>
            </a:r>
            <a:r>
              <a:rPr lang="en-US" dirty="0"/>
              <a:t> </a:t>
            </a:r>
            <a:r>
              <a:rPr lang="en-US" dirty="0" err="1"/>
              <a:t>Rahman</a:t>
            </a:r>
            <a:r>
              <a:rPr lang="en-US" dirty="0"/>
              <a:t> didn’t trust him anymore. </a:t>
            </a:r>
          </a:p>
          <a:p>
            <a:r>
              <a:rPr lang="en-US" dirty="0"/>
              <a:t>7</a:t>
            </a:r>
            <a:r>
              <a:rPr lang="en-US" baseline="30000" dirty="0"/>
              <a:t>th</a:t>
            </a:r>
            <a:r>
              <a:rPr lang="en-US" dirty="0"/>
              <a:t> March- </a:t>
            </a:r>
            <a:r>
              <a:rPr lang="en-US" dirty="0" err="1"/>
              <a:t>Awami</a:t>
            </a:r>
            <a:r>
              <a:rPr lang="en-US" dirty="0"/>
              <a:t> League called for a public gatherings in </a:t>
            </a:r>
            <a:r>
              <a:rPr lang="en-US" dirty="0" err="1"/>
              <a:t>Suhrawardy</a:t>
            </a:r>
            <a:r>
              <a:rPr lang="en-US" dirty="0"/>
              <a:t> </a:t>
            </a:r>
            <a:r>
              <a:rPr lang="en-US" dirty="0" err="1"/>
              <a:t>Uddayan</a:t>
            </a:r>
            <a:r>
              <a:rPr lang="en-US" dirty="0"/>
              <a:t> .</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 for Constitutional Solution</a:t>
            </a:r>
            <a:endParaRPr lang="en-US" dirty="0"/>
          </a:p>
        </p:txBody>
      </p:sp>
      <p:sp>
        <p:nvSpPr>
          <p:cNvPr id="3" name="Content Placeholder 2"/>
          <p:cNvSpPr>
            <a:spLocks noGrp="1"/>
          </p:cNvSpPr>
          <p:nvPr>
            <p:ph idx="1"/>
          </p:nvPr>
        </p:nvSpPr>
        <p:spPr/>
        <p:txBody>
          <a:bodyPr/>
          <a:lstStyle/>
          <a:p>
            <a:pPr marL="342900" indent="-342900">
              <a:buAutoNum type="arabicPeriod" startAt="3"/>
            </a:pPr>
            <a:r>
              <a:rPr lang="en-US" dirty="0"/>
              <a:t>The Historic 7</a:t>
            </a:r>
            <a:r>
              <a:rPr lang="en-US" baseline="30000" dirty="0"/>
              <a:t>th</a:t>
            </a:r>
            <a:r>
              <a:rPr lang="en-US" dirty="0"/>
              <a:t> March speech and Its Importance-</a:t>
            </a:r>
          </a:p>
          <a:p>
            <a:pPr marL="342900" indent="-342900">
              <a:buFont typeface="Courier New" pitchFamily="49" charset="0"/>
              <a:buChar char="o"/>
            </a:pPr>
            <a:r>
              <a:rPr lang="en-US" dirty="0"/>
              <a:t>On 7</a:t>
            </a:r>
            <a:r>
              <a:rPr lang="en-US" baseline="30000" dirty="0"/>
              <a:t>th</a:t>
            </a:r>
            <a:r>
              <a:rPr lang="en-US" dirty="0"/>
              <a:t> march  at a huge public gathering of more than a million people at the </a:t>
            </a:r>
            <a:r>
              <a:rPr lang="en-US" dirty="0" err="1"/>
              <a:t>ramna</a:t>
            </a:r>
            <a:r>
              <a:rPr lang="en-US" dirty="0"/>
              <a:t> race course in Dhaka. Sheikh </a:t>
            </a:r>
            <a:r>
              <a:rPr lang="en-US" dirty="0" err="1"/>
              <a:t>Mujib</a:t>
            </a:r>
            <a:r>
              <a:rPr lang="en-US" dirty="0"/>
              <a:t> announced four pre-conditions for attending the session of National Assembly- </a:t>
            </a:r>
          </a:p>
          <a:p>
            <a:pPr marL="400050" indent="-400050">
              <a:buAutoNum type="romanLcParenR"/>
            </a:pPr>
            <a:r>
              <a:rPr lang="en-US" dirty="0"/>
              <a:t>Immediate transfer of power to the elected representatives of the people, before the assembly met on 25</a:t>
            </a:r>
            <a:r>
              <a:rPr lang="en-US" baseline="30000" dirty="0"/>
              <a:t>th</a:t>
            </a:r>
            <a:r>
              <a:rPr lang="en-US" dirty="0"/>
              <a:t> march, 1971</a:t>
            </a:r>
          </a:p>
          <a:p>
            <a:pPr marL="400050" indent="-400050">
              <a:buAutoNum type="romanLcParenR"/>
            </a:pPr>
            <a:r>
              <a:rPr lang="en-US" dirty="0"/>
              <a:t>Withdrawal of Martial Law</a:t>
            </a:r>
          </a:p>
          <a:p>
            <a:pPr marL="400050" indent="-400050">
              <a:buAutoNum type="romanLcParenR"/>
            </a:pPr>
            <a:r>
              <a:rPr lang="en-US" dirty="0"/>
              <a:t>Enquiry into the recent shootings upon the Bengalis</a:t>
            </a:r>
          </a:p>
          <a:p>
            <a:pPr marL="400050" indent="-400050">
              <a:buAutoNum type="romanLcParenR"/>
            </a:pPr>
            <a:r>
              <a:rPr lang="en-US" dirty="0"/>
              <a:t>Immediate return of the troops to the barracks</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642594"/>
            <a:ext cx="10058400" cy="585315"/>
          </a:xfrm>
        </p:spPr>
        <p:txBody>
          <a:bodyPr>
            <a:normAutofit fontScale="90000"/>
          </a:bodyPr>
          <a:lstStyle/>
          <a:p>
            <a:endParaRPr lang="en-US" dirty="0"/>
          </a:p>
        </p:txBody>
      </p:sp>
      <p:sp>
        <p:nvSpPr>
          <p:cNvPr id="3" name="Content Placeholder 2"/>
          <p:cNvSpPr>
            <a:spLocks noGrp="1"/>
          </p:cNvSpPr>
          <p:nvPr>
            <p:ph idx="1"/>
          </p:nvPr>
        </p:nvSpPr>
        <p:spPr>
          <a:xfrm>
            <a:off x="1066800" y="431075"/>
            <a:ext cx="10058400" cy="6139542"/>
          </a:xfrm>
        </p:spPr>
        <p:txBody>
          <a:bodyPr>
            <a:normAutofit fontScale="92500" lnSpcReduction="20000"/>
          </a:bodyPr>
          <a:lstStyle/>
          <a:p>
            <a:r>
              <a:rPr lang="en-US" dirty="0"/>
              <a:t>Besides the above demands, some others declarations were also announced. Sine die closure of educational institutions and offices and </a:t>
            </a:r>
            <a:r>
              <a:rPr lang="en-US" dirty="0" err="1"/>
              <a:t>adalats</a:t>
            </a:r>
            <a:r>
              <a:rPr lang="en-US" dirty="0"/>
              <a:t>.</a:t>
            </a:r>
          </a:p>
          <a:p>
            <a:r>
              <a:rPr lang="en-US" dirty="0"/>
              <a:t>He also gave several directives for a civil disobedience movement, instructing that:</a:t>
            </a:r>
          </a:p>
          <a:p>
            <a:pPr>
              <a:buNone/>
            </a:pPr>
            <a:r>
              <a:rPr lang="en-US" dirty="0"/>
              <a:t>1. People should not pay taxes;</a:t>
            </a:r>
          </a:p>
          <a:p>
            <a:pPr>
              <a:buNone/>
            </a:pPr>
            <a:r>
              <a:rPr lang="en-US" dirty="0"/>
              <a:t>2. Government servants should take orders only from him;</a:t>
            </a:r>
          </a:p>
          <a:p>
            <a:pPr>
              <a:buNone/>
            </a:pPr>
            <a:r>
              <a:rPr lang="en-US" dirty="0"/>
              <a:t>3. The secretariat, government and semi-government offices, and courts in East Pakistan    should observe strikes, with necessary exemptions announced from time to time;</a:t>
            </a:r>
          </a:p>
          <a:p>
            <a:pPr>
              <a:buNone/>
            </a:pPr>
            <a:r>
              <a:rPr lang="en-US" dirty="0"/>
              <a:t>3. Only local and inter-district telephone lines should function;</a:t>
            </a:r>
          </a:p>
          <a:p>
            <a:pPr>
              <a:buNone/>
            </a:pPr>
            <a:r>
              <a:rPr lang="en-US" dirty="0"/>
              <a:t>4. Railways and ports could continue to function, but their workers should not co-operate if they were used to repress the people of East Pakistan.</a:t>
            </a:r>
          </a:p>
          <a:p>
            <a:endParaRPr lang="en-US" dirty="0"/>
          </a:p>
          <a:p>
            <a:r>
              <a:rPr lang="en-US" dirty="0"/>
              <a:t>Pak authority was taken the gathering very seriously and prepared to attack if any declaration from BB in regards to independence, So in an indirect way </a:t>
            </a:r>
            <a:r>
              <a:rPr lang="en-US" dirty="0" err="1"/>
              <a:t>Bangabandhu</a:t>
            </a:r>
            <a:r>
              <a:rPr lang="en-US" dirty="0"/>
              <a:t> declared the independence indirectly .</a:t>
            </a:r>
          </a:p>
          <a:p>
            <a:r>
              <a:rPr lang="en-US" dirty="0"/>
              <a:t>The speech lasted about 19 minutes and concluded with, "Our struggle, this time, is a struggle for our freedom. Our struggle, this time, is a struggle for our independence. Joy </a:t>
            </a:r>
            <a:r>
              <a:rPr lang="en-US" dirty="0" err="1"/>
              <a:t>Bangla</a:t>
            </a:r>
            <a:r>
              <a:rPr lang="en-US" dirty="0"/>
              <a:t>!“</a:t>
            </a:r>
            <a:r>
              <a:rPr lang="en-US" baseline="30000" dirty="0"/>
              <a:t> </a:t>
            </a:r>
            <a:r>
              <a:rPr lang="en-US" dirty="0"/>
              <a:t>It was a </a:t>
            </a:r>
            <a:r>
              <a:rPr lang="en-US" i="1" dirty="0"/>
              <a:t>de facto</a:t>
            </a:r>
            <a:r>
              <a:rPr lang="en-US" dirty="0"/>
              <a:t> declaration of Bangladesh's independence.</a:t>
            </a:r>
          </a:p>
          <a:p>
            <a:r>
              <a:rPr lang="en-US" dirty="0"/>
              <a:t>International media had descended upon East Pakistan for the speech amidst speculation that Sheikh </a:t>
            </a:r>
            <a:r>
              <a:rPr lang="en-US" dirty="0" err="1"/>
              <a:t>Mujib</a:t>
            </a:r>
            <a:r>
              <a:rPr lang="en-US" dirty="0"/>
              <a:t> would make a unilateral declaration of independence from Pakistan. However, keeping in mind the failures of Rhodesia's Unilateral Declaration of Independence and of the Biafra struggle in Nigeria, he did not make a direct declaration. Nevertheless, the speech was effective in giving Bengalis a clear goal of independence.</a:t>
            </a:r>
          </a:p>
          <a:p>
            <a:endParaRPr lang="en-US" dirty="0"/>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7</a:t>
            </a:r>
            <a:r>
              <a:rPr lang="en-US" baseline="30000" dirty="0"/>
              <a:t>th</a:t>
            </a:r>
            <a:r>
              <a:rPr lang="en-US" dirty="0"/>
              <a:t> March-Training was started in Dhaka City and </a:t>
            </a:r>
            <a:r>
              <a:rPr lang="en-US" dirty="0" err="1"/>
              <a:t>Tikka</a:t>
            </a:r>
            <a:r>
              <a:rPr lang="en-US" dirty="0"/>
              <a:t> was appointed as the governor of East Pakistan</a:t>
            </a:r>
          </a:p>
          <a:p>
            <a:r>
              <a:rPr lang="en-US" dirty="0"/>
              <a:t>8</a:t>
            </a:r>
            <a:r>
              <a:rPr lang="en-US" baseline="30000" dirty="0"/>
              <a:t>th</a:t>
            </a:r>
            <a:r>
              <a:rPr lang="en-US" dirty="0"/>
              <a:t> March- Training was started in all over the country ( by EOTC Cadets) and continued </a:t>
            </a:r>
            <a:r>
              <a:rPr lang="en-US" dirty="0" err="1"/>
              <a:t>upto</a:t>
            </a:r>
            <a:r>
              <a:rPr lang="en-US" dirty="0"/>
              <a:t> 25</a:t>
            </a:r>
            <a:r>
              <a:rPr lang="en-US" baseline="30000" dirty="0"/>
              <a:t>th</a:t>
            </a:r>
            <a:r>
              <a:rPr lang="en-US" dirty="0"/>
              <a:t> March.</a:t>
            </a:r>
          </a:p>
          <a:p>
            <a:r>
              <a:rPr lang="en-US" dirty="0"/>
              <a:t>Many committees were formed  in District, Sub-</a:t>
            </a:r>
            <a:r>
              <a:rPr lang="en-US" dirty="0" err="1"/>
              <a:t>Disdrict</a:t>
            </a:r>
            <a:r>
              <a:rPr lang="en-US" dirty="0"/>
              <a:t>, Thana and Even to the union level.</a:t>
            </a:r>
          </a:p>
          <a:p>
            <a:endParaRPr lang="en-US" dirty="0"/>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400"/>
              <a:t>THE EXPANSION OF NON-COOPERATION MOVEMENT</a:t>
            </a:r>
            <a:endParaRPr lang="en-US" sz="2400" dirty="0"/>
          </a:p>
        </p:txBody>
      </p:sp>
      <p:pic>
        <p:nvPicPr>
          <p:cNvPr id="5" name="Picture Placeholder 4" descr="download.jpg"/>
          <p:cNvPicPr>
            <a:picLocks noGrp="1" noChangeAspect="1"/>
          </p:cNvPicPr>
          <p:nvPr>
            <p:ph type="pic" idx="1"/>
          </p:nvPr>
        </p:nvPicPr>
        <p:blipFill>
          <a:blip r:embed="rId2"/>
          <a:srcRect t="20844" b="20844"/>
          <a:stretch>
            <a:fillRect/>
          </a:stretch>
        </p:blipFill>
        <p:spPr>
          <a:xfrm>
            <a:off x="228599" y="274320"/>
            <a:ext cx="8531352" cy="6345936"/>
          </a:xfrm>
        </p:spPr>
      </p:pic>
      <p:sp>
        <p:nvSpPr>
          <p:cNvPr id="4" name="Text Placeholder 3"/>
          <p:cNvSpPr>
            <a:spLocks noGrp="1"/>
          </p:cNvSpPr>
          <p:nvPr>
            <p:ph type="body" sz="half" idx="2"/>
          </p:nvPr>
        </p:nvSpPr>
        <p:spPr>
          <a:xfrm>
            <a:off x="9296400" y="2285999"/>
            <a:ext cx="2432304" cy="4101737"/>
          </a:xfrm>
        </p:spPr>
        <p:txBody>
          <a:bodyPr>
            <a:normAutofit/>
          </a:bodyPr>
          <a:lstStyle/>
          <a:p>
            <a:r>
              <a:rPr lang="en-US" dirty="0"/>
              <a:t>7</a:t>
            </a:r>
            <a:r>
              <a:rPr lang="en-US" baseline="30000" dirty="0"/>
              <a:t>th</a:t>
            </a:r>
            <a:r>
              <a:rPr lang="en-US" dirty="0"/>
              <a:t> March-Training was started in Dhaka City and </a:t>
            </a:r>
            <a:r>
              <a:rPr lang="en-US" dirty="0" err="1"/>
              <a:t>Tikka</a:t>
            </a:r>
            <a:r>
              <a:rPr lang="en-US" dirty="0"/>
              <a:t> was appointed as the governor of East Pakistan</a:t>
            </a:r>
          </a:p>
          <a:p>
            <a:r>
              <a:rPr lang="en-US" dirty="0"/>
              <a:t>8</a:t>
            </a:r>
            <a:r>
              <a:rPr lang="en-US" baseline="30000" dirty="0"/>
              <a:t>th</a:t>
            </a:r>
            <a:r>
              <a:rPr lang="en-US" dirty="0"/>
              <a:t> March- Training was started in all over the country ( by EOTC Cadets) and continued </a:t>
            </a:r>
            <a:r>
              <a:rPr lang="en-US" dirty="0" err="1"/>
              <a:t>upto</a:t>
            </a:r>
            <a:r>
              <a:rPr lang="en-US" dirty="0"/>
              <a:t> 25</a:t>
            </a:r>
            <a:r>
              <a:rPr lang="en-US" baseline="30000" dirty="0"/>
              <a:t>th</a:t>
            </a:r>
            <a:r>
              <a:rPr lang="en-US" dirty="0"/>
              <a:t> March.</a:t>
            </a:r>
          </a:p>
          <a:p>
            <a:r>
              <a:rPr lang="en-US" dirty="0"/>
              <a:t>Many committees were formed  in District, Sub-</a:t>
            </a:r>
            <a:r>
              <a:rPr lang="en-US" dirty="0" err="1"/>
              <a:t>Disdrict</a:t>
            </a:r>
            <a:r>
              <a:rPr lang="en-US" dirty="0"/>
              <a:t>, Thana and Even to the union level.</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endParaRPr lang="en-US" dirty="0"/>
          </a:p>
        </p:txBody>
      </p:sp>
      <p:sp>
        <p:nvSpPr>
          <p:cNvPr id="3" name="Content Placeholder 2"/>
          <p:cNvSpPr>
            <a:spLocks noGrp="1"/>
          </p:cNvSpPr>
          <p:nvPr>
            <p:ph idx="1"/>
          </p:nvPr>
        </p:nvSpPr>
        <p:spPr/>
        <p:txBody>
          <a:bodyPr/>
          <a:lstStyle/>
          <a:p>
            <a:r>
              <a:rPr lang="en-US" dirty="0"/>
              <a:t>From 1</a:t>
            </a:r>
            <a:r>
              <a:rPr lang="en-US" baseline="30000" dirty="0"/>
              <a:t>st</a:t>
            </a:r>
            <a:r>
              <a:rPr lang="en-US" dirty="0"/>
              <a:t> of March to the onwards days, the policy of non-cooperation was very successful </a:t>
            </a:r>
          </a:p>
          <a:p>
            <a:r>
              <a:rPr lang="en-US" dirty="0"/>
              <a:t>7</a:t>
            </a:r>
            <a:r>
              <a:rPr lang="en-US" baseline="30000" dirty="0"/>
              <a:t>th</a:t>
            </a:r>
            <a:r>
              <a:rPr lang="en-US" dirty="0"/>
              <a:t> march- </a:t>
            </a:r>
            <a:r>
              <a:rPr lang="en-US" dirty="0" err="1"/>
              <a:t>Tikka</a:t>
            </a:r>
            <a:r>
              <a:rPr lang="en-US" dirty="0"/>
              <a:t> was appointed</a:t>
            </a:r>
          </a:p>
          <a:p>
            <a:r>
              <a:rPr lang="en-US" dirty="0"/>
              <a:t>10</a:t>
            </a:r>
            <a:r>
              <a:rPr lang="en-US" baseline="30000" dirty="0"/>
              <a:t>th</a:t>
            </a:r>
            <a:r>
              <a:rPr lang="en-US" dirty="0"/>
              <a:t> march- in a </a:t>
            </a:r>
            <a:r>
              <a:rPr lang="en-US" dirty="0" err="1"/>
              <a:t>millitary</a:t>
            </a:r>
            <a:r>
              <a:rPr lang="en-US" dirty="0"/>
              <a:t> order all the officers were requested to join in the work</a:t>
            </a:r>
          </a:p>
          <a:p>
            <a:r>
              <a:rPr lang="en-US" dirty="0"/>
              <a:t>13 march- Martial law was again introduced </a:t>
            </a:r>
          </a:p>
          <a:p>
            <a:r>
              <a:rPr lang="en-US" dirty="0"/>
              <a:t>14 march- Bhutto demanded the distribution of power and </a:t>
            </a:r>
            <a:r>
              <a:rPr lang="en-US" dirty="0" err="1"/>
              <a:t>Bangabandhu</a:t>
            </a:r>
            <a:r>
              <a:rPr lang="en-US" dirty="0"/>
              <a:t> placed a directive  of 5 points.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Bangabandhu Sheikh Mujibur Rahman's historic 7th March speech  coloured version HD.mp4">
            <a:hlinkClick r:id="" action="ppaction://media"/>
          </p:cNvPr>
          <p:cNvPicPr>
            <a:picLocks noGrp="1" noRot="1" noChangeAspect="1"/>
          </p:cNvPicPr>
          <p:nvPr>
            <p:ph idx="1"/>
            <a:videoFile r:link="rId1"/>
          </p:nvPr>
        </p:nvPicPr>
        <p:blipFill>
          <a:blip r:embed="rId3"/>
          <a:stretch>
            <a:fillRect/>
          </a:stretch>
        </p:blipFill>
        <p:spPr>
          <a:xfrm>
            <a:off x="4572000" y="2925763"/>
            <a:ext cx="3048000" cy="2286000"/>
          </a:xfrm>
          <a:prstGeom prst="rect">
            <a:avLst/>
          </a:prstGeom>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p:cTn id="7" fill="hold" display="0">
                  <p:stCondLst>
                    <p:cond delay="indefinite"/>
                  </p:stCondLst>
                  <p:endCondLst>
                    <p:cond evt="onNext" delay="0">
                      <p:tgtEl>
                        <p:sldTgt/>
                      </p:tgtEl>
                    </p:cond>
                    <p:cond evt="onPrev" delay="0">
                      <p:tgtEl>
                        <p:sldTgt/>
                      </p:tgtEl>
                    </p:cond>
                  </p:endCondLst>
                </p:cTn>
                <p:tgtEl>
                  <p:spTgt spid="4"/>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t>
            </a:r>
            <a:endParaRPr lang="en-US" dirty="0"/>
          </a:p>
        </p:txBody>
      </p:sp>
      <p:sp>
        <p:nvSpPr>
          <p:cNvPr id="3" name="Content Placeholder 2"/>
          <p:cNvSpPr>
            <a:spLocks noGrp="1"/>
          </p:cNvSpPr>
          <p:nvPr>
            <p:ph idx="1"/>
          </p:nvPr>
        </p:nvSpPr>
        <p:spPr>
          <a:xfrm>
            <a:off x="300446" y="535577"/>
            <a:ext cx="11612880" cy="6035040"/>
          </a:xfrm>
        </p:spPr>
        <p:txBody>
          <a:bodyPr>
            <a:normAutofit fontScale="85000" lnSpcReduction="10000"/>
          </a:bodyPr>
          <a:lstStyle/>
          <a:p>
            <a:r>
              <a:rPr lang="en-US" dirty="0" err="1"/>
              <a:t>Bangabandhu</a:t>
            </a:r>
            <a:r>
              <a:rPr lang="en-US" dirty="0"/>
              <a:t> Gave 35 Directives to Run the State</a:t>
            </a:r>
          </a:p>
          <a:p>
            <a:r>
              <a:rPr lang="en-US" dirty="0" err="1"/>
              <a:t>Tajuddin</a:t>
            </a:r>
            <a:r>
              <a:rPr lang="en-US" dirty="0"/>
              <a:t> Ahmad, on behalf of </a:t>
            </a:r>
            <a:r>
              <a:rPr lang="en-US" dirty="0" err="1"/>
              <a:t>Bangabandhu</a:t>
            </a:r>
            <a:r>
              <a:rPr lang="en-US" dirty="0"/>
              <a:t> and </a:t>
            </a:r>
            <a:r>
              <a:rPr lang="en-US" dirty="0" err="1"/>
              <a:t>Awami</a:t>
            </a:r>
            <a:r>
              <a:rPr lang="en-US" dirty="0"/>
              <a:t> League, declared the 35 point instructions for conducting the affairs of the government, which appeared in major newspapers on March 15, 1971. We can say that the direct control of the Pakistan government over East Pakistan virtually ceased after the directives of </a:t>
            </a:r>
            <a:r>
              <a:rPr lang="en-US" dirty="0" err="1"/>
              <a:t>Bangabandhu</a:t>
            </a:r>
            <a:r>
              <a:rPr lang="en-US" dirty="0"/>
              <a:t> Sheikh </a:t>
            </a:r>
            <a:r>
              <a:rPr lang="en-US" dirty="0" err="1"/>
              <a:t>Mujibur</a:t>
            </a:r>
            <a:r>
              <a:rPr lang="en-US" dirty="0"/>
              <a:t> </a:t>
            </a:r>
            <a:r>
              <a:rPr lang="en-US" dirty="0" err="1"/>
              <a:t>Rahman</a:t>
            </a:r>
            <a:r>
              <a:rPr lang="en-US" dirty="0"/>
              <a:t>. “In fact, </a:t>
            </a:r>
            <a:r>
              <a:rPr lang="en-US" dirty="0" err="1"/>
              <a:t>Bangabandhu</a:t>
            </a:r>
            <a:r>
              <a:rPr lang="en-US" dirty="0"/>
              <a:t> took the administrative power of Bangladesh (the then East Pakistan) through the 35 directives”, </a:t>
            </a:r>
          </a:p>
          <a:p>
            <a:r>
              <a:rPr lang="en-US" dirty="0"/>
              <a:t>Professor </a:t>
            </a:r>
            <a:r>
              <a:rPr lang="en-US" dirty="0" err="1"/>
              <a:t>Rehman</a:t>
            </a:r>
            <a:r>
              <a:rPr lang="en-US" dirty="0"/>
              <a:t> </a:t>
            </a:r>
            <a:r>
              <a:rPr lang="en-US" dirty="0" err="1"/>
              <a:t>Sobhan</a:t>
            </a:r>
            <a:r>
              <a:rPr lang="en-US" dirty="0"/>
              <a:t> in his memoir “</a:t>
            </a:r>
            <a:r>
              <a:rPr lang="en-US" dirty="0" err="1"/>
              <a:t>Untranquil</a:t>
            </a:r>
            <a:r>
              <a:rPr lang="en-US" dirty="0"/>
              <a:t> Recollections: The Years of </a:t>
            </a:r>
            <a:r>
              <a:rPr lang="en-US" dirty="0" err="1"/>
              <a:t>Fulfilment</a:t>
            </a:r>
            <a:r>
              <a:rPr lang="en-US" dirty="0"/>
              <a:t>” wrote that Bangladesh effectively got independence on March 5, the day when the political supremacy came to </a:t>
            </a:r>
            <a:r>
              <a:rPr lang="en-US" dirty="0" err="1"/>
              <a:t>Bangabandhu’s</a:t>
            </a:r>
            <a:r>
              <a:rPr lang="en-US" dirty="0"/>
              <a:t> hand. After that day, whatever </a:t>
            </a:r>
            <a:r>
              <a:rPr lang="en-US" dirty="0" err="1"/>
              <a:t>Yahya</a:t>
            </a:r>
            <a:r>
              <a:rPr lang="en-US" dirty="0"/>
              <a:t> said, the people in Bangladesh saw those as armed aggression against the sovereignty of the country. On the other hand, people took the 35 directives of </a:t>
            </a:r>
            <a:r>
              <a:rPr lang="en-US" dirty="0" err="1"/>
              <a:t>Bangabandhu</a:t>
            </a:r>
            <a:r>
              <a:rPr lang="en-US" dirty="0"/>
              <a:t> as the must follow command to protest against the oppression of Pakistani ruler and to get freedom from their repression.</a:t>
            </a:r>
          </a:p>
          <a:p>
            <a:r>
              <a:rPr lang="en-US" dirty="0"/>
              <a:t>The directives were related to all major areas including administration, education, law and order, port operation, foreign trade, communication, agriculture, services, development, industries, flood control, bank and treasury, tax collection, insurance and trade and business and payment of pension for retired employees and salaries of government and semi-government staff and primary school teachers.</a:t>
            </a:r>
          </a:p>
          <a:p>
            <a:r>
              <a:rPr lang="en-US" dirty="0"/>
              <a:t>If we recall the public response to the directives and the 7th March speech of </a:t>
            </a:r>
            <a:r>
              <a:rPr lang="en-US" dirty="0" err="1"/>
              <a:t>Bangabandhu</a:t>
            </a:r>
            <a:r>
              <a:rPr lang="en-US" dirty="0"/>
              <a:t>, we find that he became the de-facto president and took effective control of the entire country during the period when the military government of Pakistan had its control only inside cantonments. </a:t>
            </a:r>
            <a:r>
              <a:rPr lang="en-US" dirty="0" err="1"/>
              <a:t>Bangabandhu</a:t>
            </a:r>
            <a:r>
              <a:rPr lang="en-US" dirty="0"/>
              <a:t> in his directives called for continuing indefinite shutdown, but was very cautious about maintaining law and order and keeping internal and external trade, farm and development activities and all other financial activities unhindered.</a:t>
            </a:r>
          </a:p>
          <a:p>
            <a:r>
              <a:rPr lang="en-US" dirty="0"/>
              <a:t>He kept railways, roads and water transports, port and media and hospitals out of the purview of the non-stop nation-wide strike and advised all concerned to continue their duties. Banks, telecommunication and postal services were also advised to operate only to provide their services to the people of the-then East Pakistan. But, the people involved with power, gas and water supplies had been asked to be on duty so that people don’t suffer.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 a nutshell; The 35 directives</a:t>
            </a:r>
            <a:endParaRPr lang="en-US" dirty="0"/>
          </a:p>
        </p:txBody>
      </p:sp>
      <p:sp>
        <p:nvSpPr>
          <p:cNvPr id="3" name="Content Placeholder 2"/>
          <p:cNvSpPr>
            <a:spLocks noGrp="1"/>
          </p:cNvSpPr>
          <p:nvPr>
            <p:ph idx="1"/>
          </p:nvPr>
        </p:nvSpPr>
        <p:spPr/>
        <p:txBody>
          <a:bodyPr/>
          <a:lstStyle/>
          <a:p>
            <a:r>
              <a:rPr lang="en-US" dirty="0"/>
              <a:t>Governmental Departments, Secretariat, High-Court, Semi-autonomous institutions and educational institutions will be closed . </a:t>
            </a:r>
          </a:p>
          <a:p>
            <a:r>
              <a:rPr lang="en-US" dirty="0"/>
              <a:t>DC and M. </a:t>
            </a:r>
            <a:r>
              <a:rPr lang="en-US" dirty="0" err="1"/>
              <a:t>Ad.</a:t>
            </a:r>
            <a:r>
              <a:rPr lang="en-US" dirty="0"/>
              <a:t> Will be refrained from opening offices and in a collaboration with AL and </a:t>
            </a:r>
            <a:r>
              <a:rPr lang="en-US" dirty="0" err="1"/>
              <a:t>sangram</a:t>
            </a:r>
            <a:r>
              <a:rPr lang="en-US" dirty="0"/>
              <a:t> </a:t>
            </a:r>
            <a:r>
              <a:rPr lang="en-US" dirty="0" err="1"/>
              <a:t>parishad</a:t>
            </a:r>
            <a:r>
              <a:rPr lang="en-US" dirty="0"/>
              <a:t>, will try to maintain law and order.</a:t>
            </a:r>
          </a:p>
          <a:p>
            <a:r>
              <a:rPr lang="en-US" dirty="0"/>
              <a:t>Police- the same of above</a:t>
            </a:r>
          </a:p>
          <a:p>
            <a:r>
              <a:rPr lang="en-US" dirty="0"/>
              <a:t>Radio, Television and Newspapers will be opened but………….</a:t>
            </a:r>
          </a:p>
          <a:p>
            <a:r>
              <a:rPr lang="en-US" dirty="0"/>
              <a:t>No taxes and revenues to be paid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96400" y="607392"/>
            <a:ext cx="2430780" cy="934025"/>
          </a:xfrm>
        </p:spPr>
        <p:txBody>
          <a:bodyPr>
            <a:normAutofit fontScale="90000"/>
          </a:bodyPr>
          <a:lstStyle/>
          <a:p>
            <a:r>
              <a:t>Yahyah-Bhutto-Mujib Talk</a:t>
            </a:r>
            <a:endParaRPr lang="en-US" dirty="0"/>
          </a:p>
        </p:txBody>
      </p:sp>
      <p:pic>
        <p:nvPicPr>
          <p:cNvPr id="5" name="Content Placeholder 4" descr="1425136516.jpg"/>
          <p:cNvPicPr>
            <a:picLocks noGrp="1" noChangeAspect="1"/>
          </p:cNvPicPr>
          <p:nvPr>
            <p:ph idx="1"/>
          </p:nvPr>
        </p:nvPicPr>
        <p:blipFill>
          <a:blip r:embed="rId2"/>
          <a:stretch>
            <a:fillRect/>
          </a:stretch>
        </p:blipFill>
        <p:spPr>
          <a:xfrm>
            <a:off x="274320" y="287383"/>
            <a:ext cx="8477793" cy="630936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4" name="Text Placeholder 3"/>
          <p:cNvSpPr>
            <a:spLocks noGrp="1"/>
          </p:cNvSpPr>
          <p:nvPr>
            <p:ph type="body" sz="half" idx="2"/>
          </p:nvPr>
        </p:nvSpPr>
        <p:spPr>
          <a:xfrm>
            <a:off x="9296400" y="1541417"/>
            <a:ext cx="2430780" cy="4767943"/>
          </a:xfrm>
        </p:spPr>
        <p:txBody>
          <a:bodyPr>
            <a:normAutofit fontScale="92500" lnSpcReduction="10000"/>
          </a:bodyPr>
          <a:lstStyle/>
          <a:p>
            <a:pPr>
              <a:buFont typeface="Wingdings" pitchFamily="2" charset="2"/>
              <a:buChar char="v"/>
            </a:pPr>
            <a:r>
              <a:rPr lang="en-US" dirty="0" err="1"/>
              <a:t>Yahyah</a:t>
            </a:r>
            <a:r>
              <a:rPr lang="en-US" dirty="0"/>
              <a:t> arrived in Dhaka and asked </a:t>
            </a:r>
            <a:r>
              <a:rPr lang="en-US" dirty="0" err="1"/>
              <a:t>Mujib</a:t>
            </a:r>
            <a:r>
              <a:rPr lang="en-US" dirty="0"/>
              <a:t> to sit for discussion</a:t>
            </a:r>
          </a:p>
          <a:p>
            <a:pPr>
              <a:buFont typeface="Wingdings" pitchFamily="2" charset="2"/>
              <a:buChar char="v"/>
            </a:pPr>
            <a:r>
              <a:rPr lang="en-US" dirty="0"/>
              <a:t>16</a:t>
            </a:r>
            <a:r>
              <a:rPr lang="en-US" baseline="30000" dirty="0"/>
              <a:t>th</a:t>
            </a:r>
            <a:r>
              <a:rPr lang="en-US" dirty="0"/>
              <a:t> March- Discussion was started</a:t>
            </a:r>
          </a:p>
          <a:p>
            <a:pPr>
              <a:buFont typeface="Wingdings" pitchFamily="2" charset="2"/>
              <a:buChar char="v"/>
            </a:pPr>
            <a:r>
              <a:rPr lang="en-US" dirty="0"/>
              <a:t>22th March- Bhutto came into Dhaka and joined with the Duo ( but 19</a:t>
            </a:r>
            <a:r>
              <a:rPr lang="en-US" baseline="30000" dirty="0"/>
              <a:t>th</a:t>
            </a:r>
            <a:r>
              <a:rPr lang="en-US" dirty="0"/>
              <a:t> march attack in </a:t>
            </a:r>
            <a:r>
              <a:rPr lang="en-US" dirty="0" err="1"/>
              <a:t>joydebpur</a:t>
            </a:r>
            <a:r>
              <a:rPr lang="en-US" dirty="0"/>
              <a:t> made it impossible to reach into a decision)</a:t>
            </a:r>
          </a:p>
          <a:p>
            <a:pPr>
              <a:buFont typeface="Wingdings" pitchFamily="2" charset="2"/>
              <a:buChar char="v"/>
            </a:pPr>
            <a:r>
              <a:rPr lang="en-US" dirty="0"/>
              <a:t>23</a:t>
            </a:r>
            <a:r>
              <a:rPr lang="en-US" baseline="30000" dirty="0"/>
              <a:t>rd</a:t>
            </a:r>
            <a:r>
              <a:rPr lang="en-US" dirty="0"/>
              <a:t> March- On republic day, most of the houses hoisted BD flag</a:t>
            </a:r>
          </a:p>
          <a:p>
            <a:pPr>
              <a:buFont typeface="Wingdings" pitchFamily="2" charset="2"/>
              <a:buChar char="v"/>
            </a:pPr>
            <a:r>
              <a:rPr lang="en-US" dirty="0"/>
              <a:t>24</a:t>
            </a:r>
            <a:r>
              <a:rPr lang="en-US" baseline="30000" dirty="0"/>
              <a:t>th</a:t>
            </a:r>
            <a:r>
              <a:rPr lang="en-US" dirty="0"/>
              <a:t> March- The last effort from AL leaders for solution </a:t>
            </a:r>
          </a:p>
          <a:p>
            <a:pPr>
              <a:buFont typeface="Wingdings" pitchFamily="2" charset="2"/>
              <a:buChar char="v"/>
            </a:pPr>
            <a:r>
              <a:rPr lang="en-US" dirty="0"/>
              <a:t>25</a:t>
            </a:r>
            <a:r>
              <a:rPr lang="en-US" baseline="30000" dirty="0"/>
              <a:t>th</a:t>
            </a:r>
            <a:r>
              <a:rPr lang="en-US" dirty="0"/>
              <a:t> March- The discussion was unfinished and </a:t>
            </a:r>
            <a:r>
              <a:rPr lang="en-US" dirty="0" err="1"/>
              <a:t>Yahyah</a:t>
            </a:r>
            <a:r>
              <a:rPr lang="en-US" dirty="0"/>
              <a:t> left Dhaka after </a:t>
            </a:r>
            <a:r>
              <a:rPr lang="en-US" dirty="0" err="1"/>
              <a:t>orderning</a:t>
            </a:r>
            <a:r>
              <a:rPr lang="en-US" dirty="0"/>
              <a:t> to attack the Bengalis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                National Flag</a:t>
            </a:r>
            <a:endParaRPr lang="en-US" dirty="0"/>
          </a:p>
        </p:txBody>
      </p:sp>
      <p:sp>
        <p:nvSpPr>
          <p:cNvPr id="3" name="Text Placeholder 2"/>
          <p:cNvSpPr>
            <a:spLocks noGrp="1"/>
          </p:cNvSpPr>
          <p:nvPr>
            <p:ph type="body" idx="1"/>
          </p:nvPr>
        </p:nvSpPr>
        <p:spPr/>
        <p:txBody>
          <a:bodyPr/>
          <a:lstStyle/>
          <a:p>
            <a:r>
              <a:rPr lang="en-US" dirty="0"/>
              <a:t>Flag was hoisted in DU Arts Building</a:t>
            </a:r>
          </a:p>
        </p:txBody>
      </p:sp>
      <p:pic>
        <p:nvPicPr>
          <p:cNvPr id="7" name="Content Placeholder 6" descr="rob1.jpg"/>
          <p:cNvPicPr>
            <a:picLocks noGrp="1" noChangeAspect="1"/>
          </p:cNvPicPr>
          <p:nvPr>
            <p:ph sz="half" idx="2"/>
          </p:nvPr>
        </p:nvPicPr>
        <p:blipFill>
          <a:blip r:embed="rId2"/>
          <a:stretch>
            <a:fillRect/>
          </a:stretch>
        </p:blipFill>
        <p:spPr>
          <a:xfrm>
            <a:off x="3699804" y="3173912"/>
            <a:ext cx="2133600" cy="3083197"/>
          </a:xfrm>
        </p:spPr>
      </p:pic>
      <p:sp>
        <p:nvSpPr>
          <p:cNvPr id="5" name="Text Placeholder 4"/>
          <p:cNvSpPr>
            <a:spLocks noGrp="1"/>
          </p:cNvSpPr>
          <p:nvPr>
            <p:ph type="body" sz="quarter" idx="3"/>
          </p:nvPr>
        </p:nvSpPr>
        <p:spPr/>
        <p:txBody>
          <a:bodyPr/>
          <a:lstStyle/>
          <a:p>
            <a:r>
              <a:rPr lang="en-US" dirty="0"/>
              <a:t>The Evolution of Flag</a:t>
            </a:r>
          </a:p>
        </p:txBody>
      </p:sp>
      <p:pic>
        <p:nvPicPr>
          <p:cNvPr id="10" name="Content Placeholder 9" descr="1519997853.jpg"/>
          <p:cNvPicPr>
            <a:picLocks noGrp="1" noChangeAspect="1"/>
          </p:cNvPicPr>
          <p:nvPr>
            <p:ph sz="quarter" idx="4"/>
          </p:nvPr>
        </p:nvPicPr>
        <p:blipFill>
          <a:blip r:embed="rId3"/>
          <a:stretch>
            <a:fillRect/>
          </a:stretch>
        </p:blipFill>
        <p:spPr>
          <a:xfrm>
            <a:off x="1200922" y="3178840"/>
            <a:ext cx="2365238" cy="3169708"/>
          </a:xfrm>
        </p:spPr>
      </p:pic>
      <p:pic>
        <p:nvPicPr>
          <p:cNvPr id="11" name="Picture 10" descr="nflb.gif"/>
          <p:cNvPicPr>
            <a:picLocks noChangeAspect="1"/>
          </p:cNvPicPr>
          <p:nvPr/>
        </p:nvPicPr>
        <p:blipFill>
          <a:blip r:embed="rId4"/>
          <a:stretch>
            <a:fillRect/>
          </a:stretch>
        </p:blipFill>
        <p:spPr>
          <a:xfrm>
            <a:off x="6871063" y="2862399"/>
            <a:ext cx="4027714" cy="332939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ack_night_liberation_war_0.jpg"/>
          <p:cNvPicPr>
            <a:picLocks noChangeAspect="1"/>
          </p:cNvPicPr>
          <p:nvPr/>
        </p:nvPicPr>
        <p:blipFill>
          <a:blip r:embed="rId2"/>
          <a:stretch>
            <a:fillRect/>
          </a:stretch>
        </p:blipFill>
        <p:spPr>
          <a:xfrm>
            <a:off x="209006" y="235131"/>
            <a:ext cx="11795759" cy="636161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799" y="642595"/>
            <a:ext cx="10650583" cy="546126"/>
          </a:xfrm>
        </p:spPr>
        <p:txBody>
          <a:bodyPr>
            <a:noAutofit/>
          </a:bodyPr>
          <a:lstStyle/>
          <a:p>
            <a:r>
              <a:rPr sz="3600"/>
              <a:t>25</a:t>
            </a:r>
            <a:r>
              <a:rPr sz="3600" baseline="30000"/>
              <a:t>th</a:t>
            </a:r>
            <a:r>
              <a:rPr sz="3600"/>
              <a:t> March and Declaration of Independence</a:t>
            </a:r>
            <a:endParaRPr lang="en-US" sz="3600" dirty="0"/>
          </a:p>
        </p:txBody>
      </p:sp>
      <p:sp>
        <p:nvSpPr>
          <p:cNvPr id="3" name="Content Placeholder 2"/>
          <p:cNvSpPr>
            <a:spLocks noGrp="1"/>
          </p:cNvSpPr>
          <p:nvPr>
            <p:ph idx="1"/>
          </p:nvPr>
        </p:nvSpPr>
        <p:spPr>
          <a:xfrm>
            <a:off x="1066800" y="1319349"/>
            <a:ext cx="10058400" cy="5225142"/>
          </a:xfrm>
        </p:spPr>
        <p:txBody>
          <a:bodyPr>
            <a:normAutofit fontScale="92500" lnSpcReduction="20000"/>
          </a:bodyPr>
          <a:lstStyle/>
          <a:p>
            <a:r>
              <a:rPr lang="en-US" dirty="0"/>
              <a:t>On 25</a:t>
            </a:r>
            <a:r>
              <a:rPr lang="en-US" baseline="30000" dirty="0"/>
              <a:t>th</a:t>
            </a:r>
            <a:r>
              <a:rPr lang="en-US" dirty="0"/>
              <a:t> March night in 1971, the Pakistani military junta launched the “Operation Searchlight” and mercilessly killed the </a:t>
            </a:r>
            <a:r>
              <a:rPr lang="en-US" dirty="0" err="1"/>
              <a:t>Bangalee</a:t>
            </a:r>
            <a:r>
              <a:rPr lang="en-US" dirty="0"/>
              <a:t> members of East Pakistan Rifles and police, students and teachers as well as thousands of common people in Dhaka city.</a:t>
            </a:r>
          </a:p>
          <a:p>
            <a:r>
              <a:rPr lang="en-US" dirty="0" err="1"/>
              <a:t>Jagannath</a:t>
            </a:r>
            <a:r>
              <a:rPr lang="en-US" dirty="0"/>
              <a:t> Hall, a non-Muslim dormitory of Dhaka University, and </a:t>
            </a:r>
            <a:r>
              <a:rPr lang="en-US" dirty="0" err="1"/>
              <a:t>Iqbal</a:t>
            </a:r>
            <a:r>
              <a:rPr lang="en-US" dirty="0"/>
              <a:t> Hall, now Sergeant </a:t>
            </a:r>
            <a:r>
              <a:rPr lang="en-US" dirty="0" err="1"/>
              <a:t>Zohurul</a:t>
            </a:r>
            <a:r>
              <a:rPr lang="en-US" dirty="0"/>
              <a:t> </a:t>
            </a:r>
            <a:r>
              <a:rPr lang="en-US" dirty="0" err="1"/>
              <a:t>Haq</a:t>
            </a:r>
            <a:r>
              <a:rPr lang="en-US" dirty="0"/>
              <a:t> Hall, </a:t>
            </a:r>
            <a:r>
              <a:rPr lang="en-US" dirty="0" err="1"/>
              <a:t>Pilkhana</a:t>
            </a:r>
            <a:r>
              <a:rPr lang="en-US" dirty="0"/>
              <a:t>, </a:t>
            </a:r>
            <a:r>
              <a:rPr lang="en-US" dirty="0" err="1"/>
              <a:t>Rajarbagh</a:t>
            </a:r>
            <a:r>
              <a:rPr lang="en-US" dirty="0"/>
              <a:t> Police Lines, and Hindu-dominated areas of Old Dhaka were the main targets of the operation.</a:t>
            </a:r>
          </a:p>
          <a:p>
            <a:r>
              <a:rPr lang="en-US" dirty="0"/>
              <a:t>Another book, "Rifle </a:t>
            </a:r>
            <a:r>
              <a:rPr lang="en-US" dirty="0" err="1"/>
              <a:t>Roti</a:t>
            </a:r>
            <a:r>
              <a:rPr lang="en-US" dirty="0"/>
              <a:t> </a:t>
            </a:r>
            <a:r>
              <a:rPr lang="en-US" dirty="0" err="1"/>
              <a:t>Awrat</a:t>
            </a:r>
            <a:r>
              <a:rPr lang="en-US" dirty="0"/>
              <a:t>" by Prof Anwar Pasha, narrated the barbarism carried out by the Pakistani troops on Dhaka University campus.</a:t>
            </a:r>
          </a:p>
          <a:p>
            <a:r>
              <a:rPr lang="en-US" dirty="0"/>
              <a:t>On the Dhaka University campus, the occupation forces on that night carried out a planned massacre of 200 students, 10 teachers and 12 employees.</a:t>
            </a:r>
          </a:p>
          <a:p>
            <a:r>
              <a:rPr lang="en-US" dirty="0"/>
              <a:t>Armed with heavy weapons such as tanks, automatic rifles, rocket launchers, heavy mortar, light machine gun, Pak soldiers encircled Dhaka University from east (unit 41), from south (unit 88) and from north (unit 26).</a:t>
            </a:r>
          </a:p>
          <a:p>
            <a:r>
              <a:rPr lang="en-US" dirty="0"/>
              <a:t>The first target of Operation Searchlight was </a:t>
            </a:r>
            <a:r>
              <a:rPr lang="en-US" dirty="0" err="1"/>
              <a:t>Zahrul</a:t>
            </a:r>
            <a:r>
              <a:rPr lang="en-US" dirty="0"/>
              <a:t> </a:t>
            </a:r>
            <a:r>
              <a:rPr lang="en-US" dirty="0" err="1"/>
              <a:t>Hoque</a:t>
            </a:r>
            <a:r>
              <a:rPr lang="en-US" dirty="0"/>
              <a:t> Hall as the then Non-cooperation Movement was </a:t>
            </a:r>
            <a:r>
              <a:rPr lang="en-US" dirty="0" err="1"/>
              <a:t>organised</a:t>
            </a:r>
            <a:r>
              <a:rPr lang="en-US" dirty="0"/>
              <a:t> under the banner of "Independent Bangladesh Students Movement Council" from that dormitory.</a:t>
            </a:r>
          </a:p>
          <a:p>
            <a:r>
              <a:rPr lang="en-US" dirty="0"/>
              <a:t>By March 25, all leaders of </a:t>
            </a:r>
            <a:r>
              <a:rPr lang="en-US" dirty="0" err="1"/>
              <a:t>Chhatra</a:t>
            </a:r>
            <a:r>
              <a:rPr lang="en-US" dirty="0"/>
              <a:t> League had left the hall.</a:t>
            </a:r>
          </a:p>
          <a:p>
            <a:r>
              <a:rPr lang="en-US" dirty="0"/>
              <a:t>After 12 o'clock, the army attacked </a:t>
            </a:r>
            <a:r>
              <a:rPr lang="en-US" dirty="0" err="1"/>
              <a:t>Jagannath</a:t>
            </a:r>
            <a:r>
              <a:rPr lang="en-US" dirty="0"/>
              <a:t> Hall with shelling of mortar and nonstop gun firing.</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066800" y="679269"/>
            <a:ext cx="10058400" cy="5355772"/>
          </a:xfrm>
        </p:spPr>
        <p:txBody>
          <a:bodyPr>
            <a:normAutofit fontScale="85000" lnSpcReduction="20000"/>
          </a:bodyPr>
          <a:lstStyle/>
          <a:p>
            <a:r>
              <a:rPr lang="en-US" dirty="0"/>
              <a:t>They entered the dormitory through north and south gates and killed students indiscriminately in each room. Around 34 students were killed. Some students of </a:t>
            </a:r>
            <a:r>
              <a:rPr lang="en-US" dirty="0" err="1"/>
              <a:t>Jagannath</a:t>
            </a:r>
            <a:r>
              <a:rPr lang="en-US" dirty="0"/>
              <a:t> Hall were resident of </a:t>
            </a:r>
            <a:r>
              <a:rPr lang="en-US" dirty="0" err="1"/>
              <a:t>Ramna</a:t>
            </a:r>
            <a:r>
              <a:rPr lang="en-US" dirty="0"/>
              <a:t> Kali Bari.</a:t>
            </a:r>
          </a:p>
          <a:p>
            <a:r>
              <a:rPr lang="en-US" dirty="0"/>
              <a:t>Archer Blood, the then consul general of US embassy in Dhaka, wrote in his book "The Cruel Birth of Bangladesh" that fire broke out at </a:t>
            </a:r>
            <a:r>
              <a:rPr lang="en-US" dirty="0" err="1"/>
              <a:t>Rokeya</a:t>
            </a:r>
            <a:r>
              <a:rPr lang="en-US" dirty="0"/>
              <a:t> Hall, girls' dormitory and, when the students tried to escape, the military started firing. From the conversation of military control room and army unit 88, a total of 300 students death was estimated."</a:t>
            </a:r>
          </a:p>
          <a:p>
            <a:r>
              <a:rPr lang="en-US" dirty="0"/>
              <a:t>The Operation Searchlight was one of very few military operations in post-World War-II history, which ultimately had been planned against civilians, just to kill a smart percentage of them and to scare the survivors.</a:t>
            </a:r>
          </a:p>
          <a:p>
            <a:r>
              <a:rPr lang="en-US" dirty="0"/>
              <a:t>About that night, American journalist Robert Payne wrote that at least 7000 people were killed and 3000 others were arrested in the crackdown.</a:t>
            </a:r>
          </a:p>
          <a:p>
            <a:r>
              <a:rPr lang="en-US" dirty="0"/>
              <a:t>In the wake of the Pak army action, </a:t>
            </a:r>
            <a:r>
              <a:rPr lang="en-US" dirty="0" err="1"/>
              <a:t>Bangabandhu</a:t>
            </a:r>
            <a:r>
              <a:rPr lang="en-US" dirty="0"/>
              <a:t> Sheikh </a:t>
            </a:r>
            <a:r>
              <a:rPr lang="en-US" dirty="0" err="1"/>
              <a:t>Mujibur</a:t>
            </a:r>
            <a:r>
              <a:rPr lang="en-US" dirty="0"/>
              <a:t> </a:t>
            </a:r>
            <a:r>
              <a:rPr lang="en-US" dirty="0" err="1"/>
              <a:t>Rahman</a:t>
            </a:r>
            <a:r>
              <a:rPr lang="en-US" dirty="0"/>
              <a:t> declared independence of Bangladesh through EPR wireless at 00-30 hours on March 26 (the night following March 25) in 1971 from his Road-32 residence at </a:t>
            </a:r>
            <a:r>
              <a:rPr lang="en-US" dirty="0" err="1"/>
              <a:t>Dhanmondi</a:t>
            </a:r>
            <a:r>
              <a:rPr lang="en-US" dirty="0"/>
              <a:t> in Dhaka.</a:t>
            </a:r>
          </a:p>
          <a:p>
            <a:r>
              <a:rPr lang="en-US" dirty="0"/>
              <a:t>The great leader also called upon the people to build a united resistance against the Pakistani occupation forces. Later, the military junta, in a bid to stop the legitimate movement of the </a:t>
            </a:r>
            <a:r>
              <a:rPr lang="en-US" dirty="0" err="1"/>
              <a:t>Bangalees</a:t>
            </a:r>
            <a:r>
              <a:rPr lang="en-US" dirty="0"/>
              <a:t>, arrested him on that night following his declaration of the country's independence.</a:t>
            </a:r>
          </a:p>
          <a:p>
            <a:r>
              <a:rPr lang="en-US" dirty="0"/>
              <a:t>Later, </a:t>
            </a:r>
            <a:r>
              <a:rPr lang="en-US" dirty="0" err="1"/>
              <a:t>Bangabandhu</a:t>
            </a:r>
            <a:r>
              <a:rPr lang="en-US" dirty="0"/>
              <a:t> was taken to the then West Pakistan where he had to spend long nine months in a Pakistani jail.</a:t>
            </a:r>
          </a:p>
          <a:p>
            <a:r>
              <a:rPr lang="en-US" dirty="0"/>
              <a:t>Following the declaration, the whole nation, except a few pro-Pakistani elements, joined the War of Liberation. And ultimately Bangladesh was freed from the Pakistani occupation forces with their surrender at the Race Course </a:t>
            </a:r>
            <a:r>
              <a:rPr lang="en-US" dirty="0" err="1"/>
              <a:t>Maidan</a:t>
            </a:r>
            <a:r>
              <a:rPr lang="en-US" dirty="0"/>
              <a:t>, later renamed as </a:t>
            </a:r>
            <a:r>
              <a:rPr lang="en-US" dirty="0" err="1"/>
              <a:t>Suhrawardy</a:t>
            </a:r>
            <a:r>
              <a:rPr lang="en-US" dirty="0"/>
              <a:t> </a:t>
            </a:r>
            <a:r>
              <a:rPr lang="en-US" dirty="0" err="1"/>
              <a:t>Udyan</a:t>
            </a:r>
            <a:r>
              <a:rPr lang="en-US" dirty="0"/>
              <a:t>, on December 16 in 1971.</a:t>
            </a:r>
          </a:p>
          <a:p>
            <a:endParaRPr lang="en-US" dirty="0"/>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642594"/>
            <a:ext cx="10058400" cy="141177"/>
          </a:xfrm>
        </p:spPr>
        <p:txBody>
          <a:bodyPr>
            <a:normAutofit fontScale="90000"/>
          </a:bodyPr>
          <a:lstStyle/>
          <a:p>
            <a:r>
              <a:t>Declaration of Independence</a:t>
            </a:r>
            <a:endParaRPr lang="en-US" dirty="0"/>
          </a:p>
        </p:txBody>
      </p:sp>
      <p:sp>
        <p:nvSpPr>
          <p:cNvPr id="3" name="Content Placeholder 2"/>
          <p:cNvSpPr>
            <a:spLocks noGrp="1"/>
          </p:cNvSpPr>
          <p:nvPr>
            <p:ph idx="1"/>
          </p:nvPr>
        </p:nvSpPr>
        <p:spPr>
          <a:xfrm>
            <a:off x="1066800" y="1058091"/>
            <a:ext cx="10058400" cy="5799909"/>
          </a:xfrm>
        </p:spPr>
        <p:txBody>
          <a:bodyPr>
            <a:normAutofit fontScale="92500" lnSpcReduction="10000"/>
          </a:bodyPr>
          <a:lstStyle/>
          <a:p>
            <a:r>
              <a:rPr lang="en-US" b="1" dirty="0"/>
              <a:t>26 March,  it is claimed that </a:t>
            </a:r>
            <a:r>
              <a:rPr lang="en-US" dirty="0"/>
              <a:t>a message from, </a:t>
            </a:r>
            <a:r>
              <a:rPr lang="en-US" cap="small" dirty="0" err="1"/>
              <a:t>bangabandhu</a:t>
            </a:r>
            <a:r>
              <a:rPr lang="en-US" cap="small" dirty="0"/>
              <a:t> sheikh </a:t>
            </a:r>
            <a:r>
              <a:rPr lang="en-US" cap="small" dirty="0" err="1"/>
              <a:t>mujibur</a:t>
            </a:r>
            <a:r>
              <a:rPr lang="en-US" cap="small" dirty="0"/>
              <a:t> </a:t>
            </a:r>
            <a:r>
              <a:rPr lang="en-US" cap="small" dirty="0" err="1"/>
              <a:t>rahman</a:t>
            </a:r>
            <a:r>
              <a:rPr lang="en-US" dirty="0"/>
              <a:t> declared independence. The message is said to have been made available to EPR shortly after midnight and it was duly broadcast through EPR radio communication system. Because the system was VHF frequency crystal controlled, not very many people did listen to the declaration. The message went:</a:t>
            </a:r>
          </a:p>
          <a:p>
            <a:pPr>
              <a:buNone/>
            </a:pPr>
            <a:r>
              <a:rPr lang="en-US" dirty="0"/>
              <a:t>  ‘This may be my last message, from today Bangladesh is independent. I call upon the people of Bangladesh wherever you might be and with whatever you have, to resist the army of occupation to the last. Your fight must go on until the last soldier of the Pakistan occupation army is expelled from the soil of Bangladesh and final victory is achieved’</a:t>
            </a:r>
          </a:p>
          <a:p>
            <a:r>
              <a:rPr lang="en-US" dirty="0"/>
              <a:t>Major </a:t>
            </a:r>
            <a:r>
              <a:rPr lang="en-US" cap="small" dirty="0" err="1"/>
              <a:t>ziaur</a:t>
            </a:r>
            <a:r>
              <a:rPr lang="en-US" cap="small" dirty="0"/>
              <a:t> </a:t>
            </a:r>
            <a:r>
              <a:rPr lang="en-US" cap="small" dirty="0" err="1"/>
              <a:t>rahman</a:t>
            </a:r>
            <a:r>
              <a:rPr lang="en-US" dirty="0"/>
              <a:t> of East Bengal Regiment declared independence the following day on behalf of </a:t>
            </a:r>
            <a:r>
              <a:rPr lang="en-US" dirty="0" err="1"/>
              <a:t>Bangabandhu</a:t>
            </a:r>
            <a:r>
              <a:rPr lang="en-US" dirty="0"/>
              <a:t> (27 March);'</a:t>
            </a:r>
          </a:p>
          <a:p>
            <a:pPr>
              <a:buNone/>
            </a:pPr>
            <a:r>
              <a:rPr lang="en-US" dirty="0"/>
              <a:t>   ‘I Major Zia, Provisional Commander-in-Chief of the Bangladesh Liberation Army, hereby proclaims, on behalf of Sheikh </a:t>
            </a:r>
            <a:r>
              <a:rPr lang="en-US" dirty="0" err="1"/>
              <a:t>Mujibur</a:t>
            </a:r>
            <a:r>
              <a:rPr lang="en-US" dirty="0"/>
              <a:t> </a:t>
            </a:r>
            <a:r>
              <a:rPr lang="en-US" dirty="0" err="1"/>
              <a:t>Rahman</a:t>
            </a:r>
            <a:r>
              <a:rPr lang="en-US" dirty="0"/>
              <a:t>, the independence of Bangladesh.</a:t>
            </a:r>
          </a:p>
          <a:p>
            <a:pPr>
              <a:buNone/>
            </a:pPr>
            <a:r>
              <a:rPr lang="en-US" dirty="0"/>
              <a:t>   'I also declare, we have already framed a sovereign, legal Government under Sheikh </a:t>
            </a:r>
            <a:r>
              <a:rPr lang="en-US" dirty="0" err="1"/>
              <a:t>Mujibur</a:t>
            </a:r>
            <a:r>
              <a:rPr lang="en-US" dirty="0"/>
              <a:t> </a:t>
            </a:r>
            <a:r>
              <a:rPr lang="en-US" dirty="0" err="1"/>
              <a:t>Rahman</a:t>
            </a:r>
            <a:r>
              <a:rPr lang="en-US" dirty="0"/>
              <a:t>, which pledges to function as per law and the constitution. The new democratic Government is committed to a policy of non-alignment in international relations. It will seek friendship with all nations and strive for international peace. I appeal to all Government(s) to </a:t>
            </a:r>
            <a:r>
              <a:rPr lang="en-US" dirty="0" err="1"/>
              <a:t>mobilige</a:t>
            </a:r>
            <a:r>
              <a:rPr lang="en-US" dirty="0"/>
              <a:t> (sic) public opinion in their respective countries against the brutal genocide in Bangladesh. The Government under Sheikh </a:t>
            </a:r>
            <a:r>
              <a:rPr lang="en-US" dirty="0" err="1"/>
              <a:t>Mujibur</a:t>
            </a:r>
            <a:r>
              <a:rPr lang="en-US" dirty="0"/>
              <a:t> </a:t>
            </a:r>
            <a:r>
              <a:rPr lang="en-US" dirty="0" err="1"/>
              <a:t>Rahman</a:t>
            </a:r>
            <a:r>
              <a:rPr lang="en-US" dirty="0"/>
              <a:t> is sovereign (and) legal Government of Bangladesh and is entitled to recognition from all democratic nations of the world.</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docProps/app.xml><?xml version="1.0" encoding="utf-8"?>
<Properties xmlns="http://schemas.openxmlformats.org/officeDocument/2006/extended-properties" xmlns:vt="http://schemas.openxmlformats.org/officeDocument/2006/docPropsVTypes">
  <Template>Savon</Template>
  <TotalTime>303</TotalTime>
  <Words>2407</Words>
  <Application>Microsoft Office PowerPoint</Application>
  <PresentationFormat>Widescreen</PresentationFormat>
  <Paragraphs>103</Paragraphs>
  <Slides>20</Slides>
  <Notes>0</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Century Gothic</vt:lpstr>
      <vt:lpstr>Courier New</vt:lpstr>
      <vt:lpstr>Garamond</vt:lpstr>
      <vt:lpstr>Wingdings</vt:lpstr>
      <vt:lpstr>Savon</vt:lpstr>
      <vt:lpstr>Liberation war of bangladesh</vt:lpstr>
      <vt:lpstr>Topographical Situation</vt:lpstr>
      <vt:lpstr>PowerPoint Presentation</vt:lpstr>
      <vt:lpstr>Non-cooperation Movement</vt:lpstr>
      <vt:lpstr>PowerPoint Presentation</vt:lpstr>
      <vt:lpstr>PowerPoint Presentation</vt:lpstr>
      <vt:lpstr>Quest for Constitutional Solution</vt:lpstr>
      <vt:lpstr>PowerPoint Presentation</vt:lpstr>
      <vt:lpstr>PowerPoint Presentation</vt:lpstr>
      <vt:lpstr>THE EXPANSION OF NON-COOPERATION MOVEMENT</vt:lpstr>
      <vt:lpstr>PowerPoint Presentation</vt:lpstr>
      <vt:lpstr>PowerPoint Presentation</vt:lpstr>
      <vt:lpstr>`</vt:lpstr>
      <vt:lpstr>In a nutshell; The 35 directives</vt:lpstr>
      <vt:lpstr>Yahyah-Bhutto-Mujib Talk</vt:lpstr>
      <vt:lpstr>                National Flag</vt:lpstr>
      <vt:lpstr>PowerPoint Presentation</vt:lpstr>
      <vt:lpstr>25th March and Declaration of Independence</vt:lpstr>
      <vt:lpstr>PowerPoint Presentation</vt:lpstr>
      <vt:lpstr>Declaration of Independence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Lenovo</cp:lastModifiedBy>
  <cp:revision>27</cp:revision>
  <dcterms:created xsi:type="dcterms:W3CDTF">2014-09-12T02:12:20Z</dcterms:created>
  <dcterms:modified xsi:type="dcterms:W3CDTF">2025-07-06T16:40:28Z</dcterms:modified>
</cp:coreProperties>
</file>