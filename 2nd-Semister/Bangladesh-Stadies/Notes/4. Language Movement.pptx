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3"/>
  </p:notesMasterIdLst>
  <p:sldIdLst>
    <p:sldId id="256" r:id="rId2"/>
    <p:sldId id="276" r:id="rId3"/>
    <p:sldId id="277" r:id="rId4"/>
    <p:sldId id="286" r:id="rId5"/>
    <p:sldId id="257" r:id="rId6"/>
    <p:sldId id="258" r:id="rId7"/>
    <p:sldId id="259" r:id="rId8"/>
    <p:sldId id="278" r:id="rId9"/>
    <p:sldId id="279" r:id="rId10"/>
    <p:sldId id="260" r:id="rId11"/>
    <p:sldId id="280" r:id="rId12"/>
    <p:sldId id="261" r:id="rId13"/>
    <p:sldId id="262" r:id="rId14"/>
    <p:sldId id="263" r:id="rId15"/>
    <p:sldId id="264" r:id="rId16"/>
    <p:sldId id="282" r:id="rId17"/>
    <p:sldId id="265" r:id="rId18"/>
    <p:sldId id="283" r:id="rId19"/>
    <p:sldId id="284" r:id="rId20"/>
    <p:sldId id="287" r:id="rId21"/>
    <p:sldId id="266" r:id="rId22"/>
    <p:sldId id="288" r:id="rId23"/>
    <p:sldId id="267" r:id="rId24"/>
    <p:sldId id="268" r:id="rId25"/>
    <p:sldId id="285" r:id="rId26"/>
    <p:sldId id="270" r:id="rId27"/>
    <p:sldId id="271" r:id="rId28"/>
    <p:sldId id="272" r:id="rId29"/>
    <p:sldId id="273" r:id="rId30"/>
    <p:sldId id="274" r:id="rId31"/>
    <p:sldId id="275"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25" d="100"/>
          <a:sy n="125" d="100"/>
        </p:scale>
        <p:origin x="226" y="-18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5F17F4F-9229-46A8-B0DE-6167F059A99B}" type="datetimeFigureOut">
              <a:rPr lang="en-US" smtClean="0"/>
              <a:pPr/>
              <a:t>5/25/2025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7B4B68-4F90-485C-AB6E-9B1973F77AB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D7B4B68-4F90-485C-AB6E-9B1973F77AB4}" type="slidenum">
              <a:rPr lang="en-US" smtClean="0"/>
              <a:pPr/>
              <a:t>24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1D8BD707-D9CF-40AE-B4C6-C98DA3205C09}" type="datetimeFigureOut">
              <a:rPr lang="en-US" smtClean="0"/>
              <a:pPr/>
              <a:t>5/25/2025</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5/25/2025</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5/25/2025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5/25/2025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5/25/2025</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8BD707-D9CF-40AE-B4C6-C98DA3205C09}" type="datetimeFigureOut">
              <a:rPr lang="en-US" smtClean="0"/>
              <a:pPr/>
              <a:t>5/25/2025</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b="1" dirty="0">
                <a:solidFill>
                  <a:srgbClr val="0070C0"/>
                </a:solidFill>
              </a:rPr>
              <a:t>Language Movement of 1948 and 1952</a:t>
            </a:r>
          </a:p>
        </p:txBody>
      </p:sp>
      <p:sp>
        <p:nvSpPr>
          <p:cNvPr id="2" name="Title 1"/>
          <p:cNvSpPr>
            <a:spLocks noGrp="1"/>
          </p:cNvSpPr>
          <p:nvPr>
            <p:ph type="ctrTitle"/>
          </p:nvPr>
        </p:nvSpPr>
        <p:spPr>
          <a:xfrm>
            <a:off x="152400" y="1505930"/>
            <a:ext cx="8991600" cy="1470025"/>
          </a:xfrm>
        </p:spPr>
        <p:txBody>
          <a:bodyPr/>
          <a:lstStyle/>
          <a:p>
            <a:r>
              <a:rPr dirty="0"/>
              <a:t>GE 1212: EMERGENCE OF BANGLADESH</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images (18).jpeg"/>
          <p:cNvPicPr>
            <a:picLocks noGrp="1" noChangeAspect="1"/>
          </p:cNvPicPr>
          <p:nvPr>
            <p:ph sz="quarter" idx="1"/>
          </p:nvPr>
        </p:nvPicPr>
        <p:blipFill>
          <a:blip r:embed="rId2"/>
          <a:stretch>
            <a:fillRect/>
          </a:stretch>
        </p:blipFill>
        <p:spPr>
          <a:xfrm>
            <a:off x="1347787" y="1909762"/>
            <a:ext cx="6905625" cy="3648075"/>
          </a:xfr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images (19).jpeg"/>
          <p:cNvPicPr>
            <a:picLocks noGrp="1" noChangeAspect="1"/>
          </p:cNvPicPr>
          <p:nvPr>
            <p:ph sz="quarter" idx="1"/>
          </p:nvPr>
        </p:nvPicPr>
        <p:blipFill>
          <a:blip r:embed="rId2"/>
          <a:stretch>
            <a:fillRect/>
          </a:stretch>
        </p:blipFill>
        <p:spPr>
          <a:xfrm>
            <a:off x="1752600" y="1447800"/>
            <a:ext cx="6096000" cy="4572000"/>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shot_20190218-002015.png"/>
          <p:cNvPicPr>
            <a:picLocks noGrp="1" noChangeAspect="1"/>
          </p:cNvPicPr>
          <p:nvPr>
            <p:ph sz="quarter" idx="1"/>
          </p:nvPr>
        </p:nvPicPr>
        <p:blipFill>
          <a:blip r:embed="rId2"/>
          <a:srcRect t="13399" r="7843" b="15142"/>
          <a:stretch>
            <a:fillRect/>
          </a:stretch>
        </p:blipFill>
        <p:spPr>
          <a:xfrm>
            <a:off x="914400" y="2133600"/>
            <a:ext cx="7162800" cy="3124200"/>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1020762"/>
          </a:xfrm>
        </p:spPr>
        <p:txBody>
          <a:bodyPr>
            <a:normAutofit fontScale="90000"/>
          </a:bodyPr>
          <a:lstStyle/>
          <a:p>
            <a:r>
              <a:rPr lang="en-US" dirty="0"/>
              <a:t>The Lingual State of Pakistan</a:t>
            </a:r>
            <a:br>
              <a:rPr lang="en-US" dirty="0"/>
            </a:br>
            <a:endParaRPr lang="en-US" dirty="0"/>
          </a:p>
        </p:txBody>
      </p:sp>
      <p:sp>
        <p:nvSpPr>
          <p:cNvPr id="3" name="Content Placeholder 2"/>
          <p:cNvSpPr>
            <a:spLocks noGrp="1"/>
          </p:cNvSpPr>
          <p:nvPr>
            <p:ph sz="quarter" idx="1"/>
          </p:nvPr>
        </p:nvSpPr>
        <p:spPr>
          <a:xfrm>
            <a:off x="914400" y="914400"/>
            <a:ext cx="7772400" cy="5105400"/>
          </a:xfrm>
        </p:spPr>
        <p:txBody>
          <a:bodyPr>
            <a:normAutofit lnSpcReduction="10000"/>
          </a:bodyPr>
          <a:lstStyle/>
          <a:p>
            <a:r>
              <a:rPr lang="en-US" dirty="0"/>
              <a:t>Urdu is an Indo-Aryan language of the Indo-Iranian branch, belonging to the Indo-European family of languages. It developed under </a:t>
            </a:r>
            <a:r>
              <a:rPr lang="en-US" u="sng" dirty="0"/>
              <a:t>Persian, Arabic and Turkic</a:t>
            </a:r>
            <a:r>
              <a:rPr lang="en-US" dirty="0"/>
              <a:t> influence on </a:t>
            </a:r>
            <a:r>
              <a:rPr lang="en-US" dirty="0" err="1"/>
              <a:t>apabhramshas</a:t>
            </a:r>
            <a:r>
              <a:rPr lang="en-US" dirty="0"/>
              <a:t> (last linguistic stage of the medieval Indian Aryan language </a:t>
            </a:r>
            <a:r>
              <a:rPr lang="en-US" dirty="0" err="1"/>
              <a:t>Pali-Prakrit</a:t>
            </a:r>
            <a:r>
              <a:rPr lang="en-US" dirty="0"/>
              <a:t>) in South Asia during the Delhi Sultanate and </a:t>
            </a:r>
            <a:r>
              <a:rPr lang="en-US" dirty="0" err="1"/>
              <a:t>Mughal</a:t>
            </a:r>
            <a:r>
              <a:rPr lang="en-US" dirty="0"/>
              <a:t> Empire. With its </a:t>
            </a:r>
            <a:r>
              <a:rPr lang="en-US" dirty="0" err="1"/>
              <a:t>Perso</a:t>
            </a:r>
            <a:r>
              <a:rPr lang="en-US" dirty="0"/>
              <a:t>-Arabic script, the language was considered a vital element of the Islamic culture for Indian Muslims; Hindi and the </a:t>
            </a:r>
            <a:r>
              <a:rPr lang="en-US" dirty="0" err="1"/>
              <a:t>Devanagari</a:t>
            </a:r>
            <a:r>
              <a:rPr lang="en-US" dirty="0"/>
              <a:t> script were seen as fundamentals of Hindu culture. </a:t>
            </a:r>
          </a:p>
          <a:p>
            <a:r>
              <a:rPr lang="en-US" dirty="0"/>
              <a:t>From the mid-19th century, the Urdu language had been promoted as the </a:t>
            </a:r>
            <a:r>
              <a:rPr lang="en-US" i="1" dirty="0"/>
              <a:t>lingua franca</a:t>
            </a:r>
            <a:r>
              <a:rPr lang="en-US" dirty="0"/>
              <a:t> of Indian Muslims by political and religious leaders, such as Sir </a:t>
            </a:r>
            <a:r>
              <a:rPr lang="en-US" dirty="0" err="1"/>
              <a:t>Khwaja</a:t>
            </a:r>
            <a:r>
              <a:rPr lang="en-US" dirty="0"/>
              <a:t> </a:t>
            </a:r>
            <a:r>
              <a:rPr lang="en-US" dirty="0" err="1"/>
              <a:t>Salimullah</a:t>
            </a:r>
            <a:r>
              <a:rPr lang="en-US" dirty="0"/>
              <a:t>, Sir </a:t>
            </a:r>
            <a:r>
              <a:rPr lang="en-US" dirty="0" err="1"/>
              <a:t>Syed</a:t>
            </a:r>
            <a:r>
              <a:rPr lang="en-US" dirty="0"/>
              <a:t> Ahmed Khan, </a:t>
            </a:r>
            <a:r>
              <a:rPr lang="en-US" dirty="0" err="1"/>
              <a:t>Nawab</a:t>
            </a:r>
            <a:r>
              <a:rPr lang="en-US" dirty="0"/>
              <a:t> </a:t>
            </a:r>
            <a:r>
              <a:rPr lang="en-US" dirty="0" err="1"/>
              <a:t>Viqar-ul-Mulk</a:t>
            </a:r>
            <a:r>
              <a:rPr lang="en-US" dirty="0"/>
              <a:t> and </a:t>
            </a:r>
            <a:r>
              <a:rPr lang="en-US" dirty="0" err="1"/>
              <a:t>Maulvi</a:t>
            </a:r>
            <a:r>
              <a:rPr lang="en-US" dirty="0"/>
              <a:t> Abdul </a:t>
            </a:r>
            <a:r>
              <a:rPr lang="en-US" dirty="0" err="1"/>
              <a:t>Haq</a:t>
            </a:r>
            <a:r>
              <a:rPr lang="en-US" dirty="0"/>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914400" y="1447800"/>
            <a:ext cx="7772400" cy="4800600"/>
          </a:xfrm>
        </p:spPr>
        <p:txBody>
          <a:bodyPr>
            <a:normAutofit/>
          </a:bodyPr>
          <a:lstStyle/>
          <a:p>
            <a:r>
              <a:rPr lang="en-US" dirty="0"/>
              <a:t>Bengali is an Eastern Indo-Aryan language that arose from the eastern Middle Indic languages around 1000 CE</a:t>
            </a:r>
            <a:r>
              <a:rPr lang="en-US" baseline="30000" dirty="0"/>
              <a:t> </a:t>
            </a:r>
            <a:r>
              <a:rPr lang="en-US" dirty="0"/>
              <a:t>and developed considerably during the Bengal Renaissance. </a:t>
            </a:r>
          </a:p>
          <a:p>
            <a:r>
              <a:rPr lang="en-US" dirty="0"/>
              <a:t>While the use of Urdu grew common with Muslims in northern India, the Muslims of Bengal primarily used the Bengali language. </a:t>
            </a:r>
          </a:p>
          <a:p>
            <a:r>
              <a:rPr lang="en-US" dirty="0"/>
              <a:t>Supporters of Bengali opposed Urdu even before the partition of India, when delegates from Bengal rejected the idea of making Urdu the lingua franca of Muslim India in the 1937 </a:t>
            </a:r>
            <a:r>
              <a:rPr lang="en-US" dirty="0" err="1"/>
              <a:t>Lucknow</a:t>
            </a:r>
            <a:r>
              <a:rPr lang="en-US" dirty="0"/>
              <a:t> session of the Muslim League. </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05800" cy="685800"/>
          </a:xfrm>
        </p:spPr>
        <p:txBody>
          <a:bodyPr>
            <a:normAutofit fontScale="90000"/>
          </a:bodyPr>
          <a:lstStyle/>
          <a:p>
            <a:r>
              <a:rPr lang="en-US" dirty="0"/>
              <a:t>Early Phases</a:t>
            </a:r>
          </a:p>
        </p:txBody>
      </p:sp>
      <p:sp>
        <p:nvSpPr>
          <p:cNvPr id="3" name="Content Placeholder 2"/>
          <p:cNvSpPr>
            <a:spLocks noGrp="1"/>
          </p:cNvSpPr>
          <p:nvPr>
            <p:ph sz="quarter" idx="1"/>
          </p:nvPr>
        </p:nvSpPr>
        <p:spPr>
          <a:xfrm>
            <a:off x="304800" y="990600"/>
            <a:ext cx="8382000" cy="5638800"/>
          </a:xfrm>
        </p:spPr>
        <p:txBody>
          <a:bodyPr>
            <a:normAutofit fontScale="85000" lnSpcReduction="20000"/>
          </a:bodyPr>
          <a:lstStyle/>
          <a:p>
            <a:r>
              <a:rPr lang="en-US" dirty="0"/>
              <a:t>The Dominion of Pakistan's government, civil services, and military, however, were dominated by personnel from the western wing of the Dominion of Pakistan. </a:t>
            </a:r>
          </a:p>
          <a:p>
            <a:r>
              <a:rPr lang="en-US" dirty="0"/>
              <a:t>In 1947, a key resolution at a national education summit in Karachi advocated Urdu as the sole state language, and its exclusive use in the media and in schools.</a:t>
            </a:r>
            <a:r>
              <a:rPr lang="en-US" baseline="30000" dirty="0"/>
              <a:t> </a:t>
            </a:r>
            <a:r>
              <a:rPr lang="en-US" dirty="0"/>
              <a:t> </a:t>
            </a:r>
          </a:p>
          <a:p>
            <a:r>
              <a:rPr lang="en-US" dirty="0"/>
              <a:t>Opposition and protests immediately arose. Students from Dhaka rallied under the leadership of </a:t>
            </a:r>
            <a:r>
              <a:rPr lang="en-US" dirty="0" err="1"/>
              <a:t>Abul</a:t>
            </a:r>
            <a:r>
              <a:rPr lang="en-US" dirty="0"/>
              <a:t> </a:t>
            </a:r>
            <a:r>
              <a:rPr lang="en-US" dirty="0" err="1"/>
              <a:t>Kashem</a:t>
            </a:r>
            <a:r>
              <a:rPr lang="en-US" dirty="0"/>
              <a:t>, the secretary of </a:t>
            </a:r>
            <a:r>
              <a:rPr lang="en-US" dirty="0" err="1"/>
              <a:t>Tamaddun</a:t>
            </a:r>
            <a:r>
              <a:rPr lang="en-US" dirty="0"/>
              <a:t> </a:t>
            </a:r>
            <a:r>
              <a:rPr lang="en-US" dirty="0" err="1"/>
              <a:t>Majlish</a:t>
            </a:r>
            <a:r>
              <a:rPr lang="en-US" dirty="0"/>
              <a:t>, a Bengali Islamic cultural </a:t>
            </a:r>
            <a:r>
              <a:rPr lang="en-US" dirty="0" err="1"/>
              <a:t>organisation</a:t>
            </a:r>
            <a:r>
              <a:rPr lang="en-US" dirty="0"/>
              <a:t>. The meeting stipulated Bengali as an official language of the Dominion of Pakistan and as a medium of education in East Bengal. </a:t>
            </a:r>
          </a:p>
          <a:p>
            <a:r>
              <a:rPr lang="en-US" dirty="0"/>
              <a:t>However, the Pakistan Public Service Commission removed Bengali from the list of approved subjects, as well as from currency notes and stamps. The central education minister </a:t>
            </a:r>
            <a:r>
              <a:rPr lang="en-US" dirty="0" err="1"/>
              <a:t>Fazlur</a:t>
            </a:r>
            <a:r>
              <a:rPr lang="en-US" dirty="0"/>
              <a:t> </a:t>
            </a:r>
            <a:r>
              <a:rPr lang="en-US" dirty="0" err="1"/>
              <a:t>Rahman</a:t>
            </a:r>
            <a:r>
              <a:rPr lang="en-US" dirty="0"/>
              <a:t> made extensive preparations to make Urdu the only state language of the Dominion of Pakistan. </a:t>
            </a:r>
          </a:p>
          <a:p>
            <a:r>
              <a:rPr lang="en-US" dirty="0"/>
              <a:t>Public outrage spread, and many Bengali students met on the University of Dhaka campus on 8 December 1947 to formally demand that Bengali be made an official language. To promote their cause, Bengali students </a:t>
            </a:r>
            <a:r>
              <a:rPr lang="en-US" dirty="0" err="1"/>
              <a:t>organised</a:t>
            </a:r>
            <a:r>
              <a:rPr lang="en-US" dirty="0"/>
              <a:t> processions and rallies in Dhaka. </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images (20).jpeg"/>
          <p:cNvPicPr>
            <a:picLocks noGrp="1" noChangeAspect="1"/>
          </p:cNvPicPr>
          <p:nvPr>
            <p:ph sz="quarter" idx="1"/>
          </p:nvPr>
        </p:nvPicPr>
        <p:blipFill>
          <a:blip r:embed="rId2"/>
          <a:stretch>
            <a:fillRect/>
          </a:stretch>
        </p:blipFill>
        <p:spPr>
          <a:xfrm>
            <a:off x="2362200" y="914400"/>
            <a:ext cx="4876800" cy="5791199"/>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download (2).jpg"/>
          <p:cNvPicPr>
            <a:picLocks noGrp="1" noChangeAspect="1"/>
          </p:cNvPicPr>
          <p:nvPr>
            <p:ph sz="quarter" idx="1"/>
          </p:nvPr>
        </p:nvPicPr>
        <p:blipFill>
          <a:blip r:embed="rId2"/>
          <a:stretch>
            <a:fillRect/>
          </a:stretch>
        </p:blipFill>
        <p:spPr>
          <a:xfrm>
            <a:off x="685800" y="2286000"/>
            <a:ext cx="1952625" cy="2343150"/>
          </a:xfrm>
        </p:spPr>
      </p:pic>
      <p:pic>
        <p:nvPicPr>
          <p:cNvPr id="5" name="Picture 4" descr="download (2).jpeg"/>
          <p:cNvPicPr>
            <a:picLocks noChangeAspect="1"/>
          </p:cNvPicPr>
          <p:nvPr/>
        </p:nvPicPr>
        <p:blipFill>
          <a:blip r:embed="rId3"/>
          <a:stretch>
            <a:fillRect/>
          </a:stretch>
        </p:blipFill>
        <p:spPr>
          <a:xfrm>
            <a:off x="3595687" y="2257425"/>
            <a:ext cx="1952625" cy="2343150"/>
          </a:xfrm>
          <a:prstGeom prst="rect">
            <a:avLst/>
          </a:prstGeom>
        </p:spPr>
      </p:pic>
      <p:pic>
        <p:nvPicPr>
          <p:cNvPr id="6" name="Picture 5" descr="images (21).jpeg"/>
          <p:cNvPicPr>
            <a:picLocks noChangeAspect="1"/>
          </p:cNvPicPr>
          <p:nvPr/>
        </p:nvPicPr>
        <p:blipFill>
          <a:blip r:embed="rId4"/>
          <a:stretch>
            <a:fillRect/>
          </a:stretch>
        </p:blipFill>
        <p:spPr>
          <a:xfrm>
            <a:off x="5791200" y="914400"/>
            <a:ext cx="2971800" cy="50196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487362"/>
          </a:xfrm>
        </p:spPr>
        <p:txBody>
          <a:bodyPr>
            <a:normAutofit fontScale="90000"/>
          </a:bodyPr>
          <a:lstStyle/>
          <a:p>
            <a:r>
              <a:rPr lang="en-US" dirty="0"/>
              <a:t>Initial Reaction</a:t>
            </a:r>
          </a:p>
        </p:txBody>
      </p:sp>
      <p:sp>
        <p:nvSpPr>
          <p:cNvPr id="3" name="Content Placeholder 2"/>
          <p:cNvSpPr>
            <a:spLocks noGrp="1"/>
          </p:cNvSpPr>
          <p:nvPr>
            <p:ph sz="quarter" idx="1"/>
          </p:nvPr>
        </p:nvSpPr>
        <p:spPr>
          <a:xfrm>
            <a:off x="914400" y="762000"/>
            <a:ext cx="7772400" cy="5257800"/>
          </a:xfrm>
        </p:spPr>
        <p:txBody>
          <a:bodyPr>
            <a:normAutofit fontScale="92500" lnSpcReduction="10000"/>
          </a:bodyPr>
          <a:lstStyle/>
          <a:p>
            <a:r>
              <a:rPr lang="en-US" dirty="0"/>
              <a:t>Leading Bengali scholars argued why Urdu should not be the only state language. The writer </a:t>
            </a:r>
            <a:r>
              <a:rPr lang="en-US" dirty="0" err="1"/>
              <a:t>Abul</a:t>
            </a:r>
            <a:r>
              <a:rPr lang="en-US" dirty="0"/>
              <a:t> Mansur Ahmed said if Urdu became the state language, the educated society of East Bengal would become 'illiterate' and 'ineligible' for government positions. </a:t>
            </a:r>
          </a:p>
          <a:p>
            <a:r>
              <a:rPr lang="en-US" dirty="0"/>
              <a:t>Assembly member </a:t>
            </a:r>
            <a:r>
              <a:rPr lang="en-US" dirty="0" err="1"/>
              <a:t>Dhirendranath</a:t>
            </a:r>
            <a:r>
              <a:rPr lang="en-US" dirty="0"/>
              <a:t> </a:t>
            </a:r>
            <a:r>
              <a:rPr lang="en-US" dirty="0" err="1"/>
              <a:t>Datta</a:t>
            </a:r>
            <a:r>
              <a:rPr lang="en-US" dirty="0"/>
              <a:t> proposed legislation in the Constituent Assembly of Pakistan to allow members to speak in Bengali and </a:t>
            </a:r>
            <a:r>
              <a:rPr lang="en-US" dirty="0" err="1"/>
              <a:t>authorise</a:t>
            </a:r>
            <a:r>
              <a:rPr lang="en-US" dirty="0"/>
              <a:t> its use for official purposes. </a:t>
            </a:r>
            <a:r>
              <a:rPr lang="en-US" dirty="0" err="1"/>
              <a:t>Datta's</a:t>
            </a:r>
            <a:r>
              <a:rPr lang="en-US" dirty="0"/>
              <a:t> proposal was supported by legislators </a:t>
            </a:r>
            <a:r>
              <a:rPr lang="en-US" dirty="0" err="1"/>
              <a:t>Prem</a:t>
            </a:r>
            <a:r>
              <a:rPr lang="en-US" dirty="0"/>
              <a:t> </a:t>
            </a:r>
            <a:r>
              <a:rPr lang="en-US" dirty="0" err="1"/>
              <a:t>Hari</a:t>
            </a:r>
            <a:r>
              <a:rPr lang="en-US" dirty="0"/>
              <a:t> </a:t>
            </a:r>
            <a:r>
              <a:rPr lang="en-US" dirty="0" err="1"/>
              <a:t>Burman</a:t>
            </a:r>
            <a:r>
              <a:rPr lang="en-US" dirty="0"/>
              <a:t>, </a:t>
            </a:r>
            <a:r>
              <a:rPr lang="en-US" dirty="0" err="1"/>
              <a:t>Bhupendra</a:t>
            </a:r>
            <a:r>
              <a:rPr lang="en-US" dirty="0"/>
              <a:t> Kumar </a:t>
            </a:r>
            <a:r>
              <a:rPr lang="en-US" dirty="0" err="1"/>
              <a:t>Datta</a:t>
            </a:r>
            <a:r>
              <a:rPr lang="en-US" dirty="0"/>
              <a:t> and </a:t>
            </a:r>
            <a:r>
              <a:rPr lang="en-US" dirty="0" err="1"/>
              <a:t>Sris</a:t>
            </a:r>
            <a:r>
              <a:rPr lang="en-US" dirty="0"/>
              <a:t> Chandra </a:t>
            </a:r>
            <a:r>
              <a:rPr lang="en-US" dirty="0" err="1"/>
              <a:t>Chattaopadhyaya</a:t>
            </a:r>
            <a:r>
              <a:rPr lang="en-US" dirty="0"/>
              <a:t> of East Bengal, as well as the people from the region. </a:t>
            </a:r>
          </a:p>
          <a:p>
            <a:r>
              <a:rPr lang="en-US" dirty="0"/>
              <a:t>Prime minister </a:t>
            </a:r>
            <a:r>
              <a:rPr lang="en-US" dirty="0" err="1"/>
              <a:t>Liaquat</a:t>
            </a:r>
            <a:r>
              <a:rPr lang="en-US" dirty="0"/>
              <a:t> Ali Khan and the Muslim League denounced the proposal as an attempt to divide the Pakistani people, thus the legislation was defeated. </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220px-Dhirendranath_datta.jpg"/>
          <p:cNvPicPr>
            <a:picLocks noGrp="1" noChangeAspect="1"/>
          </p:cNvPicPr>
          <p:nvPr>
            <p:ph sz="quarter" idx="1"/>
          </p:nvPr>
        </p:nvPicPr>
        <p:blipFill>
          <a:blip r:embed="rId2"/>
          <a:stretch>
            <a:fillRect/>
          </a:stretch>
        </p:blipFill>
        <p:spPr>
          <a:xfrm>
            <a:off x="5486400" y="2438400"/>
            <a:ext cx="2095500" cy="2533650"/>
          </a:xfrm>
        </p:spPr>
      </p:pic>
      <p:pic>
        <p:nvPicPr>
          <p:cNvPr id="5" name="Picture 4" descr="download (1).jpeg"/>
          <p:cNvPicPr>
            <a:picLocks noChangeAspect="1"/>
          </p:cNvPicPr>
          <p:nvPr/>
        </p:nvPicPr>
        <p:blipFill>
          <a:blip r:embed="rId3"/>
          <a:stretch>
            <a:fillRect/>
          </a:stretch>
        </p:blipFill>
        <p:spPr>
          <a:xfrm>
            <a:off x="1447800" y="2514600"/>
            <a:ext cx="1733550" cy="22383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639762"/>
          </a:xfrm>
        </p:spPr>
        <p:txBody>
          <a:bodyPr>
            <a:normAutofit fontScale="90000"/>
          </a:bodyPr>
          <a:lstStyle/>
          <a:p>
            <a:r>
              <a:rPr lang="en-US" dirty="0"/>
              <a:t>Formation of Committees</a:t>
            </a:r>
          </a:p>
        </p:txBody>
      </p:sp>
      <p:sp>
        <p:nvSpPr>
          <p:cNvPr id="3" name="Content Placeholder 2"/>
          <p:cNvSpPr>
            <a:spLocks noGrp="1"/>
          </p:cNvSpPr>
          <p:nvPr>
            <p:ph sz="quarter" idx="1"/>
          </p:nvPr>
        </p:nvSpPr>
        <p:spPr>
          <a:xfrm>
            <a:off x="914400" y="990600"/>
            <a:ext cx="7772400" cy="5029200"/>
          </a:xfrm>
        </p:spPr>
        <p:txBody>
          <a:bodyPr/>
          <a:lstStyle/>
          <a:p>
            <a:r>
              <a:rPr lang="en-US" dirty="0"/>
              <a:t>The first </a:t>
            </a:r>
            <a:r>
              <a:rPr lang="en-US" dirty="0" err="1"/>
              <a:t>Rastrabhasa</a:t>
            </a:r>
            <a:r>
              <a:rPr lang="en-US" dirty="0"/>
              <a:t> </a:t>
            </a:r>
            <a:r>
              <a:rPr lang="en-US" dirty="0" err="1"/>
              <a:t>Sangram</a:t>
            </a:r>
            <a:r>
              <a:rPr lang="en-US" dirty="0"/>
              <a:t> </a:t>
            </a:r>
            <a:r>
              <a:rPr lang="en-US" dirty="0" err="1"/>
              <a:t>Parishad</a:t>
            </a:r>
            <a:r>
              <a:rPr lang="en-US" dirty="0"/>
              <a:t> (National Language Action Committee), an </a:t>
            </a:r>
            <a:r>
              <a:rPr lang="en-US" dirty="0" err="1"/>
              <a:t>organisation</a:t>
            </a:r>
            <a:r>
              <a:rPr lang="en-US" dirty="0"/>
              <a:t> in </a:t>
            </a:r>
            <a:r>
              <a:rPr lang="en-US" dirty="0" err="1"/>
              <a:t>favour</a:t>
            </a:r>
            <a:r>
              <a:rPr lang="en-US" dirty="0"/>
              <a:t> of Bengali as a state language was formed towards the end of December 1947. Professor </a:t>
            </a:r>
            <a:r>
              <a:rPr lang="en-US" dirty="0" err="1"/>
              <a:t>Nurul</a:t>
            </a:r>
            <a:r>
              <a:rPr lang="en-US" dirty="0"/>
              <a:t> </a:t>
            </a:r>
            <a:r>
              <a:rPr lang="en-US" dirty="0" err="1"/>
              <a:t>Huq</a:t>
            </a:r>
            <a:r>
              <a:rPr lang="en-US" dirty="0"/>
              <a:t> </a:t>
            </a:r>
            <a:r>
              <a:rPr lang="en-US" dirty="0" err="1"/>
              <a:t>Bhuiyan</a:t>
            </a:r>
            <a:r>
              <a:rPr lang="en-US" dirty="0"/>
              <a:t> of the </a:t>
            </a:r>
            <a:r>
              <a:rPr lang="en-US" dirty="0" err="1"/>
              <a:t>Tamaddun</a:t>
            </a:r>
            <a:r>
              <a:rPr lang="en-US" dirty="0"/>
              <a:t> </a:t>
            </a:r>
            <a:r>
              <a:rPr lang="en-US" dirty="0" err="1"/>
              <a:t>Majlish</a:t>
            </a:r>
            <a:r>
              <a:rPr lang="en-US" dirty="0"/>
              <a:t> convened the committee. </a:t>
            </a:r>
          </a:p>
          <a:p>
            <a:r>
              <a:rPr lang="en-US" dirty="0"/>
              <a:t>Later, Parliament member </a:t>
            </a:r>
            <a:r>
              <a:rPr lang="en-US" dirty="0" err="1"/>
              <a:t>Shamsul</a:t>
            </a:r>
            <a:r>
              <a:rPr lang="en-US" dirty="0"/>
              <a:t> </a:t>
            </a:r>
            <a:r>
              <a:rPr lang="en-US" dirty="0" err="1"/>
              <a:t>Huq</a:t>
            </a:r>
            <a:r>
              <a:rPr lang="en-US" dirty="0"/>
              <a:t> convened a new committee to push for Bengali as a state language. </a:t>
            </a:r>
          </a:p>
          <a:p>
            <a:r>
              <a:rPr lang="en-US" dirty="0"/>
              <a:t>On 31 January, 1952 the </a:t>
            </a:r>
            <a:r>
              <a:rPr lang="en-US" i="1" dirty="0" err="1"/>
              <a:t>Shorbodolio</a:t>
            </a:r>
            <a:r>
              <a:rPr lang="en-US" i="1" dirty="0"/>
              <a:t> </a:t>
            </a:r>
            <a:r>
              <a:rPr lang="en-US" i="1" dirty="0" err="1"/>
              <a:t>Kendrio</a:t>
            </a:r>
            <a:r>
              <a:rPr lang="en-US" i="1" dirty="0"/>
              <a:t> </a:t>
            </a:r>
            <a:r>
              <a:rPr lang="en-US" i="1" dirty="0" err="1"/>
              <a:t>Rashtrobhasha</a:t>
            </a:r>
            <a:r>
              <a:rPr lang="en-US" i="1" dirty="0"/>
              <a:t> </a:t>
            </a:r>
            <a:r>
              <a:rPr lang="en-US" i="1" dirty="0" err="1"/>
              <a:t>Kormi</a:t>
            </a:r>
            <a:r>
              <a:rPr lang="en-US" i="1" dirty="0"/>
              <a:t> </a:t>
            </a:r>
            <a:r>
              <a:rPr lang="en-US" i="1" dirty="0" err="1"/>
              <a:t>Porishod</a:t>
            </a:r>
            <a:r>
              <a:rPr lang="en-US" dirty="0"/>
              <a:t> (All-Party Central Language Action Committee) was formed in a meeting at the Bar Library Hall of the University of Dhaka, chaired by </a:t>
            </a:r>
            <a:r>
              <a:rPr lang="en-US" dirty="0" err="1"/>
              <a:t>Maulana</a:t>
            </a:r>
            <a:r>
              <a:rPr lang="en-US" dirty="0"/>
              <a:t> </a:t>
            </a:r>
            <a:r>
              <a:rPr lang="en-US" dirty="0" err="1"/>
              <a:t>Bhashani</a:t>
            </a:r>
            <a:r>
              <a:rPr lang="en-US" dirty="0"/>
              <a:t>. </a:t>
            </a:r>
          </a:p>
          <a:p>
            <a:endParaRPr lang="en-US" dirty="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15962"/>
          </a:xfrm>
        </p:spPr>
        <p:txBody>
          <a:bodyPr>
            <a:normAutofit fontScale="90000"/>
          </a:bodyPr>
          <a:lstStyle/>
          <a:p>
            <a:r>
              <a:rPr lang="en-US" dirty="0"/>
              <a:t>Agitations of 1948</a:t>
            </a:r>
          </a:p>
        </p:txBody>
      </p:sp>
      <p:sp>
        <p:nvSpPr>
          <p:cNvPr id="3" name="Content Placeholder 2"/>
          <p:cNvSpPr>
            <a:spLocks noGrp="1"/>
          </p:cNvSpPr>
          <p:nvPr>
            <p:ph sz="quarter" idx="1"/>
          </p:nvPr>
        </p:nvSpPr>
        <p:spPr>
          <a:xfrm>
            <a:off x="914400" y="1752600"/>
            <a:ext cx="7772400" cy="5105400"/>
          </a:xfrm>
        </p:spPr>
        <p:txBody>
          <a:bodyPr>
            <a:normAutofit/>
          </a:bodyPr>
          <a:lstStyle/>
          <a:p>
            <a:r>
              <a:rPr lang="en-US" dirty="0"/>
              <a:t>Students of the University of Dhaka and other colleges of the city </a:t>
            </a:r>
            <a:r>
              <a:rPr lang="en-US" dirty="0" err="1"/>
              <a:t>organised</a:t>
            </a:r>
            <a:r>
              <a:rPr lang="en-US" dirty="0"/>
              <a:t> a general strike on 11 March 1948 to protest the omission of Bengali language from official use, including coins, stamps and recruitment tests for the navy. </a:t>
            </a:r>
          </a:p>
          <a:p>
            <a:r>
              <a:rPr lang="en-US" dirty="0"/>
              <a:t>The movement restated the demand that Bengali be declared an official language of the Dominion of Pakistan. Political leaders such as Shamsul Huq, Sheikh Mujibur Rahman, Shawkat Ali, M Sirajul Islam, Kazi Golam Mahboob, Oli Ahad, Abdul Wahed and others were arrested during the rallies.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92500" lnSpcReduction="10000"/>
          </a:bodyPr>
          <a:lstStyle/>
          <a:p>
            <a:r>
              <a:rPr lang="en-US" dirty="0"/>
              <a:t>In the afternoon of 11 March, a meeting was held to protest police brutality and arrests. A group of students marching towards the chief minister </a:t>
            </a:r>
            <a:r>
              <a:rPr lang="en-US" u="sng" dirty="0" err="1"/>
              <a:t>Khawaja</a:t>
            </a:r>
            <a:r>
              <a:rPr lang="en-US" u="sng" dirty="0"/>
              <a:t> </a:t>
            </a:r>
            <a:r>
              <a:rPr lang="en-US" u="sng" dirty="0" err="1"/>
              <a:t>Nazimuddin</a:t>
            </a:r>
            <a:r>
              <a:rPr lang="en-US" dirty="0" err="1"/>
              <a:t>'s</a:t>
            </a:r>
            <a:r>
              <a:rPr lang="en-US" dirty="0"/>
              <a:t> house was stopped in front of the </a:t>
            </a:r>
            <a:r>
              <a:rPr lang="en-US" u="sng" dirty="0"/>
              <a:t>Dhaka High Court</a:t>
            </a:r>
            <a:r>
              <a:rPr lang="en-US" dirty="0"/>
              <a:t>. </a:t>
            </a:r>
          </a:p>
          <a:p>
            <a:r>
              <a:rPr lang="en-US" dirty="0"/>
              <a:t>The rally changed its direction and moved in the direction of the Secretariat building. Police attacked the procession injuring several students and leaders, including </a:t>
            </a:r>
            <a:r>
              <a:rPr lang="en-US" u="sng" dirty="0"/>
              <a:t>A. K. </a:t>
            </a:r>
            <a:r>
              <a:rPr lang="en-US" u="sng" dirty="0" err="1"/>
              <a:t>Fazlul</a:t>
            </a:r>
            <a:r>
              <a:rPr lang="en-US" u="sng" dirty="0"/>
              <a:t> </a:t>
            </a:r>
            <a:r>
              <a:rPr lang="en-US" u="sng" dirty="0" err="1"/>
              <a:t>Huq</a:t>
            </a:r>
            <a:r>
              <a:rPr lang="en-US" dirty="0"/>
              <a:t>. Continuing strikes were observed the following four days. </a:t>
            </a:r>
          </a:p>
          <a:p>
            <a:r>
              <a:rPr lang="en-US" dirty="0"/>
              <a:t>Under such circumstances, the chief minister </a:t>
            </a:r>
            <a:r>
              <a:rPr lang="en-US" dirty="0" err="1"/>
              <a:t>Nazimuddin</a:t>
            </a:r>
            <a:r>
              <a:rPr lang="en-US" dirty="0"/>
              <a:t> signed an accord with the student leaders agreeing to some terms and conditions, without complying to the demand that Bengali be made a state language. </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411162"/>
          </a:xfrm>
        </p:spPr>
        <p:txBody>
          <a:bodyPr>
            <a:normAutofit fontScale="90000"/>
          </a:bodyPr>
          <a:lstStyle/>
          <a:p>
            <a:r>
              <a:rPr lang="en-US" dirty="0"/>
              <a:t>Jinnah’s Arrival and………</a:t>
            </a:r>
          </a:p>
        </p:txBody>
      </p:sp>
      <p:sp>
        <p:nvSpPr>
          <p:cNvPr id="3" name="Content Placeholder 2"/>
          <p:cNvSpPr>
            <a:spLocks noGrp="1"/>
          </p:cNvSpPr>
          <p:nvPr>
            <p:ph sz="quarter" idx="1"/>
          </p:nvPr>
        </p:nvSpPr>
        <p:spPr>
          <a:xfrm>
            <a:off x="914400" y="762000"/>
            <a:ext cx="7772400" cy="5943600"/>
          </a:xfrm>
        </p:spPr>
        <p:txBody>
          <a:bodyPr>
            <a:normAutofit fontScale="77500" lnSpcReduction="20000"/>
          </a:bodyPr>
          <a:lstStyle/>
          <a:p>
            <a:r>
              <a:rPr lang="en-US" dirty="0"/>
              <a:t>In the height of civic unrest, Governor-General of Pakistan Muhammad Ali Jinnah arrived in Dhaka on 19 March 1948. </a:t>
            </a:r>
          </a:p>
          <a:p>
            <a:r>
              <a:rPr lang="en-US" dirty="0"/>
              <a:t>On 21 March, at a civic reception at Racecourse Ground, he claimed that the language issue was designed by a "fifth column" to divide Pakistani Muslims. Jinnah further declared that "Urdu, and only Urdu" embodied the spirit of Muslim nations and would remain as the state language, </a:t>
            </a:r>
            <a:r>
              <a:rPr lang="en-US" dirty="0" err="1"/>
              <a:t>labelling</a:t>
            </a:r>
            <a:r>
              <a:rPr lang="en-US" dirty="0"/>
              <a:t> those who disagreed with his views as "Enemies of Pakistan". </a:t>
            </a:r>
          </a:p>
          <a:p>
            <a:r>
              <a:rPr lang="en-US" dirty="0"/>
              <a:t>Jinnah delivered a similar speech at Curzon Hall of the University of Dhaka on 24 March. At both meetings, Jinnah was interrupted by large segments of the audience. </a:t>
            </a:r>
          </a:p>
          <a:p>
            <a:r>
              <a:rPr lang="en-US" dirty="0"/>
              <a:t>He later called a meeting of a state language committee of action, and overruled the contract that was signed by </a:t>
            </a:r>
            <a:r>
              <a:rPr lang="en-US" dirty="0" err="1"/>
              <a:t>Khawaja</a:t>
            </a:r>
            <a:r>
              <a:rPr lang="en-US" dirty="0"/>
              <a:t> </a:t>
            </a:r>
            <a:r>
              <a:rPr lang="en-US" dirty="0" err="1"/>
              <a:t>Nazimuddin</a:t>
            </a:r>
            <a:r>
              <a:rPr lang="en-US" dirty="0"/>
              <a:t> with the student leaders. Before Jinnah left Dhaka on 28 March, he delivered a speech on radio reasserting his "Urdu-only" policy. </a:t>
            </a:r>
          </a:p>
          <a:p>
            <a:r>
              <a:rPr lang="en-US" dirty="0"/>
              <a:t>Shortly thereafter, the East Bengal Language Committee, presided by </a:t>
            </a:r>
            <a:r>
              <a:rPr lang="en-US" dirty="0" err="1"/>
              <a:t>Maulana</a:t>
            </a:r>
            <a:r>
              <a:rPr lang="en-US" dirty="0"/>
              <a:t> </a:t>
            </a:r>
            <a:r>
              <a:rPr lang="en-US" dirty="0" err="1"/>
              <a:t>Akram</a:t>
            </a:r>
            <a:r>
              <a:rPr lang="en-US" dirty="0"/>
              <a:t> Khan, was formed by the East Bengal government to prepare a report on the language problem. The Committee completed its report on 6 December 1950, but it was not published until 1958. The government suggested that Bengali be written in Arabic script, as a potential solution to the language conflict. </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images (12).jpeg"/>
          <p:cNvPicPr>
            <a:picLocks noGrp="1" noChangeAspect="1"/>
          </p:cNvPicPr>
          <p:nvPr>
            <p:ph sz="quarter" idx="1"/>
          </p:nvPr>
        </p:nvPicPr>
        <p:blipFill>
          <a:blip r:embed="rId2"/>
          <a:stretch>
            <a:fillRect/>
          </a:stretch>
        </p:blipFill>
        <p:spPr>
          <a:xfrm>
            <a:off x="2419350" y="2305050"/>
            <a:ext cx="4762500" cy="2857500"/>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1020762"/>
          </a:xfrm>
        </p:spPr>
        <p:txBody>
          <a:bodyPr>
            <a:normAutofit fontScale="90000"/>
          </a:bodyPr>
          <a:lstStyle/>
          <a:p>
            <a:r>
              <a:rPr lang="en-US" dirty="0"/>
              <a:t>Events of 1952</a:t>
            </a:r>
            <a:br>
              <a:rPr lang="en-US" b="1" dirty="0"/>
            </a:br>
            <a:endParaRPr lang="en-US" dirty="0"/>
          </a:p>
        </p:txBody>
      </p:sp>
      <p:sp>
        <p:nvSpPr>
          <p:cNvPr id="3" name="Content Placeholder 2"/>
          <p:cNvSpPr>
            <a:spLocks noGrp="1"/>
          </p:cNvSpPr>
          <p:nvPr>
            <p:ph sz="quarter" idx="1"/>
          </p:nvPr>
        </p:nvSpPr>
        <p:spPr>
          <a:xfrm>
            <a:off x="304800" y="990600"/>
            <a:ext cx="8382000" cy="5867400"/>
          </a:xfrm>
        </p:spPr>
        <p:txBody>
          <a:bodyPr>
            <a:normAutofit fontScale="92500" lnSpcReduction="10000"/>
          </a:bodyPr>
          <a:lstStyle/>
          <a:p>
            <a:r>
              <a:rPr lang="en-US" dirty="0"/>
              <a:t>26</a:t>
            </a:r>
            <a:r>
              <a:rPr lang="en-US" baseline="30000" dirty="0"/>
              <a:t>th</a:t>
            </a:r>
            <a:r>
              <a:rPr lang="en-US" dirty="0"/>
              <a:t> January- The Basic Principles Committee of the Constituent Assembly</a:t>
            </a:r>
          </a:p>
          <a:p>
            <a:r>
              <a:rPr lang="en-US" dirty="0"/>
              <a:t>The Urdu-Bengali controversy was reignited when Jinnah's successor, governor-general </a:t>
            </a:r>
            <a:r>
              <a:rPr lang="en-US" dirty="0" err="1"/>
              <a:t>Khawaja</a:t>
            </a:r>
            <a:r>
              <a:rPr lang="en-US" dirty="0"/>
              <a:t> </a:t>
            </a:r>
            <a:r>
              <a:rPr lang="en-US" dirty="0" err="1"/>
              <a:t>Nazimuddin</a:t>
            </a:r>
            <a:r>
              <a:rPr lang="en-US" dirty="0"/>
              <a:t>, staunchly defended the "Urdu-only" policy in a speech on 27 January 1952.</a:t>
            </a:r>
          </a:p>
          <a:p>
            <a:r>
              <a:rPr lang="en-US" dirty="0"/>
              <a:t>30 January- RSP called nationwide student strike and mass meeting</a:t>
            </a:r>
          </a:p>
          <a:p>
            <a:r>
              <a:rPr lang="en-US" dirty="0"/>
              <a:t>On 31 January, the </a:t>
            </a:r>
            <a:r>
              <a:rPr lang="en-US" i="1" dirty="0" err="1"/>
              <a:t>Shorbodolio</a:t>
            </a:r>
            <a:r>
              <a:rPr lang="en-US" i="1" dirty="0"/>
              <a:t> </a:t>
            </a:r>
            <a:r>
              <a:rPr lang="en-US" i="1" dirty="0" err="1"/>
              <a:t>Kendrio</a:t>
            </a:r>
            <a:r>
              <a:rPr lang="en-US" i="1" dirty="0"/>
              <a:t> </a:t>
            </a:r>
            <a:r>
              <a:rPr lang="en-US" i="1" dirty="0" err="1"/>
              <a:t>Rashtrobhasha</a:t>
            </a:r>
            <a:r>
              <a:rPr lang="en-US" i="1" dirty="0"/>
              <a:t> </a:t>
            </a:r>
            <a:r>
              <a:rPr lang="en-US" i="1" dirty="0" err="1"/>
              <a:t>Kormi</a:t>
            </a:r>
            <a:r>
              <a:rPr lang="en-US" i="1" dirty="0"/>
              <a:t> </a:t>
            </a:r>
            <a:r>
              <a:rPr lang="en-US" i="1" dirty="0" err="1"/>
              <a:t>Porishod</a:t>
            </a:r>
            <a:r>
              <a:rPr lang="en-US" dirty="0"/>
              <a:t>(All-Party Central Language Action Committee) was formed in a meeting at the Bar Library Hall of the University of Dhaka, chaired by </a:t>
            </a:r>
            <a:r>
              <a:rPr lang="en-US" dirty="0" err="1"/>
              <a:t>Maulana</a:t>
            </a:r>
            <a:r>
              <a:rPr lang="en-US" dirty="0"/>
              <a:t> </a:t>
            </a:r>
            <a:r>
              <a:rPr lang="en-US" dirty="0" err="1"/>
              <a:t>Bhashani</a:t>
            </a:r>
            <a:r>
              <a:rPr lang="en-US" dirty="0"/>
              <a:t>. </a:t>
            </a:r>
          </a:p>
          <a:p>
            <a:r>
              <a:rPr lang="en-US" dirty="0"/>
              <a:t>The central government's proposal of writing the Bengali language in Arabic script was vehemently opposed at the meeting. </a:t>
            </a:r>
          </a:p>
          <a:p>
            <a:r>
              <a:rPr lang="en-US" dirty="0"/>
              <a:t>The action committee called for an all out protest on 21 February, including strikes and rallies. In an attempt to prevent the demonstration, the government imposed Section 144 in Dhaka, thereby banning any gathering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2013-02-21__ed02.jpg"/>
          <p:cNvPicPr>
            <a:picLocks noGrp="1" noChangeAspect="1"/>
          </p:cNvPicPr>
          <p:nvPr>
            <p:ph sz="quarter" idx="1"/>
          </p:nvPr>
        </p:nvPicPr>
        <p:blipFill>
          <a:blip r:embed="rId2"/>
          <a:stretch>
            <a:fillRect/>
          </a:stretch>
        </p:blipFill>
        <p:spPr>
          <a:xfrm>
            <a:off x="2057400" y="457200"/>
            <a:ext cx="5080000" cy="2641600"/>
          </a:xfrm>
        </p:spPr>
      </p:pic>
      <p:pic>
        <p:nvPicPr>
          <p:cNvPr id="5" name="Picture 4" descr="images (26).jpeg"/>
          <p:cNvPicPr>
            <a:picLocks noChangeAspect="1"/>
          </p:cNvPicPr>
          <p:nvPr/>
        </p:nvPicPr>
        <p:blipFill>
          <a:blip r:embed="rId3"/>
          <a:stretch>
            <a:fillRect/>
          </a:stretch>
        </p:blipFill>
        <p:spPr>
          <a:xfrm>
            <a:off x="609600" y="3657600"/>
            <a:ext cx="2343150" cy="2343150"/>
          </a:xfrm>
          <a:prstGeom prst="rect">
            <a:avLst/>
          </a:prstGeom>
        </p:spPr>
      </p:pic>
      <p:pic>
        <p:nvPicPr>
          <p:cNvPr id="6" name="Picture 5" descr="mwo-mw012646.jpg"/>
          <p:cNvPicPr>
            <a:picLocks noChangeAspect="1"/>
          </p:cNvPicPr>
          <p:nvPr/>
        </p:nvPicPr>
        <p:blipFill>
          <a:blip r:embed="rId4"/>
          <a:stretch>
            <a:fillRect/>
          </a:stretch>
        </p:blipFill>
        <p:spPr>
          <a:xfrm>
            <a:off x="3581400" y="3505200"/>
            <a:ext cx="5271951" cy="2667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gayebi-janaza-rally.jpg"/>
          <p:cNvPicPr>
            <a:picLocks noGrp="1" noChangeAspect="1"/>
          </p:cNvPicPr>
          <p:nvPr>
            <p:ph sz="quarter" idx="1"/>
          </p:nvPr>
        </p:nvPicPr>
        <p:blipFill>
          <a:blip r:embed="rId2"/>
          <a:stretch>
            <a:fillRect/>
          </a:stretch>
        </p:blipFill>
        <p:spPr>
          <a:xfrm>
            <a:off x="0" y="1447800"/>
            <a:ext cx="4646141" cy="4572000"/>
          </a:xfrm>
        </p:spPr>
      </p:pic>
      <p:pic>
        <p:nvPicPr>
          <p:cNvPr id="5" name="Picture 4" descr="images (23).jpeg"/>
          <p:cNvPicPr>
            <a:picLocks noChangeAspect="1"/>
          </p:cNvPicPr>
          <p:nvPr/>
        </p:nvPicPr>
        <p:blipFill>
          <a:blip r:embed="rId3"/>
          <a:stretch>
            <a:fillRect/>
          </a:stretch>
        </p:blipFill>
        <p:spPr>
          <a:xfrm>
            <a:off x="4876800" y="1447800"/>
            <a:ext cx="3938587" cy="46005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304800" y="1447800"/>
            <a:ext cx="8382000" cy="5105400"/>
          </a:xfrm>
        </p:spPr>
        <p:txBody>
          <a:bodyPr/>
          <a:lstStyle/>
          <a:p>
            <a:r>
              <a:rPr lang="en-US" dirty="0"/>
              <a:t>4</a:t>
            </a:r>
            <a:r>
              <a:rPr lang="en-US" baseline="30000" dirty="0"/>
              <a:t>th</a:t>
            </a:r>
            <a:r>
              <a:rPr lang="en-US" dirty="0"/>
              <a:t> February- Massive protests observed throughout the country</a:t>
            </a:r>
          </a:p>
          <a:p>
            <a:r>
              <a:rPr lang="en-US" dirty="0"/>
              <a:t>20 </a:t>
            </a:r>
            <a:r>
              <a:rPr lang="en-US" dirty="0" err="1"/>
              <a:t>th</a:t>
            </a:r>
            <a:r>
              <a:rPr lang="en-US" dirty="0"/>
              <a:t> Feruary-144 section for One Month</a:t>
            </a:r>
          </a:p>
          <a:p>
            <a:r>
              <a:rPr lang="en-US" dirty="0"/>
              <a:t>20</a:t>
            </a:r>
            <a:r>
              <a:rPr lang="en-US" baseline="30000" dirty="0"/>
              <a:t>th</a:t>
            </a:r>
            <a:r>
              <a:rPr lang="en-US" dirty="0"/>
              <a:t> February</a:t>
            </a:r>
          </a:p>
        </p:txBody>
      </p:sp>
      <p:pic>
        <p:nvPicPr>
          <p:cNvPr id="4" name="Picture 3" descr="4th_Feb_1952_NobabPureRoad.jpg"/>
          <p:cNvPicPr>
            <a:picLocks noChangeAspect="1"/>
          </p:cNvPicPr>
          <p:nvPr/>
        </p:nvPicPr>
        <p:blipFill>
          <a:blip r:embed="rId2"/>
          <a:stretch>
            <a:fillRect/>
          </a:stretch>
        </p:blipFill>
        <p:spPr>
          <a:xfrm>
            <a:off x="2971800" y="3886200"/>
            <a:ext cx="2672308" cy="165230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458200" cy="563562"/>
          </a:xfrm>
        </p:spPr>
        <p:txBody>
          <a:bodyPr>
            <a:normAutofit fontScale="90000"/>
          </a:bodyPr>
          <a:lstStyle/>
          <a:p>
            <a:r>
              <a:rPr lang="en-US" dirty="0"/>
              <a:t>21</a:t>
            </a:r>
            <a:r>
              <a:rPr lang="en-US" baseline="30000" dirty="0"/>
              <a:t>st</a:t>
            </a:r>
            <a:r>
              <a:rPr lang="en-US" dirty="0"/>
              <a:t> February</a:t>
            </a:r>
          </a:p>
        </p:txBody>
      </p:sp>
      <p:sp>
        <p:nvSpPr>
          <p:cNvPr id="3" name="Content Placeholder 2"/>
          <p:cNvSpPr>
            <a:spLocks noGrp="1"/>
          </p:cNvSpPr>
          <p:nvPr>
            <p:ph sz="quarter" idx="1"/>
          </p:nvPr>
        </p:nvSpPr>
        <p:spPr>
          <a:xfrm>
            <a:off x="152400" y="381000"/>
            <a:ext cx="8991600" cy="6477000"/>
          </a:xfrm>
        </p:spPr>
        <p:txBody>
          <a:bodyPr>
            <a:normAutofit fontScale="77500" lnSpcReduction="20000"/>
          </a:bodyPr>
          <a:lstStyle/>
          <a:p>
            <a:pPr>
              <a:buNone/>
            </a:pPr>
            <a:endParaRPr lang="en-US" b="1" dirty="0"/>
          </a:p>
          <a:p>
            <a:r>
              <a:rPr lang="en-US" dirty="0"/>
              <a:t>At nine o'clock in the morning, students began gathering on the University of Dhaka premises in defiance of Section 144..</a:t>
            </a:r>
          </a:p>
          <a:p>
            <a:r>
              <a:rPr lang="en-US" dirty="0"/>
              <a:t> By a quarter past eleven, students gathered at the university gate and attempted to break the police line. Police fired tear gas shells towards the gate to warn the students. A section of students ran into the Dhaka Medical College while others rallied towards the university premises cordoned by the police. </a:t>
            </a:r>
          </a:p>
          <a:p>
            <a:r>
              <a:rPr lang="en-US" dirty="0"/>
              <a:t>The vice-chancellor asked police to stop firing and ordered the students to leave the area. However, the police arrested several students for violating section 144 as they attempted to leave. Enraged by the arrests, the students met around the East Bengal Legislative Assembly and blocked the legislators' way, asking them to present their insistence at the assembly. </a:t>
            </a:r>
          </a:p>
          <a:p>
            <a:r>
              <a:rPr lang="en-US" dirty="0"/>
              <a:t>When a group of students sought to storm into the building, police opened fire and killed a number of students, including </a:t>
            </a:r>
            <a:r>
              <a:rPr lang="en-US" dirty="0" err="1"/>
              <a:t>Abdus</a:t>
            </a:r>
            <a:r>
              <a:rPr lang="en-US" dirty="0"/>
              <a:t> Salam, </a:t>
            </a:r>
            <a:r>
              <a:rPr lang="en-US" dirty="0" err="1"/>
              <a:t>Rafiq</a:t>
            </a:r>
            <a:r>
              <a:rPr lang="en-US" dirty="0"/>
              <a:t> </a:t>
            </a:r>
            <a:r>
              <a:rPr lang="en-US" dirty="0" err="1"/>
              <a:t>Uddin</a:t>
            </a:r>
            <a:r>
              <a:rPr lang="en-US" dirty="0"/>
              <a:t> Ahmed, </a:t>
            </a:r>
            <a:r>
              <a:rPr lang="en-US" dirty="0" err="1"/>
              <a:t>Abul</a:t>
            </a:r>
            <a:r>
              <a:rPr lang="en-US" dirty="0"/>
              <a:t> </a:t>
            </a:r>
            <a:r>
              <a:rPr lang="en-US" dirty="0" err="1"/>
              <a:t>Barkat</a:t>
            </a:r>
            <a:r>
              <a:rPr lang="en-US" dirty="0"/>
              <a:t> and Abdul </a:t>
            </a:r>
            <a:r>
              <a:rPr lang="en-US" dirty="0" err="1"/>
              <a:t>Jabbar</a:t>
            </a:r>
            <a:r>
              <a:rPr lang="en-US" dirty="0"/>
              <a:t>.  As the news of the killings spread, disorder erupted across the city. Shops, offices and public transport were shut down and a general strike began. </a:t>
            </a:r>
          </a:p>
          <a:p>
            <a:r>
              <a:rPr lang="en-US" dirty="0"/>
              <a:t>At the assembly, six legislators including </a:t>
            </a:r>
            <a:r>
              <a:rPr lang="en-US" dirty="0" err="1"/>
              <a:t>Manoranjan</a:t>
            </a:r>
            <a:r>
              <a:rPr lang="en-US" dirty="0"/>
              <a:t> </a:t>
            </a:r>
            <a:r>
              <a:rPr lang="en-US" dirty="0" err="1"/>
              <a:t>Dhar</a:t>
            </a:r>
            <a:r>
              <a:rPr lang="en-US" dirty="0"/>
              <a:t>, </a:t>
            </a:r>
            <a:r>
              <a:rPr lang="en-US" dirty="0" err="1"/>
              <a:t>Boshontokumar</a:t>
            </a:r>
            <a:r>
              <a:rPr lang="en-US" dirty="0"/>
              <a:t> Das, </a:t>
            </a:r>
            <a:r>
              <a:rPr lang="en-US" dirty="0" err="1"/>
              <a:t>Shamsuddin</a:t>
            </a:r>
            <a:r>
              <a:rPr lang="en-US" dirty="0"/>
              <a:t> Ahmed and </a:t>
            </a:r>
            <a:r>
              <a:rPr lang="en-US" dirty="0" err="1"/>
              <a:t>Dhirendranath</a:t>
            </a:r>
            <a:r>
              <a:rPr lang="en-US" dirty="0"/>
              <a:t> </a:t>
            </a:r>
            <a:r>
              <a:rPr lang="en-US" dirty="0" err="1"/>
              <a:t>Datta</a:t>
            </a:r>
            <a:r>
              <a:rPr lang="en-US" dirty="0"/>
              <a:t> requested that chief minister </a:t>
            </a:r>
            <a:r>
              <a:rPr lang="en-US" dirty="0" err="1"/>
              <a:t>Nurul</a:t>
            </a:r>
            <a:r>
              <a:rPr lang="en-US" dirty="0"/>
              <a:t> </a:t>
            </a:r>
            <a:r>
              <a:rPr lang="en-US" dirty="0" err="1"/>
              <a:t>Amin</a:t>
            </a:r>
            <a:r>
              <a:rPr lang="en-US" dirty="0"/>
              <a:t> visit wounded students in hospital and that the assembly be adjourned as a sign of mourning. This motion was supported by some treasury bench members including </a:t>
            </a:r>
            <a:r>
              <a:rPr lang="en-US" dirty="0" err="1"/>
              <a:t>Maulana</a:t>
            </a:r>
            <a:r>
              <a:rPr lang="en-US" dirty="0"/>
              <a:t> </a:t>
            </a:r>
            <a:r>
              <a:rPr lang="en-US" dirty="0" err="1"/>
              <a:t>Abdur</a:t>
            </a:r>
            <a:r>
              <a:rPr lang="en-US" dirty="0"/>
              <a:t> Rashid </a:t>
            </a:r>
            <a:r>
              <a:rPr lang="en-US" dirty="0" err="1"/>
              <a:t>Tarkabagish</a:t>
            </a:r>
            <a:r>
              <a:rPr lang="en-US" dirty="0"/>
              <a:t>, </a:t>
            </a:r>
            <a:r>
              <a:rPr lang="en-US" dirty="0" err="1"/>
              <a:t>Shorfuddin</a:t>
            </a:r>
            <a:r>
              <a:rPr lang="en-US" dirty="0"/>
              <a:t> Ahmed, </a:t>
            </a:r>
            <a:r>
              <a:rPr lang="en-US" dirty="0" err="1"/>
              <a:t>Shamsuddin</a:t>
            </a:r>
            <a:r>
              <a:rPr lang="en-US" dirty="0"/>
              <a:t> Ahmed </a:t>
            </a:r>
            <a:r>
              <a:rPr lang="en-US" dirty="0" err="1"/>
              <a:t>Khondokar</a:t>
            </a:r>
            <a:r>
              <a:rPr lang="en-US" dirty="0"/>
              <a:t> and </a:t>
            </a:r>
            <a:r>
              <a:rPr lang="en-US" dirty="0" err="1"/>
              <a:t>Mosihuddin</a:t>
            </a:r>
            <a:r>
              <a:rPr lang="en-US" dirty="0"/>
              <a:t> Ahmed. However, </a:t>
            </a:r>
            <a:r>
              <a:rPr lang="en-US" dirty="0" err="1"/>
              <a:t>Nurul</a:t>
            </a:r>
            <a:r>
              <a:rPr lang="en-US" dirty="0"/>
              <a:t> </a:t>
            </a:r>
            <a:r>
              <a:rPr lang="en-US" dirty="0" err="1"/>
              <a:t>Amin</a:t>
            </a:r>
            <a:r>
              <a:rPr lang="en-US" dirty="0"/>
              <a:t> refused the requests. </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maxresdefault (1).jpg"/>
          <p:cNvPicPr>
            <a:picLocks noGrp="1" noChangeAspect="1"/>
          </p:cNvPicPr>
          <p:nvPr>
            <p:ph sz="quarter" idx="1"/>
          </p:nvPr>
        </p:nvPicPr>
        <p:blipFill>
          <a:blip r:embed="rId2"/>
          <a:stretch>
            <a:fillRect/>
          </a:stretch>
        </p:blipFill>
        <p:spPr>
          <a:xfrm>
            <a:off x="914400" y="1547812"/>
            <a:ext cx="7772400" cy="4371975"/>
          </a:xfr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22 February</a:t>
            </a:r>
            <a:br>
              <a:rPr lang="en-US" b="1" dirty="0"/>
            </a:br>
            <a:endParaRPr lang="en-US" dirty="0"/>
          </a:p>
        </p:txBody>
      </p:sp>
      <p:sp>
        <p:nvSpPr>
          <p:cNvPr id="3" name="Content Placeholder 2"/>
          <p:cNvSpPr>
            <a:spLocks noGrp="1"/>
          </p:cNvSpPr>
          <p:nvPr>
            <p:ph sz="quarter" idx="1"/>
          </p:nvPr>
        </p:nvSpPr>
        <p:spPr>
          <a:xfrm>
            <a:off x="914400" y="914400"/>
            <a:ext cx="7772400" cy="5105400"/>
          </a:xfrm>
        </p:spPr>
        <p:txBody>
          <a:bodyPr>
            <a:normAutofit lnSpcReduction="10000"/>
          </a:bodyPr>
          <a:lstStyle/>
          <a:p>
            <a:r>
              <a:rPr lang="en-US" dirty="0"/>
              <a:t>Disorder spread across the province as large processions ignored </a:t>
            </a:r>
            <a:r>
              <a:rPr lang="en-US" u="sng" dirty="0"/>
              <a:t>section 144</a:t>
            </a:r>
            <a:r>
              <a:rPr lang="en-US" dirty="0"/>
              <a:t> and condemned the actions of the police. More than 30,000 people congregated at Curzon Hall in Dhaka.</a:t>
            </a:r>
          </a:p>
          <a:p>
            <a:r>
              <a:rPr lang="en-US" dirty="0"/>
              <a:t> During the continued protests, police actions led to the death of four more people. This prompted officers and clerks from different </a:t>
            </a:r>
            <a:r>
              <a:rPr lang="en-US" dirty="0" err="1"/>
              <a:t>organisations</a:t>
            </a:r>
            <a:r>
              <a:rPr lang="en-US" dirty="0"/>
              <a:t>, including colleges, banks and the radio station, to boycott offices and join the procession.</a:t>
            </a:r>
          </a:p>
          <a:p>
            <a:r>
              <a:rPr lang="en-US" dirty="0"/>
              <a:t>Protesters burned the offices of two leading pro-government news agencies, the </a:t>
            </a:r>
            <a:r>
              <a:rPr lang="en-US" i="1" dirty="0"/>
              <a:t>Jubilee Press</a:t>
            </a:r>
            <a:r>
              <a:rPr lang="en-US" dirty="0"/>
              <a:t> and the </a:t>
            </a:r>
            <a:r>
              <a:rPr lang="en-US" i="1" dirty="0"/>
              <a:t>Morning News</a:t>
            </a:r>
            <a:r>
              <a:rPr lang="en-US" dirty="0"/>
              <a:t>.</a:t>
            </a:r>
            <a:r>
              <a:rPr lang="en-US" baseline="30000" dirty="0"/>
              <a:t> </a:t>
            </a:r>
            <a:r>
              <a:rPr lang="en-US" dirty="0"/>
              <a:t> </a:t>
            </a:r>
          </a:p>
          <a:p>
            <a:r>
              <a:rPr lang="en-US" dirty="0"/>
              <a:t>Police fired on a major </a:t>
            </a:r>
            <a:r>
              <a:rPr lang="en-US" i="1" dirty="0" err="1"/>
              <a:t>janaza</a:t>
            </a:r>
            <a:r>
              <a:rPr lang="en-US" dirty="0"/>
              <a:t> as it was passing. The shooting killed several people including activist </a:t>
            </a:r>
            <a:r>
              <a:rPr lang="en-US" u="sng" dirty="0" err="1"/>
              <a:t>Sofiur</a:t>
            </a:r>
            <a:r>
              <a:rPr lang="en-US" u="sng" dirty="0"/>
              <a:t> </a:t>
            </a:r>
            <a:r>
              <a:rPr lang="en-US" u="sng" dirty="0" err="1"/>
              <a:t>Rahman</a:t>
            </a:r>
            <a:r>
              <a:rPr lang="en-US" dirty="0"/>
              <a:t> and a nine-year-old boy named </a:t>
            </a:r>
            <a:r>
              <a:rPr lang="en-US" dirty="0" err="1"/>
              <a:t>Ohiullah</a:t>
            </a:r>
            <a:r>
              <a:rPr lang="en-US" dirty="0"/>
              <a:t>. </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382000" cy="1143000"/>
          </a:xfrm>
        </p:spPr>
        <p:txBody>
          <a:bodyPr/>
          <a:lstStyle/>
          <a:p>
            <a:r>
              <a:rPr lang="en-US" dirty="0"/>
              <a:t>Continued Unrest</a:t>
            </a:r>
          </a:p>
        </p:txBody>
      </p:sp>
      <p:sp>
        <p:nvSpPr>
          <p:cNvPr id="3" name="Content Placeholder 2"/>
          <p:cNvSpPr>
            <a:spLocks noGrp="1"/>
          </p:cNvSpPr>
          <p:nvPr>
            <p:ph sz="quarter" idx="1"/>
          </p:nvPr>
        </p:nvSpPr>
        <p:spPr>
          <a:xfrm>
            <a:off x="304800" y="1066800"/>
            <a:ext cx="8382000" cy="5562600"/>
          </a:xfrm>
        </p:spPr>
        <p:txBody>
          <a:bodyPr>
            <a:normAutofit fontScale="85000" lnSpcReduction="20000"/>
          </a:bodyPr>
          <a:lstStyle/>
          <a:p>
            <a:r>
              <a:rPr lang="en-US" dirty="0"/>
              <a:t>Through the night of 23 February, students of Dhaka Medical College worked on the construction of a </a:t>
            </a:r>
            <a:r>
              <a:rPr lang="en-US" i="1" dirty="0" err="1"/>
              <a:t>Shaheed</a:t>
            </a:r>
            <a:r>
              <a:rPr lang="en-US" i="1" dirty="0"/>
              <a:t> </a:t>
            </a:r>
            <a:r>
              <a:rPr lang="en-US" i="1" dirty="0" err="1"/>
              <a:t>Smritistombho</a:t>
            </a:r>
            <a:r>
              <a:rPr lang="en-US" dirty="0"/>
              <a:t>, or Monument of Martyrs. Completed at dawn on 24 February, the monument had a handwritten note attached to it with the words </a:t>
            </a:r>
            <a:r>
              <a:rPr lang="en-US" i="1" dirty="0"/>
              <a:t>"</a:t>
            </a:r>
            <a:r>
              <a:rPr lang="en-US" i="1" dirty="0" err="1"/>
              <a:t>Shaheed</a:t>
            </a:r>
            <a:r>
              <a:rPr lang="en-US" i="1" dirty="0"/>
              <a:t> </a:t>
            </a:r>
            <a:r>
              <a:rPr lang="en-US" i="1" dirty="0" err="1"/>
              <a:t>Smritistombho</a:t>
            </a:r>
            <a:r>
              <a:rPr lang="en-US" i="1" dirty="0"/>
              <a:t>"</a:t>
            </a:r>
            <a:r>
              <a:rPr lang="en-US" dirty="0"/>
              <a:t>.</a:t>
            </a:r>
            <a:r>
              <a:rPr lang="en-US" baseline="30000" dirty="0"/>
              <a:t> </a:t>
            </a:r>
            <a:r>
              <a:rPr lang="en-US" dirty="0"/>
              <a:t>Inaugurated by the father of the slain activist </a:t>
            </a:r>
            <a:r>
              <a:rPr lang="en-US" dirty="0" err="1"/>
              <a:t>Sofiur</a:t>
            </a:r>
            <a:r>
              <a:rPr lang="en-US" dirty="0"/>
              <a:t> </a:t>
            </a:r>
            <a:r>
              <a:rPr lang="en-US" dirty="0" err="1"/>
              <a:t>Rahman</a:t>
            </a:r>
            <a:r>
              <a:rPr lang="en-US" dirty="0"/>
              <a:t>, the monument was destroyed on 26 February by police.</a:t>
            </a:r>
            <a:r>
              <a:rPr lang="en-US" baseline="30000" dirty="0"/>
              <a:t> </a:t>
            </a:r>
          </a:p>
          <a:p>
            <a:r>
              <a:rPr lang="en-US" dirty="0"/>
              <a:t> On 25 February, industrial workers in the town of </a:t>
            </a:r>
            <a:r>
              <a:rPr lang="en-US" u="sng" dirty="0" err="1"/>
              <a:t>Narayanganj</a:t>
            </a:r>
            <a:r>
              <a:rPr lang="en-US" u="sng" dirty="0"/>
              <a:t> </a:t>
            </a:r>
            <a:r>
              <a:rPr lang="en-US" dirty="0"/>
              <a:t>observed a general strike. </a:t>
            </a:r>
          </a:p>
          <a:p>
            <a:r>
              <a:rPr lang="en-US" dirty="0"/>
              <a:t>A protest followed on 29 February whose participants faced severe police beating. </a:t>
            </a:r>
          </a:p>
          <a:p>
            <a:r>
              <a:rPr lang="en-US" dirty="0"/>
              <a:t>The government censored news reports and withheld exact casualty figures during the protests. Most pro-government media held </a:t>
            </a:r>
            <a:r>
              <a:rPr lang="en-US" u="sng" dirty="0"/>
              <a:t>Hindus</a:t>
            </a:r>
            <a:r>
              <a:rPr lang="en-US" dirty="0"/>
              <a:t> and communists responsible for encouraging the disorder and student unrest. </a:t>
            </a:r>
          </a:p>
          <a:p>
            <a:r>
              <a:rPr lang="en-US" dirty="0"/>
              <a:t>The families of </a:t>
            </a:r>
            <a:r>
              <a:rPr lang="en-US" dirty="0" err="1"/>
              <a:t>Abul</a:t>
            </a:r>
            <a:r>
              <a:rPr lang="en-US" dirty="0"/>
              <a:t> </a:t>
            </a:r>
            <a:r>
              <a:rPr lang="en-US" dirty="0" err="1"/>
              <a:t>Barkat</a:t>
            </a:r>
            <a:r>
              <a:rPr lang="en-US" dirty="0"/>
              <a:t> and </a:t>
            </a:r>
            <a:r>
              <a:rPr lang="en-US" dirty="0" err="1"/>
              <a:t>Rafiq</a:t>
            </a:r>
            <a:r>
              <a:rPr lang="en-US" dirty="0"/>
              <a:t> </a:t>
            </a:r>
            <a:r>
              <a:rPr lang="en-US" dirty="0" err="1"/>
              <a:t>Uddin</a:t>
            </a:r>
            <a:r>
              <a:rPr lang="en-US" dirty="0"/>
              <a:t> Ahmed tried to charge the police with murder, but the charges were dismissed by the police. On 8 April government report on the incidents failed to show any particular justification for police firings on the students. When the constituent assembly reconvened on 14 April, proceedings were stalled by members of the Muslim League when legislators from East Bengal sought to raise the language issue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images (24).jpeg"/>
          <p:cNvPicPr>
            <a:picLocks noGrp="1" noChangeAspect="1"/>
          </p:cNvPicPr>
          <p:nvPr>
            <p:ph sz="quarter" idx="1"/>
          </p:nvPr>
        </p:nvPicPr>
        <p:blipFill>
          <a:blip r:embed="rId2"/>
          <a:stretch>
            <a:fillRect/>
          </a:stretch>
        </p:blipFill>
        <p:spPr>
          <a:xfrm>
            <a:off x="381000" y="1524000"/>
            <a:ext cx="3048000" cy="4572000"/>
          </a:xfrm>
        </p:spPr>
      </p:pic>
      <p:pic>
        <p:nvPicPr>
          <p:cNvPr id="5" name="Picture 4" descr="images (25).jpeg"/>
          <p:cNvPicPr>
            <a:picLocks noChangeAspect="1"/>
          </p:cNvPicPr>
          <p:nvPr/>
        </p:nvPicPr>
        <p:blipFill>
          <a:blip r:embed="rId3"/>
          <a:stretch>
            <a:fillRect/>
          </a:stretch>
        </p:blipFill>
        <p:spPr>
          <a:xfrm>
            <a:off x="5105400" y="2819400"/>
            <a:ext cx="2095500" cy="23622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305800" cy="1143000"/>
          </a:xfrm>
        </p:spPr>
        <p:txBody>
          <a:bodyPr>
            <a:normAutofit fontScale="90000"/>
          </a:bodyPr>
          <a:lstStyle/>
          <a:p>
            <a:r>
              <a:rPr lang="en-US" dirty="0"/>
              <a:t>Events after 1952</a:t>
            </a:r>
            <a:br>
              <a:rPr lang="en-US" b="1" dirty="0"/>
            </a:br>
            <a:endParaRPr lang="en-US" dirty="0"/>
          </a:p>
        </p:txBody>
      </p:sp>
      <p:sp>
        <p:nvSpPr>
          <p:cNvPr id="3" name="Content Placeholder 2"/>
          <p:cNvSpPr>
            <a:spLocks noGrp="1"/>
          </p:cNvSpPr>
          <p:nvPr>
            <p:ph sz="quarter" idx="1"/>
          </p:nvPr>
        </p:nvSpPr>
        <p:spPr>
          <a:xfrm>
            <a:off x="304800" y="990600"/>
            <a:ext cx="8382000" cy="5257800"/>
          </a:xfrm>
        </p:spPr>
        <p:txBody>
          <a:bodyPr>
            <a:normAutofit fontScale="85000" lnSpcReduction="20000"/>
          </a:bodyPr>
          <a:lstStyle/>
          <a:p>
            <a:r>
              <a:rPr lang="en-US" dirty="0"/>
              <a:t>The </a:t>
            </a:r>
            <a:r>
              <a:rPr lang="en-US" i="1" dirty="0" err="1"/>
              <a:t>Shorbodolio</a:t>
            </a:r>
            <a:r>
              <a:rPr lang="en-US" i="1" dirty="0"/>
              <a:t> </a:t>
            </a:r>
            <a:r>
              <a:rPr lang="en-US" i="1" dirty="0" err="1"/>
              <a:t>Kendrio</a:t>
            </a:r>
            <a:r>
              <a:rPr lang="en-US" i="1" dirty="0"/>
              <a:t> </a:t>
            </a:r>
            <a:r>
              <a:rPr lang="en-US" i="1" dirty="0" err="1"/>
              <a:t>Rashtrobhasha</a:t>
            </a:r>
            <a:r>
              <a:rPr lang="en-US" i="1" dirty="0"/>
              <a:t> </a:t>
            </a:r>
            <a:r>
              <a:rPr lang="en-US" i="1" dirty="0" err="1"/>
              <a:t>Kormi</a:t>
            </a:r>
            <a:r>
              <a:rPr lang="en-US" i="1" dirty="0"/>
              <a:t> </a:t>
            </a:r>
            <a:r>
              <a:rPr lang="en-US" i="1" dirty="0" err="1"/>
              <a:t>Porishod</a:t>
            </a:r>
            <a:r>
              <a:rPr lang="en-US" dirty="0"/>
              <a:t>, with support from the </a:t>
            </a:r>
            <a:r>
              <a:rPr lang="en-US" u="sng" dirty="0" err="1"/>
              <a:t>Awami</a:t>
            </a:r>
            <a:r>
              <a:rPr lang="en-US" u="sng" dirty="0"/>
              <a:t> Muslim League</a:t>
            </a:r>
            <a:r>
              <a:rPr lang="en-US" dirty="0"/>
              <a:t>, decided to commemorate 21 February as </a:t>
            </a:r>
            <a:r>
              <a:rPr lang="en-US" i="1" dirty="0" err="1"/>
              <a:t>Shohid</a:t>
            </a:r>
            <a:r>
              <a:rPr lang="en-US" i="1" dirty="0"/>
              <a:t> </a:t>
            </a:r>
            <a:r>
              <a:rPr lang="en-US" i="1" dirty="0" err="1"/>
              <a:t>Dibosh</a:t>
            </a:r>
            <a:r>
              <a:rPr lang="en-US" dirty="0"/>
              <a:t> . </a:t>
            </a:r>
          </a:p>
          <a:p>
            <a:r>
              <a:rPr lang="en-US" dirty="0"/>
              <a:t>On the first anniversary of the protests, people across East Bengal wore black badges in solidarity with the victims. Most offices, banks and educational institutions were closed to observe the occasion. Student groups made agreements with college and police officials to preserve law and order. </a:t>
            </a:r>
          </a:p>
          <a:p>
            <a:r>
              <a:rPr lang="en-US" dirty="0"/>
              <a:t>More than 100,000 people assembled at a public meeting held in Dhaka, where community leaders called for the immediate release of </a:t>
            </a:r>
            <a:r>
              <a:rPr lang="en-US" dirty="0" err="1"/>
              <a:t>Maulana</a:t>
            </a:r>
            <a:r>
              <a:rPr lang="en-US" dirty="0"/>
              <a:t> </a:t>
            </a:r>
            <a:r>
              <a:rPr lang="en-US" dirty="0" err="1"/>
              <a:t>Bhashani</a:t>
            </a:r>
            <a:r>
              <a:rPr lang="en-US" dirty="0"/>
              <a:t> and other political prisoners. </a:t>
            </a:r>
          </a:p>
          <a:p>
            <a:r>
              <a:rPr lang="en-US" dirty="0"/>
              <a:t>However, West Pakistani politicians such as </a:t>
            </a:r>
            <a:r>
              <a:rPr lang="en-US" dirty="0" err="1"/>
              <a:t>Fazlur</a:t>
            </a:r>
            <a:r>
              <a:rPr lang="en-US" dirty="0"/>
              <a:t> </a:t>
            </a:r>
            <a:r>
              <a:rPr lang="en-US" dirty="0" err="1"/>
              <a:t>Rahman</a:t>
            </a:r>
            <a:r>
              <a:rPr lang="en-US" dirty="0"/>
              <a:t> aggravated sectional tensions by declaring that anyone who wanted Bengali to become an official language would be considered an "enemy of the state". </a:t>
            </a:r>
          </a:p>
          <a:p>
            <a:r>
              <a:rPr lang="en-US" dirty="0"/>
              <a:t>Bengali students and civilians disobeyed the restrictions to celebrate the anniversary of the protests. Demonstrations broke out on the night of 21 February 1954 with various halls of the University of Dhaka raising black flags in mourning. </a:t>
            </a:r>
            <a:endParaRPr lang="en-US" b="1" dirty="0"/>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458200" cy="868362"/>
          </a:xfrm>
        </p:spPr>
        <p:txBody>
          <a:bodyPr>
            <a:normAutofit fontScale="90000"/>
          </a:bodyPr>
          <a:lstStyle/>
          <a:p>
            <a:r>
              <a:rPr lang="en-US" dirty="0"/>
              <a:t> United Front in 1954</a:t>
            </a:r>
            <a:br>
              <a:rPr lang="en-US" b="1" dirty="0"/>
            </a:br>
            <a:endParaRPr lang="en-US" dirty="0"/>
          </a:p>
        </p:txBody>
      </p:sp>
      <p:sp>
        <p:nvSpPr>
          <p:cNvPr id="3" name="Content Placeholder 2"/>
          <p:cNvSpPr>
            <a:spLocks noGrp="1"/>
          </p:cNvSpPr>
          <p:nvPr>
            <p:ph sz="quarter" idx="1"/>
          </p:nvPr>
        </p:nvSpPr>
        <p:spPr>
          <a:xfrm>
            <a:off x="0" y="381000"/>
            <a:ext cx="9144000" cy="6019800"/>
          </a:xfrm>
        </p:spPr>
        <p:txBody>
          <a:bodyPr>
            <a:noAutofit/>
          </a:bodyPr>
          <a:lstStyle/>
          <a:p>
            <a:r>
              <a:rPr lang="en-US" sz="1800" dirty="0"/>
              <a:t>Political tensions came to a head as elections to the provincial assembly of East Bengal were held in 1954. The ruling Muslim League denounced the opposition United Front coalition, which—led by A. K. </a:t>
            </a:r>
            <a:r>
              <a:rPr lang="en-US" sz="1800" dirty="0" err="1"/>
              <a:t>Fazlul</a:t>
            </a:r>
            <a:r>
              <a:rPr lang="en-US" sz="1800" dirty="0"/>
              <a:t> </a:t>
            </a:r>
            <a:r>
              <a:rPr lang="en-US" sz="1800" dirty="0" err="1"/>
              <a:t>Huq</a:t>
            </a:r>
            <a:r>
              <a:rPr lang="en-US" sz="1800" dirty="0"/>
              <a:t> and the </a:t>
            </a:r>
            <a:r>
              <a:rPr lang="en-US" sz="1800" dirty="0" err="1"/>
              <a:t>Awami</a:t>
            </a:r>
            <a:r>
              <a:rPr lang="en-US" sz="1800" dirty="0"/>
              <a:t> League—wanted greater provincial autonomy. Several United Front leaders and activists were arrested. A meeting of parliament's Muslim League members, chaired by prime minister Muhammad Ali </a:t>
            </a:r>
            <a:r>
              <a:rPr lang="en-US" sz="1800" dirty="0" err="1"/>
              <a:t>Bogra</a:t>
            </a:r>
            <a:r>
              <a:rPr lang="en-US" sz="1800" dirty="0"/>
              <a:t>, resolved to give official recognition to Bengali. This decision was followed by a major wave of unrest as other ethnic groups sought recognition of other regional languages. </a:t>
            </a:r>
          </a:p>
          <a:p>
            <a:r>
              <a:rPr lang="en-US" sz="1800" dirty="0"/>
              <a:t>Proponents of Urdu such as </a:t>
            </a:r>
            <a:r>
              <a:rPr lang="en-US" sz="1800" dirty="0" err="1"/>
              <a:t>Maulvi</a:t>
            </a:r>
            <a:r>
              <a:rPr lang="en-US" sz="1800" dirty="0"/>
              <a:t> Abdul </a:t>
            </a:r>
            <a:r>
              <a:rPr lang="en-US" sz="1800" dirty="0" err="1"/>
              <a:t>Haq</a:t>
            </a:r>
            <a:r>
              <a:rPr lang="en-US" sz="1800" dirty="0"/>
              <a:t> condemned any proposal to grant official status to Bengali. He led a rally of 100,000 people to protest against the Muslim League's decision.</a:t>
            </a:r>
          </a:p>
          <a:p>
            <a:r>
              <a:rPr lang="en-US" sz="1800" dirty="0"/>
              <a:t> Consequently, the implementation failed and the United Front won a vast majority of seats in the legislative assembly, while the representation of the Muslim League was reduced to a historic low. </a:t>
            </a:r>
            <a:endParaRPr lang="en-US" sz="1800" b="1" dirty="0"/>
          </a:p>
          <a:p>
            <a:r>
              <a:rPr lang="en-US" sz="1800" dirty="0"/>
              <a:t>The United Front ministry ordered the creation of the </a:t>
            </a:r>
            <a:r>
              <a:rPr lang="en-US" sz="1800" dirty="0" err="1"/>
              <a:t>Bangla</a:t>
            </a:r>
            <a:r>
              <a:rPr lang="en-US" sz="1800" dirty="0"/>
              <a:t> Academy to promote, develop, and preserve Bengali language, literature, and heritage. However, the United Front rule was temporary, as Governor General </a:t>
            </a:r>
            <a:r>
              <a:rPr lang="en-US" sz="1800" dirty="0" err="1"/>
              <a:t>Ghulam</a:t>
            </a:r>
            <a:r>
              <a:rPr lang="en-US" sz="1800" dirty="0"/>
              <a:t> Muhammad cancelled the government and started Governor's rule on 30 May 1954. The United Front again formed the ministry on 6 June 1955 after the governor's regime ended. The </a:t>
            </a:r>
            <a:r>
              <a:rPr lang="en-US" sz="1800" dirty="0" err="1"/>
              <a:t>Awami</a:t>
            </a:r>
            <a:r>
              <a:rPr lang="en-US" sz="1800" dirty="0"/>
              <a:t> League did not participate in this ministry though. </a:t>
            </a:r>
          </a:p>
          <a:p>
            <a:r>
              <a:rPr lang="en-US" sz="1800" dirty="0"/>
              <a:t>Following the return of the United Front to power, the anniversary on 21 February 1956 was observed for the first time in a peaceful atmosphere. </a:t>
            </a:r>
          </a:p>
          <a:p>
            <a:r>
              <a:rPr lang="en-US" sz="1800" dirty="0"/>
              <a:t>The Government supported a major project to construct a new </a:t>
            </a:r>
            <a:r>
              <a:rPr lang="en-US" sz="1800" dirty="0" err="1"/>
              <a:t>Shaheed</a:t>
            </a:r>
            <a:r>
              <a:rPr lang="en-US" sz="1800" dirty="0"/>
              <a:t> </a:t>
            </a:r>
            <a:r>
              <a:rPr lang="en-US" sz="1800" dirty="0" err="1"/>
              <a:t>Minar</a:t>
            </a:r>
            <a:r>
              <a:rPr lang="en-US" sz="1800" dirty="0"/>
              <a:t>. </a:t>
            </a:r>
          </a:p>
          <a:p>
            <a:r>
              <a:rPr lang="en-US" sz="1800" dirty="0"/>
              <a:t>The session of the constituent assembly was stopped for five minutes to express condolence for the students slain in the police shootings. Major rallies were </a:t>
            </a:r>
            <a:r>
              <a:rPr lang="en-US" sz="1800" dirty="0" err="1"/>
              <a:t>organised</a:t>
            </a:r>
            <a:r>
              <a:rPr lang="en-US" sz="1800" dirty="0"/>
              <a:t> by Bengali leaders and all public offices and businesses remained closed. </a:t>
            </a:r>
            <a:endParaRPr lang="en-US" sz="1800"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639762"/>
          </a:xfrm>
        </p:spPr>
        <p:txBody>
          <a:bodyPr>
            <a:normAutofit fontScale="90000"/>
          </a:bodyPr>
          <a:lstStyle/>
          <a:p>
            <a:r>
              <a:rPr lang="en-US" dirty="0"/>
              <a:t>Constitutional reform</a:t>
            </a:r>
            <a:endParaRPr lang="en-US" b="1" dirty="0"/>
          </a:p>
        </p:txBody>
      </p:sp>
      <p:sp>
        <p:nvSpPr>
          <p:cNvPr id="3" name="Content Placeholder 2"/>
          <p:cNvSpPr>
            <a:spLocks noGrp="1"/>
          </p:cNvSpPr>
          <p:nvPr>
            <p:ph sz="quarter" idx="1"/>
          </p:nvPr>
        </p:nvSpPr>
        <p:spPr>
          <a:xfrm>
            <a:off x="914400" y="1219200"/>
            <a:ext cx="7772400" cy="4800600"/>
          </a:xfrm>
        </p:spPr>
        <p:txBody>
          <a:bodyPr/>
          <a:lstStyle/>
          <a:p>
            <a:r>
              <a:rPr lang="en-US" dirty="0"/>
              <a:t>On 7 May 1954, the constituent assembly resolved, with the Muslim League's support, to grant official status to Bengali. Bengali was </a:t>
            </a:r>
            <a:r>
              <a:rPr lang="en-US" dirty="0" err="1"/>
              <a:t>recognised</a:t>
            </a:r>
            <a:r>
              <a:rPr lang="en-US" dirty="0"/>
              <a:t> as the second official language of Pakistan on 29 February 1956, and article 214(1) of the constitution of Pakistan was reworded to "The state language of Pakistan shall be Urdu and Bengali." However, the military government formed by </a:t>
            </a:r>
            <a:r>
              <a:rPr lang="en-US" u="sng" dirty="0" err="1"/>
              <a:t>Ayub</a:t>
            </a:r>
            <a:r>
              <a:rPr lang="en-US" u="sng" dirty="0"/>
              <a:t> Khan</a:t>
            </a:r>
            <a:r>
              <a:rPr lang="en-US" dirty="0"/>
              <a:t> made attempts to re-establish Urdu as the sole national language. On 6 January 1959, the military regime issued an official statement and reinstated the official stance of supporting the 1956 constitution's policy of two state languages. </a:t>
            </a:r>
            <a:endParaRPr lang="en-US" b="1" dirty="0"/>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rmAutofit fontScale="90000"/>
          </a:bodyPr>
          <a:lstStyle/>
          <a:p>
            <a:r>
              <a:rPr lang="en-US" dirty="0"/>
              <a:t>Legacy and Outcome</a:t>
            </a:r>
            <a:br>
              <a:rPr lang="en-US" b="1" dirty="0"/>
            </a:br>
            <a:endParaRPr lang="en-US" dirty="0"/>
          </a:p>
        </p:txBody>
      </p:sp>
      <p:sp>
        <p:nvSpPr>
          <p:cNvPr id="3" name="Content Placeholder 2"/>
          <p:cNvSpPr>
            <a:spLocks noGrp="1"/>
          </p:cNvSpPr>
          <p:nvPr>
            <p:ph sz="quarter" idx="1"/>
          </p:nvPr>
        </p:nvSpPr>
        <p:spPr>
          <a:xfrm>
            <a:off x="228600" y="762000"/>
            <a:ext cx="8458200" cy="5867400"/>
          </a:xfrm>
        </p:spPr>
        <p:txBody>
          <a:bodyPr>
            <a:normAutofit fontScale="85000" lnSpcReduction="20000"/>
          </a:bodyPr>
          <a:lstStyle/>
          <a:p>
            <a:r>
              <a:rPr lang="en-US" dirty="0"/>
              <a:t>The Language Movement had a major cultural impact on Bengali society. It has inspired the development and celebration of the Bengali language, literature and culture. </a:t>
            </a:r>
          </a:p>
          <a:p>
            <a:r>
              <a:rPr lang="en-US" dirty="0"/>
              <a:t>21 February, celebrated as Language Movement Day or </a:t>
            </a:r>
            <a:r>
              <a:rPr lang="en-US" i="1" dirty="0" err="1"/>
              <a:t>Shohid</a:t>
            </a:r>
            <a:r>
              <a:rPr lang="en-US" i="1" dirty="0"/>
              <a:t> </a:t>
            </a:r>
            <a:r>
              <a:rPr lang="en-US" i="1" dirty="0" err="1"/>
              <a:t>Dibosh</a:t>
            </a:r>
            <a:r>
              <a:rPr lang="en-US" dirty="0"/>
              <a:t> (Martyrs' Day), is a major national holiday in Bangladesh. </a:t>
            </a:r>
          </a:p>
          <a:p>
            <a:r>
              <a:rPr lang="en-US" dirty="0"/>
              <a:t>A month-long event called the </a:t>
            </a:r>
            <a:r>
              <a:rPr lang="en-US" u="sng" dirty="0" err="1"/>
              <a:t>Ekushey</a:t>
            </a:r>
            <a:r>
              <a:rPr lang="en-US" u="sng" dirty="0"/>
              <a:t> Book Fair</a:t>
            </a:r>
            <a:r>
              <a:rPr lang="en-US" dirty="0"/>
              <a:t> is held every year to commemorate the movement. </a:t>
            </a:r>
          </a:p>
          <a:p>
            <a:r>
              <a:rPr lang="en-US" i="1" u="sng" dirty="0" err="1"/>
              <a:t>Ekushey</a:t>
            </a:r>
            <a:r>
              <a:rPr lang="en-US" i="1" u="sng" dirty="0"/>
              <a:t> </a:t>
            </a:r>
            <a:r>
              <a:rPr lang="en-US" i="1" u="sng" dirty="0" err="1"/>
              <a:t>Padak</a:t>
            </a:r>
            <a:r>
              <a:rPr lang="en-US" i="1" u="sng" dirty="0"/>
              <a:t>, </a:t>
            </a:r>
            <a:r>
              <a:rPr lang="en-US" dirty="0"/>
              <a:t> one of the highest civilian awards in Bangladesh, is awarded annually in memory of the sacrifices of the movement. </a:t>
            </a:r>
          </a:p>
          <a:p>
            <a:r>
              <a:rPr lang="en-US" dirty="0"/>
              <a:t>Songs such as </a:t>
            </a:r>
            <a:r>
              <a:rPr lang="en-US" u="sng" dirty="0"/>
              <a:t>Abdul </a:t>
            </a:r>
            <a:r>
              <a:rPr lang="en-US" u="sng" dirty="0" err="1"/>
              <a:t>Gaffar</a:t>
            </a:r>
            <a:r>
              <a:rPr lang="en-US" u="sng" dirty="0"/>
              <a:t> </a:t>
            </a:r>
            <a:r>
              <a:rPr lang="en-US" u="sng" dirty="0" err="1"/>
              <a:t>Choudhury</a:t>
            </a:r>
            <a:r>
              <a:rPr lang="en-US" dirty="0" err="1"/>
              <a:t>'s</a:t>
            </a:r>
            <a:r>
              <a:rPr lang="en-US" dirty="0"/>
              <a:t> </a:t>
            </a:r>
            <a:r>
              <a:rPr lang="en-US" i="1" u="sng" dirty="0" err="1"/>
              <a:t>Ekusher</a:t>
            </a:r>
            <a:r>
              <a:rPr lang="en-US" i="1" u="sng" dirty="0"/>
              <a:t> </a:t>
            </a:r>
            <a:r>
              <a:rPr lang="en-US" i="1" u="sng" dirty="0" err="1"/>
              <a:t>Gaan</a:t>
            </a:r>
            <a:r>
              <a:rPr lang="en-US" dirty="0"/>
              <a:t>, set to music by </a:t>
            </a:r>
            <a:r>
              <a:rPr lang="en-US" dirty="0" err="1"/>
              <a:t>Shaheed</a:t>
            </a:r>
            <a:r>
              <a:rPr lang="en-US" dirty="0"/>
              <a:t> </a:t>
            </a:r>
            <a:r>
              <a:rPr lang="en-US" u="sng" dirty="0" err="1"/>
              <a:t>Altaf</a:t>
            </a:r>
            <a:r>
              <a:rPr lang="en-US" u="sng" dirty="0"/>
              <a:t> Mahmud</a:t>
            </a:r>
            <a:r>
              <a:rPr lang="en-US" dirty="0"/>
              <a:t>, as well as plays, works of art and poetry played a considerable role in rousing the people's emotions during the movement. </a:t>
            </a:r>
          </a:p>
          <a:p>
            <a:r>
              <a:rPr lang="en-US" dirty="0"/>
              <a:t>Since the events of February 1952, poems, songs, novels, plays, films, cartoons and paintings were created to capture the movement from varied point of views. </a:t>
            </a:r>
          </a:p>
          <a:p>
            <a:r>
              <a:rPr lang="en-US" dirty="0"/>
              <a:t>Notable artistic depictions include the poems </a:t>
            </a:r>
            <a:r>
              <a:rPr lang="en-US" i="1" dirty="0" err="1"/>
              <a:t>Bornomala</a:t>
            </a:r>
            <a:r>
              <a:rPr lang="en-US" i="1" dirty="0"/>
              <a:t>, </a:t>
            </a:r>
            <a:r>
              <a:rPr lang="en-US" i="1" dirty="0" err="1"/>
              <a:t>Amar</a:t>
            </a:r>
            <a:r>
              <a:rPr lang="en-US" i="1" dirty="0"/>
              <a:t> </a:t>
            </a:r>
            <a:r>
              <a:rPr lang="en-US" i="1" dirty="0" err="1"/>
              <a:t>Dukhini</a:t>
            </a:r>
            <a:r>
              <a:rPr lang="en-US" i="1" dirty="0"/>
              <a:t> </a:t>
            </a:r>
            <a:r>
              <a:rPr lang="en-US" i="1" dirty="0" err="1"/>
              <a:t>Bornomala</a:t>
            </a:r>
            <a:r>
              <a:rPr lang="en-US" dirty="0"/>
              <a:t> and </a:t>
            </a:r>
            <a:r>
              <a:rPr lang="en-US" i="1" dirty="0"/>
              <a:t>February 1969</a:t>
            </a:r>
            <a:r>
              <a:rPr lang="en-US" dirty="0"/>
              <a:t> by </a:t>
            </a:r>
            <a:r>
              <a:rPr lang="en-US" u="sng" dirty="0" err="1"/>
              <a:t>Shamsur</a:t>
            </a:r>
            <a:r>
              <a:rPr lang="en-US" u="sng" dirty="0"/>
              <a:t> </a:t>
            </a:r>
            <a:r>
              <a:rPr lang="en-US" u="sng" dirty="0" err="1"/>
              <a:t>Rahman</a:t>
            </a:r>
            <a:r>
              <a:rPr lang="en-US" dirty="0"/>
              <a:t>, the film </a:t>
            </a:r>
            <a:r>
              <a:rPr lang="en-US" i="1" u="sng" dirty="0" err="1"/>
              <a:t>Jibon</a:t>
            </a:r>
            <a:r>
              <a:rPr lang="en-US" i="1" u="sng" dirty="0"/>
              <a:t> </a:t>
            </a:r>
            <a:r>
              <a:rPr lang="en-US" i="1" u="sng" dirty="0" err="1"/>
              <a:t>Theke</a:t>
            </a:r>
            <a:r>
              <a:rPr lang="en-US" i="1" u="sng" dirty="0"/>
              <a:t> </a:t>
            </a:r>
            <a:r>
              <a:rPr lang="en-US" i="1" u="sng" dirty="0" err="1"/>
              <a:t>Neya</a:t>
            </a:r>
            <a:r>
              <a:rPr lang="en-US" dirty="0"/>
              <a:t> by </a:t>
            </a:r>
            <a:r>
              <a:rPr lang="en-US" u="sng" dirty="0" err="1"/>
              <a:t>Zahir</a:t>
            </a:r>
            <a:r>
              <a:rPr lang="en-US" u="sng" dirty="0"/>
              <a:t> </a:t>
            </a:r>
            <a:r>
              <a:rPr lang="en-US" u="sng" dirty="0" err="1"/>
              <a:t>Raihan</a:t>
            </a:r>
            <a:r>
              <a:rPr lang="en-US" dirty="0"/>
              <a:t>, the stage play </a:t>
            </a:r>
            <a:r>
              <a:rPr lang="en-US" i="1" dirty="0" err="1"/>
              <a:t>Kobor</a:t>
            </a:r>
            <a:r>
              <a:rPr lang="en-US" dirty="0"/>
              <a:t> by </a:t>
            </a:r>
            <a:r>
              <a:rPr lang="en-US" u="sng" dirty="0" err="1"/>
              <a:t>Munier</a:t>
            </a:r>
            <a:r>
              <a:rPr lang="en-US" u="sng" dirty="0"/>
              <a:t> </a:t>
            </a:r>
            <a:r>
              <a:rPr lang="en-US" u="sng" dirty="0" err="1"/>
              <a:t>Chowdhury</a:t>
            </a:r>
            <a:r>
              <a:rPr lang="en-US" dirty="0"/>
              <a:t> and the novels </a:t>
            </a:r>
            <a:r>
              <a:rPr lang="en-US" i="1" dirty="0" err="1"/>
              <a:t>Ekushey</a:t>
            </a:r>
            <a:r>
              <a:rPr lang="en-US" i="1" dirty="0"/>
              <a:t> February</a:t>
            </a:r>
            <a:r>
              <a:rPr lang="en-US" dirty="0"/>
              <a:t> by </a:t>
            </a:r>
            <a:r>
              <a:rPr lang="en-US" dirty="0" err="1"/>
              <a:t>Raihan</a:t>
            </a:r>
            <a:r>
              <a:rPr lang="en-US" dirty="0"/>
              <a:t> and </a:t>
            </a:r>
            <a:r>
              <a:rPr lang="en-US" i="1" dirty="0" err="1"/>
              <a:t>Artonaad</a:t>
            </a:r>
            <a:r>
              <a:rPr lang="en-US" dirty="0"/>
              <a:t> by </a:t>
            </a:r>
            <a:r>
              <a:rPr lang="en-US" u="sng" dirty="0" err="1"/>
              <a:t>Shawkat</a:t>
            </a:r>
            <a:r>
              <a:rPr lang="en-US" u="sng" dirty="0"/>
              <a:t> </a:t>
            </a:r>
            <a:r>
              <a:rPr lang="en-US" u="sng" dirty="0" err="1"/>
              <a:t>Osman</a:t>
            </a:r>
            <a:r>
              <a:rPr lang="en-US" dirty="0"/>
              <a:t>. </a:t>
            </a:r>
            <a:endParaRPr lang="en-US"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77500" lnSpcReduction="20000"/>
          </a:bodyPr>
          <a:lstStyle/>
          <a:p>
            <a:r>
              <a:rPr lang="en-US" dirty="0"/>
              <a:t>Two years after the first monument was destroyed by the police, a new </a:t>
            </a:r>
            <a:r>
              <a:rPr lang="en-US" i="1" dirty="0" err="1"/>
              <a:t>Shaheed</a:t>
            </a:r>
            <a:r>
              <a:rPr lang="en-US" i="1" dirty="0"/>
              <a:t> </a:t>
            </a:r>
            <a:r>
              <a:rPr lang="en-US" i="1" dirty="0" err="1"/>
              <a:t>Minar</a:t>
            </a:r>
            <a:r>
              <a:rPr lang="en-US" i="1" dirty="0"/>
              <a:t> </a:t>
            </a:r>
            <a:r>
              <a:rPr lang="en-US" dirty="0"/>
              <a:t>(Monument of Martyrs) was constructed in 1954 to commemorate the protesters who lost their lives. Work on a larger monument designed by the architect </a:t>
            </a:r>
            <a:r>
              <a:rPr lang="en-US" dirty="0" err="1"/>
              <a:t>Hamidur</a:t>
            </a:r>
            <a:r>
              <a:rPr lang="en-US" dirty="0"/>
              <a:t> </a:t>
            </a:r>
            <a:r>
              <a:rPr lang="en-US" dirty="0" err="1"/>
              <a:t>Rahman</a:t>
            </a:r>
            <a:r>
              <a:rPr lang="en-US" dirty="0"/>
              <a:t> began in 1957 with the support of the United Front ministry. </a:t>
            </a:r>
            <a:r>
              <a:rPr lang="en-US" dirty="0" err="1"/>
              <a:t>Hamidur</a:t>
            </a:r>
            <a:r>
              <a:rPr lang="en-US" dirty="0"/>
              <a:t> </a:t>
            </a:r>
            <a:r>
              <a:rPr lang="en-US" dirty="0" err="1"/>
              <a:t>Rahman's</a:t>
            </a:r>
            <a:r>
              <a:rPr lang="en-US" dirty="0"/>
              <a:t> model consisted of a large complex in the yard of the Dhaka Medical College Hostel. The design included a half-circular column symbolizing a mother with her martyred sons standing at the dais in the centre of the monument. </a:t>
            </a:r>
          </a:p>
          <a:p>
            <a:r>
              <a:rPr lang="en-US" dirty="0"/>
              <a:t>Although the imposition of martial law in 1958 interrupted the work, the monument was completed and inaugurated on 21 February 1963 by </a:t>
            </a:r>
            <a:r>
              <a:rPr lang="en-US" dirty="0" err="1"/>
              <a:t>Abul</a:t>
            </a:r>
            <a:r>
              <a:rPr lang="en-US" dirty="0"/>
              <a:t> </a:t>
            </a:r>
            <a:r>
              <a:rPr lang="en-US" dirty="0" err="1"/>
              <a:t>Barkat's</a:t>
            </a:r>
            <a:r>
              <a:rPr lang="en-US" dirty="0"/>
              <a:t> mother, </a:t>
            </a:r>
            <a:r>
              <a:rPr lang="en-US" dirty="0" err="1"/>
              <a:t>Hasina</a:t>
            </a:r>
            <a:r>
              <a:rPr lang="en-US" dirty="0"/>
              <a:t> Begum. </a:t>
            </a:r>
          </a:p>
          <a:p>
            <a:r>
              <a:rPr lang="en-US" dirty="0"/>
              <a:t>Pakistani forces demolished the monument during the Bangladesh Liberation War of 1971, but the Bangladeshi government reconstructed it in 1973. </a:t>
            </a:r>
          </a:p>
          <a:p>
            <a:r>
              <a:rPr lang="en-US" dirty="0" err="1"/>
              <a:t>Ekushey</a:t>
            </a:r>
            <a:r>
              <a:rPr lang="en-US" dirty="0"/>
              <a:t> Television, the first private terrestrial TV channel of Bangladesh was named after the Event of 21 February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UNESCO Recognition</a:t>
            </a:r>
          </a:p>
        </p:txBody>
      </p:sp>
      <p:sp>
        <p:nvSpPr>
          <p:cNvPr id="3" name="Content Placeholder 2"/>
          <p:cNvSpPr>
            <a:spLocks noGrp="1"/>
          </p:cNvSpPr>
          <p:nvPr>
            <p:ph sz="quarter" idx="1"/>
          </p:nvPr>
        </p:nvSpPr>
        <p:spPr/>
        <p:txBody>
          <a:bodyPr/>
          <a:lstStyle/>
          <a:p>
            <a:r>
              <a:rPr lang="en-US" dirty="0"/>
              <a:t>Worldwide</a:t>
            </a:r>
            <a:endParaRPr lang="en-US" b="1" dirty="0"/>
          </a:p>
          <a:p>
            <a:r>
              <a:rPr lang="en-US" dirty="0"/>
              <a:t>Bangladesh officially sent a proposal to UNESCO to declare 21 February as International Mother Language Day. The proposal was supported unanimously at the 30th General Conference of UNESCO held on 17 November 1999. </a:t>
            </a:r>
            <a:endParaRPr lang="en-US" b="1" dirty="0"/>
          </a:p>
          <a:p>
            <a:endParaRPr lang="en-US" dirty="0"/>
          </a:p>
        </p:txBody>
      </p:sp>
      <p:pic>
        <p:nvPicPr>
          <p:cNvPr id="4" name="Picture 3" descr="images (1).png"/>
          <p:cNvPicPr>
            <a:picLocks noChangeAspect="1"/>
          </p:cNvPicPr>
          <p:nvPr/>
        </p:nvPicPr>
        <p:blipFill>
          <a:blip r:embed="rId2"/>
          <a:stretch>
            <a:fillRect/>
          </a:stretch>
        </p:blipFill>
        <p:spPr>
          <a:xfrm>
            <a:off x="3200400" y="4343400"/>
            <a:ext cx="2476500" cy="1647825"/>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359</TotalTime>
  <Words>2959</Words>
  <Application>Microsoft Office PowerPoint</Application>
  <PresentationFormat>On-screen Show (4:3)</PresentationFormat>
  <Paragraphs>94</Paragraphs>
  <Slides>31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Calibri</vt:lpstr>
      <vt:lpstr>Franklin Gothic Book</vt:lpstr>
      <vt:lpstr>Perpetua</vt:lpstr>
      <vt:lpstr>Wingdings 2</vt:lpstr>
      <vt:lpstr>Equity</vt:lpstr>
      <vt:lpstr>GE 1212: EMERGENCE OF BANGLADESH</vt:lpstr>
      <vt:lpstr>PowerPoint Presentation</vt:lpstr>
      <vt:lpstr>PowerPoint Presentation</vt:lpstr>
      <vt:lpstr>PowerPoint Presentation</vt:lpstr>
      <vt:lpstr>The Lingual State of Pakistan </vt:lpstr>
      <vt:lpstr>PowerPoint Presentation</vt:lpstr>
      <vt:lpstr>Early Phases</vt:lpstr>
      <vt:lpstr>PowerPoint Presentation</vt:lpstr>
      <vt:lpstr>PowerPoint Presentation</vt:lpstr>
      <vt:lpstr>Initial Reaction</vt:lpstr>
      <vt:lpstr>PowerPoint Presentation</vt:lpstr>
      <vt:lpstr>Formation of Committees</vt:lpstr>
      <vt:lpstr>Agitations of 1948</vt:lpstr>
      <vt:lpstr>PowerPoint Presentation</vt:lpstr>
      <vt:lpstr>Jinnah’s Arrival and………</vt:lpstr>
      <vt:lpstr>PowerPoint Presentation</vt:lpstr>
      <vt:lpstr>Events of 1952 </vt:lpstr>
      <vt:lpstr>PowerPoint Presentation</vt:lpstr>
      <vt:lpstr>PowerPoint Presentation</vt:lpstr>
      <vt:lpstr>PowerPoint Presentation</vt:lpstr>
      <vt:lpstr>21st February</vt:lpstr>
      <vt:lpstr>PowerPoint Presentation</vt:lpstr>
      <vt:lpstr>22 February </vt:lpstr>
      <vt:lpstr>Continued Unrest</vt:lpstr>
      <vt:lpstr>PowerPoint Presentation</vt:lpstr>
      <vt:lpstr>Events after 1952 </vt:lpstr>
      <vt:lpstr> United Front in 1954 </vt:lpstr>
      <vt:lpstr>Constitutional reform</vt:lpstr>
      <vt:lpstr>Legacy and Outcome </vt:lpstr>
      <vt:lpstr>PowerPoint Presentation</vt:lpstr>
      <vt:lpstr>UNESCO Recognition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HIS-102 EMERGENCE OF BANGLADESH</dc:title>
  <dc:creator>user</dc:creator>
  <cp:lastModifiedBy>Lenovo</cp:lastModifiedBy>
  <cp:revision>33</cp:revision>
  <dcterms:created xsi:type="dcterms:W3CDTF">2006-08-16T00:00:00Z</dcterms:created>
  <dcterms:modified xsi:type="dcterms:W3CDTF">2025-05-24T19:13:32Z</dcterms:modified>
</cp:coreProperties>
</file>