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72" r:id="rId5"/>
    <p:sldId id="259" r:id="rId6"/>
    <p:sldId id="260" r:id="rId7"/>
    <p:sldId id="261" r:id="rId8"/>
    <p:sldId id="262" r:id="rId9"/>
    <p:sldId id="278" r:id="rId10"/>
    <p:sldId id="279" r:id="rId11"/>
    <p:sldId id="264" r:id="rId12"/>
    <p:sldId id="265" r:id="rId13"/>
    <p:sldId id="266" r:id="rId14"/>
    <p:sldId id="267" r:id="rId15"/>
    <p:sldId id="269" r:id="rId16"/>
    <p:sldId id="270" r:id="rId17"/>
    <p:sldId id="271" r:id="rId18"/>
    <p:sldId id="274" r:id="rId19"/>
    <p:sldId id="275" r:id="rId20"/>
    <p:sldId id="276" r:id="rId21"/>
    <p:sldId id="277" r:id="rId22"/>
    <p:sldId id="28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5" d="100"/>
          <a:sy n="85" d="100"/>
        </p:scale>
        <p:origin x="365"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rawing1.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2.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78635E-DAC4-4000-9736-82AB50DE20A8}" type="doc">
      <dgm:prSet loTypeId="urn:microsoft.com/office/officeart/2005/8/layout/arrow5" loCatId="process" qsTypeId="urn:microsoft.com/office/officeart/2005/8/quickstyle/3d2#1" qsCatId="3D" csTypeId="urn:microsoft.com/office/officeart/2005/8/colors/accent1_2" csCatId="accent1" phldr="1"/>
      <dgm:spPr/>
      <dgm:t>
        <a:bodyPr/>
        <a:lstStyle/>
        <a:p>
          <a:endParaRPr lang="en-US"/>
        </a:p>
      </dgm:t>
    </dgm:pt>
    <dgm:pt modelId="{A3419939-DA42-43FA-8039-F4CB02BFDD56}">
      <dgm:prSet phldrT="[Text]"/>
      <dgm:spPr/>
      <dgm:t>
        <a:bodyPr/>
        <a:lstStyle/>
        <a:p>
          <a:r>
            <a:rPr lang="en-US" dirty="0"/>
            <a:t>PRESIDENT OF UNITED STATES OF AMERICA</a:t>
          </a:r>
        </a:p>
      </dgm:t>
    </dgm:pt>
    <dgm:pt modelId="{9823CC83-4408-49F7-81FC-C4B22DFD1E62}" type="parTrans" cxnId="{22C647CD-7190-4F49-AF2E-0999BE310D0E}">
      <dgm:prSet/>
      <dgm:spPr/>
      <dgm:t>
        <a:bodyPr/>
        <a:lstStyle/>
        <a:p>
          <a:endParaRPr lang="en-US"/>
        </a:p>
      </dgm:t>
    </dgm:pt>
    <dgm:pt modelId="{A94100DF-F81D-4D80-A4E3-205B8E672C43}" type="sibTrans" cxnId="{22C647CD-7190-4F49-AF2E-0999BE310D0E}">
      <dgm:prSet/>
      <dgm:spPr/>
      <dgm:t>
        <a:bodyPr/>
        <a:lstStyle/>
        <a:p>
          <a:endParaRPr lang="en-US"/>
        </a:p>
      </dgm:t>
    </dgm:pt>
    <dgm:pt modelId="{588D4EBC-C9AF-4198-B30B-A9A505AE7BAF}">
      <dgm:prSet phldrT="[Text]"/>
      <dgm:spPr/>
      <dgm:t>
        <a:bodyPr/>
        <a:lstStyle/>
        <a:p>
          <a:r>
            <a:rPr lang="en-US" dirty="0"/>
            <a:t>US SECRETARY OF STATE</a:t>
          </a:r>
        </a:p>
      </dgm:t>
    </dgm:pt>
    <dgm:pt modelId="{AD08E134-A99D-480C-8113-FB495946E0AB}" type="parTrans" cxnId="{1E15A9D7-2DBF-45FF-B1AC-257A7CE4F1B2}">
      <dgm:prSet/>
      <dgm:spPr/>
      <dgm:t>
        <a:bodyPr/>
        <a:lstStyle/>
        <a:p>
          <a:endParaRPr lang="en-US"/>
        </a:p>
      </dgm:t>
    </dgm:pt>
    <dgm:pt modelId="{7DBDEDD5-FC21-4426-AE1F-46B730B423A5}" type="sibTrans" cxnId="{1E15A9D7-2DBF-45FF-B1AC-257A7CE4F1B2}">
      <dgm:prSet/>
      <dgm:spPr/>
      <dgm:t>
        <a:bodyPr/>
        <a:lstStyle/>
        <a:p>
          <a:endParaRPr lang="en-US"/>
        </a:p>
      </dgm:t>
    </dgm:pt>
    <dgm:pt modelId="{F74BB058-3EDE-4185-882C-0C69CB0FE950}" type="pres">
      <dgm:prSet presAssocID="{F878635E-DAC4-4000-9736-82AB50DE20A8}" presName="diagram" presStyleCnt="0">
        <dgm:presLayoutVars>
          <dgm:dir/>
          <dgm:resizeHandles val="exact"/>
        </dgm:presLayoutVars>
      </dgm:prSet>
      <dgm:spPr/>
    </dgm:pt>
    <dgm:pt modelId="{EDEAC634-C6D7-4B98-9FCC-2AEE49601F21}" type="pres">
      <dgm:prSet presAssocID="{A3419939-DA42-43FA-8039-F4CB02BFDD56}" presName="arrow" presStyleLbl="node1" presStyleIdx="0" presStyleCnt="2" custScaleX="53597" custScaleY="86469" custRadScaleRad="95796" custRadScaleInc="12632">
        <dgm:presLayoutVars>
          <dgm:bulletEnabled val="1"/>
        </dgm:presLayoutVars>
      </dgm:prSet>
      <dgm:spPr/>
    </dgm:pt>
    <dgm:pt modelId="{B33F188C-A751-4DD2-99D0-54BFF8B01934}" type="pres">
      <dgm:prSet presAssocID="{588D4EBC-C9AF-4198-B30B-A9A505AE7BAF}" presName="arrow" presStyleLbl="node1" presStyleIdx="1" presStyleCnt="2" custScaleX="37249" custScaleY="90418" custRadScaleRad="56194" custRadScaleInc="18785">
        <dgm:presLayoutVars>
          <dgm:bulletEnabled val="1"/>
        </dgm:presLayoutVars>
      </dgm:prSet>
      <dgm:spPr/>
    </dgm:pt>
  </dgm:ptLst>
  <dgm:cxnLst>
    <dgm:cxn modelId="{C970B708-7F0E-4E9F-820C-E6D9442CAFBC}" type="presOf" srcId="{588D4EBC-C9AF-4198-B30B-A9A505AE7BAF}" destId="{B33F188C-A751-4DD2-99D0-54BFF8B01934}" srcOrd="0" destOrd="0" presId="urn:microsoft.com/office/officeart/2005/8/layout/arrow5"/>
    <dgm:cxn modelId="{58758F15-96DF-4127-9811-2C944B72FDD9}" type="presOf" srcId="{F878635E-DAC4-4000-9736-82AB50DE20A8}" destId="{F74BB058-3EDE-4185-882C-0C69CB0FE950}" srcOrd="0" destOrd="0" presId="urn:microsoft.com/office/officeart/2005/8/layout/arrow5"/>
    <dgm:cxn modelId="{22C647CD-7190-4F49-AF2E-0999BE310D0E}" srcId="{F878635E-DAC4-4000-9736-82AB50DE20A8}" destId="{A3419939-DA42-43FA-8039-F4CB02BFDD56}" srcOrd="0" destOrd="0" parTransId="{9823CC83-4408-49F7-81FC-C4B22DFD1E62}" sibTransId="{A94100DF-F81D-4D80-A4E3-205B8E672C43}"/>
    <dgm:cxn modelId="{1E15A9D7-2DBF-45FF-B1AC-257A7CE4F1B2}" srcId="{F878635E-DAC4-4000-9736-82AB50DE20A8}" destId="{588D4EBC-C9AF-4198-B30B-A9A505AE7BAF}" srcOrd="1" destOrd="0" parTransId="{AD08E134-A99D-480C-8113-FB495946E0AB}" sibTransId="{7DBDEDD5-FC21-4426-AE1F-46B730B423A5}"/>
    <dgm:cxn modelId="{315F5FE1-E725-447F-83FB-B6FE83E6D598}" type="presOf" srcId="{A3419939-DA42-43FA-8039-F4CB02BFDD56}" destId="{EDEAC634-C6D7-4B98-9FCC-2AEE49601F21}" srcOrd="0" destOrd="0" presId="urn:microsoft.com/office/officeart/2005/8/layout/arrow5"/>
    <dgm:cxn modelId="{C6303BB4-4D37-40BF-B703-CF2D50AF2616}" type="presParOf" srcId="{F74BB058-3EDE-4185-882C-0C69CB0FE950}" destId="{EDEAC634-C6D7-4B98-9FCC-2AEE49601F21}" srcOrd="0" destOrd="0" presId="urn:microsoft.com/office/officeart/2005/8/layout/arrow5"/>
    <dgm:cxn modelId="{7A0F136A-6E83-4B1F-B6DE-5F38D7807633}" type="presParOf" srcId="{F74BB058-3EDE-4185-882C-0C69CB0FE950}" destId="{B33F188C-A751-4DD2-99D0-54BFF8B01934}"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78635E-DAC4-4000-9736-82AB50DE20A8}" type="doc">
      <dgm:prSet loTypeId="urn:microsoft.com/office/officeart/2005/8/layout/arrow5" loCatId="process" qsTypeId="urn:microsoft.com/office/officeart/2005/8/quickstyle/3d2#2" qsCatId="3D" csTypeId="urn:microsoft.com/office/officeart/2005/8/colors/accent1_2" csCatId="accent1" phldr="1"/>
      <dgm:spPr/>
      <dgm:t>
        <a:bodyPr/>
        <a:lstStyle/>
        <a:p>
          <a:endParaRPr lang="en-US"/>
        </a:p>
      </dgm:t>
    </dgm:pt>
    <dgm:pt modelId="{A3419939-DA42-43FA-8039-F4CB02BFDD56}">
      <dgm:prSet phldrT="[Text]"/>
      <dgm:spPr/>
      <dgm:t>
        <a:bodyPr/>
        <a:lstStyle/>
        <a:p>
          <a:r>
            <a:rPr lang="en-US" dirty="0"/>
            <a:t>PRESIDENT OF UNION OF SOVIET SOCIALIST REPUBLICS </a:t>
          </a:r>
        </a:p>
      </dgm:t>
    </dgm:pt>
    <dgm:pt modelId="{9823CC83-4408-49F7-81FC-C4B22DFD1E62}" type="parTrans" cxnId="{22C647CD-7190-4F49-AF2E-0999BE310D0E}">
      <dgm:prSet/>
      <dgm:spPr/>
      <dgm:t>
        <a:bodyPr/>
        <a:lstStyle/>
        <a:p>
          <a:endParaRPr lang="en-US"/>
        </a:p>
      </dgm:t>
    </dgm:pt>
    <dgm:pt modelId="{A94100DF-F81D-4D80-A4E3-205B8E672C43}" type="sibTrans" cxnId="{22C647CD-7190-4F49-AF2E-0999BE310D0E}">
      <dgm:prSet/>
      <dgm:spPr/>
      <dgm:t>
        <a:bodyPr/>
        <a:lstStyle/>
        <a:p>
          <a:endParaRPr lang="en-US"/>
        </a:p>
      </dgm:t>
    </dgm:pt>
    <dgm:pt modelId="{588D4EBC-C9AF-4198-B30B-A9A505AE7BAF}">
      <dgm:prSet phldrT="[Text]"/>
      <dgm:spPr/>
      <dgm:t>
        <a:bodyPr/>
        <a:lstStyle/>
        <a:p>
          <a:r>
            <a:rPr lang="en-US" dirty="0"/>
            <a:t>Foreign Minister</a:t>
          </a:r>
        </a:p>
      </dgm:t>
    </dgm:pt>
    <dgm:pt modelId="{AD08E134-A99D-480C-8113-FB495946E0AB}" type="parTrans" cxnId="{1E15A9D7-2DBF-45FF-B1AC-257A7CE4F1B2}">
      <dgm:prSet/>
      <dgm:spPr/>
      <dgm:t>
        <a:bodyPr/>
        <a:lstStyle/>
        <a:p>
          <a:endParaRPr lang="en-US"/>
        </a:p>
      </dgm:t>
    </dgm:pt>
    <dgm:pt modelId="{7DBDEDD5-FC21-4426-AE1F-46B730B423A5}" type="sibTrans" cxnId="{1E15A9D7-2DBF-45FF-B1AC-257A7CE4F1B2}">
      <dgm:prSet/>
      <dgm:spPr/>
      <dgm:t>
        <a:bodyPr/>
        <a:lstStyle/>
        <a:p>
          <a:endParaRPr lang="en-US"/>
        </a:p>
      </dgm:t>
    </dgm:pt>
    <dgm:pt modelId="{F74BB058-3EDE-4185-882C-0C69CB0FE950}" type="pres">
      <dgm:prSet presAssocID="{F878635E-DAC4-4000-9736-82AB50DE20A8}" presName="diagram" presStyleCnt="0">
        <dgm:presLayoutVars>
          <dgm:dir/>
          <dgm:resizeHandles val="exact"/>
        </dgm:presLayoutVars>
      </dgm:prSet>
      <dgm:spPr/>
    </dgm:pt>
    <dgm:pt modelId="{EDEAC634-C6D7-4B98-9FCC-2AEE49601F21}" type="pres">
      <dgm:prSet presAssocID="{A3419939-DA42-43FA-8039-F4CB02BFDD56}" presName="arrow" presStyleLbl="node1" presStyleIdx="0" presStyleCnt="2" custScaleX="53597" custScaleY="100075" custRadScaleRad="95796" custRadScaleInc="12632">
        <dgm:presLayoutVars>
          <dgm:bulletEnabled val="1"/>
        </dgm:presLayoutVars>
      </dgm:prSet>
      <dgm:spPr/>
    </dgm:pt>
    <dgm:pt modelId="{B33F188C-A751-4DD2-99D0-54BFF8B01934}" type="pres">
      <dgm:prSet presAssocID="{588D4EBC-C9AF-4198-B30B-A9A505AE7BAF}" presName="arrow" presStyleLbl="node1" presStyleIdx="1" presStyleCnt="2" custScaleX="37249" custScaleY="90418" custRadScaleRad="56194" custRadScaleInc="18785">
        <dgm:presLayoutVars>
          <dgm:bulletEnabled val="1"/>
        </dgm:presLayoutVars>
      </dgm:prSet>
      <dgm:spPr/>
    </dgm:pt>
  </dgm:ptLst>
  <dgm:cxnLst>
    <dgm:cxn modelId="{30A18024-766A-47B7-BE81-3CE2F0983E7D}" type="presOf" srcId="{588D4EBC-C9AF-4198-B30B-A9A505AE7BAF}" destId="{B33F188C-A751-4DD2-99D0-54BFF8B01934}" srcOrd="0" destOrd="0" presId="urn:microsoft.com/office/officeart/2005/8/layout/arrow5"/>
    <dgm:cxn modelId="{F16DBC30-1834-4FBE-8C5A-B7B00B9F0530}" type="presOf" srcId="{F878635E-DAC4-4000-9736-82AB50DE20A8}" destId="{F74BB058-3EDE-4185-882C-0C69CB0FE950}" srcOrd="0" destOrd="0" presId="urn:microsoft.com/office/officeart/2005/8/layout/arrow5"/>
    <dgm:cxn modelId="{22C647CD-7190-4F49-AF2E-0999BE310D0E}" srcId="{F878635E-DAC4-4000-9736-82AB50DE20A8}" destId="{A3419939-DA42-43FA-8039-F4CB02BFDD56}" srcOrd="0" destOrd="0" parTransId="{9823CC83-4408-49F7-81FC-C4B22DFD1E62}" sibTransId="{A94100DF-F81D-4D80-A4E3-205B8E672C43}"/>
    <dgm:cxn modelId="{22733AD5-575F-4ED7-88EE-7AD3CB0029CF}" type="presOf" srcId="{A3419939-DA42-43FA-8039-F4CB02BFDD56}" destId="{EDEAC634-C6D7-4B98-9FCC-2AEE49601F21}" srcOrd="0" destOrd="0" presId="urn:microsoft.com/office/officeart/2005/8/layout/arrow5"/>
    <dgm:cxn modelId="{1E15A9D7-2DBF-45FF-B1AC-257A7CE4F1B2}" srcId="{F878635E-DAC4-4000-9736-82AB50DE20A8}" destId="{588D4EBC-C9AF-4198-B30B-A9A505AE7BAF}" srcOrd="1" destOrd="0" parTransId="{AD08E134-A99D-480C-8113-FB495946E0AB}" sibTransId="{7DBDEDD5-FC21-4426-AE1F-46B730B423A5}"/>
    <dgm:cxn modelId="{9457E469-3409-4DC0-9257-FCBF28226762}" type="presParOf" srcId="{F74BB058-3EDE-4185-882C-0C69CB0FE950}" destId="{EDEAC634-C6D7-4B98-9FCC-2AEE49601F21}" srcOrd="0" destOrd="0" presId="urn:microsoft.com/office/officeart/2005/8/layout/arrow5"/>
    <dgm:cxn modelId="{75E257C6-7A4C-4461-BDF8-5D5C46ECD87E}" type="presParOf" srcId="{F74BB058-3EDE-4185-882C-0C69CB0FE950}" destId="{B33F188C-A751-4DD2-99D0-54BFF8B01934}"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878635E-DAC4-4000-9736-82AB50DE20A8}" type="doc">
      <dgm:prSet loTypeId="urn:microsoft.com/office/officeart/2005/8/layout/arrow5" loCatId="process" qsTypeId="urn:microsoft.com/office/officeart/2005/8/quickstyle/3d2#3" qsCatId="3D" csTypeId="urn:microsoft.com/office/officeart/2005/8/colors/accent1_2" csCatId="accent1" phldr="1"/>
      <dgm:spPr/>
      <dgm:t>
        <a:bodyPr/>
        <a:lstStyle/>
        <a:p>
          <a:endParaRPr lang="en-US"/>
        </a:p>
      </dgm:t>
    </dgm:pt>
    <dgm:pt modelId="{A3419939-DA42-43FA-8039-F4CB02BFDD56}">
      <dgm:prSet phldrT="[Text]"/>
      <dgm:spPr/>
      <dgm:t>
        <a:bodyPr/>
        <a:lstStyle/>
        <a:p>
          <a:r>
            <a:rPr lang="en-US" dirty="0"/>
            <a:t>PRESIDENT OF THE PEOPLES REPUBLIC OF CHINA</a:t>
          </a:r>
        </a:p>
      </dgm:t>
    </dgm:pt>
    <dgm:pt modelId="{9823CC83-4408-49F7-81FC-C4B22DFD1E62}" type="parTrans" cxnId="{22C647CD-7190-4F49-AF2E-0999BE310D0E}">
      <dgm:prSet/>
      <dgm:spPr/>
      <dgm:t>
        <a:bodyPr/>
        <a:lstStyle/>
        <a:p>
          <a:endParaRPr lang="en-US"/>
        </a:p>
      </dgm:t>
    </dgm:pt>
    <dgm:pt modelId="{A94100DF-F81D-4D80-A4E3-205B8E672C43}" type="sibTrans" cxnId="{22C647CD-7190-4F49-AF2E-0999BE310D0E}">
      <dgm:prSet/>
      <dgm:spPr/>
      <dgm:t>
        <a:bodyPr/>
        <a:lstStyle/>
        <a:p>
          <a:endParaRPr lang="en-US"/>
        </a:p>
      </dgm:t>
    </dgm:pt>
    <dgm:pt modelId="{588D4EBC-C9AF-4198-B30B-A9A505AE7BAF}">
      <dgm:prSet phldrT="[Text]"/>
      <dgm:spPr/>
      <dgm:t>
        <a:bodyPr/>
        <a:lstStyle/>
        <a:p>
          <a:r>
            <a:rPr lang="en-US" dirty="0"/>
            <a:t>Foreign Minister</a:t>
          </a:r>
        </a:p>
      </dgm:t>
    </dgm:pt>
    <dgm:pt modelId="{AD08E134-A99D-480C-8113-FB495946E0AB}" type="parTrans" cxnId="{1E15A9D7-2DBF-45FF-B1AC-257A7CE4F1B2}">
      <dgm:prSet/>
      <dgm:spPr/>
      <dgm:t>
        <a:bodyPr/>
        <a:lstStyle/>
        <a:p>
          <a:endParaRPr lang="en-US"/>
        </a:p>
      </dgm:t>
    </dgm:pt>
    <dgm:pt modelId="{7DBDEDD5-FC21-4426-AE1F-46B730B423A5}" type="sibTrans" cxnId="{1E15A9D7-2DBF-45FF-B1AC-257A7CE4F1B2}">
      <dgm:prSet/>
      <dgm:spPr/>
      <dgm:t>
        <a:bodyPr/>
        <a:lstStyle/>
        <a:p>
          <a:endParaRPr lang="en-US"/>
        </a:p>
      </dgm:t>
    </dgm:pt>
    <dgm:pt modelId="{F74BB058-3EDE-4185-882C-0C69CB0FE950}" type="pres">
      <dgm:prSet presAssocID="{F878635E-DAC4-4000-9736-82AB50DE20A8}" presName="diagram" presStyleCnt="0">
        <dgm:presLayoutVars>
          <dgm:dir/>
          <dgm:resizeHandles val="exact"/>
        </dgm:presLayoutVars>
      </dgm:prSet>
      <dgm:spPr/>
    </dgm:pt>
    <dgm:pt modelId="{EDEAC634-C6D7-4B98-9FCC-2AEE49601F21}" type="pres">
      <dgm:prSet presAssocID="{A3419939-DA42-43FA-8039-F4CB02BFDD56}" presName="arrow" presStyleLbl="node1" presStyleIdx="0" presStyleCnt="2" custScaleX="53597" custScaleY="100075" custRadScaleRad="95796" custRadScaleInc="12632">
        <dgm:presLayoutVars>
          <dgm:bulletEnabled val="1"/>
        </dgm:presLayoutVars>
      </dgm:prSet>
      <dgm:spPr/>
    </dgm:pt>
    <dgm:pt modelId="{B33F188C-A751-4DD2-99D0-54BFF8B01934}" type="pres">
      <dgm:prSet presAssocID="{588D4EBC-C9AF-4198-B30B-A9A505AE7BAF}" presName="arrow" presStyleLbl="node1" presStyleIdx="1" presStyleCnt="2" custScaleX="37249" custScaleY="90418" custRadScaleRad="56194" custRadScaleInc="18785">
        <dgm:presLayoutVars>
          <dgm:bulletEnabled val="1"/>
        </dgm:presLayoutVars>
      </dgm:prSet>
      <dgm:spPr/>
    </dgm:pt>
  </dgm:ptLst>
  <dgm:cxnLst>
    <dgm:cxn modelId="{815D2F23-3DBC-4B39-A84D-2E2CA3682883}" type="presOf" srcId="{A3419939-DA42-43FA-8039-F4CB02BFDD56}" destId="{EDEAC634-C6D7-4B98-9FCC-2AEE49601F21}" srcOrd="0" destOrd="0" presId="urn:microsoft.com/office/officeart/2005/8/layout/arrow5"/>
    <dgm:cxn modelId="{F617865E-DB75-4C08-B51B-C2C3B0494DEC}" type="presOf" srcId="{588D4EBC-C9AF-4198-B30B-A9A505AE7BAF}" destId="{B33F188C-A751-4DD2-99D0-54BFF8B01934}" srcOrd="0" destOrd="0" presId="urn:microsoft.com/office/officeart/2005/8/layout/arrow5"/>
    <dgm:cxn modelId="{22C647CD-7190-4F49-AF2E-0999BE310D0E}" srcId="{F878635E-DAC4-4000-9736-82AB50DE20A8}" destId="{A3419939-DA42-43FA-8039-F4CB02BFDD56}" srcOrd="0" destOrd="0" parTransId="{9823CC83-4408-49F7-81FC-C4B22DFD1E62}" sibTransId="{A94100DF-F81D-4D80-A4E3-205B8E672C43}"/>
    <dgm:cxn modelId="{1E15A9D7-2DBF-45FF-B1AC-257A7CE4F1B2}" srcId="{F878635E-DAC4-4000-9736-82AB50DE20A8}" destId="{588D4EBC-C9AF-4198-B30B-A9A505AE7BAF}" srcOrd="1" destOrd="0" parTransId="{AD08E134-A99D-480C-8113-FB495946E0AB}" sibTransId="{7DBDEDD5-FC21-4426-AE1F-46B730B423A5}"/>
    <dgm:cxn modelId="{401145DF-32DC-424E-A427-178ED6BF26BC}" type="presOf" srcId="{F878635E-DAC4-4000-9736-82AB50DE20A8}" destId="{F74BB058-3EDE-4185-882C-0C69CB0FE950}" srcOrd="0" destOrd="0" presId="urn:microsoft.com/office/officeart/2005/8/layout/arrow5"/>
    <dgm:cxn modelId="{97257F1F-9749-4700-B611-6253A6960CC1}" type="presParOf" srcId="{F74BB058-3EDE-4185-882C-0C69CB0FE950}" destId="{EDEAC634-C6D7-4B98-9FCC-2AEE49601F21}" srcOrd="0" destOrd="0" presId="urn:microsoft.com/office/officeart/2005/8/layout/arrow5"/>
    <dgm:cxn modelId="{D39936BF-36B6-42CF-A5BC-C39F4415E151}" type="presParOf" srcId="{F74BB058-3EDE-4185-882C-0C69CB0FE950}" destId="{B33F188C-A751-4DD2-99D0-54BFF8B01934}"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878635E-DAC4-4000-9736-82AB50DE20A8}" type="doc">
      <dgm:prSet loTypeId="urn:microsoft.com/office/officeart/2005/8/layout/arrow5" loCatId="process" qsTypeId="urn:microsoft.com/office/officeart/2005/8/quickstyle/3d2#4" qsCatId="3D" csTypeId="urn:microsoft.com/office/officeart/2005/8/colors/accent1_2" csCatId="accent1" phldr="1"/>
      <dgm:spPr/>
      <dgm:t>
        <a:bodyPr/>
        <a:lstStyle/>
        <a:p>
          <a:endParaRPr lang="en-US"/>
        </a:p>
      </dgm:t>
    </dgm:pt>
    <dgm:pt modelId="{A3419939-DA42-43FA-8039-F4CB02BFDD56}">
      <dgm:prSet phldrT="[Text]"/>
      <dgm:spPr/>
      <dgm:t>
        <a:bodyPr/>
        <a:lstStyle/>
        <a:p>
          <a:r>
            <a:rPr lang="en-US" dirty="0"/>
            <a:t>Prime Minister of India</a:t>
          </a:r>
        </a:p>
      </dgm:t>
    </dgm:pt>
    <dgm:pt modelId="{9823CC83-4408-49F7-81FC-C4B22DFD1E62}" type="parTrans" cxnId="{22C647CD-7190-4F49-AF2E-0999BE310D0E}">
      <dgm:prSet/>
      <dgm:spPr/>
      <dgm:t>
        <a:bodyPr/>
        <a:lstStyle/>
        <a:p>
          <a:endParaRPr lang="en-US"/>
        </a:p>
      </dgm:t>
    </dgm:pt>
    <dgm:pt modelId="{A94100DF-F81D-4D80-A4E3-205B8E672C43}" type="sibTrans" cxnId="{22C647CD-7190-4F49-AF2E-0999BE310D0E}">
      <dgm:prSet/>
      <dgm:spPr/>
      <dgm:t>
        <a:bodyPr/>
        <a:lstStyle/>
        <a:p>
          <a:endParaRPr lang="en-US"/>
        </a:p>
      </dgm:t>
    </dgm:pt>
    <dgm:pt modelId="{588D4EBC-C9AF-4198-B30B-A9A505AE7BAF}">
      <dgm:prSet phldrT="[Text]"/>
      <dgm:spPr/>
      <dgm:t>
        <a:bodyPr/>
        <a:lstStyle/>
        <a:p>
          <a:r>
            <a:rPr lang="en-US" dirty="0"/>
            <a:t>Foreign Minister</a:t>
          </a:r>
        </a:p>
      </dgm:t>
    </dgm:pt>
    <dgm:pt modelId="{AD08E134-A99D-480C-8113-FB495946E0AB}" type="parTrans" cxnId="{1E15A9D7-2DBF-45FF-B1AC-257A7CE4F1B2}">
      <dgm:prSet/>
      <dgm:spPr/>
      <dgm:t>
        <a:bodyPr/>
        <a:lstStyle/>
        <a:p>
          <a:endParaRPr lang="en-US"/>
        </a:p>
      </dgm:t>
    </dgm:pt>
    <dgm:pt modelId="{7DBDEDD5-FC21-4426-AE1F-46B730B423A5}" type="sibTrans" cxnId="{1E15A9D7-2DBF-45FF-B1AC-257A7CE4F1B2}">
      <dgm:prSet/>
      <dgm:spPr/>
      <dgm:t>
        <a:bodyPr/>
        <a:lstStyle/>
        <a:p>
          <a:endParaRPr lang="en-US"/>
        </a:p>
      </dgm:t>
    </dgm:pt>
    <dgm:pt modelId="{F74BB058-3EDE-4185-882C-0C69CB0FE950}" type="pres">
      <dgm:prSet presAssocID="{F878635E-DAC4-4000-9736-82AB50DE20A8}" presName="diagram" presStyleCnt="0">
        <dgm:presLayoutVars>
          <dgm:dir/>
          <dgm:resizeHandles val="exact"/>
        </dgm:presLayoutVars>
      </dgm:prSet>
      <dgm:spPr/>
    </dgm:pt>
    <dgm:pt modelId="{EDEAC634-C6D7-4B98-9FCC-2AEE49601F21}" type="pres">
      <dgm:prSet presAssocID="{A3419939-DA42-43FA-8039-F4CB02BFDD56}" presName="arrow" presStyleLbl="node1" presStyleIdx="0" presStyleCnt="2" custScaleX="53597" custScaleY="100075" custRadScaleRad="95796" custRadScaleInc="12632">
        <dgm:presLayoutVars>
          <dgm:bulletEnabled val="1"/>
        </dgm:presLayoutVars>
      </dgm:prSet>
      <dgm:spPr/>
    </dgm:pt>
    <dgm:pt modelId="{B33F188C-A751-4DD2-99D0-54BFF8B01934}" type="pres">
      <dgm:prSet presAssocID="{588D4EBC-C9AF-4198-B30B-A9A505AE7BAF}" presName="arrow" presStyleLbl="node1" presStyleIdx="1" presStyleCnt="2" custScaleX="37249" custScaleY="90418" custRadScaleRad="49530" custRadScaleInc="25598">
        <dgm:presLayoutVars>
          <dgm:bulletEnabled val="1"/>
        </dgm:presLayoutVars>
      </dgm:prSet>
      <dgm:spPr/>
    </dgm:pt>
  </dgm:ptLst>
  <dgm:cxnLst>
    <dgm:cxn modelId="{8DDFD180-C8D6-4134-AC17-239CFFBBCFED}" type="presOf" srcId="{588D4EBC-C9AF-4198-B30B-A9A505AE7BAF}" destId="{B33F188C-A751-4DD2-99D0-54BFF8B01934}" srcOrd="0" destOrd="0" presId="urn:microsoft.com/office/officeart/2005/8/layout/arrow5"/>
    <dgm:cxn modelId="{F666BB92-6801-44D9-8EBB-86A80CCA1ADE}" type="presOf" srcId="{F878635E-DAC4-4000-9736-82AB50DE20A8}" destId="{F74BB058-3EDE-4185-882C-0C69CB0FE950}" srcOrd="0" destOrd="0" presId="urn:microsoft.com/office/officeart/2005/8/layout/arrow5"/>
    <dgm:cxn modelId="{DE4DD6A1-C740-4595-ABAD-198E41CF88AD}" type="presOf" srcId="{A3419939-DA42-43FA-8039-F4CB02BFDD56}" destId="{EDEAC634-C6D7-4B98-9FCC-2AEE49601F21}" srcOrd="0" destOrd="0" presId="urn:microsoft.com/office/officeart/2005/8/layout/arrow5"/>
    <dgm:cxn modelId="{22C647CD-7190-4F49-AF2E-0999BE310D0E}" srcId="{F878635E-DAC4-4000-9736-82AB50DE20A8}" destId="{A3419939-DA42-43FA-8039-F4CB02BFDD56}" srcOrd="0" destOrd="0" parTransId="{9823CC83-4408-49F7-81FC-C4B22DFD1E62}" sibTransId="{A94100DF-F81D-4D80-A4E3-205B8E672C43}"/>
    <dgm:cxn modelId="{1E15A9D7-2DBF-45FF-B1AC-257A7CE4F1B2}" srcId="{F878635E-DAC4-4000-9736-82AB50DE20A8}" destId="{588D4EBC-C9AF-4198-B30B-A9A505AE7BAF}" srcOrd="1" destOrd="0" parTransId="{AD08E134-A99D-480C-8113-FB495946E0AB}" sibTransId="{7DBDEDD5-FC21-4426-AE1F-46B730B423A5}"/>
    <dgm:cxn modelId="{580A1871-2991-4593-AB75-493D954AA08A}" type="presParOf" srcId="{F74BB058-3EDE-4185-882C-0C69CB0FE950}" destId="{EDEAC634-C6D7-4B98-9FCC-2AEE49601F21}" srcOrd="0" destOrd="0" presId="urn:microsoft.com/office/officeart/2005/8/layout/arrow5"/>
    <dgm:cxn modelId="{CC1E69C6-6C01-45C3-9A4D-DAD1F05FC9CC}" type="presParOf" srcId="{F74BB058-3EDE-4185-882C-0C69CB0FE950}" destId="{B33F188C-A751-4DD2-99D0-54BFF8B01934}"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EAC634-C6D7-4B98-9FCC-2AEE49601F21}">
      <dsp:nvSpPr>
        <dsp:cNvPr id="0" name=""/>
        <dsp:cNvSpPr/>
      </dsp:nvSpPr>
      <dsp:spPr>
        <a:xfrm rot="16200000">
          <a:off x="1348697" y="-603327"/>
          <a:ext cx="1967423" cy="3174079"/>
        </a:xfrm>
        <a:prstGeom prst="downArrow">
          <a:avLst>
            <a:gd name="adj1" fmla="val 50000"/>
            <a:gd name="adj2" fmla="val 35000"/>
          </a:avLst>
        </a:prstGeom>
        <a:blipFill>
          <a:blip xmlns:r="http://schemas.openxmlformats.org/officeDocument/2006/relationships" r:embed="rId1">
            <a:duotone>
              <a:schemeClr val="accent1">
                <a:hueOff val="0"/>
                <a:satOff val="0"/>
                <a:lumOff val="0"/>
                <a:alphaOff val="0"/>
                <a:shade val="74000"/>
                <a:satMod val="130000"/>
                <a:lumMod val="90000"/>
              </a:schemeClr>
              <a:schemeClr val="accent1">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PRESIDENT OF UNITED STATES OF AMERICA</a:t>
          </a:r>
        </a:p>
      </dsp:txBody>
      <dsp:txXfrm rot="5400000">
        <a:off x="745370" y="491857"/>
        <a:ext cx="2829780" cy="983711"/>
      </dsp:txXfrm>
    </dsp:sp>
    <dsp:sp modelId="{B33F188C-A751-4DD2-99D0-54BFF8B01934}">
      <dsp:nvSpPr>
        <dsp:cNvPr id="0" name=""/>
        <dsp:cNvSpPr/>
      </dsp:nvSpPr>
      <dsp:spPr>
        <a:xfrm rot="5400000">
          <a:off x="5650559" y="1103933"/>
          <a:ext cx="1367325" cy="3319037"/>
        </a:xfrm>
        <a:prstGeom prst="downArrow">
          <a:avLst>
            <a:gd name="adj1" fmla="val 50000"/>
            <a:gd name="adj2" fmla="val 35000"/>
          </a:avLst>
        </a:prstGeom>
        <a:blipFill>
          <a:blip xmlns:r="http://schemas.openxmlformats.org/officeDocument/2006/relationships" r:embed="rId1">
            <a:duotone>
              <a:schemeClr val="accent1">
                <a:hueOff val="0"/>
                <a:satOff val="0"/>
                <a:lumOff val="0"/>
                <a:alphaOff val="0"/>
                <a:shade val="74000"/>
                <a:satMod val="130000"/>
                <a:lumMod val="90000"/>
              </a:schemeClr>
              <a:schemeClr val="accent1">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US SECRETARY OF STATE</a:t>
          </a:r>
        </a:p>
      </dsp:txBody>
      <dsp:txXfrm rot="-5400000">
        <a:off x="4913985" y="2421620"/>
        <a:ext cx="3079755" cy="6836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EAC634-C6D7-4B98-9FCC-2AEE49601F21}">
      <dsp:nvSpPr>
        <dsp:cNvPr id="0" name=""/>
        <dsp:cNvSpPr/>
      </dsp:nvSpPr>
      <dsp:spPr>
        <a:xfrm rot="16200000">
          <a:off x="1347203" y="-851961"/>
          <a:ext cx="1964910" cy="3668832"/>
        </a:xfrm>
        <a:prstGeom prst="downArrow">
          <a:avLst>
            <a:gd name="adj1" fmla="val 50000"/>
            <a:gd name="adj2" fmla="val 35000"/>
          </a:avLst>
        </a:prstGeom>
        <a:blipFill>
          <a:blip xmlns:r="http://schemas.openxmlformats.org/officeDocument/2006/relationships" r:embed="rId1">
            <a:duotone>
              <a:schemeClr val="accent1">
                <a:hueOff val="0"/>
                <a:satOff val="0"/>
                <a:lumOff val="0"/>
                <a:alphaOff val="0"/>
                <a:shade val="74000"/>
                <a:satMod val="130000"/>
                <a:lumMod val="90000"/>
              </a:schemeClr>
              <a:schemeClr val="accent1">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PRESIDENT OF UNION OF SOVIET SOCIALIST REPUBLICS </a:t>
          </a:r>
        </a:p>
      </dsp:txBody>
      <dsp:txXfrm rot="5400000">
        <a:off x="495242" y="491227"/>
        <a:ext cx="3324973" cy="982455"/>
      </dsp:txXfrm>
    </dsp:sp>
    <dsp:sp modelId="{B33F188C-A751-4DD2-99D0-54BFF8B01934}">
      <dsp:nvSpPr>
        <dsp:cNvPr id="0" name=""/>
        <dsp:cNvSpPr/>
      </dsp:nvSpPr>
      <dsp:spPr>
        <a:xfrm rot="5400000">
          <a:off x="5652593" y="1106958"/>
          <a:ext cx="1365579" cy="3314799"/>
        </a:xfrm>
        <a:prstGeom prst="downArrow">
          <a:avLst>
            <a:gd name="adj1" fmla="val 50000"/>
            <a:gd name="adj2" fmla="val 35000"/>
          </a:avLst>
        </a:prstGeom>
        <a:blipFill>
          <a:blip xmlns:r="http://schemas.openxmlformats.org/officeDocument/2006/relationships" r:embed="rId1">
            <a:duotone>
              <a:schemeClr val="accent1">
                <a:hueOff val="0"/>
                <a:satOff val="0"/>
                <a:lumOff val="0"/>
                <a:alphaOff val="0"/>
                <a:shade val="74000"/>
                <a:satMod val="130000"/>
                <a:lumMod val="90000"/>
              </a:schemeClr>
              <a:schemeClr val="accent1">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Foreign Minister</a:t>
          </a:r>
        </a:p>
      </dsp:txBody>
      <dsp:txXfrm rot="-5400000">
        <a:off x="4916959" y="2422963"/>
        <a:ext cx="3075823" cy="6827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EAC634-C6D7-4B98-9FCC-2AEE49601F21}">
      <dsp:nvSpPr>
        <dsp:cNvPr id="0" name=""/>
        <dsp:cNvSpPr/>
      </dsp:nvSpPr>
      <dsp:spPr>
        <a:xfrm rot="16200000">
          <a:off x="1347203" y="-851961"/>
          <a:ext cx="1964910" cy="3668832"/>
        </a:xfrm>
        <a:prstGeom prst="downArrow">
          <a:avLst>
            <a:gd name="adj1" fmla="val 50000"/>
            <a:gd name="adj2" fmla="val 35000"/>
          </a:avLst>
        </a:prstGeom>
        <a:blipFill>
          <a:blip xmlns:r="http://schemas.openxmlformats.org/officeDocument/2006/relationships" r:embed="rId1">
            <a:duotone>
              <a:schemeClr val="accent1">
                <a:hueOff val="0"/>
                <a:satOff val="0"/>
                <a:lumOff val="0"/>
                <a:alphaOff val="0"/>
                <a:shade val="74000"/>
                <a:satMod val="130000"/>
                <a:lumMod val="90000"/>
              </a:schemeClr>
              <a:schemeClr val="accent1">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PRESIDENT OF THE PEOPLES REPUBLIC OF CHINA</a:t>
          </a:r>
        </a:p>
      </dsp:txBody>
      <dsp:txXfrm rot="5400000">
        <a:off x="495242" y="491227"/>
        <a:ext cx="3324973" cy="982455"/>
      </dsp:txXfrm>
    </dsp:sp>
    <dsp:sp modelId="{B33F188C-A751-4DD2-99D0-54BFF8B01934}">
      <dsp:nvSpPr>
        <dsp:cNvPr id="0" name=""/>
        <dsp:cNvSpPr/>
      </dsp:nvSpPr>
      <dsp:spPr>
        <a:xfrm rot="5400000">
          <a:off x="5652593" y="1106958"/>
          <a:ext cx="1365579" cy="3314799"/>
        </a:xfrm>
        <a:prstGeom prst="downArrow">
          <a:avLst>
            <a:gd name="adj1" fmla="val 50000"/>
            <a:gd name="adj2" fmla="val 35000"/>
          </a:avLst>
        </a:prstGeom>
        <a:blipFill>
          <a:blip xmlns:r="http://schemas.openxmlformats.org/officeDocument/2006/relationships" r:embed="rId1">
            <a:duotone>
              <a:schemeClr val="accent1">
                <a:hueOff val="0"/>
                <a:satOff val="0"/>
                <a:lumOff val="0"/>
                <a:alphaOff val="0"/>
                <a:shade val="74000"/>
                <a:satMod val="130000"/>
                <a:lumMod val="90000"/>
              </a:schemeClr>
              <a:schemeClr val="accent1">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Foreign Minister</a:t>
          </a:r>
        </a:p>
      </dsp:txBody>
      <dsp:txXfrm rot="-5400000">
        <a:off x="4916959" y="2422963"/>
        <a:ext cx="3075823" cy="6827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EAC634-C6D7-4B98-9FCC-2AEE49601F21}">
      <dsp:nvSpPr>
        <dsp:cNvPr id="0" name=""/>
        <dsp:cNvSpPr/>
      </dsp:nvSpPr>
      <dsp:spPr>
        <a:xfrm rot="16200000">
          <a:off x="1347203" y="-851961"/>
          <a:ext cx="1964910" cy="3668832"/>
        </a:xfrm>
        <a:prstGeom prst="downArrow">
          <a:avLst>
            <a:gd name="adj1" fmla="val 50000"/>
            <a:gd name="adj2" fmla="val 35000"/>
          </a:avLst>
        </a:prstGeom>
        <a:blipFill>
          <a:blip xmlns:r="http://schemas.openxmlformats.org/officeDocument/2006/relationships" r:embed="rId1">
            <a:duotone>
              <a:schemeClr val="accent1">
                <a:hueOff val="0"/>
                <a:satOff val="0"/>
                <a:lumOff val="0"/>
                <a:alphaOff val="0"/>
                <a:shade val="74000"/>
                <a:satMod val="130000"/>
                <a:lumMod val="90000"/>
              </a:schemeClr>
              <a:schemeClr val="accent1">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Prime Minister of India</a:t>
          </a:r>
        </a:p>
      </dsp:txBody>
      <dsp:txXfrm rot="5400000">
        <a:off x="495242" y="491227"/>
        <a:ext cx="3324973" cy="982455"/>
      </dsp:txXfrm>
    </dsp:sp>
    <dsp:sp modelId="{B33F188C-A751-4DD2-99D0-54BFF8B01934}">
      <dsp:nvSpPr>
        <dsp:cNvPr id="0" name=""/>
        <dsp:cNvSpPr/>
      </dsp:nvSpPr>
      <dsp:spPr>
        <a:xfrm rot="5400000">
          <a:off x="5286836" y="1237585"/>
          <a:ext cx="1365579" cy="3314799"/>
        </a:xfrm>
        <a:prstGeom prst="downArrow">
          <a:avLst>
            <a:gd name="adj1" fmla="val 50000"/>
            <a:gd name="adj2" fmla="val 35000"/>
          </a:avLst>
        </a:prstGeom>
        <a:blipFill>
          <a:blip xmlns:r="http://schemas.openxmlformats.org/officeDocument/2006/relationships" r:embed="rId1">
            <a:duotone>
              <a:schemeClr val="accent1">
                <a:hueOff val="0"/>
                <a:satOff val="0"/>
                <a:lumOff val="0"/>
                <a:alphaOff val="0"/>
                <a:shade val="74000"/>
                <a:satMod val="130000"/>
                <a:lumMod val="90000"/>
              </a:schemeClr>
              <a:schemeClr val="accent1">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Foreign Minister</a:t>
          </a:r>
        </a:p>
      </dsp:txBody>
      <dsp:txXfrm rot="-5400000">
        <a:off x="4551202" y="2553590"/>
        <a:ext cx="3075823" cy="682789"/>
      </dsp:txXfrm>
    </dsp:sp>
  </dsp:spTree>
</dsp:drawing>
</file>

<file path=ppt/diagrams/layout1.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3">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4">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2"/>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3" y="5037663"/>
            <a:ext cx="897467" cy="279400"/>
          </a:xfrm>
        </p:spPr>
        <p:txBody>
          <a:bodyPr/>
          <a:lstStyle/>
          <a:p>
            <a:fld id="{B61BEF0D-F0BB-DE4B-95CE-6DB70DBA9567}" type="datetimeFigureOut">
              <a:rPr lang="en-US" dirty="0"/>
              <a:pPr/>
              <a:t>7/6/2025</a:t>
            </a:fld>
            <a:endParaRPr lang="en-US" dirty="0"/>
          </a:p>
        </p:txBody>
      </p:sp>
      <p:sp>
        <p:nvSpPr>
          <p:cNvPr id="5" name="Footer Placeholder 4"/>
          <p:cNvSpPr>
            <a:spLocks noGrp="1"/>
          </p:cNvSpPr>
          <p:nvPr>
            <p:ph type="ftr" sz="quarter" idx="11"/>
          </p:nvPr>
        </p:nvSpPr>
        <p:spPr>
          <a:xfrm>
            <a:off x="2692398"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2" y="5037663"/>
            <a:ext cx="551166"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401"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70"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8"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4"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pPr/>
              <a:t>7/6/2025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pPr/>
              <a:t>‹#›</a:t>
            </a:fld>
            <a:endParaRPr lang="en-US" dirty="0"/>
          </a:p>
        </p:txBody>
      </p:sp>
      <p:cxnSp>
        <p:nvCxnSpPr>
          <p:cNvPr id="8" name="Straight Connector 7"/>
          <p:cNvCxnSpPr/>
          <p:nvPr/>
        </p:nvCxnSpPr>
        <p:spPr>
          <a:xfrm>
            <a:off x="1396170"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1" y="3243263"/>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3"/>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70"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70"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3"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9" y="982132"/>
            <a:ext cx="5469467"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3"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70"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7"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3" y="1041400"/>
            <a:ext cx="3063348"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295399" y="3255432"/>
            <a:ext cx="6241817"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2"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8" y="1041400"/>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295402"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9"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9" y="4343400"/>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70"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3"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2" y="4343400"/>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2"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70"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2"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70"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2" y="4470400"/>
            <a:ext cx="9609669"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70"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70"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7" y="982132"/>
            <a:ext cx="1890894"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6"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1"/>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1"/>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4"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2"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1"/>
            <a:ext cx="1600201"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7/6/2025</a:t>
            </a:fld>
            <a:endParaRPr lang="en-US" dirty="0"/>
          </a:p>
        </p:txBody>
      </p:sp>
      <p:sp>
        <p:nvSpPr>
          <p:cNvPr id="5" name="Footer Placeholder 4"/>
          <p:cNvSpPr>
            <a:spLocks noGrp="1"/>
          </p:cNvSpPr>
          <p:nvPr>
            <p:ph type="ftr" sz="quarter" idx="3"/>
          </p:nvPr>
        </p:nvSpPr>
        <p:spPr>
          <a:xfrm>
            <a:off x="1295402" y="5969001"/>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3" y="5969001"/>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diagramLayout" Target="../diagrams/layout1.xml"/><Relationship Id="rId7" Type="http://schemas.openxmlformats.org/officeDocument/2006/relationships/image" Target="../media/image11.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video" Target="file:///C:\Users\user\Downloads\videoplayback.mp4"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diagramLayout" Target="../diagrams/layout2.xml"/><Relationship Id="rId7" Type="http://schemas.openxmlformats.org/officeDocument/2006/relationships/image" Target="../media/image14.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diagramLayout" Target="../diagrams/layout3.xml"/><Relationship Id="rId7" Type="http://schemas.openxmlformats.org/officeDocument/2006/relationships/image" Target="../media/image16.jpe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diagramLayout" Target="../diagrams/layout4.xml"/><Relationship Id="rId7" Type="http://schemas.openxmlformats.org/officeDocument/2006/relationships/image" Target="../media/image18.jpe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video" Target="file:///C:\Users\user\Downloads\videoplayback%20(1).mp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dirty="0"/>
              <a:t>The Role of Big Powers in Bangladesh Liberation War</a:t>
            </a:r>
          </a:p>
        </p:txBody>
      </p:sp>
      <p:sp>
        <p:nvSpPr>
          <p:cNvPr id="3" name="Subtitle 2"/>
          <p:cNvSpPr>
            <a:spLocks noGrp="1"/>
          </p:cNvSpPr>
          <p:nvPr>
            <p:ph type="subTitle" idx="1"/>
          </p:nvPr>
        </p:nvSpPr>
        <p:spPr/>
        <p:txBody>
          <a:bodyPr>
            <a:normAutofit fontScale="77500" lnSpcReduction="20000"/>
          </a:bodyPr>
          <a:lstStyle/>
          <a:p>
            <a:pPr marL="457200" indent="-457200">
              <a:buAutoNum type="arabicPeriod"/>
            </a:pPr>
            <a:r>
              <a:rPr lang="en-US" dirty="0"/>
              <a:t>USA</a:t>
            </a:r>
          </a:p>
          <a:p>
            <a:pPr marL="457200" indent="-457200">
              <a:buAutoNum type="arabicPeriod"/>
            </a:pPr>
            <a:r>
              <a:rPr lang="en-US" dirty="0"/>
              <a:t>USSR</a:t>
            </a:r>
          </a:p>
          <a:p>
            <a:pPr marL="457200" indent="-457200">
              <a:buAutoNum type="arabicPeriod"/>
            </a:pPr>
            <a:r>
              <a:rPr lang="en-US" dirty="0"/>
              <a:t>CHINA</a:t>
            </a:r>
          </a:p>
          <a:p>
            <a:pPr marL="457200" indent="-457200">
              <a:buAutoNum type="arabicPeriod"/>
            </a:pPr>
            <a:r>
              <a:rPr lang="en-US" dirty="0"/>
              <a:t>INDIA</a:t>
            </a:r>
          </a:p>
        </p:txBody>
      </p:sp>
      <p:pic>
        <p:nvPicPr>
          <p:cNvPr id="4" name="Picture 3" descr="maxresdefault.jpg"/>
          <p:cNvPicPr>
            <a:picLocks noChangeAspect="1"/>
          </p:cNvPicPr>
          <p:nvPr/>
        </p:nvPicPr>
        <p:blipFill>
          <a:blip r:embed="rId2"/>
          <a:srcRect l="10286" r="9786"/>
          <a:stretch>
            <a:fillRect/>
          </a:stretch>
        </p:blipFill>
        <p:spPr>
          <a:xfrm>
            <a:off x="3030583" y="3592286"/>
            <a:ext cx="6165668" cy="16328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26069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Blocs</a:t>
            </a:r>
          </a:p>
        </p:txBody>
      </p:sp>
      <p:sp>
        <p:nvSpPr>
          <p:cNvPr id="3" name="Text Placeholder 2"/>
          <p:cNvSpPr>
            <a:spLocks noGrp="1"/>
          </p:cNvSpPr>
          <p:nvPr>
            <p:ph type="body" idx="1"/>
          </p:nvPr>
        </p:nvSpPr>
        <p:spPr/>
        <p:txBody>
          <a:bodyPr/>
          <a:lstStyle/>
          <a:p>
            <a:r>
              <a:rPr lang="en-US" dirty="0"/>
              <a:t>On Against of Liberation</a:t>
            </a:r>
          </a:p>
        </p:txBody>
      </p:sp>
      <p:sp>
        <p:nvSpPr>
          <p:cNvPr id="5" name="Text Placeholder 4"/>
          <p:cNvSpPr>
            <a:spLocks noGrp="1"/>
          </p:cNvSpPr>
          <p:nvPr>
            <p:ph type="body" sz="quarter" idx="3"/>
          </p:nvPr>
        </p:nvSpPr>
        <p:spPr/>
        <p:txBody>
          <a:bodyPr/>
          <a:lstStyle/>
          <a:p>
            <a:r>
              <a:rPr lang="en-US" dirty="0"/>
              <a:t>On Behalf of Liberation</a:t>
            </a:r>
          </a:p>
        </p:txBody>
      </p:sp>
      <p:pic>
        <p:nvPicPr>
          <p:cNvPr id="8" name="Content Placeholder 7" descr="Flag-Pins-India-Russia.jpg"/>
          <p:cNvPicPr>
            <a:picLocks noGrp="1" noChangeAspect="1"/>
          </p:cNvPicPr>
          <p:nvPr>
            <p:ph sz="quarter" idx="4"/>
          </p:nvPr>
        </p:nvPicPr>
        <p:blipFill>
          <a:blip r:embed="rId2"/>
          <a:stretch>
            <a:fillRect/>
          </a:stretch>
        </p:blipFill>
        <p:spPr>
          <a:xfrm>
            <a:off x="6413863" y="3217138"/>
            <a:ext cx="3461657" cy="2632075"/>
          </a:xfrm>
        </p:spPr>
      </p:pic>
      <p:pic>
        <p:nvPicPr>
          <p:cNvPr id="12" name="Content Placeholder 11" descr="1425136516.jpg"/>
          <p:cNvPicPr>
            <a:picLocks noGrp="1" noChangeAspect="1"/>
          </p:cNvPicPr>
          <p:nvPr>
            <p:ph sz="half" idx="2"/>
          </p:nvPr>
        </p:nvPicPr>
        <p:blipFill>
          <a:blip r:embed="rId3"/>
          <a:stretch>
            <a:fillRect/>
          </a:stretch>
        </p:blipFill>
        <p:spPr>
          <a:xfrm>
            <a:off x="1673225" y="3452876"/>
            <a:ext cx="3962400" cy="2212848"/>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USA</a:t>
            </a:r>
            <a:br>
              <a:rPr lang="en-US" dirty="0"/>
            </a:br>
            <a:r>
              <a:rPr lang="en-US" dirty="0"/>
              <a:t>Executives during 1971</a:t>
            </a:r>
          </a:p>
        </p:txBody>
      </p:sp>
      <p:graphicFrame>
        <p:nvGraphicFramePr>
          <p:cNvPr id="4" name="Content Placeholder 3"/>
          <p:cNvGraphicFramePr>
            <a:graphicFrameLocks noGrp="1"/>
          </p:cNvGraphicFramePr>
          <p:nvPr>
            <p:ph idx="1"/>
          </p:nvPr>
        </p:nvGraphicFramePr>
        <p:xfrm>
          <a:off x="1295400" y="2557463"/>
          <a:ext cx="9601200" cy="3673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download.jpg"/>
          <p:cNvPicPr>
            <a:picLocks noChangeAspect="1"/>
          </p:cNvPicPr>
          <p:nvPr/>
        </p:nvPicPr>
        <p:blipFill>
          <a:blip r:embed="rId7"/>
          <a:stretch>
            <a:fillRect/>
          </a:stretch>
        </p:blipFill>
        <p:spPr>
          <a:xfrm>
            <a:off x="5708469" y="2416628"/>
            <a:ext cx="3918857" cy="2103121"/>
          </a:xfrm>
          <a:prstGeom prst="rect">
            <a:avLst/>
          </a:prstGeom>
        </p:spPr>
      </p:pic>
      <p:sp>
        <p:nvSpPr>
          <p:cNvPr id="6" name="TextBox 5"/>
          <p:cNvSpPr txBox="1"/>
          <p:nvPr/>
        </p:nvSpPr>
        <p:spPr>
          <a:xfrm>
            <a:off x="9666514" y="2782389"/>
            <a:ext cx="1698172" cy="369332"/>
          </a:xfrm>
          <a:prstGeom prst="rect">
            <a:avLst/>
          </a:prstGeom>
          <a:noFill/>
        </p:spPr>
        <p:txBody>
          <a:bodyPr wrap="square" rtlCol="0">
            <a:spAutoFit/>
          </a:bodyPr>
          <a:lstStyle/>
          <a:p>
            <a:r>
              <a:rPr lang="en-US" dirty="0"/>
              <a:t>Richard Nixon</a:t>
            </a:r>
          </a:p>
        </p:txBody>
      </p:sp>
      <p:pic>
        <p:nvPicPr>
          <p:cNvPr id="7" name="Picture 6" descr="kissinger-13250-portrait-medium.jpg"/>
          <p:cNvPicPr>
            <a:picLocks noChangeAspect="1"/>
          </p:cNvPicPr>
          <p:nvPr/>
        </p:nvPicPr>
        <p:blipFill>
          <a:blip r:embed="rId8"/>
          <a:stretch>
            <a:fillRect/>
          </a:stretch>
        </p:blipFill>
        <p:spPr>
          <a:xfrm>
            <a:off x="3696790" y="4581546"/>
            <a:ext cx="1961772" cy="1623311"/>
          </a:xfrm>
          <a:prstGeom prst="rect">
            <a:avLst/>
          </a:prstGeom>
        </p:spPr>
      </p:pic>
      <p:sp>
        <p:nvSpPr>
          <p:cNvPr id="8" name="TextBox 7"/>
          <p:cNvSpPr txBox="1"/>
          <p:nvPr/>
        </p:nvSpPr>
        <p:spPr>
          <a:xfrm>
            <a:off x="1632857" y="5029200"/>
            <a:ext cx="1711234" cy="369332"/>
          </a:xfrm>
          <a:prstGeom prst="rect">
            <a:avLst/>
          </a:prstGeom>
          <a:noFill/>
        </p:spPr>
        <p:txBody>
          <a:bodyPr wrap="square" rtlCol="0">
            <a:spAutoFit/>
          </a:bodyPr>
          <a:lstStyle/>
          <a:p>
            <a:r>
              <a:rPr lang="en-US" dirty="0"/>
              <a:t>Henry Kissinger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USA adopted Pakistan Friendly Policy</a:t>
            </a:r>
          </a:p>
        </p:txBody>
      </p:sp>
      <p:sp>
        <p:nvSpPr>
          <p:cNvPr id="3" name="Content Placeholder 2"/>
          <p:cNvSpPr>
            <a:spLocks noGrp="1"/>
          </p:cNvSpPr>
          <p:nvPr>
            <p:ph idx="1"/>
          </p:nvPr>
        </p:nvSpPr>
        <p:spPr/>
        <p:txBody>
          <a:bodyPr/>
          <a:lstStyle/>
          <a:p>
            <a:r>
              <a:rPr lang="en-US" dirty="0"/>
              <a:t>Membership of Pakistan to SENTO and SEATO</a:t>
            </a:r>
          </a:p>
          <a:p>
            <a:r>
              <a:rPr lang="en-US" dirty="0"/>
              <a:t>Pakistan’s good ties with Islamic Countries of Middle East</a:t>
            </a:r>
          </a:p>
          <a:p>
            <a:r>
              <a:rPr lang="en-US" dirty="0"/>
              <a:t>Pakistan played a pivotal role in the normalization of relation of USA with China</a:t>
            </a:r>
          </a:p>
          <a:p>
            <a:r>
              <a:rPr lang="en-US" dirty="0"/>
              <a:t>Nixon’s Personal Outlook to India</a:t>
            </a:r>
          </a:p>
          <a:p>
            <a:r>
              <a:rPr lang="en-US" dirty="0"/>
              <a:t>To make Pakistan as a strong nation against Soviet-India Bloc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First Phase of US Policy </a:t>
            </a:r>
            <a:br>
              <a:rPr lang="en-US" dirty="0"/>
            </a:br>
            <a:r>
              <a:rPr lang="en-US" dirty="0"/>
              <a:t>(March to July)</a:t>
            </a:r>
          </a:p>
        </p:txBody>
      </p:sp>
      <p:sp>
        <p:nvSpPr>
          <p:cNvPr id="3" name="Content Placeholder 2"/>
          <p:cNvSpPr>
            <a:spLocks noGrp="1"/>
          </p:cNvSpPr>
          <p:nvPr>
            <p:ph idx="1"/>
          </p:nvPr>
        </p:nvSpPr>
        <p:spPr>
          <a:xfrm>
            <a:off x="1295402" y="2442755"/>
            <a:ext cx="9601196" cy="3814354"/>
          </a:xfrm>
        </p:spPr>
        <p:txBody>
          <a:bodyPr>
            <a:normAutofit fontScale="70000" lnSpcReduction="20000"/>
          </a:bodyPr>
          <a:lstStyle/>
          <a:p>
            <a:r>
              <a:rPr lang="en-US" dirty="0"/>
              <a:t>Neutrality- In the onset of war, US adopted the policy of neutrality (strategic) and termed the crisis as ‘the internal matter of Pakistan’.</a:t>
            </a:r>
          </a:p>
          <a:p>
            <a:r>
              <a:rPr lang="en-US" dirty="0"/>
              <a:t>US Arms Supplies for Pakistan- </a:t>
            </a:r>
          </a:p>
          <a:p>
            <a:pPr marL="514350" indent="-514350">
              <a:buFont typeface="+mj-lt"/>
              <a:buAutoNum type="romanLcPeriod"/>
            </a:pPr>
            <a:r>
              <a:rPr lang="en-US" dirty="0"/>
              <a:t>US ambassador to Delhi, Mr. Kenneth Keating extremely criticized the US policy of ‘neutrality’ and ‘internal matter’  and postulated that it no longer be an internal matter and the world’s mustn’t neglect the matter in the excuse of ‘internal matter’.</a:t>
            </a:r>
          </a:p>
          <a:p>
            <a:pPr marL="514350" indent="-514350">
              <a:buFont typeface="+mj-lt"/>
              <a:buAutoNum type="romanLcPeriod"/>
            </a:pPr>
            <a:r>
              <a:rPr lang="en-US" dirty="0"/>
              <a:t>On 7</a:t>
            </a:r>
            <a:r>
              <a:rPr lang="en-US" baseline="30000" dirty="0"/>
              <a:t>th</a:t>
            </a:r>
            <a:r>
              <a:rPr lang="en-US" dirty="0"/>
              <a:t> May, US authority, forced by domestic and international opinions, decided not to supply arms and financial assistance anymore and on 12 June Nixon demanded political solution for the crisis. </a:t>
            </a:r>
          </a:p>
          <a:p>
            <a:pPr marL="514350" indent="-514350">
              <a:buFont typeface="+mj-lt"/>
              <a:buAutoNum type="romanLcPeriod"/>
            </a:pPr>
            <a:r>
              <a:rPr lang="en-US" dirty="0"/>
              <a:t>But media reported that Arms supply was continued and US Foreign Ministry replied that ‘contract is signed before 25</a:t>
            </a:r>
            <a:r>
              <a:rPr lang="en-US" baseline="30000" dirty="0"/>
              <a:t>th</a:t>
            </a:r>
            <a:r>
              <a:rPr lang="en-US" dirty="0"/>
              <a:t> March. Within June US provided with 4.3 million dollar worth  arms  to Pakistan which was used to execute the Bengalis.</a:t>
            </a:r>
          </a:p>
          <a:p>
            <a:pPr marL="514350" indent="-514350">
              <a:buFont typeface="+mj-lt"/>
              <a:buAutoNum type="romanLcPeriod"/>
            </a:pPr>
            <a:r>
              <a:rPr lang="as-IN" dirty="0"/>
              <a:t>‘আমেরিকা সর্প হয়ে দংশন করে, ওঝা হয়ে ঝাড়ে’—  </a:t>
            </a:r>
            <a:r>
              <a:rPr lang="en-US" dirty="0" err="1"/>
              <a:t>Motia</a:t>
            </a:r>
            <a:r>
              <a:rPr lang="en-US" dirty="0"/>
              <a:t> </a:t>
            </a:r>
            <a:r>
              <a:rPr lang="en-US" dirty="0" err="1"/>
              <a:t>Chy</a:t>
            </a:r>
            <a:r>
              <a:rPr lang="en-US" dirty="0"/>
              <a:t>. 19 June, 2017. US administration assisted the refugees of Bangladesh in India with 30 </a:t>
            </a:r>
            <a:r>
              <a:rPr lang="en-US" dirty="0" err="1"/>
              <a:t>lac</a:t>
            </a:r>
            <a:r>
              <a:rPr lang="en-US" dirty="0"/>
              <a:t> dollar. Why??????</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Second Phase of US Policy </a:t>
            </a:r>
            <a:br>
              <a:rPr lang="en-US" dirty="0"/>
            </a:br>
            <a:r>
              <a:rPr lang="en-US" dirty="0"/>
              <a:t>( July-October)</a:t>
            </a:r>
          </a:p>
        </p:txBody>
      </p:sp>
      <p:sp>
        <p:nvSpPr>
          <p:cNvPr id="3" name="Content Placeholder 2"/>
          <p:cNvSpPr>
            <a:spLocks noGrp="1"/>
          </p:cNvSpPr>
          <p:nvPr>
            <p:ph idx="1"/>
          </p:nvPr>
        </p:nvSpPr>
        <p:spPr/>
        <p:txBody>
          <a:bodyPr>
            <a:normAutofit fontScale="92500" lnSpcReduction="20000"/>
          </a:bodyPr>
          <a:lstStyle/>
          <a:p>
            <a:r>
              <a:rPr lang="en-US" dirty="0"/>
              <a:t>US Recognition to PRC- American President Nixon entered into negotiations with Communist Chairman Mao to resist USSR, initially through a secret 1971 trip undertaken by Henry Kissinger to visit Zhou En lai. On 25 October 1971, Albania's motion to recognize the People's Republic of China as the sole legal China was passed as General Assembly Resolution 2758. It was supported by most of the communist states (including the Soviet Union) and non-aligned countries (such as India), but also by some American allies such as the United Kingdom and France. US became more active in supporting Pakistan by this time.</a:t>
            </a:r>
          </a:p>
          <a:p>
            <a:r>
              <a:rPr lang="en-US" dirty="0"/>
              <a:t>Political Solution (Cease Fire)- USA was searching for a political solution through saving the unity of Pakistan. But they failed to reach in any decisive role in the second phase.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Third Phase of US Policy</a:t>
            </a:r>
            <a:br>
              <a:rPr lang="en-US" dirty="0"/>
            </a:br>
            <a:r>
              <a:rPr lang="en-US" dirty="0"/>
              <a:t>(September- 3</a:t>
            </a:r>
            <a:r>
              <a:rPr lang="en-US" baseline="30000" dirty="0"/>
              <a:t>rd</a:t>
            </a:r>
            <a:r>
              <a:rPr lang="en-US" dirty="0"/>
              <a:t> December)</a:t>
            </a:r>
          </a:p>
        </p:txBody>
      </p:sp>
      <p:sp>
        <p:nvSpPr>
          <p:cNvPr id="3" name="Content Placeholder 2"/>
          <p:cNvSpPr>
            <a:spLocks noGrp="1"/>
          </p:cNvSpPr>
          <p:nvPr>
            <p:ph idx="1"/>
          </p:nvPr>
        </p:nvSpPr>
        <p:spPr/>
        <p:txBody>
          <a:bodyPr>
            <a:normAutofit lnSpcReduction="10000"/>
          </a:bodyPr>
          <a:lstStyle/>
          <a:p>
            <a:r>
              <a:rPr lang="en-US" dirty="0"/>
              <a:t>By this time, USA had showed strong fascination for Pakistan</a:t>
            </a:r>
          </a:p>
          <a:p>
            <a:r>
              <a:rPr lang="en-US" dirty="0"/>
              <a:t>US embassy tried to compromise with Kolkata based AL leaders by freeing  Sheikh </a:t>
            </a:r>
            <a:r>
              <a:rPr lang="en-US" dirty="0" err="1"/>
              <a:t>Mujib</a:t>
            </a:r>
            <a:r>
              <a:rPr lang="en-US" dirty="0"/>
              <a:t> from Pakistan and forced Pakistan Govt. to address the ‘East Pakistan’ crisis in a moderate way as well.</a:t>
            </a:r>
          </a:p>
          <a:p>
            <a:r>
              <a:rPr lang="en-US" dirty="0"/>
              <a:t>Although both </a:t>
            </a:r>
            <a:r>
              <a:rPr lang="en-US" dirty="0" err="1"/>
              <a:t>Mujibnagar</a:t>
            </a:r>
            <a:r>
              <a:rPr lang="en-US" dirty="0"/>
              <a:t> and India refused to go any solution except the liberation of Bangladesh.</a:t>
            </a:r>
          </a:p>
          <a:p>
            <a:r>
              <a:rPr lang="en-US" dirty="0"/>
              <a:t>Even on her US tour, </a:t>
            </a:r>
            <a:r>
              <a:rPr lang="en-US" dirty="0" err="1"/>
              <a:t>Indira</a:t>
            </a:r>
            <a:r>
              <a:rPr lang="en-US" dirty="0"/>
              <a:t> Gandhi requested to cease pro-Pakistan policy of USA.</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Fourth Phase of US Policy</a:t>
            </a:r>
            <a:br>
              <a:rPr lang="en-US" dirty="0"/>
            </a:br>
            <a:r>
              <a:rPr lang="en-US" dirty="0"/>
              <a:t>(December 1971)</a:t>
            </a:r>
          </a:p>
        </p:txBody>
      </p:sp>
      <p:sp>
        <p:nvSpPr>
          <p:cNvPr id="3" name="Content Placeholder 2"/>
          <p:cNvSpPr>
            <a:spLocks noGrp="1"/>
          </p:cNvSpPr>
          <p:nvPr>
            <p:ph idx="1"/>
          </p:nvPr>
        </p:nvSpPr>
        <p:spPr/>
        <p:txBody>
          <a:bodyPr>
            <a:normAutofit fontScale="85000" lnSpcReduction="20000"/>
          </a:bodyPr>
          <a:lstStyle/>
          <a:p>
            <a:r>
              <a:rPr lang="en-US" dirty="0"/>
              <a:t>Tilt Policy- Nixon instructed his secretary of state to extend diplomatic support in full extent. This policy is termed as ‘tilt policy’. USA stopped the aid to India temporarily amount of 86.6 million dollar. At the same time USA was continuously pressurized India through UN. Permanent representative to UN Mr. George Bush marked India as first ‘attacker’ and Kissinger in a press conference at white house marked India as ‘attacker’ and ‘traitor’.</a:t>
            </a:r>
          </a:p>
          <a:p>
            <a:r>
              <a:rPr lang="en-US" dirty="0"/>
              <a:t>Military Means (Task Force 74) - A task force was sent to Bay of Bengal with 8 ships having nuclear weapons known as ‘task force 74’. On 8</a:t>
            </a:r>
            <a:r>
              <a:rPr lang="en-US" baseline="30000" dirty="0"/>
              <a:t>th</a:t>
            </a:r>
            <a:r>
              <a:rPr lang="en-US" dirty="0"/>
              <a:t> January-1972, taskforce 74 left Indian ocean. </a:t>
            </a:r>
          </a:p>
          <a:p>
            <a:r>
              <a:rPr lang="en-US" dirty="0"/>
              <a:t>Diplomatic Means- Two resolution were placed into security council on 4</a:t>
            </a:r>
            <a:r>
              <a:rPr lang="en-US" baseline="30000" dirty="0"/>
              <a:t>th</a:t>
            </a:r>
            <a:r>
              <a:rPr lang="en-US" dirty="0"/>
              <a:t> and 12</a:t>
            </a:r>
            <a:r>
              <a:rPr lang="en-US" baseline="30000" dirty="0"/>
              <a:t>th</a:t>
            </a:r>
            <a:r>
              <a:rPr lang="en-US" dirty="0"/>
              <a:t> December respectively for cease fire but vetoed by USSR.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 CIVIL SUPPORT</a:t>
            </a:r>
          </a:p>
        </p:txBody>
      </p:sp>
      <p:sp>
        <p:nvSpPr>
          <p:cNvPr id="3" name="Content Placeholder 2"/>
          <p:cNvSpPr>
            <a:spLocks noGrp="1"/>
          </p:cNvSpPr>
          <p:nvPr>
            <p:ph idx="1"/>
          </p:nvPr>
        </p:nvSpPr>
        <p:spPr/>
        <p:txBody>
          <a:bodyPr/>
          <a:lstStyle/>
          <a:p>
            <a:r>
              <a:rPr lang="en-US" dirty="0"/>
              <a:t>Bangladesh Concert- George Harrison and Ravi </a:t>
            </a:r>
            <a:r>
              <a:rPr lang="en-US" dirty="0" err="1"/>
              <a:t>Sankar</a:t>
            </a:r>
            <a:endParaRPr lang="en-US" dirty="0"/>
          </a:p>
          <a:p>
            <a:r>
              <a:rPr lang="en-US" dirty="0"/>
              <a:t>Edward Kennedy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t>
            </a:r>
          </a:p>
        </p:txBody>
      </p:sp>
      <p:pic>
        <p:nvPicPr>
          <p:cNvPr id="4" name="videoplayback.mp4">
            <a:hlinkClick r:id="" action="ppaction://media"/>
          </p:cNvPr>
          <p:cNvPicPr>
            <a:picLocks noGrp="1" noRot="1" noChangeAspect="1"/>
          </p:cNvPicPr>
          <p:nvPr>
            <p:ph idx="1"/>
            <a:videoFile r:link="rId1"/>
          </p:nvPr>
        </p:nvPicPr>
        <p:blipFill>
          <a:blip r:embed="rId3"/>
          <a:stretch>
            <a:fillRect/>
          </a:stretch>
        </p:blipFill>
        <p:spPr>
          <a:xfrm>
            <a:off x="1214846" y="1123406"/>
            <a:ext cx="10032274" cy="48855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USSR</a:t>
            </a:r>
            <a:br>
              <a:rPr lang="en-US" dirty="0"/>
            </a:br>
            <a:r>
              <a:rPr lang="en-US" dirty="0"/>
              <a:t>Executives during 1971</a:t>
            </a:r>
          </a:p>
        </p:txBody>
      </p:sp>
      <p:graphicFrame>
        <p:nvGraphicFramePr>
          <p:cNvPr id="4" name="Content Placeholder 3"/>
          <p:cNvGraphicFramePr>
            <a:graphicFrameLocks noGrp="1"/>
          </p:cNvGraphicFramePr>
          <p:nvPr>
            <p:ph idx="1"/>
          </p:nvPr>
        </p:nvGraphicFramePr>
        <p:xfrm>
          <a:off x="1295400" y="2557463"/>
          <a:ext cx="9601200" cy="3673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8112033" y="3252652"/>
            <a:ext cx="1894115" cy="369332"/>
          </a:xfrm>
          <a:prstGeom prst="rect">
            <a:avLst/>
          </a:prstGeom>
          <a:noFill/>
        </p:spPr>
        <p:txBody>
          <a:bodyPr wrap="square" rtlCol="0">
            <a:spAutoFit/>
          </a:bodyPr>
          <a:lstStyle/>
          <a:p>
            <a:r>
              <a:rPr lang="en-US" dirty="0"/>
              <a:t>Nikolai Podgorny</a:t>
            </a:r>
          </a:p>
        </p:txBody>
      </p:sp>
      <p:sp>
        <p:nvSpPr>
          <p:cNvPr id="8" name="TextBox 7"/>
          <p:cNvSpPr txBox="1"/>
          <p:nvPr/>
        </p:nvSpPr>
        <p:spPr>
          <a:xfrm>
            <a:off x="1632857" y="5029200"/>
            <a:ext cx="1711234" cy="369332"/>
          </a:xfrm>
          <a:prstGeom prst="rect">
            <a:avLst/>
          </a:prstGeom>
          <a:noFill/>
        </p:spPr>
        <p:txBody>
          <a:bodyPr wrap="square" rtlCol="0">
            <a:spAutoFit/>
          </a:bodyPr>
          <a:lstStyle/>
          <a:p>
            <a:r>
              <a:rPr lang="en-US" dirty="0"/>
              <a:t>Andrei </a:t>
            </a:r>
            <a:r>
              <a:rPr lang="en-US" dirty="0" err="1"/>
              <a:t>Gromyco</a:t>
            </a:r>
            <a:endParaRPr lang="en-US" dirty="0"/>
          </a:p>
        </p:txBody>
      </p:sp>
      <p:pic>
        <p:nvPicPr>
          <p:cNvPr id="9" name="Picture 8" descr="nikolay-podgorny_4-t.jpg"/>
          <p:cNvPicPr>
            <a:picLocks noChangeAspect="1"/>
          </p:cNvPicPr>
          <p:nvPr/>
        </p:nvPicPr>
        <p:blipFill>
          <a:blip r:embed="rId7"/>
          <a:stretch>
            <a:fillRect/>
          </a:stretch>
        </p:blipFill>
        <p:spPr>
          <a:xfrm>
            <a:off x="5808618" y="2485209"/>
            <a:ext cx="2011680" cy="1916974"/>
          </a:xfrm>
          <a:prstGeom prst="rect">
            <a:avLst/>
          </a:prstGeom>
        </p:spPr>
      </p:pic>
      <p:pic>
        <p:nvPicPr>
          <p:cNvPr id="10" name="Picture 9" descr="800px-Andrei_Gromyko_1972.jpg"/>
          <p:cNvPicPr>
            <a:picLocks noChangeAspect="1"/>
          </p:cNvPicPr>
          <p:nvPr/>
        </p:nvPicPr>
        <p:blipFill>
          <a:blip r:embed="rId8"/>
          <a:stretch>
            <a:fillRect/>
          </a:stretch>
        </p:blipFill>
        <p:spPr>
          <a:xfrm>
            <a:off x="3499756" y="4598126"/>
            <a:ext cx="1856015" cy="16851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First Phase of Soviet Policy</a:t>
            </a:r>
            <a:br>
              <a:rPr lang="en-US" dirty="0"/>
            </a:br>
            <a:r>
              <a:rPr lang="en-US" dirty="0"/>
              <a:t>(March-June)</a:t>
            </a:r>
          </a:p>
        </p:txBody>
      </p:sp>
      <p:sp>
        <p:nvSpPr>
          <p:cNvPr id="3" name="Content Placeholder 2"/>
          <p:cNvSpPr>
            <a:spLocks noGrp="1"/>
          </p:cNvSpPr>
          <p:nvPr>
            <p:ph idx="1"/>
          </p:nvPr>
        </p:nvSpPr>
        <p:spPr/>
        <p:txBody>
          <a:bodyPr/>
          <a:lstStyle/>
          <a:p>
            <a:r>
              <a:rPr lang="en-US" dirty="0"/>
              <a:t>On 24</a:t>
            </a:r>
            <a:r>
              <a:rPr lang="en-US" baseline="30000" dirty="0"/>
              <a:t>th</a:t>
            </a:r>
            <a:r>
              <a:rPr lang="en-US" dirty="0"/>
              <a:t> Congress of Communist Party, Leonid Brezhnev asked for political solution on the basis of maintaining the interest of the people of ‘East Bengal’</a:t>
            </a:r>
          </a:p>
          <a:p>
            <a:r>
              <a:rPr lang="en-US" dirty="0"/>
              <a:t>On 2</a:t>
            </a:r>
            <a:r>
              <a:rPr lang="en-US" baseline="30000" dirty="0"/>
              <a:t>nd</a:t>
            </a:r>
            <a:r>
              <a:rPr lang="en-US" dirty="0"/>
              <a:t> April, President Podgorny urged </a:t>
            </a:r>
            <a:r>
              <a:rPr lang="en-US" dirty="0" err="1"/>
              <a:t>Yahyah</a:t>
            </a:r>
            <a:r>
              <a:rPr lang="en-US" dirty="0"/>
              <a:t> Khan to stop repressive activities and bloodshed to seek a peaceful way for East Pakistan crisis in a letter.</a:t>
            </a:r>
          </a:p>
          <a:p>
            <a:r>
              <a:rPr lang="en-US" dirty="0"/>
              <a:t>In an official visit to Moscow, </a:t>
            </a:r>
            <a:r>
              <a:rPr lang="en-US" dirty="0" err="1"/>
              <a:t>Sharan</a:t>
            </a:r>
            <a:r>
              <a:rPr lang="en-US" dirty="0"/>
              <a:t> Singh asked for becoming more active in Bangladesh issue.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Second Phase of Soviet Policy</a:t>
            </a:r>
            <a:br>
              <a:rPr lang="en-US" dirty="0"/>
            </a:br>
            <a:r>
              <a:rPr lang="en-US" dirty="0"/>
              <a:t>(July-November</a:t>
            </a:r>
          </a:p>
        </p:txBody>
      </p:sp>
      <p:sp>
        <p:nvSpPr>
          <p:cNvPr id="3" name="Content Placeholder 2"/>
          <p:cNvSpPr>
            <a:spLocks noGrp="1"/>
          </p:cNvSpPr>
          <p:nvPr>
            <p:ph idx="1"/>
          </p:nvPr>
        </p:nvSpPr>
        <p:spPr/>
        <p:txBody>
          <a:bodyPr>
            <a:normAutofit fontScale="92500" lnSpcReduction="20000"/>
          </a:bodyPr>
          <a:lstStyle/>
          <a:p>
            <a:r>
              <a:rPr lang="en-US" dirty="0"/>
              <a:t>China Visit of Kissinger- Kissinger visited China and Pakistan on 9-10</a:t>
            </a:r>
            <a:r>
              <a:rPr lang="en-US" baseline="30000" dirty="0"/>
              <a:t>th</a:t>
            </a:r>
            <a:r>
              <a:rPr lang="en-US" dirty="0"/>
              <a:t> July and declared that China will interfere if India will attack Pakistan and USA mayn’t help India in such case.</a:t>
            </a:r>
          </a:p>
          <a:p>
            <a:r>
              <a:rPr lang="en-US" dirty="0"/>
              <a:t>Indo-Soviet Friendship Treaty- This treaty was signed on 9</a:t>
            </a:r>
            <a:r>
              <a:rPr lang="en-US" baseline="30000" dirty="0"/>
              <a:t>th</a:t>
            </a:r>
            <a:r>
              <a:rPr lang="en-US" dirty="0"/>
              <a:t> august, 1971. Pakistan got a huge blow from Soviet Union when this treaty was signed as prior to the treaty USSR was confined only into statements and speeches to defame the genocide in Bangladesh and finally USSR adopted a strong pro-India policy in lieu of seeking peaceful solution. On 27-29</a:t>
            </a:r>
            <a:r>
              <a:rPr lang="en-US" baseline="30000" dirty="0"/>
              <a:t>th</a:t>
            </a:r>
            <a:r>
              <a:rPr lang="en-US" dirty="0"/>
              <a:t> September when </a:t>
            </a:r>
            <a:r>
              <a:rPr lang="en-US" dirty="0" err="1"/>
              <a:t>Indira</a:t>
            </a:r>
            <a:r>
              <a:rPr lang="en-US" dirty="0"/>
              <a:t> Gandhi paid a visit to Moscow, the relation between the two nation was consolidated in a way that the joint collaboration of India and USSR protested any solution to the crisis which went against the interest of the ‘Bengali’ people.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Third Phase of Soviet Policy</a:t>
            </a:r>
            <a:br>
              <a:rPr lang="en-US" dirty="0"/>
            </a:br>
            <a:r>
              <a:rPr lang="en-US" dirty="0"/>
              <a:t>(December-Till Independence)</a:t>
            </a:r>
          </a:p>
        </p:txBody>
      </p:sp>
      <p:sp>
        <p:nvSpPr>
          <p:cNvPr id="3" name="Content Placeholder 2"/>
          <p:cNvSpPr>
            <a:spLocks noGrp="1"/>
          </p:cNvSpPr>
          <p:nvPr>
            <p:ph idx="1"/>
          </p:nvPr>
        </p:nvSpPr>
        <p:spPr/>
        <p:txBody>
          <a:bodyPr>
            <a:normAutofit fontScale="70000" lnSpcReduction="20000"/>
          </a:bodyPr>
          <a:lstStyle/>
          <a:p>
            <a:r>
              <a:rPr lang="en-US" dirty="0"/>
              <a:t>As Pakistan failed to address Bangladesh Crisis peacefully and righteously, Soviet Union supported the Indian perspective of direct involvement in the war.</a:t>
            </a:r>
          </a:p>
          <a:p>
            <a:r>
              <a:rPr lang="en-US" dirty="0"/>
              <a:t>When the Final war started on 3</a:t>
            </a:r>
            <a:r>
              <a:rPr lang="en-US" baseline="30000" dirty="0"/>
              <a:t>rd</a:t>
            </a:r>
            <a:r>
              <a:rPr lang="en-US" dirty="0"/>
              <a:t> </a:t>
            </a:r>
            <a:r>
              <a:rPr lang="en-US" dirty="0" err="1"/>
              <a:t>december</a:t>
            </a:r>
            <a:r>
              <a:rPr lang="en-US" dirty="0"/>
              <a:t>, USSR directly blamed Pakistan for it. Russia was also trying to escape from huge involvement in any war, although supporting ethically and diplomatically in UN and outside UN. </a:t>
            </a:r>
          </a:p>
          <a:p>
            <a:r>
              <a:rPr lang="en-US" dirty="0"/>
              <a:t>In the last phase, USSR again given a proposal to hand over power to the elected representatives of </a:t>
            </a:r>
            <a:r>
              <a:rPr lang="en-US" dirty="0" err="1"/>
              <a:t>Awami</a:t>
            </a:r>
            <a:r>
              <a:rPr lang="en-US" dirty="0"/>
              <a:t> League but Pakistan also refused this proposal.</a:t>
            </a:r>
          </a:p>
          <a:p>
            <a:r>
              <a:rPr lang="en-US" dirty="0"/>
              <a:t>When the war reached into its peak point, USSR was trying to procrastinate the proposal of cease fire as if Indian forces will get enough time and space for a military solution of the crisis. Even 0n 7</a:t>
            </a:r>
            <a:r>
              <a:rPr lang="en-US" baseline="30000" dirty="0"/>
              <a:t>th</a:t>
            </a:r>
            <a:r>
              <a:rPr lang="en-US" dirty="0"/>
              <a:t> December, USSR again vetoed to the proposal of cease fire in general assembly. </a:t>
            </a:r>
          </a:p>
          <a:p>
            <a:r>
              <a:rPr lang="en-US" dirty="0"/>
              <a:t>When the ally forces occupied Dhaka and Pakistan surrendered at 16</a:t>
            </a:r>
            <a:r>
              <a:rPr lang="en-US" baseline="30000" dirty="0"/>
              <a:t>th</a:t>
            </a:r>
            <a:r>
              <a:rPr lang="en-US" dirty="0"/>
              <a:t> December, USSR didn’t put any barrier for the proposal of cease fire in 21</a:t>
            </a:r>
            <a:r>
              <a:rPr lang="en-US" baseline="30000" dirty="0"/>
              <a:t>st</a:t>
            </a:r>
            <a:r>
              <a:rPr lang="en-US" dirty="0"/>
              <a:t> </a:t>
            </a:r>
            <a:r>
              <a:rPr lang="en-US" dirty="0" err="1"/>
              <a:t>december</a:t>
            </a:r>
            <a:r>
              <a:rPr lang="en-US"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CHINA</a:t>
            </a:r>
            <a:br>
              <a:rPr lang="en-US" dirty="0"/>
            </a:br>
            <a:r>
              <a:rPr lang="en-US" dirty="0"/>
              <a:t>Executives during 1971</a:t>
            </a:r>
          </a:p>
        </p:txBody>
      </p:sp>
      <p:graphicFrame>
        <p:nvGraphicFramePr>
          <p:cNvPr id="4" name="Content Placeholder 3"/>
          <p:cNvGraphicFramePr>
            <a:graphicFrameLocks noGrp="1"/>
          </p:cNvGraphicFramePr>
          <p:nvPr>
            <p:ph idx="1"/>
          </p:nvPr>
        </p:nvGraphicFramePr>
        <p:xfrm>
          <a:off x="1295400" y="2557463"/>
          <a:ext cx="9601200" cy="3673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8112033" y="3252652"/>
            <a:ext cx="1894115" cy="369332"/>
          </a:xfrm>
          <a:prstGeom prst="rect">
            <a:avLst/>
          </a:prstGeom>
          <a:noFill/>
        </p:spPr>
        <p:txBody>
          <a:bodyPr wrap="square" rtlCol="0">
            <a:spAutoFit/>
          </a:bodyPr>
          <a:lstStyle/>
          <a:p>
            <a:r>
              <a:rPr lang="en-US" dirty="0"/>
              <a:t>Zhou en Lai</a:t>
            </a:r>
          </a:p>
        </p:txBody>
      </p:sp>
      <p:sp>
        <p:nvSpPr>
          <p:cNvPr id="8" name="TextBox 7"/>
          <p:cNvSpPr txBox="1"/>
          <p:nvPr/>
        </p:nvSpPr>
        <p:spPr>
          <a:xfrm>
            <a:off x="1632857" y="5029200"/>
            <a:ext cx="1711234" cy="369332"/>
          </a:xfrm>
          <a:prstGeom prst="rect">
            <a:avLst/>
          </a:prstGeom>
          <a:noFill/>
        </p:spPr>
        <p:txBody>
          <a:bodyPr wrap="square" rtlCol="0">
            <a:spAutoFit/>
          </a:bodyPr>
          <a:lstStyle/>
          <a:p>
            <a:r>
              <a:rPr lang="en-US" dirty="0"/>
              <a:t>Chen Yi</a:t>
            </a:r>
          </a:p>
        </p:txBody>
      </p:sp>
      <p:pic>
        <p:nvPicPr>
          <p:cNvPr id="11" name="Picture 10" descr="g247816_u90998_000d878845bb0ade7c3631[1].jpg"/>
          <p:cNvPicPr>
            <a:picLocks noChangeAspect="1"/>
          </p:cNvPicPr>
          <p:nvPr/>
        </p:nvPicPr>
        <p:blipFill>
          <a:blip r:embed="rId7"/>
          <a:stretch>
            <a:fillRect/>
          </a:stretch>
        </p:blipFill>
        <p:spPr>
          <a:xfrm>
            <a:off x="6204857" y="2547257"/>
            <a:ext cx="1515292" cy="1841863"/>
          </a:xfrm>
          <a:prstGeom prst="rect">
            <a:avLst/>
          </a:prstGeom>
        </p:spPr>
      </p:pic>
      <p:pic>
        <p:nvPicPr>
          <p:cNvPr id="12" name="Picture 11" descr="Chen_Yi(communist).jpg"/>
          <p:cNvPicPr>
            <a:picLocks noChangeAspect="1"/>
          </p:cNvPicPr>
          <p:nvPr/>
        </p:nvPicPr>
        <p:blipFill>
          <a:blip r:embed="rId8"/>
          <a:stretch>
            <a:fillRect/>
          </a:stretch>
        </p:blipFill>
        <p:spPr>
          <a:xfrm>
            <a:off x="2979202" y="4467497"/>
            <a:ext cx="1592798" cy="16851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First Phase Chinese Policy</a:t>
            </a:r>
            <a:br>
              <a:rPr lang="en-US" dirty="0"/>
            </a:br>
            <a:r>
              <a:rPr lang="en-US" dirty="0"/>
              <a:t>(April-November) </a:t>
            </a:r>
          </a:p>
        </p:txBody>
      </p:sp>
      <p:sp>
        <p:nvSpPr>
          <p:cNvPr id="3" name="Content Placeholder 2"/>
          <p:cNvSpPr>
            <a:spLocks noGrp="1"/>
          </p:cNvSpPr>
          <p:nvPr>
            <p:ph idx="1"/>
          </p:nvPr>
        </p:nvSpPr>
        <p:spPr/>
        <p:txBody>
          <a:bodyPr>
            <a:normAutofit fontScale="62500" lnSpcReduction="20000"/>
          </a:bodyPr>
          <a:lstStyle/>
          <a:p>
            <a:r>
              <a:rPr lang="en-US" dirty="0"/>
              <a:t>11 days later on 11</a:t>
            </a:r>
            <a:r>
              <a:rPr lang="en-US" baseline="30000" dirty="0"/>
              <a:t>th</a:t>
            </a:r>
            <a:r>
              <a:rPr lang="en-US" dirty="0"/>
              <a:t> April, Chinese government showed official reaction for the first time in letter written to Yahya Khan from Zhou En Lai defamed the Indian ‘expansionist’ policy and assured that the people of China will always stand on behalf of Pakistan to protect her sovereignty.</a:t>
            </a:r>
          </a:p>
          <a:p>
            <a:r>
              <a:rPr lang="en-US" dirty="0"/>
              <a:t>China emphasized on the integral unity of both wing for the development of Pakistan and marked the crisis as ‘internal problem’. </a:t>
            </a:r>
            <a:r>
              <a:rPr lang="en-US" dirty="0" err="1"/>
              <a:t>Bhasani</a:t>
            </a:r>
            <a:r>
              <a:rPr lang="en-US" dirty="0"/>
              <a:t> and other groups ( Peking Communists) failed to attain Chinese support. A small part of demoralized </a:t>
            </a:r>
            <a:r>
              <a:rPr lang="en-US" dirty="0" err="1"/>
              <a:t>Pekingian</a:t>
            </a:r>
            <a:r>
              <a:rPr lang="en-US" dirty="0"/>
              <a:t> communists (</a:t>
            </a:r>
            <a:r>
              <a:rPr lang="en-US" dirty="0" err="1"/>
              <a:t>Bhasani</a:t>
            </a:r>
            <a:r>
              <a:rPr lang="en-US" dirty="0"/>
              <a:t>) started armed revolution but rest of them were against the liberation of Bangladesh.</a:t>
            </a:r>
          </a:p>
          <a:p>
            <a:r>
              <a:rPr lang="en-US" dirty="0"/>
              <a:t>Up to October, Chinese support was provided in a passive way. But China started to play a vital role when Kissinger visited Beijing on </a:t>
            </a:r>
            <a:r>
              <a:rPr lang="en-US" dirty="0" err="1"/>
              <a:t>july</a:t>
            </a:r>
            <a:r>
              <a:rPr lang="en-US" dirty="0"/>
              <a:t>.</a:t>
            </a:r>
          </a:p>
          <a:p>
            <a:r>
              <a:rPr lang="en-US" dirty="0"/>
              <a:t>In August when India-Russia treaty was signed, It made China frightened and China again assured Pakistan that they will protect the national sovereignty of Pakistan.</a:t>
            </a:r>
          </a:p>
          <a:p>
            <a:r>
              <a:rPr lang="en-US" dirty="0"/>
              <a:t>Although  Pakistan was requesting relentlessly for a military contract, Beijing didn’t show any interest in the matter.</a:t>
            </a:r>
          </a:p>
          <a:p>
            <a:r>
              <a:rPr lang="en-US" dirty="0"/>
              <a:t>Through out the First phase,  China continued her support both militarily and ethically.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Second Phase of Chinese Policy</a:t>
            </a:r>
            <a:br>
              <a:rPr lang="en-US" dirty="0"/>
            </a:br>
            <a:r>
              <a:rPr lang="en-US" dirty="0"/>
              <a:t>(3</a:t>
            </a:r>
            <a:r>
              <a:rPr lang="en-US" baseline="30000" dirty="0"/>
              <a:t>rd-16th</a:t>
            </a:r>
            <a:r>
              <a:rPr lang="en-US" dirty="0"/>
              <a:t> December)</a:t>
            </a:r>
          </a:p>
        </p:txBody>
      </p:sp>
      <p:sp>
        <p:nvSpPr>
          <p:cNvPr id="3" name="Content Placeholder 2"/>
          <p:cNvSpPr>
            <a:spLocks noGrp="1"/>
          </p:cNvSpPr>
          <p:nvPr>
            <p:ph idx="1"/>
          </p:nvPr>
        </p:nvSpPr>
        <p:spPr/>
        <p:txBody>
          <a:bodyPr/>
          <a:lstStyle/>
          <a:p>
            <a:r>
              <a:rPr lang="en-US" dirty="0"/>
              <a:t>On 5</a:t>
            </a:r>
            <a:r>
              <a:rPr lang="en-US" baseline="30000" dirty="0"/>
              <a:t>th</a:t>
            </a:r>
            <a:r>
              <a:rPr lang="en-US" dirty="0"/>
              <a:t>  and 7</a:t>
            </a:r>
            <a:r>
              <a:rPr lang="en-US" baseline="30000" dirty="0"/>
              <a:t>th</a:t>
            </a:r>
            <a:r>
              <a:rPr lang="en-US" dirty="0"/>
              <a:t> December, Russia pushed two proposals for cease fire aiming political solution of the crisis but China vetoed in both proposals.</a:t>
            </a:r>
          </a:p>
          <a:p>
            <a:r>
              <a:rPr lang="en-US" dirty="0"/>
              <a:t>China supplied huge arms for Pakistan through out the war, after the Liberation, arms recovered from Pak forces showed that 60% from US and 40 % from China.</a:t>
            </a:r>
          </a:p>
          <a:p>
            <a:r>
              <a:rPr lang="en-US" dirty="0"/>
              <a:t>So Called ‘Friend of Oppressed People’  </a:t>
            </a:r>
          </a:p>
          <a:p>
            <a:r>
              <a:rPr lang="en-US" dirty="0"/>
              <a:t>‘Bangladesh is an output of </a:t>
            </a:r>
            <a:r>
              <a:rPr lang="en-US"/>
              <a:t>Russian-Indian Enterprise’ </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INDIA</a:t>
            </a:r>
            <a:br>
              <a:rPr lang="en-US" dirty="0"/>
            </a:br>
            <a:r>
              <a:rPr lang="en-US" dirty="0"/>
              <a:t>Executives during 1971</a:t>
            </a:r>
          </a:p>
        </p:txBody>
      </p:sp>
      <p:graphicFrame>
        <p:nvGraphicFramePr>
          <p:cNvPr id="4" name="Content Placeholder 3"/>
          <p:cNvGraphicFramePr>
            <a:graphicFrameLocks noGrp="1"/>
          </p:cNvGraphicFramePr>
          <p:nvPr>
            <p:ph idx="1"/>
          </p:nvPr>
        </p:nvGraphicFramePr>
        <p:xfrm>
          <a:off x="1295400" y="2557463"/>
          <a:ext cx="9601200" cy="3673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8112033" y="3252652"/>
            <a:ext cx="2860767" cy="369332"/>
          </a:xfrm>
          <a:prstGeom prst="rect">
            <a:avLst/>
          </a:prstGeom>
          <a:noFill/>
        </p:spPr>
        <p:txBody>
          <a:bodyPr wrap="square" rtlCol="0">
            <a:spAutoFit/>
          </a:bodyPr>
          <a:lstStyle/>
          <a:p>
            <a:r>
              <a:rPr lang="en-US" dirty="0" err="1"/>
              <a:t>Shreemoti</a:t>
            </a:r>
            <a:r>
              <a:rPr lang="en-US" dirty="0"/>
              <a:t> </a:t>
            </a:r>
            <a:r>
              <a:rPr lang="en-US" dirty="0" err="1"/>
              <a:t>Indira</a:t>
            </a:r>
            <a:r>
              <a:rPr lang="en-US" dirty="0"/>
              <a:t> </a:t>
            </a:r>
            <a:r>
              <a:rPr lang="en-US" dirty="0" err="1"/>
              <a:t>Ghandi</a:t>
            </a:r>
            <a:endParaRPr lang="en-US" dirty="0"/>
          </a:p>
        </p:txBody>
      </p:sp>
      <p:sp>
        <p:nvSpPr>
          <p:cNvPr id="8" name="TextBox 7"/>
          <p:cNvSpPr txBox="1"/>
          <p:nvPr/>
        </p:nvSpPr>
        <p:spPr>
          <a:xfrm>
            <a:off x="1632857" y="5029200"/>
            <a:ext cx="1711234" cy="369332"/>
          </a:xfrm>
          <a:prstGeom prst="rect">
            <a:avLst/>
          </a:prstGeom>
          <a:noFill/>
        </p:spPr>
        <p:txBody>
          <a:bodyPr wrap="square" rtlCol="0">
            <a:spAutoFit/>
          </a:bodyPr>
          <a:lstStyle/>
          <a:p>
            <a:r>
              <a:rPr lang="en-US" dirty="0" err="1"/>
              <a:t>Swaran</a:t>
            </a:r>
            <a:r>
              <a:rPr lang="en-US" dirty="0"/>
              <a:t> Singh</a:t>
            </a:r>
          </a:p>
        </p:txBody>
      </p:sp>
      <p:pic>
        <p:nvPicPr>
          <p:cNvPr id="9" name="Picture 8" descr="indira2.jpg"/>
          <p:cNvPicPr>
            <a:picLocks noChangeAspect="1"/>
          </p:cNvPicPr>
          <p:nvPr/>
        </p:nvPicPr>
        <p:blipFill>
          <a:blip r:embed="rId7"/>
          <a:stretch>
            <a:fillRect/>
          </a:stretch>
        </p:blipFill>
        <p:spPr>
          <a:xfrm>
            <a:off x="5638799" y="2495005"/>
            <a:ext cx="2016035" cy="2181497"/>
          </a:xfrm>
          <a:prstGeom prst="rect">
            <a:avLst/>
          </a:prstGeom>
        </p:spPr>
      </p:pic>
      <p:pic>
        <p:nvPicPr>
          <p:cNvPr id="10" name="Picture 9" descr="5dd54654803b2bfac2b9ef69ea212372--national-rail-leadership.jpg"/>
          <p:cNvPicPr>
            <a:picLocks noChangeAspect="1"/>
          </p:cNvPicPr>
          <p:nvPr/>
        </p:nvPicPr>
        <p:blipFill>
          <a:blip r:embed="rId8"/>
          <a:srcRect l="9615" t="8553" r="11538" b="6579"/>
          <a:stretch>
            <a:fillRect/>
          </a:stretch>
        </p:blipFill>
        <p:spPr>
          <a:xfrm>
            <a:off x="3344092" y="4532811"/>
            <a:ext cx="1606731" cy="168510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First Phase</a:t>
            </a:r>
            <a:br>
              <a:rPr lang="en-US" dirty="0"/>
            </a:br>
            <a:r>
              <a:rPr lang="en-US" dirty="0"/>
              <a:t>(April-July)</a:t>
            </a:r>
          </a:p>
        </p:txBody>
      </p:sp>
      <p:sp>
        <p:nvSpPr>
          <p:cNvPr id="3" name="Content Placeholder 2"/>
          <p:cNvSpPr>
            <a:spLocks noGrp="1"/>
          </p:cNvSpPr>
          <p:nvPr>
            <p:ph idx="1"/>
          </p:nvPr>
        </p:nvSpPr>
        <p:spPr/>
        <p:txBody>
          <a:bodyPr>
            <a:normAutofit fontScale="77500" lnSpcReduction="20000"/>
          </a:bodyPr>
          <a:lstStyle/>
          <a:p>
            <a:r>
              <a:rPr lang="en-US" dirty="0"/>
              <a:t>In the early phase, India wasn’t in </a:t>
            </a:r>
            <a:r>
              <a:rPr lang="en-US" dirty="0" err="1"/>
              <a:t>favour</a:t>
            </a:r>
            <a:r>
              <a:rPr lang="en-US" dirty="0"/>
              <a:t> of providing direct help and declaring war against Pakistan rather they freed the border for refugees, training and political activities.</a:t>
            </a:r>
          </a:p>
          <a:p>
            <a:r>
              <a:rPr lang="en-US" dirty="0"/>
              <a:t>Within June, the number of refugees reached into 50 </a:t>
            </a:r>
            <a:r>
              <a:rPr lang="en-US" dirty="0" err="1"/>
              <a:t>lacs</a:t>
            </a:r>
            <a:endParaRPr lang="en-US" dirty="0"/>
          </a:p>
          <a:p>
            <a:r>
              <a:rPr lang="en-US" dirty="0"/>
              <a:t>From April onwards, </a:t>
            </a:r>
            <a:r>
              <a:rPr lang="en-US" dirty="0" err="1"/>
              <a:t>Mujib</a:t>
            </a:r>
            <a:r>
              <a:rPr lang="en-US" dirty="0"/>
              <a:t> </a:t>
            </a:r>
            <a:r>
              <a:rPr lang="en-US" dirty="0" err="1"/>
              <a:t>Bahini</a:t>
            </a:r>
            <a:r>
              <a:rPr lang="en-US" dirty="0"/>
              <a:t> was formed upon direct help and patronization from RAW</a:t>
            </a:r>
          </a:p>
          <a:p>
            <a:r>
              <a:rPr lang="en-US" dirty="0"/>
              <a:t>From June onwards to November, training was continued with the arms and financial support from India</a:t>
            </a:r>
          </a:p>
          <a:p>
            <a:r>
              <a:rPr lang="en-US" dirty="0" err="1"/>
              <a:t>Mujibnagar</a:t>
            </a:r>
            <a:r>
              <a:rPr lang="en-US" dirty="0"/>
              <a:t> Government in Exile and </a:t>
            </a:r>
            <a:r>
              <a:rPr lang="en-US" dirty="0" err="1"/>
              <a:t>Swadhin</a:t>
            </a:r>
            <a:r>
              <a:rPr lang="en-US" dirty="0"/>
              <a:t> </a:t>
            </a:r>
            <a:r>
              <a:rPr lang="en-US" dirty="0" err="1"/>
              <a:t>Bangla</a:t>
            </a:r>
            <a:r>
              <a:rPr lang="en-US" dirty="0"/>
              <a:t> </a:t>
            </a:r>
            <a:r>
              <a:rPr lang="en-US" dirty="0" err="1"/>
              <a:t>Betar</a:t>
            </a:r>
            <a:r>
              <a:rPr lang="en-US" dirty="0"/>
              <a:t> </a:t>
            </a:r>
          </a:p>
          <a:p>
            <a:r>
              <a:rPr lang="en-US" dirty="0"/>
              <a:t>In June, Kissinger requested </a:t>
            </a:r>
            <a:r>
              <a:rPr lang="en-US" dirty="0" err="1"/>
              <a:t>Indira</a:t>
            </a:r>
            <a:r>
              <a:rPr lang="en-US" dirty="0"/>
              <a:t> not to interfere in the ‘internal matter’ of Pakistan in his visit to India. As a result, India realized that the solution must be sought in Indian consideration only.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Second Phase</a:t>
            </a:r>
            <a:br>
              <a:rPr lang="en-US" dirty="0"/>
            </a:br>
            <a:r>
              <a:rPr lang="en-US" dirty="0"/>
              <a:t>(August-November)</a:t>
            </a:r>
          </a:p>
        </p:txBody>
      </p:sp>
      <p:sp>
        <p:nvSpPr>
          <p:cNvPr id="3" name="Content Placeholder 2"/>
          <p:cNvSpPr>
            <a:spLocks noGrp="1"/>
          </p:cNvSpPr>
          <p:nvPr>
            <p:ph idx="1"/>
          </p:nvPr>
        </p:nvSpPr>
        <p:spPr/>
        <p:txBody>
          <a:bodyPr>
            <a:normAutofit fontScale="85000" lnSpcReduction="10000"/>
          </a:bodyPr>
          <a:lstStyle/>
          <a:p>
            <a:r>
              <a:rPr lang="en-US" dirty="0"/>
              <a:t>9</a:t>
            </a:r>
            <a:r>
              <a:rPr lang="en-US" baseline="30000" dirty="0"/>
              <a:t>th</a:t>
            </a:r>
            <a:r>
              <a:rPr lang="en-US" dirty="0"/>
              <a:t> August- Indo-Soviet Treaty of Friendship and Cooperation, </a:t>
            </a:r>
            <a:r>
              <a:rPr lang="en-US" dirty="0" err="1"/>
              <a:t>Indira</a:t>
            </a:r>
            <a:r>
              <a:rPr lang="en-US" dirty="0"/>
              <a:t> Gandhi decided in April that a war was needed to stop the exodus and make millions of Bengali refugees return to their homes. However, the Pakistani leadership was very well connected, as </a:t>
            </a:r>
            <a:r>
              <a:rPr lang="en-US" dirty="0" err="1"/>
              <a:t>Yahya</a:t>
            </a:r>
            <a:r>
              <a:rPr lang="en-US" dirty="0"/>
              <a:t> Khan had a close personal friendship with American president Richard Nixon, and </a:t>
            </a:r>
            <a:r>
              <a:rPr lang="en-US" dirty="0" err="1"/>
              <a:t>harboured</a:t>
            </a:r>
            <a:r>
              <a:rPr lang="en-US" dirty="0"/>
              <a:t> excellent diplomatic relations with Mao's China. Under these circumstances, </a:t>
            </a:r>
            <a:r>
              <a:rPr lang="en-US" dirty="0" err="1"/>
              <a:t>Indira</a:t>
            </a:r>
            <a:r>
              <a:rPr lang="en-US" dirty="0"/>
              <a:t> Gandhi was apprehensive about sending an army to East-Pakistan.</a:t>
            </a:r>
          </a:p>
          <a:p>
            <a:r>
              <a:rPr lang="en-US" dirty="0"/>
              <a:t>To her relief, the Soviet leadership was open to negotiations. The ensuing Treaty of Friendship and cooperation, signed in August 1971, was very loose but sent a strong signal to Washington and Beijing. </a:t>
            </a:r>
          </a:p>
          <a:p>
            <a:r>
              <a:rPr lang="en-US" dirty="0"/>
              <a:t>On 23 November, </a:t>
            </a:r>
            <a:r>
              <a:rPr lang="en-US" dirty="0" err="1"/>
              <a:t>Yayah</a:t>
            </a:r>
            <a:r>
              <a:rPr lang="en-US" dirty="0"/>
              <a:t> Khan declared war against India within 10 days  </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Last Phase</a:t>
            </a:r>
            <a:br>
              <a:rPr lang="en-US" dirty="0"/>
            </a:br>
            <a:r>
              <a:rPr lang="en-US" dirty="0"/>
              <a:t>(3</a:t>
            </a:r>
            <a:r>
              <a:rPr lang="en-US" baseline="30000" dirty="0"/>
              <a:t>rd</a:t>
            </a:r>
            <a:r>
              <a:rPr lang="en-US" dirty="0"/>
              <a:t>-16 December)</a:t>
            </a:r>
          </a:p>
        </p:txBody>
      </p:sp>
      <p:sp>
        <p:nvSpPr>
          <p:cNvPr id="3" name="Content Placeholder 2"/>
          <p:cNvSpPr>
            <a:spLocks noGrp="1"/>
          </p:cNvSpPr>
          <p:nvPr>
            <p:ph idx="1"/>
          </p:nvPr>
        </p:nvSpPr>
        <p:spPr/>
        <p:txBody>
          <a:bodyPr/>
          <a:lstStyle/>
          <a:p>
            <a:r>
              <a:rPr lang="en-US" dirty="0"/>
              <a:t>When Pakistan attacked Indian Air Bases on 3</a:t>
            </a:r>
            <a:r>
              <a:rPr lang="en-US" baseline="30000" dirty="0"/>
              <a:t>rd</a:t>
            </a:r>
            <a:r>
              <a:rPr lang="en-US" dirty="0"/>
              <a:t> December, the final war was thus initiated</a:t>
            </a:r>
          </a:p>
          <a:p>
            <a:r>
              <a:rPr lang="en-US" dirty="0"/>
              <a:t>On 6</a:t>
            </a:r>
            <a:r>
              <a:rPr lang="en-US" baseline="30000" dirty="0"/>
              <a:t>th</a:t>
            </a:r>
            <a:r>
              <a:rPr lang="en-US" dirty="0"/>
              <a:t> </a:t>
            </a:r>
            <a:r>
              <a:rPr lang="en-US" dirty="0" err="1"/>
              <a:t>december</a:t>
            </a:r>
            <a:r>
              <a:rPr lang="en-US" dirty="0"/>
              <a:t>, India recognized Bangladesh as a </a:t>
            </a:r>
            <a:r>
              <a:rPr lang="en-US" dirty="0" err="1"/>
              <a:t>sovreign</a:t>
            </a:r>
            <a:r>
              <a:rPr lang="en-US" dirty="0"/>
              <a:t> independent country and started a all-pervading attack against Pakistan in air, naval and land ways and entered into Bangladesh.</a:t>
            </a:r>
          </a:p>
          <a:p>
            <a:r>
              <a:rPr lang="en-US" dirty="0"/>
              <a:t>The Joint forces reached Dhaka on 15</a:t>
            </a:r>
            <a:r>
              <a:rPr lang="en-US" baseline="30000" dirty="0"/>
              <a:t>th</a:t>
            </a:r>
            <a:r>
              <a:rPr lang="en-US" dirty="0"/>
              <a:t> </a:t>
            </a:r>
            <a:r>
              <a:rPr lang="en-US" dirty="0" err="1"/>
              <a:t>december</a:t>
            </a:r>
            <a:r>
              <a:rPr lang="en-US" dirty="0"/>
              <a:t> and </a:t>
            </a:r>
            <a:r>
              <a:rPr lang="en-US" dirty="0" err="1"/>
              <a:t>Niazi</a:t>
            </a:r>
            <a:r>
              <a:rPr lang="en-US" dirty="0"/>
              <a:t> signed the paper of surrender on 16</a:t>
            </a:r>
            <a:r>
              <a:rPr lang="en-US" baseline="30000" dirty="0"/>
              <a:t>th</a:t>
            </a:r>
            <a:r>
              <a:rPr lang="en-US" dirty="0"/>
              <a:t> </a:t>
            </a:r>
            <a:r>
              <a:rPr lang="en-US" dirty="0" err="1"/>
              <a:t>december</a:t>
            </a:r>
            <a:r>
              <a:rPr lang="en-US" dirty="0"/>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videoplayback (1).mp4">
            <a:hlinkClick r:id="" action="ppaction://media"/>
          </p:cNvPr>
          <p:cNvPicPr>
            <a:picLocks noGrp="1" noRot="1" noChangeAspect="1"/>
          </p:cNvPicPr>
          <p:nvPr>
            <p:ph idx="1"/>
            <a:videoFile r:link="rId1"/>
          </p:nvPr>
        </p:nvPicPr>
        <p:blipFill>
          <a:blip r:embed="rId3"/>
          <a:stretch>
            <a:fillRect/>
          </a:stretch>
        </p:blipFill>
        <p:spPr>
          <a:xfrm>
            <a:off x="1188719" y="875211"/>
            <a:ext cx="10136777" cy="513370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docProps/app.xml><?xml version="1.0" encoding="utf-8"?>
<Properties xmlns="http://schemas.openxmlformats.org/officeDocument/2006/extended-properties" xmlns:vt="http://schemas.openxmlformats.org/officeDocument/2006/docPropsVTypes">
  <Template>Organic</Template>
  <TotalTime>465</TotalTime>
  <Words>1814</Words>
  <Application>Microsoft Office PowerPoint</Application>
  <PresentationFormat>Widescreen</PresentationFormat>
  <Paragraphs>97</Paragraphs>
  <Slides>22</Slides>
  <Notes>0</Notes>
  <HiddenSlides>0</HiddenSlides>
  <MMClips>2</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Garamond</vt:lpstr>
      <vt:lpstr>Organic</vt:lpstr>
      <vt:lpstr>The Role of Big Powers in Bangladesh Liberation War</vt:lpstr>
      <vt:lpstr>Two Blocs</vt:lpstr>
      <vt:lpstr>USA Executives during 1971</vt:lpstr>
      <vt:lpstr>Why USA adopted Pakistan Friendly Policy</vt:lpstr>
      <vt:lpstr>First Phase of US Policy  (March to July)</vt:lpstr>
      <vt:lpstr>Second Phase of US Policy  ( July-October)</vt:lpstr>
      <vt:lpstr>Third Phase of US Policy (September- 3rd December)</vt:lpstr>
      <vt:lpstr>Fourth Phase of US Policy (December 1971)</vt:lpstr>
      <vt:lpstr>US CIVIL SUPPORT</vt:lpstr>
      <vt:lpstr>`</vt:lpstr>
      <vt:lpstr>USSR Executives during 1971</vt:lpstr>
      <vt:lpstr>First Phase of Soviet Policy (March-June)</vt:lpstr>
      <vt:lpstr>Second Phase of Soviet Policy (July-November</vt:lpstr>
      <vt:lpstr>Third Phase of Soviet Policy (December-Till Independence)</vt:lpstr>
      <vt:lpstr>CHINA Executives during 1971</vt:lpstr>
      <vt:lpstr>First Phase Chinese Policy (April-November) </vt:lpstr>
      <vt:lpstr>Second Phase of Chinese Policy (3rd-16th December)</vt:lpstr>
      <vt:lpstr>INDIA Executives during 1971</vt:lpstr>
      <vt:lpstr>First Phase (April-July)</vt:lpstr>
      <vt:lpstr>Second Phase (August-November)</vt:lpstr>
      <vt:lpstr>Last Phase (3rd-16 December)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Lenovo</cp:lastModifiedBy>
  <cp:revision>56</cp:revision>
  <dcterms:created xsi:type="dcterms:W3CDTF">2013-07-15T20:23:31Z</dcterms:created>
  <dcterms:modified xsi:type="dcterms:W3CDTF">2025-07-06T16:54:28Z</dcterms:modified>
</cp:coreProperties>
</file>